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9" r:id="rId2"/>
    <p:sldId id="280" r:id="rId3"/>
    <p:sldId id="281" r:id="rId4"/>
    <p:sldId id="282" r:id="rId5"/>
    <p:sldId id="283" r:id="rId6"/>
    <p:sldId id="286" r:id="rId7"/>
    <p:sldId id="295" r:id="rId8"/>
    <p:sldId id="296" r:id="rId9"/>
    <p:sldId id="29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case firms actually use: sorting customers into groups.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Third-degree pricing splits customers into groups with different price sensitivities and charges each group its own price. Seniors at the cinema are the everyday example. It needs three things: groups that really do differ on average, a firm that can identify them, and no resale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reintroduce segment pricing, a concept already introduced in week 2 when we discussed Mercedes's optimal pricing in the US and Germany, based on different elasticities. On this slide it is the cinema: seniors pay less than regular movie-goers, which is price discrimination by age. Why set different prices for different segments? Because the segments have different demand elasticities, and with marginal cost the same in both you want marginal revenue equal across them, which means the lower price goes to the more elastic segment. So why are seniors more price sensitive? Lower income, and a much lower opportunity cost of time. A retired person can take the cheap Tuesday matinee, or drive around for a better deal at the car wash, in a way a working professional cannot. The professional is buying the convenient showing rather than the cheapest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would you charge lower price to students? lower incomes and more free time. As a result, they are more price-elastic and it is optimal to offer them discounts.</a:t>
            </a:r>
          </a:p>
          <a:p>
            <a:endParaRPr/>
          </a:p>
          <a:p>
            <a:r>
              <a:t>Important: you need to “verify” that they are indeed students.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next slide: the price of Lodine for humans is three times the price for animals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mechanics are the same rule you already know, applied twice. Set marginal revenue equal to marginal cost in each market separately. Prices come out different whenever demand or cost differs, and the direction is always the same: the lower price goes to the more price-sensitive market. The practice video works this through with BMW's US and German prices.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why splitting the market pays. On the left the firm treats the US and Germany as two markets and sets marginal revenue equal to marginal cost in each one, so it sells 30 thousand cars at $60 thousand in the US and 50 thousand at $70 thousand in Germany. The two profit rectangles are B and C. On the right it charges one price to both countries together; the best it can do is $65 thousand on 80 thousand cars, which is rectangle A. B plus C comes to $1.70 billion, A comes to $1.60 billion. The gap is about 6 percent, and it is always in the same direction: charging one price to two different demand curves can never beat charging each of them its own price.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pricing only survives if the segments stay apart. Between Germany and the US that is easier than it sounds for cars, because of instrumentation and taxes, but textbooks bought in India and resold in the States show how quickly arbitrage can close the gap. Add consumer anger and the Robinson-Patman Act, and you can see why firms often prefer the indirect route, which is where we go next.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Segment Pricing</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4</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Rounded Rectangle 15"/>
          <p:cNvSpPr/>
          <p:nvPr/>
        </p:nvSpPr>
        <p:spPr>
          <a:xfrm>
            <a:off x="1252728" y="2775204"/>
            <a:ext cx="10680192"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2b</a:t>
            </a:r>
          </a:p>
        </p:txBody>
      </p:sp>
      <p:sp>
        <p:nvSpPr>
          <p:cNvPr id="18" name="Rounded Rectangle 17"/>
          <p:cNvSpPr/>
          <p:nvPr/>
        </p:nvSpPr>
        <p:spPr>
          <a:xfrm>
            <a:off x="10707625" y="289864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9" name="TextBox 18"/>
          <p:cNvSpPr txBox="1"/>
          <p:nvPr/>
        </p:nvSpPr>
        <p:spPr>
          <a:xfrm>
            <a:off x="2084831" y="2820924"/>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Segment Pricing (Third Degree)</a:t>
            </a:r>
          </a:p>
          <a:p>
            <a:pPr algn="l">
              <a:spcBef>
                <a:spcPts val="0"/>
              </a:spcBef>
              <a:buNone/>
            </a:pPr>
            <a:r>
              <a:rPr sz="1600">
                <a:solidFill>
                  <a:srgbClr val="555B66"/>
                </a:solidFill>
                <a:latin typeface="Calibri"/>
              </a:rPr>
              <a:t>Different prices for groups with different price sensitivity</a:t>
            </a:r>
          </a:p>
        </p:txBody>
      </p:sp>
      <p:sp>
        <p:nvSpPr>
          <p:cNvPr id="20" name="Oval 19"/>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1" name="Rounded Rectangle 20"/>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3" name="Oval 22"/>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4</a:t>
            </a:r>
          </a:p>
        </p:txBody>
      </p:sp>
      <p:sp>
        <p:nvSpPr>
          <p:cNvPr id="24" name="Rounded Rectangle 23"/>
          <p:cNvSpPr/>
          <p:nvPr/>
        </p:nvSpPr>
        <p:spPr>
          <a:xfrm>
            <a:off x="10332720" y="397993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6–8</a:t>
            </a:r>
          </a:p>
        </p:txBody>
      </p:sp>
      <p:sp>
        <p:nvSpPr>
          <p:cNvPr id="25" name="TextBox 24"/>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Advanced Pricing Strategies</a:t>
            </a:r>
          </a:p>
        </p:txBody>
      </p:sp>
      <p:sp>
        <p:nvSpPr>
          <p:cNvPr id="26" name="Oval 25"/>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7" name="Rounded Rectangle 26"/>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8" name="TextBox 27"/>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1" name="TextBox 30"/>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6773EA49-D0AA-5C82-B6A2-E6B8F0B9249A}"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Third Degree Price Discrimination: Segment Pricing (Group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783080"/>
            <a:ext cx="5760720" cy="4023360"/>
          </a:xfrm>
          <a:prstGeom prst="rect">
            <a:avLst/>
          </a:prstGeom>
          <a:noFill/>
        </p:spPr>
        <p:txBody>
          <a:bodyPr wrap="square" lIns="0" tIns="0" rIns="0" bIns="0">
            <a:noAutofit/>
          </a:bodyPr>
          <a:lstStyle>
            <a:lvl1pPr marL="342900" indent="-342900">
              <a:spcBef>
                <a:spcPts val="13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dirty="0">
                <a:latin typeface="Calibri"/>
              </a:rPr>
              <a:t>Divide customers into different groups with different price sensitivities, and charge each group different prices</a:t>
            </a:r>
          </a:p>
          <a:p>
            <a:pPr algn="l"/>
            <a:r>
              <a:rPr dirty="0">
                <a:latin typeface="Calibri"/>
              </a:rPr>
              <a:t>Conditions:</a:t>
            </a:r>
          </a:p>
          <a:p>
            <a:pPr lvl="1" algn="l"/>
            <a:r>
              <a:rPr dirty="0">
                <a:latin typeface="Calibri"/>
              </a:rPr>
              <a:t>Consumer groups with (on average) different MPV</a:t>
            </a:r>
          </a:p>
          <a:p>
            <a:pPr lvl="1" algn="l"/>
            <a:r>
              <a:rPr dirty="0">
                <a:latin typeface="Calibri"/>
              </a:rPr>
              <a:t>Firm can identify these groups</a:t>
            </a:r>
          </a:p>
          <a:p>
            <a:pPr lvl="1" algn="l"/>
            <a:r>
              <a:rPr dirty="0">
                <a:latin typeface="Calibri"/>
              </a:rPr>
              <a:t>Firm has market power and can prevent resale</a:t>
            </a:r>
          </a:p>
        </p:txBody>
      </p:sp>
      <p:pic>
        <p:nvPicPr>
          <p:cNvPr id="8" name="Picture 7" descr="NV_s21_groups.png"/>
          <p:cNvPicPr>
            <a:picLocks noChangeAspect="1"/>
          </p:cNvPicPr>
          <p:nvPr/>
        </p:nvPicPr>
        <p:blipFill>
          <a:blip r:embed="rId3"/>
          <a:stretch>
            <a:fillRect/>
          </a:stretch>
        </p:blipFill>
        <p:spPr>
          <a:xfrm>
            <a:off x="6940296" y="1557223"/>
            <a:ext cx="4697272" cy="4697272"/>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9346563A-B51D-5037-A2A5-90204D319424}"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32588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325880" y="5989320"/>
            <a:ext cx="5193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712851" y="1257300"/>
            <a:ext cx="539876" cy="265176"/>
          </a:xfrm>
          <a:prstGeom prst="rect">
            <a:avLst/>
          </a:prstGeom>
          <a:noFill/>
        </p:spPr>
        <p:txBody>
          <a:bodyPr wrap="square" lIns="0" tIns="0" rIns="0" bIns="0">
            <a:spAutoFit/>
          </a:bodyPr>
          <a:lstStyle/>
          <a:p>
            <a:pPr algn="l"/>
            <a:r>
              <a:rPr sz="1800" b="1" i="1" u="none">
                <a:solidFill>
                  <a:srgbClr val="0B2B4E"/>
                </a:solidFill>
                <a:latin typeface="Calibri"/>
              </a:rPr>
              <a:t>Price</a:t>
            </a:r>
          </a:p>
        </p:txBody>
      </p:sp>
      <p:sp>
        <p:nvSpPr>
          <p:cNvPr id="10" name="sdaxistitle:x"/>
          <p:cNvSpPr txBox="1"/>
          <p:nvPr/>
        </p:nvSpPr>
        <p:spPr>
          <a:xfrm>
            <a:off x="6406896" y="60350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24" name="sdpair:sdreglab:72926994"/>
          <p:cNvGrpSpPr/>
          <p:nvPr/>
        </p:nvGrpSpPr>
        <p:grpSpPr>
          <a:xfrm>
            <a:off x="1325880" y="3358482"/>
            <a:ext cx="1278610" cy="2630838"/>
            <a:chOff x="1325880" y="3358482"/>
            <a:chExt cx="1278610" cy="2630838"/>
          </a:xfrm>
        </p:grpSpPr>
        <p:sp>
          <p:nvSpPr>
            <p:cNvPr id="11" name="sdregion:72926994"/>
            <p:cNvSpPr/>
            <p:nvPr/>
          </p:nvSpPr>
          <p:spPr>
            <a:xfrm>
              <a:off x="1325880" y="3358482"/>
              <a:ext cx="1278610" cy="2630838"/>
            </a:xfrm>
            <a:custGeom>
              <a:avLst/>
              <a:gdLst/>
              <a:ahLst/>
              <a:cxnLst/>
              <a:rect l="0" t="0" r="r" b="b"/>
              <a:pathLst>
                <a:path w="1278610" h="2630838">
                  <a:moveTo>
                    <a:pt x="0" y="0"/>
                  </a:moveTo>
                  <a:lnTo>
                    <a:pt x="0" y="2630838"/>
                  </a:lnTo>
                  <a:lnTo>
                    <a:pt x="1278610" y="2630838"/>
                  </a:lnTo>
                  <a:lnTo>
                    <a:pt x="1278610"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dreglab:72926994"/>
            <p:cNvSpPr txBox="1"/>
            <p:nvPr/>
          </p:nvSpPr>
          <p:spPr>
            <a:xfrm>
              <a:off x="1433690" y="4416726"/>
              <a:ext cx="1062990" cy="514350"/>
            </a:xfrm>
            <a:prstGeom prst="rect">
              <a:avLst/>
            </a:prstGeom>
            <a:noFill/>
          </p:spPr>
          <p:txBody>
            <a:bodyPr wrap="square" lIns="0" tIns="0" rIns="0" bIns="0">
              <a:spAutoFit/>
            </a:bodyPr>
            <a:lstStyle/>
            <a:p>
              <a:pPr algn="ctr"/>
              <a:r>
                <a:rPr sz="1500" b="1" i="0" u="none">
                  <a:solidFill>
                    <a:srgbClr val="0B2B4E"/>
                  </a:solidFill>
                  <a:latin typeface="Calibri"/>
                </a:rPr>
                <a:t>Regular
movie-goers</a:t>
              </a:r>
            </a:p>
          </p:txBody>
        </p:sp>
      </p:grpSp>
      <p:grpSp>
        <p:nvGrpSpPr>
          <p:cNvPr id="125" name="sdpair:sdreglab:257b8fdb"/>
          <p:cNvGrpSpPr/>
          <p:nvPr/>
        </p:nvGrpSpPr>
        <p:grpSpPr>
          <a:xfrm>
            <a:off x="2604490" y="4485984"/>
            <a:ext cx="1278610" cy="1503336"/>
            <a:chOff x="2604490" y="4485984"/>
            <a:chExt cx="1278610" cy="1503336"/>
          </a:xfrm>
        </p:grpSpPr>
        <p:sp>
          <p:nvSpPr>
            <p:cNvPr id="12" name="sdregion:257b8fdb"/>
            <p:cNvSpPr/>
            <p:nvPr/>
          </p:nvSpPr>
          <p:spPr>
            <a:xfrm>
              <a:off x="2604490" y="4485984"/>
              <a:ext cx="1278610" cy="1503336"/>
            </a:xfrm>
            <a:custGeom>
              <a:avLst/>
              <a:gdLst/>
              <a:ahLst/>
              <a:cxnLst/>
              <a:rect l="0" t="0" r="r" b="b"/>
              <a:pathLst>
                <a:path w="1278610" h="1503336">
                  <a:moveTo>
                    <a:pt x="0" y="0"/>
                  </a:moveTo>
                  <a:lnTo>
                    <a:pt x="0" y="1503336"/>
                  </a:lnTo>
                  <a:lnTo>
                    <a:pt x="1278610" y="1503336"/>
                  </a:lnTo>
                  <a:lnTo>
                    <a:pt x="1278610" y="0"/>
                  </a:lnTo>
                  <a:close/>
                </a:path>
              </a:pathLst>
            </a:custGeom>
            <a:solidFill>
              <a:srgbClr val="0B2B4E">
                <a:alpha val="18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dreglab:257b8fdb"/>
            <p:cNvSpPr txBox="1"/>
            <p:nvPr/>
          </p:nvSpPr>
          <p:spPr>
            <a:xfrm>
              <a:off x="2907562" y="5109064"/>
              <a:ext cx="672465" cy="257175"/>
            </a:xfrm>
            <a:prstGeom prst="rect">
              <a:avLst/>
            </a:prstGeom>
            <a:noFill/>
          </p:spPr>
          <p:txBody>
            <a:bodyPr wrap="square" lIns="0" tIns="0" rIns="0" bIns="0">
              <a:spAutoFit/>
            </a:bodyPr>
            <a:lstStyle/>
            <a:p>
              <a:pPr algn="ctr"/>
              <a:r>
                <a:rPr sz="1500" b="1" i="0" u="none">
                  <a:solidFill>
                    <a:srgbClr val="0B2B4E"/>
                  </a:solidFill>
                  <a:latin typeface="Calibri"/>
                </a:rPr>
                <a:t>Seniors</a:t>
              </a:r>
            </a:p>
          </p:txBody>
        </p:sp>
      </p:grpSp>
      <p:cxnSp>
        <p:nvCxnSpPr>
          <p:cNvPr id="13" name="Connector 12"/>
          <p:cNvCxnSpPr/>
          <p:nvPr/>
        </p:nvCxnSpPr>
        <p:spPr>
          <a:xfrm>
            <a:off x="1325880" y="2230981"/>
            <a:ext cx="4262033" cy="3758339"/>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247832" y="5348058"/>
            <a:ext cx="216027" cy="292608"/>
          </a:xfrm>
          <a:prstGeom prst="rect">
            <a:avLst/>
          </a:prstGeom>
          <a:noFill/>
        </p:spPr>
        <p:txBody>
          <a:bodyPr wrap="square" lIns="0" tIns="0" rIns="0" bIns="0">
            <a:spAutoFit/>
          </a:bodyPr>
          <a:lstStyle/>
          <a:p>
            <a:pPr algn="l"/>
            <a:r>
              <a:rPr sz="1800" b="1" i="1" u="none">
                <a:solidFill>
                  <a:srgbClr val="A2162A"/>
                </a:solidFill>
                <a:latin typeface="Calibri"/>
              </a:rPr>
              <a:t>D</a:t>
            </a:r>
          </a:p>
        </p:txBody>
      </p:sp>
      <p:sp>
        <p:nvSpPr>
          <p:cNvPr id="15" name="TextBox 14"/>
          <p:cNvSpPr txBox="1"/>
          <p:nvPr/>
        </p:nvSpPr>
        <p:spPr>
          <a:xfrm>
            <a:off x="1008125" y="3221322"/>
            <a:ext cx="244602" cy="274320"/>
          </a:xfrm>
          <a:prstGeom prst="rect">
            <a:avLst/>
          </a:prstGeom>
          <a:noFill/>
        </p:spPr>
        <p:txBody>
          <a:bodyPr wrap="square" lIns="0" tIns="0" rIns="0" bIns="0">
            <a:spAutoFit/>
          </a:bodyPr>
          <a:lstStyle/>
          <a:p>
            <a:pPr algn="r"/>
            <a:r>
              <a:rPr sz="1800" b="0" i="1" u="none">
                <a:solidFill>
                  <a:srgbClr val="0B2B4E"/>
                </a:solidFill>
                <a:latin typeface="Calibri"/>
              </a:rPr>
              <a:t>P₁</a:t>
            </a:r>
          </a:p>
        </p:txBody>
      </p:sp>
      <p:sp>
        <p:nvSpPr>
          <p:cNvPr id="16" name="TextBox 15"/>
          <p:cNvSpPr txBox="1"/>
          <p:nvPr/>
        </p:nvSpPr>
        <p:spPr>
          <a:xfrm>
            <a:off x="989075" y="4348824"/>
            <a:ext cx="263652" cy="274320"/>
          </a:xfrm>
          <a:prstGeom prst="rect">
            <a:avLst/>
          </a:prstGeom>
          <a:noFill/>
        </p:spPr>
        <p:txBody>
          <a:bodyPr wrap="square" lIns="0" tIns="0" rIns="0" bIns="0">
            <a:spAutoFit/>
          </a:bodyPr>
          <a:lstStyle/>
          <a:p>
            <a:pPr algn="r"/>
            <a:r>
              <a:rPr sz="1800" b="0" i="1" u="none">
                <a:solidFill>
                  <a:srgbClr val="0B2B4E"/>
                </a:solidFill>
                <a:latin typeface="Calibri"/>
              </a:rPr>
              <a:t>P₂</a:t>
            </a:r>
          </a:p>
        </p:txBody>
      </p:sp>
      <p:sp>
        <p:nvSpPr>
          <p:cNvPr id="19" name="TextBox 18"/>
          <p:cNvSpPr txBox="1"/>
          <p:nvPr/>
        </p:nvSpPr>
        <p:spPr>
          <a:xfrm>
            <a:off x="3456432" y="1609344"/>
            <a:ext cx="4663440" cy="237744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a:latin typeface="Calibri"/>
              </a:rPr>
              <a:t>Divide customers into different groups with different price sensitivities</a:t>
            </a:r>
          </a:p>
          <a:p>
            <a:pPr algn="l"/>
            <a:r>
              <a:rPr>
                <a:latin typeface="Calibri"/>
              </a:rPr>
              <a:t>Charge </a:t>
            </a:r>
            <a:r>
              <a:rPr b="1">
                <a:solidFill>
                  <a:srgbClr val="A2162A"/>
                </a:solidFill>
                <a:latin typeface="Calibri"/>
              </a:rPr>
              <a:t>each group</a:t>
            </a:r>
            <a:r>
              <a:rPr>
                <a:latin typeface="Calibri"/>
              </a:rPr>
              <a:t> different prices (lower prices to more elastic groups)</a:t>
            </a:r>
          </a:p>
        </p:txBody>
      </p:sp>
      <p:pic>
        <p:nvPicPr>
          <p:cNvPr id="20" name="Picture 19" descr="NV_s27_groups.png"/>
          <p:cNvPicPr>
            <a:picLocks noChangeAspect="1"/>
          </p:cNvPicPr>
          <p:nvPr/>
        </p:nvPicPr>
        <p:blipFill>
          <a:blip r:embed="rId3"/>
          <a:stretch>
            <a:fillRect/>
          </a:stretch>
        </p:blipFill>
        <p:spPr>
          <a:xfrm>
            <a:off x="7379208" y="3392424"/>
            <a:ext cx="4352544" cy="3024750"/>
          </a:xfrm>
          <a:prstGeom prst="roundRect">
            <a:avLst>
              <a:gd name="adj" fmla="val 8000"/>
            </a:avLst>
          </a:prstGeom>
          <a:effectLst>
            <a:outerShdw blurRad="50800" dist="38100" dir="2700000" algn="tl" rotWithShape="0">
              <a:srgbClr val="000000">
                <a:alpha val="50000"/>
              </a:srgbClr>
            </a:outerShdw>
          </a:effectLst>
        </p:spPr>
      </p:pic>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24" name="TextBox 23"/>
          <p:cNvSpPr txBox="1"/>
          <p:nvPr/>
        </p:nvSpPr>
        <p:spPr>
          <a:xfrm>
            <a:off x="11475720" y="6583680"/>
            <a:ext cx="502920" cy="292608"/>
          </a:xfrm>
          <a:prstGeom prst="rect">
            <a:avLst/>
          </a:prstGeom>
          <a:noFill/>
        </p:spPr>
        <p:txBody>
          <a:bodyPr wrap="none" lIns="0" tIns="0" rIns="0" bIns="0">
            <a:spAutoFit/>
          </a:bodyPr>
          <a:lstStyle/>
          <a:p>
            <a:pPr algn="r"/>
            <a:fld id="{E147C3F4-51FB-5672-BCCD-B2C49AC14D38}"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fade">
                                      <p:cBhvr>
                                        <p:cTn id="7" dur="500"/>
                                        <p:tgtEl>
                                          <p:spTgt spid="12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
                                        <p:tgtEl>
                                          <p:spTgt spid="12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Pricing: Student Discounts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20_2_e1dce5dd.png"/>
          <p:cNvPicPr>
            <a:picLocks noChangeAspect="1"/>
          </p:cNvPicPr>
          <p:nvPr/>
        </p:nvPicPr>
        <p:blipFill>
          <a:blip r:embed="rId3"/>
          <a:stretch>
            <a:fillRect/>
          </a:stretch>
        </p:blipFill>
        <p:spPr>
          <a:xfrm>
            <a:off x="4251960" y="1417320"/>
            <a:ext cx="3791991" cy="4709160"/>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C293036A-BD4D-57C7-9687-30C5AEE01332}"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Pricing: Ways to Segment Consumers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647688" cy="4892040"/>
          </a:xfrm>
          <a:prstGeom prst="rect">
            <a:avLst/>
          </a:prstGeom>
          <a:noFill/>
        </p:spPr>
        <p:txBody>
          <a:bodyPr wrap="square" lIns="0" tIns="0" rIns="0" bIns="0" anchor="ctr">
            <a:noAutofit/>
          </a:bodyPr>
          <a:lstStyle>
            <a:lvl1pPr marL="342900" indent="-342900">
              <a:spcBef>
                <a:spcPts val="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dirty="0">
                <a:latin typeface="Calibri"/>
              </a:rPr>
              <a:t>By customer characteristics</a:t>
            </a:r>
          </a:p>
          <a:p>
            <a:pPr lvl="1" algn="l"/>
            <a:r>
              <a:rPr dirty="0">
                <a:latin typeface="Calibri"/>
              </a:rPr>
              <a:t>Age, gender, …</a:t>
            </a:r>
          </a:p>
          <a:p>
            <a:pPr lvl="1" algn="l"/>
            <a:r>
              <a:rPr dirty="0">
                <a:latin typeface="Calibri"/>
              </a:rPr>
              <a:t>But even by ‘customer’ species: doctors and veterinarians sometimes use the same medicines</a:t>
            </a:r>
          </a:p>
          <a:p>
            <a:pPr lvl="1" algn="l"/>
            <a:r>
              <a:rPr dirty="0">
                <a:latin typeface="Calibri"/>
              </a:rPr>
              <a:t>Discounts for new customers (gym memberships)</a:t>
            </a:r>
          </a:p>
          <a:p>
            <a:pPr algn="l"/>
            <a:r>
              <a:rPr dirty="0">
                <a:latin typeface="Calibri"/>
              </a:rPr>
              <a:t>By location</a:t>
            </a:r>
          </a:p>
          <a:p>
            <a:pPr lvl="1" algn="l"/>
            <a:r>
              <a:rPr dirty="0">
                <a:latin typeface="Calibri"/>
              </a:rPr>
              <a:t>Pharmaceuticals in the US v</a:t>
            </a:r>
            <a:r>
              <a:rPr lang="en-US" dirty="0">
                <a:latin typeface="Calibri"/>
              </a:rPr>
              <a:t>s</a:t>
            </a:r>
            <a:r>
              <a:rPr dirty="0">
                <a:latin typeface="Calibri"/>
              </a:rPr>
              <a:t>. emerging economies</a:t>
            </a:r>
          </a:p>
          <a:p>
            <a:pPr algn="l"/>
            <a:r>
              <a:rPr dirty="0">
                <a:latin typeface="Calibri"/>
              </a:rPr>
              <a:t>Intertemporal</a:t>
            </a:r>
          </a:p>
          <a:p>
            <a:pPr lvl="1" algn="l"/>
            <a:r>
              <a:rPr dirty="0">
                <a:latin typeface="Calibri"/>
              </a:rPr>
              <a:t>Electronic gadgets: early adopters vs. mass market</a:t>
            </a:r>
          </a:p>
          <a:p>
            <a:pPr lvl="1" algn="l"/>
            <a:r>
              <a:rPr dirty="0">
                <a:latin typeface="Calibri"/>
              </a:rPr>
              <a:t>Black Friday</a:t>
            </a:r>
          </a:p>
        </p:txBody>
      </p:sp>
      <p:pic>
        <p:nvPicPr>
          <p:cNvPr id="8" name="Picture 7" descr="New Member Discount.png"/>
          <p:cNvPicPr>
            <a:picLocks noChangeAspect="1"/>
          </p:cNvPicPr>
          <p:nvPr/>
        </p:nvPicPr>
        <p:blipFill>
          <a:blip r:embed="rId3"/>
          <a:stretch>
            <a:fillRect/>
          </a:stretch>
        </p:blipFill>
        <p:spPr>
          <a:xfrm>
            <a:off x="8160105" y="1463040"/>
            <a:ext cx="3315614" cy="4973421"/>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9B1978F4-5072-5BCF-94F0-DCD91FB47F0D}"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Pricing: Analysis for Two Markets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7223760" cy="2103120"/>
          </a:xfrm>
          <a:prstGeom prst="rect">
            <a:avLst/>
          </a:prstGeom>
          <a:noFill/>
        </p:spPr>
        <p:txBody>
          <a:bodyPr wrap="square" lIns="0" tIns="0" rIns="0" bIns="0">
            <a:noAutofit/>
          </a:bodyPr>
          <a:lstStyle>
            <a:lvl1pPr marL="342900" indent="-342900">
              <a:spcBef>
                <a:spcPts val="13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A firm produces the same product for two markets</a:t>
            </a:r>
          </a:p>
          <a:p>
            <a:pPr lvl="1" algn="l"/>
            <a:r>
              <a:rPr dirty="0">
                <a:latin typeface="Calibri"/>
              </a:rPr>
              <a:t>E.g. cars</a:t>
            </a:r>
          </a:p>
          <a:p>
            <a:pPr algn="l"/>
            <a:r>
              <a:rPr dirty="0">
                <a:latin typeface="Calibri"/>
              </a:rPr>
              <a:t>Should the price be the same in both markets?</a:t>
            </a:r>
          </a:p>
          <a:p>
            <a:pPr lvl="1" algn="l"/>
            <a:r>
              <a:rPr dirty="0">
                <a:latin typeface="Calibri"/>
              </a:rPr>
              <a:t>Not necessarily!</a:t>
            </a:r>
          </a:p>
        </p:txBody>
      </p:sp>
      <mc:AlternateContent xmlns:mc="http://schemas.openxmlformats.org/markup-compatibility/2006" xmlns:a14="http://schemas.microsoft.com/office/drawing/2010/main">
        <mc:Choice Requires="a14">
          <p:sp>
            <p:nvSpPr>
              <p:cNvPr id="8" name="TextBox 7"/>
              <p:cNvSpPr txBox="1"/>
              <p:nvPr/>
            </p:nvSpPr>
            <p:spPr>
              <a:xfrm>
                <a:off x="685800" y="3831336"/>
                <a:ext cx="4709160" cy="557784"/>
              </a:xfrm>
              <a:prstGeom prst="roundRect">
                <a:avLst>
                  <a:gd name="adj" fmla="val 14000"/>
                </a:avLst>
              </a:prstGeom>
              <a:solidFill>
                <a:srgbClr val="A2162A"/>
              </a:solidFill>
              <a:ln w="9525">
                <a:solidFill>
                  <a:srgbClr val="A2162A"/>
                </a:solidFill>
              </a:ln>
              <a:effectLst>
                <a:outerShdw blurRad="50800" dist="38100" dir="2700000" algn="tl" rotWithShape="0">
                  <a:srgbClr val="000000">
                    <a:alpha val="45000"/>
                  </a:srgbClr>
                </a:outerShdw>
              </a:effectLst>
            </p:spPr>
            <p:txBody>
              <a:bodyPr wrap="square" anchor="ctr">
                <a:spAutoFit/>
              </a:bodyPr>
              <a:lstStyle/>
              <a:p>
                <a:pPr algn="ctr">
                  <a:defRPr sz="2100" b="0" i="1">
                    <a:solidFill>
                      <a:srgbClr val="FFFFFF"/>
                    </a:solidFill>
                    <a:latin typeface="Cambria Math"/>
                  </a:defRPr>
                </a:pPr>
                <a14:m>
                  <m:oMathPara xmlns:m="http://schemas.openxmlformats.org/officeDocument/2006/math">
                    <m:oMath>
                      <m:sSub>
                        <m:sSubPr>
                          <m:ctrlPr>
                            <a:rPr lang="en-US" sz="2100" b="0" i="1">
                              <a:solidFill>
                                <a:srgbClr val="FFFFFF"/>
                              </a:solidFill>
                              <a:latin typeface="Cambria Math"/>
                              <a:ea typeface="Cambria Math"/>
                            </a:rPr>
                          </m:ctrlPr>
                        </m:sSubPr>
                        <m:e>
                          <m:r>
                            <a:rPr lang="en-US" sz="2100" b="0" i="1">
                              <a:solidFill>
                                <a:srgbClr val="FFFFFF"/>
                              </a:solidFill>
                              <a:latin typeface="Cambria Math"/>
                              <a:ea typeface="Cambria Math"/>
                            </a:rPr>
                            <m:t>𝑀𝑅</m:t>
                          </m:r>
                        </m:e>
                        <m:sub>
                          <m:r>
                            <a:rPr lang="en-US" sz="2100" b="0" i="1">
                              <a:solidFill>
                                <a:srgbClr val="FFFFFF"/>
                              </a:solidFill>
                              <a:latin typeface="Cambria Math"/>
                              <a:ea typeface="Cambria Math"/>
                            </a:rPr>
                            <m:t>𝑖</m:t>
                          </m:r>
                        </m:sub>
                      </m:sSub>
                      <m:r>
                        <a:rPr lang="en-US" sz="2100" b="0" i="0">
                          <a:solidFill>
                            <a:srgbClr val="FFFFFF"/>
                          </a:solidFill>
                          <a:latin typeface="Cambria Math"/>
                        </a:rPr>
                        <m:t> = </m:t>
                      </m:r>
                      <m:sSub>
                        <m:sSubPr>
                          <m:ctrlPr>
                            <a:rPr lang="en-US" sz="2100" b="0" i="1">
                              <a:solidFill>
                                <a:srgbClr val="FFFFFF"/>
                              </a:solidFill>
                              <a:latin typeface="Cambria Math"/>
                              <a:ea typeface="Cambria Math"/>
                            </a:rPr>
                          </m:ctrlPr>
                        </m:sSubPr>
                        <m:e>
                          <m:r>
                            <a:rPr lang="en-US" sz="2100" b="0" i="1">
                              <a:solidFill>
                                <a:srgbClr val="FFFFFF"/>
                              </a:solidFill>
                              <a:latin typeface="Cambria Math"/>
                              <a:ea typeface="Cambria Math"/>
                            </a:rPr>
                            <m:t>𝑀𝐶</m:t>
                          </m:r>
                        </m:e>
                        <m:sub>
                          <m:r>
                            <a:rPr lang="en-US" sz="2100" b="0" i="1">
                              <a:solidFill>
                                <a:srgbClr val="FFFFFF"/>
                              </a:solidFill>
                              <a:latin typeface="Cambria Math"/>
                              <a:ea typeface="Cambria Math"/>
                            </a:rPr>
                            <m:t>𝑖</m:t>
                          </m:r>
                        </m:sub>
                      </m:sSub>
                      <m:r>
                        <a:rPr lang="en-US" sz="2100" b="0" i="0">
                          <a:solidFill>
                            <a:srgbClr val="FFFFFF"/>
                          </a:solidFill>
                          <a:latin typeface="Cambria Math"/>
                        </a:rPr>
                        <m:t>   </m:t>
                      </m:r>
                      <m:r>
                        <m:rPr>
                          <m:sty m:val="p"/>
                        </m:rPr>
                        <a:rPr lang="en-US" sz="2100" b="0" i="0">
                          <a:solidFill>
                            <a:srgbClr val="FFFFFF"/>
                          </a:solidFill>
                          <a:latin typeface="Cambria Math"/>
                        </a:rPr>
                        <m:t>in</m:t>
                      </m:r>
                      <m:r>
                        <a:rPr lang="en-US" sz="2100" b="0" i="0">
                          <a:solidFill>
                            <a:srgbClr val="FFFFFF"/>
                          </a:solidFill>
                          <a:latin typeface="Cambria Math"/>
                        </a:rPr>
                        <m:t> </m:t>
                      </m:r>
                      <m:r>
                        <m:rPr>
                          <m:sty m:val="p"/>
                        </m:rPr>
                        <a:rPr lang="en-US" sz="2100" b="0" i="0">
                          <a:solidFill>
                            <a:srgbClr val="FFFFFF"/>
                          </a:solidFill>
                          <a:latin typeface="Cambria Math"/>
                        </a:rPr>
                        <m:t>each</m:t>
                      </m:r>
                      <m:r>
                        <a:rPr lang="en-US" sz="2100" b="0" i="0">
                          <a:solidFill>
                            <a:srgbClr val="FFFFFF"/>
                          </a:solidFill>
                          <a:latin typeface="Cambria Math"/>
                        </a:rPr>
                        <m:t> </m:t>
                      </m:r>
                      <m:r>
                        <m:rPr>
                          <m:sty m:val="p"/>
                        </m:rPr>
                        <a:rPr lang="en-US" sz="2100" b="0" i="0">
                          <a:solidFill>
                            <a:srgbClr val="FFFFFF"/>
                          </a:solidFill>
                          <a:latin typeface="Cambria Math"/>
                        </a:rPr>
                        <m:t>market</m:t>
                      </m:r>
                      <m:r>
                        <a:rPr lang="en-US" sz="2100" b="0" i="0">
                          <a:solidFill>
                            <a:srgbClr val="FFFFFF"/>
                          </a:solidFill>
                          <a:latin typeface="Cambria Math"/>
                        </a:rPr>
                        <m:t> </m:t>
                      </m:r>
                      <m:r>
                        <a:rPr lang="en-US" sz="2100" b="0" i="1">
                          <a:solidFill>
                            <a:srgbClr val="FFFFFF"/>
                          </a:solidFill>
                          <a:latin typeface="Cambria Math"/>
                          <a:ea typeface="Cambria Math"/>
                        </a:rPr>
                        <m:t>𝑖</m:t>
                      </m:r>
                    </m:oMath>
                  </m:oMathPara>
                </a14:m>
                <a:endParaRPr lang="en-US" sz="2100"/>
              </a:p>
            </p:txBody>
          </p:sp>
        </mc:Choice>
        <mc:Fallback xmlns="">
          <p:sp>
            <p:nvSpPr>
              <p:cNvPr id="8" name="TextBox 7"/>
              <p:cNvSpPr txBox="1">
                <a:spLocks noRot="1" noChangeAspect="1" noMove="1" noResize="1" noEditPoints="1" noAdjustHandles="1" noChangeArrowheads="1" noChangeShapeType="1" noTextEdit="1"/>
              </p:cNvSpPr>
              <p:nvPr/>
            </p:nvSpPr>
            <p:spPr>
              <a:xfrm>
                <a:off x="685800" y="3831336"/>
                <a:ext cx="4709160" cy="557784"/>
              </a:xfrm>
              <a:prstGeom prst="roundRect">
                <a:avLst>
                  <a:gd name="adj" fmla="val 14000"/>
                </a:avLst>
              </a:prstGeom>
              <a:blipFill>
                <a:blip r:embed="rId3"/>
                <a:stretch>
                  <a:fillRect/>
                </a:stretch>
              </a:blipFill>
              <a:ln w="9525">
                <a:solidFill>
                  <a:srgbClr val="A2162A"/>
                </a:solidFill>
              </a:ln>
              <a:effectLst>
                <a:outerShdw blurRad="50800" dist="38100" dir="2700000" algn="tl" rotWithShape="0">
                  <a:srgbClr val="000000">
                    <a:alpha val="45000"/>
                  </a:srgbClr>
                </a:outerShdw>
              </a:effectLst>
            </p:spPr>
            <p:txBody>
              <a:bodyPr/>
              <a:lstStyle/>
              <a:p>
                <a:r>
                  <a:rPr lang="en-US">
                    <a:noFill/>
                  </a:rPr>
                  <a:t> </a:t>
                </a:r>
              </a:p>
            </p:txBody>
          </p:sp>
        </mc:Fallback>
      </mc:AlternateContent>
      <p:grpSp>
        <p:nvGrpSpPr>
          <p:cNvPr id="117" name="Group pair 117"/>
          <p:cNvGrpSpPr/>
          <p:nvPr/>
        </p:nvGrpSpPr>
        <p:grpSpPr>
          <a:xfrm>
            <a:off x="685800" y="4800600"/>
            <a:ext cx="7223760" cy="1243584"/>
            <a:chOff x="685800" y="4800600"/>
            <a:chExt cx="7223760" cy="1243584"/>
          </a:xfrm>
        </p:grpSpPr>
        <p:sp>
          <p:nvSpPr>
            <p:cNvPr id="9" name="Rounded Rectangle 8"/>
            <p:cNvSpPr/>
            <p:nvPr/>
          </p:nvSpPr>
          <p:spPr>
            <a:xfrm>
              <a:off x="685800" y="4800600"/>
              <a:ext cx="7223760" cy="1243584"/>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910328"/>
              <a:ext cx="6858000" cy="1024128"/>
            </a:xfrm>
            <a:prstGeom prst="rect">
              <a:avLst/>
            </a:prstGeom>
            <a:noFill/>
          </p:spPr>
          <p:txBody>
            <a:bodyPr wrap="square" lIns="45720" tIns="0" rIns="45720" bIns="0" anchor="ctr">
              <a:spAutoFit/>
            </a:bodyPr>
            <a:lstStyle/>
            <a:p>
              <a:pPr algn="l"/>
              <a:r>
                <a:rPr sz="1900" b="1" i="0" u="none">
                  <a:solidFill>
                    <a:srgbClr val="0B2B4E"/>
                  </a:solidFill>
                  <a:latin typeface="Calibri"/>
                </a:rPr>
                <a:t>Rule:  </a:t>
              </a:r>
              <a:r>
                <a:rPr sz="1900" b="0" i="0" u="none">
                  <a:solidFill>
                    <a:srgbClr val="0B2B4E"/>
                  </a:solidFill>
                  <a:latin typeface="Calibri"/>
                </a:rPr>
                <a:t>prices differ if demand (MR) and/or costs (MC) differ</a:t>
              </a:r>
            </a:p>
            <a:p>
              <a:pPr marL="285750" indent="-285750" algn="l">
                <a:buFont typeface="Cambria Math" panose="020B0604020202020204" pitchFamily="34" charset="0"/>
                <a:buChar char="⇒"/>
              </a:pPr>
              <a:r>
                <a:rPr sz="1900" b="0" i="0" u="none">
                  <a:solidFill>
                    <a:srgbClr val="0B2B4E"/>
                  </a:solidFill>
                  <a:latin typeface="Calibri"/>
                </a:rPr>
                <a:t>Charge the lower price in the more elastic market</a:t>
              </a:r>
            </a:p>
          </p:txBody>
        </p:sp>
      </p:grpSp>
      <p:pic>
        <p:nvPicPr>
          <p:cNvPr id="11" name="Picture 10" descr="NV_s34_bmw.png"/>
          <p:cNvPicPr>
            <a:picLocks noChangeAspect="1"/>
          </p:cNvPicPr>
          <p:nvPr/>
        </p:nvPicPr>
        <p:blipFill>
          <a:blip r:embed="rId4"/>
          <a:stretch>
            <a:fillRect/>
          </a:stretch>
        </p:blipFill>
        <p:spPr>
          <a:xfrm>
            <a:off x="8183879" y="2240280"/>
            <a:ext cx="3447288" cy="2239305"/>
          </a:xfrm>
          <a:prstGeom prst="roundRect">
            <a:avLst>
              <a:gd name="adj" fmla="val 8000"/>
            </a:avLst>
          </a:prstGeom>
          <a:effectLst>
            <a:outerShdw blurRad="50800" dist="38100" dir="2700000" algn="tl" rotWithShape="0">
              <a:srgbClr val="000000">
                <a:alpha val="50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47E29B0C-E2C2-52A9-874E-F3FCE5D42D6E}" type="slidenum">
              <a:rPr lang="en-US" sz="1200" dirty="0">
                <a:solidFill>
                  <a:srgbClr val="555B66"/>
                </a:solidFill>
                <a:latin typeface="Calibri"/>
              </a:rPr>
              <a:t>7</a:t>
            </a:fld>
            <a:endParaRPr lang="en-US" sz="1200" dirty="0">
              <a:solidFill>
                <a:srgbClr val="555B66"/>
              </a:solidFill>
              <a:latin typeface="Calibri"/>
            </a:endParaRPr>
          </a:p>
        </p:txBody>
      </p:sp>
      <p:grpSp>
        <p:nvGrpSpPr>
          <p:cNvPr id="118" name="sdpair:btn:118"/>
          <p:cNvGrpSpPr/>
          <p:nvPr/>
        </p:nvGrpSpPr>
        <p:grpSpPr>
          <a:xfrm>
            <a:off x="6327648" y="6245352"/>
            <a:ext cx="5349240" cy="530352"/>
            <a:chOff x="6327648" y="6245352"/>
            <a:chExt cx="5349240" cy="530352"/>
          </a:xfrm>
        </p:grpSpPr>
        <p:sp>
          <p:nvSpPr>
            <p:cNvPr id="16" name="Rounded Rectangle 15"/>
            <p:cNvSpPr/>
            <p:nvPr/>
          </p:nvSpPr>
          <p:spPr>
            <a:xfrm>
              <a:off x="6327648" y="6245352"/>
              <a:ext cx="5349240" cy="530352"/>
            </a:xfrm>
            <a:prstGeom prst="roundRect">
              <a:avLst>
                <a:gd name="adj" fmla="val 28000"/>
              </a:avLst>
            </a:prstGeom>
            <a:solidFill>
              <a:srgbClr val="F1F2F4"/>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658368" tIns="0" rIns="64008" bIns="0" rtlCol="0" anchor="ctr"/>
            <a:lstStyle/>
            <a:p>
              <a:pPr algn="l"/>
              <a:r>
                <a:rPr sz="1600" b="1">
                  <a:solidFill>
                    <a:srgbClr val="0B2B4E"/>
                  </a:solidFill>
                  <a:latin typeface="Calibri"/>
                </a:rPr>
                <a:t>Practice Video:  Optimal Pricing in Two Markets</a:t>
              </a:r>
            </a:p>
          </p:txBody>
        </p:sp>
        <p:sp>
          <p:nvSpPr>
            <p:cNvPr id="17" name="Action Button: Movie 16"/>
            <p:cNvSpPr/>
            <p:nvPr/>
          </p:nvSpPr>
          <p:spPr>
            <a:xfrm>
              <a:off x="6464808" y="6382512"/>
              <a:ext cx="420624" cy="256032"/>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8"/>
                                        </p:tgtEl>
                                        <p:attrNameLst>
                                          <p:attrName>style.visibility</p:attrName>
                                        </p:attrNameLst>
                                      </p:cBhvr>
                                      <p:to>
                                        <p:strVal val="visible"/>
                                      </p:to>
                                    </p:set>
                                    <p:animEffect transition="in" filter="fade">
                                      <p:cBhvr>
                                        <p:cTn id="23"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vs. Uniform Pricing: The Graphical Answer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810512"/>
            <a:ext cx="3246120" cy="310896"/>
          </a:xfrm>
          <a:prstGeom prst="rect">
            <a:avLst/>
          </a:prstGeom>
          <a:noFill/>
        </p:spPr>
        <p:txBody>
          <a:bodyPr wrap="square" lIns="0" tIns="0" rIns="0" bIns="0">
            <a:spAutoFit/>
          </a:bodyPr>
          <a:lstStyle/>
          <a:p>
            <a:pPr algn="ctr"/>
            <a:r>
              <a:rPr sz="1700" b="1" i="0" u="none">
                <a:solidFill>
                  <a:srgbClr val="0B2B4E"/>
                </a:solidFill>
                <a:latin typeface="Calibri"/>
              </a:rPr>
              <a:t>US market  (B)</a:t>
            </a:r>
          </a:p>
        </p:txBody>
      </p:sp>
      <p:cxnSp>
        <p:nvCxnSpPr>
          <p:cNvPr id="8" name="sdaxis:y"/>
          <p:cNvCxnSpPr/>
          <p:nvPr/>
        </p:nvCxnSpPr>
        <p:spPr>
          <a:xfrm flipV="1">
            <a:off x="960120" y="2029967"/>
            <a:ext cx="0" cy="30449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960120" y="5074920"/>
            <a:ext cx="2953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718566" y="18973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11" name="sdaxistitle:x"/>
          <p:cNvSpPr txBox="1"/>
          <p:nvPr/>
        </p:nvSpPr>
        <p:spPr>
          <a:xfrm>
            <a:off x="3815143" y="5120640"/>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sp>
        <p:nvSpPr>
          <p:cNvPr id="12" name="sdregion:974abd14"/>
          <p:cNvSpPr/>
          <p:nvPr/>
        </p:nvSpPr>
        <p:spPr>
          <a:xfrm>
            <a:off x="960120" y="3429000"/>
            <a:ext cx="232410" cy="411479"/>
          </a:xfrm>
          <a:custGeom>
            <a:avLst/>
            <a:gdLst/>
            <a:ahLst/>
            <a:cxnLst/>
            <a:rect l="0" t="0" r="r" b="b"/>
            <a:pathLst>
              <a:path w="232410" h="411479">
                <a:moveTo>
                  <a:pt x="0" y="0"/>
                </a:moveTo>
                <a:lnTo>
                  <a:pt x="0" y="411479"/>
                </a:lnTo>
                <a:lnTo>
                  <a:pt x="232410" y="411479"/>
                </a:lnTo>
                <a:lnTo>
                  <a:pt x="232410"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960120" y="3017520"/>
            <a:ext cx="1162050" cy="2057400"/>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grpSp>
        <p:nvGrpSpPr>
          <p:cNvPr id="163" name="sdpair:curve:MR:us"/>
          <p:cNvGrpSpPr/>
          <p:nvPr/>
        </p:nvGrpSpPr>
        <p:grpSpPr>
          <a:xfrm>
            <a:off x="960120" y="3017520"/>
            <a:ext cx="931346" cy="2057400"/>
            <a:chOff x="960120" y="3017520"/>
            <a:chExt cx="931346" cy="2057400"/>
          </a:xfrm>
        </p:grpSpPr>
        <p:cxnSp>
          <p:nvCxnSpPr>
            <p:cNvPr id="14" name="sdcurve:MR:us"/>
            <p:cNvCxnSpPr/>
            <p:nvPr/>
          </p:nvCxnSpPr>
          <p:spPr>
            <a:xfrm>
              <a:off x="960120" y="3017520"/>
              <a:ext cx="581025" cy="2057400"/>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17" name="sdcurvelab:MR:us"/>
            <p:cNvSpPr txBox="1"/>
            <p:nvPr/>
          </p:nvSpPr>
          <p:spPr>
            <a:xfrm>
              <a:off x="1580189" y="4726990"/>
              <a:ext cx="311277" cy="292608"/>
            </a:xfrm>
            <a:prstGeom prst="rect">
              <a:avLst/>
            </a:prstGeom>
            <a:noFill/>
          </p:spPr>
          <p:txBody>
            <a:bodyPr wrap="square" lIns="0" tIns="0" rIns="0" bIns="0">
              <a:spAutoFit/>
            </a:bodyPr>
            <a:lstStyle/>
            <a:p>
              <a:pPr algn="l"/>
              <a:r>
                <a:rPr sz="1300" b="1" i="1" u="none">
                  <a:solidFill>
                    <a:srgbClr val="A2162A"/>
                  </a:solidFill>
                  <a:latin typeface="Calibri"/>
                </a:rPr>
                <a:t>MR</a:t>
              </a:r>
            </a:p>
          </p:txBody>
        </p:sp>
      </p:grpSp>
      <p:cxnSp>
        <p:nvCxnSpPr>
          <p:cNvPr id="15" name="Connector 14"/>
          <p:cNvCxnSpPr/>
          <p:nvPr/>
        </p:nvCxnSpPr>
        <p:spPr>
          <a:xfrm>
            <a:off x="960120" y="3840479"/>
            <a:ext cx="2705252"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91256" y="3550158"/>
            <a:ext cx="311277" cy="292608"/>
          </a:xfrm>
          <a:prstGeom prst="rect">
            <a:avLst/>
          </a:prstGeom>
          <a:noFill/>
        </p:spPr>
        <p:txBody>
          <a:bodyPr wrap="square" lIns="0" tIns="0" rIns="0" bIns="0">
            <a:spAutoFit/>
          </a:bodyPr>
          <a:lstStyle/>
          <a:p>
            <a:pPr algn="l"/>
            <a:r>
              <a:rPr sz="1300" b="1" i="1" u="none">
                <a:solidFill>
                  <a:srgbClr val="0B2B4E"/>
                </a:solidFill>
                <a:latin typeface="Calibri"/>
              </a:rPr>
              <a:t>MC</a:t>
            </a:r>
          </a:p>
        </p:txBody>
      </p:sp>
      <p:sp>
        <p:nvSpPr>
          <p:cNvPr id="18" name="TextBox 17"/>
          <p:cNvSpPr txBox="1"/>
          <p:nvPr/>
        </p:nvSpPr>
        <p:spPr>
          <a:xfrm>
            <a:off x="2161214" y="4726990"/>
            <a:ext cx="177927" cy="292608"/>
          </a:xfrm>
          <a:prstGeom prst="rect">
            <a:avLst/>
          </a:prstGeom>
          <a:noFill/>
        </p:spPr>
        <p:txBody>
          <a:bodyPr wrap="square" lIns="0" tIns="0" rIns="0" bIns="0">
            <a:spAutoFit/>
          </a:bodyPr>
          <a:lstStyle/>
          <a:p>
            <a:pPr algn="l"/>
            <a:r>
              <a:rPr sz="1300" b="1" i="1" u="none">
                <a:solidFill>
                  <a:srgbClr val="A2162A"/>
                </a:solidFill>
                <a:latin typeface="Calibri"/>
              </a:rPr>
              <a:t>D</a:t>
            </a:r>
          </a:p>
        </p:txBody>
      </p:sp>
      <p:cxnSp>
        <p:nvCxnSpPr>
          <p:cNvPr id="19" name="Connector 18"/>
          <p:cNvCxnSpPr/>
          <p:nvPr/>
        </p:nvCxnSpPr>
        <p:spPr>
          <a:xfrm>
            <a:off x="960120" y="3429000"/>
            <a:ext cx="23241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92530" y="3429000"/>
            <a:ext cx="0" cy="164592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206240" y="1810512"/>
            <a:ext cx="3246120" cy="310896"/>
          </a:xfrm>
          <a:prstGeom prst="rect">
            <a:avLst/>
          </a:prstGeom>
          <a:noFill/>
        </p:spPr>
        <p:txBody>
          <a:bodyPr wrap="square" lIns="0" tIns="0" rIns="0" bIns="0">
            <a:spAutoFit/>
          </a:bodyPr>
          <a:lstStyle/>
          <a:p>
            <a:pPr algn="ctr"/>
            <a:r>
              <a:rPr sz="1700" b="1" i="0" u="none">
                <a:solidFill>
                  <a:srgbClr val="0B2B4E"/>
                </a:solidFill>
                <a:latin typeface="Calibri"/>
              </a:rPr>
              <a:t>German market  (C)</a:t>
            </a:r>
          </a:p>
        </p:txBody>
      </p:sp>
      <p:cxnSp>
        <p:nvCxnSpPr>
          <p:cNvPr id="22" name="sdaxis:y"/>
          <p:cNvCxnSpPr/>
          <p:nvPr/>
        </p:nvCxnSpPr>
        <p:spPr>
          <a:xfrm flipV="1">
            <a:off x="4434840" y="2029967"/>
            <a:ext cx="0" cy="30449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3" name="sdaxis:x"/>
          <p:cNvCxnSpPr/>
          <p:nvPr/>
        </p:nvCxnSpPr>
        <p:spPr>
          <a:xfrm>
            <a:off x="4434840" y="5074920"/>
            <a:ext cx="29535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4" name="sdaxistitle:y"/>
          <p:cNvSpPr txBox="1"/>
          <p:nvPr/>
        </p:nvSpPr>
        <p:spPr>
          <a:xfrm>
            <a:off x="4193285" y="18973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25" name="sdaxistitle:x"/>
          <p:cNvSpPr txBox="1"/>
          <p:nvPr/>
        </p:nvSpPr>
        <p:spPr>
          <a:xfrm>
            <a:off x="7289863" y="5120640"/>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sp>
        <p:nvSpPr>
          <p:cNvPr id="26" name="sdregion:3432b902"/>
          <p:cNvSpPr/>
          <p:nvPr/>
        </p:nvSpPr>
        <p:spPr>
          <a:xfrm>
            <a:off x="4434840" y="3154679"/>
            <a:ext cx="387349" cy="685800"/>
          </a:xfrm>
          <a:custGeom>
            <a:avLst/>
            <a:gdLst/>
            <a:ahLst/>
            <a:cxnLst/>
            <a:rect l="0" t="0" r="r" b="b"/>
            <a:pathLst>
              <a:path w="387349" h="685800">
                <a:moveTo>
                  <a:pt x="0" y="0"/>
                </a:moveTo>
                <a:lnTo>
                  <a:pt x="0" y="685800"/>
                </a:lnTo>
                <a:lnTo>
                  <a:pt x="387349" y="685800"/>
                </a:lnTo>
                <a:lnTo>
                  <a:pt x="387349"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4434840" y="2468879"/>
            <a:ext cx="1471930" cy="2606041"/>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grpSp>
        <p:nvGrpSpPr>
          <p:cNvPr id="164" name="sdpair:curve:MR:de"/>
          <p:cNvGrpSpPr/>
          <p:nvPr/>
        </p:nvGrpSpPr>
        <p:grpSpPr>
          <a:xfrm>
            <a:off x="4434840" y="2468879"/>
            <a:ext cx="1086286" cy="2606041"/>
            <a:chOff x="4434840" y="2468879"/>
            <a:chExt cx="1086286" cy="2606041"/>
          </a:xfrm>
        </p:grpSpPr>
        <p:cxnSp>
          <p:nvCxnSpPr>
            <p:cNvPr id="28" name="sdcurve:MR:de"/>
            <p:cNvCxnSpPr/>
            <p:nvPr/>
          </p:nvCxnSpPr>
          <p:spPr>
            <a:xfrm>
              <a:off x="4434840" y="2468879"/>
              <a:ext cx="735965" cy="2606041"/>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31" name="sdcurvelab:MR:de"/>
            <p:cNvSpPr txBox="1"/>
            <p:nvPr/>
          </p:nvSpPr>
          <p:spPr>
            <a:xfrm>
              <a:off x="5209849" y="4726990"/>
              <a:ext cx="311277" cy="292608"/>
            </a:xfrm>
            <a:prstGeom prst="rect">
              <a:avLst/>
            </a:prstGeom>
            <a:noFill/>
          </p:spPr>
          <p:txBody>
            <a:bodyPr wrap="square" lIns="0" tIns="0" rIns="0" bIns="0">
              <a:spAutoFit/>
            </a:bodyPr>
            <a:lstStyle/>
            <a:p>
              <a:pPr algn="l"/>
              <a:r>
                <a:rPr sz="1300" b="1" i="1" u="none">
                  <a:solidFill>
                    <a:srgbClr val="A2162A"/>
                  </a:solidFill>
                  <a:latin typeface="Calibri"/>
                </a:rPr>
                <a:t>MR</a:t>
              </a:r>
            </a:p>
          </p:txBody>
        </p:sp>
      </p:grpSp>
      <p:cxnSp>
        <p:nvCxnSpPr>
          <p:cNvPr id="29" name="Connector 28"/>
          <p:cNvCxnSpPr/>
          <p:nvPr/>
        </p:nvCxnSpPr>
        <p:spPr>
          <a:xfrm>
            <a:off x="4434840" y="3840479"/>
            <a:ext cx="2705252"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65975" y="3550158"/>
            <a:ext cx="311277" cy="292608"/>
          </a:xfrm>
          <a:prstGeom prst="rect">
            <a:avLst/>
          </a:prstGeom>
          <a:noFill/>
        </p:spPr>
        <p:txBody>
          <a:bodyPr wrap="square" lIns="0" tIns="0" rIns="0" bIns="0">
            <a:spAutoFit/>
          </a:bodyPr>
          <a:lstStyle/>
          <a:p>
            <a:pPr algn="l"/>
            <a:r>
              <a:rPr sz="1300" b="1" i="1" u="none">
                <a:solidFill>
                  <a:srgbClr val="0B2B4E"/>
                </a:solidFill>
                <a:latin typeface="Calibri"/>
              </a:rPr>
              <a:t>MC</a:t>
            </a:r>
          </a:p>
        </p:txBody>
      </p:sp>
      <p:sp>
        <p:nvSpPr>
          <p:cNvPr id="32" name="TextBox 31"/>
          <p:cNvSpPr txBox="1"/>
          <p:nvPr/>
        </p:nvSpPr>
        <p:spPr>
          <a:xfrm>
            <a:off x="5945814" y="4726990"/>
            <a:ext cx="177927" cy="292608"/>
          </a:xfrm>
          <a:prstGeom prst="rect">
            <a:avLst/>
          </a:prstGeom>
          <a:noFill/>
        </p:spPr>
        <p:txBody>
          <a:bodyPr wrap="square" lIns="0" tIns="0" rIns="0" bIns="0">
            <a:spAutoFit/>
          </a:bodyPr>
          <a:lstStyle/>
          <a:p>
            <a:pPr algn="l"/>
            <a:r>
              <a:rPr sz="1300" b="1" i="1" u="none">
                <a:solidFill>
                  <a:srgbClr val="A2162A"/>
                </a:solidFill>
                <a:latin typeface="Calibri"/>
              </a:rPr>
              <a:t>D</a:t>
            </a:r>
          </a:p>
        </p:txBody>
      </p:sp>
      <p:cxnSp>
        <p:nvCxnSpPr>
          <p:cNvPr id="33" name="Connector 32"/>
          <p:cNvCxnSpPr/>
          <p:nvPr/>
        </p:nvCxnSpPr>
        <p:spPr>
          <a:xfrm>
            <a:off x="4434840" y="3154679"/>
            <a:ext cx="38734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822189" y="3154679"/>
            <a:ext cx="0" cy="192024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818120" y="1664208"/>
            <a:ext cx="12700" cy="3931920"/>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1810512"/>
            <a:ext cx="3246120" cy="310896"/>
          </a:xfrm>
          <a:prstGeom prst="rect">
            <a:avLst/>
          </a:prstGeom>
          <a:noFill/>
        </p:spPr>
        <p:txBody>
          <a:bodyPr wrap="square" lIns="0" tIns="0" rIns="0" bIns="0">
            <a:spAutoFit/>
          </a:bodyPr>
          <a:lstStyle/>
          <a:p>
            <a:pPr algn="ctr"/>
            <a:r>
              <a:rPr sz="1700" b="1" i="0" u="none">
                <a:solidFill>
                  <a:srgbClr val="0B2B4E"/>
                </a:solidFill>
                <a:latin typeface="Calibri"/>
              </a:rPr>
              <a:t>Joint market (US + Germany)  (A)</a:t>
            </a:r>
          </a:p>
        </p:txBody>
      </p:sp>
      <p:cxnSp>
        <p:nvCxnSpPr>
          <p:cNvPr id="37" name="sdaxis:y"/>
          <p:cNvCxnSpPr/>
          <p:nvPr/>
        </p:nvCxnSpPr>
        <p:spPr>
          <a:xfrm flipV="1">
            <a:off x="8549640" y="2029967"/>
            <a:ext cx="0" cy="30449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8" name="sdaxis:x"/>
          <p:cNvCxnSpPr/>
          <p:nvPr/>
        </p:nvCxnSpPr>
        <p:spPr>
          <a:xfrm>
            <a:off x="8549640" y="5074920"/>
            <a:ext cx="2953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9" name="sdaxistitle:y"/>
          <p:cNvSpPr txBox="1"/>
          <p:nvPr/>
        </p:nvSpPr>
        <p:spPr>
          <a:xfrm>
            <a:off x="8308086" y="18973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40" name="sdaxistitle:x"/>
          <p:cNvSpPr txBox="1"/>
          <p:nvPr/>
        </p:nvSpPr>
        <p:spPr>
          <a:xfrm>
            <a:off x="11404663" y="5120640"/>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sp>
        <p:nvSpPr>
          <p:cNvPr id="41" name="sdregion:23af82a6"/>
          <p:cNvSpPr/>
          <p:nvPr/>
        </p:nvSpPr>
        <p:spPr>
          <a:xfrm>
            <a:off x="8549640" y="3291839"/>
            <a:ext cx="619760" cy="548640"/>
          </a:xfrm>
          <a:custGeom>
            <a:avLst/>
            <a:gdLst/>
            <a:ahLst/>
            <a:cxnLst/>
            <a:rect l="0" t="0" r="r" b="b"/>
            <a:pathLst>
              <a:path w="619760" h="548640">
                <a:moveTo>
                  <a:pt x="0" y="0"/>
                </a:moveTo>
                <a:lnTo>
                  <a:pt x="0" y="548640"/>
                </a:lnTo>
                <a:lnTo>
                  <a:pt x="619760" y="548640"/>
                </a:lnTo>
                <a:lnTo>
                  <a:pt x="619760"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a:off x="8549640" y="2468879"/>
            <a:ext cx="309880" cy="548641"/>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859520" y="3017520"/>
            <a:ext cx="2324099" cy="2057400"/>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grpSp>
        <p:nvGrpSpPr>
          <p:cNvPr id="165" name="sdpair:curve:MR:joint"/>
          <p:cNvGrpSpPr/>
          <p:nvPr/>
        </p:nvGrpSpPr>
        <p:grpSpPr>
          <a:xfrm>
            <a:off x="8549640" y="2743200"/>
            <a:ext cx="1667311" cy="2331720"/>
            <a:chOff x="8549640" y="2743200"/>
            <a:chExt cx="1667311" cy="2331720"/>
          </a:xfrm>
        </p:grpSpPr>
        <p:cxnSp>
          <p:nvCxnSpPr>
            <p:cNvPr id="44" name="sdcurve:MR:joint"/>
            <p:cNvCxnSpPr/>
            <p:nvPr/>
          </p:nvCxnSpPr>
          <p:spPr>
            <a:xfrm>
              <a:off x="8549640" y="2743200"/>
              <a:ext cx="1316990" cy="2331720"/>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47" name="sdcurvelab:MR:joint"/>
            <p:cNvSpPr txBox="1"/>
            <p:nvPr/>
          </p:nvSpPr>
          <p:spPr>
            <a:xfrm>
              <a:off x="9905674" y="4726990"/>
              <a:ext cx="311277" cy="292608"/>
            </a:xfrm>
            <a:prstGeom prst="rect">
              <a:avLst/>
            </a:prstGeom>
            <a:noFill/>
          </p:spPr>
          <p:txBody>
            <a:bodyPr wrap="square" lIns="0" tIns="0" rIns="0" bIns="0">
              <a:spAutoFit/>
            </a:bodyPr>
            <a:lstStyle/>
            <a:p>
              <a:pPr algn="l"/>
              <a:r>
                <a:rPr sz="1300" b="1" i="1" u="none">
                  <a:solidFill>
                    <a:srgbClr val="A2162A"/>
                  </a:solidFill>
                  <a:latin typeface="Calibri"/>
                </a:rPr>
                <a:t>MR</a:t>
              </a:r>
            </a:p>
          </p:txBody>
        </p:sp>
      </p:grpSp>
      <p:cxnSp>
        <p:nvCxnSpPr>
          <p:cNvPr id="45" name="Connector 44"/>
          <p:cNvCxnSpPr/>
          <p:nvPr/>
        </p:nvCxnSpPr>
        <p:spPr>
          <a:xfrm>
            <a:off x="8549640" y="3840479"/>
            <a:ext cx="2705252"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780776" y="3550158"/>
            <a:ext cx="311277" cy="292608"/>
          </a:xfrm>
          <a:prstGeom prst="rect">
            <a:avLst/>
          </a:prstGeom>
          <a:noFill/>
        </p:spPr>
        <p:txBody>
          <a:bodyPr wrap="square" lIns="0" tIns="0" rIns="0" bIns="0">
            <a:spAutoFit/>
          </a:bodyPr>
          <a:lstStyle/>
          <a:p>
            <a:pPr algn="l"/>
            <a:r>
              <a:rPr sz="1300" b="1" i="1" u="none">
                <a:solidFill>
                  <a:srgbClr val="0B2B4E"/>
                </a:solidFill>
                <a:latin typeface="Calibri"/>
              </a:rPr>
              <a:t>MC</a:t>
            </a:r>
          </a:p>
        </p:txBody>
      </p:sp>
      <p:sp>
        <p:nvSpPr>
          <p:cNvPr id="48" name="TextBox 47"/>
          <p:cNvSpPr txBox="1"/>
          <p:nvPr/>
        </p:nvSpPr>
        <p:spPr>
          <a:xfrm>
            <a:off x="11152631" y="4325112"/>
            <a:ext cx="177927" cy="292608"/>
          </a:xfrm>
          <a:prstGeom prst="rect">
            <a:avLst/>
          </a:prstGeom>
          <a:noFill/>
        </p:spPr>
        <p:txBody>
          <a:bodyPr wrap="square" lIns="0" tIns="0" rIns="0" bIns="0">
            <a:spAutoFit/>
          </a:bodyPr>
          <a:lstStyle/>
          <a:p>
            <a:pPr algn="l"/>
            <a:r>
              <a:rPr sz="1300" b="1" i="1" u="none">
                <a:solidFill>
                  <a:srgbClr val="A2162A"/>
                </a:solidFill>
                <a:latin typeface="Calibri"/>
              </a:rPr>
              <a:t>D</a:t>
            </a:r>
          </a:p>
        </p:txBody>
      </p:sp>
      <p:cxnSp>
        <p:nvCxnSpPr>
          <p:cNvPr id="49" name="Connector 48"/>
          <p:cNvCxnSpPr/>
          <p:nvPr/>
        </p:nvCxnSpPr>
        <p:spPr>
          <a:xfrm>
            <a:off x="8549640" y="3291839"/>
            <a:ext cx="61976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169400" y="3291839"/>
            <a:ext cx="0" cy="1783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grpSp>
        <p:nvGrpSpPr>
          <p:cNvPr id="162" name="sdpair:arrow:162"/>
          <p:cNvGrpSpPr/>
          <p:nvPr/>
        </p:nvGrpSpPr>
        <p:grpSpPr>
          <a:xfrm>
            <a:off x="8859520" y="2240280"/>
            <a:ext cx="3055112" cy="777240"/>
            <a:chOff x="8859520" y="2240280"/>
            <a:chExt cx="3055112" cy="777240"/>
          </a:xfrm>
        </p:grpSpPr>
        <p:sp>
          <p:nvSpPr>
            <p:cNvPr id="51" name="TextBox 50"/>
            <p:cNvSpPr txBox="1"/>
            <p:nvPr/>
          </p:nvSpPr>
          <p:spPr>
            <a:xfrm>
              <a:off x="9189720" y="2240280"/>
              <a:ext cx="2724912" cy="548640"/>
            </a:xfrm>
            <a:prstGeom prst="rect">
              <a:avLst/>
            </a:prstGeom>
            <a:noFill/>
          </p:spPr>
          <p:txBody>
            <a:bodyPr wrap="square" lIns="0" tIns="0" rIns="0" bIns="0">
              <a:spAutoFit/>
            </a:bodyPr>
            <a:lstStyle/>
            <a:p>
              <a:pPr algn="ctr"/>
              <a:r>
                <a:rPr sz="1400" b="0" i="1" u="none">
                  <a:solidFill>
                    <a:srgbClr val="555B66"/>
                  </a:solidFill>
                  <a:latin typeface="Calibri"/>
                </a:rPr>
                <a:t>Kink results from demand aggregation (beyond the scope of this class)</a:t>
              </a:r>
            </a:p>
          </p:txBody>
        </p:sp>
        <p:cxnSp>
          <p:nvCxnSpPr>
            <p:cNvPr id="52" name="sdleader:53"/>
            <p:cNvCxnSpPr/>
            <p:nvPr/>
          </p:nvCxnSpPr>
          <p:spPr>
            <a:xfrm flipH="1">
              <a:off x="8859520" y="2804545"/>
              <a:ext cx="716797" cy="212975"/>
            </a:xfrm>
            <a:prstGeom prst="line">
              <a:avLst/>
            </a:prstGeom>
            <a:ln w="15875">
              <a:solidFill>
                <a:srgbClr val="555B66"/>
              </a:solidFill>
              <a:tailEnd type="triangle" w="med"/>
            </a:ln>
          </p:spPr>
          <p:style>
            <a:lnRef idx="2">
              <a:schemeClr val="accent1"/>
            </a:lnRef>
            <a:fillRef idx="0">
              <a:schemeClr val="accent1"/>
            </a:fillRef>
            <a:effectRef idx="1">
              <a:schemeClr val="accent1"/>
            </a:effectRef>
            <a:fontRef idx="minor">
              <a:schemeClr val="tx1"/>
            </a:fontRef>
          </p:style>
        </p:cxnSp>
      </p:grpSp>
      <p:sp>
        <p:nvSpPr>
          <p:cNvPr id="53" name="TextBox 52"/>
          <p:cNvSpPr txBox="1"/>
          <p:nvPr/>
        </p:nvSpPr>
        <p:spPr>
          <a:xfrm>
            <a:off x="731520" y="5440680"/>
            <a:ext cx="3246120" cy="310896"/>
          </a:xfrm>
          <a:prstGeom prst="rect">
            <a:avLst/>
          </a:prstGeom>
          <a:noFill/>
        </p:spPr>
        <p:txBody>
          <a:bodyPr wrap="square" lIns="0" tIns="0" rIns="0" bIns="0">
            <a:spAutoFit/>
          </a:bodyPr>
          <a:lstStyle/>
          <a:p>
            <a:pPr algn="ctr"/>
            <a:r>
              <a:rPr sz="1600" b="1" i="0" u="none">
                <a:solidFill>
                  <a:srgbClr val="0B2B4E"/>
                </a:solidFill>
                <a:latin typeface="Calibri"/>
              </a:rPr>
              <a:t>Profit = $450 m</a:t>
            </a:r>
          </a:p>
        </p:txBody>
      </p:sp>
      <p:sp>
        <p:nvSpPr>
          <p:cNvPr id="54" name="TextBox 53"/>
          <p:cNvSpPr txBox="1"/>
          <p:nvPr/>
        </p:nvSpPr>
        <p:spPr>
          <a:xfrm>
            <a:off x="4206240" y="5440680"/>
            <a:ext cx="3246120" cy="310896"/>
          </a:xfrm>
          <a:prstGeom prst="rect">
            <a:avLst/>
          </a:prstGeom>
          <a:noFill/>
        </p:spPr>
        <p:txBody>
          <a:bodyPr wrap="square" lIns="0" tIns="0" rIns="0" bIns="0">
            <a:spAutoFit/>
          </a:bodyPr>
          <a:lstStyle/>
          <a:p>
            <a:pPr algn="ctr"/>
            <a:r>
              <a:rPr sz="1600" b="1" i="0" u="none">
                <a:solidFill>
                  <a:srgbClr val="0B2B4E"/>
                </a:solidFill>
                <a:latin typeface="Calibri"/>
              </a:rPr>
              <a:t>Profit = $1,250 m</a:t>
            </a:r>
          </a:p>
        </p:txBody>
      </p:sp>
      <p:sp>
        <p:nvSpPr>
          <p:cNvPr id="55" name="TextBox 54"/>
          <p:cNvSpPr txBox="1"/>
          <p:nvPr/>
        </p:nvSpPr>
        <p:spPr>
          <a:xfrm>
            <a:off x="8321040" y="5440680"/>
            <a:ext cx="3246120" cy="310896"/>
          </a:xfrm>
          <a:prstGeom prst="rect">
            <a:avLst/>
          </a:prstGeom>
          <a:noFill/>
        </p:spPr>
        <p:txBody>
          <a:bodyPr wrap="square" lIns="0" tIns="0" rIns="0" bIns="0">
            <a:spAutoFit/>
          </a:bodyPr>
          <a:lstStyle/>
          <a:p>
            <a:pPr algn="ctr"/>
            <a:r>
              <a:rPr sz="1600" b="1" i="0" u="none">
                <a:solidFill>
                  <a:srgbClr val="0B2B4E"/>
                </a:solidFill>
                <a:latin typeface="Calibri"/>
              </a:rPr>
              <a:t>Profit = $1,600 m</a:t>
            </a:r>
          </a:p>
        </p:txBody>
      </p:sp>
      <p:sp>
        <p:nvSpPr>
          <p:cNvPr id="56" name="Rounded Rectangle 55"/>
          <p:cNvSpPr/>
          <p:nvPr/>
        </p:nvSpPr>
        <p:spPr>
          <a:xfrm>
            <a:off x="365760" y="5779008"/>
            <a:ext cx="11457432" cy="420624"/>
          </a:xfrm>
          <a:prstGeom prst="roundRect">
            <a:avLst>
              <a:gd name="adj" fmla="val 1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Segment pricing:  $1,700 m   &gt;   uniform pricing:  $1,600 m</a:t>
            </a:r>
          </a:p>
        </p:txBody>
      </p:sp>
      <p:sp>
        <p:nvSpPr>
          <p:cNvPr id="57" name="Rectangle 5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60" name="TextBox 59"/>
          <p:cNvSpPr txBox="1"/>
          <p:nvPr/>
        </p:nvSpPr>
        <p:spPr>
          <a:xfrm>
            <a:off x="11475720" y="6583680"/>
            <a:ext cx="502920" cy="292608"/>
          </a:xfrm>
          <a:prstGeom prst="rect">
            <a:avLst/>
          </a:prstGeom>
          <a:noFill/>
        </p:spPr>
        <p:txBody>
          <a:bodyPr wrap="none" lIns="0" tIns="0" rIns="0" bIns="0">
            <a:spAutoFit/>
          </a:bodyPr>
          <a:lstStyle/>
          <a:p>
            <a:pPr algn="r"/>
            <a:fld id="{87FE5336-91BC-514F-BE87-DB3CCAAE3B2B}" type="slidenum">
              <a:rPr lang="en-US" sz="1200" dirty="0">
                <a:solidFill>
                  <a:srgbClr val="555B66"/>
                </a:solidFill>
                <a:latin typeface="Calibri"/>
              </a:rPr>
              <a:t>8</a:t>
            </a:fld>
            <a:endParaRPr lang="en-US" sz="1200" dirty="0">
              <a:solidFill>
                <a:srgbClr val="555B66"/>
              </a:solidFill>
              <a:latin typeface="Calibri"/>
            </a:endParaRPr>
          </a:p>
        </p:txBody>
      </p:sp>
      <p:grpSp>
        <p:nvGrpSpPr>
          <p:cNvPr id="166" name="sdpair:btn:166"/>
          <p:cNvGrpSpPr/>
          <p:nvPr/>
        </p:nvGrpSpPr>
        <p:grpSpPr>
          <a:xfrm>
            <a:off x="6327648" y="6245352"/>
            <a:ext cx="5349240" cy="530352"/>
            <a:chOff x="6327648" y="6245352"/>
            <a:chExt cx="5349240" cy="530352"/>
          </a:xfrm>
        </p:grpSpPr>
        <p:sp>
          <p:nvSpPr>
            <p:cNvPr id="61" name="Rounded Rectangle 60"/>
            <p:cNvSpPr/>
            <p:nvPr/>
          </p:nvSpPr>
          <p:spPr>
            <a:xfrm>
              <a:off x="6327648" y="6245352"/>
              <a:ext cx="5349240" cy="530352"/>
            </a:xfrm>
            <a:prstGeom prst="roundRect">
              <a:avLst>
                <a:gd name="adj" fmla="val 28000"/>
              </a:avLst>
            </a:prstGeom>
            <a:solidFill>
              <a:srgbClr val="F1F2F4"/>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658368" tIns="0" rIns="64008" bIns="0" rtlCol="0" anchor="ctr"/>
            <a:lstStyle/>
            <a:p>
              <a:pPr algn="l"/>
              <a:r>
                <a:rPr sz="1600" b="1">
                  <a:solidFill>
                    <a:srgbClr val="0B2B4E"/>
                  </a:solidFill>
                  <a:latin typeface="Calibri"/>
                </a:rPr>
                <a:t>Practice Video:  Optimal Pricing in Two Markets</a:t>
              </a:r>
            </a:p>
          </p:txBody>
        </p:sp>
        <p:sp>
          <p:nvSpPr>
            <p:cNvPr id="62" name="Action Button: Movie 61"/>
            <p:cNvSpPr/>
            <p:nvPr/>
          </p:nvSpPr>
          <p:spPr>
            <a:xfrm>
              <a:off x="6464808" y="6382512"/>
              <a:ext cx="420624" cy="256032"/>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3"/>
                                        </p:tgtEl>
                                        <p:attrNameLst>
                                          <p:attrName>style.visibility</p:attrName>
                                        </p:attrNameLst>
                                      </p:cBhvr>
                                      <p:to>
                                        <p:strVal val="visible"/>
                                      </p:to>
                                    </p:set>
                                    <p:animEffect transition="in" filter="fade">
                                      <p:cBhvr>
                                        <p:cTn id="26" dur="500"/>
                                        <p:tgtEl>
                                          <p:spTgt spid="16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par>
                                <p:cTn id="59" presetID="10"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64"/>
                                        </p:tgtEl>
                                        <p:attrNameLst>
                                          <p:attrName>style.visibility</p:attrName>
                                        </p:attrNameLst>
                                      </p:cBhvr>
                                      <p:to>
                                        <p:strVal val="visible"/>
                                      </p:to>
                                    </p:set>
                                    <p:animEffect transition="in" filter="fade">
                                      <p:cBhvr>
                                        <p:cTn id="66" dur="500"/>
                                        <p:tgtEl>
                                          <p:spTgt spid="16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par>
                                <p:cTn id="72" presetID="10" presetClass="entr" presetSubtype="0" fill="hold"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nodeType="withEffect">
                                  <p:stCondLst>
                                    <p:cond delay="0"/>
                                  </p:stCondLst>
                                  <p:childTnLst>
                                    <p:set>
                                      <p:cBhvr>
                                        <p:cTn id="81" dur="1" fill="hold">
                                          <p:stCondLst>
                                            <p:cond delay="0"/>
                                          </p:stCondLst>
                                        </p:cTn>
                                        <p:tgtEl>
                                          <p:spTgt spid="54"/>
                                        </p:tgtEl>
                                        <p:attrNameLst>
                                          <p:attrName>style.visibility</p:attrName>
                                        </p:attrNameLst>
                                      </p:cBhvr>
                                      <p:to>
                                        <p:strVal val="visible"/>
                                      </p:to>
                                    </p:set>
                                    <p:animEffect transition="in" filter="fade">
                                      <p:cBhvr>
                                        <p:cTn id="82" dur="500"/>
                                        <p:tgtEl>
                                          <p:spTgt spid="5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500"/>
                                        <p:tgtEl>
                                          <p:spTgt spid="42"/>
                                        </p:tgtEl>
                                      </p:cBhvr>
                                    </p:animEffect>
                                  </p:childTnLst>
                                </p:cTn>
                              </p:par>
                              <p:par>
                                <p:cTn id="91" presetID="10" presetClass="entr" presetSubtype="0" fill="hold" nodeType="with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fade">
                                      <p:cBhvr>
                                        <p:cTn id="93" dur="500"/>
                                        <p:tgtEl>
                                          <p:spTgt spid="43"/>
                                        </p:tgtEl>
                                      </p:cBhvr>
                                    </p:animEffect>
                                  </p:childTnLst>
                                </p:cTn>
                              </p:par>
                              <p:par>
                                <p:cTn id="94" presetID="10" presetClass="entr" presetSubtype="0" fill="hold"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500"/>
                                        <p:tgtEl>
                                          <p:spTgt spid="48"/>
                                        </p:tgtEl>
                                      </p:cBhvr>
                                    </p:animEffect>
                                  </p:childTnLst>
                                </p:cTn>
                              </p:par>
                              <p:par>
                                <p:cTn id="97" presetID="10" presetClass="entr" presetSubtype="0" fill="hold" nodeType="withEffect">
                                  <p:stCondLst>
                                    <p:cond delay="0"/>
                                  </p:stCondLst>
                                  <p:childTnLst>
                                    <p:set>
                                      <p:cBhvr>
                                        <p:cTn id="98" dur="1" fill="hold">
                                          <p:stCondLst>
                                            <p:cond delay="0"/>
                                          </p:stCondLst>
                                        </p:cTn>
                                        <p:tgtEl>
                                          <p:spTgt spid="162"/>
                                        </p:tgtEl>
                                        <p:attrNameLst>
                                          <p:attrName>style.visibility</p:attrName>
                                        </p:attrNameLst>
                                      </p:cBhvr>
                                      <p:to>
                                        <p:strVal val="visible"/>
                                      </p:to>
                                    </p:set>
                                    <p:animEffect transition="in" filter="fade">
                                      <p:cBhvr>
                                        <p:cTn id="99" dur="500"/>
                                        <p:tgtEl>
                                          <p:spTgt spid="162"/>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500"/>
                                        <p:tgtEl>
                                          <p:spTgt spid="45"/>
                                        </p:tgtEl>
                                      </p:cBhvr>
                                    </p:animEffect>
                                  </p:childTnLst>
                                </p:cTn>
                              </p:par>
                              <p:par>
                                <p:cTn id="105" presetID="10" presetClass="entr" presetSubtype="0" fill="hold"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500"/>
                                        <p:tgtEl>
                                          <p:spTgt spid="4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65"/>
                                        </p:tgtEl>
                                        <p:attrNameLst>
                                          <p:attrName>style.visibility</p:attrName>
                                        </p:attrNameLst>
                                      </p:cBhvr>
                                      <p:to>
                                        <p:strVal val="visible"/>
                                      </p:to>
                                    </p:set>
                                    <p:animEffect transition="in" filter="fade">
                                      <p:cBhvr>
                                        <p:cTn id="112" dur="500"/>
                                        <p:tgtEl>
                                          <p:spTgt spid="165"/>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500"/>
                                        <p:tgtEl>
                                          <p:spTgt spid="49"/>
                                        </p:tgtEl>
                                      </p:cBhvr>
                                    </p:animEffect>
                                  </p:childTnLst>
                                </p:cTn>
                              </p:par>
                              <p:par>
                                <p:cTn id="118" presetID="10" presetClass="entr" presetSubtype="0" fill="hold"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500"/>
                                        <p:tgtEl>
                                          <p:spTgt spid="50"/>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500"/>
                                        <p:tgtEl>
                                          <p:spTgt spid="41"/>
                                        </p:tgtEl>
                                      </p:cBhvr>
                                    </p:animEffect>
                                  </p:childTnLst>
                                </p:cTn>
                              </p:par>
                              <p:par>
                                <p:cTn id="126" presetID="10" presetClass="entr" presetSubtype="0" fill="hold"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4 · Segment Pricing (Third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Challenges with Segment Pricing for BMW</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382512" cy="4892040"/>
          </a:xfrm>
          <a:prstGeom prst="rect">
            <a:avLst/>
          </a:prstGeom>
          <a:noFill/>
        </p:spPr>
        <p:txBody>
          <a:bodyPr wrap="square" lIns="0" tIns="0" rIns="0" bIns="0" anchor="ctr">
            <a:noAutofit/>
          </a:bodyPr>
          <a:lstStyle>
            <a:lvl1pPr marL="342900" indent="-342900">
              <a:spcBef>
                <a:spcPts val="9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dirty="0">
                <a:latin typeface="Calibri"/>
              </a:rPr>
              <a:t>Suppose BMW sets very different prices in Germany vs. U.S.</a:t>
            </a:r>
          </a:p>
          <a:p>
            <a:pPr algn="l"/>
            <a:r>
              <a:rPr dirty="0">
                <a:latin typeface="Calibri"/>
              </a:rPr>
              <a:t>Do you anticipate any problems?</a:t>
            </a:r>
          </a:p>
          <a:p>
            <a:pPr lvl="1" algn="l"/>
            <a:r>
              <a:rPr dirty="0">
                <a:latin typeface="Calibri"/>
              </a:rPr>
              <a:t>Arbitrage: re-importation from the cheaper market</a:t>
            </a:r>
          </a:p>
          <a:p>
            <a:pPr marL="1028700" lvl="2" indent="-228600" algn="l">
              <a:spcBef>
                <a:spcPts val="300"/>
              </a:spcBef>
              <a:buClr>
                <a:srgbClr val="555B66"/>
              </a:buClr>
              <a:buFont typeface="Calibri"/>
              <a:buChar char="–"/>
            </a:pPr>
            <a:r>
              <a:rPr sz="2100" dirty="0">
                <a:solidFill>
                  <a:srgbClr val="555B66"/>
                </a:solidFill>
                <a:latin typeface="Calibri"/>
              </a:rPr>
              <a:t>Difficult in this particular case (e.g., miles vs kilometers; taxation)</a:t>
            </a:r>
          </a:p>
          <a:p>
            <a:pPr marL="1028700" lvl="2" indent="-228600" algn="l">
              <a:spcBef>
                <a:spcPts val="300"/>
              </a:spcBef>
              <a:buClr>
                <a:srgbClr val="555B66"/>
              </a:buClr>
              <a:buFont typeface="Calibri"/>
              <a:buChar char="–"/>
            </a:pPr>
            <a:r>
              <a:rPr sz="2100" dirty="0">
                <a:solidFill>
                  <a:srgbClr val="555B66"/>
                </a:solidFill>
                <a:latin typeface="Calibri"/>
              </a:rPr>
              <a:t>However, easier in other cases (e.g., buying textbooks in India and reselling them in the US)</a:t>
            </a:r>
          </a:p>
          <a:p>
            <a:pPr lvl="1" algn="l"/>
            <a:r>
              <a:rPr dirty="0">
                <a:latin typeface="Calibri"/>
              </a:rPr>
              <a:t>Consumer backlash</a:t>
            </a:r>
          </a:p>
          <a:p>
            <a:pPr algn="l"/>
            <a:r>
              <a:rPr dirty="0">
                <a:latin typeface="Calibri"/>
              </a:rPr>
              <a:t>Way around these problems: versioning — second degree price discrimination</a:t>
            </a:r>
          </a:p>
        </p:txBody>
      </p:sp>
      <p:pic>
        <p:nvPicPr>
          <p:cNvPr id="8" name="Picture 7" descr="NV_s41_bmw_arbitrage.png"/>
          <p:cNvPicPr>
            <a:picLocks noChangeAspect="1"/>
          </p:cNvPicPr>
          <p:nvPr/>
        </p:nvPicPr>
        <p:blipFill>
          <a:blip r:embed="rId3"/>
          <a:stretch>
            <a:fillRect/>
          </a:stretch>
        </p:blipFill>
        <p:spPr>
          <a:xfrm>
            <a:off x="7315200" y="1664208"/>
            <a:ext cx="4315968" cy="4315968"/>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9745B44-8DC3-5093-8076-16734C04D8AD}"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1276</Words>
  <Application>Microsoft Office PowerPoint</Application>
  <PresentationFormat>Widescreen</PresentationFormat>
  <Paragraphs>139</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14</cp:revision>
  <dcterms:created xsi:type="dcterms:W3CDTF">2013-01-27T09:14:16Z</dcterms:created>
  <dcterms:modified xsi:type="dcterms:W3CDTF">2026-09-23T21:24:33Z</dcterms:modified>
  <cp:category/>
</cp:coreProperties>
</file>