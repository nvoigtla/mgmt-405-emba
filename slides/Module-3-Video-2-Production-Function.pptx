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349" r:id="rId2"/>
    <p:sldId id="342" r:id="rId3"/>
    <p:sldId id="264" r:id="rId4"/>
    <p:sldId id="265" r:id="rId5"/>
    <p:sldId id="266" r:id="rId6"/>
    <p:sldId id="267"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0" d="100"/>
          <a:sy n="90" d="100"/>
        </p:scale>
        <p:origin x="102" y="3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1"/>
          <c:y val="0.03"/>
          <c:w val="0.88"/>
          <c:h val="0.82"/>
        </c:manualLayout>
      </c:layout>
      <c:lineChart>
        <c:grouping val="standard"/>
        <c:varyColors val="0"/>
        <c:ser>
          <c:idx val="0"/>
          <c:order val="0"/>
          <c:tx>
            <c:strRef>
              <c:f>Sheet1!$B$1</c:f>
              <c:strCache>
                <c:ptCount val="1"/>
                <c:pt idx="0">
                  <c:v>K = 100</c:v>
                </c:pt>
              </c:strCache>
            </c:strRef>
          </c:tx>
          <c:spPr>
            <a:ln w="25400">
              <a:solidFill>
                <a:srgbClr val="2E75B6"/>
              </a:solidFill>
            </a:ln>
          </c:spPr>
          <c:marker>
            <c:symbol val="circle"/>
            <c:size val="7"/>
            <c:spPr>
              <a:solidFill>
                <a:srgbClr val="2E75B6"/>
              </a:solidFill>
              <a:ln>
                <a:solidFill>
                  <a:srgbClr val="2E75B6"/>
                </a:solidFill>
              </a:ln>
            </c:spPr>
          </c:marker>
          <c:cat>
            <c:strRef>
              <c:f>Sheet1!$A$2:$A$13</c:f>
              <c:strCache>
                <c:ptCount val="12"/>
                <c:pt idx="0">
                  <c:v>0</c:v>
                </c:pt>
                <c:pt idx="1">
                  <c:v>250</c:v>
                </c:pt>
                <c:pt idx="2">
                  <c:v>500</c:v>
                </c:pt>
                <c:pt idx="3">
                  <c:v>1,000</c:v>
                </c:pt>
                <c:pt idx="4">
                  <c:v>1,500</c:v>
                </c:pt>
                <c:pt idx="5">
                  <c:v>2,000</c:v>
                </c:pt>
                <c:pt idx="6">
                  <c:v>2,500</c:v>
                </c:pt>
                <c:pt idx="7">
                  <c:v>3,000</c:v>
                </c:pt>
                <c:pt idx="8">
                  <c:v>3,500</c:v>
                </c:pt>
                <c:pt idx="9">
                  <c:v>4,000</c:v>
                </c:pt>
                <c:pt idx="10">
                  <c:v>4,500</c:v>
                </c:pt>
                <c:pt idx="11">
                  <c:v>5,000</c:v>
                </c:pt>
              </c:strCache>
            </c:strRef>
          </c:cat>
          <c:val>
            <c:numRef>
              <c:f>Sheet1!$B$2:$B$13</c:f>
              <c:numCache>
                <c:formatCode>General</c:formatCode>
                <c:ptCount val="12"/>
                <c:pt idx="0">
                  <c:v>0</c:v>
                </c:pt>
                <c:pt idx="1">
                  <c:v>165</c:v>
                </c:pt>
                <c:pt idx="2">
                  <c:v>204</c:v>
                </c:pt>
                <c:pt idx="3">
                  <c:v>251</c:v>
                </c:pt>
                <c:pt idx="4">
                  <c:v>283</c:v>
                </c:pt>
                <c:pt idx="5">
                  <c:v>309</c:v>
                </c:pt>
                <c:pt idx="6">
                  <c:v>330</c:v>
                </c:pt>
                <c:pt idx="7">
                  <c:v>348</c:v>
                </c:pt>
                <c:pt idx="8">
                  <c:v>365</c:v>
                </c:pt>
                <c:pt idx="9">
                  <c:v>380</c:v>
                </c:pt>
                <c:pt idx="10">
                  <c:v>394</c:v>
                </c:pt>
                <c:pt idx="11">
                  <c:v>406</c:v>
                </c:pt>
              </c:numCache>
            </c:numRef>
          </c:val>
          <c:smooth val="0"/>
          <c:extLst>
            <c:ext xmlns:c16="http://schemas.microsoft.com/office/drawing/2014/chart" uri="{C3380CC4-5D6E-409C-BE32-E72D297353CC}">
              <c16:uniqueId val="{00000000-F957-4C09-85DE-B5B23B0425C2}"/>
            </c:ext>
          </c:extLst>
        </c:ser>
        <c:ser>
          <c:idx val="1"/>
          <c:order val="1"/>
          <c:tx>
            <c:strRef>
              <c:f>Sheet1!$C$1</c:f>
              <c:strCache>
                <c:ptCount val="1"/>
                <c:pt idx="0">
                  <c:v>K = 200</c:v>
                </c:pt>
              </c:strCache>
            </c:strRef>
          </c:tx>
          <c:spPr>
            <a:ln w="25400">
              <a:solidFill>
                <a:srgbClr val="C0504D"/>
              </a:solidFill>
            </a:ln>
          </c:spPr>
          <c:marker>
            <c:symbol val="triangle"/>
            <c:size val="7"/>
            <c:spPr>
              <a:solidFill>
                <a:srgbClr val="C0504D"/>
              </a:solidFill>
              <a:ln>
                <a:solidFill>
                  <a:srgbClr val="C0504D"/>
                </a:solidFill>
              </a:ln>
            </c:spPr>
          </c:marker>
          <c:cat>
            <c:strRef>
              <c:f>Sheet1!$A$2:$A$13</c:f>
              <c:strCache>
                <c:ptCount val="12"/>
                <c:pt idx="0">
                  <c:v>0</c:v>
                </c:pt>
                <c:pt idx="1">
                  <c:v>250</c:v>
                </c:pt>
                <c:pt idx="2">
                  <c:v>500</c:v>
                </c:pt>
                <c:pt idx="3">
                  <c:v>1,000</c:v>
                </c:pt>
                <c:pt idx="4">
                  <c:v>1,500</c:v>
                </c:pt>
                <c:pt idx="5">
                  <c:v>2,000</c:v>
                </c:pt>
                <c:pt idx="6">
                  <c:v>2,500</c:v>
                </c:pt>
                <c:pt idx="7">
                  <c:v>3,000</c:v>
                </c:pt>
                <c:pt idx="8">
                  <c:v>3,500</c:v>
                </c:pt>
                <c:pt idx="9">
                  <c:v>4,000</c:v>
                </c:pt>
                <c:pt idx="10">
                  <c:v>4,500</c:v>
                </c:pt>
                <c:pt idx="11">
                  <c:v>5,000</c:v>
                </c:pt>
              </c:strCache>
            </c:strRef>
          </c:cat>
          <c:val>
            <c:numRef>
              <c:f>Sheet1!$C$2:$C$13</c:f>
              <c:numCache>
                <c:formatCode>General</c:formatCode>
                <c:ptCount val="12"/>
                <c:pt idx="0">
                  <c:v>0</c:v>
                </c:pt>
                <c:pt idx="1">
                  <c:v>234</c:v>
                </c:pt>
                <c:pt idx="2">
                  <c:v>288</c:v>
                </c:pt>
                <c:pt idx="3">
                  <c:v>354</c:v>
                </c:pt>
                <c:pt idx="4">
                  <c:v>400</c:v>
                </c:pt>
                <c:pt idx="5">
                  <c:v>436</c:v>
                </c:pt>
                <c:pt idx="6">
                  <c:v>467</c:v>
                </c:pt>
                <c:pt idx="7">
                  <c:v>493</c:v>
                </c:pt>
                <c:pt idx="8">
                  <c:v>516</c:v>
                </c:pt>
                <c:pt idx="9">
                  <c:v>537</c:v>
                </c:pt>
                <c:pt idx="10">
                  <c:v>557</c:v>
                </c:pt>
                <c:pt idx="11">
                  <c:v>574</c:v>
                </c:pt>
              </c:numCache>
            </c:numRef>
          </c:val>
          <c:smooth val="0"/>
          <c:extLst>
            <c:ext xmlns:c16="http://schemas.microsoft.com/office/drawing/2014/chart" uri="{C3380CC4-5D6E-409C-BE32-E72D297353CC}">
              <c16:uniqueId val="{00000001-F957-4C09-85DE-B5B23B0425C2}"/>
            </c:ext>
          </c:extLst>
        </c:ser>
        <c:ser>
          <c:idx val="2"/>
          <c:order val="2"/>
          <c:tx>
            <c:strRef>
              <c:f>Sheet1!$D$1</c:f>
              <c:strCache>
                <c:ptCount val="1"/>
                <c:pt idx="0">
                  <c:v>K = 300</c:v>
                </c:pt>
              </c:strCache>
            </c:strRef>
          </c:tx>
          <c:spPr>
            <a:ln w="25400">
              <a:solidFill>
                <a:srgbClr val="808080"/>
              </a:solidFill>
            </a:ln>
          </c:spPr>
          <c:marker>
            <c:symbol val="square"/>
            <c:size val="7"/>
            <c:spPr>
              <a:solidFill>
                <a:srgbClr val="808080"/>
              </a:solidFill>
              <a:ln>
                <a:solidFill>
                  <a:srgbClr val="808080"/>
                </a:solidFill>
              </a:ln>
            </c:spPr>
          </c:marker>
          <c:cat>
            <c:strRef>
              <c:f>Sheet1!$A$2:$A$13</c:f>
              <c:strCache>
                <c:ptCount val="12"/>
                <c:pt idx="0">
                  <c:v>0</c:v>
                </c:pt>
                <c:pt idx="1">
                  <c:v>250</c:v>
                </c:pt>
                <c:pt idx="2">
                  <c:v>500</c:v>
                </c:pt>
                <c:pt idx="3">
                  <c:v>1,000</c:v>
                </c:pt>
                <c:pt idx="4">
                  <c:v>1,500</c:v>
                </c:pt>
                <c:pt idx="5">
                  <c:v>2,000</c:v>
                </c:pt>
                <c:pt idx="6">
                  <c:v>2,500</c:v>
                </c:pt>
                <c:pt idx="7">
                  <c:v>3,000</c:v>
                </c:pt>
                <c:pt idx="8">
                  <c:v>3,500</c:v>
                </c:pt>
                <c:pt idx="9">
                  <c:v>4,000</c:v>
                </c:pt>
                <c:pt idx="10">
                  <c:v>4,500</c:v>
                </c:pt>
                <c:pt idx="11">
                  <c:v>5,000</c:v>
                </c:pt>
              </c:strCache>
            </c:strRef>
          </c:cat>
          <c:val>
            <c:numRef>
              <c:f>Sheet1!$D$2:$D$13</c:f>
              <c:numCache>
                <c:formatCode>General</c:formatCode>
                <c:ptCount val="12"/>
                <c:pt idx="0">
                  <c:v>0</c:v>
                </c:pt>
                <c:pt idx="1">
                  <c:v>286</c:v>
                </c:pt>
                <c:pt idx="2">
                  <c:v>353</c:v>
                </c:pt>
                <c:pt idx="3">
                  <c:v>434</c:v>
                </c:pt>
                <c:pt idx="4">
                  <c:v>490</c:v>
                </c:pt>
                <c:pt idx="5">
                  <c:v>534</c:v>
                </c:pt>
                <c:pt idx="6">
                  <c:v>571</c:v>
                </c:pt>
                <c:pt idx="7">
                  <c:v>604</c:v>
                </c:pt>
                <c:pt idx="8">
                  <c:v>632</c:v>
                </c:pt>
                <c:pt idx="9">
                  <c:v>658</c:v>
                </c:pt>
                <c:pt idx="10">
                  <c:v>682</c:v>
                </c:pt>
                <c:pt idx="11">
                  <c:v>703</c:v>
                </c:pt>
              </c:numCache>
            </c:numRef>
          </c:val>
          <c:smooth val="0"/>
          <c:extLst>
            <c:ext xmlns:c16="http://schemas.microsoft.com/office/drawing/2014/chart" uri="{C3380CC4-5D6E-409C-BE32-E72D297353CC}">
              <c16:uniqueId val="{00000002-F957-4C09-85DE-B5B23B0425C2}"/>
            </c:ext>
          </c:extLst>
        </c:ser>
        <c:ser>
          <c:idx val="3"/>
          <c:order val="3"/>
          <c:tx>
            <c:strRef>
              <c:f>Sheet1!$E$1</c:f>
              <c:strCache>
                <c:ptCount val="1"/>
                <c:pt idx="0">
                  <c:v>K = 400</c:v>
                </c:pt>
              </c:strCache>
            </c:strRef>
          </c:tx>
          <c:spPr>
            <a:ln w="25400">
              <a:solidFill>
                <a:srgbClr val="E6B800"/>
              </a:solidFill>
            </a:ln>
          </c:spPr>
          <c:marker>
            <c:symbol val="diamond"/>
            <c:size val="7"/>
            <c:spPr>
              <a:solidFill>
                <a:srgbClr val="E6B800"/>
              </a:solidFill>
              <a:ln>
                <a:solidFill>
                  <a:srgbClr val="E6B800"/>
                </a:solidFill>
              </a:ln>
            </c:spPr>
          </c:marker>
          <c:cat>
            <c:strRef>
              <c:f>Sheet1!$A$2:$A$13</c:f>
              <c:strCache>
                <c:ptCount val="12"/>
                <c:pt idx="0">
                  <c:v>0</c:v>
                </c:pt>
                <c:pt idx="1">
                  <c:v>250</c:v>
                </c:pt>
                <c:pt idx="2">
                  <c:v>500</c:v>
                </c:pt>
                <c:pt idx="3">
                  <c:v>1,000</c:v>
                </c:pt>
                <c:pt idx="4">
                  <c:v>1,500</c:v>
                </c:pt>
                <c:pt idx="5">
                  <c:v>2,000</c:v>
                </c:pt>
                <c:pt idx="6">
                  <c:v>2,500</c:v>
                </c:pt>
                <c:pt idx="7">
                  <c:v>3,000</c:v>
                </c:pt>
                <c:pt idx="8">
                  <c:v>3,500</c:v>
                </c:pt>
                <c:pt idx="9">
                  <c:v>4,000</c:v>
                </c:pt>
                <c:pt idx="10">
                  <c:v>4,500</c:v>
                </c:pt>
                <c:pt idx="11">
                  <c:v>5,000</c:v>
                </c:pt>
              </c:strCache>
            </c:strRef>
          </c:cat>
          <c:val>
            <c:numRef>
              <c:f>Sheet1!$E$2:$E$13</c:f>
              <c:numCache>
                <c:formatCode>General</c:formatCode>
                <c:ptCount val="12"/>
                <c:pt idx="0">
                  <c:v>0</c:v>
                </c:pt>
                <c:pt idx="1">
                  <c:v>331</c:v>
                </c:pt>
                <c:pt idx="2">
                  <c:v>407</c:v>
                </c:pt>
                <c:pt idx="3">
                  <c:v>501</c:v>
                </c:pt>
                <c:pt idx="4">
                  <c:v>566</c:v>
                </c:pt>
                <c:pt idx="5">
                  <c:v>617</c:v>
                </c:pt>
                <c:pt idx="6">
                  <c:v>660</c:v>
                </c:pt>
                <c:pt idx="7">
                  <c:v>697</c:v>
                </c:pt>
                <c:pt idx="8">
                  <c:v>730</c:v>
                </c:pt>
                <c:pt idx="9">
                  <c:v>760</c:v>
                </c:pt>
                <c:pt idx="10">
                  <c:v>787</c:v>
                </c:pt>
                <c:pt idx="11">
                  <c:v>812</c:v>
                </c:pt>
              </c:numCache>
            </c:numRef>
          </c:val>
          <c:smooth val="0"/>
          <c:extLst>
            <c:ext xmlns:c16="http://schemas.microsoft.com/office/drawing/2014/chart" uri="{C3380CC4-5D6E-409C-BE32-E72D297353CC}">
              <c16:uniqueId val="{00000003-F957-4C09-85DE-B5B23B0425C2}"/>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majorGridlines>
          <c:spPr>
            <a:ln w="9525" cap="flat" cmpd="sng" algn="ctr">
              <a:solidFill>
                <a:srgbClr val="C8CDD3"/>
              </a:solidFill>
              <a:prstDash val="dash"/>
            </a:ln>
          </c:spPr>
        </c:majorGridlines>
        <c:title>
          <c:tx>
            <c:rich>
              <a:bodyPr/>
              <a:lstStyle/>
              <a:p>
                <a:r>
                  <a:rPr lang="en-US" sz="1400" b="1" i="1" dirty="0">
                    <a:solidFill>
                      <a:srgbClr val="0B2B4E"/>
                    </a:solidFill>
                    <a:latin typeface="Calibri"/>
                  </a:rPr>
                  <a:t>Number of Workers (L)</a:t>
                </a:r>
              </a:p>
            </c:rich>
          </c:tx>
          <c:overlay val="0"/>
        </c:title>
        <c:numFmt formatCode="General" sourceLinked="0"/>
        <c:majorTickMark val="out"/>
        <c:minorTickMark val="none"/>
        <c:tickLblPos val="nextTo"/>
        <c:txPr>
          <a:bodyPr/>
          <a:lstStyle/>
          <a:p>
            <a:pPr>
              <a:defRPr sz="1100">
                <a:solidFill>
                  <a:srgbClr val="0B2B4E"/>
                </a:solidFill>
                <a:latin typeface="Calibri"/>
              </a:defRPr>
            </a:pPr>
            <a:endParaRPr lang="en-US"/>
          </a:p>
        </c:txPr>
        <c:crossAx val="2140495176"/>
        <c:crosses val="autoZero"/>
        <c:auto val="1"/>
        <c:lblAlgn val="ctr"/>
        <c:lblOffset val="100"/>
        <c:noMultiLvlLbl val="0"/>
      </c:catAx>
      <c:valAx>
        <c:axId val="2140495176"/>
        <c:scaling>
          <c:orientation val="minMax"/>
          <c:max val="800"/>
          <c:min val="0"/>
        </c:scaling>
        <c:delete val="0"/>
        <c:axPos val="l"/>
        <c:majorGridlines>
          <c:spPr>
            <a:ln w="9525" cap="flat" cmpd="sng" algn="ctr">
              <a:solidFill>
                <a:srgbClr val="C8CDD3"/>
              </a:solidFill>
              <a:prstDash val="dash"/>
            </a:ln>
          </c:spPr>
        </c:majorGridlines>
        <c:title>
          <c:tx>
            <c:rich>
              <a:bodyPr/>
              <a:lstStyle/>
              <a:p>
                <a:r>
                  <a:rPr lang="en-US" sz="1400" b="1" i="1" dirty="0">
                    <a:solidFill>
                      <a:srgbClr val="0B2B4E"/>
                    </a:solidFill>
                    <a:latin typeface="Calibri"/>
                  </a:rPr>
                  <a:t>Cars per Week (Q) </a:t>
                </a:r>
              </a:p>
            </c:rich>
          </c:tx>
          <c:overlay val="0"/>
        </c:title>
        <c:numFmt formatCode="General" sourceLinked="1"/>
        <c:majorTickMark val="out"/>
        <c:minorTickMark val="none"/>
        <c:tickLblPos val="nextTo"/>
        <c:txPr>
          <a:bodyPr/>
          <a:lstStyle/>
          <a:p>
            <a:pPr>
              <a:defRPr sz="1100">
                <a:solidFill>
                  <a:srgbClr val="0B2B4E"/>
                </a:solidFill>
                <a:latin typeface="Calibri"/>
              </a:defRPr>
            </a:pPr>
            <a:endParaRPr lang="en-US"/>
          </a:p>
        </c:txPr>
        <c:crossAx val="2118791784"/>
        <c:crosses val="autoZero"/>
        <c:crossBetween val="midCat"/>
        <c:majorUnit val="100"/>
      </c:valAx>
    </c:plotArea>
    <c:legend>
      <c:legendPos val="tr"/>
      <c:layout>
        <c:manualLayout>
          <c:xMode val="edge"/>
          <c:yMode val="edge"/>
          <c:x val="0.18"/>
          <c:y val="0.05"/>
          <c:w val="0.17"/>
          <c:h val="0.32"/>
        </c:manualLayout>
      </c:layout>
      <c:overlay val="0"/>
      <c:spPr>
        <a:solidFill>
          <a:srgbClr val="FFFFFF"/>
        </a:solidFill>
        <a:ln w="6350">
          <a:solidFill>
            <a:srgbClr val="0B2B4E"/>
          </a:solidFill>
        </a:ln>
      </c:spPr>
      <c:txPr>
        <a:bodyPr/>
        <a:lstStyle/>
        <a:p>
          <a:pPr>
            <a:lnSpc>
              <a:spcPct val="70000"/>
            </a:lnSpc>
            <a:defRPr sz="1800">
              <a:solidFill>
                <a:srgbClr val="0B2B4E"/>
              </a:solidFill>
              <a:latin typeface="Calibri"/>
            </a:defRPr>
          </a:pPr>
          <a:endParaRPr lang="en-US"/>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53184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start with Part 1, Production. The question we're after is straightforward: how does output depend on the inputs a firm uses? We'll take it in two steps. First, short-run hiring, where the plant is fixed and the only question is how many people to hire. Then the long run, where you can choose everything, and the question becomes the right balance of capital and labor. Let's begin with the production function.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the production function in its simplest form. Output, which we call Q, depends on the inputs a firm uses. The two main ones are capital, labeled K, and labor, labeled L, and there can be others too, like raw materials or energy. Let me say a word about capital, because it's broader than it first sounds. It's not just buildings. It also includes machinery, software, and intellectual property, basically anything you've already paid for that keeps producing for you. The line at the bottom sums it up: a production function turns inputs into output, and the more efficiently it does that, the higher your productivity. Productivity is a word we'll keep coming back to, and the rest of the module builds on this one idea.</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Next, let's separate the short run from the long run, because they lead to different decisions. In the short run, some inputs are fixed. We call these fixed factors, and you can't change them within your planning window. The long run is a stretch of time long enough that every input can change. The two photos make this concrete. On the left is Rivian's plant in Normal, Illinois. In any given quarter, the building and the robots are set. Rivian can add shifts and hire more workers, but it can't put up a second factory overnight. On the right is an ophthalmologist. A specialist with years of training is also fixed in the short run, because a hospital can't produce another surgeon in a month. Both cases point to the same idea: in the short run, you work with the things you can't change. That's what we'll do next, starting with the marginal product of labor.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Rivian's actual production function for their R1 line, laid out as a table. Down the left we vary the number of workers, from 250 up to 5,000. Across the top we vary the number of robots, from 100 to 400. Every cell is the weekly output in cars. Start with the cell I've highlighted, 467. It sits where 2,500 workers meet 200 robots. So with that combination Rivian builds 467 cars a week. That is how you read any cell in the table. Now there are two patterns worth noticing. First, pick a single column, so hold the number of robots fixed, and read down as we add workers. Output keeps rising, but by smaller and smaller amounts. That is the marginal product of labor falling as we add labor. Second, pick a row and read across as we add robots. The same thing happens in the other direction. The marginal product of capital falls too. So output rises both ways, but always at a diminishing rate. Hold onto that pattern. It drives everything we do next.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are those same numbers as a picture, which makes the pattern much easier to see. Each curve is total output as we add workers, and there is one curve for each level of robots, from 100 at the bottom up to 400 at the top. Look at any one curve on its own. It climbs quickly at first and then flattens out. That flattening is diminishing marginal product of labor, each extra worker adding less than the one before. Now look at the spacing between the curves. As we move from 100 robots to 200 to 300 to 400, the curves bunch closer together. So adding more robots also buys less and less extra output. That is diminishing marginal product of capital. This shape turns up everywhere, from a factory floor to a consulting team, so it is worth getting comfortable with it.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405 Slides Layou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5" r:id="rId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920240"/>
            <a:ext cx="12191695" cy="1005840"/>
          </a:xfrm>
          <a:prstGeom prst="rect">
            <a:avLst/>
          </a:prstGeom>
          <a:noFill/>
        </p:spPr>
        <p:txBody>
          <a:bodyPr wrap="square" lIns="0" tIns="0" rIns="0" bIns="0">
            <a:spAutoFit/>
          </a:bodyPr>
          <a:lstStyle/>
          <a:p>
            <a:pPr algn="ctr"/>
            <a:r>
              <a:rPr sz="6000" b="1" i="0" u="none">
                <a:solidFill>
                  <a:srgbClr val="0B2B4E"/>
                </a:solidFill>
                <a:latin typeface="Calibri"/>
              </a:rPr>
              <a:t>The Production Function</a:t>
            </a:r>
          </a:p>
        </p:txBody>
      </p:sp>
      <p:sp>
        <p:nvSpPr>
          <p:cNvPr id="3" name="TextBox 2"/>
          <p:cNvSpPr txBox="1"/>
          <p:nvPr/>
        </p:nvSpPr>
        <p:spPr>
          <a:xfrm>
            <a:off x="0" y="2971800"/>
            <a:ext cx="12191695" cy="685800"/>
          </a:xfrm>
          <a:prstGeom prst="rect">
            <a:avLst/>
          </a:prstGeom>
          <a:noFill/>
        </p:spPr>
        <p:txBody>
          <a:bodyPr wrap="square" lIns="0" tIns="0" rIns="0" bIns="0">
            <a:spAutoFit/>
          </a:bodyPr>
          <a:lstStyle/>
          <a:p>
            <a:pPr algn="ctr"/>
            <a:r>
              <a:rPr sz="4000" b="1" i="0" u="none">
                <a:solidFill>
                  <a:srgbClr val="E09F3E"/>
                </a:solidFill>
                <a:latin typeface="Calibri"/>
              </a:rPr>
              <a:t>Module 3  ·  Video 2</a:t>
            </a:r>
          </a:p>
        </p:txBody>
      </p:sp>
      <p:sp>
        <p:nvSpPr>
          <p:cNvPr id="4" name="Rectangle 3"/>
          <p:cNvSpPr/>
          <p:nvPr/>
        </p:nvSpPr>
        <p:spPr>
          <a:xfrm>
            <a:off x="4267047" y="3913632"/>
            <a:ext cx="365760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0" y="4224528"/>
            <a:ext cx="12191695" cy="502920"/>
          </a:xfrm>
          <a:prstGeom prst="rect">
            <a:avLst/>
          </a:prstGeom>
          <a:noFill/>
        </p:spPr>
        <p:txBody>
          <a:bodyPr wrap="square" lIns="0" tIns="0" rIns="0" bIns="0">
            <a:spAutoFit/>
          </a:bodyPr>
          <a:lstStyle/>
          <a:p>
            <a:pPr algn="ctr"/>
            <a:r>
              <a:rPr sz="2600" b="1" i="0" u="none">
                <a:solidFill>
                  <a:srgbClr val="555B66"/>
                </a:solidFill>
                <a:latin typeface="Calibri"/>
              </a:rPr>
              <a:t>Management 405</a:t>
            </a:r>
          </a:p>
        </p:txBody>
      </p:sp>
      <p:sp>
        <p:nvSpPr>
          <p:cNvPr id="6" name="TextBox 5"/>
          <p:cNvSpPr txBox="1"/>
          <p:nvPr/>
        </p:nvSpPr>
        <p:spPr>
          <a:xfrm>
            <a:off x="0" y="4864608"/>
            <a:ext cx="12191695" cy="457200"/>
          </a:xfrm>
          <a:prstGeom prst="rect">
            <a:avLst/>
          </a:prstGeom>
          <a:noFill/>
        </p:spPr>
        <p:txBody>
          <a:bodyPr wrap="square" lIns="0" tIns="0" rIns="0" bIns="0">
            <a:spAutoFit/>
          </a:bodyPr>
          <a:lstStyle/>
          <a:p>
            <a:pPr algn="ctr"/>
            <a:r>
              <a:rPr sz="2200" b="0" i="0" u="none">
                <a:solidFill>
                  <a:srgbClr val="555B66"/>
                </a:solidFill>
                <a:latin typeface="Calibri"/>
              </a:rPr>
              <a:t>Prof. Nico Voigtländer  ·  UCLA Anderson</a:t>
            </a:r>
          </a:p>
        </p:txBody>
      </p:sp>
      <p:sp>
        <p:nvSpPr>
          <p:cNvPr id="7" name="Rectangle 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3 · Agenda</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Outline of Module 3</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1560" y="139674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1</a:t>
            </a:r>
          </a:p>
        </p:txBody>
      </p:sp>
      <p:sp>
        <p:nvSpPr>
          <p:cNvPr id="8" name="TextBox 7"/>
          <p:cNvSpPr txBox="1"/>
          <p:nvPr/>
        </p:nvSpPr>
        <p:spPr>
          <a:xfrm>
            <a:off x="1874519" y="1463522"/>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Introduction to Module 3</a:t>
            </a:r>
          </a:p>
        </p:txBody>
      </p:sp>
      <p:sp>
        <p:nvSpPr>
          <p:cNvPr id="9" name="Rounded Rectangle 8"/>
          <p:cNvSpPr/>
          <p:nvPr/>
        </p:nvSpPr>
        <p:spPr>
          <a:xfrm>
            <a:off x="10332720" y="1543050"/>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1</a:t>
            </a:r>
          </a:p>
        </p:txBody>
      </p:sp>
      <p:sp>
        <p:nvSpPr>
          <p:cNvPr id="10" name="Rounded Rectangle 9"/>
          <p:cNvSpPr/>
          <p:nvPr/>
        </p:nvSpPr>
        <p:spPr>
          <a:xfrm>
            <a:off x="822960" y="2041398"/>
            <a:ext cx="11109960" cy="745236"/>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051560" y="211455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2</a:t>
            </a:r>
          </a:p>
        </p:txBody>
      </p:sp>
      <p:sp>
        <p:nvSpPr>
          <p:cNvPr id="12" name="TextBox 11"/>
          <p:cNvSpPr txBox="1"/>
          <p:nvPr/>
        </p:nvSpPr>
        <p:spPr>
          <a:xfrm>
            <a:off x="1874519" y="2096262"/>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The Production Function</a:t>
            </a:r>
          </a:p>
          <a:p>
            <a:pPr algn="l">
              <a:spcBef>
                <a:spcPts val="0"/>
              </a:spcBef>
              <a:buNone/>
            </a:pPr>
            <a:r>
              <a:rPr sz="2200">
                <a:solidFill>
                  <a:srgbClr val="555B66"/>
                </a:solidFill>
                <a:latin typeface="Calibri"/>
              </a:rPr>
              <a:t>How inputs (capital and labor) are turned into output</a:t>
            </a:r>
          </a:p>
        </p:txBody>
      </p:sp>
      <p:sp>
        <p:nvSpPr>
          <p:cNvPr id="13" name="Rounded Rectangle 12"/>
          <p:cNvSpPr/>
          <p:nvPr/>
        </p:nvSpPr>
        <p:spPr>
          <a:xfrm>
            <a:off x="10332720" y="2260854"/>
            <a:ext cx="1417320"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0B2B4E"/>
                </a:solidFill>
                <a:latin typeface="Calibri"/>
              </a:rPr>
              <a:t>Video 2</a:t>
            </a:r>
          </a:p>
        </p:txBody>
      </p:sp>
      <p:sp>
        <p:nvSpPr>
          <p:cNvPr id="14" name="Oval 13"/>
          <p:cNvSpPr/>
          <p:nvPr/>
        </p:nvSpPr>
        <p:spPr>
          <a:xfrm>
            <a:off x="1051560" y="2832354"/>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3</a:t>
            </a:r>
          </a:p>
        </p:txBody>
      </p:sp>
      <p:sp>
        <p:nvSpPr>
          <p:cNvPr id="15" name="TextBox 14"/>
          <p:cNvSpPr txBox="1"/>
          <p:nvPr/>
        </p:nvSpPr>
        <p:spPr>
          <a:xfrm>
            <a:off x="1874519" y="2899130"/>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Short Run: Hiring Decisions</a:t>
            </a:r>
          </a:p>
        </p:txBody>
      </p:sp>
      <p:sp>
        <p:nvSpPr>
          <p:cNvPr id="16" name="Rounded Rectangle 15"/>
          <p:cNvSpPr/>
          <p:nvPr/>
        </p:nvSpPr>
        <p:spPr>
          <a:xfrm>
            <a:off x="10332720" y="2978658"/>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3</a:t>
            </a:r>
          </a:p>
        </p:txBody>
      </p:sp>
      <p:sp>
        <p:nvSpPr>
          <p:cNvPr id="17" name="Oval 16"/>
          <p:cNvSpPr/>
          <p:nvPr/>
        </p:nvSpPr>
        <p:spPr>
          <a:xfrm>
            <a:off x="1051560" y="3550158"/>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4</a:t>
            </a:r>
          </a:p>
        </p:txBody>
      </p:sp>
      <p:sp>
        <p:nvSpPr>
          <p:cNvPr id="18" name="TextBox 17"/>
          <p:cNvSpPr txBox="1"/>
          <p:nvPr/>
        </p:nvSpPr>
        <p:spPr>
          <a:xfrm>
            <a:off x="1874519" y="3616934"/>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Wage Searchers</a:t>
            </a:r>
          </a:p>
        </p:txBody>
      </p:sp>
      <p:sp>
        <p:nvSpPr>
          <p:cNvPr id="19" name="Rounded Rectangle 18"/>
          <p:cNvSpPr/>
          <p:nvPr/>
        </p:nvSpPr>
        <p:spPr>
          <a:xfrm>
            <a:off x="10332720" y="3696462"/>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4</a:t>
            </a:r>
          </a:p>
        </p:txBody>
      </p:sp>
      <p:sp>
        <p:nvSpPr>
          <p:cNvPr id="20" name="Oval 19"/>
          <p:cNvSpPr/>
          <p:nvPr/>
        </p:nvSpPr>
        <p:spPr>
          <a:xfrm>
            <a:off x="1051560" y="426796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5</a:t>
            </a:r>
          </a:p>
        </p:txBody>
      </p:sp>
      <p:sp>
        <p:nvSpPr>
          <p:cNvPr id="21" name="TextBox 20"/>
          <p:cNvSpPr txBox="1"/>
          <p:nvPr/>
        </p:nvSpPr>
        <p:spPr>
          <a:xfrm>
            <a:off x="1874519" y="4334738"/>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Long Run: The Optimal Input Mix</a:t>
            </a:r>
          </a:p>
        </p:txBody>
      </p:sp>
      <p:sp>
        <p:nvSpPr>
          <p:cNvPr id="22" name="Rounded Rectangle 21"/>
          <p:cNvSpPr/>
          <p:nvPr/>
        </p:nvSpPr>
        <p:spPr>
          <a:xfrm>
            <a:off x="10332720" y="4414266"/>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5</a:t>
            </a:r>
          </a:p>
        </p:txBody>
      </p:sp>
      <p:sp>
        <p:nvSpPr>
          <p:cNvPr id="23" name="Oval 22"/>
          <p:cNvSpPr/>
          <p:nvPr/>
        </p:nvSpPr>
        <p:spPr>
          <a:xfrm>
            <a:off x="1051560" y="498576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6</a:t>
            </a:r>
          </a:p>
        </p:txBody>
      </p:sp>
      <p:sp>
        <p:nvSpPr>
          <p:cNvPr id="24" name="TextBox 23"/>
          <p:cNvSpPr txBox="1"/>
          <p:nvPr/>
        </p:nvSpPr>
        <p:spPr>
          <a:xfrm>
            <a:off x="1874519" y="5052542"/>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Cost Concepts</a:t>
            </a:r>
          </a:p>
        </p:txBody>
      </p:sp>
      <p:sp>
        <p:nvSpPr>
          <p:cNvPr id="25" name="Rounded Rectangle 24"/>
          <p:cNvSpPr/>
          <p:nvPr/>
        </p:nvSpPr>
        <p:spPr>
          <a:xfrm>
            <a:off x="10332720" y="5132070"/>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6</a:t>
            </a:r>
          </a:p>
        </p:txBody>
      </p:sp>
      <p:sp>
        <p:nvSpPr>
          <p:cNvPr id="26" name="Oval 25"/>
          <p:cNvSpPr/>
          <p:nvPr/>
        </p:nvSpPr>
        <p:spPr>
          <a:xfrm>
            <a:off x="1051560" y="570357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7</a:t>
            </a:r>
          </a:p>
        </p:txBody>
      </p:sp>
      <p:sp>
        <p:nvSpPr>
          <p:cNvPr id="27" name="TextBox 26"/>
          <p:cNvSpPr txBox="1"/>
          <p:nvPr/>
        </p:nvSpPr>
        <p:spPr>
          <a:xfrm>
            <a:off x="1874519" y="5770346"/>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Economies of Scale and Scope</a:t>
            </a:r>
          </a:p>
        </p:txBody>
      </p:sp>
      <p:sp>
        <p:nvSpPr>
          <p:cNvPr id="28" name="Rounded Rectangle 27"/>
          <p:cNvSpPr/>
          <p:nvPr/>
        </p:nvSpPr>
        <p:spPr>
          <a:xfrm>
            <a:off x="10332720" y="5849874"/>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7</a:t>
            </a:r>
          </a:p>
        </p:txBody>
      </p:sp>
      <p:sp>
        <p:nvSpPr>
          <p:cNvPr id="29" name="Rectangle 2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3  ·  Production and Costs</a:t>
            </a:r>
          </a:p>
        </p:txBody>
      </p:sp>
      <p:sp>
        <p:nvSpPr>
          <p:cNvPr id="32" name="TextBox 31"/>
          <p:cNvSpPr txBox="1"/>
          <p:nvPr/>
        </p:nvSpPr>
        <p:spPr>
          <a:xfrm>
            <a:off x="11475720" y="6583680"/>
            <a:ext cx="502920" cy="292608"/>
          </a:xfrm>
          <a:prstGeom prst="rect">
            <a:avLst/>
          </a:prstGeom>
          <a:noFill/>
        </p:spPr>
        <p:txBody>
          <a:bodyPr wrap="none" lIns="0" tIns="0" rIns="0" bIns="0">
            <a:spAutoFit/>
          </a:bodyPr>
          <a:lstStyle/>
          <a:p>
            <a:pPr algn="r"/>
            <a:fld id="{AF540A15-85A1-5986-921E-239DF3489994}" type="slidenum">
              <a:rPr lang="en-US" sz="1200" dirty="0">
                <a:solidFill>
                  <a:srgbClr val="555B66"/>
                </a:solidFill>
                <a:latin typeface="Calibri"/>
              </a:rPr>
              <a:t>2</a:t>
            </a:fld>
            <a:endParaRPr lang="en-US" sz="1200" dirty="0">
              <a:solidFill>
                <a:srgbClr val="555B66"/>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The Production Function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The Production Function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828800"/>
            <a:ext cx="11687697" cy="914400"/>
          </a:xfrm>
          <a:prstGeom prst="rect">
            <a:avLst/>
          </a:prstGeom>
          <a:noFill/>
        </p:spPr>
        <p:txBody>
          <a:bodyPr wrap="square" lIns="0" tIns="0" rIns="0" bIns="0">
            <a:spAutoFit/>
          </a:bodyPr>
          <a:lstStyle/>
          <a:p>
            <a:pPr algn="ctr"/>
            <a:r>
              <a:rPr sz="5400" b="1" i="0">
                <a:solidFill>
                  <a:srgbClr val="0B2B4E"/>
                </a:solidFill>
                <a:latin typeface="Calibri"/>
              </a:rPr>
              <a:t>Q = f (K, L, etc)</a:t>
            </a:r>
          </a:p>
        </p:txBody>
      </p:sp>
      <p:sp>
        <p:nvSpPr>
          <p:cNvPr id="8" name="TextBox 7"/>
          <p:cNvSpPr txBox="1"/>
          <p:nvPr/>
        </p:nvSpPr>
        <p:spPr>
          <a:xfrm>
            <a:off x="709199" y="3017520"/>
            <a:ext cx="7772400" cy="2187778"/>
          </a:xfrm>
          <a:prstGeom prst="rect">
            <a:avLst/>
          </a:prstGeom>
          <a:noFill/>
        </p:spPr>
        <p:txBody>
          <a:bodyPr wrap="square" lIns="0" tIns="0" rIns="0" bIns="0">
            <a:spAutoFit/>
          </a:bodyPr>
          <a:lstStyle>
            <a:lvl1pPr marL="342900" indent="-342900">
              <a:spcBef>
                <a:spcPts val="8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000" b="0">
                <a:solidFill>
                  <a:srgbClr val="555B66"/>
                </a:solidFill>
                <a:latin typeface="Calibri"/>
              </a:defRPr>
            </a:lvl2pPr>
          </a:lstStyle>
          <a:p>
            <a:pPr algn="l"/>
            <a:r>
              <a:rPr sz="2800" dirty="0">
                <a:latin typeface="Calibri"/>
              </a:rPr>
              <a:t>Q  =  Output</a:t>
            </a:r>
          </a:p>
          <a:p>
            <a:pPr algn="l"/>
            <a:r>
              <a:rPr sz="2800" dirty="0">
                <a:latin typeface="Calibri"/>
              </a:rPr>
              <a:t>f   =  a function of inputs:</a:t>
            </a:r>
          </a:p>
          <a:p>
            <a:pPr lvl="1" algn="l"/>
            <a:r>
              <a:rPr sz="2400" dirty="0">
                <a:latin typeface="Calibri"/>
              </a:rPr>
              <a:t>K  =  Capital  (physical: factories, machinery, software, IP)</a:t>
            </a:r>
          </a:p>
          <a:p>
            <a:pPr lvl="1" algn="l"/>
            <a:r>
              <a:rPr sz="2400" dirty="0">
                <a:latin typeface="Calibri"/>
              </a:rPr>
              <a:t>L  =  Labor</a:t>
            </a:r>
          </a:p>
          <a:p>
            <a:pPr lvl="1" algn="l"/>
            <a:r>
              <a:rPr sz="2400" dirty="0">
                <a:latin typeface="Calibri"/>
              </a:rPr>
              <a:t>"</a:t>
            </a:r>
            <a:r>
              <a:rPr sz="2400" dirty="0" err="1">
                <a:latin typeface="Calibri"/>
              </a:rPr>
              <a:t>etc</a:t>
            </a:r>
            <a:r>
              <a:rPr sz="2400" dirty="0">
                <a:latin typeface="Calibri"/>
              </a:rPr>
              <a:t>" can be raw materials, energy...</a:t>
            </a:r>
          </a:p>
        </p:txBody>
      </p:sp>
      <p:pic>
        <p:nvPicPr>
          <p:cNvPr id="9" name="Picture 8" descr="slide8_rId4.jpg"/>
          <p:cNvPicPr>
            <a:picLocks noChangeAspect="1"/>
          </p:cNvPicPr>
          <p:nvPr/>
        </p:nvPicPr>
        <p:blipFill>
          <a:blip r:embed="rId3"/>
          <a:stretch>
            <a:fillRect/>
          </a:stretch>
        </p:blipFill>
        <p:spPr>
          <a:xfrm>
            <a:off x="9418320" y="2655481"/>
            <a:ext cx="2194560" cy="2194560"/>
          </a:xfrm>
          <a:prstGeom prst="rect">
            <a:avLst/>
          </a:prstGeom>
        </p:spPr>
      </p:pic>
      <p:sp>
        <p:nvSpPr>
          <p:cNvPr id="10" name="TextBox 9"/>
          <p:cNvSpPr txBox="1"/>
          <p:nvPr/>
        </p:nvSpPr>
        <p:spPr>
          <a:xfrm>
            <a:off x="9418320" y="4987201"/>
            <a:ext cx="2194560" cy="228600"/>
          </a:xfrm>
          <a:prstGeom prst="rect">
            <a:avLst/>
          </a:prstGeom>
          <a:noFill/>
        </p:spPr>
        <p:txBody>
          <a:bodyPr wrap="square" lIns="0" tIns="0" rIns="0" bIns="0">
            <a:spAutoFit/>
          </a:bodyPr>
          <a:lstStyle/>
          <a:p>
            <a:pPr algn="ctr"/>
            <a:r>
              <a:rPr sz="1200" b="0" i="1">
                <a:solidFill>
                  <a:srgbClr val="555B66"/>
                </a:solidFill>
                <a:latin typeface="Calibri"/>
              </a:rPr>
              <a:t>Marx, Das Kapital  (1867)</a:t>
            </a:r>
          </a:p>
        </p:txBody>
      </p:sp>
      <p:grpSp>
        <p:nvGrpSpPr>
          <p:cNvPr id="200" name="Group 200"/>
          <p:cNvGrpSpPr/>
          <p:nvPr/>
        </p:nvGrpSpPr>
        <p:grpSpPr>
          <a:xfrm>
            <a:off x="2675784" y="5479618"/>
            <a:ext cx="6840126" cy="914400"/>
            <a:chOff x="1066647" y="5577840"/>
            <a:chExt cx="10058400" cy="914400"/>
          </a:xfrm>
        </p:grpSpPr>
        <p:sp>
          <p:nvSpPr>
            <p:cNvPr id="11" name="Rounded Rectangle 10"/>
            <p:cNvSpPr/>
            <p:nvPr/>
          </p:nvSpPr>
          <p:spPr>
            <a:xfrm>
              <a:off x="1066647" y="5577840"/>
              <a:ext cx="10058400" cy="914400"/>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249527" y="5687568"/>
              <a:ext cx="9692640" cy="694944"/>
            </a:xfrm>
            <a:prstGeom prst="rect">
              <a:avLst/>
            </a:prstGeom>
            <a:noFill/>
          </p:spPr>
          <p:txBody>
            <a:bodyPr wrap="square" lIns="45720" tIns="0" rIns="45720" bIns="0" anchor="ctr">
              <a:spAutoFit/>
            </a:bodyPr>
            <a:lstStyle/>
            <a:p>
              <a:pPr algn="ctr"/>
              <a:r>
                <a:rPr sz="2000" b="1" i="0">
                  <a:solidFill>
                    <a:srgbClr val="0B2B4E"/>
                  </a:solidFill>
                  <a:latin typeface="Calibri"/>
                </a:rPr>
                <a:t>A production function transforms inputs into outputs</a:t>
              </a:r>
            </a:p>
            <a:p>
              <a:pPr algn="ctr"/>
              <a:r>
                <a:rPr sz="2000" b="0" i="0">
                  <a:solidFill>
                    <a:srgbClr val="0B2B4E"/>
                  </a:solidFill>
                  <a:latin typeface="Calibri"/>
                </a:rPr>
                <a:t>The more efficient this process, the higher is productivity</a:t>
              </a:r>
            </a:p>
          </p:txBody>
        </p:sp>
      </p:grpSp>
      <p:sp>
        <p:nvSpPr>
          <p:cNvPr id="13" name="Rectangle 1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16" name="TextBox 15"/>
          <p:cNvSpPr txBox="1"/>
          <p:nvPr/>
        </p:nvSpPr>
        <p:spPr>
          <a:xfrm>
            <a:off x="11430000" y="6583680"/>
            <a:ext cx="548640" cy="292608"/>
          </a:xfrm>
          <a:prstGeom prst="rect">
            <a:avLst/>
          </a:prstGeom>
          <a:noFill/>
        </p:spPr>
        <p:txBody>
          <a:bodyPr wrap="square" lIns="0" tIns="0" rIns="0" bIns="0">
            <a:spAutoFit/>
          </a:bodyPr>
          <a:lstStyle/>
          <a:p>
            <a:pPr algn="r"/>
            <a:fld id="{73D75B32-7BD3-4679-98B5-DD12D02044F3}" type="slidenum">
              <a:rPr sz="1200" b="0" i="0">
                <a:solidFill>
                  <a:srgbClr val="555B66"/>
                </a:solidFill>
                <a:latin typeface="Calibri"/>
              </a:rPr>
              <a:t>3</a:t>
            </a:fld>
            <a:endParaRPr sz="1200" b="0" i="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10"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00"/>
                                        </p:tgtEl>
                                        <p:attrNameLst>
                                          <p:attrName>style.visibility</p:attrName>
                                        </p:attrNameLst>
                                      </p:cBhvr>
                                      <p:to>
                                        <p:strVal val="visible"/>
                                      </p:to>
                                    </p:set>
                                    <p:animEffect transition="in" filter="fade">
                                      <p:cBhvr>
                                        <p:cTn id="20" dur="500"/>
                                        <p:tgtEl>
                                          <p:spTgt spid="2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The Production Function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Short vs. Long Run:  A Critical Distinction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691640"/>
            <a:ext cx="11687697" cy="4572000"/>
          </a:xfrm>
          <a:prstGeom prst="rect">
            <a:avLst/>
          </a:prstGeom>
          <a:noFill/>
        </p:spPr>
        <p:txBody>
          <a:bodyPr wrap="square" lIns="0" tIns="0" rIns="0" bIns="0">
            <a:spAutoFit/>
          </a:bodyPr>
          <a:lstStyle>
            <a:lvl1pPr marL="342900" indent="-342900">
              <a:spcBef>
                <a:spcPts val="1400"/>
              </a:spcBef>
              <a:buClr>
                <a:srgbClr val="0B2B4E"/>
              </a:buClr>
              <a:buFont typeface="Calibri"/>
              <a:buChar char="▪"/>
              <a:defRPr sz="28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a:latin typeface="Calibri"/>
              </a:rPr>
              <a:t>In the short run, some inputs (fixed factors) cannot be increased or decreased</a:t>
            </a:r>
          </a:p>
          <a:p>
            <a:pPr algn="l"/>
            <a:r>
              <a:rPr>
                <a:latin typeface="Calibri"/>
              </a:rPr>
              <a:t>The long run is a period long enough for all inputs to be variable</a:t>
            </a:r>
          </a:p>
        </p:txBody>
      </p:sp>
      <p:sp>
        <p:nvSpPr>
          <p:cNvPr id="8" name="TextBox 7"/>
          <p:cNvSpPr txBox="1"/>
          <p:nvPr/>
        </p:nvSpPr>
        <p:spPr>
          <a:xfrm>
            <a:off x="914400" y="3017520"/>
            <a:ext cx="4572000" cy="292608"/>
          </a:xfrm>
          <a:prstGeom prst="rect">
            <a:avLst/>
          </a:prstGeom>
          <a:noFill/>
        </p:spPr>
        <p:txBody>
          <a:bodyPr wrap="square" lIns="0" tIns="0" rIns="0" bIns="0">
            <a:spAutoFit/>
          </a:bodyPr>
          <a:lstStyle/>
          <a:p>
            <a:pPr algn="ctr"/>
            <a:r>
              <a:rPr sz="1400" b="1" i="1">
                <a:solidFill>
                  <a:srgbClr val="0B2B4E"/>
                </a:solidFill>
                <a:latin typeface="Calibri"/>
              </a:rPr>
              <a:t>Capital fixed in short run</a:t>
            </a:r>
          </a:p>
        </p:txBody>
      </p:sp>
      <p:sp>
        <p:nvSpPr>
          <p:cNvPr id="9" name="TextBox 8"/>
          <p:cNvSpPr txBox="1"/>
          <p:nvPr/>
        </p:nvSpPr>
        <p:spPr>
          <a:xfrm>
            <a:off x="6675120" y="3017520"/>
            <a:ext cx="4572000" cy="292608"/>
          </a:xfrm>
          <a:prstGeom prst="rect">
            <a:avLst/>
          </a:prstGeom>
          <a:noFill/>
        </p:spPr>
        <p:txBody>
          <a:bodyPr wrap="square" lIns="0" tIns="0" rIns="0" bIns="0">
            <a:spAutoFit/>
          </a:bodyPr>
          <a:lstStyle/>
          <a:p>
            <a:pPr algn="ctr"/>
            <a:r>
              <a:rPr sz="1400" b="1" i="1">
                <a:solidFill>
                  <a:srgbClr val="0B2B4E"/>
                </a:solidFill>
                <a:latin typeface="Calibri"/>
              </a:rPr>
              <a:t>Labor (ophthalmologists) fixed in short run</a:t>
            </a:r>
          </a:p>
        </p:txBody>
      </p:sp>
      <p:pic>
        <p:nvPicPr>
          <p:cNvPr id="10" name="Picture 9" descr="_rivian_plant.jpg"/>
          <p:cNvPicPr>
            <a:picLocks noChangeAspect="1"/>
          </p:cNvPicPr>
          <p:nvPr/>
        </p:nvPicPr>
        <p:blipFill>
          <a:blip r:embed="rId3"/>
          <a:stretch>
            <a:fillRect/>
          </a:stretch>
        </p:blipFill>
        <p:spPr>
          <a:xfrm>
            <a:off x="914400" y="3337560"/>
            <a:ext cx="4572000" cy="2743200"/>
          </a:xfrm>
          <a:prstGeom prst="roundRect">
            <a:avLst>
              <a:gd name="adj" fmla="val 8000"/>
            </a:avLst>
          </a:prstGeom>
          <a:effectLst>
            <a:outerShdw blurRad="50800" dist="38100" dir="2700000" algn="tl" rotWithShape="0">
              <a:srgbClr val="000000">
                <a:alpha val="50000"/>
              </a:srgbClr>
            </a:outerShdw>
          </a:effectLst>
        </p:spPr>
      </p:pic>
      <p:pic>
        <p:nvPicPr>
          <p:cNvPr id="11" name="Picture 10" descr="slide9_rId5.jpg"/>
          <p:cNvPicPr>
            <a:picLocks noChangeAspect="1"/>
          </p:cNvPicPr>
          <p:nvPr/>
        </p:nvPicPr>
        <p:blipFill>
          <a:blip r:embed="rId4"/>
          <a:stretch>
            <a:fillRect/>
          </a:stretch>
        </p:blipFill>
        <p:spPr>
          <a:xfrm>
            <a:off x="6675120" y="3337560"/>
            <a:ext cx="4572000" cy="2743200"/>
          </a:xfrm>
          <a:prstGeom prst="roundRect">
            <a:avLst>
              <a:gd name="adj" fmla="val 8000"/>
            </a:avLst>
          </a:prstGeom>
          <a:effectLst>
            <a:outerShdw blurRad="50800" dist="38100" dir="2700000" algn="tl" rotWithShape="0">
              <a:srgbClr val="000000">
                <a:alpha val="50000"/>
              </a:srgbClr>
            </a:outerShdw>
          </a:effectLst>
        </p:spPr>
      </p:pic>
      <p:sp>
        <p:nvSpPr>
          <p:cNvPr id="12" name="TextBox 11"/>
          <p:cNvSpPr txBox="1"/>
          <p:nvPr/>
        </p:nvSpPr>
        <p:spPr>
          <a:xfrm>
            <a:off x="914400" y="6153912"/>
            <a:ext cx="4572000" cy="164592"/>
          </a:xfrm>
          <a:prstGeom prst="rect">
            <a:avLst/>
          </a:prstGeom>
          <a:noFill/>
        </p:spPr>
        <p:txBody>
          <a:bodyPr wrap="square" lIns="0" tIns="0" rIns="0" bIns="0">
            <a:spAutoFit/>
          </a:bodyPr>
          <a:lstStyle/>
          <a:p>
            <a:pPr algn="ctr"/>
            <a:r>
              <a:rPr sz="900" b="0" i="1">
                <a:solidFill>
                  <a:srgbClr val="555B66"/>
                </a:solidFill>
                <a:latin typeface="Calibri"/>
              </a:rPr>
              <a:t>Rivian Normal, IL plant  (CC BY-SA, Wikimedia)</a:t>
            </a:r>
          </a:p>
        </p:txBody>
      </p:sp>
      <p:sp>
        <p:nvSpPr>
          <p:cNvPr id="13" name="Rectangle 1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16" name="TextBox 15"/>
          <p:cNvSpPr txBox="1"/>
          <p:nvPr/>
        </p:nvSpPr>
        <p:spPr>
          <a:xfrm>
            <a:off x="11430000" y="6583680"/>
            <a:ext cx="548640" cy="292608"/>
          </a:xfrm>
          <a:prstGeom prst="rect">
            <a:avLst/>
          </a:prstGeom>
          <a:noFill/>
        </p:spPr>
        <p:txBody>
          <a:bodyPr wrap="square" lIns="0" tIns="0" rIns="0" bIns="0">
            <a:spAutoFit/>
          </a:bodyPr>
          <a:lstStyle/>
          <a:p>
            <a:pPr algn="r"/>
            <a:fld id="{71140451-3D1A-4F87-99D7-0430982053DC}" type="slidenum">
              <a:rPr sz="1200" b="0" i="0">
                <a:solidFill>
                  <a:srgbClr val="555B66"/>
                </a:solidFill>
                <a:latin typeface="Calibri"/>
              </a:rPr>
              <a:t>4</a:t>
            </a:fld>
            <a:endParaRPr sz="1200" b="0" i="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The Production Function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Rivian's Production Function:  R1 Line Weekly Output</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175607" y="2011680"/>
            <a:ext cx="3840480" cy="365760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4175607" y="2011680"/>
          <a:ext cx="3840480" cy="3687143"/>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281353">
                <a:tc>
                  <a:txBody>
                    <a:bodyPr/>
                    <a:lstStyle/>
                    <a:p>
                      <a:pPr algn="ctr"/>
                      <a:endParaRPr/>
                    </a:p>
                  </a:txBody>
                  <a:tcPr marL="182880" marR="182880" marT="18288" marB="18288">
                    <a:solidFill>
                      <a:srgbClr val="0B2B4E"/>
                    </a:solidFill>
                  </a:tcPr>
                </a:tc>
                <a:tc>
                  <a:txBody>
                    <a:bodyPr/>
                    <a:lstStyle/>
                    <a:p>
                      <a:pPr algn="ctr"/>
                      <a:r>
                        <a:rPr sz="1400" b="1">
                          <a:solidFill>
                            <a:srgbClr val="FFFFFF"/>
                          </a:solidFill>
                          <a:latin typeface="Calibri"/>
                        </a:rPr>
                        <a:t>100</a:t>
                      </a:r>
                    </a:p>
                  </a:txBody>
                  <a:tcPr marL="182880" marR="182880" marT="18288" marB="18288">
                    <a:solidFill>
                      <a:srgbClr val="0B2B4E"/>
                    </a:solidFill>
                  </a:tcPr>
                </a:tc>
                <a:tc>
                  <a:txBody>
                    <a:bodyPr/>
                    <a:lstStyle/>
                    <a:p>
                      <a:pPr algn="ctr"/>
                      <a:r>
                        <a:rPr sz="1400" b="1">
                          <a:solidFill>
                            <a:srgbClr val="FFFFFF"/>
                          </a:solidFill>
                          <a:latin typeface="Calibri"/>
                        </a:rPr>
                        <a:t>200</a:t>
                      </a:r>
                    </a:p>
                  </a:txBody>
                  <a:tcPr marL="182880" marR="182880" marT="18288" marB="18288">
                    <a:solidFill>
                      <a:srgbClr val="0B2B4E"/>
                    </a:solidFill>
                  </a:tcPr>
                </a:tc>
                <a:tc>
                  <a:txBody>
                    <a:bodyPr/>
                    <a:lstStyle/>
                    <a:p>
                      <a:pPr algn="ctr"/>
                      <a:r>
                        <a:rPr sz="1400" b="1">
                          <a:solidFill>
                            <a:srgbClr val="FFFFFF"/>
                          </a:solidFill>
                          <a:latin typeface="Calibri"/>
                        </a:rPr>
                        <a:t>300</a:t>
                      </a:r>
                    </a:p>
                  </a:txBody>
                  <a:tcPr marL="182880" marR="182880" marT="18288" marB="18288">
                    <a:solidFill>
                      <a:srgbClr val="0B2B4E"/>
                    </a:solidFill>
                  </a:tcPr>
                </a:tc>
                <a:tc>
                  <a:txBody>
                    <a:bodyPr/>
                    <a:lstStyle/>
                    <a:p>
                      <a:pPr algn="ctr"/>
                      <a:r>
                        <a:rPr sz="1400" b="1">
                          <a:solidFill>
                            <a:srgbClr val="FFFFFF"/>
                          </a:solidFill>
                          <a:latin typeface="Calibri"/>
                        </a:rPr>
                        <a:t>400</a:t>
                      </a:r>
                    </a:p>
                  </a:txBody>
                  <a:tcPr marL="182880" marR="182880" marT="18288" marB="18288">
                    <a:solidFill>
                      <a:srgbClr val="0B2B4E"/>
                    </a:solidFill>
                  </a:tcPr>
                </a:tc>
                <a:extLst>
                  <a:ext uri="{0D108BD9-81ED-4DB2-BD59-A6C34878D82A}">
                    <a16:rowId xmlns:a16="http://schemas.microsoft.com/office/drawing/2014/main" val="10000"/>
                  </a:ext>
                </a:extLst>
              </a:tr>
              <a:tr h="281353">
                <a:tc>
                  <a:txBody>
                    <a:bodyPr/>
                    <a:lstStyle/>
                    <a:p>
                      <a:pPr algn="ctr"/>
                      <a:r>
                        <a:rPr sz="1400" b="1">
                          <a:solidFill>
                            <a:srgbClr val="FFFFFF"/>
                          </a:solidFill>
                          <a:latin typeface="Calibri"/>
                        </a:rPr>
                        <a:t>0</a:t>
                      </a:r>
                    </a:p>
                  </a:txBody>
                  <a:tcPr marL="182880" marR="182880" marT="18288" marB="18288">
                    <a:solidFill>
                      <a:srgbClr val="0B2B4E"/>
                    </a:solidFill>
                  </a:tcPr>
                </a:tc>
                <a:tc>
                  <a:txBody>
                    <a:bodyPr/>
                    <a:lstStyle/>
                    <a:p>
                      <a:pPr algn="ctr"/>
                      <a:r>
                        <a:rPr sz="1400">
                          <a:solidFill>
                            <a:srgbClr val="0B2B4E"/>
                          </a:solidFill>
                          <a:latin typeface="Calibri"/>
                        </a:rPr>
                        <a:t>0</a:t>
                      </a:r>
                    </a:p>
                  </a:txBody>
                  <a:tcPr marL="182880" marR="182880" marT="18288" marB="18288">
                    <a:solidFill>
                      <a:srgbClr val="FFFFFF"/>
                    </a:solidFill>
                  </a:tcPr>
                </a:tc>
                <a:tc>
                  <a:txBody>
                    <a:bodyPr/>
                    <a:lstStyle/>
                    <a:p>
                      <a:pPr algn="ctr"/>
                      <a:r>
                        <a:rPr sz="1400">
                          <a:solidFill>
                            <a:srgbClr val="0B2B4E"/>
                          </a:solidFill>
                          <a:latin typeface="Calibri"/>
                        </a:rPr>
                        <a:t>0</a:t>
                      </a:r>
                    </a:p>
                  </a:txBody>
                  <a:tcPr marL="182880" marR="182880" marT="18288" marB="18288">
                    <a:solidFill>
                      <a:srgbClr val="FFFFFF"/>
                    </a:solidFill>
                  </a:tcPr>
                </a:tc>
                <a:tc>
                  <a:txBody>
                    <a:bodyPr/>
                    <a:lstStyle/>
                    <a:p>
                      <a:pPr algn="ctr"/>
                      <a:r>
                        <a:rPr sz="1400">
                          <a:solidFill>
                            <a:srgbClr val="0B2B4E"/>
                          </a:solidFill>
                          <a:latin typeface="Calibri"/>
                        </a:rPr>
                        <a:t>0</a:t>
                      </a:r>
                    </a:p>
                  </a:txBody>
                  <a:tcPr marL="182880" marR="182880" marT="18288" marB="18288">
                    <a:solidFill>
                      <a:srgbClr val="FFFFFF"/>
                    </a:solidFill>
                  </a:tcPr>
                </a:tc>
                <a:tc>
                  <a:txBody>
                    <a:bodyPr/>
                    <a:lstStyle/>
                    <a:p>
                      <a:pPr algn="ctr"/>
                      <a:r>
                        <a:rPr sz="1400">
                          <a:solidFill>
                            <a:srgbClr val="0B2B4E"/>
                          </a:solidFill>
                          <a:latin typeface="Calibri"/>
                        </a:rPr>
                        <a:t>0</a:t>
                      </a:r>
                    </a:p>
                  </a:txBody>
                  <a:tcPr marL="182880" marR="182880" marT="18288" marB="18288">
                    <a:solidFill>
                      <a:srgbClr val="FFFFFF"/>
                    </a:solidFill>
                  </a:tcPr>
                </a:tc>
                <a:extLst>
                  <a:ext uri="{0D108BD9-81ED-4DB2-BD59-A6C34878D82A}">
                    <a16:rowId xmlns:a16="http://schemas.microsoft.com/office/drawing/2014/main" val="10001"/>
                  </a:ext>
                </a:extLst>
              </a:tr>
              <a:tr h="281353">
                <a:tc>
                  <a:txBody>
                    <a:bodyPr/>
                    <a:lstStyle/>
                    <a:p>
                      <a:pPr algn="ctr"/>
                      <a:r>
                        <a:rPr sz="1400" b="1">
                          <a:solidFill>
                            <a:srgbClr val="FFFFFF"/>
                          </a:solidFill>
                          <a:latin typeface="Calibri"/>
                        </a:rPr>
                        <a:t>250</a:t>
                      </a:r>
                    </a:p>
                  </a:txBody>
                  <a:tcPr marL="182880" marR="182880" marT="18288" marB="18288">
                    <a:solidFill>
                      <a:srgbClr val="0B2B4E"/>
                    </a:solidFill>
                  </a:tcPr>
                </a:tc>
                <a:tc>
                  <a:txBody>
                    <a:bodyPr/>
                    <a:lstStyle/>
                    <a:p>
                      <a:pPr algn="ctr"/>
                      <a:r>
                        <a:rPr sz="1400">
                          <a:solidFill>
                            <a:srgbClr val="0B2B4E"/>
                          </a:solidFill>
                          <a:latin typeface="Calibri"/>
                        </a:rPr>
                        <a:t>165</a:t>
                      </a:r>
                    </a:p>
                  </a:txBody>
                  <a:tcPr marL="182880" marR="182880" marT="18288" marB="18288">
                    <a:solidFill>
                      <a:srgbClr val="FFFFFF"/>
                    </a:solidFill>
                  </a:tcPr>
                </a:tc>
                <a:tc>
                  <a:txBody>
                    <a:bodyPr/>
                    <a:lstStyle/>
                    <a:p>
                      <a:pPr algn="ctr"/>
                      <a:r>
                        <a:rPr sz="1400">
                          <a:solidFill>
                            <a:srgbClr val="0B2B4E"/>
                          </a:solidFill>
                          <a:latin typeface="Calibri"/>
                        </a:rPr>
                        <a:t>234</a:t>
                      </a:r>
                    </a:p>
                  </a:txBody>
                  <a:tcPr marL="182880" marR="182880" marT="18288" marB="18288">
                    <a:solidFill>
                      <a:srgbClr val="FFFFFF"/>
                    </a:solidFill>
                  </a:tcPr>
                </a:tc>
                <a:tc>
                  <a:txBody>
                    <a:bodyPr/>
                    <a:lstStyle/>
                    <a:p>
                      <a:pPr algn="ctr"/>
                      <a:r>
                        <a:rPr sz="1400">
                          <a:solidFill>
                            <a:srgbClr val="0B2B4E"/>
                          </a:solidFill>
                          <a:latin typeface="Calibri"/>
                        </a:rPr>
                        <a:t>286</a:t>
                      </a:r>
                    </a:p>
                  </a:txBody>
                  <a:tcPr marL="182880" marR="182880" marT="18288" marB="18288">
                    <a:solidFill>
                      <a:srgbClr val="FFFFFF"/>
                    </a:solidFill>
                  </a:tcPr>
                </a:tc>
                <a:tc>
                  <a:txBody>
                    <a:bodyPr/>
                    <a:lstStyle/>
                    <a:p>
                      <a:pPr algn="ctr"/>
                      <a:r>
                        <a:rPr sz="1400">
                          <a:solidFill>
                            <a:srgbClr val="0B2B4E"/>
                          </a:solidFill>
                          <a:latin typeface="Calibri"/>
                        </a:rPr>
                        <a:t>331</a:t>
                      </a:r>
                    </a:p>
                  </a:txBody>
                  <a:tcPr marL="182880" marR="182880" marT="18288" marB="18288">
                    <a:solidFill>
                      <a:srgbClr val="FFFFFF"/>
                    </a:solidFill>
                  </a:tcPr>
                </a:tc>
                <a:extLst>
                  <a:ext uri="{0D108BD9-81ED-4DB2-BD59-A6C34878D82A}">
                    <a16:rowId xmlns:a16="http://schemas.microsoft.com/office/drawing/2014/main" val="10002"/>
                  </a:ext>
                </a:extLst>
              </a:tr>
              <a:tr h="281353">
                <a:tc>
                  <a:txBody>
                    <a:bodyPr/>
                    <a:lstStyle/>
                    <a:p>
                      <a:pPr algn="ctr"/>
                      <a:r>
                        <a:rPr sz="1400" b="1">
                          <a:solidFill>
                            <a:srgbClr val="FFFFFF"/>
                          </a:solidFill>
                          <a:latin typeface="Calibri"/>
                        </a:rPr>
                        <a:t>500</a:t>
                      </a:r>
                    </a:p>
                  </a:txBody>
                  <a:tcPr marL="182880" marR="182880" marT="18288" marB="18288">
                    <a:solidFill>
                      <a:srgbClr val="0B2B4E"/>
                    </a:solidFill>
                  </a:tcPr>
                </a:tc>
                <a:tc>
                  <a:txBody>
                    <a:bodyPr/>
                    <a:lstStyle/>
                    <a:p>
                      <a:pPr algn="ctr"/>
                      <a:r>
                        <a:rPr sz="1400">
                          <a:solidFill>
                            <a:srgbClr val="0B2B4E"/>
                          </a:solidFill>
                          <a:latin typeface="Calibri"/>
                        </a:rPr>
                        <a:t>204</a:t>
                      </a:r>
                    </a:p>
                  </a:txBody>
                  <a:tcPr marL="182880" marR="182880" marT="18288" marB="18288">
                    <a:solidFill>
                      <a:srgbClr val="FFFFFF"/>
                    </a:solidFill>
                  </a:tcPr>
                </a:tc>
                <a:tc>
                  <a:txBody>
                    <a:bodyPr/>
                    <a:lstStyle/>
                    <a:p>
                      <a:pPr algn="ctr"/>
                      <a:r>
                        <a:rPr sz="1400">
                          <a:solidFill>
                            <a:srgbClr val="0B2B4E"/>
                          </a:solidFill>
                          <a:latin typeface="Calibri"/>
                        </a:rPr>
                        <a:t>288</a:t>
                      </a:r>
                    </a:p>
                  </a:txBody>
                  <a:tcPr marL="182880" marR="182880" marT="18288" marB="18288">
                    <a:solidFill>
                      <a:srgbClr val="FFFFFF"/>
                    </a:solidFill>
                  </a:tcPr>
                </a:tc>
                <a:tc>
                  <a:txBody>
                    <a:bodyPr/>
                    <a:lstStyle/>
                    <a:p>
                      <a:pPr algn="ctr"/>
                      <a:r>
                        <a:rPr sz="1400">
                          <a:solidFill>
                            <a:srgbClr val="0B2B4E"/>
                          </a:solidFill>
                          <a:latin typeface="Calibri"/>
                        </a:rPr>
                        <a:t>353</a:t>
                      </a:r>
                    </a:p>
                  </a:txBody>
                  <a:tcPr marL="182880" marR="182880" marT="18288" marB="18288">
                    <a:solidFill>
                      <a:srgbClr val="FFFFFF"/>
                    </a:solidFill>
                  </a:tcPr>
                </a:tc>
                <a:tc>
                  <a:txBody>
                    <a:bodyPr/>
                    <a:lstStyle/>
                    <a:p>
                      <a:pPr algn="ctr"/>
                      <a:r>
                        <a:rPr sz="1400">
                          <a:solidFill>
                            <a:srgbClr val="0B2B4E"/>
                          </a:solidFill>
                          <a:latin typeface="Calibri"/>
                        </a:rPr>
                        <a:t>407</a:t>
                      </a:r>
                    </a:p>
                  </a:txBody>
                  <a:tcPr marL="182880" marR="182880" marT="18288" marB="18288">
                    <a:solidFill>
                      <a:srgbClr val="FFFFFF"/>
                    </a:solidFill>
                  </a:tcPr>
                </a:tc>
                <a:extLst>
                  <a:ext uri="{0D108BD9-81ED-4DB2-BD59-A6C34878D82A}">
                    <a16:rowId xmlns:a16="http://schemas.microsoft.com/office/drawing/2014/main" val="10003"/>
                  </a:ext>
                </a:extLst>
              </a:tr>
              <a:tr h="281353">
                <a:tc>
                  <a:txBody>
                    <a:bodyPr/>
                    <a:lstStyle/>
                    <a:p>
                      <a:pPr algn="ctr"/>
                      <a:r>
                        <a:rPr sz="1400" b="1">
                          <a:solidFill>
                            <a:srgbClr val="FFFFFF"/>
                          </a:solidFill>
                          <a:latin typeface="Calibri"/>
                        </a:rPr>
                        <a:t>1,000</a:t>
                      </a:r>
                    </a:p>
                  </a:txBody>
                  <a:tcPr marL="182880" marR="182880" marT="18288" marB="18288">
                    <a:solidFill>
                      <a:srgbClr val="0B2B4E"/>
                    </a:solidFill>
                  </a:tcPr>
                </a:tc>
                <a:tc>
                  <a:txBody>
                    <a:bodyPr/>
                    <a:lstStyle/>
                    <a:p>
                      <a:pPr algn="ctr"/>
                      <a:r>
                        <a:rPr sz="1400">
                          <a:solidFill>
                            <a:srgbClr val="0B2B4E"/>
                          </a:solidFill>
                          <a:latin typeface="Calibri"/>
                        </a:rPr>
                        <a:t>251</a:t>
                      </a:r>
                    </a:p>
                  </a:txBody>
                  <a:tcPr marL="182880" marR="182880" marT="18288" marB="18288">
                    <a:solidFill>
                      <a:srgbClr val="FFFFFF"/>
                    </a:solidFill>
                  </a:tcPr>
                </a:tc>
                <a:tc>
                  <a:txBody>
                    <a:bodyPr/>
                    <a:lstStyle/>
                    <a:p>
                      <a:pPr algn="ctr"/>
                      <a:r>
                        <a:rPr sz="1400">
                          <a:solidFill>
                            <a:srgbClr val="0B2B4E"/>
                          </a:solidFill>
                          <a:latin typeface="Calibri"/>
                        </a:rPr>
                        <a:t>354</a:t>
                      </a:r>
                    </a:p>
                  </a:txBody>
                  <a:tcPr marL="182880" marR="182880" marT="18288" marB="18288">
                    <a:solidFill>
                      <a:srgbClr val="FFFFFF"/>
                    </a:solidFill>
                  </a:tcPr>
                </a:tc>
                <a:tc>
                  <a:txBody>
                    <a:bodyPr/>
                    <a:lstStyle/>
                    <a:p>
                      <a:pPr algn="ctr"/>
                      <a:r>
                        <a:rPr sz="1400">
                          <a:solidFill>
                            <a:srgbClr val="0B2B4E"/>
                          </a:solidFill>
                          <a:latin typeface="Calibri"/>
                        </a:rPr>
                        <a:t>434</a:t>
                      </a:r>
                    </a:p>
                  </a:txBody>
                  <a:tcPr marL="182880" marR="182880" marT="18288" marB="18288">
                    <a:solidFill>
                      <a:srgbClr val="FFFFFF"/>
                    </a:solidFill>
                  </a:tcPr>
                </a:tc>
                <a:tc>
                  <a:txBody>
                    <a:bodyPr/>
                    <a:lstStyle/>
                    <a:p>
                      <a:pPr algn="ctr"/>
                      <a:r>
                        <a:rPr sz="1400">
                          <a:solidFill>
                            <a:srgbClr val="0B2B4E"/>
                          </a:solidFill>
                          <a:latin typeface="Calibri"/>
                        </a:rPr>
                        <a:t>501</a:t>
                      </a:r>
                    </a:p>
                  </a:txBody>
                  <a:tcPr marL="182880" marR="182880" marT="18288" marB="18288">
                    <a:solidFill>
                      <a:srgbClr val="FFFFFF"/>
                    </a:solidFill>
                  </a:tcPr>
                </a:tc>
                <a:extLst>
                  <a:ext uri="{0D108BD9-81ED-4DB2-BD59-A6C34878D82A}">
                    <a16:rowId xmlns:a16="http://schemas.microsoft.com/office/drawing/2014/main" val="10004"/>
                  </a:ext>
                </a:extLst>
              </a:tr>
              <a:tr h="281353">
                <a:tc>
                  <a:txBody>
                    <a:bodyPr/>
                    <a:lstStyle/>
                    <a:p>
                      <a:pPr algn="ctr"/>
                      <a:r>
                        <a:rPr sz="1400" b="1">
                          <a:solidFill>
                            <a:srgbClr val="FFFFFF"/>
                          </a:solidFill>
                          <a:latin typeface="Calibri"/>
                        </a:rPr>
                        <a:t>1,500</a:t>
                      </a:r>
                    </a:p>
                  </a:txBody>
                  <a:tcPr marL="182880" marR="182880" marT="18288" marB="18288">
                    <a:solidFill>
                      <a:srgbClr val="0B2B4E"/>
                    </a:solidFill>
                  </a:tcPr>
                </a:tc>
                <a:tc>
                  <a:txBody>
                    <a:bodyPr/>
                    <a:lstStyle/>
                    <a:p>
                      <a:pPr algn="ctr"/>
                      <a:r>
                        <a:rPr sz="1400">
                          <a:solidFill>
                            <a:srgbClr val="0B2B4E"/>
                          </a:solidFill>
                          <a:latin typeface="Calibri"/>
                        </a:rPr>
                        <a:t>283</a:t>
                      </a:r>
                    </a:p>
                  </a:txBody>
                  <a:tcPr marL="182880" marR="182880" marT="18288" marB="18288">
                    <a:solidFill>
                      <a:srgbClr val="FFFFFF"/>
                    </a:solidFill>
                  </a:tcPr>
                </a:tc>
                <a:tc>
                  <a:txBody>
                    <a:bodyPr/>
                    <a:lstStyle/>
                    <a:p>
                      <a:pPr algn="ctr"/>
                      <a:r>
                        <a:rPr sz="1400">
                          <a:solidFill>
                            <a:srgbClr val="0B2B4E"/>
                          </a:solidFill>
                          <a:latin typeface="Calibri"/>
                        </a:rPr>
                        <a:t>400</a:t>
                      </a:r>
                    </a:p>
                  </a:txBody>
                  <a:tcPr marL="182880" marR="182880" marT="18288" marB="18288">
                    <a:solidFill>
                      <a:srgbClr val="FFFFFF"/>
                    </a:solidFill>
                  </a:tcPr>
                </a:tc>
                <a:tc>
                  <a:txBody>
                    <a:bodyPr/>
                    <a:lstStyle/>
                    <a:p>
                      <a:pPr algn="ctr"/>
                      <a:r>
                        <a:rPr sz="1400">
                          <a:solidFill>
                            <a:srgbClr val="0B2B4E"/>
                          </a:solidFill>
                          <a:latin typeface="Calibri"/>
                        </a:rPr>
                        <a:t>490</a:t>
                      </a:r>
                    </a:p>
                  </a:txBody>
                  <a:tcPr marL="182880" marR="182880" marT="18288" marB="18288">
                    <a:solidFill>
                      <a:srgbClr val="FFFFFF"/>
                    </a:solidFill>
                  </a:tcPr>
                </a:tc>
                <a:tc>
                  <a:txBody>
                    <a:bodyPr/>
                    <a:lstStyle/>
                    <a:p>
                      <a:pPr algn="ctr"/>
                      <a:r>
                        <a:rPr sz="1400">
                          <a:solidFill>
                            <a:srgbClr val="0B2B4E"/>
                          </a:solidFill>
                          <a:latin typeface="Calibri"/>
                        </a:rPr>
                        <a:t>566</a:t>
                      </a:r>
                    </a:p>
                  </a:txBody>
                  <a:tcPr marL="182880" marR="182880" marT="18288" marB="18288">
                    <a:solidFill>
                      <a:srgbClr val="FFFFFF"/>
                    </a:solidFill>
                  </a:tcPr>
                </a:tc>
                <a:extLst>
                  <a:ext uri="{0D108BD9-81ED-4DB2-BD59-A6C34878D82A}">
                    <a16:rowId xmlns:a16="http://schemas.microsoft.com/office/drawing/2014/main" val="10005"/>
                  </a:ext>
                </a:extLst>
              </a:tr>
              <a:tr h="281353">
                <a:tc>
                  <a:txBody>
                    <a:bodyPr/>
                    <a:lstStyle/>
                    <a:p>
                      <a:pPr algn="ctr"/>
                      <a:r>
                        <a:rPr sz="1400" b="1">
                          <a:solidFill>
                            <a:srgbClr val="FFFFFF"/>
                          </a:solidFill>
                          <a:latin typeface="Calibri"/>
                        </a:rPr>
                        <a:t>2,000</a:t>
                      </a:r>
                    </a:p>
                  </a:txBody>
                  <a:tcPr marL="182880" marR="182880" marT="18288" marB="18288">
                    <a:solidFill>
                      <a:srgbClr val="0B2B4E"/>
                    </a:solidFill>
                  </a:tcPr>
                </a:tc>
                <a:tc>
                  <a:txBody>
                    <a:bodyPr/>
                    <a:lstStyle/>
                    <a:p>
                      <a:pPr algn="ctr"/>
                      <a:r>
                        <a:rPr sz="1400">
                          <a:solidFill>
                            <a:srgbClr val="0B2B4E"/>
                          </a:solidFill>
                          <a:latin typeface="Calibri"/>
                        </a:rPr>
                        <a:t>309</a:t>
                      </a:r>
                    </a:p>
                  </a:txBody>
                  <a:tcPr marL="182880" marR="182880" marT="18288" marB="18288">
                    <a:solidFill>
                      <a:srgbClr val="FFFFFF"/>
                    </a:solidFill>
                  </a:tcPr>
                </a:tc>
                <a:tc>
                  <a:txBody>
                    <a:bodyPr/>
                    <a:lstStyle/>
                    <a:p>
                      <a:pPr algn="ctr"/>
                      <a:r>
                        <a:rPr sz="1400">
                          <a:solidFill>
                            <a:srgbClr val="0B2B4E"/>
                          </a:solidFill>
                          <a:latin typeface="Calibri"/>
                        </a:rPr>
                        <a:t>436</a:t>
                      </a:r>
                    </a:p>
                  </a:txBody>
                  <a:tcPr marL="182880" marR="182880" marT="18288" marB="18288">
                    <a:solidFill>
                      <a:srgbClr val="FFFFFF"/>
                    </a:solidFill>
                  </a:tcPr>
                </a:tc>
                <a:tc>
                  <a:txBody>
                    <a:bodyPr/>
                    <a:lstStyle/>
                    <a:p>
                      <a:pPr algn="ctr"/>
                      <a:r>
                        <a:rPr sz="1400">
                          <a:solidFill>
                            <a:srgbClr val="0B2B4E"/>
                          </a:solidFill>
                          <a:latin typeface="Calibri"/>
                        </a:rPr>
                        <a:t>534</a:t>
                      </a:r>
                    </a:p>
                  </a:txBody>
                  <a:tcPr marL="182880" marR="182880" marT="18288" marB="18288">
                    <a:solidFill>
                      <a:srgbClr val="FFFFFF"/>
                    </a:solidFill>
                  </a:tcPr>
                </a:tc>
                <a:tc>
                  <a:txBody>
                    <a:bodyPr/>
                    <a:lstStyle/>
                    <a:p>
                      <a:pPr algn="ctr"/>
                      <a:r>
                        <a:rPr sz="1400">
                          <a:solidFill>
                            <a:srgbClr val="0B2B4E"/>
                          </a:solidFill>
                          <a:latin typeface="Calibri"/>
                        </a:rPr>
                        <a:t>617</a:t>
                      </a:r>
                    </a:p>
                  </a:txBody>
                  <a:tcPr marL="182880" marR="182880" marT="18288" marB="18288">
                    <a:solidFill>
                      <a:srgbClr val="FFFFFF"/>
                    </a:solidFill>
                  </a:tcPr>
                </a:tc>
                <a:extLst>
                  <a:ext uri="{0D108BD9-81ED-4DB2-BD59-A6C34878D82A}">
                    <a16:rowId xmlns:a16="http://schemas.microsoft.com/office/drawing/2014/main" val="10006"/>
                  </a:ext>
                </a:extLst>
              </a:tr>
              <a:tr h="281353">
                <a:tc>
                  <a:txBody>
                    <a:bodyPr/>
                    <a:lstStyle/>
                    <a:p>
                      <a:pPr algn="ctr"/>
                      <a:r>
                        <a:rPr sz="1400" b="1">
                          <a:solidFill>
                            <a:srgbClr val="FFFFFF"/>
                          </a:solidFill>
                          <a:latin typeface="Calibri"/>
                        </a:rPr>
                        <a:t>2,500</a:t>
                      </a:r>
                    </a:p>
                  </a:txBody>
                  <a:tcPr marL="182880" marR="182880" marT="18288" marB="18288">
                    <a:solidFill>
                      <a:srgbClr val="0B2B4E"/>
                    </a:solidFill>
                  </a:tcPr>
                </a:tc>
                <a:tc>
                  <a:txBody>
                    <a:bodyPr/>
                    <a:lstStyle/>
                    <a:p>
                      <a:pPr algn="ctr"/>
                      <a:r>
                        <a:rPr sz="1400">
                          <a:solidFill>
                            <a:srgbClr val="0B2B4E"/>
                          </a:solidFill>
                          <a:latin typeface="Calibri"/>
                        </a:rPr>
                        <a:t>330</a:t>
                      </a:r>
                    </a:p>
                  </a:txBody>
                  <a:tcPr marL="182880" marR="182880" marT="18288" marB="18288">
                    <a:solidFill>
                      <a:srgbClr val="FFFFFF"/>
                    </a:solidFill>
                  </a:tcPr>
                </a:tc>
                <a:tc>
                  <a:txBody>
                    <a:bodyPr/>
                    <a:lstStyle/>
                    <a:p>
                      <a:pPr algn="ctr"/>
                      <a:r>
                        <a:rPr sz="1400">
                          <a:solidFill>
                            <a:srgbClr val="0B2B4E"/>
                          </a:solidFill>
                          <a:latin typeface="Calibri"/>
                        </a:rPr>
                        <a:t>467</a:t>
                      </a:r>
                    </a:p>
                  </a:txBody>
                  <a:tcPr marL="182880" marR="182880" marT="18288" marB="18288">
                    <a:solidFill>
                      <a:srgbClr val="FFFFFF"/>
                    </a:solidFill>
                  </a:tcPr>
                </a:tc>
                <a:tc>
                  <a:txBody>
                    <a:bodyPr/>
                    <a:lstStyle/>
                    <a:p>
                      <a:pPr algn="ctr"/>
                      <a:r>
                        <a:rPr sz="1400">
                          <a:solidFill>
                            <a:srgbClr val="0B2B4E"/>
                          </a:solidFill>
                          <a:latin typeface="Calibri"/>
                        </a:rPr>
                        <a:t>571</a:t>
                      </a:r>
                    </a:p>
                  </a:txBody>
                  <a:tcPr marL="182880" marR="182880" marT="18288" marB="18288">
                    <a:solidFill>
                      <a:srgbClr val="FFFFFF"/>
                    </a:solidFill>
                  </a:tcPr>
                </a:tc>
                <a:tc>
                  <a:txBody>
                    <a:bodyPr/>
                    <a:lstStyle/>
                    <a:p>
                      <a:pPr algn="ctr"/>
                      <a:r>
                        <a:rPr sz="1400">
                          <a:solidFill>
                            <a:srgbClr val="0B2B4E"/>
                          </a:solidFill>
                          <a:latin typeface="Calibri"/>
                        </a:rPr>
                        <a:t>660</a:t>
                      </a:r>
                    </a:p>
                  </a:txBody>
                  <a:tcPr marL="182880" marR="182880" marT="18288" marB="18288">
                    <a:solidFill>
                      <a:srgbClr val="FFFFFF"/>
                    </a:solidFill>
                  </a:tcPr>
                </a:tc>
                <a:extLst>
                  <a:ext uri="{0D108BD9-81ED-4DB2-BD59-A6C34878D82A}">
                    <a16:rowId xmlns:a16="http://schemas.microsoft.com/office/drawing/2014/main" val="10007"/>
                  </a:ext>
                </a:extLst>
              </a:tr>
              <a:tr h="281353">
                <a:tc>
                  <a:txBody>
                    <a:bodyPr/>
                    <a:lstStyle/>
                    <a:p>
                      <a:pPr algn="ctr"/>
                      <a:r>
                        <a:rPr sz="1400" b="1">
                          <a:solidFill>
                            <a:srgbClr val="FFFFFF"/>
                          </a:solidFill>
                          <a:latin typeface="Calibri"/>
                        </a:rPr>
                        <a:t>3,000</a:t>
                      </a:r>
                    </a:p>
                  </a:txBody>
                  <a:tcPr marL="182880" marR="182880" marT="18288" marB="18288">
                    <a:solidFill>
                      <a:srgbClr val="0B2B4E"/>
                    </a:solidFill>
                  </a:tcPr>
                </a:tc>
                <a:tc>
                  <a:txBody>
                    <a:bodyPr/>
                    <a:lstStyle/>
                    <a:p>
                      <a:pPr algn="ctr"/>
                      <a:r>
                        <a:rPr sz="1400">
                          <a:solidFill>
                            <a:srgbClr val="0B2B4E"/>
                          </a:solidFill>
                          <a:latin typeface="Calibri"/>
                        </a:rPr>
                        <a:t>348</a:t>
                      </a:r>
                    </a:p>
                  </a:txBody>
                  <a:tcPr marL="182880" marR="182880" marT="18288" marB="18288">
                    <a:solidFill>
                      <a:srgbClr val="FFFFFF"/>
                    </a:solidFill>
                  </a:tcPr>
                </a:tc>
                <a:tc>
                  <a:txBody>
                    <a:bodyPr/>
                    <a:lstStyle/>
                    <a:p>
                      <a:pPr algn="ctr"/>
                      <a:r>
                        <a:rPr sz="1400">
                          <a:solidFill>
                            <a:srgbClr val="0B2B4E"/>
                          </a:solidFill>
                          <a:latin typeface="Calibri"/>
                        </a:rPr>
                        <a:t>493</a:t>
                      </a:r>
                    </a:p>
                  </a:txBody>
                  <a:tcPr marL="182880" marR="182880" marT="18288" marB="18288">
                    <a:solidFill>
                      <a:srgbClr val="FFFFFF"/>
                    </a:solidFill>
                  </a:tcPr>
                </a:tc>
                <a:tc>
                  <a:txBody>
                    <a:bodyPr/>
                    <a:lstStyle/>
                    <a:p>
                      <a:pPr algn="ctr"/>
                      <a:r>
                        <a:rPr sz="1400">
                          <a:solidFill>
                            <a:srgbClr val="0B2B4E"/>
                          </a:solidFill>
                          <a:latin typeface="Calibri"/>
                        </a:rPr>
                        <a:t>604</a:t>
                      </a:r>
                    </a:p>
                  </a:txBody>
                  <a:tcPr marL="182880" marR="182880" marT="18288" marB="18288">
                    <a:solidFill>
                      <a:srgbClr val="FFFFFF"/>
                    </a:solidFill>
                  </a:tcPr>
                </a:tc>
                <a:tc>
                  <a:txBody>
                    <a:bodyPr/>
                    <a:lstStyle/>
                    <a:p>
                      <a:pPr algn="ctr"/>
                      <a:r>
                        <a:rPr sz="1400">
                          <a:solidFill>
                            <a:srgbClr val="0B2B4E"/>
                          </a:solidFill>
                          <a:latin typeface="Calibri"/>
                        </a:rPr>
                        <a:t>697</a:t>
                      </a:r>
                    </a:p>
                  </a:txBody>
                  <a:tcPr marL="182880" marR="182880" marT="18288" marB="18288">
                    <a:solidFill>
                      <a:srgbClr val="FFFFFF"/>
                    </a:solidFill>
                  </a:tcPr>
                </a:tc>
                <a:extLst>
                  <a:ext uri="{0D108BD9-81ED-4DB2-BD59-A6C34878D82A}">
                    <a16:rowId xmlns:a16="http://schemas.microsoft.com/office/drawing/2014/main" val="10008"/>
                  </a:ext>
                </a:extLst>
              </a:tr>
              <a:tr h="281353">
                <a:tc>
                  <a:txBody>
                    <a:bodyPr/>
                    <a:lstStyle/>
                    <a:p>
                      <a:pPr algn="ctr"/>
                      <a:r>
                        <a:rPr sz="1400" b="1">
                          <a:solidFill>
                            <a:srgbClr val="FFFFFF"/>
                          </a:solidFill>
                          <a:latin typeface="Calibri"/>
                        </a:rPr>
                        <a:t>3,500</a:t>
                      </a:r>
                    </a:p>
                  </a:txBody>
                  <a:tcPr marL="182880" marR="182880" marT="18288" marB="18288">
                    <a:solidFill>
                      <a:srgbClr val="0B2B4E"/>
                    </a:solidFill>
                  </a:tcPr>
                </a:tc>
                <a:tc>
                  <a:txBody>
                    <a:bodyPr/>
                    <a:lstStyle/>
                    <a:p>
                      <a:pPr algn="ctr"/>
                      <a:r>
                        <a:rPr sz="1400">
                          <a:solidFill>
                            <a:srgbClr val="0B2B4E"/>
                          </a:solidFill>
                          <a:latin typeface="Calibri"/>
                        </a:rPr>
                        <a:t>365</a:t>
                      </a:r>
                    </a:p>
                  </a:txBody>
                  <a:tcPr marL="182880" marR="182880" marT="18288" marB="18288">
                    <a:solidFill>
                      <a:srgbClr val="FFFFFF"/>
                    </a:solidFill>
                  </a:tcPr>
                </a:tc>
                <a:tc>
                  <a:txBody>
                    <a:bodyPr/>
                    <a:lstStyle/>
                    <a:p>
                      <a:pPr algn="ctr"/>
                      <a:r>
                        <a:rPr sz="1400">
                          <a:solidFill>
                            <a:srgbClr val="0B2B4E"/>
                          </a:solidFill>
                          <a:latin typeface="Calibri"/>
                        </a:rPr>
                        <a:t>516</a:t>
                      </a:r>
                    </a:p>
                  </a:txBody>
                  <a:tcPr marL="182880" marR="182880" marT="18288" marB="18288">
                    <a:solidFill>
                      <a:srgbClr val="FFFFFF"/>
                    </a:solidFill>
                  </a:tcPr>
                </a:tc>
                <a:tc>
                  <a:txBody>
                    <a:bodyPr/>
                    <a:lstStyle/>
                    <a:p>
                      <a:pPr algn="ctr"/>
                      <a:r>
                        <a:rPr sz="1400">
                          <a:solidFill>
                            <a:srgbClr val="0B2B4E"/>
                          </a:solidFill>
                          <a:latin typeface="Calibri"/>
                        </a:rPr>
                        <a:t>632</a:t>
                      </a:r>
                    </a:p>
                  </a:txBody>
                  <a:tcPr marL="182880" marR="182880" marT="18288" marB="18288">
                    <a:solidFill>
                      <a:srgbClr val="FFFFFF"/>
                    </a:solidFill>
                  </a:tcPr>
                </a:tc>
                <a:tc>
                  <a:txBody>
                    <a:bodyPr/>
                    <a:lstStyle/>
                    <a:p>
                      <a:pPr algn="ctr"/>
                      <a:r>
                        <a:rPr sz="1400">
                          <a:solidFill>
                            <a:srgbClr val="0B2B4E"/>
                          </a:solidFill>
                          <a:latin typeface="Calibri"/>
                        </a:rPr>
                        <a:t>730</a:t>
                      </a:r>
                    </a:p>
                  </a:txBody>
                  <a:tcPr marL="182880" marR="182880" marT="18288" marB="18288">
                    <a:solidFill>
                      <a:srgbClr val="FFFFFF"/>
                    </a:solidFill>
                  </a:tcPr>
                </a:tc>
                <a:extLst>
                  <a:ext uri="{0D108BD9-81ED-4DB2-BD59-A6C34878D82A}">
                    <a16:rowId xmlns:a16="http://schemas.microsoft.com/office/drawing/2014/main" val="10009"/>
                  </a:ext>
                </a:extLst>
              </a:tr>
              <a:tr h="281353">
                <a:tc>
                  <a:txBody>
                    <a:bodyPr/>
                    <a:lstStyle/>
                    <a:p>
                      <a:pPr algn="ctr"/>
                      <a:r>
                        <a:rPr sz="1400" b="1">
                          <a:solidFill>
                            <a:srgbClr val="FFFFFF"/>
                          </a:solidFill>
                          <a:latin typeface="Calibri"/>
                        </a:rPr>
                        <a:t>4,000</a:t>
                      </a:r>
                    </a:p>
                  </a:txBody>
                  <a:tcPr marL="182880" marR="182880" marT="18288" marB="18288">
                    <a:solidFill>
                      <a:srgbClr val="0B2B4E"/>
                    </a:solidFill>
                  </a:tcPr>
                </a:tc>
                <a:tc>
                  <a:txBody>
                    <a:bodyPr/>
                    <a:lstStyle/>
                    <a:p>
                      <a:pPr algn="ctr"/>
                      <a:r>
                        <a:rPr sz="1400">
                          <a:solidFill>
                            <a:srgbClr val="0B2B4E"/>
                          </a:solidFill>
                          <a:latin typeface="Calibri"/>
                        </a:rPr>
                        <a:t>380</a:t>
                      </a:r>
                    </a:p>
                  </a:txBody>
                  <a:tcPr marL="182880" marR="182880" marT="18288" marB="18288">
                    <a:solidFill>
                      <a:srgbClr val="FFFFFF"/>
                    </a:solidFill>
                  </a:tcPr>
                </a:tc>
                <a:tc>
                  <a:txBody>
                    <a:bodyPr/>
                    <a:lstStyle/>
                    <a:p>
                      <a:pPr algn="ctr"/>
                      <a:r>
                        <a:rPr sz="1400">
                          <a:solidFill>
                            <a:srgbClr val="0B2B4E"/>
                          </a:solidFill>
                          <a:latin typeface="Calibri"/>
                        </a:rPr>
                        <a:t>537</a:t>
                      </a:r>
                    </a:p>
                  </a:txBody>
                  <a:tcPr marL="182880" marR="182880" marT="18288" marB="18288">
                    <a:solidFill>
                      <a:srgbClr val="FFFFFF"/>
                    </a:solidFill>
                  </a:tcPr>
                </a:tc>
                <a:tc>
                  <a:txBody>
                    <a:bodyPr/>
                    <a:lstStyle/>
                    <a:p>
                      <a:pPr algn="ctr"/>
                      <a:r>
                        <a:rPr sz="1400">
                          <a:solidFill>
                            <a:srgbClr val="0B2B4E"/>
                          </a:solidFill>
                          <a:latin typeface="Calibri"/>
                        </a:rPr>
                        <a:t>658</a:t>
                      </a:r>
                    </a:p>
                  </a:txBody>
                  <a:tcPr marL="182880" marR="182880" marT="18288" marB="18288">
                    <a:solidFill>
                      <a:srgbClr val="FFFFFF"/>
                    </a:solidFill>
                  </a:tcPr>
                </a:tc>
                <a:tc>
                  <a:txBody>
                    <a:bodyPr/>
                    <a:lstStyle/>
                    <a:p>
                      <a:pPr algn="ctr"/>
                      <a:r>
                        <a:rPr sz="1400">
                          <a:solidFill>
                            <a:srgbClr val="0B2B4E"/>
                          </a:solidFill>
                          <a:latin typeface="Calibri"/>
                        </a:rPr>
                        <a:t>760</a:t>
                      </a:r>
                    </a:p>
                  </a:txBody>
                  <a:tcPr marL="182880" marR="182880" marT="18288" marB="18288">
                    <a:solidFill>
                      <a:srgbClr val="FFFFFF"/>
                    </a:solidFill>
                  </a:tcPr>
                </a:tc>
                <a:extLst>
                  <a:ext uri="{0D108BD9-81ED-4DB2-BD59-A6C34878D82A}">
                    <a16:rowId xmlns:a16="http://schemas.microsoft.com/office/drawing/2014/main" val="10010"/>
                  </a:ext>
                </a:extLst>
              </a:tr>
              <a:tr h="281353">
                <a:tc>
                  <a:txBody>
                    <a:bodyPr/>
                    <a:lstStyle/>
                    <a:p>
                      <a:pPr algn="ctr"/>
                      <a:r>
                        <a:rPr sz="1400" b="1">
                          <a:solidFill>
                            <a:srgbClr val="FFFFFF"/>
                          </a:solidFill>
                          <a:latin typeface="Calibri"/>
                        </a:rPr>
                        <a:t>4,500</a:t>
                      </a:r>
                    </a:p>
                  </a:txBody>
                  <a:tcPr marL="182880" marR="182880" marT="18288" marB="18288">
                    <a:solidFill>
                      <a:srgbClr val="0B2B4E"/>
                    </a:solidFill>
                  </a:tcPr>
                </a:tc>
                <a:tc>
                  <a:txBody>
                    <a:bodyPr/>
                    <a:lstStyle/>
                    <a:p>
                      <a:pPr algn="ctr"/>
                      <a:r>
                        <a:rPr sz="1400">
                          <a:solidFill>
                            <a:srgbClr val="0B2B4E"/>
                          </a:solidFill>
                          <a:latin typeface="Calibri"/>
                        </a:rPr>
                        <a:t>394</a:t>
                      </a:r>
                    </a:p>
                  </a:txBody>
                  <a:tcPr marL="182880" marR="182880" marT="18288" marB="18288">
                    <a:solidFill>
                      <a:srgbClr val="FFFFFF"/>
                    </a:solidFill>
                  </a:tcPr>
                </a:tc>
                <a:tc>
                  <a:txBody>
                    <a:bodyPr/>
                    <a:lstStyle/>
                    <a:p>
                      <a:pPr algn="ctr"/>
                      <a:r>
                        <a:rPr sz="1400">
                          <a:solidFill>
                            <a:srgbClr val="0B2B4E"/>
                          </a:solidFill>
                          <a:latin typeface="Calibri"/>
                        </a:rPr>
                        <a:t>557</a:t>
                      </a:r>
                    </a:p>
                  </a:txBody>
                  <a:tcPr marL="182880" marR="182880" marT="18288" marB="18288">
                    <a:solidFill>
                      <a:srgbClr val="FFFFFF"/>
                    </a:solidFill>
                  </a:tcPr>
                </a:tc>
                <a:tc>
                  <a:txBody>
                    <a:bodyPr/>
                    <a:lstStyle/>
                    <a:p>
                      <a:pPr algn="ctr"/>
                      <a:r>
                        <a:rPr sz="1400">
                          <a:solidFill>
                            <a:srgbClr val="0B2B4E"/>
                          </a:solidFill>
                          <a:latin typeface="Calibri"/>
                        </a:rPr>
                        <a:t>682</a:t>
                      </a:r>
                    </a:p>
                  </a:txBody>
                  <a:tcPr marL="182880" marR="182880" marT="18288" marB="18288">
                    <a:solidFill>
                      <a:srgbClr val="FFFFFF"/>
                    </a:solidFill>
                  </a:tcPr>
                </a:tc>
                <a:tc>
                  <a:txBody>
                    <a:bodyPr/>
                    <a:lstStyle/>
                    <a:p>
                      <a:pPr algn="ctr"/>
                      <a:r>
                        <a:rPr sz="1400">
                          <a:solidFill>
                            <a:srgbClr val="0B2B4E"/>
                          </a:solidFill>
                          <a:latin typeface="Calibri"/>
                        </a:rPr>
                        <a:t>787</a:t>
                      </a:r>
                    </a:p>
                  </a:txBody>
                  <a:tcPr marL="182880" marR="182880" marT="18288" marB="18288">
                    <a:solidFill>
                      <a:srgbClr val="FFFFFF"/>
                    </a:solidFill>
                  </a:tcPr>
                </a:tc>
                <a:extLst>
                  <a:ext uri="{0D108BD9-81ED-4DB2-BD59-A6C34878D82A}">
                    <a16:rowId xmlns:a16="http://schemas.microsoft.com/office/drawing/2014/main" val="10011"/>
                  </a:ext>
                </a:extLst>
              </a:tr>
              <a:tr h="281364">
                <a:tc>
                  <a:txBody>
                    <a:bodyPr/>
                    <a:lstStyle/>
                    <a:p>
                      <a:pPr algn="ctr"/>
                      <a:r>
                        <a:rPr sz="1400" b="1">
                          <a:solidFill>
                            <a:srgbClr val="FFFFFF"/>
                          </a:solidFill>
                          <a:latin typeface="Calibri"/>
                        </a:rPr>
                        <a:t>5,000</a:t>
                      </a:r>
                    </a:p>
                  </a:txBody>
                  <a:tcPr marL="182880" marR="182880" marT="18288" marB="18288">
                    <a:solidFill>
                      <a:srgbClr val="0B2B4E"/>
                    </a:solidFill>
                  </a:tcPr>
                </a:tc>
                <a:tc>
                  <a:txBody>
                    <a:bodyPr/>
                    <a:lstStyle/>
                    <a:p>
                      <a:pPr algn="ctr"/>
                      <a:r>
                        <a:rPr sz="1400">
                          <a:solidFill>
                            <a:srgbClr val="0B2B4E"/>
                          </a:solidFill>
                          <a:latin typeface="Calibri"/>
                        </a:rPr>
                        <a:t>406</a:t>
                      </a:r>
                    </a:p>
                  </a:txBody>
                  <a:tcPr marL="182880" marR="182880" marT="18288" marB="18288">
                    <a:solidFill>
                      <a:srgbClr val="FFFFFF"/>
                    </a:solidFill>
                  </a:tcPr>
                </a:tc>
                <a:tc>
                  <a:txBody>
                    <a:bodyPr/>
                    <a:lstStyle/>
                    <a:p>
                      <a:pPr algn="ctr"/>
                      <a:r>
                        <a:rPr sz="1400">
                          <a:solidFill>
                            <a:srgbClr val="0B2B4E"/>
                          </a:solidFill>
                          <a:latin typeface="Calibri"/>
                        </a:rPr>
                        <a:t>574</a:t>
                      </a:r>
                    </a:p>
                  </a:txBody>
                  <a:tcPr marL="182880" marR="182880" marT="18288" marB="18288">
                    <a:solidFill>
                      <a:srgbClr val="FFFFFF"/>
                    </a:solidFill>
                  </a:tcPr>
                </a:tc>
                <a:tc>
                  <a:txBody>
                    <a:bodyPr/>
                    <a:lstStyle/>
                    <a:p>
                      <a:pPr algn="ctr"/>
                      <a:r>
                        <a:rPr sz="1400">
                          <a:solidFill>
                            <a:srgbClr val="0B2B4E"/>
                          </a:solidFill>
                          <a:latin typeface="Calibri"/>
                        </a:rPr>
                        <a:t>703</a:t>
                      </a:r>
                    </a:p>
                  </a:txBody>
                  <a:tcPr marL="182880" marR="182880" marT="18288" marB="18288">
                    <a:solidFill>
                      <a:srgbClr val="FFFFFF"/>
                    </a:solidFill>
                  </a:tcPr>
                </a:tc>
                <a:tc>
                  <a:txBody>
                    <a:bodyPr/>
                    <a:lstStyle/>
                    <a:p>
                      <a:pPr algn="ctr"/>
                      <a:r>
                        <a:rPr sz="1400" dirty="0">
                          <a:solidFill>
                            <a:srgbClr val="0B2B4E"/>
                          </a:solidFill>
                          <a:latin typeface="Calibri"/>
                        </a:rPr>
                        <a:t>812</a:t>
                      </a:r>
                    </a:p>
                  </a:txBody>
                  <a:tcPr marL="182880" marR="182880" marT="18288" marB="18288">
                    <a:solidFill>
                      <a:srgbClr val="FFFFFF"/>
                    </a:solidFill>
                  </a:tcPr>
                </a:tc>
                <a:extLst>
                  <a:ext uri="{0D108BD9-81ED-4DB2-BD59-A6C34878D82A}">
                    <a16:rowId xmlns:a16="http://schemas.microsoft.com/office/drawing/2014/main" val="10012"/>
                  </a:ext>
                </a:extLst>
              </a:tr>
            </a:tbl>
          </a:graphicData>
        </a:graphic>
      </p:graphicFrame>
      <p:sp>
        <p:nvSpPr>
          <p:cNvPr id="9" name="Right Arrow 8"/>
          <p:cNvSpPr/>
          <p:nvPr/>
        </p:nvSpPr>
        <p:spPr>
          <a:xfrm>
            <a:off x="5090007" y="1700784"/>
            <a:ext cx="2926080" cy="274320"/>
          </a:xfrm>
          <a:prstGeom prst="rightArrow">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Down Arrow 9"/>
          <p:cNvSpPr/>
          <p:nvPr/>
        </p:nvSpPr>
        <p:spPr>
          <a:xfrm>
            <a:off x="3791559" y="2293315"/>
            <a:ext cx="274320" cy="3375964"/>
          </a:xfrm>
          <a:prstGeom prst="downArrow">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90007" y="1472184"/>
            <a:ext cx="2926080" cy="365760"/>
          </a:xfrm>
          <a:prstGeom prst="rect">
            <a:avLst/>
          </a:prstGeom>
          <a:noFill/>
        </p:spPr>
        <p:txBody>
          <a:bodyPr wrap="square" lIns="0" tIns="0" rIns="0" bIns="0">
            <a:spAutoFit/>
          </a:bodyPr>
          <a:lstStyle/>
          <a:p>
            <a:pPr algn="ctr"/>
            <a:r>
              <a:rPr sz="1800" b="1" i="0">
                <a:solidFill>
                  <a:srgbClr val="0B2B4E"/>
                </a:solidFill>
                <a:latin typeface="Calibri"/>
              </a:rPr>
              <a:t>Number of robots (K)</a:t>
            </a:r>
          </a:p>
        </p:txBody>
      </p:sp>
      <p:sp>
        <p:nvSpPr>
          <p:cNvPr id="12" name="TextBox 11"/>
          <p:cNvSpPr txBox="1"/>
          <p:nvPr/>
        </p:nvSpPr>
        <p:spPr>
          <a:xfrm>
            <a:off x="1871319" y="3524097"/>
            <a:ext cx="1828800" cy="731520"/>
          </a:xfrm>
          <a:prstGeom prst="rect">
            <a:avLst/>
          </a:prstGeom>
          <a:noFill/>
        </p:spPr>
        <p:txBody>
          <a:bodyPr wrap="square" lIns="0" tIns="0" rIns="0" bIns="0" anchor="ctr">
            <a:spAutoFit/>
          </a:bodyPr>
          <a:lstStyle/>
          <a:p>
            <a:pPr algn="r"/>
            <a:r>
              <a:rPr sz="1800" b="1" i="0">
                <a:solidFill>
                  <a:srgbClr val="0B2B4E"/>
                </a:solidFill>
                <a:latin typeface="Calibri"/>
              </a:rPr>
              <a:t>Number of
workers (L)</a:t>
            </a:r>
          </a:p>
        </p:txBody>
      </p:sp>
      <p:grpSp>
        <p:nvGrpSpPr>
          <p:cNvPr id="101" name="Group 16">
            <a:extLst>
              <a:ext uri="{FF2B5EF4-FFF2-40B4-BE49-F238E27FC236}">
                <a16:creationId xmlns:a16="http://schemas.microsoft.com/office/drawing/2014/main" id="{CCFFE88A-C1F2-920E-75A7-DC37624177EC}"/>
              </a:ext>
            </a:extLst>
          </p:cNvPr>
          <p:cNvGrpSpPr/>
          <p:nvPr/>
        </p:nvGrpSpPr>
        <p:grpSpPr>
          <a:xfrm>
            <a:off x="5794744" y="3190379"/>
            <a:ext cx="5430055" cy="1072757"/>
            <a:chOff x="4028176" y="3468825"/>
            <a:chExt cx="5430055" cy="1072757"/>
          </a:xfrm>
        </p:grpSpPr>
        <p:sp>
          <p:nvSpPr>
            <p:cNvPr id="102" name="Oval 17">
              <a:extLst>
                <a:ext uri="{FF2B5EF4-FFF2-40B4-BE49-F238E27FC236}">
                  <a16:creationId xmlns:a16="http://schemas.microsoft.com/office/drawing/2014/main" id="{149BAB88-5F44-F462-B3EF-E90763362AA2}"/>
                </a:ext>
              </a:extLst>
            </p:cNvPr>
            <p:cNvSpPr/>
            <p:nvPr/>
          </p:nvSpPr>
          <p:spPr>
            <a:xfrm>
              <a:off x="4028176" y="4279192"/>
              <a:ext cx="843800" cy="262390"/>
            </a:xfrm>
            <a:prstGeom prst="ellipse">
              <a:avLst/>
            </a:prstGeom>
            <a:noFill/>
            <a:ln w="285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3" name="Rectangle 8">
              <a:extLst>
                <a:ext uri="{FF2B5EF4-FFF2-40B4-BE49-F238E27FC236}">
                  <a16:creationId xmlns:a16="http://schemas.microsoft.com/office/drawing/2014/main" id="{64C69EA1-DAB2-A1C9-80EF-8CB4813BCBB1}"/>
                </a:ext>
              </a:extLst>
            </p:cNvPr>
            <p:cNvSpPr>
              <a:spLocks noChangeArrowheads="1"/>
            </p:cNvSpPr>
            <p:nvPr/>
          </p:nvSpPr>
          <p:spPr bwMode="auto">
            <a:xfrm>
              <a:off x="7532631" y="3468825"/>
              <a:ext cx="1925600" cy="422371"/>
            </a:xfrm>
            <a:prstGeom prst="rect">
              <a:avLst/>
            </a:prstGeom>
            <a:noFill/>
            <a:ln w="9525">
              <a:noFill/>
              <a:miter lim="800000"/>
              <a:headEnd/>
              <a:tailEnd/>
            </a:ln>
            <a:effectLst/>
          </p:spPr>
          <p:txBody>
            <a:bodyPr wrap="none" lIns="20048" tIns="28402" rIns="20048" bIns="28402"/>
            <a:lstStyle/>
            <a:p>
              <a:pPr algn="ctr">
                <a:lnSpc>
                  <a:spcPts val="1700"/>
                </a:lnSpc>
                <a:tabLst>
                  <a:tab pos="481157" algn="l"/>
                  <a:tab pos="962315" algn="l"/>
                  <a:tab pos="1443472" algn="l"/>
                </a:tabLst>
              </a:pPr>
              <a:r>
                <a:rPr lang="en-US" b="1" dirty="0">
                  <a:latin typeface="Whitney-Book" pitchFamily="50" charset="0"/>
                  <a:cs typeface="Whitney-Book" pitchFamily="50" charset="0"/>
                </a:rPr>
                <a:t>Number of</a:t>
              </a:r>
            </a:p>
            <a:p>
              <a:pPr algn="ctr">
                <a:lnSpc>
                  <a:spcPts val="1700"/>
                </a:lnSpc>
                <a:tabLst>
                  <a:tab pos="481157" algn="l"/>
                  <a:tab pos="962315" algn="l"/>
                  <a:tab pos="1443472" algn="l"/>
                </a:tabLst>
              </a:pPr>
              <a:r>
                <a:rPr lang="en-US" b="1" dirty="0">
                  <a:latin typeface="Whitney-Book" pitchFamily="50" charset="0"/>
                  <a:cs typeface="Whitney-Book" pitchFamily="50" charset="0"/>
                </a:rPr>
                <a:t>cars per week</a:t>
              </a:r>
            </a:p>
          </p:txBody>
        </p:sp>
        <p:sp>
          <p:nvSpPr>
            <p:cNvPr id="104" name="Line 11">
              <a:extLst>
                <a:ext uri="{FF2B5EF4-FFF2-40B4-BE49-F238E27FC236}">
                  <a16:creationId xmlns:a16="http://schemas.microsoft.com/office/drawing/2014/main" id="{2D13A4FD-F41A-D960-86D4-A41F1454BC30}"/>
                </a:ext>
              </a:extLst>
            </p:cNvPr>
            <p:cNvSpPr>
              <a:spLocks noChangeShapeType="1"/>
            </p:cNvSpPr>
            <p:nvPr/>
          </p:nvSpPr>
          <p:spPr bwMode="auto">
            <a:xfrm flipH="1">
              <a:off x="4871976" y="3727766"/>
              <a:ext cx="2885453" cy="633968"/>
            </a:xfrm>
            <a:prstGeom prst="line">
              <a:avLst/>
            </a:prstGeom>
            <a:noFill/>
            <a:ln w="34925">
              <a:solidFill>
                <a:schemeClr val="tx1"/>
              </a:solidFill>
              <a:round/>
              <a:headEnd type="none" w="sm" len="sm"/>
              <a:tailEnd type="stealth" w="med" len="lg"/>
            </a:ln>
            <a:effectLst/>
          </p:spPr>
          <p:txBody>
            <a:bodyPr wrap="none" lIns="96231" tIns="48116" rIns="96231" bIns="48116" anchor="ctr"/>
            <a:lstStyle/>
            <a:p>
              <a:endParaRPr lang="en-US" sz="3200" b="0">
                <a:latin typeface="Whitney-Book" pitchFamily="50" charset="0"/>
                <a:cs typeface="Whitney-Book" pitchFamily="50" charset="0"/>
              </a:endParaRPr>
            </a:p>
          </p:txBody>
        </p:sp>
      </p:grpSp>
      <p:sp>
        <p:nvSpPr>
          <p:cNvPr id="105" name="Rectangle 104"/>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Rectangle 105"/>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108" name="TextBox 107"/>
          <p:cNvSpPr txBox="1"/>
          <p:nvPr/>
        </p:nvSpPr>
        <p:spPr>
          <a:xfrm>
            <a:off x="11430000" y="6583680"/>
            <a:ext cx="548640" cy="292608"/>
          </a:xfrm>
          <a:prstGeom prst="rect">
            <a:avLst/>
          </a:prstGeom>
          <a:noFill/>
        </p:spPr>
        <p:txBody>
          <a:bodyPr wrap="square" lIns="0" tIns="0" rIns="0" bIns="0">
            <a:spAutoFit/>
          </a:bodyPr>
          <a:lstStyle/>
          <a:p>
            <a:pPr algn="r"/>
            <a:fld id="{AA016923-CF25-49AE-91F5-7E671F71DAB4}" type="slidenum">
              <a:rPr sz="1200" b="0" i="0">
                <a:solidFill>
                  <a:srgbClr val="555B66"/>
                </a:solidFill>
                <a:latin typeface="Calibri"/>
              </a:rPr>
              <a:t>5</a:t>
            </a:fld>
            <a:endParaRPr sz="1200" b="0" i="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par>
                                <p:cTn id="17" presetID="10"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par>
                                <p:cTn id="20" presetID="10" presetClass="entr" presetSubtype="0"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3"/>
                                        </p:tgtEl>
                                        <p:attrNameLst>
                                          <p:attrName>style.visibility</p:attrName>
                                        </p:attrNameLst>
                                      </p:cBhvr>
                                      <p:to>
                                        <p:strVal val="visible"/>
                                      </p:to>
                                    </p:set>
                                    <p:animEffect transition="in" filter="fade">
                                      <p:cBhvr>
                                        <p:cTn id="27" dur="500"/>
                                        <p:tgtEl>
                                          <p:spTgt spid="103"/>
                                        </p:tgtEl>
                                      </p:cBhvr>
                                    </p:animEffect>
                                  </p:childTnLst>
                                </p:cTn>
                              </p:par>
                              <p:par>
                                <p:cTn id="28" presetID="10" presetClass="entr" presetSubtype="0" fill="hold" nodeType="withEffect">
                                  <p:stCondLst>
                                    <p:cond delay="0"/>
                                  </p:stCondLst>
                                  <p:childTnLst>
                                    <p:set>
                                      <p:cBhvr>
                                        <p:cTn id="29" dur="1" fill="hold">
                                          <p:stCondLst>
                                            <p:cond delay="0"/>
                                          </p:stCondLst>
                                        </p:cTn>
                                        <p:tgtEl>
                                          <p:spTgt spid="102"/>
                                        </p:tgtEl>
                                        <p:attrNameLst>
                                          <p:attrName>style.visibility</p:attrName>
                                        </p:attrNameLst>
                                      </p:cBhvr>
                                      <p:to>
                                        <p:strVal val="visible"/>
                                      </p:to>
                                    </p:set>
                                    <p:animEffect transition="in" filter="fade">
                                      <p:cBhvr>
                                        <p:cTn id="30" dur="500"/>
                                        <p:tgtEl>
                                          <p:spTgt spid="102"/>
                                        </p:tgtEl>
                                      </p:cBhvr>
                                    </p:animEffect>
                                  </p:childTnLst>
                                </p:cTn>
                              </p:par>
                              <p:par>
                                <p:cTn id="31" presetID="10" presetClass="entr" presetSubtype="0" fill="hold" nodeType="withEffect">
                                  <p:stCondLst>
                                    <p:cond delay="0"/>
                                  </p:stCondLst>
                                  <p:childTnLst>
                                    <p:set>
                                      <p:cBhvr>
                                        <p:cTn id="32" dur="1" fill="hold">
                                          <p:stCondLst>
                                            <p:cond delay="0"/>
                                          </p:stCondLst>
                                        </p:cTn>
                                        <p:tgtEl>
                                          <p:spTgt spid="104"/>
                                        </p:tgtEl>
                                        <p:attrNameLst>
                                          <p:attrName>style.visibility</p:attrName>
                                        </p:attrNameLst>
                                      </p:cBhvr>
                                      <p:to>
                                        <p:strVal val="visible"/>
                                      </p:to>
                                    </p:set>
                                    <p:animEffect transition="in" filter="fade">
                                      <p:cBhvr>
                                        <p:cTn id="33" dur="500"/>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The Production Function</a:t>
            </a:r>
          </a:p>
        </p:txBody>
      </p:sp>
      <p:sp>
        <p:nvSpPr>
          <p:cNvPr id="4" name="TextBox 3"/>
          <p:cNvSpPr txBox="1"/>
          <p:nvPr/>
        </p:nvSpPr>
        <p:spPr>
          <a:xfrm>
            <a:off x="251999" y="502920"/>
            <a:ext cx="11687697" cy="492443"/>
          </a:xfrm>
          <a:prstGeom prst="rect">
            <a:avLst/>
          </a:prstGeom>
          <a:noFill/>
        </p:spPr>
        <p:txBody>
          <a:bodyPr wrap="square" lIns="0" tIns="0" rIns="0" bIns="0">
            <a:spAutoFit/>
          </a:bodyPr>
          <a:lstStyle/>
          <a:p>
            <a:pPr algn="l"/>
            <a:r>
              <a:rPr sz="3200" b="1" i="0" dirty="0">
                <a:solidFill>
                  <a:srgbClr val="0B2B4E"/>
                </a:solidFill>
                <a:latin typeface="Calibri"/>
              </a:rPr>
              <a:t>Plotting Total Output:  Q vs. L </a:t>
            </a:r>
            <a:r>
              <a:rPr lang="en-US" sz="3200" b="1" i="0" dirty="0">
                <a:solidFill>
                  <a:srgbClr val="0B2B4E"/>
                </a:solidFill>
                <a:latin typeface="Calibri"/>
              </a:rPr>
              <a:t>for</a:t>
            </a:r>
            <a:r>
              <a:rPr sz="3200" b="1" i="0" dirty="0">
                <a:solidFill>
                  <a:srgbClr val="0B2B4E"/>
                </a:solidFill>
                <a:latin typeface="Calibri"/>
              </a:rPr>
              <a:t> the </a:t>
            </a:r>
            <a:r>
              <a:rPr lang="en-US" sz="3200" b="1" i="0" dirty="0">
                <a:solidFill>
                  <a:srgbClr val="0B2B4E"/>
                </a:solidFill>
                <a:latin typeface="Calibri"/>
              </a:rPr>
              <a:t>Rivian </a:t>
            </a:r>
            <a:r>
              <a:rPr sz="3200" b="1" i="0" dirty="0">
                <a:solidFill>
                  <a:srgbClr val="0B2B4E"/>
                </a:solidFill>
                <a:latin typeface="Calibri"/>
              </a:rPr>
              <a:t>R1</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410358" y="1606526"/>
            <a:ext cx="7680960" cy="438912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Chart 7"/>
          <p:cNvGraphicFramePr>
            <a:graphicFrameLocks noGrp="1"/>
          </p:cNvGraphicFramePr>
          <p:nvPr>
            <p:extLst>
              <p:ext uri="{D42A27DB-BD31-4B8C-83A1-F6EECF244321}">
                <p14:modId xmlns:p14="http://schemas.microsoft.com/office/powerpoint/2010/main" val="961511563"/>
              </p:ext>
            </p:extLst>
          </p:nvPr>
        </p:nvGraphicFramePr>
        <p:xfrm>
          <a:off x="2410358" y="1606526"/>
          <a:ext cx="7680960" cy="4389120"/>
        </p:xfrm>
        <a:graphic>
          <a:graphicData uri="http://schemas.openxmlformats.org/drawingml/2006/chart">
            <c:chart xmlns:c="http://schemas.openxmlformats.org/drawingml/2006/chart" xmlns:r="http://schemas.openxmlformats.org/officeDocument/2006/relationships" r:id="rId3"/>
          </a:graphicData>
        </a:graphic>
      </p:graphicFrame>
      <p:sp>
        <p:nvSpPr>
          <p:cNvPr id="11" name="Rectangle 1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14" name="TextBox 13"/>
          <p:cNvSpPr txBox="1"/>
          <p:nvPr/>
        </p:nvSpPr>
        <p:spPr>
          <a:xfrm>
            <a:off x="11430000" y="6583680"/>
            <a:ext cx="548640" cy="292608"/>
          </a:xfrm>
          <a:prstGeom prst="rect">
            <a:avLst/>
          </a:prstGeom>
          <a:noFill/>
        </p:spPr>
        <p:txBody>
          <a:bodyPr wrap="square" lIns="0" tIns="0" rIns="0" bIns="0">
            <a:spAutoFit/>
          </a:bodyPr>
          <a:lstStyle/>
          <a:p>
            <a:pPr algn="r"/>
            <a:fld id="{4414083D-4111-4E6E-A5E9-392F3116D54D}" type="slidenum">
              <a:rPr sz="1200" b="0" i="0">
                <a:solidFill>
                  <a:srgbClr val="555B66"/>
                </a:solidFill>
                <a:latin typeface="Calibri"/>
              </a:rPr>
              <a:t>6</a:t>
            </a:fld>
            <a:endParaRPr sz="1200" b="0" i="0">
              <a:solidFill>
                <a:srgbClr val="555B66"/>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208</TotalTime>
  <Words>1190</Words>
  <Application>Microsoft Office PowerPoint</Application>
  <PresentationFormat>Widescreen</PresentationFormat>
  <Paragraphs>135</Paragraphs>
  <Slides>6</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Whitney-Book</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Voigtlaender, Nico</cp:lastModifiedBy>
  <cp:revision>53</cp:revision>
  <dcterms:created xsi:type="dcterms:W3CDTF">2013-01-27T09:14:16Z</dcterms:created>
  <dcterms:modified xsi:type="dcterms:W3CDTF">2026-08-27T05:53:27Z</dcterms:modified>
  <cp:category/>
</cp:coreProperties>
</file>