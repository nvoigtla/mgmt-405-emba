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5" r:id="rId2"/>
    <p:sldId id="266" r:id="rId3"/>
    <p:sldId id="267" r:id="rId4"/>
    <p:sldId id="26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24A93-ABCD-4C63-96F0-29849A91DE0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F47B3-DFFB-4987-AFFF-51E8AEAF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panel: the individual cartel member. Under competition the firm earns zero profit at the LAC minimum. At the cartel price P_Cartel, producing its quota q_Cartel earns the cartel profit — but at that price the firm would privately like to expand to q_Dev, where the price equals its marginal cost LMC, pocketing the extra profit from deviating. That temptation is why cartels are unstable.</a:t>
            </a:r>
          </a:p>
          <a:p>
            <a:r>
              <a:t>Right panel: the industry. Acting like a monopolist, the cartel restricts total output to Q_Cartel (where MR crosses the supply/MC curve) and the price rises above the competitive level at Q_C.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92024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0" b="1" i="0" u="none">
                <a:solidFill>
                  <a:srgbClr val="0B2B4E"/>
                </a:solidFill>
                <a:latin typeface="Calibri"/>
              </a:rPr>
              <a:t>Collusion and Cartels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71800"/>
            <a:ext cx="1219169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 u="none">
                <a:solidFill>
                  <a:srgbClr val="E09F3E"/>
                </a:solidFill>
                <a:latin typeface="Calibri"/>
              </a:rPr>
              <a:t>Module 7  ·  Video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047" y="3913632"/>
            <a:ext cx="3657600" cy="54864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4224528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 u="none">
                <a:solidFill>
                  <a:srgbClr val="555B66"/>
                </a:solidFill>
                <a:latin typeface="Calibri"/>
              </a:rPr>
              <a:t>Management 405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64608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0" u="none">
                <a:solidFill>
                  <a:srgbClr val="555B66"/>
                </a:solidFill>
                <a:latin typeface="Calibri"/>
              </a:rPr>
              <a:t>Prof. Nico Voigtländer  ·  UCLA Anderson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7 · Video 2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Outline of Module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" y="1282640"/>
            <a:ext cx="466344" cy="46634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0" y="1410656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01146"/>
            <a:ext cx="829360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Introduction to Oligopoly and Game Theory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86144"/>
            <a:ext cx="11109960" cy="726948"/>
          </a:xfrm>
          <a:prstGeom prst="roundRect">
            <a:avLst>
              <a:gd name="adj" fmla="val 35000"/>
            </a:avLst>
          </a:prstGeom>
          <a:solidFill>
            <a:srgbClr val="FDF6E6"/>
          </a:solidFill>
          <a:ln w="12700">
            <a:solidFill>
              <a:srgbClr val="E09F3E"/>
            </a:solidFill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" y="1950152"/>
            <a:ext cx="466344" cy="46634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0B2B4E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2078168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09F3E"/>
          </a:solidFill>
          <a:ln>
            <a:noFill/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2B4E"/>
                </a:solidFill>
                <a:latin typeface="Calibri"/>
              </a:rPr>
              <a:t>Video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931864"/>
            <a:ext cx="829360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0B2B4E"/>
                </a:solidFill>
                <a:latin typeface="Calibri"/>
              </a:rPr>
              <a:t>Collusion and Cartels</a:t>
            </a:r>
          </a:p>
          <a:p>
            <a:pPr algn="l">
              <a:spcBef>
                <a:spcPts val="0"/>
              </a:spcBef>
              <a:buNone/>
            </a:pPr>
            <a:r>
              <a:rPr sz="2000">
                <a:solidFill>
                  <a:srgbClr val="555B66"/>
                </a:solidFill>
                <a:latin typeface="Calibri"/>
              </a:rPr>
              <a:t>Why firms are tempted to collude, and how cartels can break down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617664"/>
            <a:ext cx="466344" cy="46634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45680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736170"/>
            <a:ext cx="829360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Cournot Competition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3285176"/>
            <a:ext cx="466344" cy="46634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3413192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403682"/>
            <a:ext cx="829360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Bertrand Competition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3952688"/>
            <a:ext cx="466344" cy="46634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080704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071194"/>
            <a:ext cx="8293609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Bertrand Competition with Differentiated Goods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4711640"/>
            <a:ext cx="466344" cy="466344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500" b="1">
                <a:solidFill>
                  <a:srgbClr val="BFBFBF"/>
                </a:solidFill>
                <a:latin typeface="Calibri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4741163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693352"/>
            <a:ext cx="8293609" cy="424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5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21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500" b="1">
                <a:solidFill>
                  <a:srgbClr val="BFBFBF"/>
                </a:solidFill>
                <a:latin typeface="Calibri"/>
              </a:rPr>
              <a:t>Game Theory</a:t>
            </a:r>
          </a:p>
        </p:txBody>
      </p:sp>
      <p:sp>
        <p:nvSpPr>
          <p:cNvPr id="26" name="Oval 25"/>
          <p:cNvSpPr/>
          <p:nvPr/>
        </p:nvSpPr>
        <p:spPr>
          <a:xfrm>
            <a:off x="1481328" y="5218743"/>
            <a:ext cx="384048" cy="384048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BFBFBF"/>
                </a:solidFill>
                <a:latin typeface="Calibri"/>
              </a:rPr>
              <a:t>6a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07625" y="5310183"/>
            <a:ext cx="1042415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1" y="5300673"/>
            <a:ext cx="8458202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 b="1">
                <a:solidFill>
                  <a:srgbClr val="BFBFBF"/>
                </a:solidFill>
                <a:latin typeface="Calibri"/>
              </a:rPr>
              <a:t>Strategic Thinking: Key Concepts</a:t>
            </a:r>
          </a:p>
        </p:txBody>
      </p:sp>
      <p:sp>
        <p:nvSpPr>
          <p:cNvPr id="29" name="Oval 28"/>
          <p:cNvSpPr/>
          <p:nvPr/>
        </p:nvSpPr>
        <p:spPr>
          <a:xfrm>
            <a:off x="1481328" y="5886255"/>
            <a:ext cx="384048" cy="384048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BFBFBF"/>
                </a:solidFill>
                <a:latin typeface="Calibri"/>
              </a:rPr>
              <a:t>6b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07625" y="5977695"/>
            <a:ext cx="1042415" cy="329184"/>
          </a:xfrm>
          <a:prstGeom prst="roundRect">
            <a:avLst>
              <a:gd name="adj" fmla="val 3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 class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7  ·  Oligopoly and Game Theory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408EAED5-32D5-5D1E-A747-5C08135AC7E5}" type="slidenum">
              <a:rPr lang="en-US" sz="1200" dirty="0">
                <a:solidFill>
                  <a:srgbClr val="555B66"/>
                </a:solidFill>
                <a:latin typeface="Calibri"/>
              </a:rPr>
              <a:t>2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84831" y="5968185"/>
            <a:ext cx="8458202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342900" indent="-342900">
              <a:spcBef>
                <a:spcPts val="0"/>
              </a:spcBef>
              <a:buClr>
                <a:srgbClr val="0B2B4E"/>
              </a:buClr>
              <a:buFont typeface="Calibri"/>
              <a:buChar char="▪"/>
              <a:defRPr sz="2200" b="0">
                <a:solidFill>
                  <a:srgbClr val="0B2B4E"/>
                </a:solidFill>
                <a:latin typeface="Calibri"/>
              </a:defRPr>
            </a:lvl1pPr>
            <a:lvl2pPr marL="685800" indent="-228600">
              <a:spcBef>
                <a:spcPts val="300"/>
              </a:spcBef>
              <a:buClr>
                <a:srgbClr val="555B66"/>
              </a:buClr>
              <a:buFont typeface="Calibri"/>
              <a:buChar char="–"/>
              <a:defRPr sz="1800" b="0">
                <a:solidFill>
                  <a:srgbClr val="555B66"/>
                </a:solidFill>
                <a:latin typeface="Calibri"/>
              </a:defRPr>
            </a:lvl2pPr>
          </a:lstStyle>
          <a:p>
            <a:pPr algn="l">
              <a:buNone/>
            </a:pPr>
            <a:r>
              <a:rPr sz="2200" b="1">
                <a:solidFill>
                  <a:srgbClr val="BFBFBF"/>
                </a:solidFill>
                <a:latin typeface="Calibri"/>
              </a:rPr>
              <a:t>Prisoner’s Dilemma, Game of Chicken…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7 · Video 2 · Collusion and Cartels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Collusion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DefCard 10"/>
          <p:cNvGrpSpPr/>
          <p:nvPr/>
        </p:nvGrpSpPr>
        <p:grpSpPr>
          <a:xfrm>
            <a:off x="344271" y="1304848"/>
            <a:ext cx="6815480" cy="2934675"/>
            <a:chOff x="344271" y="1304848"/>
            <a:chExt cx="6815480" cy="2934675"/>
          </a:xfrm>
        </p:grpSpPr>
        <p:sp>
          <p:nvSpPr>
            <p:cNvPr id="7" name="Rounded Rectangle 6"/>
            <p:cNvSpPr/>
            <p:nvPr/>
          </p:nvSpPr>
          <p:spPr>
            <a:xfrm>
              <a:off x="344271" y="1304848"/>
              <a:ext cx="6815480" cy="293467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0B2B4E"/>
              </a:solidFill>
            </a:ln>
            <a:effectLst>
              <a:outerShdw blurRad="50800" dist="38100" dir="2700000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23676" y="1490197"/>
              <a:ext cx="3587191" cy="4114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2400" b="1" i="0" u="none">
                  <a:solidFill>
                    <a:srgbClr val="E09F3E"/>
                  </a:solidFill>
                  <a:latin typeface="Calibri"/>
                </a:rPr>
                <a:t>Definition of Collusion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93776" y="2093976"/>
              <a:ext cx="6516563" cy="2070110"/>
            </a:xfrm>
            <a:prstGeom prst="roundRect">
              <a:avLst>
                <a:gd name="adj" fmla="val 8000"/>
              </a:avLst>
            </a:prstGeom>
            <a:solidFill>
              <a:srgbClr val="0B2B4E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400" b="1" dirty="0">
                  <a:solidFill>
                    <a:srgbClr val="FFFFFF"/>
                  </a:solidFill>
                  <a:latin typeface="Calibri"/>
                </a:rPr>
                <a:t>Firms in an oligopoly coordinate their production and pricing decisions.</a:t>
              </a:r>
            </a:p>
            <a:p>
              <a:pPr algn="ctr">
                <a:spcBef>
                  <a:spcPts val="1200"/>
                </a:spcBef>
              </a:pPr>
              <a:r>
                <a:rPr sz="2400" b="1" dirty="0">
                  <a:solidFill>
                    <a:srgbClr val="FFFFFF"/>
                  </a:solidFill>
                  <a:latin typeface="Calibri"/>
                </a:rPr>
                <a:t>Aim: collectively act as a monopolist to gain monopoly profits and split th</a:t>
              </a:r>
              <a:r>
                <a:rPr lang="en-US" sz="2400" b="1" dirty="0">
                  <a:solidFill>
                    <a:srgbClr val="FFFFFF"/>
                  </a:solidFill>
                  <a:latin typeface="Calibri"/>
                </a:rPr>
                <a:t>ose</a:t>
              </a:r>
              <a:r>
                <a:rPr sz="2400" b="1" dirty="0">
                  <a:solidFill>
                    <a:srgbClr val="FFFFFF"/>
                  </a:solidFill>
                  <a:latin typeface="Calibri"/>
                </a:rPr>
                <a:t>.</a:t>
              </a:r>
            </a:p>
          </p:txBody>
        </p:sp>
      </p:grpSp>
      <p:grpSp>
        <p:nvGrpSpPr>
          <p:cNvPr id="13" name="QuoteCard 13"/>
          <p:cNvGrpSpPr/>
          <p:nvPr/>
        </p:nvGrpSpPr>
        <p:grpSpPr>
          <a:xfrm>
            <a:off x="1103680" y="4718304"/>
            <a:ext cx="5297119" cy="1340510"/>
            <a:chOff x="1103680" y="4718304"/>
            <a:chExt cx="5297119" cy="1340510"/>
          </a:xfrm>
        </p:grpSpPr>
        <p:sp>
          <p:nvSpPr>
            <p:cNvPr id="11" name="Rounded Rectangle 10"/>
            <p:cNvSpPr/>
            <p:nvPr/>
          </p:nvSpPr>
          <p:spPr>
            <a:xfrm>
              <a:off x="1103680" y="4718304"/>
              <a:ext cx="5297119" cy="134051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E09F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95120" y="4827117"/>
              <a:ext cx="5113324" cy="1111910"/>
            </a:xfrm>
            <a:prstGeom prst="rect">
              <a:avLst/>
            </a:prstGeom>
            <a:noFill/>
          </p:spPr>
          <p:txBody>
            <a:bodyPr wrap="square" lIns="45720" tIns="0" rIns="45720" bIns="0" anchor="ctr">
              <a:spAutoFit/>
            </a:bodyPr>
            <a:lstStyle/>
            <a:p>
              <a:pPr algn="ctr"/>
              <a:r>
                <a:rPr sz="2000" b="0" i="1" u="none">
                  <a:solidFill>
                    <a:srgbClr val="0B2B4E"/>
                  </a:solidFill>
                  <a:latin typeface="Calibri"/>
                </a:rPr>
                <a:t>“People of the same trade seldom meet together, even for merriment and diversion, but … in some contrivance to raise prices.”</a:t>
              </a:r>
            </a:p>
            <a:p>
              <a:pPr algn="ctr"/>
              <a:r>
                <a:rPr sz="1700" b="1" i="0" u="none">
                  <a:solidFill>
                    <a:srgbClr val="555B66"/>
                  </a:solidFill>
                  <a:latin typeface="Calibri"/>
                </a:rPr>
                <a:t>— Adam Smith (1723–1790)</a:t>
              </a:r>
            </a:p>
          </p:txBody>
        </p:sp>
      </p:grpSp>
      <p:pic>
        <p:nvPicPr>
          <p:cNvPr id="14" name="Picture 13" descr="collusion_among_competi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345996"/>
            <a:ext cx="3694176" cy="4947818"/>
          </a:xfrm>
          <a:prstGeom prst="roundRect">
            <a:avLst>
              <a:gd name="adj" fmla="val 8000"/>
            </a:avLst>
          </a:prstGeom>
          <a:effectLst>
            <a:outerShdw blurRad="50800" dist="381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7  ·  Oligopoly and Game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3843DC09-F274-5E11-9C69-682DB5F85E15}" type="slidenum">
              <a:rPr lang="en-US" sz="1200" dirty="0">
                <a:solidFill>
                  <a:srgbClr val="555B66"/>
                </a:solidFill>
                <a:latin typeface="Calibri"/>
              </a:rPr>
              <a:t>3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1999" y="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Calibri"/>
              </a:rPr>
              <a:t>Module 7 · Video 2 · Collusion and Cartels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502920"/>
            <a:ext cx="11687697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u="none">
                <a:solidFill>
                  <a:srgbClr val="0B2B4E"/>
                </a:solidFill>
                <a:latin typeface="Calibri"/>
              </a:rPr>
              <a:t>Cartels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999" y="1143000"/>
            <a:ext cx="11687697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999" y="112928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307592"/>
            <a:ext cx="11594592" cy="4069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39903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 u="none">
                <a:solidFill>
                  <a:srgbClr val="0B2B4E"/>
                </a:solidFill>
                <a:latin typeface="Calibri"/>
              </a:rPr>
              <a:t>Individual Sellers</a:t>
            </a:r>
          </a:p>
        </p:txBody>
      </p:sp>
      <p:cxnSp>
        <p:nvCxnSpPr>
          <p:cNvPr id="9" name="sdaxis:y"/>
          <p:cNvCxnSpPr/>
          <p:nvPr/>
        </p:nvCxnSpPr>
        <p:spPr>
          <a:xfrm flipV="1">
            <a:off x="1234440" y="1709928"/>
            <a:ext cx="0" cy="3291840"/>
          </a:xfrm>
          <a:prstGeom prst="line">
            <a:avLst/>
          </a:prstGeom>
          <a:ln w="25400">
            <a:solidFill>
              <a:srgbClr val="0B2B4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axis:x"/>
          <p:cNvCxnSpPr/>
          <p:nvPr/>
        </p:nvCxnSpPr>
        <p:spPr>
          <a:xfrm>
            <a:off x="1234440" y="5001768"/>
            <a:ext cx="4142232" cy="0"/>
          </a:xfrm>
          <a:prstGeom prst="line">
            <a:avLst/>
          </a:prstGeom>
          <a:ln w="25400">
            <a:solidFill>
              <a:srgbClr val="0B2B4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axistitle:y"/>
          <p:cNvSpPr txBox="1"/>
          <p:nvPr/>
        </p:nvSpPr>
        <p:spPr>
          <a:xfrm>
            <a:off x="1027938" y="1570482"/>
            <a:ext cx="133350" cy="2788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 i="1" u="none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12" name="sdaxistitle:x"/>
          <p:cNvSpPr txBox="1"/>
          <p:nvPr/>
        </p:nvSpPr>
        <p:spPr>
          <a:xfrm>
            <a:off x="5314759" y="5047488"/>
            <a:ext cx="123824" cy="2788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 i="1" u="none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267712" y="2404872"/>
            <a:ext cx="2304288" cy="2532888"/>
          </a:xfrm>
          <a:prstGeom prst="line">
            <a:avLst/>
          </a:prstGeom>
          <a:ln w="28575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0" y="2084831"/>
            <a:ext cx="4351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u="none">
                <a:solidFill>
                  <a:srgbClr val="0B2B4E"/>
                </a:solidFill>
                <a:latin typeface="Calibri"/>
              </a:rPr>
              <a:t>LMC</a:t>
            </a:r>
          </a:p>
        </p:txBody>
      </p:sp>
      <p:sp>
        <p:nvSpPr>
          <p:cNvPr id="9001" name="BezierCurve9001"/>
          <p:cNvSpPr/>
          <p:nvPr/>
        </p:nvSpPr>
        <p:spPr>
          <a:xfrm>
            <a:off x="1847088" y="2898648"/>
            <a:ext cx="3310128" cy="969264"/>
          </a:xfrm>
          <a:custGeom>
            <a:avLst/>
            <a:gdLst/>
            <a:ahLst/>
            <a:cxnLst/>
            <a:rect l="0" t="0" r="3310128" b="969264"/>
            <a:pathLst>
              <a:path w="3310128" h="969264" fill="none">
                <a:moveTo>
                  <a:pt x="0" y="73152"/>
                </a:moveTo>
                <a:cubicBezTo>
                  <a:pt x="438912" y="667512"/>
                  <a:pt x="804672" y="969264"/>
                  <a:pt x="1444752" y="969264"/>
                </a:cubicBezTo>
                <a:cubicBezTo>
                  <a:pt x="2267712" y="969264"/>
                  <a:pt x="2816352" y="484632"/>
                  <a:pt x="3310128" y="0"/>
                </a:cubicBezTo>
              </a:path>
            </a:pathLst>
          </a:custGeom>
          <a:noFill/>
          <a:ln w="28575" cap="rnd">
            <a:solidFill>
              <a:srgbClr val="E09F3E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002" name="TextBox 9001"/>
          <p:cNvSpPr txBox="1"/>
          <p:nvPr/>
        </p:nvSpPr>
        <p:spPr>
          <a:xfrm>
            <a:off x="5175504" y="2660904"/>
            <a:ext cx="38747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u="none">
                <a:solidFill>
                  <a:srgbClr val="E09F3E"/>
                </a:solidFill>
                <a:latin typeface="Calibri"/>
              </a:rPr>
              <a:t>LAC</a:t>
            </a:r>
          </a:p>
        </p:txBody>
      </p:sp>
      <p:grpSp>
        <p:nvGrpSpPr>
          <p:cNvPr id="9005" name="PCartelLine 9005"/>
          <p:cNvGrpSpPr/>
          <p:nvPr/>
        </p:nvGrpSpPr>
        <p:grpSpPr>
          <a:xfrm>
            <a:off x="219456" y="2862072"/>
            <a:ext cx="4873752" cy="329184"/>
            <a:chOff x="219456" y="2862072"/>
            <a:chExt cx="4873752" cy="329184"/>
          </a:xfrm>
        </p:grpSpPr>
        <p:cxnSp>
          <p:nvCxnSpPr>
            <p:cNvPr id="9003" name="Connector 9002"/>
            <p:cNvCxnSpPr/>
            <p:nvPr/>
          </p:nvCxnSpPr>
          <p:spPr>
            <a:xfrm>
              <a:off x="1234440" y="3026664"/>
              <a:ext cx="3858768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04" name="TextBox 9003"/>
                <p:cNvSpPr txBox="1"/>
                <p:nvPr/>
              </p:nvSpPr>
              <p:spPr>
                <a:xfrm>
                  <a:off x="219456" y="2862072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0070C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Cartel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04" name="TextBox 90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456" y="2862072"/>
                  <a:ext cx="1005840" cy="3291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09" name="PCompLine 9009"/>
          <p:cNvGrpSpPr/>
          <p:nvPr/>
        </p:nvGrpSpPr>
        <p:grpSpPr>
          <a:xfrm>
            <a:off x="219456" y="3721608"/>
            <a:ext cx="5079492" cy="329184"/>
            <a:chOff x="219456" y="3721608"/>
            <a:chExt cx="5079492" cy="329184"/>
          </a:xfrm>
        </p:grpSpPr>
        <p:cxnSp>
          <p:nvCxnSpPr>
            <p:cNvPr id="9006" name="Connector 9005"/>
            <p:cNvCxnSpPr/>
            <p:nvPr/>
          </p:nvCxnSpPr>
          <p:spPr>
            <a:xfrm>
              <a:off x="1234440" y="3886200"/>
              <a:ext cx="3858768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07" name="TextBox 9006"/>
            <p:cNvSpPr txBox="1"/>
            <p:nvPr/>
          </p:nvSpPr>
          <p:spPr>
            <a:xfrm>
              <a:off x="5111496" y="3767328"/>
              <a:ext cx="187452" cy="2743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600" b="1" i="1" u="none">
                  <a:solidFill>
                    <a:srgbClr val="C00000"/>
                  </a:solidFill>
                  <a:latin typeface="Calibri"/>
                </a:rPr>
                <a:t>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08" name="TextBox 9007"/>
                <p:cNvSpPr txBox="1"/>
                <p:nvPr/>
              </p:nvSpPr>
              <p:spPr>
                <a:xfrm>
                  <a:off x="219456" y="3721608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C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Comp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08" name="TextBox 90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456" y="3721608"/>
                  <a:ext cx="1005840" cy="329184"/>
                </a:xfrm>
                <a:prstGeom prst="rect">
                  <a:avLst/>
                </a:prstGeom>
                <a:blipFill>
                  <a:blip r:embed="rId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12" name="QCartelGuide 9012"/>
          <p:cNvGrpSpPr/>
          <p:nvPr/>
        </p:nvGrpSpPr>
        <p:grpSpPr>
          <a:xfrm>
            <a:off x="2066543" y="3026664"/>
            <a:ext cx="1005840" cy="2331720"/>
            <a:chOff x="2066543" y="3026664"/>
            <a:chExt cx="1005840" cy="2331720"/>
          </a:xfrm>
        </p:grpSpPr>
        <p:cxnSp>
          <p:nvCxnSpPr>
            <p:cNvPr id="9010" name="Connector 9009"/>
            <p:cNvCxnSpPr/>
            <p:nvPr/>
          </p:nvCxnSpPr>
          <p:spPr>
            <a:xfrm>
              <a:off x="2505456" y="3026664"/>
              <a:ext cx="0" cy="1965960"/>
            </a:xfrm>
            <a:prstGeom prst="line">
              <a:avLst/>
            </a:prstGeom>
            <a:ln w="12700">
              <a:solidFill>
                <a:srgbClr val="555B6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11" name="TextBox 9010"/>
                <p:cNvSpPr txBox="1"/>
                <p:nvPr/>
              </p:nvSpPr>
              <p:spPr>
                <a:xfrm>
                  <a:off x="2066543" y="5029200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0B2B4E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0B2B4E"/>
                                </a:solidFill>
                                <a:latin typeface="Cambria Math"/>
                              </a:rPr>
                              <m:t>Cartel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11" name="TextBox 90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6543" y="5029200"/>
                  <a:ext cx="1005840" cy="329184"/>
                </a:xfrm>
                <a:prstGeom prst="rect">
                  <a:avLst/>
                </a:prstGeom>
                <a:blipFill>
                  <a:blip r:embed="rId5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15" name="QDevGuide 9015"/>
          <p:cNvGrpSpPr/>
          <p:nvPr/>
        </p:nvGrpSpPr>
        <p:grpSpPr>
          <a:xfrm>
            <a:off x="3557016" y="3026664"/>
            <a:ext cx="1005840" cy="2331720"/>
            <a:chOff x="3557016" y="3026664"/>
            <a:chExt cx="1005840" cy="2331720"/>
          </a:xfrm>
        </p:grpSpPr>
        <p:cxnSp>
          <p:nvCxnSpPr>
            <p:cNvPr id="9013" name="Connector 9012"/>
            <p:cNvCxnSpPr/>
            <p:nvPr/>
          </p:nvCxnSpPr>
          <p:spPr>
            <a:xfrm>
              <a:off x="3995928" y="3026664"/>
              <a:ext cx="0" cy="1965960"/>
            </a:xfrm>
            <a:prstGeom prst="line">
              <a:avLst/>
            </a:prstGeom>
            <a:ln w="12700">
              <a:solidFill>
                <a:srgbClr val="555B6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14" name="TextBox 9013"/>
                <p:cNvSpPr txBox="1"/>
                <p:nvPr/>
              </p:nvSpPr>
              <p:spPr>
                <a:xfrm>
                  <a:off x="3557016" y="5029200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0B2B4E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0B2B4E"/>
                                </a:solidFill>
                                <a:latin typeface="Cambria Math"/>
                              </a:rPr>
                              <m:t>Dev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14" name="TextBox 90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7016" y="5029200"/>
                  <a:ext cx="1005840" cy="329184"/>
                </a:xfrm>
                <a:prstGeom prst="rect">
                  <a:avLst/>
                </a:prstGeom>
                <a:blipFill>
                  <a:blip r:embed="rId6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19" name="ProfitRegion 9019"/>
          <p:cNvGrpSpPr/>
          <p:nvPr/>
        </p:nvGrpSpPr>
        <p:grpSpPr>
          <a:xfrm>
            <a:off x="1234440" y="2258568"/>
            <a:ext cx="1271016" cy="1362456"/>
            <a:chOff x="1234440" y="2258568"/>
            <a:chExt cx="1271016" cy="1362456"/>
          </a:xfrm>
        </p:grpSpPr>
        <p:sp>
          <p:nvSpPr>
            <p:cNvPr id="9016" name="Rectangle 9015"/>
            <p:cNvSpPr/>
            <p:nvPr/>
          </p:nvSpPr>
          <p:spPr>
            <a:xfrm>
              <a:off x="1234440" y="3026664"/>
              <a:ext cx="1271016" cy="594360"/>
            </a:xfrm>
            <a:prstGeom prst="rect">
              <a:avLst/>
            </a:prstGeom>
            <a:solidFill>
              <a:srgbClr val="0070C0">
                <a:alpha val="2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17" name="TextBox 9016"/>
            <p:cNvSpPr txBox="1"/>
            <p:nvPr/>
          </p:nvSpPr>
          <p:spPr>
            <a:xfrm>
              <a:off x="1298448" y="2258568"/>
              <a:ext cx="977265" cy="49377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600" b="1" i="0" u="none">
                  <a:solidFill>
                    <a:srgbClr val="0070C0"/>
                  </a:solidFill>
                  <a:latin typeface="Calibri"/>
                </a:rPr>
                <a:t>Profit
with cartel</a:t>
              </a:r>
            </a:p>
          </p:txBody>
        </p:sp>
        <p:cxnSp>
          <p:nvCxnSpPr>
            <p:cNvPr id="9018" name="Connector 9017"/>
            <p:cNvCxnSpPr/>
            <p:nvPr/>
          </p:nvCxnSpPr>
          <p:spPr>
            <a:xfrm flipH="1">
              <a:off x="1572768" y="2787687"/>
              <a:ext cx="139144" cy="522441"/>
            </a:xfrm>
            <a:prstGeom prst="line">
              <a:avLst/>
            </a:prstGeom>
            <a:ln w="12700">
              <a:solidFill>
                <a:srgbClr val="0070C0"/>
              </a:solidFill>
              <a:tailEnd type="triangle" w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23" name="ExtraProfitRegion 9023"/>
          <p:cNvGrpSpPr/>
          <p:nvPr/>
        </p:nvGrpSpPr>
        <p:grpSpPr>
          <a:xfrm>
            <a:off x="2505456" y="2258568"/>
            <a:ext cx="1490472" cy="1481328"/>
            <a:chOff x="2505456" y="2258568"/>
            <a:chExt cx="1490472" cy="1481328"/>
          </a:xfrm>
        </p:grpSpPr>
        <p:sp>
          <p:nvSpPr>
            <p:cNvPr id="9020" name="Rectangle 9019"/>
            <p:cNvSpPr/>
            <p:nvPr/>
          </p:nvSpPr>
          <p:spPr>
            <a:xfrm>
              <a:off x="2505456" y="3026664"/>
              <a:ext cx="1490472" cy="713232"/>
            </a:xfrm>
            <a:prstGeom prst="rect">
              <a:avLst/>
            </a:prstGeom>
            <a:solidFill>
              <a:srgbClr val="0070C0">
                <a:alpha val="4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21" name="TextBox 9020"/>
            <p:cNvSpPr txBox="1"/>
            <p:nvPr/>
          </p:nvSpPr>
          <p:spPr>
            <a:xfrm>
              <a:off x="2542032" y="2258568"/>
              <a:ext cx="1367790" cy="49377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600" b="1" i="0" u="none">
                  <a:solidFill>
                    <a:srgbClr val="0070C0"/>
                  </a:solidFill>
                  <a:latin typeface="Calibri"/>
                </a:rPr>
                <a:t>Extra Profit
when deviating</a:t>
              </a:r>
            </a:p>
          </p:txBody>
        </p:sp>
        <p:cxnSp>
          <p:nvCxnSpPr>
            <p:cNvPr id="9022" name="Connector 9021"/>
            <p:cNvCxnSpPr/>
            <p:nvPr/>
          </p:nvCxnSpPr>
          <p:spPr>
            <a:xfrm flipH="1">
              <a:off x="3063240" y="2788194"/>
              <a:ext cx="105523" cy="521934"/>
            </a:xfrm>
            <a:prstGeom prst="line">
              <a:avLst/>
            </a:prstGeom>
            <a:ln w="12700">
              <a:solidFill>
                <a:srgbClr val="0070C0"/>
              </a:solidFill>
              <a:tailEnd type="triangle" w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28" name="QCompZero 9028"/>
          <p:cNvGrpSpPr/>
          <p:nvPr/>
        </p:nvGrpSpPr>
        <p:grpSpPr>
          <a:xfrm>
            <a:off x="2779776" y="3886200"/>
            <a:ext cx="2914269" cy="1472184"/>
            <a:chOff x="2779776" y="3886200"/>
            <a:chExt cx="2914269" cy="1472184"/>
          </a:xfrm>
        </p:grpSpPr>
        <p:cxnSp>
          <p:nvCxnSpPr>
            <p:cNvPr id="9024" name="Connector 9023"/>
            <p:cNvCxnSpPr/>
            <p:nvPr/>
          </p:nvCxnSpPr>
          <p:spPr>
            <a:xfrm>
              <a:off x="3218688" y="3886200"/>
              <a:ext cx="0" cy="1106424"/>
            </a:xfrm>
            <a:prstGeom prst="line">
              <a:avLst/>
            </a:prstGeom>
            <a:ln w="12700">
              <a:solidFill>
                <a:srgbClr val="555B6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25" name="TextBox 9024"/>
                <p:cNvSpPr txBox="1"/>
                <p:nvPr/>
              </p:nvSpPr>
              <p:spPr>
                <a:xfrm>
                  <a:off x="2779776" y="5029200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0B2B4E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0B2B4E"/>
                                </a:solidFill>
                                <a:latin typeface="Cambria Math"/>
                              </a:rPr>
                              <m:t>Comp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25" name="TextBox 90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776" y="5029200"/>
                  <a:ext cx="1005840" cy="329184"/>
                </a:xfrm>
                <a:prstGeom prst="rect">
                  <a:avLst/>
                </a:prstGeom>
                <a:blipFill>
                  <a:blip r:embed="rId7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26" name="TextBox 9025"/>
            <p:cNvSpPr txBox="1"/>
            <p:nvPr/>
          </p:nvSpPr>
          <p:spPr>
            <a:xfrm>
              <a:off x="4069080" y="4133087"/>
              <a:ext cx="1624965" cy="49377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600" b="1" i="0" u="none">
                  <a:solidFill>
                    <a:srgbClr val="C00000"/>
                  </a:solidFill>
                  <a:latin typeface="Calibri"/>
                </a:rPr>
                <a:t>Zero profit
under competition</a:t>
              </a:r>
            </a:p>
          </p:txBody>
        </p:sp>
        <p:cxnSp>
          <p:nvCxnSpPr>
            <p:cNvPr id="9027" name="Connector 9026"/>
            <p:cNvCxnSpPr/>
            <p:nvPr/>
          </p:nvCxnSpPr>
          <p:spPr>
            <a:xfrm flipH="1" flipV="1">
              <a:off x="3273552" y="3941063"/>
              <a:ext cx="760242" cy="207511"/>
            </a:xfrm>
            <a:prstGeom prst="line">
              <a:avLst/>
            </a:prstGeom>
            <a:ln w="12700">
              <a:solidFill>
                <a:srgbClr val="C00000"/>
              </a:solidFill>
              <a:tailEnd type="triangle" w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29" name="TextBox 9028"/>
          <p:cNvSpPr txBox="1"/>
          <p:nvPr/>
        </p:nvSpPr>
        <p:spPr>
          <a:xfrm>
            <a:off x="7141464" y="1417320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 u="none">
                <a:solidFill>
                  <a:srgbClr val="0B2B4E"/>
                </a:solidFill>
                <a:latin typeface="Calibri"/>
              </a:rPr>
              <a:t>Group/Industry</a:t>
            </a:r>
          </a:p>
        </p:txBody>
      </p:sp>
      <p:cxnSp>
        <p:nvCxnSpPr>
          <p:cNvPr id="9030" name="sdaxis:y"/>
          <p:cNvCxnSpPr/>
          <p:nvPr/>
        </p:nvCxnSpPr>
        <p:spPr>
          <a:xfrm flipV="1">
            <a:off x="7086600" y="1709928"/>
            <a:ext cx="0" cy="3291840"/>
          </a:xfrm>
          <a:prstGeom prst="line">
            <a:avLst/>
          </a:prstGeom>
          <a:ln w="25400">
            <a:solidFill>
              <a:srgbClr val="0B2B4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1" name="sdaxis:x"/>
          <p:cNvCxnSpPr/>
          <p:nvPr/>
        </p:nvCxnSpPr>
        <p:spPr>
          <a:xfrm>
            <a:off x="7086600" y="5001768"/>
            <a:ext cx="4142232" cy="0"/>
          </a:xfrm>
          <a:prstGeom prst="line">
            <a:avLst/>
          </a:prstGeom>
          <a:ln w="25400">
            <a:solidFill>
              <a:srgbClr val="0B2B4E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2" name="sdaxistitle:y"/>
          <p:cNvSpPr txBox="1"/>
          <p:nvPr/>
        </p:nvSpPr>
        <p:spPr>
          <a:xfrm>
            <a:off x="6880098" y="1570482"/>
            <a:ext cx="133350" cy="2788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 i="1" u="none">
                <a:solidFill>
                  <a:srgbClr val="0B2B4E"/>
                </a:solidFill>
                <a:latin typeface="Calibri"/>
              </a:rPr>
              <a:t>P</a:t>
            </a:r>
          </a:p>
        </p:txBody>
      </p:sp>
      <p:sp>
        <p:nvSpPr>
          <p:cNvPr id="9033" name="sdaxistitle:x"/>
          <p:cNvSpPr txBox="1"/>
          <p:nvPr/>
        </p:nvSpPr>
        <p:spPr>
          <a:xfrm>
            <a:off x="11152631" y="5047488"/>
            <a:ext cx="152400" cy="2788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 i="1" u="none">
                <a:solidFill>
                  <a:srgbClr val="0B2B4E"/>
                </a:solidFill>
                <a:latin typeface="Calibri"/>
              </a:rPr>
              <a:t>Q</a:t>
            </a:r>
          </a:p>
        </p:txBody>
      </p:sp>
      <p:cxnSp>
        <p:nvCxnSpPr>
          <p:cNvPr id="9034" name="Connector 9033"/>
          <p:cNvCxnSpPr/>
          <p:nvPr/>
        </p:nvCxnSpPr>
        <p:spPr>
          <a:xfrm>
            <a:off x="7242048" y="2212848"/>
            <a:ext cx="3392424" cy="2624328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5" name="TextBox 9034"/>
          <p:cNvSpPr txBox="1"/>
          <p:nvPr/>
        </p:nvSpPr>
        <p:spPr>
          <a:xfrm>
            <a:off x="10625328" y="4553712"/>
            <a:ext cx="2065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1" u="none">
                <a:solidFill>
                  <a:srgbClr val="C00000"/>
                </a:solidFill>
                <a:latin typeface="Calibri"/>
              </a:rPr>
              <a:t>D</a:t>
            </a:r>
          </a:p>
        </p:txBody>
      </p:sp>
      <p:cxnSp>
        <p:nvCxnSpPr>
          <p:cNvPr id="9036" name="Connector 9035"/>
          <p:cNvCxnSpPr/>
          <p:nvPr/>
        </p:nvCxnSpPr>
        <p:spPr>
          <a:xfrm flipV="1">
            <a:off x="7315200" y="3319272"/>
            <a:ext cx="3630168" cy="1490472"/>
          </a:xfrm>
          <a:prstGeom prst="line">
            <a:avLst/>
          </a:prstGeom>
          <a:ln w="31750">
            <a:solidFill>
              <a:srgbClr val="0B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7" name="TextBox 9036"/>
          <p:cNvSpPr txBox="1"/>
          <p:nvPr/>
        </p:nvSpPr>
        <p:spPr>
          <a:xfrm>
            <a:off x="10972800" y="3035808"/>
            <a:ext cx="17792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1" u="none">
                <a:solidFill>
                  <a:srgbClr val="0B2B4E"/>
                </a:solidFill>
                <a:latin typeface="Calibri"/>
              </a:rPr>
              <a:t>S</a:t>
            </a:r>
          </a:p>
        </p:txBody>
      </p:sp>
      <p:grpSp>
        <p:nvGrpSpPr>
          <p:cNvPr id="9040" name="MRLine 9040"/>
          <p:cNvGrpSpPr/>
          <p:nvPr/>
        </p:nvGrpSpPr>
        <p:grpSpPr>
          <a:xfrm>
            <a:off x="7242048" y="2212848"/>
            <a:ext cx="1831086" cy="2642616"/>
            <a:chOff x="7242048" y="2212848"/>
            <a:chExt cx="1831086" cy="2642616"/>
          </a:xfrm>
        </p:grpSpPr>
        <p:cxnSp>
          <p:nvCxnSpPr>
            <p:cNvPr id="9038" name="Connector 9037"/>
            <p:cNvCxnSpPr/>
            <p:nvPr/>
          </p:nvCxnSpPr>
          <p:spPr>
            <a:xfrm>
              <a:off x="7242048" y="2212848"/>
              <a:ext cx="1453896" cy="2642616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39" name="TextBox 9038"/>
            <p:cNvSpPr txBox="1"/>
            <p:nvPr/>
          </p:nvSpPr>
          <p:spPr>
            <a:xfrm>
              <a:off x="8714232" y="4581144"/>
              <a:ext cx="358902" cy="2743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600" b="1" i="0" u="none">
                  <a:solidFill>
                    <a:srgbClr val="C00000"/>
                  </a:solidFill>
                  <a:latin typeface="Calibri"/>
                </a:rPr>
                <a:t>MR</a:t>
              </a:r>
            </a:p>
          </p:txBody>
        </p:sp>
      </p:grpSp>
      <p:grpSp>
        <p:nvGrpSpPr>
          <p:cNvPr id="9046" name="CartelOutcome 9046"/>
          <p:cNvGrpSpPr/>
          <p:nvPr/>
        </p:nvGrpSpPr>
        <p:grpSpPr>
          <a:xfrm>
            <a:off x="6089904" y="2935224"/>
            <a:ext cx="2852928" cy="2423160"/>
            <a:chOff x="6089904" y="2935224"/>
            <a:chExt cx="2852928" cy="2423160"/>
          </a:xfrm>
        </p:grpSpPr>
        <p:cxnSp>
          <p:nvCxnSpPr>
            <p:cNvPr id="9041" name="Connector 9040"/>
            <p:cNvCxnSpPr/>
            <p:nvPr/>
          </p:nvCxnSpPr>
          <p:spPr>
            <a:xfrm>
              <a:off x="7086600" y="3099816"/>
              <a:ext cx="1316736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2" name="Connector 9041"/>
            <p:cNvCxnSpPr>
              <a:cxnSpLocks/>
              <a:stCxn id="9043" idx="4"/>
            </p:cNvCxnSpPr>
            <p:nvPr/>
          </p:nvCxnSpPr>
          <p:spPr>
            <a:xfrm>
              <a:off x="8398764" y="3163824"/>
              <a:ext cx="4572" cy="1828800"/>
            </a:xfrm>
            <a:prstGeom prst="line">
              <a:avLst/>
            </a:prstGeom>
            <a:ln w="12700">
              <a:solidFill>
                <a:srgbClr val="555B6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43" name="Oval 9042"/>
            <p:cNvSpPr/>
            <p:nvPr/>
          </p:nvSpPr>
          <p:spPr>
            <a:xfrm>
              <a:off x="8348472" y="3063240"/>
              <a:ext cx="100584" cy="100584"/>
            </a:xfrm>
            <a:prstGeom prst="ellipse">
              <a:avLst/>
            </a:prstGeom>
            <a:solidFill>
              <a:srgbClr val="0070C0"/>
            </a:solidFill>
            <a:ln w="15875">
              <a:solidFill>
                <a:srgbClr val="0B2B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44" name="TextBox 9043"/>
                <p:cNvSpPr txBox="1"/>
                <p:nvPr/>
              </p:nvSpPr>
              <p:spPr>
                <a:xfrm>
                  <a:off x="6089904" y="2935224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0070C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0070C0"/>
                                </a:solidFill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Cartel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44" name="TextBox 90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9904" y="2935224"/>
                  <a:ext cx="1005840" cy="3291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45" name="TextBox 9044"/>
                <p:cNvSpPr txBox="1"/>
                <p:nvPr/>
              </p:nvSpPr>
              <p:spPr>
                <a:xfrm>
                  <a:off x="7936992" y="5029200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0B2B4E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0B2B4E"/>
                                </a:solidFill>
                                <a:latin typeface="Cambria Math"/>
                              </a:rPr>
                              <m:t>Cartel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45" name="TextBox 90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6992" y="5029200"/>
                  <a:ext cx="1005840" cy="329184"/>
                </a:xfrm>
                <a:prstGeom prst="rect">
                  <a:avLst/>
                </a:prstGeom>
                <a:blipFill>
                  <a:blip r:embed="rId8"/>
                  <a:stretch>
                    <a:fillRect b="-92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52" name="CompOutcome 9052"/>
          <p:cNvGrpSpPr/>
          <p:nvPr/>
        </p:nvGrpSpPr>
        <p:grpSpPr>
          <a:xfrm>
            <a:off x="6089904" y="3767328"/>
            <a:ext cx="3922776" cy="1591056"/>
            <a:chOff x="6089904" y="3767328"/>
            <a:chExt cx="3922776" cy="1591056"/>
          </a:xfrm>
        </p:grpSpPr>
        <p:cxnSp>
          <p:nvCxnSpPr>
            <p:cNvPr id="9047" name="Connector 9046"/>
            <p:cNvCxnSpPr/>
            <p:nvPr/>
          </p:nvCxnSpPr>
          <p:spPr>
            <a:xfrm>
              <a:off x="7086600" y="3931920"/>
              <a:ext cx="2414016" cy="0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8" name="Connector 9047"/>
            <p:cNvCxnSpPr/>
            <p:nvPr/>
          </p:nvCxnSpPr>
          <p:spPr>
            <a:xfrm>
              <a:off x="9473184" y="3968496"/>
              <a:ext cx="0" cy="1024128"/>
            </a:xfrm>
            <a:prstGeom prst="line">
              <a:avLst/>
            </a:prstGeom>
            <a:ln w="12700">
              <a:solidFill>
                <a:srgbClr val="555B6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49" name="Oval 9048"/>
            <p:cNvSpPr/>
            <p:nvPr/>
          </p:nvSpPr>
          <p:spPr>
            <a:xfrm>
              <a:off x="9427464" y="3867912"/>
              <a:ext cx="100584" cy="100584"/>
            </a:xfrm>
            <a:prstGeom prst="ellipse">
              <a:avLst/>
            </a:prstGeom>
            <a:solidFill>
              <a:srgbClr val="0B2B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50" name="TextBox 9049"/>
                <p:cNvSpPr txBox="1"/>
                <p:nvPr/>
              </p:nvSpPr>
              <p:spPr>
                <a:xfrm>
                  <a:off x="6089904" y="3767328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C00000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Comp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50" name="TextBox 90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9904" y="3767328"/>
                  <a:ext cx="1005840" cy="329184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51" name="TextBox 9050"/>
                <p:cNvSpPr txBox="1"/>
                <p:nvPr/>
              </p:nvSpPr>
              <p:spPr>
                <a:xfrm>
                  <a:off x="9006840" y="5029200"/>
                  <a:ext cx="1005840" cy="329184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600" b="0" i="1">
                      <a:solidFill>
                        <a:srgbClr val="0B2B4E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solidFill>
                                  <a:srgbClr val="0B2B4E"/>
                                </a:solidFill>
                                <a:latin typeface="Cambria Math"/>
                                <a:ea typeface="Cambria Math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0">
                                <a:solidFill>
                                  <a:srgbClr val="0B2B4E"/>
                                </a:solidFill>
                                <a:latin typeface="Cambria Math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051" name="TextBox 90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840" y="5029200"/>
                  <a:ext cx="1005840" cy="329184"/>
                </a:xfrm>
                <a:prstGeom prst="rect">
                  <a:avLst/>
                </a:prstGeom>
                <a:blipFill>
                  <a:blip r:embed="rId10"/>
                  <a:stretch>
                    <a:fillRect b="-92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53" name="TextBox 9052"/>
          <p:cNvSpPr txBox="1"/>
          <p:nvPr/>
        </p:nvSpPr>
        <p:spPr>
          <a:xfrm>
            <a:off x="731520" y="5678424"/>
            <a:ext cx="108813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buClr>
                <a:srgbClr val="0B2B4E"/>
              </a:buClr>
              <a:buFont typeface="Calibri"/>
              <a:buChar char="▪"/>
            </a:pPr>
            <a:r>
              <a:rPr sz="1400" i="0">
                <a:solidFill>
                  <a:srgbClr val="0B2B4E"/>
                </a:solidFill>
                <a:latin typeface="Calibri"/>
              </a:rPr>
              <a:t>A monopolist in the market would produce </a:t>
            </a:r>
            <a:r>
              <a:rPr sz="1400" i="1">
                <a:solidFill>
                  <a:srgbClr val="0B2B4E"/>
                </a:solidFill>
                <a:latin typeface="Calibri"/>
              </a:rPr>
              <a:t>Q</a:t>
            </a:r>
            <a:r>
              <a:rPr sz="1400" i="1" baseline="-25000">
                <a:solidFill>
                  <a:srgbClr val="0B2B4E"/>
                </a:solidFill>
                <a:latin typeface="Calibri"/>
              </a:rPr>
              <a:t>cartel</a:t>
            </a:r>
            <a:r>
              <a:rPr sz="1400" i="1">
                <a:solidFill>
                  <a:srgbClr val="0B2B4E"/>
                </a:solidFill>
                <a:latin typeface="Calibri"/>
              </a:rPr>
              <a:t> </a:t>
            </a:r>
            <a:r>
              <a:rPr sz="1400" i="0">
                <a:solidFill>
                  <a:srgbClr val="0B2B4E"/>
                </a:solidFill>
                <a:latin typeface="Calibri"/>
              </a:rPr>
              <a:t>, and this reduced output leads to a higher market price </a:t>
            </a:r>
            <a:r>
              <a:rPr sz="1400" i="1">
                <a:solidFill>
                  <a:srgbClr val="0B2B4E"/>
                </a:solidFill>
                <a:latin typeface="Calibri"/>
              </a:rPr>
              <a:t>P</a:t>
            </a:r>
            <a:r>
              <a:rPr sz="1400" i="1" baseline="-25000">
                <a:solidFill>
                  <a:srgbClr val="0B2B4E"/>
                </a:solidFill>
                <a:latin typeface="Calibri"/>
              </a:rPr>
              <a:t>Cartel</a:t>
            </a:r>
          </a:p>
          <a:p>
            <a:pPr marL="342900" indent="-342900">
              <a:spcBef>
                <a:spcPts val="400"/>
              </a:spcBef>
              <a:buClr>
                <a:srgbClr val="0B2B4E"/>
              </a:buClr>
              <a:buFont typeface="Calibri"/>
              <a:buChar char="▪"/>
            </a:pPr>
            <a:r>
              <a:rPr sz="1400" i="0">
                <a:solidFill>
                  <a:srgbClr val="0B2B4E"/>
                </a:solidFill>
                <a:latin typeface="Calibri"/>
              </a:rPr>
              <a:t>For the cartel to work, each firm must produce </a:t>
            </a:r>
            <a:r>
              <a:rPr sz="1400" i="1">
                <a:solidFill>
                  <a:srgbClr val="0B2B4E"/>
                </a:solidFill>
                <a:latin typeface="Calibri"/>
              </a:rPr>
              <a:t>q</a:t>
            </a:r>
            <a:r>
              <a:rPr sz="1400" i="1" baseline="-25000">
                <a:solidFill>
                  <a:srgbClr val="0B2B4E"/>
                </a:solidFill>
                <a:latin typeface="Calibri"/>
              </a:rPr>
              <a:t>Cartel</a:t>
            </a:r>
            <a:r>
              <a:rPr sz="1400" i="1">
                <a:solidFill>
                  <a:srgbClr val="0B2B4E"/>
                </a:solidFill>
                <a:latin typeface="Calibri"/>
              </a:rPr>
              <a:t>  </a:t>
            </a:r>
            <a:r>
              <a:rPr sz="1400" i="0">
                <a:solidFill>
                  <a:srgbClr val="0B2B4E"/>
                </a:solidFill>
                <a:latin typeface="Calibri"/>
              </a:rPr>
              <a:t>(that is, each firm must reduce its output)</a:t>
            </a:r>
          </a:p>
          <a:p>
            <a:pPr marL="342900" indent="-342900">
              <a:spcBef>
                <a:spcPts val="400"/>
              </a:spcBef>
              <a:buClr>
                <a:srgbClr val="0B2B4E"/>
              </a:buClr>
              <a:buFont typeface="Calibri"/>
              <a:buChar char="▪"/>
            </a:pPr>
            <a:r>
              <a:rPr sz="1400" i="0">
                <a:solidFill>
                  <a:srgbClr val="0B2B4E"/>
                </a:solidFill>
                <a:latin typeface="Calibri"/>
              </a:rPr>
              <a:t>At the cartel price, each firm would like to deviate and produce more (</a:t>
            </a:r>
            <a:r>
              <a:rPr sz="1400" i="1">
                <a:solidFill>
                  <a:srgbClr val="0B2B4E"/>
                </a:solidFill>
                <a:latin typeface="Calibri"/>
              </a:rPr>
              <a:t>q</a:t>
            </a:r>
            <a:r>
              <a:rPr sz="1400" i="1" baseline="-25000">
                <a:solidFill>
                  <a:srgbClr val="0B2B4E"/>
                </a:solidFill>
                <a:latin typeface="Calibri"/>
              </a:rPr>
              <a:t>Dev</a:t>
            </a:r>
            <a:r>
              <a:rPr sz="1400" i="0">
                <a:solidFill>
                  <a:srgbClr val="0B2B4E"/>
                </a:solidFill>
                <a:latin typeface="Calibri"/>
              </a:rPr>
              <a:t>, where </a:t>
            </a:r>
            <a:r>
              <a:rPr sz="1400" i="1">
                <a:solidFill>
                  <a:srgbClr val="0B2B4E"/>
                </a:solidFill>
                <a:latin typeface="Calibri"/>
              </a:rPr>
              <a:t>P</a:t>
            </a:r>
            <a:r>
              <a:rPr sz="1400" i="1" baseline="-25000">
                <a:solidFill>
                  <a:srgbClr val="0B2B4E"/>
                </a:solidFill>
                <a:latin typeface="Calibri"/>
              </a:rPr>
              <a:t>cartel</a:t>
            </a:r>
            <a:r>
              <a:rPr sz="1400" i="1">
                <a:solidFill>
                  <a:srgbClr val="0B2B4E"/>
                </a:solidFill>
                <a:latin typeface="Calibri"/>
              </a:rPr>
              <a:t> = LMC)</a:t>
            </a:r>
          </a:p>
        </p:txBody>
      </p:sp>
      <p:sp>
        <p:nvSpPr>
          <p:cNvPr id="9054" name="Rectangle 905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C8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5" name="Rectangle 9054"/>
          <p:cNvSpPr/>
          <p:nvPr/>
        </p:nvSpPr>
        <p:spPr>
          <a:xfrm>
            <a:off x="251999" y="6524244"/>
            <a:ext cx="2011680" cy="457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6" name="TextBox 9055"/>
          <p:cNvSpPr txBox="1"/>
          <p:nvPr/>
        </p:nvSpPr>
        <p:spPr>
          <a:xfrm>
            <a:off x="251999" y="6583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u="none">
                <a:solidFill>
                  <a:srgbClr val="555B66"/>
                </a:solidFill>
                <a:latin typeface="Calibri"/>
              </a:rPr>
              <a:t>Management 405  ·  Module 7  ·  Oligopoly and Game Theory</a:t>
            </a:r>
          </a:p>
        </p:txBody>
      </p:sp>
      <p:sp>
        <p:nvSpPr>
          <p:cNvPr id="9057" name="TextBox 9056"/>
          <p:cNvSpPr txBox="1"/>
          <p:nvPr/>
        </p:nvSpPr>
        <p:spPr>
          <a:xfrm>
            <a:off x="11475720" y="6583680"/>
            <a:ext cx="502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9F9670D9-9E3F-5756-B9B4-521950124903}" type="slidenum">
              <a:rPr lang="en-US" sz="1200" dirty="0">
                <a:solidFill>
                  <a:srgbClr val="555B66"/>
                </a:solidFill>
                <a:latin typeface="Calibri"/>
              </a:rPr>
              <a:t>4</a:t>
            </a:fld>
            <a:endParaRPr lang="en-US" sz="1200" dirty="0">
              <a:solidFill>
                <a:srgbClr val="555B66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0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0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435</Words>
  <Application>Microsoft Office PowerPoint</Application>
  <PresentationFormat>Widescreen</PresentationFormat>
  <Paragraphs>75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Voigtlaender, Nico</cp:lastModifiedBy>
  <cp:revision>7</cp:revision>
  <dcterms:created xsi:type="dcterms:W3CDTF">2013-01-27T09:14:16Z</dcterms:created>
  <dcterms:modified xsi:type="dcterms:W3CDTF">2026-09-28T15:43:09Z</dcterms:modified>
  <cp:category/>
</cp:coreProperties>
</file>