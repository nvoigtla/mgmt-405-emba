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72" r:id="rId2"/>
    <p:sldId id="273" r:id="rId3"/>
    <p:sldId id="274" r:id="rId4"/>
    <p:sldId id="275" r:id="rId5"/>
    <p:sldId id="276"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the dream case: the firm knows exactly what each customer will pay.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First-degree, or perfect, price discrimination means a different price for every buyer. It needs three things: customers who differ, a firm that knows how they differ, and no resale. Note the last line: this is still largely hypothetical, and it is worth keeping that in mind while we work out how powerful it would be.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an ideal world you would like to charge individual prices to mop up all the surplus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an ideal world you would like to charge individual prices to mop up all the surplus – to capture all the area beneath the Demand curve in the form of corporate revenue. This type of customized pricing represents the ideal. Customized to what? To the buyers’ valuations! This is difficult to do in practice for a variety of reasons: e.g., arbitrage, legal restrictions.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First-Degree Price Discrimination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Direct Price Discrimination</a:t>
            </a:r>
          </a:p>
        </p:txBody>
      </p:sp>
      <p:sp>
        <p:nvSpPr>
          <p:cNvPr id="13" name="Rounded Rectangle 12"/>
          <p:cNvSpPr/>
          <p:nvPr/>
        </p:nvSpPr>
        <p:spPr>
          <a:xfrm>
            <a:off x="1252728" y="2244852"/>
            <a:ext cx="10680192"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2a</a:t>
            </a:r>
          </a:p>
        </p:txBody>
      </p:sp>
      <p:sp>
        <p:nvSpPr>
          <p:cNvPr id="15" name="Rounded Rectangle 14"/>
          <p:cNvSpPr/>
          <p:nvPr/>
        </p:nvSpPr>
        <p:spPr>
          <a:xfrm>
            <a:off x="10707625" y="236829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6" name="TextBox 15"/>
          <p:cNvSpPr txBox="1"/>
          <p:nvPr/>
        </p:nvSpPr>
        <p:spPr>
          <a:xfrm>
            <a:off x="2084831" y="2290572"/>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Perfect Price Discrimination (First Degree)</a:t>
            </a:r>
          </a:p>
          <a:p>
            <a:pPr algn="l">
              <a:spcBef>
                <a:spcPts val="0"/>
              </a:spcBef>
              <a:buNone/>
            </a:pPr>
            <a:r>
              <a:rPr sz="1600">
                <a:solidFill>
                  <a:srgbClr val="555B66"/>
                </a:solidFill>
                <a:latin typeface="Calibri"/>
              </a:rPr>
              <a:t>Charging every customer her own willingness to pay</a:t>
            </a:r>
          </a:p>
        </p:txBody>
      </p:sp>
      <p:sp>
        <p:nvSpPr>
          <p:cNvPr id="17" name="Oval 16"/>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8" name="Rounded Rectangle 17"/>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20" name="Oval 19"/>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1" name="Rounded Rectangle 20"/>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3" name="Oval 22"/>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4</a:t>
            </a:r>
          </a:p>
        </p:txBody>
      </p:sp>
      <p:sp>
        <p:nvSpPr>
          <p:cNvPr id="24" name="Rounded Rectangle 23"/>
          <p:cNvSpPr/>
          <p:nvPr/>
        </p:nvSpPr>
        <p:spPr>
          <a:xfrm>
            <a:off x="10332720" y="397993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6–8</a:t>
            </a:r>
          </a:p>
        </p:txBody>
      </p:sp>
      <p:sp>
        <p:nvSpPr>
          <p:cNvPr id="25" name="TextBox 24"/>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Advanced Pricing Strategies</a:t>
            </a:r>
          </a:p>
        </p:txBody>
      </p:sp>
      <p:sp>
        <p:nvSpPr>
          <p:cNvPr id="26" name="Oval 25"/>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7" name="Rounded Rectangle 26"/>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8" name="TextBox 27"/>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1" name="TextBox 30"/>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7A6F22D0-723E-561A-A382-778B47BF3598}"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3 · Perfect Price Discrimination (First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First Degree Price Discrimination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916168" cy="3849624"/>
          </a:xfrm>
          <a:prstGeom prst="rect">
            <a:avLst/>
          </a:prstGeom>
          <a:noFill/>
        </p:spPr>
        <p:txBody>
          <a:bodyPr wrap="square" lIns="0" tIns="0" rIns="0" bIns="0" anchor="ctr">
            <a:noAutofit/>
          </a:bodyPr>
          <a:lstStyle>
            <a:lvl1pPr marL="342900" indent="-342900">
              <a:spcBef>
                <a:spcPts val="12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Charge each customer a different price</a:t>
            </a:r>
          </a:p>
          <a:p>
            <a:pPr algn="l"/>
            <a:r>
              <a:rPr dirty="0">
                <a:latin typeface="Calibri"/>
              </a:rPr>
              <a:t>Also known as perfect price discrimination</a:t>
            </a:r>
          </a:p>
          <a:p>
            <a:pPr algn="l"/>
            <a:r>
              <a:rPr dirty="0">
                <a:latin typeface="Calibri"/>
              </a:rPr>
              <a:t>Conditions:</a:t>
            </a:r>
          </a:p>
          <a:p>
            <a:pPr lvl="1" algn="l"/>
            <a:r>
              <a:rPr dirty="0">
                <a:latin typeface="Calibri"/>
              </a:rPr>
              <a:t>Many consumers with different MPV for the firm’s product</a:t>
            </a:r>
          </a:p>
          <a:p>
            <a:pPr lvl="1" algn="l"/>
            <a:r>
              <a:rPr dirty="0">
                <a:latin typeface="Calibri"/>
              </a:rPr>
              <a:t>Firm knows each consumer’s MPV (i.e., willingness to pay)</a:t>
            </a:r>
          </a:p>
          <a:p>
            <a:pPr lvl="1" algn="l"/>
            <a:r>
              <a:rPr dirty="0">
                <a:latin typeface="Calibri"/>
              </a:rPr>
              <a:t>Firm can prevent resale</a:t>
            </a:r>
          </a:p>
        </p:txBody>
      </p:sp>
      <p:pic>
        <p:nvPicPr>
          <p:cNvPr id="8" name="Picture 7" descr="NV_s15_first_degree.png"/>
          <p:cNvPicPr>
            <a:picLocks noChangeAspect="1"/>
          </p:cNvPicPr>
          <p:nvPr/>
        </p:nvPicPr>
        <p:blipFill>
          <a:blip r:embed="rId3"/>
          <a:stretch>
            <a:fillRect/>
          </a:stretch>
        </p:blipFill>
        <p:spPr>
          <a:xfrm>
            <a:off x="7004304" y="1467612"/>
            <a:ext cx="4722876" cy="4722876"/>
          </a:xfrm>
          <a:prstGeom prst="roundRect">
            <a:avLst>
              <a:gd name="adj" fmla="val 8000"/>
            </a:avLst>
          </a:prstGeom>
          <a:effectLst>
            <a:outerShdw blurRad="50800" dist="38100" dir="2700000" algn="tl" rotWithShape="0">
              <a:srgbClr val="000000">
                <a:alpha val="50000"/>
              </a:srgbClr>
            </a:outerShdw>
          </a:effectLst>
        </p:spPr>
      </p:pic>
      <p:sp>
        <p:nvSpPr>
          <p:cNvPr id="9" name="Rounded Rectangle 8"/>
          <p:cNvSpPr/>
          <p:nvPr/>
        </p:nvSpPr>
        <p:spPr>
          <a:xfrm>
            <a:off x="466344" y="5715000"/>
            <a:ext cx="5916168" cy="64008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Calibri"/>
              </a:rPr>
              <a:t>Is first-degree price discrimination hypothetical or real?</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C1454909-D6FF-5F1F-980F-67DB08190285}"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3 · Perfect Price Discrimination (First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First Degree Price Discrimination (Assume MC = 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32588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325880" y="5989320"/>
            <a:ext cx="53766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1046225" y="125730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6589776" y="60350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33" name="sdpair:sdreglab:c4f36a54"/>
          <p:cNvGrpSpPr/>
          <p:nvPr/>
        </p:nvGrpSpPr>
        <p:grpSpPr>
          <a:xfrm>
            <a:off x="1325880" y="2230981"/>
            <a:ext cx="4417016" cy="3758339"/>
            <a:chOff x="1325880" y="2230981"/>
            <a:chExt cx="4417016" cy="3758339"/>
          </a:xfrm>
        </p:grpSpPr>
        <p:sp>
          <p:nvSpPr>
            <p:cNvPr id="11" name="sdregion:c4f36a54"/>
            <p:cNvSpPr/>
            <p:nvPr/>
          </p:nvSpPr>
          <p:spPr>
            <a:xfrm>
              <a:off x="1325880" y="2230981"/>
              <a:ext cx="4417016" cy="3758339"/>
            </a:xfrm>
            <a:custGeom>
              <a:avLst/>
              <a:gdLst/>
              <a:ahLst/>
              <a:cxnLst/>
              <a:rect l="0" t="0" r="r" b="b"/>
              <a:pathLst>
                <a:path w="4417016" h="3758339">
                  <a:moveTo>
                    <a:pt x="0" y="0"/>
                  </a:moveTo>
                  <a:lnTo>
                    <a:pt x="0" y="3758339"/>
                  </a:lnTo>
                  <a:lnTo>
                    <a:pt x="4417016" y="3758339"/>
                  </a:lnTo>
                  <a:close/>
                </a:path>
              </a:pathLst>
            </a:custGeom>
            <a:solidFill>
              <a:srgbClr val="E09F3E">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dreglab:c4f36a54"/>
            <p:cNvSpPr txBox="1"/>
            <p:nvPr/>
          </p:nvSpPr>
          <p:spPr>
            <a:xfrm>
              <a:off x="1476083" y="5012994"/>
              <a:ext cx="1996440" cy="291465"/>
            </a:xfrm>
            <a:prstGeom prst="rect">
              <a:avLst/>
            </a:prstGeom>
            <a:noFill/>
          </p:spPr>
          <p:txBody>
            <a:bodyPr wrap="square" lIns="0" tIns="0" rIns="0" bIns="0">
              <a:spAutoFit/>
            </a:bodyPr>
            <a:lstStyle/>
            <a:p>
              <a:pPr algn="ctr"/>
              <a:r>
                <a:rPr sz="1700" b="1" i="0" u="none">
                  <a:solidFill>
                    <a:srgbClr val="0B2B4E"/>
                  </a:solidFill>
                  <a:latin typeface="Calibri"/>
                </a:rPr>
                <a:t>Revenues and profits</a:t>
              </a:r>
            </a:p>
          </p:txBody>
        </p:sp>
      </p:grpSp>
      <p:grpSp>
        <p:nvGrpSpPr>
          <p:cNvPr id="132" name="sdpair:curve:D"/>
          <p:cNvGrpSpPr/>
          <p:nvPr/>
        </p:nvGrpSpPr>
        <p:grpSpPr>
          <a:xfrm>
            <a:off x="1325880" y="2230981"/>
            <a:ext cx="5939656" cy="3758339"/>
            <a:chOff x="1325880" y="2230981"/>
            <a:chExt cx="5939656" cy="3758339"/>
          </a:xfrm>
        </p:grpSpPr>
        <p:cxnSp>
          <p:nvCxnSpPr>
            <p:cNvPr id="12" name="sdcurve:D"/>
            <p:cNvCxnSpPr/>
            <p:nvPr/>
          </p:nvCxnSpPr>
          <p:spPr>
            <a:xfrm>
              <a:off x="1325880" y="2230981"/>
              <a:ext cx="4417016" cy="3758339"/>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3" name="sdcurvelab:D"/>
            <p:cNvSpPr txBox="1"/>
            <p:nvPr/>
          </p:nvSpPr>
          <p:spPr>
            <a:xfrm>
              <a:off x="5696959" y="5596093"/>
              <a:ext cx="1568577" cy="292608"/>
            </a:xfrm>
            <a:prstGeom prst="rect">
              <a:avLst/>
            </a:prstGeom>
            <a:noFill/>
          </p:spPr>
          <p:txBody>
            <a:bodyPr wrap="square" lIns="0" tIns="0" rIns="0" bIns="0">
              <a:spAutoFit/>
            </a:bodyPr>
            <a:lstStyle/>
            <a:p>
              <a:pPr algn="l"/>
              <a:r>
                <a:rPr sz="1800" b="1" i="1" u="none">
                  <a:solidFill>
                    <a:srgbClr val="A2162A"/>
                  </a:solidFill>
                  <a:latin typeface="Calibri"/>
                </a:rPr>
                <a:t>Demand = MPV</a:t>
              </a:r>
            </a:p>
          </p:txBody>
        </p:sp>
      </p:grpSp>
      <p:sp>
        <p:nvSpPr>
          <p:cNvPr id="15" name="sdreglab:c4f36a54"/>
          <p:cNvSpPr txBox="1"/>
          <p:nvPr/>
        </p:nvSpPr>
        <p:spPr>
          <a:xfrm>
            <a:off x="1508046" y="5270400"/>
            <a:ext cx="2066442" cy="461665"/>
          </a:xfrm>
          <a:prstGeom prst="rect">
            <a:avLst/>
          </a:prstGeom>
          <a:noFill/>
        </p:spPr>
        <p:txBody>
          <a:bodyPr wrap="square" lIns="0" tIns="0" rIns="0" bIns="0">
            <a:spAutoFit/>
          </a:bodyPr>
          <a:lstStyle/>
          <a:p>
            <a:r>
              <a:rPr sz="1500" b="0" i="0" u="none" dirty="0">
                <a:solidFill>
                  <a:srgbClr val="0B2B4E"/>
                </a:solidFill>
                <a:latin typeface="Calibri"/>
              </a:rPr>
              <a:t>(</a:t>
            </a:r>
            <a:r>
              <a:rPr sz="1500" b="0" i="0" u="none" dirty="0" err="1">
                <a:solidFill>
                  <a:srgbClr val="0B2B4E"/>
                </a:solidFill>
                <a:latin typeface="Calibri"/>
              </a:rPr>
              <a:t>assum</a:t>
            </a:r>
            <a:r>
              <a:rPr lang="de-DE" sz="1500" b="0" i="0" u="none" dirty="0">
                <a:solidFill>
                  <a:srgbClr val="0B2B4E"/>
                </a:solidFill>
                <a:latin typeface="Calibri"/>
              </a:rPr>
              <a:t>ing</a:t>
            </a:r>
            <a:r>
              <a:rPr sz="1500" b="0" i="0" u="none" dirty="0">
                <a:solidFill>
                  <a:srgbClr val="0B2B4E"/>
                </a:solidFill>
                <a:latin typeface="Calibri"/>
              </a:rPr>
              <a:t> MC = 0</a:t>
            </a:r>
            <a:r>
              <a:rPr lang="de-DE" sz="1500" b="0" i="0" u="none" dirty="0">
                <a:solidFill>
                  <a:srgbClr val="0B2B4E"/>
                </a:solidFill>
                <a:latin typeface="Calibri"/>
              </a:rPr>
              <a:t>, and before pa</a:t>
            </a:r>
            <a:r>
              <a:rPr lang="en-US" sz="1500" b="0" i="0" u="none" dirty="0">
                <a:solidFill>
                  <a:srgbClr val="0B2B4E"/>
                </a:solidFill>
                <a:latin typeface="Calibri"/>
              </a:rPr>
              <a:t>ying fixed costs</a:t>
            </a:r>
            <a:r>
              <a:rPr sz="1500" b="0" i="0" u="none" dirty="0">
                <a:solidFill>
                  <a:srgbClr val="0B2B4E"/>
                </a:solidFill>
                <a:latin typeface="Calibri"/>
              </a:rPr>
              <a:t>)</a:t>
            </a:r>
          </a:p>
        </p:txBody>
      </p:sp>
      <p:sp>
        <p:nvSpPr>
          <p:cNvPr id="16" name="Oval 15"/>
          <p:cNvSpPr/>
          <p:nvPr/>
        </p:nvSpPr>
        <p:spPr>
          <a:xfrm>
            <a:off x="1531465" y="2397045"/>
            <a:ext cx="118872" cy="118872"/>
          </a:xfrm>
          <a:prstGeom prst="ellipse">
            <a:avLst/>
          </a:prstGeom>
          <a:solidFill>
            <a:srgbClr val="A2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9" name="sdpair:arrow:129"/>
          <p:cNvGrpSpPr/>
          <p:nvPr/>
        </p:nvGrpSpPr>
        <p:grpSpPr>
          <a:xfrm>
            <a:off x="1590901" y="1673274"/>
            <a:ext cx="2084134" cy="783207"/>
            <a:chOff x="1590901" y="1673274"/>
            <a:chExt cx="2084134" cy="783207"/>
          </a:xfrm>
        </p:grpSpPr>
        <p:sp>
          <p:nvSpPr>
            <p:cNvPr id="17" name="TextBox 16"/>
            <p:cNvSpPr txBox="1"/>
            <p:nvPr/>
          </p:nvSpPr>
          <p:spPr>
            <a:xfrm>
              <a:off x="1891955" y="1673274"/>
              <a:ext cx="1783080" cy="438912"/>
            </a:xfrm>
            <a:prstGeom prst="rect">
              <a:avLst/>
            </a:prstGeom>
            <a:noFill/>
          </p:spPr>
          <p:txBody>
            <a:bodyPr wrap="square" lIns="0" tIns="0" rIns="0" bIns="0">
              <a:spAutoFit/>
            </a:bodyPr>
            <a:lstStyle/>
            <a:p>
              <a:pPr algn="ctr"/>
              <a:r>
                <a:rPr sz="1500" b="0" i="0" u="none">
                  <a:solidFill>
                    <a:srgbClr val="A2162A"/>
                  </a:solidFill>
                  <a:latin typeface="Calibri"/>
                </a:rPr>
                <a:t>Price charged to
high-MPV customer</a:t>
              </a:r>
            </a:p>
          </p:txBody>
        </p:sp>
        <p:cxnSp>
          <p:nvCxnSpPr>
            <p:cNvPr id="18" name="sdleader:19"/>
            <p:cNvCxnSpPr/>
            <p:nvPr/>
          </p:nvCxnSpPr>
          <p:spPr>
            <a:xfrm flipH="1">
              <a:off x="1590901" y="2135633"/>
              <a:ext cx="678741" cy="320848"/>
            </a:xfrm>
            <a:prstGeom prst="line">
              <a:avLst/>
            </a:prstGeom>
            <a:ln w="15875">
              <a:solidFill>
                <a:srgbClr val="A2162A"/>
              </a:solidFill>
            </a:ln>
          </p:spPr>
          <p:style>
            <a:lnRef idx="2">
              <a:schemeClr val="accent1"/>
            </a:lnRef>
            <a:fillRef idx="0">
              <a:schemeClr val="accent1"/>
            </a:fillRef>
            <a:effectRef idx="1">
              <a:schemeClr val="accent1"/>
            </a:effectRef>
            <a:fontRef idx="minor">
              <a:schemeClr val="tx1"/>
            </a:fontRef>
          </p:style>
        </p:cxnSp>
      </p:grpSp>
      <p:sp>
        <p:nvSpPr>
          <p:cNvPr id="19" name="Oval 18"/>
          <p:cNvSpPr/>
          <p:nvPr/>
        </p:nvSpPr>
        <p:spPr>
          <a:xfrm>
            <a:off x="3474952" y="4050714"/>
            <a:ext cx="118872" cy="11887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0" name="sdpair:arrow:130"/>
          <p:cNvGrpSpPr/>
          <p:nvPr/>
        </p:nvGrpSpPr>
        <p:grpSpPr>
          <a:xfrm>
            <a:off x="3534388" y="3101443"/>
            <a:ext cx="2216645" cy="1008707"/>
            <a:chOff x="3534388" y="3101443"/>
            <a:chExt cx="2216645" cy="1008707"/>
          </a:xfrm>
        </p:grpSpPr>
        <p:sp>
          <p:nvSpPr>
            <p:cNvPr id="20" name="TextBox 19"/>
            <p:cNvSpPr txBox="1"/>
            <p:nvPr/>
          </p:nvSpPr>
          <p:spPr>
            <a:xfrm>
              <a:off x="3967953" y="3101443"/>
              <a:ext cx="1783080" cy="438912"/>
            </a:xfrm>
            <a:prstGeom prst="rect">
              <a:avLst/>
            </a:prstGeom>
            <a:noFill/>
          </p:spPr>
          <p:txBody>
            <a:bodyPr wrap="square" lIns="0" tIns="0" rIns="0" bIns="0">
              <a:spAutoFit/>
            </a:bodyPr>
            <a:lstStyle/>
            <a:p>
              <a:pPr algn="ctr"/>
              <a:r>
                <a:rPr sz="1500" b="0" i="0" u="none">
                  <a:solidFill>
                    <a:srgbClr val="0B2B4E"/>
                  </a:solidFill>
                  <a:latin typeface="Calibri"/>
                </a:rPr>
                <a:t>Price charged to
median-MPV customer</a:t>
              </a:r>
            </a:p>
          </p:txBody>
        </p:sp>
        <p:cxnSp>
          <p:nvCxnSpPr>
            <p:cNvPr id="21" name="sdleader:22"/>
            <p:cNvCxnSpPr/>
            <p:nvPr/>
          </p:nvCxnSpPr>
          <p:spPr>
            <a:xfrm flipH="1">
              <a:off x="3534388" y="3568430"/>
              <a:ext cx="909515" cy="541720"/>
            </a:xfrm>
            <a:prstGeom prst="line">
              <a:avLst/>
            </a:prstGeom>
            <a:ln w="15875">
              <a:solidFill>
                <a:srgbClr val="0B2B4E"/>
              </a:solidFill>
            </a:ln>
          </p:spPr>
          <p:style>
            <a:lnRef idx="2">
              <a:schemeClr val="accent1"/>
            </a:lnRef>
            <a:fillRef idx="0">
              <a:schemeClr val="accent1"/>
            </a:fillRef>
            <a:effectRef idx="1">
              <a:schemeClr val="accent1"/>
            </a:effectRef>
            <a:fontRef idx="minor">
              <a:schemeClr val="tx1"/>
            </a:fontRef>
          </p:style>
        </p:cxnSp>
      </p:grpSp>
      <p:sp>
        <p:nvSpPr>
          <p:cNvPr id="22" name="Oval 21"/>
          <p:cNvSpPr/>
          <p:nvPr/>
        </p:nvSpPr>
        <p:spPr>
          <a:xfrm>
            <a:off x="5418439" y="5704383"/>
            <a:ext cx="118872" cy="118872"/>
          </a:xfrm>
          <a:prstGeom prst="ellipse">
            <a:avLst/>
          </a:prstGeom>
          <a:solidFill>
            <a:srgbClr val="0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1" name="sdpair:arrow:131"/>
          <p:cNvGrpSpPr/>
          <p:nvPr/>
        </p:nvGrpSpPr>
        <p:grpSpPr>
          <a:xfrm>
            <a:off x="4807186" y="4529612"/>
            <a:ext cx="1783080" cy="1234207"/>
            <a:chOff x="4807186" y="4529612"/>
            <a:chExt cx="1783080" cy="1234207"/>
          </a:xfrm>
        </p:grpSpPr>
        <p:sp>
          <p:nvSpPr>
            <p:cNvPr id="23" name="TextBox 22"/>
            <p:cNvSpPr txBox="1"/>
            <p:nvPr/>
          </p:nvSpPr>
          <p:spPr>
            <a:xfrm>
              <a:off x="4807186" y="4529612"/>
              <a:ext cx="1783080" cy="438912"/>
            </a:xfrm>
            <a:prstGeom prst="rect">
              <a:avLst/>
            </a:prstGeom>
            <a:noFill/>
          </p:spPr>
          <p:txBody>
            <a:bodyPr wrap="square" lIns="0" tIns="0" rIns="0" bIns="0">
              <a:spAutoFit/>
            </a:bodyPr>
            <a:lstStyle/>
            <a:p>
              <a:pPr algn="ctr"/>
              <a:r>
                <a:rPr sz="1500" b="0" i="0" u="none">
                  <a:solidFill>
                    <a:srgbClr val="007A33"/>
                  </a:solidFill>
                  <a:latin typeface="Calibri"/>
                </a:rPr>
                <a:t>Price charged to
low-MPV customer</a:t>
              </a:r>
            </a:p>
          </p:txBody>
        </p:sp>
        <p:cxnSp>
          <p:nvCxnSpPr>
            <p:cNvPr id="24" name="sdleader:25"/>
            <p:cNvCxnSpPr/>
            <p:nvPr/>
          </p:nvCxnSpPr>
          <p:spPr>
            <a:xfrm flipH="1">
              <a:off x="5477875" y="5022133"/>
              <a:ext cx="161420" cy="741686"/>
            </a:xfrm>
            <a:prstGeom prst="line">
              <a:avLst/>
            </a:prstGeom>
            <a:ln w="15875">
              <a:solidFill>
                <a:srgbClr val="007A33"/>
              </a:solidFill>
            </a:ln>
          </p:spPr>
          <p:style>
            <a:lnRef idx="2">
              <a:schemeClr val="accent1"/>
            </a:lnRef>
            <a:fillRef idx="0">
              <a:schemeClr val="accent1"/>
            </a:fillRef>
            <a:effectRef idx="1">
              <a:schemeClr val="accent1"/>
            </a:effectRef>
            <a:fontRef idx="minor">
              <a:schemeClr val="tx1"/>
            </a:fontRef>
          </p:style>
        </p:cxnSp>
      </p:grpSp>
      <p:sp>
        <p:nvSpPr>
          <p:cNvPr id="25" name="TextBox 24"/>
          <p:cNvSpPr txBox="1"/>
          <p:nvPr/>
        </p:nvSpPr>
        <p:spPr>
          <a:xfrm>
            <a:off x="7223760" y="2148840"/>
            <a:ext cx="4526280" cy="274320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Assume MC = 0</a:t>
            </a:r>
          </a:p>
          <a:p>
            <a:pPr algn="l"/>
            <a:r>
              <a:rPr dirty="0">
                <a:latin typeface="Calibri"/>
              </a:rPr>
              <a:t>Charge </a:t>
            </a:r>
            <a:r>
              <a:rPr b="1" dirty="0">
                <a:solidFill>
                  <a:srgbClr val="A2162A"/>
                </a:solidFill>
                <a:latin typeface="Calibri"/>
              </a:rPr>
              <a:t>each customer</a:t>
            </a:r>
            <a:r>
              <a:rPr dirty="0">
                <a:latin typeface="Calibri"/>
              </a:rPr>
              <a:t> a different price</a:t>
            </a:r>
          </a:p>
          <a:p>
            <a:pPr algn="l"/>
            <a:r>
              <a:rPr dirty="0">
                <a:latin typeface="Calibri"/>
              </a:rPr>
              <a:t>The Holy Grail of complex pricing</a:t>
            </a:r>
          </a:p>
          <a:p>
            <a:pPr algn="l"/>
            <a:r>
              <a:rPr dirty="0">
                <a:latin typeface="Calibri"/>
              </a:rPr>
              <a:t>Zero consumer surplus: everything is extracted!</a:t>
            </a:r>
          </a:p>
        </p:txBody>
      </p:sp>
      <p:sp>
        <p:nvSpPr>
          <p:cNvPr id="26" name="Rectangle 2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29" name="TextBox 28"/>
          <p:cNvSpPr txBox="1"/>
          <p:nvPr/>
        </p:nvSpPr>
        <p:spPr>
          <a:xfrm>
            <a:off x="11475720" y="6583680"/>
            <a:ext cx="502920" cy="292608"/>
          </a:xfrm>
          <a:prstGeom prst="rect">
            <a:avLst/>
          </a:prstGeom>
          <a:noFill/>
        </p:spPr>
        <p:txBody>
          <a:bodyPr wrap="none" lIns="0" tIns="0" rIns="0" bIns="0">
            <a:spAutoFit/>
          </a:bodyPr>
          <a:lstStyle/>
          <a:p>
            <a:pPr algn="r"/>
            <a:fld id="{94EC799B-974A-5988-A91E-35B1A66E405C}"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fade">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29"/>
                                        </p:tgtEl>
                                        <p:attrNameLst>
                                          <p:attrName>style.visibility</p:attrName>
                                        </p:attrNameLst>
                                      </p:cBhvr>
                                      <p:to>
                                        <p:strVal val="visible"/>
                                      </p:to>
                                    </p:set>
                                    <p:animEffect transition="in" filter="fade">
                                      <p:cBhvr>
                                        <p:cTn id="20" dur="500"/>
                                        <p:tgtEl>
                                          <p:spTgt spid="1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fade">
                                      <p:cBhvr>
                                        <p:cTn id="28" dur="500"/>
                                        <p:tgtEl>
                                          <p:spTgt spid="13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131"/>
                                        </p:tgtEl>
                                        <p:attrNameLst>
                                          <p:attrName>style.visibility</p:attrName>
                                        </p:attrNameLst>
                                      </p:cBhvr>
                                      <p:to>
                                        <p:strVal val="visible"/>
                                      </p:to>
                                    </p:set>
                                    <p:animEffect transition="in" filter="fade">
                                      <p:cBhvr>
                                        <p:cTn id="36" dur="500"/>
                                        <p:tgtEl>
                                          <p:spTgt spid="13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3"/>
                                        </p:tgtEl>
                                        <p:attrNameLst>
                                          <p:attrName>style.visibility</p:attrName>
                                        </p:attrNameLst>
                                      </p:cBhvr>
                                      <p:to>
                                        <p:strVal val="visible"/>
                                      </p:to>
                                    </p:set>
                                    <p:animEffect transition="in" filter="fade">
                                      <p:cBhvr>
                                        <p:cTn id="41" dur="500"/>
                                        <p:tgtEl>
                                          <p:spTgt spid="133"/>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5">
                                            <p:txEl>
                                              <p:pRg st="2" end="2"/>
                                            </p:txEl>
                                          </p:spTgt>
                                        </p:tgtEl>
                                        <p:attrNameLst>
                                          <p:attrName>style.visibility</p:attrName>
                                        </p:attrNameLst>
                                      </p:cBhvr>
                                      <p:to>
                                        <p:strVal val="visible"/>
                                      </p:to>
                                    </p:set>
                                    <p:animEffect transition="in" filter="fade">
                                      <p:cBhvr>
                                        <p:cTn id="49" dur="500"/>
                                        <p:tgtEl>
                                          <p:spTgt spid="25">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5">
                                            <p:txEl>
                                              <p:pRg st="3" end="3"/>
                                            </p:txEl>
                                          </p:spTgt>
                                        </p:tgtEl>
                                        <p:attrNameLst>
                                          <p:attrName>style.visibility</p:attrName>
                                        </p:attrNameLst>
                                      </p:cBhvr>
                                      <p:to>
                                        <p:strVal val="visible"/>
                                      </p:to>
                                    </p:set>
                                    <p:animEffect transition="in" filter="fade">
                                      <p:cBhvr>
                                        <p:cTn id="54"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3 · Perfect Price Discrimination (First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First Degree Price Discrimination (Now MC &gt; 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32588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325880" y="5989320"/>
            <a:ext cx="537667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1046225" y="125730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6589776" y="60350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39" name="sdpair:sdreglab:b647906c"/>
          <p:cNvGrpSpPr/>
          <p:nvPr/>
        </p:nvGrpSpPr>
        <p:grpSpPr>
          <a:xfrm>
            <a:off x="1325880" y="2230981"/>
            <a:ext cx="3091911" cy="2630837"/>
            <a:chOff x="1325880" y="2230981"/>
            <a:chExt cx="3091911" cy="2630837"/>
          </a:xfrm>
        </p:grpSpPr>
        <p:sp>
          <p:nvSpPr>
            <p:cNvPr id="11" name="sdregion:b647906c"/>
            <p:cNvSpPr/>
            <p:nvPr/>
          </p:nvSpPr>
          <p:spPr>
            <a:xfrm>
              <a:off x="1325880" y="2230981"/>
              <a:ext cx="3091911" cy="2630837"/>
            </a:xfrm>
            <a:custGeom>
              <a:avLst/>
              <a:gdLst/>
              <a:ahLst/>
              <a:cxnLst/>
              <a:rect l="0" t="0" r="r" b="b"/>
              <a:pathLst>
                <a:path w="3091911" h="2630837">
                  <a:moveTo>
                    <a:pt x="0" y="0"/>
                  </a:moveTo>
                  <a:lnTo>
                    <a:pt x="0" y="2630837"/>
                  </a:lnTo>
                  <a:lnTo>
                    <a:pt x="3091911" y="2630837"/>
                  </a:lnTo>
                  <a:close/>
                </a:path>
              </a:pathLst>
            </a:custGeom>
            <a:solidFill>
              <a:srgbClr val="A2162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dreglab:b647906c"/>
            <p:cNvSpPr txBox="1"/>
            <p:nvPr/>
          </p:nvSpPr>
          <p:spPr>
            <a:xfrm>
              <a:off x="1546085" y="4157963"/>
              <a:ext cx="1910183" cy="523220"/>
            </a:xfrm>
            <a:prstGeom prst="rect">
              <a:avLst/>
            </a:prstGeom>
            <a:noFill/>
          </p:spPr>
          <p:txBody>
            <a:bodyPr wrap="square" lIns="0" tIns="0" rIns="0" bIns="0">
              <a:spAutoFit/>
            </a:bodyPr>
            <a:lstStyle/>
            <a:p>
              <a:pPr algn="ctr"/>
              <a:r>
                <a:rPr sz="1700" b="1" i="0" u="none" dirty="0">
                  <a:solidFill>
                    <a:srgbClr val="0B2B4E"/>
                  </a:solidFill>
                  <a:latin typeface="Calibri"/>
                </a:rPr>
                <a:t>Profits </a:t>
              </a:r>
              <a:r>
                <a:rPr sz="1700" i="0" u="none" dirty="0">
                  <a:solidFill>
                    <a:srgbClr val="0B2B4E"/>
                  </a:solidFill>
                  <a:latin typeface="Calibri"/>
                </a:rPr>
                <a:t>(</a:t>
              </a:r>
              <a:r>
                <a:rPr lang="en-US" sz="1700" i="0" u="none" dirty="0">
                  <a:solidFill>
                    <a:srgbClr val="0B2B4E"/>
                  </a:solidFill>
                  <a:latin typeface="Calibri"/>
                </a:rPr>
                <a:t>before paying fixed costs</a:t>
              </a:r>
              <a:r>
                <a:rPr sz="1700" i="0" u="none" dirty="0">
                  <a:solidFill>
                    <a:srgbClr val="0B2B4E"/>
                  </a:solidFill>
                  <a:latin typeface="Calibri"/>
                </a:rPr>
                <a:t>)</a:t>
              </a:r>
            </a:p>
          </p:txBody>
        </p:sp>
      </p:grpSp>
      <p:grpSp>
        <p:nvGrpSpPr>
          <p:cNvPr id="138" name="sdpair:curve:D"/>
          <p:cNvGrpSpPr/>
          <p:nvPr/>
        </p:nvGrpSpPr>
        <p:grpSpPr>
          <a:xfrm>
            <a:off x="1325880" y="2230981"/>
            <a:ext cx="5939656" cy="3758339"/>
            <a:chOff x="1325880" y="2230981"/>
            <a:chExt cx="5939656" cy="3758339"/>
          </a:xfrm>
        </p:grpSpPr>
        <p:cxnSp>
          <p:nvCxnSpPr>
            <p:cNvPr id="12" name="sdcurve:D"/>
            <p:cNvCxnSpPr/>
            <p:nvPr/>
          </p:nvCxnSpPr>
          <p:spPr>
            <a:xfrm>
              <a:off x="1325880" y="2230981"/>
              <a:ext cx="4417016" cy="3758339"/>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5" name="sdcurvelab:D"/>
            <p:cNvSpPr txBox="1"/>
            <p:nvPr/>
          </p:nvSpPr>
          <p:spPr>
            <a:xfrm>
              <a:off x="5696959" y="5596093"/>
              <a:ext cx="1568577" cy="292608"/>
            </a:xfrm>
            <a:prstGeom prst="rect">
              <a:avLst/>
            </a:prstGeom>
            <a:noFill/>
          </p:spPr>
          <p:txBody>
            <a:bodyPr wrap="square" lIns="0" tIns="0" rIns="0" bIns="0">
              <a:spAutoFit/>
            </a:bodyPr>
            <a:lstStyle/>
            <a:p>
              <a:pPr algn="l"/>
              <a:r>
                <a:rPr sz="1800" b="1" i="1" u="none">
                  <a:solidFill>
                    <a:srgbClr val="A2162A"/>
                  </a:solidFill>
                  <a:latin typeface="Calibri"/>
                </a:rPr>
                <a:t>Demand = MPV</a:t>
              </a:r>
            </a:p>
          </p:txBody>
        </p:sp>
      </p:grpSp>
      <p:grpSp>
        <p:nvGrpSpPr>
          <p:cNvPr id="137" name="sdpair:curve:MC"/>
          <p:cNvGrpSpPr/>
          <p:nvPr/>
        </p:nvGrpSpPr>
        <p:grpSpPr>
          <a:xfrm>
            <a:off x="1325880" y="4659139"/>
            <a:ext cx="5331500" cy="292608"/>
            <a:chOff x="1325880" y="4659139"/>
            <a:chExt cx="5331500" cy="292608"/>
          </a:xfrm>
        </p:grpSpPr>
        <p:cxnSp>
          <p:nvCxnSpPr>
            <p:cNvPr id="13" name="sdcurve:MC"/>
            <p:cNvCxnSpPr/>
            <p:nvPr/>
          </p:nvCxnSpPr>
          <p:spPr>
            <a:xfrm>
              <a:off x="1325880" y="4861818"/>
              <a:ext cx="4814548"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sdcurvelab:MC"/>
            <p:cNvSpPr txBox="1"/>
            <p:nvPr/>
          </p:nvSpPr>
          <p:spPr>
            <a:xfrm>
              <a:off x="6250853" y="4659139"/>
              <a:ext cx="406527" cy="292608"/>
            </a:xfrm>
            <a:prstGeom prst="rect">
              <a:avLst/>
            </a:prstGeom>
            <a:noFill/>
          </p:spPr>
          <p:txBody>
            <a:bodyPr wrap="square" lIns="0" tIns="0" rIns="0" bIns="0">
              <a:spAutoFit/>
            </a:bodyPr>
            <a:lstStyle/>
            <a:p>
              <a:pPr algn="l"/>
              <a:r>
                <a:rPr sz="1800" b="1" i="1" u="none">
                  <a:solidFill>
                    <a:srgbClr val="0B2B4E"/>
                  </a:solidFill>
                  <a:latin typeface="Calibri"/>
                </a:rPr>
                <a:t>MC</a:t>
              </a:r>
            </a:p>
          </p:txBody>
        </p:sp>
      </p:grpSp>
      <p:cxnSp>
        <p:nvCxnSpPr>
          <p:cNvPr id="17" name="Connector 16"/>
          <p:cNvCxnSpPr/>
          <p:nvPr/>
        </p:nvCxnSpPr>
        <p:spPr>
          <a:xfrm>
            <a:off x="1325880" y="4861818"/>
            <a:ext cx="3091911"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417791" y="4861818"/>
            <a:ext cx="0" cy="112750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531465" y="2397045"/>
            <a:ext cx="118872" cy="118872"/>
          </a:xfrm>
          <a:prstGeom prst="ellipse">
            <a:avLst/>
          </a:prstGeom>
          <a:solidFill>
            <a:srgbClr val="A21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4" name="sdpair:arrow:134"/>
          <p:cNvGrpSpPr/>
          <p:nvPr/>
        </p:nvGrpSpPr>
        <p:grpSpPr>
          <a:xfrm>
            <a:off x="1590901" y="1673274"/>
            <a:ext cx="2084134" cy="783207"/>
            <a:chOff x="1590901" y="1673274"/>
            <a:chExt cx="2084134" cy="783207"/>
          </a:xfrm>
        </p:grpSpPr>
        <p:sp>
          <p:nvSpPr>
            <p:cNvPr id="20" name="TextBox 19"/>
            <p:cNvSpPr txBox="1"/>
            <p:nvPr/>
          </p:nvSpPr>
          <p:spPr>
            <a:xfrm>
              <a:off x="1891955" y="1673274"/>
              <a:ext cx="1783080" cy="438912"/>
            </a:xfrm>
            <a:prstGeom prst="rect">
              <a:avLst/>
            </a:prstGeom>
            <a:noFill/>
          </p:spPr>
          <p:txBody>
            <a:bodyPr wrap="square" lIns="0" tIns="0" rIns="0" bIns="0">
              <a:spAutoFit/>
            </a:bodyPr>
            <a:lstStyle/>
            <a:p>
              <a:pPr algn="ctr"/>
              <a:r>
                <a:rPr sz="1500" b="0" i="0" u="none">
                  <a:solidFill>
                    <a:srgbClr val="A2162A"/>
                  </a:solidFill>
                  <a:latin typeface="Calibri"/>
                </a:rPr>
                <a:t>Price charged to
high-MPV customer</a:t>
              </a:r>
            </a:p>
          </p:txBody>
        </p:sp>
        <p:cxnSp>
          <p:nvCxnSpPr>
            <p:cNvPr id="21" name="sdleader:22"/>
            <p:cNvCxnSpPr/>
            <p:nvPr/>
          </p:nvCxnSpPr>
          <p:spPr>
            <a:xfrm flipH="1">
              <a:off x="1590901" y="2135633"/>
              <a:ext cx="678741" cy="320848"/>
            </a:xfrm>
            <a:prstGeom prst="line">
              <a:avLst/>
            </a:prstGeom>
            <a:ln w="15875">
              <a:solidFill>
                <a:srgbClr val="A2162A"/>
              </a:solidFill>
            </a:ln>
          </p:spPr>
          <p:style>
            <a:lnRef idx="2">
              <a:schemeClr val="accent1"/>
            </a:lnRef>
            <a:fillRef idx="0">
              <a:schemeClr val="accent1"/>
            </a:fillRef>
            <a:effectRef idx="1">
              <a:schemeClr val="accent1"/>
            </a:effectRef>
            <a:fontRef idx="minor">
              <a:schemeClr val="tx1"/>
            </a:fontRef>
          </p:style>
        </p:cxnSp>
      </p:grpSp>
      <p:sp>
        <p:nvSpPr>
          <p:cNvPr id="22" name="Oval 21"/>
          <p:cNvSpPr/>
          <p:nvPr/>
        </p:nvSpPr>
        <p:spPr>
          <a:xfrm>
            <a:off x="3209931" y="3825214"/>
            <a:ext cx="118872" cy="11887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5" name="sdpair:arrow:135"/>
          <p:cNvGrpSpPr/>
          <p:nvPr/>
        </p:nvGrpSpPr>
        <p:grpSpPr>
          <a:xfrm>
            <a:off x="3269367" y="2800776"/>
            <a:ext cx="2614177" cy="1083874"/>
            <a:chOff x="3269367" y="2800776"/>
            <a:chExt cx="2614177" cy="1083874"/>
          </a:xfrm>
        </p:grpSpPr>
        <p:sp>
          <p:nvSpPr>
            <p:cNvPr id="23" name="TextBox 22"/>
            <p:cNvSpPr txBox="1"/>
            <p:nvPr/>
          </p:nvSpPr>
          <p:spPr>
            <a:xfrm>
              <a:off x="4100464" y="2800776"/>
              <a:ext cx="1783080" cy="438912"/>
            </a:xfrm>
            <a:prstGeom prst="rect">
              <a:avLst/>
            </a:prstGeom>
            <a:noFill/>
          </p:spPr>
          <p:txBody>
            <a:bodyPr wrap="square" lIns="0" tIns="0" rIns="0" bIns="0">
              <a:spAutoFit/>
            </a:bodyPr>
            <a:lstStyle/>
            <a:p>
              <a:pPr algn="ctr"/>
              <a:r>
                <a:rPr sz="1500" b="0" i="0" u="none">
                  <a:solidFill>
                    <a:srgbClr val="0B2B4E"/>
                  </a:solidFill>
                  <a:latin typeface="Calibri"/>
                </a:rPr>
                <a:t>Price charged to
median-MPV customer</a:t>
              </a:r>
            </a:p>
          </p:txBody>
        </p:sp>
        <p:cxnSp>
          <p:nvCxnSpPr>
            <p:cNvPr id="24" name="sdleader:25"/>
            <p:cNvCxnSpPr/>
            <p:nvPr/>
          </p:nvCxnSpPr>
          <p:spPr>
            <a:xfrm flipH="1">
              <a:off x="3269367" y="3264294"/>
              <a:ext cx="1236262" cy="620356"/>
            </a:xfrm>
            <a:prstGeom prst="line">
              <a:avLst/>
            </a:prstGeom>
            <a:ln w="15875">
              <a:solidFill>
                <a:srgbClr val="0B2B4E"/>
              </a:solidFill>
            </a:ln>
          </p:spPr>
          <p:style>
            <a:lnRef idx="2">
              <a:schemeClr val="accent1"/>
            </a:lnRef>
            <a:fillRef idx="0">
              <a:schemeClr val="accent1"/>
            </a:fillRef>
            <a:effectRef idx="1">
              <a:schemeClr val="accent1"/>
            </a:effectRef>
            <a:fontRef idx="minor">
              <a:schemeClr val="tx1"/>
            </a:fontRef>
          </p:style>
        </p:cxnSp>
      </p:grpSp>
      <p:sp>
        <p:nvSpPr>
          <p:cNvPr id="25" name="Oval 24"/>
          <p:cNvSpPr/>
          <p:nvPr/>
        </p:nvSpPr>
        <p:spPr>
          <a:xfrm>
            <a:off x="5330099" y="5629216"/>
            <a:ext cx="118872" cy="118872"/>
          </a:xfrm>
          <a:prstGeom prst="ellipse">
            <a:avLst/>
          </a:prstGeom>
          <a:solidFill>
            <a:srgbClr val="00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6" name="sdpair:arrow:136"/>
          <p:cNvGrpSpPr/>
          <p:nvPr/>
        </p:nvGrpSpPr>
        <p:grpSpPr>
          <a:xfrm>
            <a:off x="4763016" y="4134986"/>
            <a:ext cx="1783080" cy="1553666"/>
            <a:chOff x="4763016" y="4134986"/>
            <a:chExt cx="1783080" cy="1553666"/>
          </a:xfrm>
        </p:grpSpPr>
        <p:sp>
          <p:nvSpPr>
            <p:cNvPr id="26" name="TextBox 25"/>
            <p:cNvSpPr txBox="1"/>
            <p:nvPr/>
          </p:nvSpPr>
          <p:spPr>
            <a:xfrm>
              <a:off x="4763016" y="4134986"/>
              <a:ext cx="1783080" cy="438912"/>
            </a:xfrm>
            <a:prstGeom prst="rect">
              <a:avLst/>
            </a:prstGeom>
            <a:noFill/>
          </p:spPr>
          <p:txBody>
            <a:bodyPr wrap="square" lIns="0" tIns="0" rIns="0" bIns="0">
              <a:spAutoFit/>
            </a:bodyPr>
            <a:lstStyle/>
            <a:p>
              <a:pPr algn="ctr"/>
              <a:r>
                <a:rPr sz="1500" b="0" i="0" u="none">
                  <a:solidFill>
                    <a:srgbClr val="007A33"/>
                  </a:solidFill>
                  <a:latin typeface="Calibri"/>
                </a:rPr>
                <a:t>Do not sell to the
low-MPV customer</a:t>
              </a:r>
            </a:p>
          </p:txBody>
        </p:sp>
        <p:cxnSp>
          <p:nvCxnSpPr>
            <p:cNvPr id="27" name="sdleader:28"/>
            <p:cNvCxnSpPr/>
            <p:nvPr/>
          </p:nvCxnSpPr>
          <p:spPr>
            <a:xfrm flipH="1">
              <a:off x="5389535" y="4627710"/>
              <a:ext cx="210740" cy="1060942"/>
            </a:xfrm>
            <a:prstGeom prst="line">
              <a:avLst/>
            </a:prstGeom>
            <a:ln w="15875">
              <a:solidFill>
                <a:srgbClr val="007A33"/>
              </a:solidFill>
            </a:ln>
          </p:spPr>
          <p:style>
            <a:lnRef idx="2">
              <a:schemeClr val="accent1"/>
            </a:lnRef>
            <a:fillRef idx="0">
              <a:schemeClr val="accent1"/>
            </a:fillRef>
            <a:effectRef idx="1">
              <a:schemeClr val="accent1"/>
            </a:effectRef>
            <a:fontRef idx="minor">
              <a:schemeClr val="tx1"/>
            </a:fontRef>
          </p:style>
        </p:cxnSp>
      </p:grpSp>
      <p:sp>
        <p:nvSpPr>
          <p:cNvPr id="28" name="TextBox 27"/>
          <p:cNvSpPr txBox="1"/>
          <p:nvPr/>
        </p:nvSpPr>
        <p:spPr>
          <a:xfrm>
            <a:off x="7170522" y="1625346"/>
            <a:ext cx="4526280" cy="182880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dirty="0">
                <a:latin typeface="Calibri"/>
              </a:rPr>
              <a:t>Now: MC &gt; 0</a:t>
            </a:r>
          </a:p>
          <a:p>
            <a:pPr algn="l"/>
            <a:r>
              <a:rPr lang="en-US" dirty="0">
                <a:latin typeface="Calibri"/>
              </a:rPr>
              <a:t>Could you ask customers to reveal their </a:t>
            </a:r>
            <a:r>
              <a:rPr lang="en-US" dirty="0"/>
              <a:t>true MPV?</a:t>
            </a:r>
          </a:p>
          <a:p>
            <a:pPr algn="l"/>
            <a:r>
              <a:rPr lang="en-US" dirty="0">
                <a:latin typeface="Calibri"/>
                <a:sym typeface="Wingdings" panose="05000000000000000000" pitchFamily="2" charset="2"/>
              </a:rPr>
              <a:t> In-class discussion</a:t>
            </a:r>
            <a:endParaRPr dirty="0">
              <a:latin typeface="Calibri"/>
            </a:endParaRP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95394DCA-4CDA-5B1D-BE09-0AD834A5DD78}"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8"/>
                                        </p:tgtEl>
                                        <p:attrNameLst>
                                          <p:attrName>style.visibility</p:attrName>
                                        </p:attrNameLst>
                                      </p:cBhvr>
                                      <p:to>
                                        <p:strVal val="visible"/>
                                      </p:to>
                                    </p:set>
                                    <p:animEffect transition="in" filter="fade">
                                      <p:cBhvr>
                                        <p:cTn id="10" dur="500"/>
                                        <p:tgtEl>
                                          <p:spTgt spid="1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7"/>
                                        </p:tgtEl>
                                        <p:attrNameLst>
                                          <p:attrName>style.visibility</p:attrName>
                                        </p:attrNameLst>
                                      </p:cBhvr>
                                      <p:to>
                                        <p:strVal val="visible"/>
                                      </p:to>
                                    </p:set>
                                    <p:animEffect transition="in" filter="fade">
                                      <p:cBhvr>
                                        <p:cTn id="15" dur="500"/>
                                        <p:tgtEl>
                                          <p:spTgt spid="1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134"/>
                                        </p:tgtEl>
                                        <p:attrNameLst>
                                          <p:attrName>style.visibility</p:attrName>
                                        </p:attrNameLst>
                                      </p:cBhvr>
                                      <p:to>
                                        <p:strVal val="visible"/>
                                      </p:to>
                                    </p:set>
                                    <p:animEffect transition="in" filter="fade">
                                      <p:cBhvr>
                                        <p:cTn id="23" dur="500"/>
                                        <p:tgtEl>
                                          <p:spTgt spid="13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135"/>
                                        </p:tgtEl>
                                        <p:attrNameLst>
                                          <p:attrName>style.visibility</p:attrName>
                                        </p:attrNameLst>
                                      </p:cBhvr>
                                      <p:to>
                                        <p:strVal val="visible"/>
                                      </p:to>
                                    </p:set>
                                    <p:animEffect transition="in" filter="fade">
                                      <p:cBhvr>
                                        <p:cTn id="31" dur="500"/>
                                        <p:tgtEl>
                                          <p:spTgt spid="1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136"/>
                                        </p:tgtEl>
                                        <p:attrNameLst>
                                          <p:attrName>style.visibility</p:attrName>
                                        </p:attrNameLst>
                                      </p:cBhvr>
                                      <p:to>
                                        <p:strVal val="visible"/>
                                      </p:to>
                                    </p:set>
                                    <p:animEffect transition="in" filter="fade">
                                      <p:cBhvr>
                                        <p:cTn id="39" dur="500"/>
                                        <p:tgtEl>
                                          <p:spTgt spid="13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9"/>
                                        </p:tgtEl>
                                        <p:attrNameLst>
                                          <p:attrName>style.visibility</p:attrName>
                                        </p:attrNameLst>
                                      </p:cBhvr>
                                      <p:to>
                                        <p:strVal val="visible"/>
                                      </p:to>
                                    </p:set>
                                    <p:animEffect transition="in" filter="fade">
                                      <p:cBhvr>
                                        <p:cTn id="44" dur="500"/>
                                        <p:tgtEl>
                                          <p:spTgt spid="139"/>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28">
                                            <p:txEl>
                                              <p:pRg st="1" end="1"/>
                                            </p:txEl>
                                          </p:spTgt>
                                        </p:tgtEl>
                                        <p:attrNameLst>
                                          <p:attrName>style.visibility</p:attrName>
                                        </p:attrNameLst>
                                      </p:cBhvr>
                                      <p:to>
                                        <p:strVal val="visible"/>
                                      </p:to>
                                    </p:set>
                                    <p:animEffect transition="in" filter="fade">
                                      <p:cBhvr>
                                        <p:cTn id="53" dur="500"/>
                                        <p:tgtEl>
                                          <p:spTgt spid="28">
                                            <p:txEl>
                                              <p:pRg st="1" end="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28">
                                            <p:txEl>
                                              <p:pRg st="2" end="2"/>
                                            </p:txEl>
                                          </p:spTgt>
                                        </p:tgtEl>
                                        <p:attrNameLst>
                                          <p:attrName>style.visibility</p:attrName>
                                        </p:attrNameLst>
                                      </p:cBhvr>
                                      <p:to>
                                        <p:strVal val="visible"/>
                                      </p:to>
                                    </p:set>
                                    <p:animEffect transition="in" filter="fade">
                                      <p:cBhvr>
                                        <p:cTn id="56" dur="500"/>
                                        <p:tgtEl>
                                          <p:spTgt spid="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617</Words>
  <Application>Microsoft Office PowerPoint</Application>
  <PresentationFormat>Widescreen</PresentationFormat>
  <Paragraphs>85</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15</cp:revision>
  <dcterms:created xsi:type="dcterms:W3CDTF">2013-01-27T09:14:16Z</dcterms:created>
  <dcterms:modified xsi:type="dcterms:W3CDTF">2026-09-24T19:48:32Z</dcterms:modified>
  <cp:category/>
</cp:coreProperties>
</file>