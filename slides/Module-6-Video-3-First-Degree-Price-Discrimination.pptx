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72" r:id="rId2"/>
    <p:sldId id="273" r:id="rId3"/>
    <p:sldId id="274" r:id="rId4"/>
    <p:sldId id="275" r:id="rId5"/>
    <p:sldId id="276" r:id="rId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63EF34-BBF4-4EE4-A8C7-B7C7750069CA}" type="datetimeFigureOut">
              <a:rPr lang="en-US" smtClean="0"/>
              <a:t>9/23/2026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0BAC09-9370-4EA9-BE24-094450873490}" type="slidenum">
              <a:rPr lang="en-US" smtClean="0"/>
              <a:t>‹#›</a:t>
            </a:fld>
            <a:endParaRPr lang="en-US"/>
          </a:p>
        </p:txBody>
      </p:sp>
    </p:spTree>
    <p:extLst>
      <p:ext uri="{BB962C8B-B14F-4D97-AF65-F5344CB8AC3E}">
        <p14:creationId xmlns:p14="http://schemas.microsoft.com/office/powerpoint/2010/main" val="30919235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the dream case: the firm knows exactly what each customer will pay.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First-degree, or perfect, price discrimination means a different price for every buyer. It needs three things: customers who differ, a firm that knows how they differ, and no resale. Note the last line: this is still largely hypothetical, and it is worth keeping that in mind while we work out how powerful it would be.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an ideal world you would like to charge individual prices to mop up all the surplus – to capture all the area beneath the Demand curve in the form of corporate revenue. This type of customized pricing represents the ideal. Customized to what? To the buyers’ valuations! This is difficult to do in practice for a variety of reasons: e.g., arbitrage, legal restrictions.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an ideal world you would like to charge individual prices to mop up all the surplus – to capture all the area beneath the Demand curve in the form of corporate revenue. This type of customized pricing represents the ideal. Customized to what? To the buyers’ valuations! This is difficult to do in practice for a variety of reasons: e.g., arbitrage, legal restrictions.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12191695" cy="1005840"/>
          </a:xfrm>
          <a:prstGeom prst="rect">
            <a:avLst/>
          </a:prstGeom>
          <a:noFill/>
        </p:spPr>
        <p:txBody>
          <a:bodyPr wrap="square" lIns="0" tIns="0" rIns="0" bIns="0">
            <a:spAutoFit/>
          </a:bodyPr>
          <a:lstStyle/>
          <a:p>
            <a:pPr algn="ctr"/>
            <a:r>
              <a:rPr sz="6000" b="1" i="0" u="none" dirty="0">
                <a:solidFill>
                  <a:srgbClr val="0B2B4E"/>
                </a:solidFill>
                <a:latin typeface="Calibri"/>
              </a:rPr>
              <a:t>First-Degree Price Discrimination</a:t>
            </a:r>
          </a:p>
        </p:txBody>
      </p:sp>
      <p:sp>
        <p:nvSpPr>
          <p:cNvPr id="3" name="TextBox 2"/>
          <p:cNvSpPr txBox="1"/>
          <p:nvPr/>
        </p:nvSpPr>
        <p:spPr>
          <a:xfrm>
            <a:off x="0" y="2971800"/>
            <a:ext cx="12191695" cy="685800"/>
          </a:xfrm>
          <a:prstGeom prst="rect">
            <a:avLst/>
          </a:prstGeom>
          <a:noFill/>
        </p:spPr>
        <p:txBody>
          <a:bodyPr wrap="square" lIns="0" tIns="0" rIns="0" bIns="0">
            <a:spAutoFit/>
          </a:bodyPr>
          <a:lstStyle/>
          <a:p>
            <a:pPr algn="ctr"/>
            <a:r>
              <a:rPr sz="4000" b="1" i="0" u="none">
                <a:solidFill>
                  <a:srgbClr val="E09F3E"/>
                </a:solidFill>
                <a:latin typeface="Calibri"/>
              </a:rPr>
              <a:t>Module 6  ·  Video 3</a:t>
            </a:r>
          </a:p>
        </p:txBody>
      </p:sp>
      <p:sp>
        <p:nvSpPr>
          <p:cNvPr id="4" name="Rectangle 3"/>
          <p:cNvSpPr/>
          <p:nvPr/>
        </p:nvSpPr>
        <p:spPr>
          <a:xfrm>
            <a:off x="4267047" y="3913632"/>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4224528"/>
            <a:ext cx="12191695" cy="502920"/>
          </a:xfrm>
          <a:prstGeom prst="rect">
            <a:avLst/>
          </a:prstGeom>
          <a:noFill/>
        </p:spPr>
        <p:txBody>
          <a:bodyPr wrap="square" lIns="0" tIns="0" rIns="0" bIns="0">
            <a:spAutoFit/>
          </a:bodyPr>
          <a:lstStyle/>
          <a:p>
            <a:pPr algn="ctr"/>
            <a:r>
              <a:rPr sz="2600" b="1" i="0" u="none">
                <a:solidFill>
                  <a:srgbClr val="555B66"/>
                </a:solidFill>
                <a:latin typeface="Calibri"/>
              </a:rPr>
              <a:t>Management 405</a:t>
            </a:r>
          </a:p>
        </p:txBody>
      </p:sp>
      <p:sp>
        <p:nvSpPr>
          <p:cNvPr id="6" name="TextBox 5"/>
          <p:cNvSpPr txBox="1"/>
          <p:nvPr/>
        </p:nvSpPr>
        <p:spPr>
          <a:xfrm>
            <a:off x="0" y="4864608"/>
            <a:ext cx="12191695" cy="457200"/>
          </a:xfrm>
          <a:prstGeom prst="rect">
            <a:avLst/>
          </a:prstGeom>
          <a:noFill/>
        </p:spPr>
        <p:txBody>
          <a:bodyPr wrap="square" lIns="0" tIns="0" r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6 · Video 3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6</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298424"/>
            <a:ext cx="466344" cy="46634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BFBFBF"/>
                </a:solidFill>
                <a:latin typeface="Calibri"/>
              </a:rPr>
              <a:t>1</a:t>
            </a:r>
          </a:p>
        </p:txBody>
      </p:sp>
      <p:sp>
        <p:nvSpPr>
          <p:cNvPr id="8" name="Rounded Rectangle 7"/>
          <p:cNvSpPr/>
          <p:nvPr/>
        </p:nvSpPr>
        <p:spPr>
          <a:xfrm>
            <a:off x="10332720" y="135786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2</a:t>
            </a:r>
          </a:p>
        </p:txBody>
      </p:sp>
      <p:sp>
        <p:nvSpPr>
          <p:cNvPr id="9" name="TextBox 8"/>
          <p:cNvSpPr txBox="1"/>
          <p:nvPr/>
        </p:nvSpPr>
        <p:spPr>
          <a:xfrm>
            <a:off x="1874519" y="1381909"/>
            <a:ext cx="8293609" cy="48463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Simple vs. Complex Pricing</a:t>
            </a:r>
          </a:p>
        </p:txBody>
      </p:sp>
      <p:sp>
        <p:nvSpPr>
          <p:cNvPr id="10" name="Oval 9"/>
          <p:cNvSpPr/>
          <p:nvPr/>
        </p:nvSpPr>
        <p:spPr>
          <a:xfrm>
            <a:off x="1051560" y="1920216"/>
            <a:ext cx="466344" cy="46634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0B2B4E"/>
                </a:solidFill>
                <a:latin typeface="Calibri"/>
              </a:rPr>
              <a:t>2</a:t>
            </a:r>
          </a:p>
        </p:txBody>
      </p:sp>
      <p:sp>
        <p:nvSpPr>
          <p:cNvPr id="11" name="Rounded Rectangle 10"/>
          <p:cNvSpPr/>
          <p:nvPr/>
        </p:nvSpPr>
        <p:spPr>
          <a:xfrm>
            <a:off x="10332720" y="1908798"/>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Videos 3+4</a:t>
            </a:r>
          </a:p>
        </p:txBody>
      </p:sp>
      <p:sp>
        <p:nvSpPr>
          <p:cNvPr id="12" name="TextBox 11"/>
          <p:cNvSpPr txBox="1"/>
          <p:nvPr/>
        </p:nvSpPr>
        <p:spPr>
          <a:xfrm>
            <a:off x="1874519" y="1901928"/>
            <a:ext cx="8293609" cy="342924"/>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Direct Price Discrimination</a:t>
            </a:r>
          </a:p>
        </p:txBody>
      </p:sp>
      <p:sp>
        <p:nvSpPr>
          <p:cNvPr id="13" name="Rounded Rectangle 12"/>
          <p:cNvSpPr/>
          <p:nvPr/>
        </p:nvSpPr>
        <p:spPr>
          <a:xfrm>
            <a:off x="1252728" y="2244852"/>
            <a:ext cx="10680192" cy="589788"/>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481328" y="2345436"/>
            <a:ext cx="384048" cy="384048"/>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0B2B4E"/>
                </a:solidFill>
                <a:latin typeface="Calibri"/>
              </a:rPr>
              <a:t>2a</a:t>
            </a:r>
          </a:p>
        </p:txBody>
      </p:sp>
      <p:sp>
        <p:nvSpPr>
          <p:cNvPr id="15" name="Rounded Rectangle 14"/>
          <p:cNvSpPr/>
          <p:nvPr/>
        </p:nvSpPr>
        <p:spPr>
          <a:xfrm>
            <a:off x="10707625" y="2368296"/>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3</a:t>
            </a:r>
          </a:p>
        </p:txBody>
      </p:sp>
      <p:sp>
        <p:nvSpPr>
          <p:cNvPr id="16" name="TextBox 15"/>
          <p:cNvSpPr txBox="1"/>
          <p:nvPr/>
        </p:nvSpPr>
        <p:spPr>
          <a:xfrm>
            <a:off x="2084831" y="2290572"/>
            <a:ext cx="8458202" cy="48463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Perfect Price Discrimination (First Degree)</a:t>
            </a:r>
          </a:p>
          <a:p>
            <a:pPr algn="l">
              <a:spcBef>
                <a:spcPts val="0"/>
              </a:spcBef>
              <a:buNone/>
            </a:pPr>
            <a:r>
              <a:rPr sz="1600">
                <a:solidFill>
                  <a:srgbClr val="555B66"/>
                </a:solidFill>
                <a:latin typeface="Calibri"/>
              </a:rPr>
              <a:t>Charging every customer her own willingness to pay</a:t>
            </a:r>
          </a:p>
        </p:txBody>
      </p:sp>
      <p:sp>
        <p:nvSpPr>
          <p:cNvPr id="17" name="Oval 16"/>
          <p:cNvSpPr/>
          <p:nvPr/>
        </p:nvSpPr>
        <p:spPr>
          <a:xfrm>
            <a:off x="1481328" y="2875788"/>
            <a:ext cx="384048" cy="384048"/>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BFBFBF"/>
                </a:solidFill>
                <a:latin typeface="Calibri"/>
              </a:rPr>
              <a:t>2b</a:t>
            </a:r>
          </a:p>
        </p:txBody>
      </p:sp>
      <p:sp>
        <p:nvSpPr>
          <p:cNvPr id="18" name="Rounded Rectangle 17"/>
          <p:cNvSpPr/>
          <p:nvPr/>
        </p:nvSpPr>
        <p:spPr>
          <a:xfrm>
            <a:off x="10707625" y="289864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4</a:t>
            </a:r>
          </a:p>
        </p:txBody>
      </p:sp>
      <p:sp>
        <p:nvSpPr>
          <p:cNvPr id="19" name="TextBox 18"/>
          <p:cNvSpPr txBox="1"/>
          <p:nvPr/>
        </p:nvSpPr>
        <p:spPr>
          <a:xfrm>
            <a:off x="2084831" y="2922697"/>
            <a:ext cx="8458202" cy="48463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BFBFBF"/>
                </a:solidFill>
                <a:latin typeface="Calibri"/>
              </a:rPr>
              <a:t>Segment Pricing (Third Degree)</a:t>
            </a:r>
          </a:p>
        </p:txBody>
      </p:sp>
      <p:sp>
        <p:nvSpPr>
          <p:cNvPr id="20" name="Oval 19"/>
          <p:cNvSpPr/>
          <p:nvPr/>
        </p:nvSpPr>
        <p:spPr>
          <a:xfrm>
            <a:off x="1051560" y="3369564"/>
            <a:ext cx="466344" cy="46634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BFBFBF"/>
                </a:solidFill>
                <a:latin typeface="Calibri"/>
              </a:rPr>
              <a:t>3</a:t>
            </a:r>
          </a:p>
        </p:txBody>
      </p:sp>
      <p:sp>
        <p:nvSpPr>
          <p:cNvPr id="21" name="Rounded Rectangle 20"/>
          <p:cNvSpPr/>
          <p:nvPr/>
        </p:nvSpPr>
        <p:spPr>
          <a:xfrm>
            <a:off x="10332720" y="342900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5</a:t>
            </a:r>
          </a:p>
        </p:txBody>
      </p:sp>
      <p:sp>
        <p:nvSpPr>
          <p:cNvPr id="22" name="TextBox 21"/>
          <p:cNvSpPr txBox="1"/>
          <p:nvPr/>
        </p:nvSpPr>
        <p:spPr>
          <a:xfrm>
            <a:off x="1874519" y="3453049"/>
            <a:ext cx="8293609" cy="48463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Indirect Price Discrimination (Second Degree)</a:t>
            </a:r>
          </a:p>
        </p:txBody>
      </p:sp>
      <p:sp>
        <p:nvSpPr>
          <p:cNvPr id="23" name="Oval 22"/>
          <p:cNvSpPr/>
          <p:nvPr/>
        </p:nvSpPr>
        <p:spPr>
          <a:xfrm>
            <a:off x="1051560" y="3991356"/>
            <a:ext cx="466344" cy="46634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BFBFBF"/>
                </a:solidFill>
                <a:latin typeface="Calibri"/>
              </a:rPr>
              <a:t>4</a:t>
            </a:r>
          </a:p>
        </p:txBody>
      </p:sp>
      <p:sp>
        <p:nvSpPr>
          <p:cNvPr id="24" name="Rounded Rectangle 23"/>
          <p:cNvSpPr/>
          <p:nvPr/>
        </p:nvSpPr>
        <p:spPr>
          <a:xfrm>
            <a:off x="10332720" y="3979938"/>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Videos 6–8</a:t>
            </a:r>
          </a:p>
        </p:txBody>
      </p:sp>
      <p:sp>
        <p:nvSpPr>
          <p:cNvPr id="25" name="TextBox 24"/>
          <p:cNvSpPr txBox="1"/>
          <p:nvPr/>
        </p:nvSpPr>
        <p:spPr>
          <a:xfrm>
            <a:off x="1874519" y="3973068"/>
            <a:ext cx="8293609" cy="342924"/>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Advanced Pricing Strategies</a:t>
            </a:r>
          </a:p>
        </p:txBody>
      </p:sp>
      <p:sp>
        <p:nvSpPr>
          <p:cNvPr id="26" name="Oval 25"/>
          <p:cNvSpPr/>
          <p:nvPr/>
        </p:nvSpPr>
        <p:spPr>
          <a:xfrm>
            <a:off x="1481328" y="4416576"/>
            <a:ext cx="384048" cy="384048"/>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BFBFBF"/>
                </a:solidFill>
                <a:latin typeface="Calibri"/>
              </a:rPr>
              <a:t>4a</a:t>
            </a:r>
          </a:p>
        </p:txBody>
      </p:sp>
      <p:sp>
        <p:nvSpPr>
          <p:cNvPr id="27" name="Rounded Rectangle 26"/>
          <p:cNvSpPr/>
          <p:nvPr/>
        </p:nvSpPr>
        <p:spPr>
          <a:xfrm>
            <a:off x="10707625" y="4439436"/>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6</a:t>
            </a:r>
          </a:p>
        </p:txBody>
      </p:sp>
      <p:sp>
        <p:nvSpPr>
          <p:cNvPr id="28" name="TextBox 27"/>
          <p:cNvSpPr txBox="1"/>
          <p:nvPr/>
        </p:nvSpPr>
        <p:spPr>
          <a:xfrm>
            <a:off x="2084831" y="4463485"/>
            <a:ext cx="8458202" cy="48463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BFBFBF"/>
                </a:solidFill>
                <a:latin typeface="Calibri"/>
              </a:rPr>
              <a:t>Flat Fee Pricing</a:t>
            </a:r>
          </a:p>
        </p:txBody>
      </p:sp>
      <p:sp>
        <p:nvSpPr>
          <p:cNvPr id="29" name="Oval 28"/>
          <p:cNvSpPr/>
          <p:nvPr/>
        </p:nvSpPr>
        <p:spPr>
          <a:xfrm>
            <a:off x="1481328" y="4946928"/>
            <a:ext cx="384048" cy="384048"/>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BFBFBF"/>
                </a:solidFill>
                <a:latin typeface="Calibri"/>
              </a:rPr>
              <a:t>4b</a:t>
            </a:r>
          </a:p>
        </p:txBody>
      </p:sp>
      <p:sp>
        <p:nvSpPr>
          <p:cNvPr id="30" name="Rounded Rectangle 29"/>
          <p:cNvSpPr/>
          <p:nvPr/>
        </p:nvSpPr>
        <p:spPr>
          <a:xfrm>
            <a:off x="10707625" y="496978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7</a:t>
            </a:r>
          </a:p>
        </p:txBody>
      </p:sp>
      <p:sp>
        <p:nvSpPr>
          <p:cNvPr id="31" name="TextBox 30"/>
          <p:cNvSpPr txBox="1"/>
          <p:nvPr/>
        </p:nvSpPr>
        <p:spPr>
          <a:xfrm>
            <a:off x="2084831" y="4993837"/>
            <a:ext cx="8458202" cy="48463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BFBFBF"/>
                </a:solidFill>
                <a:latin typeface="Calibri"/>
              </a:rPr>
              <a:t>Two-Part Tariff</a:t>
            </a:r>
          </a:p>
        </p:txBody>
      </p:sp>
      <p:sp>
        <p:nvSpPr>
          <p:cNvPr id="32" name="Oval 31"/>
          <p:cNvSpPr/>
          <p:nvPr/>
        </p:nvSpPr>
        <p:spPr>
          <a:xfrm>
            <a:off x="1481328" y="5477280"/>
            <a:ext cx="384048" cy="384048"/>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BFBFBF"/>
                </a:solidFill>
                <a:latin typeface="Calibri"/>
              </a:rPr>
              <a:t>4c</a:t>
            </a:r>
          </a:p>
        </p:txBody>
      </p:sp>
      <p:sp>
        <p:nvSpPr>
          <p:cNvPr id="33" name="Rounded Rectangle 32"/>
          <p:cNvSpPr/>
          <p:nvPr/>
        </p:nvSpPr>
        <p:spPr>
          <a:xfrm>
            <a:off x="10707625" y="5500140"/>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8</a:t>
            </a:r>
          </a:p>
        </p:txBody>
      </p:sp>
      <p:sp>
        <p:nvSpPr>
          <p:cNvPr id="34" name="TextBox 33"/>
          <p:cNvSpPr txBox="1"/>
          <p:nvPr/>
        </p:nvSpPr>
        <p:spPr>
          <a:xfrm>
            <a:off x="2084831" y="5524189"/>
            <a:ext cx="8458202" cy="48463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BFBFBF"/>
                </a:solidFill>
                <a:latin typeface="Calibri"/>
              </a:rPr>
              <a:t>Block Pricing</a:t>
            </a:r>
          </a:p>
        </p:txBody>
      </p:sp>
      <p:sp>
        <p:nvSpPr>
          <p:cNvPr id="35" name="Oval 34"/>
          <p:cNvSpPr/>
          <p:nvPr/>
        </p:nvSpPr>
        <p:spPr>
          <a:xfrm>
            <a:off x="1051560" y="5971056"/>
            <a:ext cx="466344" cy="46634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BFBFBF"/>
                </a:solidFill>
                <a:latin typeface="Calibri"/>
              </a:rPr>
              <a:t>5</a:t>
            </a:r>
          </a:p>
        </p:txBody>
      </p:sp>
      <p:sp>
        <p:nvSpPr>
          <p:cNvPr id="36" name="Rounded Rectangle 35"/>
          <p:cNvSpPr/>
          <p:nvPr/>
        </p:nvSpPr>
        <p:spPr>
          <a:xfrm>
            <a:off x="10332720" y="6030492"/>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9</a:t>
            </a:r>
          </a:p>
        </p:txBody>
      </p:sp>
      <p:sp>
        <p:nvSpPr>
          <p:cNvPr id="38" name="Rectangle 3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6  ·  Complex Pricing and Advanced Pricing Strategies</a:t>
            </a:r>
          </a:p>
        </p:txBody>
      </p:sp>
      <p:sp>
        <p:nvSpPr>
          <p:cNvPr id="41" name="TextBox 40"/>
          <p:cNvSpPr txBox="1"/>
          <p:nvPr/>
        </p:nvSpPr>
        <p:spPr>
          <a:xfrm>
            <a:off x="11475720" y="6583680"/>
            <a:ext cx="502920" cy="292608"/>
          </a:xfrm>
          <a:prstGeom prst="rect">
            <a:avLst/>
          </a:prstGeom>
          <a:noFill/>
        </p:spPr>
        <p:txBody>
          <a:bodyPr wrap="none" lIns="0" tIns="0" rIns="0" bIns="0">
            <a:spAutoFit/>
          </a:bodyPr>
          <a:lstStyle/>
          <a:p>
            <a:pPr algn="r"/>
            <a:fld id="{7A6F22D0-723E-561A-A382-778B47BF3598}" type="slidenum">
              <a:rPr lang="en-US" sz="1200" dirty="0">
                <a:solidFill>
                  <a:srgbClr val="555B66"/>
                </a:solidFill>
                <a:latin typeface="Calibri"/>
              </a:rPr>
              <a:t>2</a:t>
            </a:fld>
            <a:endParaRPr lang="en-US" sz="1200" dirty="0">
              <a:solidFill>
                <a:srgbClr val="555B66"/>
              </a:solidFill>
              <a:latin typeface="Calibri"/>
            </a:endParaRPr>
          </a:p>
        </p:txBody>
      </p:sp>
      <p:sp>
        <p:nvSpPr>
          <p:cNvPr id="37" name="TextBox 36"/>
          <p:cNvSpPr txBox="1"/>
          <p:nvPr/>
        </p:nvSpPr>
        <p:spPr>
          <a:xfrm>
            <a:off x="1874519" y="6054541"/>
            <a:ext cx="8293609" cy="48463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Summary of Pricing Strategies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6 · Video 3 · Perfect Price Discrimination (First Degree)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First Degree Price Discrimination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463040"/>
            <a:ext cx="5916168" cy="3849624"/>
          </a:xfrm>
          <a:prstGeom prst="rect">
            <a:avLst/>
          </a:prstGeom>
          <a:noFill/>
        </p:spPr>
        <p:txBody>
          <a:bodyPr wrap="square" lIns="0" tIns="0" rIns="0" bIns="0" anchor="ctr">
            <a:noAutofit/>
          </a:bodyPr>
          <a:lstStyle>
            <a:lvl1pPr marL="342900" indent="-342900">
              <a:spcBef>
                <a:spcPts val="12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dirty="0">
                <a:latin typeface="Calibri"/>
              </a:rPr>
              <a:t>Charge each customer a different price</a:t>
            </a:r>
          </a:p>
          <a:p>
            <a:pPr algn="l"/>
            <a:r>
              <a:rPr dirty="0">
                <a:latin typeface="Calibri"/>
              </a:rPr>
              <a:t>Also known as perfect price discrimination</a:t>
            </a:r>
          </a:p>
          <a:p>
            <a:pPr algn="l"/>
            <a:r>
              <a:rPr dirty="0">
                <a:latin typeface="Calibri"/>
              </a:rPr>
              <a:t>Conditions:</a:t>
            </a:r>
          </a:p>
          <a:p>
            <a:pPr lvl="1" algn="l"/>
            <a:r>
              <a:rPr dirty="0">
                <a:latin typeface="Calibri"/>
              </a:rPr>
              <a:t>Many consumers with different MPV for the firm’s product</a:t>
            </a:r>
          </a:p>
          <a:p>
            <a:pPr lvl="1" algn="l"/>
            <a:r>
              <a:rPr dirty="0">
                <a:latin typeface="Calibri"/>
              </a:rPr>
              <a:t>Firm knows each consumer’s MPV (i.e., willingness to pay)</a:t>
            </a:r>
          </a:p>
          <a:p>
            <a:pPr lvl="1" algn="l"/>
            <a:r>
              <a:rPr dirty="0">
                <a:latin typeface="Calibri"/>
              </a:rPr>
              <a:t>Firm can prevent resale</a:t>
            </a:r>
          </a:p>
        </p:txBody>
      </p:sp>
      <p:pic>
        <p:nvPicPr>
          <p:cNvPr id="8" name="Picture 7" descr="NV_s15_first_degree.png"/>
          <p:cNvPicPr>
            <a:picLocks noChangeAspect="1"/>
          </p:cNvPicPr>
          <p:nvPr/>
        </p:nvPicPr>
        <p:blipFill>
          <a:blip r:embed="rId3"/>
          <a:stretch>
            <a:fillRect/>
          </a:stretch>
        </p:blipFill>
        <p:spPr>
          <a:xfrm>
            <a:off x="7004304" y="1467612"/>
            <a:ext cx="4722876" cy="4722876"/>
          </a:xfrm>
          <a:prstGeom prst="roundRect">
            <a:avLst>
              <a:gd name="adj" fmla="val 8000"/>
            </a:avLst>
          </a:prstGeom>
          <a:effectLst>
            <a:outerShdw blurRad="50800" dist="38100" dir="2700000" algn="tl" rotWithShape="0">
              <a:srgbClr val="000000">
                <a:alpha val="50000"/>
              </a:srgbClr>
            </a:outerShdw>
          </a:effectLst>
        </p:spPr>
      </p:pic>
      <p:sp>
        <p:nvSpPr>
          <p:cNvPr id="9" name="Rounded Rectangle 8"/>
          <p:cNvSpPr/>
          <p:nvPr/>
        </p:nvSpPr>
        <p:spPr>
          <a:xfrm>
            <a:off x="466344" y="5715000"/>
            <a:ext cx="5916168" cy="64008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FFFFFF"/>
                </a:solidFill>
                <a:latin typeface="Calibri"/>
              </a:rPr>
              <a:t>Is first-degree price discrimination hypothetical or real?</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6  ·  Complex Pricing and Advanced Pricing Strategies</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C1454909-D6FF-5F1F-980F-67DB08190285}" type="slidenum">
              <a:rPr lang="en-US" sz="1200" dirty="0">
                <a:solidFill>
                  <a:srgbClr val="555B66"/>
                </a:solidFill>
                <a:latin typeface="Calibri"/>
              </a:rPr>
              <a:t>3</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6 · Video 3 · Perfect Price Discrimination (First Degree)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First Degree Price Discrimination (Assume MC = 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sdaxis:y"/>
          <p:cNvCxnSpPr/>
          <p:nvPr/>
        </p:nvCxnSpPr>
        <p:spPr>
          <a:xfrm flipV="1">
            <a:off x="1325880" y="1389888"/>
            <a:ext cx="0" cy="459943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sdaxis:x"/>
          <p:cNvCxnSpPr/>
          <p:nvPr/>
        </p:nvCxnSpPr>
        <p:spPr>
          <a:xfrm>
            <a:off x="1325880" y="5989320"/>
            <a:ext cx="537667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sdaxistitle:y"/>
          <p:cNvSpPr txBox="1"/>
          <p:nvPr/>
        </p:nvSpPr>
        <p:spPr>
          <a:xfrm>
            <a:off x="1046225" y="1257300"/>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0" name="sdaxistitle:x"/>
          <p:cNvSpPr txBox="1"/>
          <p:nvPr/>
        </p:nvSpPr>
        <p:spPr>
          <a:xfrm>
            <a:off x="6589776" y="6035040"/>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grpSp>
        <p:nvGrpSpPr>
          <p:cNvPr id="133" name="sdpair:sdreglab:c4f36a54"/>
          <p:cNvGrpSpPr/>
          <p:nvPr/>
        </p:nvGrpSpPr>
        <p:grpSpPr>
          <a:xfrm>
            <a:off x="1325880" y="2230981"/>
            <a:ext cx="4417016" cy="3758339"/>
            <a:chOff x="1325880" y="2230981"/>
            <a:chExt cx="4417016" cy="3758339"/>
          </a:xfrm>
        </p:grpSpPr>
        <p:sp>
          <p:nvSpPr>
            <p:cNvPr id="11" name="sdregion:c4f36a54"/>
            <p:cNvSpPr/>
            <p:nvPr/>
          </p:nvSpPr>
          <p:spPr>
            <a:xfrm>
              <a:off x="1325880" y="2230981"/>
              <a:ext cx="4417016" cy="3758339"/>
            </a:xfrm>
            <a:custGeom>
              <a:avLst/>
              <a:gdLst/>
              <a:ahLst/>
              <a:cxnLst/>
              <a:rect l="0" t="0" r="r" b="b"/>
              <a:pathLst>
                <a:path w="4417016" h="3758339">
                  <a:moveTo>
                    <a:pt x="0" y="0"/>
                  </a:moveTo>
                  <a:lnTo>
                    <a:pt x="0" y="3758339"/>
                  </a:lnTo>
                  <a:lnTo>
                    <a:pt x="4417016" y="3758339"/>
                  </a:lnTo>
                  <a:close/>
                </a:path>
              </a:pathLst>
            </a:custGeom>
            <a:solidFill>
              <a:srgbClr val="E09F3E">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sdreglab:c4f36a54"/>
            <p:cNvSpPr txBox="1"/>
            <p:nvPr/>
          </p:nvSpPr>
          <p:spPr>
            <a:xfrm>
              <a:off x="1476083" y="5012994"/>
              <a:ext cx="1996440" cy="291465"/>
            </a:xfrm>
            <a:prstGeom prst="rect">
              <a:avLst/>
            </a:prstGeom>
            <a:noFill/>
          </p:spPr>
          <p:txBody>
            <a:bodyPr wrap="square" lIns="0" tIns="0" rIns="0" bIns="0">
              <a:spAutoFit/>
            </a:bodyPr>
            <a:lstStyle/>
            <a:p>
              <a:pPr algn="ctr"/>
              <a:r>
                <a:rPr sz="1700" b="1" i="0" u="none">
                  <a:solidFill>
                    <a:srgbClr val="0B2B4E"/>
                  </a:solidFill>
                  <a:latin typeface="Calibri"/>
                </a:rPr>
                <a:t>Revenues and profits</a:t>
              </a:r>
            </a:p>
          </p:txBody>
        </p:sp>
      </p:grpSp>
      <p:grpSp>
        <p:nvGrpSpPr>
          <p:cNvPr id="132" name="sdpair:curve:D"/>
          <p:cNvGrpSpPr/>
          <p:nvPr/>
        </p:nvGrpSpPr>
        <p:grpSpPr>
          <a:xfrm>
            <a:off x="1325880" y="2230981"/>
            <a:ext cx="5939656" cy="3758339"/>
            <a:chOff x="1325880" y="2230981"/>
            <a:chExt cx="5939656" cy="3758339"/>
          </a:xfrm>
        </p:grpSpPr>
        <p:cxnSp>
          <p:nvCxnSpPr>
            <p:cNvPr id="12" name="sdcurve:D"/>
            <p:cNvCxnSpPr/>
            <p:nvPr/>
          </p:nvCxnSpPr>
          <p:spPr>
            <a:xfrm>
              <a:off x="1325880" y="2230981"/>
              <a:ext cx="4417016" cy="3758339"/>
            </a:xfrm>
            <a:prstGeom prst="line">
              <a:avLst/>
            </a:prstGeom>
            <a:ln w="34925">
              <a:solidFill>
                <a:srgbClr val="A2162A"/>
              </a:solidFill>
            </a:ln>
          </p:spPr>
          <p:style>
            <a:lnRef idx="2">
              <a:schemeClr val="accent1"/>
            </a:lnRef>
            <a:fillRef idx="0">
              <a:schemeClr val="accent1"/>
            </a:fillRef>
            <a:effectRef idx="1">
              <a:schemeClr val="accent1"/>
            </a:effectRef>
            <a:fontRef idx="minor">
              <a:schemeClr val="tx1"/>
            </a:fontRef>
          </p:style>
        </p:cxnSp>
        <p:sp>
          <p:nvSpPr>
            <p:cNvPr id="13" name="sdcurvelab:D"/>
            <p:cNvSpPr txBox="1"/>
            <p:nvPr/>
          </p:nvSpPr>
          <p:spPr>
            <a:xfrm>
              <a:off x="5696959" y="5596093"/>
              <a:ext cx="1568577" cy="292608"/>
            </a:xfrm>
            <a:prstGeom prst="rect">
              <a:avLst/>
            </a:prstGeom>
            <a:noFill/>
          </p:spPr>
          <p:txBody>
            <a:bodyPr wrap="square" lIns="0" tIns="0" rIns="0" bIns="0">
              <a:spAutoFit/>
            </a:bodyPr>
            <a:lstStyle/>
            <a:p>
              <a:pPr algn="l"/>
              <a:r>
                <a:rPr sz="1800" b="1" i="1" u="none">
                  <a:solidFill>
                    <a:srgbClr val="A2162A"/>
                  </a:solidFill>
                  <a:latin typeface="Calibri"/>
                </a:rPr>
                <a:t>Demand = MPV</a:t>
              </a:r>
            </a:p>
          </p:txBody>
        </p:sp>
      </p:grpSp>
      <p:sp>
        <p:nvSpPr>
          <p:cNvPr id="15" name="sdreglab:c4f36a54"/>
          <p:cNvSpPr txBox="1"/>
          <p:nvPr/>
        </p:nvSpPr>
        <p:spPr>
          <a:xfrm>
            <a:off x="1508046" y="5270400"/>
            <a:ext cx="2066442" cy="461665"/>
          </a:xfrm>
          <a:prstGeom prst="rect">
            <a:avLst/>
          </a:prstGeom>
          <a:noFill/>
        </p:spPr>
        <p:txBody>
          <a:bodyPr wrap="square" lIns="0" tIns="0" rIns="0" bIns="0">
            <a:spAutoFit/>
          </a:bodyPr>
          <a:lstStyle/>
          <a:p>
            <a:r>
              <a:rPr sz="1500" b="0" i="0" u="none" dirty="0">
                <a:solidFill>
                  <a:srgbClr val="0B2B4E"/>
                </a:solidFill>
                <a:latin typeface="Calibri"/>
              </a:rPr>
              <a:t>(</a:t>
            </a:r>
            <a:r>
              <a:rPr sz="1500" b="0" i="0" u="none" dirty="0" err="1">
                <a:solidFill>
                  <a:srgbClr val="0B2B4E"/>
                </a:solidFill>
                <a:latin typeface="Calibri"/>
              </a:rPr>
              <a:t>assum</a:t>
            </a:r>
            <a:r>
              <a:rPr lang="de-DE" sz="1500" b="0" i="0" u="none" dirty="0">
                <a:solidFill>
                  <a:srgbClr val="0B2B4E"/>
                </a:solidFill>
                <a:latin typeface="Calibri"/>
              </a:rPr>
              <a:t>ing</a:t>
            </a:r>
            <a:r>
              <a:rPr sz="1500" b="0" i="0" u="none" dirty="0">
                <a:solidFill>
                  <a:srgbClr val="0B2B4E"/>
                </a:solidFill>
                <a:latin typeface="Calibri"/>
              </a:rPr>
              <a:t> MC = 0</a:t>
            </a:r>
            <a:r>
              <a:rPr lang="de-DE" sz="1500" b="0" i="0" u="none" dirty="0">
                <a:solidFill>
                  <a:srgbClr val="0B2B4E"/>
                </a:solidFill>
                <a:latin typeface="Calibri"/>
              </a:rPr>
              <a:t>, and before pa</a:t>
            </a:r>
            <a:r>
              <a:rPr lang="en-US" sz="1500" b="0" i="0" u="none" dirty="0">
                <a:solidFill>
                  <a:srgbClr val="0B2B4E"/>
                </a:solidFill>
                <a:latin typeface="Calibri"/>
              </a:rPr>
              <a:t>ying fixed costs</a:t>
            </a:r>
            <a:r>
              <a:rPr sz="1500" b="0" i="0" u="none" dirty="0">
                <a:solidFill>
                  <a:srgbClr val="0B2B4E"/>
                </a:solidFill>
                <a:latin typeface="Calibri"/>
              </a:rPr>
              <a:t>)</a:t>
            </a:r>
          </a:p>
        </p:txBody>
      </p:sp>
      <p:sp>
        <p:nvSpPr>
          <p:cNvPr id="16" name="Oval 15"/>
          <p:cNvSpPr/>
          <p:nvPr/>
        </p:nvSpPr>
        <p:spPr>
          <a:xfrm>
            <a:off x="1531465" y="2397045"/>
            <a:ext cx="118872" cy="118872"/>
          </a:xfrm>
          <a:prstGeom prst="ellipse">
            <a:avLst/>
          </a:prstGeom>
          <a:solidFill>
            <a:srgbClr val="A216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29" name="sdpair:arrow:129"/>
          <p:cNvGrpSpPr/>
          <p:nvPr/>
        </p:nvGrpSpPr>
        <p:grpSpPr>
          <a:xfrm>
            <a:off x="1590901" y="1673274"/>
            <a:ext cx="2084134" cy="783207"/>
            <a:chOff x="1590901" y="1673274"/>
            <a:chExt cx="2084134" cy="783207"/>
          </a:xfrm>
        </p:grpSpPr>
        <p:sp>
          <p:nvSpPr>
            <p:cNvPr id="17" name="TextBox 16"/>
            <p:cNvSpPr txBox="1"/>
            <p:nvPr/>
          </p:nvSpPr>
          <p:spPr>
            <a:xfrm>
              <a:off x="1891955" y="1673274"/>
              <a:ext cx="1783080" cy="438912"/>
            </a:xfrm>
            <a:prstGeom prst="rect">
              <a:avLst/>
            </a:prstGeom>
            <a:noFill/>
          </p:spPr>
          <p:txBody>
            <a:bodyPr wrap="square" lIns="0" tIns="0" rIns="0" bIns="0">
              <a:spAutoFit/>
            </a:bodyPr>
            <a:lstStyle/>
            <a:p>
              <a:pPr algn="ctr"/>
              <a:r>
                <a:rPr sz="1500" b="0" i="0" u="none">
                  <a:solidFill>
                    <a:srgbClr val="A2162A"/>
                  </a:solidFill>
                  <a:latin typeface="Calibri"/>
                </a:rPr>
                <a:t>Price charged to
high-MPV customer</a:t>
              </a:r>
            </a:p>
          </p:txBody>
        </p:sp>
        <p:cxnSp>
          <p:nvCxnSpPr>
            <p:cNvPr id="18" name="sdleader:19"/>
            <p:cNvCxnSpPr/>
            <p:nvPr/>
          </p:nvCxnSpPr>
          <p:spPr>
            <a:xfrm flipH="1">
              <a:off x="1590901" y="2135633"/>
              <a:ext cx="678741" cy="320848"/>
            </a:xfrm>
            <a:prstGeom prst="line">
              <a:avLst/>
            </a:prstGeom>
            <a:ln w="15875">
              <a:solidFill>
                <a:srgbClr val="A2162A"/>
              </a:solidFill>
            </a:ln>
          </p:spPr>
          <p:style>
            <a:lnRef idx="2">
              <a:schemeClr val="accent1"/>
            </a:lnRef>
            <a:fillRef idx="0">
              <a:schemeClr val="accent1"/>
            </a:fillRef>
            <a:effectRef idx="1">
              <a:schemeClr val="accent1"/>
            </a:effectRef>
            <a:fontRef idx="minor">
              <a:schemeClr val="tx1"/>
            </a:fontRef>
          </p:style>
        </p:cxnSp>
      </p:grpSp>
      <p:sp>
        <p:nvSpPr>
          <p:cNvPr id="19" name="Oval 18"/>
          <p:cNvSpPr/>
          <p:nvPr/>
        </p:nvSpPr>
        <p:spPr>
          <a:xfrm>
            <a:off x="3474952" y="4050714"/>
            <a:ext cx="118872" cy="118872"/>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0" name="sdpair:arrow:130"/>
          <p:cNvGrpSpPr/>
          <p:nvPr/>
        </p:nvGrpSpPr>
        <p:grpSpPr>
          <a:xfrm>
            <a:off x="3534388" y="3101443"/>
            <a:ext cx="2216645" cy="1008707"/>
            <a:chOff x="3534388" y="3101443"/>
            <a:chExt cx="2216645" cy="1008707"/>
          </a:xfrm>
        </p:grpSpPr>
        <p:sp>
          <p:nvSpPr>
            <p:cNvPr id="20" name="TextBox 19"/>
            <p:cNvSpPr txBox="1"/>
            <p:nvPr/>
          </p:nvSpPr>
          <p:spPr>
            <a:xfrm>
              <a:off x="3967953" y="3101443"/>
              <a:ext cx="1783080" cy="438912"/>
            </a:xfrm>
            <a:prstGeom prst="rect">
              <a:avLst/>
            </a:prstGeom>
            <a:noFill/>
          </p:spPr>
          <p:txBody>
            <a:bodyPr wrap="square" lIns="0" tIns="0" rIns="0" bIns="0">
              <a:spAutoFit/>
            </a:bodyPr>
            <a:lstStyle/>
            <a:p>
              <a:pPr algn="ctr"/>
              <a:r>
                <a:rPr sz="1500" b="0" i="0" u="none">
                  <a:solidFill>
                    <a:srgbClr val="0B2B4E"/>
                  </a:solidFill>
                  <a:latin typeface="Calibri"/>
                </a:rPr>
                <a:t>Price charged to
median-MPV customer</a:t>
              </a:r>
            </a:p>
          </p:txBody>
        </p:sp>
        <p:cxnSp>
          <p:nvCxnSpPr>
            <p:cNvPr id="21" name="sdleader:22"/>
            <p:cNvCxnSpPr/>
            <p:nvPr/>
          </p:nvCxnSpPr>
          <p:spPr>
            <a:xfrm flipH="1">
              <a:off x="3534388" y="3568430"/>
              <a:ext cx="909515" cy="541720"/>
            </a:xfrm>
            <a:prstGeom prst="line">
              <a:avLst/>
            </a:prstGeom>
            <a:ln w="15875">
              <a:solidFill>
                <a:srgbClr val="0B2B4E"/>
              </a:solidFill>
            </a:ln>
          </p:spPr>
          <p:style>
            <a:lnRef idx="2">
              <a:schemeClr val="accent1"/>
            </a:lnRef>
            <a:fillRef idx="0">
              <a:schemeClr val="accent1"/>
            </a:fillRef>
            <a:effectRef idx="1">
              <a:schemeClr val="accent1"/>
            </a:effectRef>
            <a:fontRef idx="minor">
              <a:schemeClr val="tx1"/>
            </a:fontRef>
          </p:style>
        </p:cxnSp>
      </p:grpSp>
      <p:sp>
        <p:nvSpPr>
          <p:cNvPr id="22" name="Oval 21"/>
          <p:cNvSpPr/>
          <p:nvPr/>
        </p:nvSpPr>
        <p:spPr>
          <a:xfrm>
            <a:off x="5418439" y="5704383"/>
            <a:ext cx="118872" cy="118872"/>
          </a:xfrm>
          <a:prstGeom prst="ellipse">
            <a:avLst/>
          </a:prstGeom>
          <a:solidFill>
            <a:srgbClr val="0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1" name="sdpair:arrow:131"/>
          <p:cNvGrpSpPr/>
          <p:nvPr/>
        </p:nvGrpSpPr>
        <p:grpSpPr>
          <a:xfrm>
            <a:off x="4807186" y="4529612"/>
            <a:ext cx="1783080" cy="1234207"/>
            <a:chOff x="4807186" y="4529612"/>
            <a:chExt cx="1783080" cy="1234207"/>
          </a:xfrm>
        </p:grpSpPr>
        <p:sp>
          <p:nvSpPr>
            <p:cNvPr id="23" name="TextBox 22"/>
            <p:cNvSpPr txBox="1"/>
            <p:nvPr/>
          </p:nvSpPr>
          <p:spPr>
            <a:xfrm>
              <a:off x="4807186" y="4529612"/>
              <a:ext cx="1783080" cy="438912"/>
            </a:xfrm>
            <a:prstGeom prst="rect">
              <a:avLst/>
            </a:prstGeom>
            <a:noFill/>
          </p:spPr>
          <p:txBody>
            <a:bodyPr wrap="square" lIns="0" tIns="0" rIns="0" bIns="0">
              <a:spAutoFit/>
            </a:bodyPr>
            <a:lstStyle/>
            <a:p>
              <a:pPr algn="ctr"/>
              <a:r>
                <a:rPr sz="1500" b="0" i="0" u="none">
                  <a:solidFill>
                    <a:srgbClr val="007A33"/>
                  </a:solidFill>
                  <a:latin typeface="Calibri"/>
                </a:rPr>
                <a:t>Price charged to
low-MPV customer</a:t>
              </a:r>
            </a:p>
          </p:txBody>
        </p:sp>
        <p:cxnSp>
          <p:nvCxnSpPr>
            <p:cNvPr id="24" name="sdleader:25"/>
            <p:cNvCxnSpPr/>
            <p:nvPr/>
          </p:nvCxnSpPr>
          <p:spPr>
            <a:xfrm flipH="1">
              <a:off x="5477875" y="5022133"/>
              <a:ext cx="161420" cy="741686"/>
            </a:xfrm>
            <a:prstGeom prst="line">
              <a:avLst/>
            </a:prstGeom>
            <a:ln w="15875">
              <a:solidFill>
                <a:srgbClr val="007A33"/>
              </a:solidFill>
            </a:ln>
          </p:spPr>
          <p:style>
            <a:lnRef idx="2">
              <a:schemeClr val="accent1"/>
            </a:lnRef>
            <a:fillRef idx="0">
              <a:schemeClr val="accent1"/>
            </a:fillRef>
            <a:effectRef idx="1">
              <a:schemeClr val="accent1"/>
            </a:effectRef>
            <a:fontRef idx="minor">
              <a:schemeClr val="tx1"/>
            </a:fontRef>
          </p:style>
        </p:cxnSp>
      </p:grpSp>
      <p:sp>
        <p:nvSpPr>
          <p:cNvPr id="25" name="TextBox 24"/>
          <p:cNvSpPr txBox="1"/>
          <p:nvPr/>
        </p:nvSpPr>
        <p:spPr>
          <a:xfrm>
            <a:off x="7223760" y="2148840"/>
            <a:ext cx="4526280" cy="2743200"/>
          </a:xfrm>
          <a:prstGeom prst="rect">
            <a:avLst/>
          </a:prstGeom>
          <a:noFill/>
        </p:spPr>
        <p:txBody>
          <a:bodyPr wrap="square" lIns="0" tIns="0" rIns="0" bIns="0">
            <a:noAutofit/>
          </a:bodyPr>
          <a:lstStyle>
            <a:lvl1pPr marL="342900" indent="-342900">
              <a:spcBef>
                <a:spcPts val="18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dirty="0">
                <a:latin typeface="Calibri"/>
              </a:rPr>
              <a:t>Assume MC = 0</a:t>
            </a:r>
          </a:p>
          <a:p>
            <a:pPr algn="l"/>
            <a:r>
              <a:rPr dirty="0">
                <a:latin typeface="Calibri"/>
              </a:rPr>
              <a:t>Charge </a:t>
            </a:r>
            <a:r>
              <a:rPr b="1" dirty="0">
                <a:solidFill>
                  <a:srgbClr val="A2162A"/>
                </a:solidFill>
                <a:latin typeface="Calibri"/>
              </a:rPr>
              <a:t>each customer</a:t>
            </a:r>
            <a:r>
              <a:rPr dirty="0">
                <a:latin typeface="Calibri"/>
              </a:rPr>
              <a:t> a different price</a:t>
            </a:r>
          </a:p>
          <a:p>
            <a:pPr algn="l"/>
            <a:r>
              <a:rPr dirty="0">
                <a:latin typeface="Calibri"/>
              </a:rPr>
              <a:t>The Holy Grail of complex pricing</a:t>
            </a:r>
          </a:p>
          <a:p>
            <a:pPr algn="l"/>
            <a:r>
              <a:rPr dirty="0">
                <a:latin typeface="Calibri"/>
              </a:rPr>
              <a:t>Zero consumer surplus: everything is extracted!</a:t>
            </a:r>
          </a:p>
        </p:txBody>
      </p:sp>
      <p:sp>
        <p:nvSpPr>
          <p:cNvPr id="26" name="Rectangle 2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6  ·  Complex Pricing and Advanced Pricing Strategies</a:t>
            </a:r>
          </a:p>
        </p:txBody>
      </p:sp>
      <p:sp>
        <p:nvSpPr>
          <p:cNvPr id="29" name="TextBox 28"/>
          <p:cNvSpPr txBox="1"/>
          <p:nvPr/>
        </p:nvSpPr>
        <p:spPr>
          <a:xfrm>
            <a:off x="11475720" y="6583680"/>
            <a:ext cx="502920" cy="292608"/>
          </a:xfrm>
          <a:prstGeom prst="rect">
            <a:avLst/>
          </a:prstGeom>
          <a:noFill/>
        </p:spPr>
        <p:txBody>
          <a:bodyPr wrap="none" lIns="0" tIns="0" rIns="0" bIns="0">
            <a:spAutoFit/>
          </a:bodyPr>
          <a:lstStyle/>
          <a:p>
            <a:pPr algn="r"/>
            <a:fld id="{94EC799B-974A-5988-A91E-35B1A66E405C}" type="slidenum">
              <a:rPr lang="en-US" sz="1200" dirty="0">
                <a:solidFill>
                  <a:srgbClr val="555B66"/>
                </a:solidFill>
                <a:latin typeface="Calibri"/>
              </a:rPr>
              <a:t>4</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2"/>
                                        </p:tgtEl>
                                        <p:attrNameLst>
                                          <p:attrName>style.visibility</p:attrName>
                                        </p:attrNameLst>
                                      </p:cBhvr>
                                      <p:to>
                                        <p:strVal val="visible"/>
                                      </p:to>
                                    </p:set>
                                    <p:animEffect transition="in" filter="fade">
                                      <p:cBhvr>
                                        <p:cTn id="7" dur="500"/>
                                        <p:tgtEl>
                                          <p:spTgt spid="1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5">
                                            <p:txEl>
                                              <p:pRg st="1" end="1"/>
                                            </p:txEl>
                                          </p:spTgt>
                                        </p:tgtEl>
                                        <p:attrNameLst>
                                          <p:attrName>style.visibility</p:attrName>
                                        </p:attrNameLst>
                                      </p:cBhvr>
                                      <p:to>
                                        <p:strVal val="visible"/>
                                      </p:to>
                                    </p:set>
                                    <p:animEffect transition="in" filter="fade">
                                      <p:cBhvr>
                                        <p:cTn id="12" dur="500"/>
                                        <p:tgtEl>
                                          <p:spTgt spid="2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500"/>
                                        <p:tgtEl>
                                          <p:spTgt spid="16"/>
                                        </p:tgtEl>
                                      </p:cBhvr>
                                    </p:animEffect>
                                  </p:childTnLst>
                                </p:cTn>
                              </p:par>
                              <p:par>
                                <p:cTn id="18" presetID="10" presetClass="entr" presetSubtype="0" fill="hold" nodeType="withEffect">
                                  <p:stCondLst>
                                    <p:cond delay="0"/>
                                  </p:stCondLst>
                                  <p:childTnLst>
                                    <p:set>
                                      <p:cBhvr>
                                        <p:cTn id="19" dur="1" fill="hold">
                                          <p:stCondLst>
                                            <p:cond delay="0"/>
                                          </p:stCondLst>
                                        </p:cTn>
                                        <p:tgtEl>
                                          <p:spTgt spid="129"/>
                                        </p:tgtEl>
                                        <p:attrNameLst>
                                          <p:attrName>style.visibility</p:attrName>
                                        </p:attrNameLst>
                                      </p:cBhvr>
                                      <p:to>
                                        <p:strVal val="visible"/>
                                      </p:to>
                                    </p:set>
                                    <p:animEffect transition="in" filter="fade">
                                      <p:cBhvr>
                                        <p:cTn id="20" dur="500"/>
                                        <p:tgtEl>
                                          <p:spTgt spid="129"/>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childTnLst>
                                </p:cTn>
                              </p:par>
                              <p:par>
                                <p:cTn id="26" presetID="10" presetClass="entr" presetSubtype="0" fill="hold" nodeType="withEffect">
                                  <p:stCondLst>
                                    <p:cond delay="0"/>
                                  </p:stCondLst>
                                  <p:childTnLst>
                                    <p:set>
                                      <p:cBhvr>
                                        <p:cTn id="27" dur="1" fill="hold">
                                          <p:stCondLst>
                                            <p:cond delay="0"/>
                                          </p:stCondLst>
                                        </p:cTn>
                                        <p:tgtEl>
                                          <p:spTgt spid="130"/>
                                        </p:tgtEl>
                                        <p:attrNameLst>
                                          <p:attrName>style.visibility</p:attrName>
                                        </p:attrNameLst>
                                      </p:cBhvr>
                                      <p:to>
                                        <p:strVal val="visible"/>
                                      </p:to>
                                    </p:set>
                                    <p:animEffect transition="in" filter="fade">
                                      <p:cBhvr>
                                        <p:cTn id="28" dur="500"/>
                                        <p:tgtEl>
                                          <p:spTgt spid="13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500"/>
                                        <p:tgtEl>
                                          <p:spTgt spid="22"/>
                                        </p:tgtEl>
                                      </p:cBhvr>
                                    </p:animEffect>
                                  </p:childTnLst>
                                </p:cTn>
                              </p:par>
                              <p:par>
                                <p:cTn id="34" presetID="10" presetClass="entr" presetSubtype="0" fill="hold" nodeType="withEffect">
                                  <p:stCondLst>
                                    <p:cond delay="0"/>
                                  </p:stCondLst>
                                  <p:childTnLst>
                                    <p:set>
                                      <p:cBhvr>
                                        <p:cTn id="35" dur="1" fill="hold">
                                          <p:stCondLst>
                                            <p:cond delay="0"/>
                                          </p:stCondLst>
                                        </p:cTn>
                                        <p:tgtEl>
                                          <p:spTgt spid="131"/>
                                        </p:tgtEl>
                                        <p:attrNameLst>
                                          <p:attrName>style.visibility</p:attrName>
                                        </p:attrNameLst>
                                      </p:cBhvr>
                                      <p:to>
                                        <p:strVal val="visible"/>
                                      </p:to>
                                    </p:set>
                                    <p:animEffect transition="in" filter="fade">
                                      <p:cBhvr>
                                        <p:cTn id="36" dur="500"/>
                                        <p:tgtEl>
                                          <p:spTgt spid="131"/>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33"/>
                                        </p:tgtEl>
                                        <p:attrNameLst>
                                          <p:attrName>style.visibility</p:attrName>
                                        </p:attrNameLst>
                                      </p:cBhvr>
                                      <p:to>
                                        <p:strVal val="visible"/>
                                      </p:to>
                                    </p:set>
                                    <p:animEffect transition="in" filter="fade">
                                      <p:cBhvr>
                                        <p:cTn id="41" dur="500"/>
                                        <p:tgtEl>
                                          <p:spTgt spid="133"/>
                                        </p:tgtEl>
                                      </p:cBhvr>
                                    </p:animEffect>
                                  </p:childTnLst>
                                </p:cTn>
                              </p:par>
                              <p:par>
                                <p:cTn id="42" presetID="10" presetClass="entr" presetSubtype="0" fill="hold"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5">
                                            <p:txEl>
                                              <p:pRg st="2" end="2"/>
                                            </p:txEl>
                                          </p:spTgt>
                                        </p:tgtEl>
                                        <p:attrNameLst>
                                          <p:attrName>style.visibility</p:attrName>
                                        </p:attrNameLst>
                                      </p:cBhvr>
                                      <p:to>
                                        <p:strVal val="visible"/>
                                      </p:to>
                                    </p:set>
                                    <p:animEffect transition="in" filter="fade">
                                      <p:cBhvr>
                                        <p:cTn id="49" dur="500"/>
                                        <p:tgtEl>
                                          <p:spTgt spid="25">
                                            <p:txEl>
                                              <p:pRg st="2" end="2"/>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25">
                                            <p:txEl>
                                              <p:pRg st="3" end="3"/>
                                            </p:txEl>
                                          </p:spTgt>
                                        </p:tgtEl>
                                        <p:attrNameLst>
                                          <p:attrName>style.visibility</p:attrName>
                                        </p:attrNameLst>
                                      </p:cBhvr>
                                      <p:to>
                                        <p:strVal val="visible"/>
                                      </p:to>
                                    </p:set>
                                    <p:animEffect transition="in" filter="fade">
                                      <p:cBhvr>
                                        <p:cTn id="54" dur="500"/>
                                        <p:tgtEl>
                                          <p:spTgt spid="25">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6 · Video 3 · Perfect Price Discrimination (First Degree)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First Degree Price Discrimination (Now MC &gt; 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sdaxis:y"/>
          <p:cNvCxnSpPr/>
          <p:nvPr/>
        </p:nvCxnSpPr>
        <p:spPr>
          <a:xfrm flipV="1">
            <a:off x="1325880" y="1389888"/>
            <a:ext cx="0" cy="459943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sdaxis:x"/>
          <p:cNvCxnSpPr/>
          <p:nvPr/>
        </p:nvCxnSpPr>
        <p:spPr>
          <a:xfrm>
            <a:off x="1325880" y="5989320"/>
            <a:ext cx="537667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sdaxistitle:y"/>
          <p:cNvSpPr txBox="1"/>
          <p:nvPr/>
        </p:nvSpPr>
        <p:spPr>
          <a:xfrm>
            <a:off x="1046225" y="1257300"/>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0" name="sdaxistitle:x"/>
          <p:cNvSpPr txBox="1"/>
          <p:nvPr/>
        </p:nvSpPr>
        <p:spPr>
          <a:xfrm>
            <a:off x="6589776" y="6035040"/>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grpSp>
        <p:nvGrpSpPr>
          <p:cNvPr id="139" name="sdpair:sdreglab:b647906c"/>
          <p:cNvGrpSpPr/>
          <p:nvPr/>
        </p:nvGrpSpPr>
        <p:grpSpPr>
          <a:xfrm>
            <a:off x="1325880" y="2230981"/>
            <a:ext cx="3091911" cy="2630837"/>
            <a:chOff x="1325880" y="2230981"/>
            <a:chExt cx="3091911" cy="2630837"/>
          </a:xfrm>
        </p:grpSpPr>
        <p:sp>
          <p:nvSpPr>
            <p:cNvPr id="11" name="sdregion:b647906c"/>
            <p:cNvSpPr/>
            <p:nvPr/>
          </p:nvSpPr>
          <p:spPr>
            <a:xfrm>
              <a:off x="1325880" y="2230981"/>
              <a:ext cx="3091911" cy="2630837"/>
            </a:xfrm>
            <a:custGeom>
              <a:avLst/>
              <a:gdLst/>
              <a:ahLst/>
              <a:cxnLst/>
              <a:rect l="0" t="0" r="r" b="b"/>
              <a:pathLst>
                <a:path w="3091911" h="2630837">
                  <a:moveTo>
                    <a:pt x="0" y="0"/>
                  </a:moveTo>
                  <a:lnTo>
                    <a:pt x="0" y="2630837"/>
                  </a:lnTo>
                  <a:lnTo>
                    <a:pt x="3091911" y="2630837"/>
                  </a:lnTo>
                  <a:close/>
                </a:path>
              </a:pathLst>
            </a:custGeom>
            <a:solidFill>
              <a:srgbClr val="A2162A">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dreglab:b647906c"/>
            <p:cNvSpPr txBox="1"/>
            <p:nvPr/>
          </p:nvSpPr>
          <p:spPr>
            <a:xfrm>
              <a:off x="1546085" y="4157963"/>
              <a:ext cx="1910183" cy="523220"/>
            </a:xfrm>
            <a:prstGeom prst="rect">
              <a:avLst/>
            </a:prstGeom>
            <a:noFill/>
          </p:spPr>
          <p:txBody>
            <a:bodyPr wrap="square" lIns="0" tIns="0" rIns="0" bIns="0">
              <a:spAutoFit/>
            </a:bodyPr>
            <a:lstStyle/>
            <a:p>
              <a:pPr algn="ctr"/>
              <a:r>
                <a:rPr sz="1700" b="1" i="0" u="none" dirty="0">
                  <a:solidFill>
                    <a:srgbClr val="0B2B4E"/>
                  </a:solidFill>
                  <a:latin typeface="Calibri"/>
                </a:rPr>
                <a:t>Profits </a:t>
              </a:r>
              <a:r>
                <a:rPr sz="1700" i="0" u="none" dirty="0">
                  <a:solidFill>
                    <a:srgbClr val="0B2B4E"/>
                  </a:solidFill>
                  <a:latin typeface="Calibri"/>
                </a:rPr>
                <a:t>(</a:t>
              </a:r>
              <a:r>
                <a:rPr lang="en-US" sz="1700" i="0" u="none" dirty="0">
                  <a:solidFill>
                    <a:srgbClr val="0B2B4E"/>
                  </a:solidFill>
                  <a:latin typeface="Calibri"/>
                </a:rPr>
                <a:t>before paying fixed costs</a:t>
              </a:r>
              <a:r>
                <a:rPr sz="1700" i="0" u="none" dirty="0">
                  <a:solidFill>
                    <a:srgbClr val="0B2B4E"/>
                  </a:solidFill>
                  <a:latin typeface="Calibri"/>
                </a:rPr>
                <a:t>)</a:t>
              </a:r>
            </a:p>
          </p:txBody>
        </p:sp>
      </p:grpSp>
      <p:grpSp>
        <p:nvGrpSpPr>
          <p:cNvPr id="138" name="sdpair:curve:D"/>
          <p:cNvGrpSpPr/>
          <p:nvPr/>
        </p:nvGrpSpPr>
        <p:grpSpPr>
          <a:xfrm>
            <a:off x="1325880" y="2230981"/>
            <a:ext cx="5939656" cy="3758339"/>
            <a:chOff x="1325880" y="2230981"/>
            <a:chExt cx="5939656" cy="3758339"/>
          </a:xfrm>
        </p:grpSpPr>
        <p:cxnSp>
          <p:nvCxnSpPr>
            <p:cNvPr id="12" name="sdcurve:D"/>
            <p:cNvCxnSpPr/>
            <p:nvPr/>
          </p:nvCxnSpPr>
          <p:spPr>
            <a:xfrm>
              <a:off x="1325880" y="2230981"/>
              <a:ext cx="4417016" cy="3758339"/>
            </a:xfrm>
            <a:prstGeom prst="line">
              <a:avLst/>
            </a:prstGeom>
            <a:ln w="34925">
              <a:solidFill>
                <a:srgbClr val="A2162A"/>
              </a:solidFill>
            </a:ln>
          </p:spPr>
          <p:style>
            <a:lnRef idx="2">
              <a:schemeClr val="accent1"/>
            </a:lnRef>
            <a:fillRef idx="0">
              <a:schemeClr val="accent1"/>
            </a:fillRef>
            <a:effectRef idx="1">
              <a:schemeClr val="accent1"/>
            </a:effectRef>
            <a:fontRef idx="minor">
              <a:schemeClr val="tx1"/>
            </a:fontRef>
          </p:style>
        </p:cxnSp>
        <p:sp>
          <p:nvSpPr>
            <p:cNvPr id="15" name="sdcurvelab:D"/>
            <p:cNvSpPr txBox="1"/>
            <p:nvPr/>
          </p:nvSpPr>
          <p:spPr>
            <a:xfrm>
              <a:off x="5696959" y="5596093"/>
              <a:ext cx="1568577" cy="292608"/>
            </a:xfrm>
            <a:prstGeom prst="rect">
              <a:avLst/>
            </a:prstGeom>
            <a:noFill/>
          </p:spPr>
          <p:txBody>
            <a:bodyPr wrap="square" lIns="0" tIns="0" rIns="0" bIns="0">
              <a:spAutoFit/>
            </a:bodyPr>
            <a:lstStyle/>
            <a:p>
              <a:pPr algn="l"/>
              <a:r>
                <a:rPr sz="1800" b="1" i="1" u="none">
                  <a:solidFill>
                    <a:srgbClr val="A2162A"/>
                  </a:solidFill>
                  <a:latin typeface="Calibri"/>
                </a:rPr>
                <a:t>Demand = MPV</a:t>
              </a:r>
            </a:p>
          </p:txBody>
        </p:sp>
      </p:grpSp>
      <p:grpSp>
        <p:nvGrpSpPr>
          <p:cNvPr id="137" name="sdpair:curve:MC"/>
          <p:cNvGrpSpPr/>
          <p:nvPr/>
        </p:nvGrpSpPr>
        <p:grpSpPr>
          <a:xfrm>
            <a:off x="1325880" y="4659139"/>
            <a:ext cx="5331500" cy="292608"/>
            <a:chOff x="1325880" y="4659139"/>
            <a:chExt cx="5331500" cy="292608"/>
          </a:xfrm>
        </p:grpSpPr>
        <p:cxnSp>
          <p:nvCxnSpPr>
            <p:cNvPr id="13" name="sdcurve:MC"/>
            <p:cNvCxnSpPr/>
            <p:nvPr/>
          </p:nvCxnSpPr>
          <p:spPr>
            <a:xfrm>
              <a:off x="1325880" y="4861818"/>
              <a:ext cx="4814548" cy="0"/>
            </a:xfrm>
            <a:prstGeom prst="line">
              <a:avLst/>
            </a:prstGeom>
            <a:ln w="28575">
              <a:solidFill>
                <a:srgbClr val="0B2B4E"/>
              </a:solidFill>
            </a:ln>
          </p:spPr>
          <p:style>
            <a:lnRef idx="2">
              <a:schemeClr val="accent1"/>
            </a:lnRef>
            <a:fillRef idx="0">
              <a:schemeClr val="accent1"/>
            </a:fillRef>
            <a:effectRef idx="1">
              <a:schemeClr val="accent1"/>
            </a:effectRef>
            <a:fontRef idx="minor">
              <a:schemeClr val="tx1"/>
            </a:fontRef>
          </p:style>
        </p:cxnSp>
        <p:sp>
          <p:nvSpPr>
            <p:cNvPr id="14" name="sdcurvelab:MC"/>
            <p:cNvSpPr txBox="1"/>
            <p:nvPr/>
          </p:nvSpPr>
          <p:spPr>
            <a:xfrm>
              <a:off x="6250853" y="4659139"/>
              <a:ext cx="406527" cy="292608"/>
            </a:xfrm>
            <a:prstGeom prst="rect">
              <a:avLst/>
            </a:prstGeom>
            <a:noFill/>
          </p:spPr>
          <p:txBody>
            <a:bodyPr wrap="square" lIns="0" tIns="0" rIns="0" bIns="0">
              <a:spAutoFit/>
            </a:bodyPr>
            <a:lstStyle/>
            <a:p>
              <a:pPr algn="l"/>
              <a:r>
                <a:rPr sz="1800" b="1" i="1" u="none">
                  <a:solidFill>
                    <a:srgbClr val="0B2B4E"/>
                  </a:solidFill>
                  <a:latin typeface="Calibri"/>
                </a:rPr>
                <a:t>MC</a:t>
              </a:r>
            </a:p>
          </p:txBody>
        </p:sp>
      </p:grpSp>
      <p:cxnSp>
        <p:nvCxnSpPr>
          <p:cNvPr id="17" name="Connector 16"/>
          <p:cNvCxnSpPr/>
          <p:nvPr/>
        </p:nvCxnSpPr>
        <p:spPr>
          <a:xfrm>
            <a:off x="1325880" y="4861818"/>
            <a:ext cx="3091911"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417791" y="4861818"/>
            <a:ext cx="0" cy="1127502"/>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1531465" y="2397045"/>
            <a:ext cx="118872" cy="118872"/>
          </a:xfrm>
          <a:prstGeom prst="ellipse">
            <a:avLst/>
          </a:prstGeom>
          <a:solidFill>
            <a:srgbClr val="A216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4" name="sdpair:arrow:134"/>
          <p:cNvGrpSpPr/>
          <p:nvPr/>
        </p:nvGrpSpPr>
        <p:grpSpPr>
          <a:xfrm>
            <a:off x="1590901" y="1673274"/>
            <a:ext cx="2084134" cy="783207"/>
            <a:chOff x="1590901" y="1673274"/>
            <a:chExt cx="2084134" cy="783207"/>
          </a:xfrm>
        </p:grpSpPr>
        <p:sp>
          <p:nvSpPr>
            <p:cNvPr id="20" name="TextBox 19"/>
            <p:cNvSpPr txBox="1"/>
            <p:nvPr/>
          </p:nvSpPr>
          <p:spPr>
            <a:xfrm>
              <a:off x="1891955" y="1673274"/>
              <a:ext cx="1783080" cy="438912"/>
            </a:xfrm>
            <a:prstGeom prst="rect">
              <a:avLst/>
            </a:prstGeom>
            <a:noFill/>
          </p:spPr>
          <p:txBody>
            <a:bodyPr wrap="square" lIns="0" tIns="0" rIns="0" bIns="0">
              <a:spAutoFit/>
            </a:bodyPr>
            <a:lstStyle/>
            <a:p>
              <a:pPr algn="ctr"/>
              <a:r>
                <a:rPr sz="1500" b="0" i="0" u="none">
                  <a:solidFill>
                    <a:srgbClr val="A2162A"/>
                  </a:solidFill>
                  <a:latin typeface="Calibri"/>
                </a:rPr>
                <a:t>Price charged to
high-MPV customer</a:t>
              </a:r>
            </a:p>
          </p:txBody>
        </p:sp>
        <p:cxnSp>
          <p:nvCxnSpPr>
            <p:cNvPr id="21" name="sdleader:22"/>
            <p:cNvCxnSpPr/>
            <p:nvPr/>
          </p:nvCxnSpPr>
          <p:spPr>
            <a:xfrm flipH="1">
              <a:off x="1590901" y="2135633"/>
              <a:ext cx="678741" cy="320848"/>
            </a:xfrm>
            <a:prstGeom prst="line">
              <a:avLst/>
            </a:prstGeom>
            <a:ln w="15875">
              <a:solidFill>
                <a:srgbClr val="A2162A"/>
              </a:solidFill>
            </a:ln>
          </p:spPr>
          <p:style>
            <a:lnRef idx="2">
              <a:schemeClr val="accent1"/>
            </a:lnRef>
            <a:fillRef idx="0">
              <a:schemeClr val="accent1"/>
            </a:fillRef>
            <a:effectRef idx="1">
              <a:schemeClr val="accent1"/>
            </a:effectRef>
            <a:fontRef idx="minor">
              <a:schemeClr val="tx1"/>
            </a:fontRef>
          </p:style>
        </p:cxnSp>
      </p:grpSp>
      <p:sp>
        <p:nvSpPr>
          <p:cNvPr id="22" name="Oval 21"/>
          <p:cNvSpPr/>
          <p:nvPr/>
        </p:nvSpPr>
        <p:spPr>
          <a:xfrm>
            <a:off x="3209931" y="3825214"/>
            <a:ext cx="118872" cy="118872"/>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5" name="sdpair:arrow:135"/>
          <p:cNvGrpSpPr/>
          <p:nvPr/>
        </p:nvGrpSpPr>
        <p:grpSpPr>
          <a:xfrm>
            <a:off x="3269367" y="2800776"/>
            <a:ext cx="2614177" cy="1083874"/>
            <a:chOff x="3269367" y="2800776"/>
            <a:chExt cx="2614177" cy="1083874"/>
          </a:xfrm>
        </p:grpSpPr>
        <p:sp>
          <p:nvSpPr>
            <p:cNvPr id="23" name="TextBox 22"/>
            <p:cNvSpPr txBox="1"/>
            <p:nvPr/>
          </p:nvSpPr>
          <p:spPr>
            <a:xfrm>
              <a:off x="4100464" y="2800776"/>
              <a:ext cx="1783080" cy="438912"/>
            </a:xfrm>
            <a:prstGeom prst="rect">
              <a:avLst/>
            </a:prstGeom>
            <a:noFill/>
          </p:spPr>
          <p:txBody>
            <a:bodyPr wrap="square" lIns="0" tIns="0" rIns="0" bIns="0">
              <a:spAutoFit/>
            </a:bodyPr>
            <a:lstStyle/>
            <a:p>
              <a:pPr algn="ctr"/>
              <a:r>
                <a:rPr sz="1500" b="0" i="0" u="none">
                  <a:solidFill>
                    <a:srgbClr val="0B2B4E"/>
                  </a:solidFill>
                  <a:latin typeface="Calibri"/>
                </a:rPr>
                <a:t>Price charged to
median-MPV customer</a:t>
              </a:r>
            </a:p>
          </p:txBody>
        </p:sp>
        <p:cxnSp>
          <p:nvCxnSpPr>
            <p:cNvPr id="24" name="sdleader:25"/>
            <p:cNvCxnSpPr/>
            <p:nvPr/>
          </p:nvCxnSpPr>
          <p:spPr>
            <a:xfrm flipH="1">
              <a:off x="3269367" y="3264294"/>
              <a:ext cx="1236262" cy="620356"/>
            </a:xfrm>
            <a:prstGeom prst="line">
              <a:avLst/>
            </a:prstGeom>
            <a:ln w="15875">
              <a:solidFill>
                <a:srgbClr val="0B2B4E"/>
              </a:solidFill>
            </a:ln>
          </p:spPr>
          <p:style>
            <a:lnRef idx="2">
              <a:schemeClr val="accent1"/>
            </a:lnRef>
            <a:fillRef idx="0">
              <a:schemeClr val="accent1"/>
            </a:fillRef>
            <a:effectRef idx="1">
              <a:schemeClr val="accent1"/>
            </a:effectRef>
            <a:fontRef idx="minor">
              <a:schemeClr val="tx1"/>
            </a:fontRef>
          </p:style>
        </p:cxnSp>
      </p:grpSp>
      <p:sp>
        <p:nvSpPr>
          <p:cNvPr id="25" name="Oval 24"/>
          <p:cNvSpPr/>
          <p:nvPr/>
        </p:nvSpPr>
        <p:spPr>
          <a:xfrm>
            <a:off x="5330099" y="5629216"/>
            <a:ext cx="118872" cy="118872"/>
          </a:xfrm>
          <a:prstGeom prst="ellipse">
            <a:avLst/>
          </a:prstGeom>
          <a:solidFill>
            <a:srgbClr val="0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6" name="sdpair:arrow:136"/>
          <p:cNvGrpSpPr/>
          <p:nvPr/>
        </p:nvGrpSpPr>
        <p:grpSpPr>
          <a:xfrm>
            <a:off x="4763016" y="4134986"/>
            <a:ext cx="1783080" cy="1553666"/>
            <a:chOff x="4763016" y="4134986"/>
            <a:chExt cx="1783080" cy="1553666"/>
          </a:xfrm>
        </p:grpSpPr>
        <p:sp>
          <p:nvSpPr>
            <p:cNvPr id="26" name="TextBox 25"/>
            <p:cNvSpPr txBox="1"/>
            <p:nvPr/>
          </p:nvSpPr>
          <p:spPr>
            <a:xfrm>
              <a:off x="4763016" y="4134986"/>
              <a:ext cx="1783080" cy="438912"/>
            </a:xfrm>
            <a:prstGeom prst="rect">
              <a:avLst/>
            </a:prstGeom>
            <a:noFill/>
          </p:spPr>
          <p:txBody>
            <a:bodyPr wrap="square" lIns="0" tIns="0" rIns="0" bIns="0">
              <a:spAutoFit/>
            </a:bodyPr>
            <a:lstStyle/>
            <a:p>
              <a:pPr algn="ctr"/>
              <a:r>
                <a:rPr sz="1500" b="0" i="0" u="none">
                  <a:solidFill>
                    <a:srgbClr val="007A33"/>
                  </a:solidFill>
                  <a:latin typeface="Calibri"/>
                </a:rPr>
                <a:t>Do not sell to the
low-MPV customer</a:t>
              </a:r>
            </a:p>
          </p:txBody>
        </p:sp>
        <p:cxnSp>
          <p:nvCxnSpPr>
            <p:cNvPr id="27" name="sdleader:28"/>
            <p:cNvCxnSpPr/>
            <p:nvPr/>
          </p:nvCxnSpPr>
          <p:spPr>
            <a:xfrm flipH="1">
              <a:off x="5389535" y="4627710"/>
              <a:ext cx="210740" cy="1060942"/>
            </a:xfrm>
            <a:prstGeom prst="line">
              <a:avLst/>
            </a:prstGeom>
            <a:ln w="15875">
              <a:solidFill>
                <a:srgbClr val="007A33"/>
              </a:solidFill>
            </a:ln>
          </p:spPr>
          <p:style>
            <a:lnRef idx="2">
              <a:schemeClr val="accent1"/>
            </a:lnRef>
            <a:fillRef idx="0">
              <a:schemeClr val="accent1"/>
            </a:fillRef>
            <a:effectRef idx="1">
              <a:schemeClr val="accent1"/>
            </a:effectRef>
            <a:fontRef idx="minor">
              <a:schemeClr val="tx1"/>
            </a:fontRef>
          </p:style>
        </p:cxnSp>
      </p:grpSp>
      <p:sp>
        <p:nvSpPr>
          <p:cNvPr id="28" name="TextBox 27"/>
          <p:cNvSpPr txBox="1"/>
          <p:nvPr/>
        </p:nvSpPr>
        <p:spPr>
          <a:xfrm>
            <a:off x="7170522" y="1625346"/>
            <a:ext cx="4526280" cy="1828800"/>
          </a:xfrm>
          <a:prstGeom prst="rect">
            <a:avLst/>
          </a:prstGeom>
          <a:noFill/>
        </p:spPr>
        <p:txBody>
          <a:bodyPr wrap="square" lIns="0" tIns="0" rIns="0" bIns="0">
            <a:noAutofit/>
          </a:bodyPr>
          <a:lstStyle>
            <a:lvl1pPr marL="342900" indent="-342900">
              <a:spcBef>
                <a:spcPts val="18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1900" b="0">
                <a:solidFill>
                  <a:srgbClr val="555B66"/>
                </a:solidFill>
                <a:latin typeface="Calibri"/>
              </a:defRPr>
            </a:lvl2pPr>
          </a:lstStyle>
          <a:p>
            <a:pPr algn="l"/>
            <a:r>
              <a:rPr dirty="0">
                <a:latin typeface="Calibri"/>
              </a:rPr>
              <a:t>Now: MC &gt; 0</a:t>
            </a:r>
          </a:p>
          <a:p>
            <a:pPr algn="l"/>
            <a:r>
              <a:rPr lang="en-US" dirty="0">
                <a:latin typeface="Calibri"/>
              </a:rPr>
              <a:t>Could you ask customers to reveal their </a:t>
            </a:r>
            <a:r>
              <a:rPr lang="en-US" dirty="0"/>
              <a:t>true MPV?</a:t>
            </a:r>
            <a:endParaRPr dirty="0">
              <a:latin typeface="Calibri"/>
            </a:endParaRPr>
          </a:p>
        </p:txBody>
      </p:sp>
      <p:grpSp>
        <p:nvGrpSpPr>
          <p:cNvPr id="35" name="Group 34">
            <a:extLst>
              <a:ext uri="{FF2B5EF4-FFF2-40B4-BE49-F238E27FC236}">
                <a16:creationId xmlns:a16="http://schemas.microsoft.com/office/drawing/2014/main" id="{EF9D6DF7-B6CA-608F-7245-FE709435CB94}"/>
              </a:ext>
            </a:extLst>
          </p:cNvPr>
          <p:cNvGrpSpPr/>
          <p:nvPr/>
        </p:nvGrpSpPr>
        <p:grpSpPr>
          <a:xfrm>
            <a:off x="7833074" y="3309242"/>
            <a:ext cx="3922776" cy="3119688"/>
            <a:chOff x="7833074" y="3309242"/>
            <a:chExt cx="3922776" cy="3119688"/>
          </a:xfrm>
        </p:grpSpPr>
        <p:pic>
          <p:nvPicPr>
            <p:cNvPr id="29" name="Picture 28" descr="NV_s21_bmw_price.png"/>
            <p:cNvPicPr>
              <a:picLocks noChangeAspect="1"/>
            </p:cNvPicPr>
            <p:nvPr/>
          </p:nvPicPr>
          <p:blipFill>
            <a:blip r:embed="rId3"/>
            <a:stretch>
              <a:fillRect/>
            </a:stretch>
          </p:blipFill>
          <p:spPr>
            <a:xfrm>
              <a:off x="7833074" y="3309242"/>
              <a:ext cx="3922776" cy="3119688"/>
            </a:xfrm>
            <a:prstGeom prst="roundRect">
              <a:avLst>
                <a:gd name="adj" fmla="val 8000"/>
              </a:avLst>
            </a:prstGeom>
            <a:effectLst>
              <a:outerShdw blurRad="50800" dist="38100" dir="2700000" algn="tl" rotWithShape="0">
                <a:srgbClr val="000000">
                  <a:alpha val="50000"/>
                </a:srgbClr>
              </a:outerShdw>
            </a:effectLst>
          </p:spPr>
        </p:pic>
        <p:pic>
          <p:nvPicPr>
            <p:cNvPr id="30" name="Picture 29" descr="NV_s21_bmw_logo.png"/>
            <p:cNvPicPr>
              <a:picLocks noChangeAspect="1"/>
            </p:cNvPicPr>
            <p:nvPr/>
          </p:nvPicPr>
          <p:blipFill>
            <a:blip r:embed="rId4"/>
            <a:stretch>
              <a:fillRect/>
            </a:stretch>
          </p:blipFill>
          <p:spPr>
            <a:xfrm>
              <a:off x="10012680" y="5769864"/>
              <a:ext cx="1545336" cy="550035"/>
            </a:xfrm>
            <a:prstGeom prst="rect">
              <a:avLst/>
            </a:prstGeom>
          </p:spPr>
        </p:pic>
      </p:grpSp>
      <p:sp>
        <p:nvSpPr>
          <p:cNvPr id="31" name="Rectangle 3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6  ·  Complex Pricing and Advanced Pricing Strategies</a:t>
            </a:r>
          </a:p>
        </p:txBody>
      </p:sp>
      <p:sp>
        <p:nvSpPr>
          <p:cNvPr id="34" name="TextBox 33"/>
          <p:cNvSpPr txBox="1"/>
          <p:nvPr/>
        </p:nvSpPr>
        <p:spPr>
          <a:xfrm>
            <a:off x="11475720" y="6583680"/>
            <a:ext cx="502920" cy="292608"/>
          </a:xfrm>
          <a:prstGeom prst="rect">
            <a:avLst/>
          </a:prstGeom>
          <a:noFill/>
        </p:spPr>
        <p:txBody>
          <a:bodyPr wrap="none" lIns="0" tIns="0" rIns="0" bIns="0">
            <a:spAutoFit/>
          </a:bodyPr>
          <a:lstStyle/>
          <a:p>
            <a:pPr algn="r"/>
            <a:fld id="{95394DCA-4CDA-5B1D-BE09-0AD834A5DD78}" type="slidenum">
              <a:rPr lang="en-US" sz="1200" dirty="0">
                <a:solidFill>
                  <a:srgbClr val="555B66"/>
                </a:solidFill>
                <a:latin typeface="Calibri"/>
              </a:rPr>
              <a:t>5</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8">
                                            <p:txEl>
                                              <p:pRg st="0" end="0"/>
                                            </p:txEl>
                                          </p:spTgt>
                                        </p:tgtEl>
                                        <p:attrNameLst>
                                          <p:attrName>style.visibility</p:attrName>
                                        </p:attrNameLst>
                                      </p:cBhvr>
                                      <p:to>
                                        <p:strVal val="visible"/>
                                      </p:to>
                                    </p:set>
                                    <p:animEffect transition="in" filter="fade">
                                      <p:cBhvr>
                                        <p:cTn id="7" dur="500"/>
                                        <p:tgtEl>
                                          <p:spTgt spid="28">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38"/>
                                        </p:tgtEl>
                                        <p:attrNameLst>
                                          <p:attrName>style.visibility</p:attrName>
                                        </p:attrNameLst>
                                      </p:cBhvr>
                                      <p:to>
                                        <p:strVal val="visible"/>
                                      </p:to>
                                    </p:set>
                                    <p:animEffect transition="in" filter="fade">
                                      <p:cBhvr>
                                        <p:cTn id="10" dur="500"/>
                                        <p:tgtEl>
                                          <p:spTgt spid="13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7"/>
                                        </p:tgtEl>
                                        <p:attrNameLst>
                                          <p:attrName>style.visibility</p:attrName>
                                        </p:attrNameLst>
                                      </p:cBhvr>
                                      <p:to>
                                        <p:strVal val="visible"/>
                                      </p:to>
                                    </p:set>
                                    <p:animEffect transition="in" filter="fade">
                                      <p:cBhvr>
                                        <p:cTn id="15" dur="500"/>
                                        <p:tgtEl>
                                          <p:spTgt spid="13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500"/>
                                        <p:tgtEl>
                                          <p:spTgt spid="19"/>
                                        </p:tgtEl>
                                      </p:cBhvr>
                                    </p:animEffect>
                                  </p:childTnLst>
                                </p:cTn>
                              </p:par>
                              <p:par>
                                <p:cTn id="21" presetID="10" presetClass="entr" presetSubtype="0" fill="hold" nodeType="with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500"/>
                                        <p:tgtEl>
                                          <p:spTgt spid="22"/>
                                        </p:tgtEl>
                                      </p:cBhvr>
                                    </p:animEffect>
                                  </p:childTnLst>
                                </p:cTn>
                              </p:par>
                              <p:par>
                                <p:cTn id="29" presetID="10" presetClass="entr" presetSubtype="0" fill="hold" nodeType="withEffect">
                                  <p:stCondLst>
                                    <p:cond delay="0"/>
                                  </p:stCondLst>
                                  <p:childTnLst>
                                    <p:set>
                                      <p:cBhvr>
                                        <p:cTn id="30" dur="1" fill="hold">
                                          <p:stCondLst>
                                            <p:cond delay="0"/>
                                          </p:stCondLst>
                                        </p:cTn>
                                        <p:tgtEl>
                                          <p:spTgt spid="135"/>
                                        </p:tgtEl>
                                        <p:attrNameLst>
                                          <p:attrName>style.visibility</p:attrName>
                                        </p:attrNameLst>
                                      </p:cBhvr>
                                      <p:to>
                                        <p:strVal val="visible"/>
                                      </p:to>
                                    </p:set>
                                    <p:animEffect transition="in" filter="fade">
                                      <p:cBhvr>
                                        <p:cTn id="31" dur="500"/>
                                        <p:tgtEl>
                                          <p:spTgt spid="13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25"/>
                                        </p:tgtEl>
                                        <p:attrNameLst>
                                          <p:attrName>style.visibility</p:attrName>
                                        </p:attrNameLst>
                                      </p:cBhvr>
                                      <p:to>
                                        <p:strVal val="visible"/>
                                      </p:to>
                                    </p:set>
                                    <p:animEffect transition="in" filter="fade">
                                      <p:cBhvr>
                                        <p:cTn id="36" dur="500"/>
                                        <p:tgtEl>
                                          <p:spTgt spid="25"/>
                                        </p:tgtEl>
                                      </p:cBhvr>
                                    </p:animEffect>
                                  </p:childTnLst>
                                </p:cTn>
                              </p:par>
                              <p:par>
                                <p:cTn id="37" presetID="10" presetClass="entr" presetSubtype="0" fill="hold" nodeType="withEffect">
                                  <p:stCondLst>
                                    <p:cond delay="0"/>
                                  </p:stCondLst>
                                  <p:childTnLst>
                                    <p:set>
                                      <p:cBhvr>
                                        <p:cTn id="38" dur="1" fill="hold">
                                          <p:stCondLst>
                                            <p:cond delay="0"/>
                                          </p:stCondLst>
                                        </p:cTn>
                                        <p:tgtEl>
                                          <p:spTgt spid="136"/>
                                        </p:tgtEl>
                                        <p:attrNameLst>
                                          <p:attrName>style.visibility</p:attrName>
                                        </p:attrNameLst>
                                      </p:cBhvr>
                                      <p:to>
                                        <p:strVal val="visible"/>
                                      </p:to>
                                    </p:set>
                                    <p:animEffect transition="in" filter="fade">
                                      <p:cBhvr>
                                        <p:cTn id="39" dur="500"/>
                                        <p:tgtEl>
                                          <p:spTgt spid="136"/>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39"/>
                                        </p:tgtEl>
                                        <p:attrNameLst>
                                          <p:attrName>style.visibility</p:attrName>
                                        </p:attrNameLst>
                                      </p:cBhvr>
                                      <p:to>
                                        <p:strVal val="visible"/>
                                      </p:to>
                                    </p:set>
                                    <p:animEffect transition="in" filter="fade">
                                      <p:cBhvr>
                                        <p:cTn id="44" dur="500"/>
                                        <p:tgtEl>
                                          <p:spTgt spid="139"/>
                                        </p:tgtEl>
                                      </p:cBhvr>
                                    </p:animEffect>
                                  </p:childTnLst>
                                </p:cTn>
                              </p:par>
                              <p:par>
                                <p:cTn id="45" presetID="10" presetClass="entr" presetSubtype="0" fill="hold"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nodeType="withEffect">
                                  <p:stCondLst>
                                    <p:cond delay="0"/>
                                  </p:stCondLst>
                                  <p:childTnLst>
                                    <p:set>
                                      <p:cBhvr>
                                        <p:cTn id="52" dur="1" fill="hold">
                                          <p:stCondLst>
                                            <p:cond delay="0"/>
                                          </p:stCondLst>
                                        </p:cTn>
                                        <p:tgtEl>
                                          <p:spTgt spid="28">
                                            <p:txEl>
                                              <p:pRg st="1" end="1"/>
                                            </p:txEl>
                                          </p:spTgt>
                                        </p:tgtEl>
                                        <p:attrNameLst>
                                          <p:attrName>style.visibility</p:attrName>
                                        </p:attrNameLst>
                                      </p:cBhvr>
                                      <p:to>
                                        <p:strVal val="visible"/>
                                      </p:to>
                                    </p:set>
                                    <p:animEffect transition="in" filter="fade">
                                      <p:cBhvr>
                                        <p:cTn id="53" dur="500"/>
                                        <p:tgtEl>
                                          <p:spTgt spid="28">
                                            <p:txEl>
                                              <p:pRg st="1" end="1"/>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nodeType="clickEffect">
                                  <p:stCondLst>
                                    <p:cond delay="0"/>
                                  </p:stCondLst>
                                  <p:childTnLst>
                                    <p:set>
                                      <p:cBhvr>
                                        <p:cTn id="57"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TotalTime>
  <Words>614</Words>
  <Application>Microsoft Office PowerPoint</Application>
  <PresentationFormat>Widescreen</PresentationFormat>
  <Paragraphs>84</Paragraphs>
  <Slides>5</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Voigtlaender, Nico</cp:lastModifiedBy>
  <cp:revision>14</cp:revision>
  <dcterms:created xsi:type="dcterms:W3CDTF">2013-01-27T09:14:16Z</dcterms:created>
  <dcterms:modified xsi:type="dcterms:W3CDTF">2026-09-23T20:04:22Z</dcterms:modified>
  <cp:category/>
</cp:coreProperties>
</file>