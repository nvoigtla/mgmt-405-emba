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24A93-ABCD-4C63-96F0-29849A91DE01}"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F47B3-DFFB-4987-AFFF-51E8AEAFC762}" type="slidenum">
              <a:rPr lang="en-US" smtClean="0"/>
              <a:t>‹#›</a:t>
            </a:fld>
            <a:endParaRPr lang="en-US"/>
          </a:p>
        </p:txBody>
      </p:sp>
    </p:spTree>
    <p:extLst>
      <p:ext uri="{BB962C8B-B14F-4D97-AF65-F5344CB8AC3E}">
        <p14:creationId xmlns:p14="http://schemas.microsoft.com/office/powerpoint/2010/main" val="174173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Module 7 sits in the 405 course as a whole. We built the economic way of thinking, then demand, then supply and cost. Module 7 continues part 4: markets, pricing, and strategy — moving from monopoly and monopolistic competition to oligopoly, where a few firms interact strategically, and to game theory, the toolkit for analyzing that interaction.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map of Module 7 before we dive in. Part 1 is oligopoly — few large firms whose best moves depend on each other — in three flavors: collusion (act jointly as a monopolist, profitable but unstable and illegal), Cournot competition on quantities, and Bertrand competition on prices. Part 2 is game theory, the general toolkit behind all of this: dominant strategies, Nash equilibrium, and commitment. The gold bridge is the punchline connecting the two halves: Cournot and Bertrand are themselves games, and their equilibria are Nash equilibria. We return to this map as the module unfolds.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Oligopoly means markets with few sellers, but more than one (which is monopoly). How few? What is the distinction between oligopoly and monopolistic competition?</a:t>
            </a:r>
          </a:p>
          <a:p>
            <a:r>
              <a:t>There are barriers to entry in oligopolistic markets, keeping the number of competitors low and creating the potential for long term abnormal profits.</a:t>
            </a:r>
          </a:p>
          <a:p>
            <a:r>
              <a:t>There is strategic interdependence in oligopoly: under monopolistic competition, each firm ignores price changes by other firms because each is so small their price behavior does not affect your behavior. Under oligopoly, each has an incentive to respond to others' deviations.</a:t>
            </a:r>
          </a:p>
          <a:p>
            <a:r>
              <a:t>Examples of oligopoly include tobacco, satellite radio (before the merger), wide-bodied aircraft, and mobile phone services.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concentration in US mobile phone services — clearly an oligopoly. Verizon, T-Mobile, and AT&amp;T together serve roughly 97% of retail wireless subscribers. And consolidation continues: T-Mobile absorbed Sprint in 2020 and UScellular's wireless operations in August 2025.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Norilsk Nickel (Russia) is also a major producer – we exclude it here because of the sanctions against Russia</a:t>
            </a:r>
          </a:p>
          <a:p>
            <a:endParaRPr/>
          </a:p>
          <a:p>
            <a:r>
              <a:t>Nickel is our guiding example for oligopoly: a homogeneous commodity, and a key input for nickel-rich EV batteries. We stylize the market as a duopoly with the two dominant producers: Vale of Brazil, the largest Western producer, and China's Tsingshan Holding, the world's largest nickel producer, which mines mainly in Indonesia — Indonesia now accounts for roughly two-thirds of world mine production (USGS 2026), and Tsingshan alone for roughly 30%. Norilsk Nickel of Russia is also a major producer, but we exclude it here because of the sanctions against Russia. Background on the nickel market: https://www.nsenergybusiness.com/features/top-nickel-producing-companies/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988009"/>
            <a:ext cx="12191695" cy="1846722"/>
          </a:xfrm>
          <a:prstGeom prst="rect">
            <a:avLst/>
          </a:prstGeom>
          <a:noFill/>
        </p:spPr>
        <p:txBody>
          <a:bodyPr wrap="square" lIns="0" tIns="0" rIns="0" bIns="0">
            <a:spAutoFit/>
          </a:bodyPr>
          <a:lstStyle/>
          <a:p>
            <a:pPr algn="ctr"/>
            <a:r>
              <a:rPr sz="6000" b="1" i="0" u="none">
                <a:solidFill>
                  <a:srgbClr val="0B2B4E"/>
                </a:solidFill>
                <a:latin typeface="Calibri"/>
              </a:rPr>
              <a:t>Introduction to
Oligopoly and Game Theory</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7  ·  Video 1</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51892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52715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2F8B8F75-997D-54F2-905E-FFF0744A4593}"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1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 name="AgendaRow 10"/>
          <p:cNvGrpSpPr/>
          <p:nvPr/>
        </p:nvGrpSpPr>
        <p:grpSpPr>
          <a:xfrm>
            <a:off x="1051560" y="1264352"/>
            <a:ext cx="10698480" cy="621792"/>
            <a:chOff x="1051560" y="1264352"/>
            <a:chExt cx="10698480" cy="621792"/>
          </a:xfrm>
        </p:grpSpPr>
        <p:sp>
          <p:nvSpPr>
            <p:cNvPr id="7" name="Oval 6"/>
            <p:cNvSpPr/>
            <p:nvPr/>
          </p:nvSpPr>
          <p:spPr>
            <a:xfrm>
              <a:off x="1051560" y="1282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Rounded Rectangle 7"/>
            <p:cNvSpPr/>
            <p:nvPr/>
          </p:nvSpPr>
          <p:spPr>
            <a:xfrm>
              <a:off x="10332720" y="1410656"/>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1</a:t>
              </a:r>
            </a:p>
          </p:txBody>
        </p:sp>
        <p:sp>
          <p:nvSpPr>
            <p:cNvPr id="9" name="TextBox 8"/>
            <p:cNvSpPr txBox="1"/>
            <p:nvPr/>
          </p:nvSpPr>
          <p:spPr>
            <a:xfrm>
              <a:off x="1874519" y="1264352"/>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Oligopoly and Game Theory</a:t>
              </a:r>
            </a:p>
            <a:p>
              <a:pPr algn="l">
                <a:spcBef>
                  <a:spcPts val="0"/>
                </a:spcBef>
                <a:buNone/>
              </a:pPr>
              <a:r>
                <a:rPr sz="2000">
                  <a:solidFill>
                    <a:srgbClr val="555B66"/>
                  </a:solidFill>
                  <a:latin typeface="Calibri"/>
                </a:rPr>
                <a:t>What makes a market an oligopoly, and why firms must think strategically</a:t>
              </a:r>
            </a:p>
          </p:txBody>
        </p:sp>
      </p:grpSp>
      <p:grpSp>
        <p:nvGrpSpPr>
          <p:cNvPr id="14" name="AgendaRow 14"/>
          <p:cNvGrpSpPr/>
          <p:nvPr/>
        </p:nvGrpSpPr>
        <p:grpSpPr>
          <a:xfrm>
            <a:off x="1051560" y="1931864"/>
            <a:ext cx="10698480" cy="621792"/>
            <a:chOff x="1051560" y="1931864"/>
            <a:chExt cx="10698480" cy="621792"/>
          </a:xfrm>
        </p:grpSpPr>
        <p:sp>
          <p:nvSpPr>
            <p:cNvPr id="11" name="Oval 10"/>
            <p:cNvSpPr/>
            <p:nvPr/>
          </p:nvSpPr>
          <p:spPr>
            <a:xfrm>
              <a:off x="1051560" y="1950152"/>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2" name="Rounded Rectangle 11"/>
            <p:cNvSpPr/>
            <p:nvPr/>
          </p:nvSpPr>
          <p:spPr>
            <a:xfrm>
              <a:off x="10332720" y="207816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2</a:t>
              </a:r>
            </a:p>
          </p:txBody>
        </p:sp>
        <p:sp>
          <p:nvSpPr>
            <p:cNvPr id="13" name="TextBox 12"/>
            <p:cNvSpPr txBox="1"/>
            <p:nvPr/>
          </p:nvSpPr>
          <p:spPr>
            <a:xfrm>
              <a:off x="1874519" y="1931864"/>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a:p>
              <a:pPr algn="l">
                <a:spcBef>
                  <a:spcPts val="0"/>
                </a:spcBef>
                <a:buNone/>
              </a:pPr>
              <a:r>
                <a:rPr sz="2000">
                  <a:solidFill>
                    <a:srgbClr val="555B66"/>
                  </a:solidFill>
                  <a:latin typeface="Calibri"/>
                </a:rPr>
                <a:t>Why firms are tempted to collude, and how cartels can break down</a:t>
              </a:r>
            </a:p>
          </p:txBody>
        </p:sp>
      </p:grpSp>
      <p:grpSp>
        <p:nvGrpSpPr>
          <p:cNvPr id="18" name="AgendaRow 18"/>
          <p:cNvGrpSpPr/>
          <p:nvPr/>
        </p:nvGrpSpPr>
        <p:grpSpPr>
          <a:xfrm>
            <a:off x="1051560" y="2599376"/>
            <a:ext cx="10698480" cy="621792"/>
            <a:chOff x="1051560" y="2599376"/>
            <a:chExt cx="10698480" cy="621792"/>
          </a:xfrm>
        </p:grpSpPr>
        <p:sp>
          <p:nvSpPr>
            <p:cNvPr id="15" name="Oval 14"/>
            <p:cNvSpPr/>
            <p:nvPr/>
          </p:nvSpPr>
          <p:spPr>
            <a:xfrm>
              <a:off x="1051560" y="26176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6" name="Rounded Rectangle 15"/>
            <p:cNvSpPr/>
            <p:nvPr/>
          </p:nvSpPr>
          <p:spPr>
            <a:xfrm>
              <a:off x="10332720" y="274568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7" name="TextBox 16"/>
            <p:cNvSpPr txBox="1"/>
            <p:nvPr/>
          </p:nvSpPr>
          <p:spPr>
            <a:xfrm>
              <a:off x="1874519" y="2599376"/>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a:p>
              <a:pPr algn="l">
                <a:spcBef>
                  <a:spcPts val="0"/>
                </a:spcBef>
                <a:buNone/>
              </a:pPr>
              <a:r>
                <a:rPr sz="2000">
                  <a:solidFill>
                    <a:srgbClr val="555B66"/>
                  </a:solidFill>
                  <a:latin typeface="Calibri"/>
                </a:rPr>
                <a:t>Competing by choosing quantities: capacity decisions in oligopoly</a:t>
              </a:r>
            </a:p>
          </p:txBody>
        </p:sp>
      </p:grpSp>
      <p:grpSp>
        <p:nvGrpSpPr>
          <p:cNvPr id="22" name="AgendaRow 22"/>
          <p:cNvGrpSpPr/>
          <p:nvPr/>
        </p:nvGrpSpPr>
        <p:grpSpPr>
          <a:xfrm>
            <a:off x="1051560" y="3266888"/>
            <a:ext cx="10698480" cy="621792"/>
            <a:chOff x="1051560" y="3266888"/>
            <a:chExt cx="10698480" cy="621792"/>
          </a:xfrm>
        </p:grpSpPr>
        <p:sp>
          <p:nvSpPr>
            <p:cNvPr id="19" name="Oval 18"/>
            <p:cNvSpPr/>
            <p:nvPr/>
          </p:nvSpPr>
          <p:spPr>
            <a:xfrm>
              <a:off x="1051560" y="328517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20" name="Rounded Rectangle 19"/>
            <p:cNvSpPr/>
            <p:nvPr/>
          </p:nvSpPr>
          <p:spPr>
            <a:xfrm>
              <a:off x="10332720" y="341319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21" name="TextBox 20"/>
            <p:cNvSpPr txBox="1"/>
            <p:nvPr/>
          </p:nvSpPr>
          <p:spPr>
            <a:xfrm>
              <a:off x="1874519" y="3266888"/>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a:p>
              <a:pPr algn="l">
                <a:spcBef>
                  <a:spcPts val="0"/>
                </a:spcBef>
                <a:buNone/>
              </a:pPr>
              <a:r>
                <a:rPr sz="2000">
                  <a:solidFill>
                    <a:srgbClr val="555B66"/>
                  </a:solidFill>
                  <a:latin typeface="Calibri"/>
                </a:rPr>
                <a:t>Competing by setting prices, and why it can compete profits away</a:t>
              </a:r>
            </a:p>
          </p:txBody>
        </p:sp>
      </p:grpSp>
      <p:grpSp>
        <p:nvGrpSpPr>
          <p:cNvPr id="26" name="AgendaRow 26"/>
          <p:cNvGrpSpPr/>
          <p:nvPr/>
        </p:nvGrpSpPr>
        <p:grpSpPr>
          <a:xfrm>
            <a:off x="1051560" y="3934400"/>
            <a:ext cx="10698480" cy="621792"/>
            <a:chOff x="1051560" y="3934400"/>
            <a:chExt cx="10698480" cy="621792"/>
          </a:xfrm>
        </p:grpSpPr>
        <p:sp>
          <p:nvSpPr>
            <p:cNvPr id="23" name="Oval 22"/>
            <p:cNvSpPr/>
            <p:nvPr/>
          </p:nvSpPr>
          <p:spPr>
            <a:xfrm>
              <a:off x="1051560" y="3952688"/>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5</a:t>
              </a:r>
            </a:p>
          </p:txBody>
        </p:sp>
        <p:sp>
          <p:nvSpPr>
            <p:cNvPr id="24" name="Rounded Rectangle 23"/>
            <p:cNvSpPr/>
            <p:nvPr/>
          </p:nvSpPr>
          <p:spPr>
            <a:xfrm>
              <a:off x="10332720" y="408070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5</a:t>
              </a:r>
            </a:p>
          </p:txBody>
        </p:sp>
        <p:sp>
          <p:nvSpPr>
            <p:cNvPr id="25" name="TextBox 24"/>
            <p:cNvSpPr txBox="1"/>
            <p:nvPr/>
          </p:nvSpPr>
          <p:spPr>
            <a:xfrm>
              <a:off x="1874519" y="3934400"/>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 with Differentiated Goods</a:t>
              </a:r>
            </a:p>
            <a:p>
              <a:pPr algn="l">
                <a:spcBef>
                  <a:spcPts val="0"/>
                </a:spcBef>
                <a:buNone/>
              </a:pPr>
              <a:r>
                <a:rPr sz="2000">
                  <a:solidFill>
                    <a:srgbClr val="555B66"/>
                  </a:solidFill>
                  <a:latin typeface="Calibri"/>
                </a:rPr>
                <a:t>How differentiation softens price competition</a:t>
              </a:r>
            </a:p>
          </p:txBody>
        </p:sp>
      </p:grpSp>
      <p:grpSp>
        <p:nvGrpSpPr>
          <p:cNvPr id="30" name="AgendaRow 30"/>
          <p:cNvGrpSpPr/>
          <p:nvPr/>
        </p:nvGrpSpPr>
        <p:grpSpPr>
          <a:xfrm>
            <a:off x="1051560" y="4693352"/>
            <a:ext cx="10698480" cy="484632"/>
            <a:chOff x="1051560" y="4693352"/>
            <a:chExt cx="10698480" cy="484632"/>
          </a:xfrm>
        </p:grpSpPr>
        <p:sp>
          <p:nvSpPr>
            <p:cNvPr id="27" name="Oval 26"/>
            <p:cNvSpPr/>
            <p:nvPr/>
          </p:nvSpPr>
          <p:spPr>
            <a:xfrm>
              <a:off x="1051560" y="4711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6</a:t>
              </a:r>
            </a:p>
          </p:txBody>
        </p:sp>
        <p:sp>
          <p:nvSpPr>
            <p:cNvPr id="28" name="Rounded Rectangle 27"/>
            <p:cNvSpPr/>
            <p:nvPr/>
          </p:nvSpPr>
          <p:spPr>
            <a:xfrm>
              <a:off x="10332720" y="4741163"/>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9" name="TextBox 28"/>
            <p:cNvSpPr txBox="1"/>
            <p:nvPr/>
          </p:nvSpPr>
          <p:spPr>
            <a:xfrm>
              <a:off x="1874519" y="4693352"/>
              <a:ext cx="8293609" cy="424807"/>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Game Theory</a:t>
              </a:r>
            </a:p>
          </p:txBody>
        </p:sp>
      </p:grpSp>
      <p:grpSp>
        <p:nvGrpSpPr>
          <p:cNvPr id="34" name="AgendaRow 34"/>
          <p:cNvGrpSpPr/>
          <p:nvPr/>
        </p:nvGrpSpPr>
        <p:grpSpPr>
          <a:xfrm>
            <a:off x="1481328" y="5163879"/>
            <a:ext cx="10268712" cy="621792"/>
            <a:chOff x="1481328" y="5163879"/>
            <a:chExt cx="10268712" cy="621792"/>
          </a:xfrm>
        </p:grpSpPr>
        <p:sp>
          <p:nvSpPr>
            <p:cNvPr id="31" name="Oval 30"/>
            <p:cNvSpPr/>
            <p:nvPr/>
          </p:nvSpPr>
          <p:spPr>
            <a:xfrm>
              <a:off x="1481328" y="5218743"/>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6a</a:t>
              </a:r>
            </a:p>
          </p:txBody>
        </p:sp>
        <p:sp>
          <p:nvSpPr>
            <p:cNvPr id="32" name="Rounded Rectangle 31"/>
            <p:cNvSpPr/>
            <p:nvPr/>
          </p:nvSpPr>
          <p:spPr>
            <a:xfrm>
              <a:off x="10707625" y="5310183"/>
              <a:ext cx="1042415"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33" name="TextBox 32"/>
            <p:cNvSpPr txBox="1"/>
            <p:nvPr/>
          </p:nvSpPr>
          <p:spPr>
            <a:xfrm>
              <a:off x="2084831" y="5163879"/>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Strategic Thinking: Key Concepts</a:t>
              </a:r>
            </a:p>
            <a:p>
              <a:pPr algn="l">
                <a:spcBef>
                  <a:spcPts val="0"/>
                </a:spcBef>
                <a:buNone/>
              </a:pPr>
              <a:r>
                <a:rPr sz="2000">
                  <a:solidFill>
                    <a:srgbClr val="555B66"/>
                  </a:solidFill>
                  <a:latin typeface="Calibri"/>
                </a:rPr>
                <a:t>Best responses, dominant strategies, and Nash equilibrium</a:t>
              </a:r>
            </a:p>
          </p:txBody>
        </p:sp>
      </p:grpSp>
      <p:grpSp>
        <p:nvGrpSpPr>
          <p:cNvPr id="38" name="AgendaRow 38"/>
          <p:cNvGrpSpPr/>
          <p:nvPr/>
        </p:nvGrpSpPr>
        <p:grpSpPr>
          <a:xfrm>
            <a:off x="1481328" y="5831391"/>
            <a:ext cx="10268712" cy="621792"/>
            <a:chOff x="1481328" y="5831391"/>
            <a:chExt cx="10268712" cy="621792"/>
          </a:xfrm>
        </p:grpSpPr>
        <p:sp>
          <p:nvSpPr>
            <p:cNvPr id="35" name="Oval 34"/>
            <p:cNvSpPr/>
            <p:nvPr/>
          </p:nvSpPr>
          <p:spPr>
            <a:xfrm>
              <a:off x="1481328" y="5886255"/>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6b</a:t>
              </a:r>
            </a:p>
          </p:txBody>
        </p:sp>
        <p:sp>
          <p:nvSpPr>
            <p:cNvPr id="36" name="Rounded Rectangle 35"/>
            <p:cNvSpPr/>
            <p:nvPr/>
          </p:nvSpPr>
          <p:spPr>
            <a:xfrm>
              <a:off x="10707625" y="5977695"/>
              <a:ext cx="1042415"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37" name="TextBox 36"/>
            <p:cNvSpPr txBox="1"/>
            <p:nvPr/>
          </p:nvSpPr>
          <p:spPr>
            <a:xfrm>
              <a:off x="2084831" y="5831391"/>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Prisoner’s Dilemma, Game of Chicken…</a:t>
              </a:r>
            </a:p>
            <a:p>
              <a:pPr algn="l">
                <a:spcBef>
                  <a:spcPts val="0"/>
                </a:spcBef>
                <a:buNone/>
              </a:pPr>
              <a:r>
                <a:rPr sz="2000">
                  <a:solidFill>
                    <a:srgbClr val="555B66"/>
                  </a:solidFill>
                  <a:latin typeface="Calibri"/>
                </a:rPr>
                <a:t>Classic games and what they teach about business strategy</a:t>
              </a:r>
            </a:p>
          </p:txBody>
        </p:sp>
      </p:grpSp>
      <p:sp>
        <p:nvSpPr>
          <p:cNvPr id="39" name="Rectangle 3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2" name="TextBox 41"/>
          <p:cNvSpPr txBox="1"/>
          <p:nvPr/>
        </p:nvSpPr>
        <p:spPr>
          <a:xfrm>
            <a:off x="11475720" y="6583680"/>
            <a:ext cx="502920" cy="292608"/>
          </a:xfrm>
          <a:prstGeom prst="rect">
            <a:avLst/>
          </a:prstGeom>
          <a:noFill/>
        </p:spPr>
        <p:txBody>
          <a:bodyPr wrap="none" lIns="0" tIns="0" rIns="0" bIns="0">
            <a:spAutoFit/>
          </a:bodyPr>
          <a:lstStyle/>
          <a:p>
            <a:pPr algn="r"/>
            <a:fld id="{25D84F6A-43DA-5B2B-8673-AA2FCAA12D47}"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Concept 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How the Pieces of Module 7 Connect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07008"/>
            <a:ext cx="5486400" cy="384048"/>
          </a:xfrm>
          <a:prstGeom prst="rect">
            <a:avLst/>
          </a:prstGeom>
          <a:noFill/>
        </p:spPr>
        <p:txBody>
          <a:bodyPr wrap="square" lIns="0" tIns="0" rIns="0" bIns="0">
            <a:spAutoFit/>
          </a:bodyPr>
          <a:lstStyle/>
          <a:p>
            <a:pPr algn="ctr"/>
            <a:r>
              <a:rPr sz="2200" b="1" i="0" u="none">
                <a:solidFill>
                  <a:srgbClr val="555B66"/>
                </a:solidFill>
                <a:latin typeface="Calibri"/>
              </a:rPr>
              <a:t>OLIGOPOLY  (Part 1)</a:t>
            </a:r>
          </a:p>
        </p:txBody>
      </p:sp>
      <p:sp>
        <p:nvSpPr>
          <p:cNvPr id="8" name="TextBox 7"/>
          <p:cNvSpPr txBox="1"/>
          <p:nvPr/>
        </p:nvSpPr>
        <p:spPr>
          <a:xfrm>
            <a:off x="6428232" y="1207008"/>
            <a:ext cx="5486400" cy="384048"/>
          </a:xfrm>
          <a:prstGeom prst="rect">
            <a:avLst/>
          </a:prstGeom>
          <a:noFill/>
        </p:spPr>
        <p:txBody>
          <a:bodyPr wrap="square" lIns="0" tIns="0" rIns="0" bIns="0">
            <a:spAutoFit/>
          </a:bodyPr>
          <a:lstStyle/>
          <a:p>
            <a:pPr algn="ctr"/>
            <a:r>
              <a:rPr sz="2200" b="1" i="0" u="none">
                <a:solidFill>
                  <a:srgbClr val="555B66"/>
                </a:solidFill>
                <a:latin typeface="Calibri"/>
              </a:rPr>
              <a:t>GAME THEORY  (Part 2)</a:t>
            </a:r>
          </a:p>
        </p:txBody>
      </p:sp>
      <p:sp>
        <p:nvSpPr>
          <p:cNvPr id="9" name="Rounded Rectangle 8"/>
          <p:cNvSpPr/>
          <p:nvPr/>
        </p:nvSpPr>
        <p:spPr>
          <a:xfrm>
            <a:off x="914400" y="1664208"/>
            <a:ext cx="4206240" cy="8229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Oligopoly
few large firms — each firm's best move depends on its rivals'</a:t>
            </a:r>
          </a:p>
        </p:txBody>
      </p:sp>
      <p:sp>
        <p:nvSpPr>
          <p:cNvPr id="10" name="Rounded Rectangle 9"/>
          <p:cNvSpPr/>
          <p:nvPr/>
        </p:nvSpPr>
        <p:spPr>
          <a:xfrm>
            <a:off x="7068312" y="1664208"/>
            <a:ext cx="4206240" cy="8229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Game Theory
the toolkit for strategic interaction</a:t>
            </a:r>
          </a:p>
        </p:txBody>
      </p:sp>
      <p:sp>
        <p:nvSpPr>
          <p:cNvPr id="11" name="Rounded Rectangle 10"/>
          <p:cNvSpPr/>
          <p:nvPr/>
        </p:nvSpPr>
        <p:spPr>
          <a:xfrm>
            <a:off x="274320"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Collusion / Cartel
act jointly as a monopolist
profitable, but unstable (and illegal)</a:t>
            </a:r>
          </a:p>
        </p:txBody>
      </p:sp>
      <p:sp>
        <p:nvSpPr>
          <p:cNvPr id="12" name="Rounded Rectangle 11"/>
          <p:cNvSpPr/>
          <p:nvPr/>
        </p:nvSpPr>
        <p:spPr>
          <a:xfrm>
            <a:off x="2164080"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Cournot</a:t>
            </a:r>
            <a:r>
              <a:rPr sz="1300" b="1">
                <a:solidFill>
                  <a:srgbClr val="FFFFFF"/>
                </a:solidFill>
                <a:latin typeface="Calibri"/>
              </a:rPr>
              <a:t>
compete on quantities
applies to long-run (capacity building)</a:t>
            </a:r>
          </a:p>
        </p:txBody>
      </p:sp>
      <p:sp>
        <p:nvSpPr>
          <p:cNvPr id="13" name="Rounded Rectangle 12"/>
          <p:cNvSpPr/>
          <p:nvPr/>
        </p:nvSpPr>
        <p:spPr>
          <a:xfrm>
            <a:off x="4053840"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Bertrand</a:t>
            </a:r>
            <a:r>
              <a:rPr sz="1300" b="1">
                <a:solidFill>
                  <a:srgbClr val="FFFFFF"/>
                </a:solidFill>
                <a:latin typeface="Calibri"/>
              </a:rPr>
              <a:t>
compete on prices
can erode profits in the short run</a:t>
            </a:r>
          </a:p>
        </p:txBody>
      </p:sp>
      <p:sp>
        <p:nvSpPr>
          <p:cNvPr id="14" name="Rounded Rectangle 13"/>
          <p:cNvSpPr/>
          <p:nvPr/>
        </p:nvSpPr>
        <p:spPr>
          <a:xfrm>
            <a:off x="6428232"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Dominant strategy</a:t>
            </a:r>
            <a:r>
              <a:rPr sz="1300" b="1">
                <a:solidFill>
                  <a:srgbClr val="FFFFFF"/>
                </a:solidFill>
                <a:latin typeface="Calibri"/>
              </a:rPr>
              <a:t>
</a:t>
            </a:r>
          </a:p>
          <a:p>
            <a:pPr algn="ctr"/>
            <a:r>
              <a:rPr sz="1300" b="1">
                <a:solidFill>
                  <a:srgbClr val="FFFFFF"/>
                </a:solidFill>
                <a:latin typeface="Calibri"/>
              </a:rPr>
              <a:t>
best response, no matter what the rival does</a:t>
            </a:r>
          </a:p>
        </p:txBody>
      </p:sp>
      <p:sp>
        <p:nvSpPr>
          <p:cNvPr id="15" name="Rounded Rectangle 14"/>
          <p:cNvSpPr/>
          <p:nvPr/>
        </p:nvSpPr>
        <p:spPr>
          <a:xfrm>
            <a:off x="8317992"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Nash equilibrium
individually best responses
⇒ no player wants to deviate</a:t>
            </a:r>
          </a:p>
        </p:txBody>
      </p:sp>
      <p:sp>
        <p:nvSpPr>
          <p:cNvPr id="16" name="Rounded Rectangle 15"/>
          <p:cNvSpPr/>
          <p:nvPr/>
        </p:nvSpPr>
        <p:spPr>
          <a:xfrm>
            <a:off x="10207752"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Commitment
bind yourself to change the game
(M.A.D., entry deterrence)</a:t>
            </a:r>
          </a:p>
        </p:txBody>
      </p:sp>
      <p:cxnSp>
        <p:nvCxnSpPr>
          <p:cNvPr id="17" name="Connector 16"/>
          <p:cNvCxnSpPr/>
          <p:nvPr/>
        </p:nvCxnSpPr>
        <p:spPr>
          <a:xfrm flipH="1">
            <a:off x="1127760" y="2487168"/>
            <a:ext cx="1889760" cy="25603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17520" y="2487168"/>
            <a:ext cx="0" cy="25603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017520" y="2487168"/>
            <a:ext cx="1889760" cy="25603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281672" y="2487168"/>
            <a:ext cx="1889760" cy="25603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71432" y="2487168"/>
            <a:ext cx="0" cy="25603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71432" y="2487168"/>
            <a:ext cx="1889760" cy="25603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3" name="12-Point Star 22"/>
          <p:cNvSpPr/>
          <p:nvPr/>
        </p:nvSpPr>
        <p:spPr>
          <a:xfrm>
            <a:off x="2194560" y="5074920"/>
            <a:ext cx="1645920" cy="11887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482596" y="5342382"/>
            <a:ext cx="1069848" cy="653796"/>
          </a:xfrm>
          <a:prstGeom prst="rect">
            <a:avLst/>
          </a:prstGeom>
          <a:noFill/>
        </p:spPr>
        <p:txBody>
          <a:bodyPr wrap="square" lIns="0" tIns="0" rIns="0" bIns="0" anchor="ctr">
            <a:spAutoFit/>
          </a:bodyPr>
          <a:lstStyle/>
          <a:p>
            <a:pPr algn="ctr"/>
            <a:r>
              <a:rPr sz="1600" b="1">
                <a:solidFill>
                  <a:srgbClr val="0B2B4E"/>
                </a:solidFill>
                <a:latin typeface="Calibri"/>
              </a:rPr>
              <a:t>MR = MC</a:t>
            </a:r>
          </a:p>
          <a:p>
            <a:pPr algn="ctr"/>
            <a:r>
              <a:rPr sz="1100" b="1" i="1">
                <a:solidFill>
                  <a:srgbClr val="0B2B4E"/>
                </a:solidFill>
                <a:latin typeface="Calibri"/>
              </a:rPr>
              <a:t>(given the rival's action)</a:t>
            </a:r>
          </a:p>
        </p:txBody>
      </p:sp>
      <p:cxnSp>
        <p:nvCxnSpPr>
          <p:cNvPr id="25" name="Connector 24"/>
          <p:cNvCxnSpPr/>
          <p:nvPr/>
        </p:nvCxnSpPr>
        <p:spPr>
          <a:xfrm flipV="1">
            <a:off x="3017520" y="4480560"/>
            <a:ext cx="0" cy="594360"/>
          </a:xfrm>
          <a:prstGeom prst="line">
            <a:avLst/>
          </a:prstGeom>
          <a:ln w="3175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989320" y="5166360"/>
            <a:ext cx="3291840" cy="868680"/>
          </a:xfrm>
          <a:prstGeom prst="roundRect">
            <a:avLst>
              <a:gd name="adj" fmla="val 6000"/>
            </a:avLst>
          </a:prstGeom>
          <a:solidFill>
            <a:srgbClr val="FFFFFF"/>
          </a:solidFill>
          <a:ln w="254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B2B4E"/>
                </a:solidFill>
                <a:latin typeface="Calibri"/>
              </a:rPr>
              <a:t>Cournot &amp; Bertrand are games:
their equilibria are Nash equilibria</a:t>
            </a:r>
          </a:p>
        </p:txBody>
      </p:sp>
      <p:cxnSp>
        <p:nvCxnSpPr>
          <p:cNvPr id="27" name="Connector 26"/>
          <p:cNvCxnSpPr/>
          <p:nvPr/>
        </p:nvCxnSpPr>
        <p:spPr>
          <a:xfrm>
            <a:off x="5486400" y="4480560"/>
            <a:ext cx="960120" cy="685800"/>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31743" y="4528108"/>
            <a:ext cx="2557577" cy="1072592"/>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732520" y="4480560"/>
            <a:ext cx="438912" cy="685800"/>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DF560C0B-1311-5BEF-8996-A83C9D0733BD}"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par>
                                <p:cTn id="51" presetID="10" presetClass="entr" presetSubtype="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par>
                                <p:cTn id="83" presetID="10" presetClass="entr" presetSubtype="0" fill="hold"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par>
                                <p:cTn id="86" presetID="10" presetClass="entr" presetSubtype="0" fill="hold"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par>
                                <p:cTn id="89" presetID="10" presetClass="entr" presetSubtype="0" fill="hold"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1 · Introduction to Oligopoly and Game Theory</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Extent of Market Power: Oligopoly Compared to Other Markets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61872"/>
            <a:ext cx="3657600" cy="457200"/>
          </a:xfrm>
          <a:prstGeom prst="rect">
            <a:avLst/>
          </a:prstGeom>
          <a:noFill/>
        </p:spPr>
        <p:txBody>
          <a:bodyPr wrap="square" lIns="0" tIns="0" rIns="0" bIns="0">
            <a:spAutoFit/>
          </a:bodyPr>
          <a:lstStyle/>
          <a:p>
            <a:pPr algn="l"/>
            <a:r>
              <a:rPr sz="2800" b="1" i="0" u="none">
                <a:solidFill>
                  <a:srgbClr val="0B2B4E"/>
                </a:solidFill>
                <a:latin typeface="Calibri"/>
              </a:rPr>
              <a:t>Least Market Power</a:t>
            </a:r>
          </a:p>
        </p:txBody>
      </p:sp>
      <p:sp>
        <p:nvSpPr>
          <p:cNvPr id="8" name="TextBox 7"/>
          <p:cNvSpPr txBox="1"/>
          <p:nvPr/>
        </p:nvSpPr>
        <p:spPr>
          <a:xfrm>
            <a:off x="8028431" y="1261872"/>
            <a:ext cx="3657600" cy="457200"/>
          </a:xfrm>
          <a:prstGeom prst="rect">
            <a:avLst/>
          </a:prstGeom>
          <a:noFill/>
        </p:spPr>
        <p:txBody>
          <a:bodyPr wrap="square" lIns="0" tIns="0" r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1847088"/>
            <a:ext cx="11274552" cy="0"/>
          </a:xfrm>
          <a:prstGeom prst="line">
            <a:avLst/>
          </a:prstGeom>
          <a:ln w="44450">
            <a:solidFill>
              <a:srgbClr val="0B2B4E"/>
            </a:solidFill>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Perfect
Competition</a:t>
            </a:r>
          </a:p>
        </p:txBody>
      </p:sp>
      <p:sp>
        <p:nvSpPr>
          <p:cNvPr id="11" name="TextBox 10"/>
          <p:cNvSpPr txBox="1"/>
          <p:nvPr/>
        </p:nvSpPr>
        <p:spPr>
          <a:xfrm>
            <a:off x="329184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Monopolistic
Competition</a:t>
            </a:r>
          </a:p>
        </p:txBody>
      </p:sp>
      <p:sp>
        <p:nvSpPr>
          <p:cNvPr id="12" name="TextBox 11"/>
          <p:cNvSpPr txBox="1"/>
          <p:nvPr/>
        </p:nvSpPr>
        <p:spPr>
          <a:xfrm>
            <a:off x="612648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Oligopoly</a:t>
            </a:r>
          </a:p>
        </p:txBody>
      </p:sp>
      <p:sp>
        <p:nvSpPr>
          <p:cNvPr id="13" name="TextBox 12"/>
          <p:cNvSpPr txBox="1"/>
          <p:nvPr/>
        </p:nvSpPr>
        <p:spPr>
          <a:xfrm>
            <a:off x="891540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Monopoly</a:t>
            </a:r>
          </a:p>
        </p:txBody>
      </p:sp>
      <p:sp>
        <p:nvSpPr>
          <p:cNvPr id="14" name="Rectangle 13"/>
          <p:cNvSpPr/>
          <p:nvPr/>
        </p:nvSpPr>
        <p:spPr>
          <a:xfrm>
            <a:off x="315468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805672"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2852928"/>
            <a:ext cx="205740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Takers)</a:t>
            </a:r>
          </a:p>
        </p:txBody>
      </p:sp>
      <p:sp>
        <p:nvSpPr>
          <p:cNvPr id="18" name="Rounded Rectangle 17"/>
          <p:cNvSpPr/>
          <p:nvPr/>
        </p:nvSpPr>
        <p:spPr>
          <a:xfrm>
            <a:off x="3566160" y="2852928"/>
            <a:ext cx="790956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Searchers)</a:t>
            </a:r>
          </a:p>
        </p:txBody>
      </p:sp>
      <p:grpSp>
        <p:nvGrpSpPr>
          <p:cNvPr id="31" name="TodayFrame 31"/>
          <p:cNvGrpSpPr/>
          <p:nvPr/>
        </p:nvGrpSpPr>
        <p:grpSpPr>
          <a:xfrm>
            <a:off x="5998464" y="1956816"/>
            <a:ext cx="2825496" cy="4462272"/>
            <a:chOff x="5971032" y="1956816"/>
            <a:chExt cx="2825496" cy="4462272"/>
          </a:xfrm>
        </p:grpSpPr>
        <p:sp>
          <p:nvSpPr>
            <p:cNvPr id="19" name="Rounded Rectangle 18"/>
            <p:cNvSpPr/>
            <p:nvPr/>
          </p:nvSpPr>
          <p:spPr>
            <a:xfrm>
              <a:off x="5971032" y="1956816"/>
              <a:ext cx="2825496" cy="4251960"/>
            </a:xfrm>
            <a:prstGeom prst="roundRect">
              <a:avLst>
                <a:gd name="adj" fmla="val 4000"/>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606540" y="5998464"/>
              <a:ext cx="1554480" cy="420624"/>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6606540" y="5998464"/>
              <a:ext cx="1554480" cy="420624"/>
            </a:xfrm>
            <a:prstGeom prst="roundRect">
              <a:avLst>
                <a:gd name="adj" fmla="val 30000"/>
              </a:avLst>
            </a:prstGeom>
            <a:solidFill>
              <a:srgbClr val="C00000">
                <a:alpha val="30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TODAY</a:t>
              </a:r>
            </a:p>
          </p:txBody>
        </p:sp>
      </p:grpSp>
      <p:grpSp>
        <p:nvGrpSpPr>
          <p:cNvPr id="36" name="PicCaption 36"/>
          <p:cNvGrpSpPr/>
          <p:nvPr/>
        </p:nvGrpSpPr>
        <p:grpSpPr>
          <a:xfrm>
            <a:off x="502920" y="3401568"/>
            <a:ext cx="2697480" cy="2560320"/>
            <a:chOff x="502920" y="3401568"/>
            <a:chExt cx="2697480" cy="2560320"/>
          </a:xfrm>
        </p:grpSpPr>
        <p:pic>
          <p:nvPicPr>
            <p:cNvPr id="20" name="Picture 19" descr="NV_s07_10_f9f010a8.jpg"/>
            <p:cNvPicPr>
              <a:picLocks noChangeAspect="1"/>
            </p:cNvPicPr>
            <p:nvPr/>
          </p:nvPicPr>
          <p:blipFill>
            <a:blip r:embed="rId2"/>
            <a:stretch>
              <a:fillRect/>
            </a:stretch>
          </p:blipFill>
          <p:spPr>
            <a:xfrm>
              <a:off x="713232" y="3401568"/>
              <a:ext cx="2273881" cy="2194560"/>
            </a:xfrm>
            <a:prstGeom prst="roundRect">
              <a:avLst>
                <a:gd name="adj" fmla="val 8000"/>
              </a:avLst>
            </a:prstGeom>
            <a:effectLst>
              <a:outerShdw blurRad="50800" dist="38100" dir="2700000" algn="tl" rotWithShape="0">
                <a:srgbClr val="000000">
                  <a:alpha val="50000"/>
                </a:srgbClr>
              </a:outerShdw>
            </a:effectLst>
          </p:spPr>
        </p:pic>
        <p:sp>
          <p:nvSpPr>
            <p:cNvPr id="25" name="TextBox 24"/>
            <p:cNvSpPr txBox="1"/>
            <p:nvPr/>
          </p:nvSpPr>
          <p:spPr>
            <a:xfrm>
              <a:off x="50292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Commodity markets</a:t>
              </a:r>
            </a:p>
          </p:txBody>
        </p:sp>
      </p:grpSp>
      <p:grpSp>
        <p:nvGrpSpPr>
          <p:cNvPr id="37" name="PicCaption 37"/>
          <p:cNvGrpSpPr/>
          <p:nvPr/>
        </p:nvGrpSpPr>
        <p:grpSpPr>
          <a:xfrm>
            <a:off x="3291840" y="3401568"/>
            <a:ext cx="2697480" cy="2560320"/>
            <a:chOff x="3291840" y="3401568"/>
            <a:chExt cx="2697480" cy="2560320"/>
          </a:xfrm>
        </p:grpSpPr>
        <p:pic>
          <p:nvPicPr>
            <p:cNvPr id="21" name="Picture 20" descr="NV_s07_g1.1_1f7061fb.png"/>
            <p:cNvPicPr>
              <a:picLocks noChangeAspect="1"/>
            </p:cNvPicPr>
            <p:nvPr/>
          </p:nvPicPr>
          <p:blipFill>
            <a:blip r:embed="rId3"/>
            <a:stretch>
              <a:fillRect/>
            </a:stretch>
          </p:blipFill>
          <p:spPr>
            <a:xfrm>
              <a:off x="3465576" y="3401568"/>
              <a:ext cx="2348495" cy="2194560"/>
            </a:xfrm>
            <a:prstGeom prst="roundRect">
              <a:avLst>
                <a:gd name="adj" fmla="val 8000"/>
              </a:avLst>
            </a:prstGeom>
            <a:effectLst>
              <a:outerShdw blurRad="50800" dist="38100" dir="2700000" algn="tl" rotWithShape="0">
                <a:srgbClr val="000000">
                  <a:alpha val="50000"/>
                </a:srgbClr>
              </a:outerShdw>
            </a:effectLst>
          </p:spPr>
        </p:pic>
        <p:sp>
          <p:nvSpPr>
            <p:cNvPr id="26" name="TextBox 25"/>
            <p:cNvSpPr txBox="1"/>
            <p:nvPr/>
          </p:nvSpPr>
          <p:spPr>
            <a:xfrm>
              <a:off x="329184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Restaurants in WeHo</a:t>
              </a:r>
            </a:p>
          </p:txBody>
        </p:sp>
      </p:grpSp>
      <p:pic>
        <p:nvPicPr>
          <p:cNvPr id="22" name="Picture 21" descr="NV_s07_g12.1_a0b89503.jpg"/>
          <p:cNvPicPr>
            <a:picLocks noChangeAspect="1"/>
          </p:cNvPicPr>
          <p:nvPr/>
        </p:nvPicPr>
        <p:blipFill>
          <a:blip r:embed="rId4"/>
          <a:stretch>
            <a:fillRect/>
          </a:stretch>
        </p:blipFill>
        <p:spPr>
          <a:xfrm>
            <a:off x="6746443" y="3401568"/>
            <a:ext cx="1457553" cy="969326"/>
          </a:xfrm>
          <a:prstGeom prst="rect">
            <a:avLst/>
          </a:prstGeom>
        </p:spPr>
      </p:pic>
      <p:grpSp>
        <p:nvGrpSpPr>
          <p:cNvPr id="38" name="PicCaption 38"/>
          <p:cNvGrpSpPr/>
          <p:nvPr/>
        </p:nvGrpSpPr>
        <p:grpSpPr>
          <a:xfrm>
            <a:off x="6126480" y="4443984"/>
            <a:ext cx="2697480" cy="1517904"/>
            <a:chOff x="6126480" y="4443984"/>
            <a:chExt cx="2697480" cy="1517904"/>
          </a:xfrm>
        </p:grpSpPr>
        <p:pic>
          <p:nvPicPr>
            <p:cNvPr id="23" name="Picture 22" descr="NV_s07_g12.2_3444df7e.png"/>
            <p:cNvPicPr>
              <a:picLocks noChangeAspect="1"/>
            </p:cNvPicPr>
            <p:nvPr/>
          </p:nvPicPr>
          <p:blipFill>
            <a:blip r:embed="rId5"/>
            <a:stretch>
              <a:fillRect/>
            </a:stretch>
          </p:blipFill>
          <p:spPr>
            <a:xfrm>
              <a:off x="6746443" y="4443984"/>
              <a:ext cx="1457553" cy="1151467"/>
            </a:xfrm>
            <a:prstGeom prst="rect">
              <a:avLst/>
            </a:prstGeom>
          </p:spPr>
        </p:pic>
        <p:sp>
          <p:nvSpPr>
            <p:cNvPr id="27" name="TextBox 26"/>
            <p:cNvSpPr txBox="1"/>
            <p:nvPr/>
          </p:nvSpPr>
          <p:spPr>
            <a:xfrm>
              <a:off x="612648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Wide-body aircraft</a:t>
              </a:r>
            </a:p>
          </p:txBody>
        </p:sp>
      </p:grpSp>
      <p:grpSp>
        <p:nvGrpSpPr>
          <p:cNvPr id="39" name="PicCaption 39"/>
          <p:cNvGrpSpPr/>
          <p:nvPr/>
        </p:nvGrpSpPr>
        <p:grpSpPr>
          <a:xfrm>
            <a:off x="8915400" y="3401568"/>
            <a:ext cx="2697480" cy="2560320"/>
            <a:chOff x="8915400" y="3401568"/>
            <a:chExt cx="2697480" cy="2560320"/>
          </a:xfrm>
        </p:grpSpPr>
        <p:pic>
          <p:nvPicPr>
            <p:cNvPr id="24" name="Picture 23" descr="NV_s07_13_4dc4c7c4.jpg"/>
            <p:cNvPicPr>
              <a:picLocks noChangeAspect="1"/>
            </p:cNvPicPr>
            <p:nvPr/>
          </p:nvPicPr>
          <p:blipFill>
            <a:blip r:embed="rId6"/>
            <a:stretch>
              <a:fillRect/>
            </a:stretch>
          </p:blipFill>
          <p:spPr>
            <a:xfrm>
              <a:off x="9226296" y="3401568"/>
              <a:ext cx="2073700" cy="2194560"/>
            </a:xfrm>
            <a:prstGeom prst="rect">
              <a:avLst/>
            </a:prstGeom>
          </p:spPr>
        </p:pic>
        <p:sp>
          <p:nvSpPr>
            <p:cNvPr id="28" name="TextBox 27"/>
            <p:cNvSpPr txBox="1"/>
            <p:nvPr/>
          </p:nvSpPr>
          <p:spPr>
            <a:xfrm>
              <a:off x="891540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Municipal utilities</a:t>
              </a:r>
            </a:p>
          </p:txBody>
        </p:sp>
      </p:gr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0238AD52-493C-58A9-9C91-616739BEC584}"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1 · Introduction to Oligopoly and Game Theory</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Structure Characteristics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2" name="sdpair:frame:112"/>
          <p:cNvGrpSpPr/>
          <p:nvPr/>
        </p:nvGrpSpPr>
        <p:grpSpPr>
          <a:xfrm>
            <a:off x="563727" y="1508760"/>
            <a:ext cx="11064240" cy="4572000"/>
            <a:chOff x="563727" y="1508760"/>
            <a:chExt cx="11064240" cy="4572000"/>
          </a:xfrm>
        </p:grpSpPr>
        <p:sp>
          <p:nvSpPr>
            <p:cNvPr id="7" name="Rectangle 6"/>
            <p:cNvSpPr/>
            <p:nvPr/>
          </p:nvSpPr>
          <p:spPr>
            <a:xfrm>
              <a:off x="563727" y="1508760"/>
              <a:ext cx="11064240" cy="45720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43164594"/>
                </p:ext>
              </p:extLst>
            </p:nvPr>
          </p:nvGraphicFramePr>
          <p:xfrm>
            <a:off x="700887" y="1645920"/>
            <a:ext cx="10789919" cy="4297680"/>
          </p:xfrm>
          <a:graphic>
            <a:graphicData uri="http://schemas.openxmlformats.org/drawingml/2006/table">
              <a:tbl>
                <a:tblPr/>
                <a:tblGrid>
                  <a:gridCol w="3749039">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502920">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Oligopoly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58952">
                  <a:tc>
                    <a:txBody>
                      <a:bodyPr/>
                      <a:lstStyle/>
                      <a:p>
                        <a:pPr algn="l"/>
                        <a:r>
                          <a:rPr sz="1800" b="1">
                            <a:solidFill>
                              <a:srgbClr val="0B2B4E"/>
                            </a:solidFill>
                            <a:latin typeface="Calibri"/>
                          </a:rPr>
                          <a:t>Number of actual or potential competitors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dirty="0">
                            <a:solidFill>
                              <a:srgbClr val="0B2B4E"/>
                            </a:solidFill>
                            <a:latin typeface="Calibri"/>
                          </a:rPr>
                          <a:t>Few enough sellers so that their decisions are </a:t>
                        </a:r>
                        <a:r>
                          <a:rPr sz="1800" dirty="0">
                            <a:solidFill>
                              <a:srgbClr val="C00000"/>
                            </a:solidFill>
                            <a:latin typeface="Calibri"/>
                          </a:rPr>
                          <a:t>interdependent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58952">
                  <a:tc>
                    <a:txBody>
                      <a:bodyPr/>
                      <a:lstStyle/>
                      <a:p>
                        <a:pPr algn="l"/>
                        <a:r>
                          <a:rPr sz="1800" b="1">
                            <a:solidFill>
                              <a:srgbClr val="0B2B4E"/>
                            </a:solidFill>
                            <a:latin typeface="Calibri"/>
                          </a:rPr>
                          <a:t>Product differentiation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dirty="0">
                            <a:solidFill>
                              <a:srgbClr val="0B2B4E"/>
                            </a:solidFill>
                            <a:latin typeface="Calibri"/>
                          </a:rPr>
                          <a:t>High or low</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758952">
                  <a:tc>
                    <a:txBody>
                      <a:bodyPr/>
                      <a:lstStyle/>
                      <a:p>
                        <a:pPr algn="l"/>
                        <a:r>
                          <a:rPr sz="1800" b="1">
                            <a:solidFill>
                              <a:srgbClr val="0B2B4E"/>
                            </a:solidFill>
                            <a:latin typeface="Calibri"/>
                          </a:rPr>
                          <a:t>Entry conditions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High barriers due to economies of scale, capital requirements, access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758952">
                  <a:tc>
                    <a:txBody>
                      <a:bodyPr/>
                      <a:lstStyle/>
                      <a:p>
                        <a:pPr algn="l"/>
                        <a:r>
                          <a:rPr sz="1800" b="1">
                            <a:solidFill>
                              <a:srgbClr val="0B2B4E"/>
                            </a:solidFill>
                            <a:latin typeface="Calibri"/>
                          </a:rPr>
                          <a:t>Profit potential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Economic profit can be positive in short/long run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758952">
                  <a:tc>
                    <a:txBody>
                      <a:bodyPr/>
                      <a:lstStyle/>
                      <a:p>
                        <a:pPr algn="l"/>
                        <a:r>
                          <a:rPr sz="1800" b="1">
                            <a:solidFill>
                              <a:srgbClr val="0B2B4E"/>
                            </a:solidFill>
                            <a:latin typeface="Calibri"/>
                          </a:rPr>
                          <a:t>Examples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dirty="0">
                            <a:solidFill>
                              <a:srgbClr val="0B2B4E"/>
                            </a:solidFill>
                            <a:latin typeface="Calibri"/>
                          </a:rPr>
                          <a:t>Cell phone providers; soft drinks; tobacco; semiconductors; wide-bodied aircraft</a:t>
                        </a:r>
                        <a:r>
                          <a:rPr lang="en-US" sz="1800" b="0" dirty="0">
                            <a:solidFill>
                              <a:srgbClr val="0B2B4E"/>
                            </a:solidFill>
                            <a:latin typeface="Calibri"/>
                          </a:rPr>
                          <a:t>; space travel</a:t>
                        </a:r>
                        <a:endParaRPr sz="1800" b="0" dirty="0">
                          <a:solidFill>
                            <a:srgbClr val="0B2B4E"/>
                          </a:solidFill>
                          <a:latin typeface="Calibri"/>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bl>
            </a:graphicData>
          </a:graphic>
        </p:graphicFrame>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4206F2E2-5EAA-5828-8AB4-DE184F5AC9D7}"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1 · Introduction to Oligopoly and Game Theory</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Measuring Market Concentration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00200"/>
            <a:ext cx="6492240" cy="3657600"/>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When do we have an oligopoly?</a:t>
            </a:r>
          </a:p>
          <a:p>
            <a:pPr algn="l"/>
            <a:r>
              <a:rPr dirty="0">
                <a:latin typeface="Calibri"/>
              </a:rPr>
              <a:t>Simple measure: Concentration Ratio CR4</a:t>
            </a:r>
          </a:p>
          <a:p>
            <a:pPr lvl="1" algn="l"/>
            <a:r>
              <a:rPr dirty="0">
                <a:latin typeface="Calibri"/>
              </a:rPr>
              <a:t>Market share of the four largest firms</a:t>
            </a:r>
            <a:r>
              <a:rPr lang="en-US" dirty="0">
                <a:latin typeface="Calibri"/>
              </a:rPr>
              <a:t> (</a:t>
            </a:r>
            <a:r>
              <a:rPr lang="en-US" dirty="0">
                <a:solidFill>
                  <a:srgbClr val="C00000"/>
                </a:solidFill>
                <a:latin typeface="Calibri"/>
              </a:rPr>
              <a:t>CR4</a:t>
            </a:r>
            <a:r>
              <a:rPr lang="en-US" dirty="0">
                <a:latin typeface="Calibri"/>
              </a:rPr>
              <a:t>)</a:t>
            </a:r>
            <a:endParaRPr dirty="0">
              <a:latin typeface="Calibri"/>
            </a:endParaRPr>
          </a:p>
          <a:p>
            <a:pPr lvl="1" algn="l"/>
            <a:r>
              <a:rPr dirty="0">
                <a:solidFill>
                  <a:srgbClr val="C00000"/>
                </a:solidFill>
                <a:latin typeface="Calibri"/>
              </a:rPr>
              <a:t>Oligopoly if CR4 &gt; 66%</a:t>
            </a:r>
          </a:p>
          <a:p>
            <a:pPr lvl="1" algn="l"/>
            <a:r>
              <a:rPr dirty="0">
                <a:latin typeface="Calibri"/>
              </a:rPr>
              <a:t>Example: US wireless carriers — top 3 ≈ 97%</a:t>
            </a:r>
          </a:p>
          <a:p>
            <a:pPr algn="l"/>
            <a:r>
              <a:rPr dirty="0">
                <a:latin typeface="Calibri"/>
              </a:rPr>
              <a:t>Limitations of these measures</a:t>
            </a:r>
          </a:p>
          <a:p>
            <a:pPr lvl="1" algn="l"/>
            <a:r>
              <a:rPr dirty="0">
                <a:latin typeface="Calibri"/>
              </a:rPr>
              <a:t>Definition of relevant market</a:t>
            </a:r>
          </a:p>
          <a:p>
            <a:pPr lvl="1" algn="l"/>
            <a:r>
              <a:rPr dirty="0">
                <a:latin typeface="Calibri"/>
              </a:rPr>
              <a:t>Role of </a:t>
            </a:r>
            <a:r>
              <a:rPr i="1" dirty="0">
                <a:latin typeface="Calibri"/>
              </a:rPr>
              <a:t>potential</a:t>
            </a:r>
            <a:r>
              <a:rPr dirty="0">
                <a:latin typeface="Calibri"/>
              </a:rPr>
              <a:t> competition</a:t>
            </a:r>
          </a:p>
        </p:txBody>
      </p:sp>
      <p:grpSp>
        <p:nvGrpSpPr>
          <p:cNvPr id="27" name="WirelessChart 27"/>
          <p:cNvGrpSpPr/>
          <p:nvPr/>
        </p:nvGrpSpPr>
        <p:grpSpPr>
          <a:xfrm>
            <a:off x="7452360" y="1508760"/>
            <a:ext cx="4343400" cy="3703320"/>
            <a:chOff x="7452360" y="1508760"/>
            <a:chExt cx="4343400" cy="3703320"/>
          </a:xfrm>
        </p:grpSpPr>
        <p:sp>
          <p:nvSpPr>
            <p:cNvPr id="8" name="Rectangle 7"/>
            <p:cNvSpPr/>
            <p:nvPr/>
          </p:nvSpPr>
          <p:spPr>
            <a:xfrm>
              <a:off x="7452360" y="1508760"/>
              <a:ext cx="4343400" cy="37033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52360" y="1618488"/>
              <a:ext cx="4343400" cy="502920"/>
            </a:xfrm>
            <a:prstGeom prst="rect">
              <a:avLst/>
            </a:prstGeom>
            <a:noFill/>
          </p:spPr>
          <p:txBody>
            <a:bodyPr wrap="square" lIns="0" tIns="0" rIns="0" bIns="0">
              <a:spAutoFit/>
            </a:bodyPr>
            <a:lstStyle/>
            <a:p>
              <a:pPr algn="ctr"/>
              <a:r>
                <a:rPr sz="1600" b="1" i="1" u="none">
                  <a:solidFill>
                    <a:srgbClr val="0B2B4E"/>
                  </a:solidFill>
                  <a:latin typeface="Calibri"/>
                </a:rPr>
                <a:t>US wireless subscribers,
late 2025 (millions)</a:t>
              </a:r>
            </a:p>
          </p:txBody>
        </p:sp>
        <p:sp>
          <p:nvSpPr>
            <p:cNvPr id="10" name="Rectangle 9"/>
            <p:cNvSpPr/>
            <p:nvPr/>
          </p:nvSpPr>
          <p:spPr>
            <a:xfrm>
              <a:off x="7863840" y="2606040"/>
              <a:ext cx="960120" cy="169164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0" y="2276856"/>
              <a:ext cx="1325880" cy="292608"/>
            </a:xfrm>
            <a:prstGeom prst="rect">
              <a:avLst/>
            </a:prstGeom>
            <a:noFill/>
          </p:spPr>
          <p:txBody>
            <a:bodyPr wrap="square" lIns="0" tIns="0" rIns="0" bIns="0">
              <a:spAutoFit/>
            </a:bodyPr>
            <a:lstStyle/>
            <a:p>
              <a:pPr algn="ctr"/>
              <a:r>
                <a:rPr sz="1600" b="1" i="0" u="none">
                  <a:solidFill>
                    <a:srgbClr val="0B2B4E"/>
                  </a:solidFill>
                  <a:latin typeface="Calibri"/>
                </a:rPr>
                <a:t>146</a:t>
              </a:r>
            </a:p>
          </p:txBody>
        </p:sp>
        <p:sp>
          <p:nvSpPr>
            <p:cNvPr id="12" name="TextBox 11"/>
            <p:cNvSpPr txBox="1"/>
            <p:nvPr/>
          </p:nvSpPr>
          <p:spPr>
            <a:xfrm>
              <a:off x="7680960" y="4370832"/>
              <a:ext cx="1325880" cy="292608"/>
            </a:xfrm>
            <a:prstGeom prst="rect">
              <a:avLst/>
            </a:prstGeom>
            <a:noFill/>
          </p:spPr>
          <p:txBody>
            <a:bodyPr wrap="square" lIns="0" tIns="0" rIns="0" bIns="0">
              <a:spAutoFit/>
            </a:bodyPr>
            <a:lstStyle/>
            <a:p>
              <a:pPr algn="ctr"/>
              <a:r>
                <a:rPr sz="1600" b="0" i="0" u="none">
                  <a:solidFill>
                    <a:srgbClr val="0B2B4E"/>
                  </a:solidFill>
                  <a:latin typeface="Calibri"/>
                </a:rPr>
                <a:t>Verizon</a:t>
              </a:r>
            </a:p>
          </p:txBody>
        </p:sp>
        <p:sp>
          <p:nvSpPr>
            <p:cNvPr id="13" name="Rounded Rectangle 12"/>
            <p:cNvSpPr/>
            <p:nvPr/>
          </p:nvSpPr>
          <p:spPr>
            <a:xfrm>
              <a:off x="7923276" y="3794760"/>
              <a:ext cx="841248" cy="38404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_logo_verizon.png"/>
            <p:cNvPicPr>
              <a:picLocks noChangeAspect="1"/>
            </p:cNvPicPr>
            <p:nvPr/>
          </p:nvPicPr>
          <p:blipFill>
            <a:blip r:embed="rId3"/>
            <a:stretch>
              <a:fillRect/>
            </a:stretch>
          </p:blipFill>
          <p:spPr>
            <a:xfrm>
              <a:off x="7978140" y="3905585"/>
              <a:ext cx="731520" cy="162397"/>
            </a:xfrm>
            <a:prstGeom prst="rect">
              <a:avLst/>
            </a:prstGeom>
          </p:spPr>
        </p:pic>
        <p:sp>
          <p:nvSpPr>
            <p:cNvPr id="15" name="Rectangle 14"/>
            <p:cNvSpPr/>
            <p:nvPr/>
          </p:nvSpPr>
          <p:spPr>
            <a:xfrm>
              <a:off x="9171432" y="2675560"/>
              <a:ext cx="960120" cy="1622120"/>
            </a:xfrm>
            <a:prstGeom prst="rect">
              <a:avLst/>
            </a:prstGeom>
            <a:solidFill>
              <a:srgbClr val="E20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88552" y="2346376"/>
              <a:ext cx="1325880" cy="292608"/>
            </a:xfrm>
            <a:prstGeom prst="rect">
              <a:avLst/>
            </a:prstGeom>
            <a:noFill/>
          </p:spPr>
          <p:txBody>
            <a:bodyPr wrap="square" lIns="0" tIns="0" rIns="0" bIns="0">
              <a:spAutoFit/>
            </a:bodyPr>
            <a:lstStyle/>
            <a:p>
              <a:pPr algn="ctr"/>
              <a:r>
                <a:rPr sz="1600" b="1" i="0" u="none">
                  <a:solidFill>
                    <a:srgbClr val="0B2B4E"/>
                  </a:solidFill>
                  <a:latin typeface="Calibri"/>
                </a:rPr>
                <a:t>140</a:t>
              </a:r>
            </a:p>
          </p:txBody>
        </p:sp>
        <p:sp>
          <p:nvSpPr>
            <p:cNvPr id="17" name="TextBox 16"/>
            <p:cNvSpPr txBox="1"/>
            <p:nvPr/>
          </p:nvSpPr>
          <p:spPr>
            <a:xfrm>
              <a:off x="8988552" y="4370832"/>
              <a:ext cx="1325880" cy="292608"/>
            </a:xfrm>
            <a:prstGeom prst="rect">
              <a:avLst/>
            </a:prstGeom>
            <a:noFill/>
          </p:spPr>
          <p:txBody>
            <a:bodyPr wrap="square" lIns="0" tIns="0" rIns="0" bIns="0">
              <a:spAutoFit/>
            </a:bodyPr>
            <a:lstStyle/>
            <a:p>
              <a:pPr algn="ctr"/>
              <a:r>
                <a:rPr sz="1600" b="0" i="0" u="none">
                  <a:solidFill>
                    <a:srgbClr val="0B2B4E"/>
                  </a:solidFill>
                  <a:latin typeface="Calibri"/>
                </a:rPr>
                <a:t>T-Mobile</a:t>
              </a:r>
            </a:p>
          </p:txBody>
        </p:sp>
        <p:sp>
          <p:nvSpPr>
            <p:cNvPr id="18" name="Rounded Rectangle 17"/>
            <p:cNvSpPr/>
            <p:nvPr/>
          </p:nvSpPr>
          <p:spPr>
            <a:xfrm>
              <a:off x="9230868" y="3794760"/>
              <a:ext cx="841248" cy="38404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_logo_tmobile.png"/>
            <p:cNvPicPr>
              <a:picLocks noChangeAspect="1"/>
            </p:cNvPicPr>
            <p:nvPr/>
          </p:nvPicPr>
          <p:blipFill>
            <a:blip r:embed="rId4"/>
            <a:stretch>
              <a:fillRect/>
            </a:stretch>
          </p:blipFill>
          <p:spPr>
            <a:xfrm>
              <a:off x="9514332" y="3849624"/>
              <a:ext cx="274320" cy="274320"/>
            </a:xfrm>
            <a:prstGeom prst="rect">
              <a:avLst/>
            </a:prstGeom>
          </p:spPr>
        </p:pic>
        <p:sp>
          <p:nvSpPr>
            <p:cNvPr id="20" name="Rectangle 19"/>
            <p:cNvSpPr/>
            <p:nvPr/>
          </p:nvSpPr>
          <p:spPr>
            <a:xfrm>
              <a:off x="10479024" y="2918878"/>
              <a:ext cx="960120" cy="1378802"/>
            </a:xfrm>
            <a:prstGeom prst="rect">
              <a:avLst/>
            </a:prstGeom>
            <a:solidFill>
              <a:srgbClr val="00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96144" y="2589694"/>
              <a:ext cx="1325880" cy="292608"/>
            </a:xfrm>
            <a:prstGeom prst="rect">
              <a:avLst/>
            </a:prstGeom>
            <a:noFill/>
          </p:spPr>
          <p:txBody>
            <a:bodyPr wrap="square" lIns="0" tIns="0" rIns="0" bIns="0">
              <a:spAutoFit/>
            </a:bodyPr>
            <a:lstStyle/>
            <a:p>
              <a:pPr algn="ctr"/>
              <a:r>
                <a:rPr sz="1600" b="1" i="0" u="none">
                  <a:solidFill>
                    <a:srgbClr val="0B2B4E"/>
                  </a:solidFill>
                  <a:latin typeface="Calibri"/>
                </a:rPr>
                <a:t>119</a:t>
              </a:r>
            </a:p>
          </p:txBody>
        </p:sp>
        <p:sp>
          <p:nvSpPr>
            <p:cNvPr id="22" name="TextBox 21"/>
            <p:cNvSpPr txBox="1"/>
            <p:nvPr/>
          </p:nvSpPr>
          <p:spPr>
            <a:xfrm>
              <a:off x="10296144" y="4370832"/>
              <a:ext cx="1325880" cy="292608"/>
            </a:xfrm>
            <a:prstGeom prst="rect">
              <a:avLst/>
            </a:prstGeom>
            <a:noFill/>
          </p:spPr>
          <p:txBody>
            <a:bodyPr wrap="square" lIns="0" tIns="0" rIns="0" bIns="0">
              <a:spAutoFit/>
            </a:bodyPr>
            <a:lstStyle/>
            <a:p>
              <a:pPr algn="ctr"/>
              <a:r>
                <a:rPr sz="1600" b="0" i="0" u="none">
                  <a:solidFill>
                    <a:srgbClr val="0B2B4E"/>
                  </a:solidFill>
                  <a:latin typeface="Calibri"/>
                </a:rPr>
                <a:t>AT&amp;T</a:t>
              </a:r>
            </a:p>
          </p:txBody>
        </p:sp>
        <p:sp>
          <p:nvSpPr>
            <p:cNvPr id="23" name="Rounded Rectangle 22"/>
            <p:cNvSpPr/>
            <p:nvPr/>
          </p:nvSpPr>
          <p:spPr>
            <a:xfrm>
              <a:off x="10538460" y="3794760"/>
              <a:ext cx="841248" cy="38404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_logo_att.png"/>
            <p:cNvPicPr>
              <a:picLocks noChangeAspect="1"/>
            </p:cNvPicPr>
            <p:nvPr/>
          </p:nvPicPr>
          <p:blipFill>
            <a:blip r:embed="rId5"/>
            <a:stretch>
              <a:fillRect/>
            </a:stretch>
          </p:blipFill>
          <p:spPr>
            <a:xfrm>
              <a:off x="10626172" y="3849624"/>
              <a:ext cx="665825" cy="274320"/>
            </a:xfrm>
            <a:prstGeom prst="rect">
              <a:avLst/>
            </a:prstGeom>
          </p:spPr>
        </p:pic>
        <p:sp>
          <p:nvSpPr>
            <p:cNvPr id="25" name="Rectangle 24"/>
            <p:cNvSpPr/>
            <p:nvPr/>
          </p:nvSpPr>
          <p:spPr>
            <a:xfrm>
              <a:off x="7726680" y="4297680"/>
              <a:ext cx="3794760" cy="16459"/>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52360" y="4681728"/>
              <a:ext cx="4343400" cy="274320"/>
            </a:xfrm>
            <a:prstGeom prst="rect">
              <a:avLst/>
            </a:prstGeom>
            <a:noFill/>
          </p:spPr>
          <p:txBody>
            <a:bodyPr wrap="square" lIns="0" tIns="0" rIns="0" bIns="0">
              <a:spAutoFit/>
            </a:bodyPr>
            <a:lstStyle/>
            <a:p>
              <a:pPr algn="ctr"/>
              <a:r>
                <a:rPr sz="1100" b="0" i="1" u="none">
                  <a:solidFill>
                    <a:srgbClr val="555B66"/>
                  </a:solidFill>
                  <a:latin typeface="Calibri"/>
                </a:rPr>
                <a:t>Source: company reports (retail connections)</a:t>
              </a:r>
            </a:p>
          </p:txBody>
        </p:sp>
      </p:grpSp>
      <p:grpSp>
        <p:nvGrpSpPr>
          <p:cNvPr id="36" name="MergerCard 36"/>
          <p:cNvGrpSpPr/>
          <p:nvPr/>
        </p:nvGrpSpPr>
        <p:grpSpPr>
          <a:xfrm>
            <a:off x="6095390" y="5571439"/>
            <a:ext cx="5843930" cy="766267"/>
            <a:chOff x="6095390" y="5571439"/>
            <a:chExt cx="5843930" cy="766267"/>
          </a:xfrm>
        </p:grpSpPr>
        <p:sp>
          <p:nvSpPr>
            <p:cNvPr id="28" name="Rounded Rectangle 27"/>
            <p:cNvSpPr/>
            <p:nvPr/>
          </p:nvSpPr>
          <p:spPr>
            <a:xfrm>
              <a:off x="6095390" y="5571439"/>
              <a:ext cx="5843930" cy="766267"/>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96558" y="5596128"/>
              <a:ext cx="5481828" cy="320040"/>
            </a:xfrm>
            <a:prstGeom prst="rect">
              <a:avLst/>
            </a:prstGeom>
            <a:noFill/>
          </p:spPr>
          <p:txBody>
            <a:bodyPr wrap="none">
              <a:spAutoFit/>
            </a:bodyPr>
            <a:lstStyle/>
            <a:p>
              <a:r>
                <a:rPr sz="1600" b="1">
                  <a:solidFill>
                    <a:srgbClr val="0B2B4E"/>
                  </a:solidFill>
                  <a:latin typeface="Calibri"/>
                </a:rPr>
                <a:t>Mergers:  </a:t>
              </a:r>
              <a:r>
                <a:rPr sz="1600" b="0">
                  <a:solidFill>
                    <a:srgbClr val="0B2B4E"/>
                  </a:solidFill>
                  <a:latin typeface="Calibri"/>
                </a:rPr>
                <a:t>T-Mobile absorbed Sprint (2020) and UScellular (2025)</a:t>
              </a:r>
            </a:p>
          </p:txBody>
        </p:sp>
        <p:pic>
          <p:nvPicPr>
            <p:cNvPr id="30" name="Picture 29" descr="_logo_tmobile.png"/>
            <p:cNvPicPr>
              <a:picLocks noChangeAspect="1"/>
            </p:cNvPicPr>
            <p:nvPr/>
          </p:nvPicPr>
          <p:blipFill>
            <a:blip r:embed="rId4"/>
            <a:stretch>
              <a:fillRect/>
            </a:stretch>
          </p:blipFill>
          <p:spPr>
            <a:xfrm>
              <a:off x="7333488" y="6003036"/>
              <a:ext cx="246888" cy="274320"/>
            </a:xfrm>
            <a:prstGeom prst="rect">
              <a:avLst/>
            </a:prstGeom>
          </p:spPr>
        </p:pic>
        <p:pic>
          <p:nvPicPr>
            <p:cNvPr id="31" name="Picture 30" descr="_logo_sprint.png"/>
            <p:cNvPicPr>
              <a:picLocks noChangeAspect="1"/>
            </p:cNvPicPr>
            <p:nvPr/>
          </p:nvPicPr>
          <p:blipFill>
            <a:blip r:embed="rId6"/>
            <a:stretch>
              <a:fillRect/>
            </a:stretch>
          </p:blipFill>
          <p:spPr>
            <a:xfrm>
              <a:off x="7843723" y="6012180"/>
              <a:ext cx="555040" cy="256032"/>
            </a:xfrm>
            <a:prstGeom prst="rect">
              <a:avLst/>
            </a:prstGeom>
          </p:spPr>
        </p:pic>
        <p:pic>
          <p:nvPicPr>
            <p:cNvPr id="32" name="Picture 31" descr="_logo_tmobile.png"/>
            <p:cNvPicPr>
              <a:picLocks noChangeAspect="1"/>
            </p:cNvPicPr>
            <p:nvPr/>
          </p:nvPicPr>
          <p:blipFill>
            <a:blip r:embed="rId4"/>
            <a:stretch>
              <a:fillRect/>
            </a:stretch>
          </p:blipFill>
          <p:spPr>
            <a:xfrm>
              <a:off x="8892540" y="6003036"/>
              <a:ext cx="246888" cy="274320"/>
            </a:xfrm>
            <a:prstGeom prst="rect">
              <a:avLst/>
            </a:prstGeom>
          </p:spPr>
        </p:pic>
        <p:pic>
          <p:nvPicPr>
            <p:cNvPr id="33" name="Picture 32" descr="_logo_uscellular.png"/>
            <p:cNvPicPr>
              <a:picLocks noChangeAspect="1"/>
            </p:cNvPicPr>
            <p:nvPr/>
          </p:nvPicPr>
          <p:blipFill>
            <a:blip r:embed="rId7"/>
            <a:stretch>
              <a:fillRect/>
            </a:stretch>
          </p:blipFill>
          <p:spPr>
            <a:xfrm>
              <a:off x="9402775" y="6039612"/>
              <a:ext cx="884224" cy="201168"/>
            </a:xfrm>
            <a:prstGeom prst="rect">
              <a:avLst/>
            </a:prstGeom>
          </p:spPr>
        </p:pic>
        <p:sp>
          <p:nvSpPr>
            <p:cNvPr id="34" name="TextBox 33"/>
            <p:cNvSpPr txBox="1"/>
            <p:nvPr/>
          </p:nvSpPr>
          <p:spPr>
            <a:xfrm>
              <a:off x="7596835" y="5985662"/>
              <a:ext cx="213969" cy="310896"/>
            </a:xfrm>
            <a:prstGeom prst="rect">
              <a:avLst/>
            </a:prstGeom>
            <a:noFill/>
          </p:spPr>
          <p:txBody>
            <a:bodyPr wrap="square" lIns="0" tIns="0" rIns="0" bIns="0">
              <a:spAutoFit/>
            </a:bodyPr>
            <a:lstStyle/>
            <a:p>
              <a:pPr algn="ctr"/>
              <a:r>
                <a:rPr sz="1800" b="1" i="0" u="none">
                  <a:solidFill>
                    <a:srgbClr val="0B2B4E"/>
                  </a:solidFill>
                  <a:latin typeface="Calibri"/>
                </a:rPr>
                <a:t>+</a:t>
              </a:r>
            </a:p>
          </p:txBody>
        </p:sp>
        <p:sp>
          <p:nvSpPr>
            <p:cNvPr id="35" name="TextBox 34"/>
            <p:cNvSpPr txBox="1"/>
            <p:nvPr/>
          </p:nvSpPr>
          <p:spPr>
            <a:xfrm>
              <a:off x="9155887" y="5985662"/>
              <a:ext cx="213969" cy="310896"/>
            </a:xfrm>
            <a:prstGeom prst="rect">
              <a:avLst/>
            </a:prstGeom>
            <a:noFill/>
          </p:spPr>
          <p:txBody>
            <a:bodyPr wrap="square" lIns="0" tIns="0" rIns="0" bIns="0">
              <a:spAutoFit/>
            </a:bodyPr>
            <a:lstStyle/>
            <a:p>
              <a:pPr algn="ctr"/>
              <a:r>
                <a:rPr sz="1800" b="1" i="0" u="none">
                  <a:solidFill>
                    <a:srgbClr val="0B2B4E"/>
                  </a:solidFill>
                  <a:latin typeface="Calibri"/>
                </a:rPr>
                <a:t>+</a:t>
              </a:r>
            </a:p>
          </p:txBody>
        </p:sp>
      </p:gr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FF592437-ABCA-5183-A3FC-D436526D7523}"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fade">
                                      <p:cBhvr>
                                        <p:cTn id="33" dur="500"/>
                                        <p:tgtEl>
                                          <p:spTgt spid="7">
                                            <p:txEl>
                                              <p:pRg st="5" end="5"/>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6" end="6"/>
                                            </p:txEl>
                                          </p:spTgt>
                                        </p:tgtEl>
                                        <p:attrNameLst>
                                          <p:attrName>style.visibility</p:attrName>
                                        </p:attrNameLst>
                                      </p:cBhvr>
                                      <p:to>
                                        <p:strVal val="visible"/>
                                      </p:to>
                                    </p:set>
                                    <p:animEffect transition="in" filter="fade">
                                      <p:cBhvr>
                                        <p:cTn id="36" dur="500"/>
                                        <p:tgtEl>
                                          <p:spTgt spid="7">
                                            <p:txEl>
                                              <p:pRg st="6" end="6"/>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animEffect transition="in" filter="fade">
                                      <p:cBhvr>
                                        <p:cTn id="39"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1 · Introduction to Oligopoly and Game Theory</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sz="3200" b="1" i="0" u="none" dirty="0">
                <a:solidFill>
                  <a:srgbClr val="0B2B4E"/>
                </a:solidFill>
                <a:latin typeface="Calibri"/>
              </a:rPr>
              <a:t>O</a:t>
            </a:r>
            <a:r>
              <a:rPr lang="en-US" sz="3200" b="1" i="0" u="none" dirty="0">
                <a:solidFill>
                  <a:srgbClr val="0B2B4E"/>
                </a:solidFill>
                <a:latin typeface="Calibri"/>
              </a:rPr>
              <a:t>ur Go-To</a:t>
            </a:r>
            <a:r>
              <a:rPr sz="3200" b="1" i="0" u="none" dirty="0">
                <a:solidFill>
                  <a:srgbClr val="0B2B4E"/>
                </a:solidFill>
                <a:latin typeface="Calibri"/>
              </a:rPr>
              <a:t> Example</a:t>
            </a:r>
            <a:r>
              <a:rPr lang="en-US" sz="3200" b="1" dirty="0">
                <a:solidFill>
                  <a:srgbClr val="0B2B4E"/>
                </a:solidFill>
              </a:rPr>
              <a:t> </a:t>
            </a:r>
            <a:r>
              <a:rPr lang="en-US" sz="3200" b="1">
                <a:solidFill>
                  <a:srgbClr val="0B2B4E"/>
                </a:solidFill>
              </a:rPr>
              <a:t>for Oligopoly in Module 7</a:t>
            </a:r>
            <a:r>
              <a:rPr sz="3200" b="1" i="0" u="none">
                <a:solidFill>
                  <a:srgbClr val="0B2B4E"/>
                </a:solidFill>
                <a:latin typeface="Calibri"/>
              </a:rPr>
              <a:t>: </a:t>
            </a:r>
            <a:r>
              <a:rPr sz="3200" b="1" i="0" u="none" dirty="0">
                <a:solidFill>
                  <a:srgbClr val="0B2B4E"/>
                </a:solidFill>
                <a:latin typeface="Calibri"/>
              </a:rPr>
              <a:t>Nickel Mining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2008" y="1691640"/>
            <a:ext cx="5457779" cy="3624041"/>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Homogeneous good</a:t>
            </a:r>
          </a:p>
          <a:p>
            <a:pPr lvl="1" algn="l"/>
            <a:r>
              <a:rPr>
                <a:latin typeface="Calibri"/>
              </a:rPr>
              <a:t>Key input for batteries (electric vehicles…)</a:t>
            </a:r>
          </a:p>
          <a:p>
            <a:pPr algn="l"/>
            <a:r>
              <a:rPr>
                <a:latin typeface="Calibri"/>
              </a:rPr>
              <a:t>Two dominant producers – our duopoly example</a:t>
            </a:r>
          </a:p>
          <a:p>
            <a:pPr lvl="1" algn="l"/>
            <a:r>
              <a:rPr>
                <a:latin typeface="Calibri"/>
              </a:rPr>
              <a:t>Vale (Brazil)</a:t>
            </a:r>
          </a:p>
          <a:p>
            <a:pPr lvl="1" algn="l"/>
            <a:r>
              <a:rPr>
                <a:latin typeface="Calibri"/>
              </a:rPr>
              <a:t>Tsingshan Holding (China) – mines mainly in Indonesia</a:t>
            </a:r>
          </a:p>
          <a:p>
            <a:pPr algn="l"/>
            <a:r>
              <a:rPr>
                <a:latin typeface="Calibri"/>
              </a:rPr>
              <a:t>A few other, smaller producers in different countries</a:t>
            </a:r>
          </a:p>
        </p:txBody>
      </p:sp>
      <p:pic>
        <p:nvPicPr>
          <p:cNvPr id="8" name="Picture 7" descr="image21.jpeg"/>
          <p:cNvPicPr>
            <a:picLocks noChangeAspect="1"/>
          </p:cNvPicPr>
          <p:nvPr/>
        </p:nvPicPr>
        <p:blipFill>
          <a:blip r:embed="rId3"/>
          <a:stretch>
            <a:fillRect/>
          </a:stretch>
        </p:blipFill>
        <p:spPr>
          <a:xfrm>
            <a:off x="6328653" y="1909541"/>
            <a:ext cx="5398526" cy="3038825"/>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9312BF8A-9A28-5EC8-AEAF-A3A16FACED63}"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fade">
                                      <p:cBhvr>
                                        <p:cTn id="18"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1246</Words>
  <Application>Microsoft Office PowerPoint</Application>
  <PresentationFormat>Widescreen</PresentationFormat>
  <Paragraphs>141</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12</cp:revision>
  <dcterms:created xsi:type="dcterms:W3CDTF">2013-01-27T09:14:16Z</dcterms:created>
  <dcterms:modified xsi:type="dcterms:W3CDTF">2026-09-28T15:41:02Z</dcterms:modified>
  <cp:category/>
</cp:coreProperties>
</file>