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409" r:id="rId2"/>
    <p:sldId id="408" r:id="rId3"/>
    <p:sldId id="407" r:id="rId4"/>
    <p:sldId id="420" r:id="rId5"/>
    <p:sldId id="421" r:id="rId6"/>
    <p:sldId id="405" r:id="rId7"/>
    <p:sldId id="404" r:id="rId8"/>
    <p:sldId id="400" r:id="rId9"/>
    <p:sldId id="383" r:id="rId10"/>
    <p:sldId id="359" r:id="rId11"/>
    <p:sldId id="314" r:id="rId12"/>
    <p:sldId id="423" r:id="rId13"/>
    <p:sldId id="316" r:id="rId14"/>
    <p:sldId id="317" r:id="rId15"/>
    <p:sldId id="319" r:id="rId16"/>
    <p:sldId id="426" r:id="rId17"/>
    <p:sldId id="321" r:id="rId18"/>
    <p:sldId id="322" r:id="rId19"/>
    <p:sldId id="323" r:id="rId20"/>
    <p:sldId id="324" r:id="rId21"/>
    <p:sldId id="325" r:id="rId22"/>
    <p:sldId id="326" r:id="rId23"/>
    <p:sldId id="327" r:id="rId24"/>
    <p:sldId id="328" r:id="rId25"/>
    <p:sldId id="329" r:id="rId26"/>
    <p:sldId id="425" r:id="rId27"/>
    <p:sldId id="331" r:id="rId28"/>
    <p:sldId id="332"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C140E3-F876-B46A-0CF5-0EE4E8EFCE02}" name="Voigtlaender, Nico" initials="NV" userId="S::mrnico@ucla.edu::de02af66-eed0-4290-a37c-4568be2a7a8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505D57-B5B1-42E8-9F79-99CE7754156E}"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9474-3F6C-4F5A-AEB7-943304FF46E0}" type="slidenum">
              <a:rPr lang="en-US" smtClean="0"/>
              <a:t>‹#›</a:t>
            </a:fld>
            <a:endParaRPr lang="en-US"/>
          </a:p>
        </p:txBody>
      </p:sp>
    </p:spTree>
    <p:extLst>
      <p:ext uri="{BB962C8B-B14F-4D97-AF65-F5344CB8AC3E}">
        <p14:creationId xmlns:p14="http://schemas.microsoft.com/office/powerpoint/2010/main" val="1969772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From here on we are in the classroom. The videos covered market structures, profit maximization of a price taker in the short run, market supply, and long-run competitive equilibrium. In class we first apply that material, and then turn to market distortions and externalities.</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817707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next stretch of slides applies what the videos covered on price takers in the short and the long run. These are applications rather than a new topic, which is why they are not a separate item on the module outline.</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20120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start thinking about a firm’s competitive environment or market structure. We categorize market structure using three characteristics:</a:t>
            </a:r>
          </a:p>
          <a:p>
            <a:endParaRPr/>
          </a:p>
          <a:p>
            <a:r>
              <a:t>1. Number of firms: in general, when there are more companies in the market, the market is more competitive.</a:t>
            </a:r>
          </a:p>
          <a:p>
            <a:r>
              <a:t>2. Whether the consumer cares which company made the good: are the goods identical or can the consumer distinguish who made the good? In general, if goods are closer to identical, the market is more competitive.</a:t>
            </a:r>
          </a:p>
          <a:p>
            <a:r>
              <a:t>3. Barriers to entry: if new firms can enter the market easily, the market is more competitive.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2917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Extent of market power. The spectrum runs from price taker (today’s topic) to price searchers with increasing degrees of market power (subject of subsequent sessions): </a:t>
            </a:r>
          </a:p>
          <a:p>
            <a:r>
              <a:t> </a:t>
            </a:r>
          </a:p>
          <a:p>
            <a:r>
              <a:t>A perfectly competitive firm has no market power; it has such a small percentage of the market that it can exert no effect on price. </a:t>
            </a:r>
          </a:p>
          <a:p>
            <a:r>
              <a:t> </a:t>
            </a:r>
          </a:p>
          <a:p>
            <a:r>
              <a:t>A monopolistically competitive firm, such as gas stations and restaurants, offers a differentiated product and thus faces a downward sloping demand curve – offerings of other firms are not perfect substitutes. There is still intense competition because the products can substitute for each other so the elasticity of demand facing each firm tends to be high. Free entry drives long-run profits to zero.</a:t>
            </a:r>
          </a:p>
          <a:p>
            <a:r>
              <a:t> </a:t>
            </a:r>
          </a:p>
          <a:p>
            <a:r>
              <a:t>Oligopolistic markets are cases of few firms. For example, a duopoly is a special case of an oligopoly with only 2 firms. Interesting strategic issues arise here as you need to think hard about your rivals’ response to your firm’s behavior. Entry may be limited.</a:t>
            </a:r>
          </a:p>
          <a:p>
            <a:r>
              <a:t> </a:t>
            </a:r>
          </a:p>
          <a:p>
            <a:r>
              <a:t>Monopolistic markets are markets with only one seller, such as utilities in most cities (legal monopoly) or Microsoft (quasi-monopoly, due to demand-side economies of scale, i.e. network effects).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35669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slides explain the relationship between the market vs. the firm demand. It shows where the demand a price taker is coming from = market price, determined by the market equilibrium.</a:t>
            </a:r>
          </a:p>
          <a:p>
            <a:r>
              <a:t>Now, let’s turn to see how a price taker maximizes profit in the short run.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213342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measure profit, we subtract total cost from total revenue.</a:t>
            </a:r>
          </a:p>
          <a:p>
            <a:endParaRPr/>
          </a:p>
          <a:p>
            <a:r>
              <a:t>Profit = TR – TC</a:t>
            </a:r>
          </a:p>
          <a:p>
            <a:r>
              <a:t>We can rewrite this as:</a:t>
            </a:r>
          </a:p>
          <a:p>
            <a:r>
              <a:t>Profit = P*Q – ATC*Q</a:t>
            </a:r>
          </a:p>
          <a:p>
            <a:r>
              <a:t>Profit = (P – ATC)*Q</a:t>
            </a:r>
          </a:p>
          <a:p>
            <a:endParaRPr/>
          </a:p>
          <a:p>
            <a:r>
              <a:t>This formula determines whether the firm has positive, zero, or negative profit.</a:t>
            </a:r>
          </a:p>
          <a:p>
            <a:endParaRPr/>
          </a:p>
          <a:p>
            <a:r>
              <a:t>Positive profit: In this figure, the firm’s total revenue is the area of the rectangle with height P and width Q*. The total cost is the area of the rectangle with the height ATC* and the width Q*. Because total revenue exceeds total costs at Q*, the firm is earning positive profits. This equation tells us that profit is positive when P&gt;ATC at the profit maximizing quantity Q*. </a:t>
            </a:r>
          </a:p>
          <a:p>
            <a:endParaRPr/>
          </a:p>
          <a:p>
            <a:r>
              <a:t>Zero profit: Here P=ATC (=MC). We know that MC intersects ATC at its minimum. </a:t>
            </a:r>
          </a:p>
          <a:p>
            <a:endParaRPr/>
          </a:p>
          <a:p>
            <a:r>
              <a:t>Negative profit: P&lt;ATC</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418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LAC is downward sloping because of economies of scale initially, and then upward-sloping because of dis-economies of scale. Note that this is different from ATC being down-ward sloping because of Fixed costs of a GIVEN technology.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77586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toolbox goes somewhere less comfortable. Treat individual drug dealers as price takers in a competitive market, and the entry-and-exit logic we just built tells you what happens when policy targets sellers rather than buyers. The two slides that follow work through each case.</a:t>
            </a:r>
          </a:p>
          <a:p>
            <a:endParaRPr/>
          </a:p>
          <a:p>
            <a:r>
              <a:t>Can we characterize the drug market as a “constant cost industry?”  Yes.</a:t>
            </a:r>
          </a:p>
          <a:p>
            <a:r>
              <a:t>Fixed cost: gun, car…</a:t>
            </a:r>
          </a:p>
          <a:p>
            <a:r>
              <a:t>Variable cost: drugs</a:t>
            </a:r>
          </a:p>
          <a:p>
            <a:r>
              <a:t>Same for each dealer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Poll Title: Do not modify the notes in this section to avoid tampering with the Poll Everywhere activity.
More info at polleverywhere.com/support
To diminish the use of illegal drugs, the more promising policy is:
https://www.polleverywhere.com/multiple_choice_polls/SvRjzmwXUb4CnEPPO8MVg?state=opened&amp;flow=Default&amp;onscreen=persist</a:t>
            </a:r>
          </a:p>
        </p:txBody>
      </p:sp>
      <p:sp>
        <p:nvSpPr>
          <p:cNvPr id="4" name="Slide Number Placeholder 3"/>
          <p:cNvSpPr>
            <a:spLocks noGrp="1"/>
          </p:cNvSpPr>
          <p:nvPr>
            <p:ph type="sldNum" sz="quarter" idx="5"/>
          </p:nvPr>
        </p:nvSpPr>
        <p:spPr/>
        <p:txBody>
          <a:bodyPr/>
          <a:lstStyle/>
          <a:p>
            <a:fld id="{C5A79474-3F6C-4F5A-AEB7-943304FF46E0}" type="slidenum">
              <a:rPr lang="en-US" smtClean="0"/>
              <a:t>12</a:t>
            </a:fld>
            <a:endParaRPr lang="en-US"/>
          </a:p>
        </p:txBody>
      </p:sp>
      <p:sp>
        <p:nvSpPr>
          <p:cNvPr id="5" name="TextBox 4">
            <a:extLst>
              <a:ext uri="{FF2B5EF4-FFF2-40B4-BE49-F238E27FC236}">
                <a16:creationId xmlns:a16="http://schemas.microsoft.com/office/drawing/2014/main" id="{76FF30AB-DDB9-3F81-397E-0A6596DEF61C}"/>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4153284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Arresting dealers raises the cost of supplying, which shifts supply back. Quantity falls, but the price rises - so revenue in the market can easily go UP, and the surviving dealers make more per unit. That is the uncomfortable arithmetic behind supply-side enforcement.</a:t>
            </a:r>
          </a:p>
          <a:p>
            <a:endParaRPr/>
          </a:p>
          <a:p>
            <a:r>
              <a:t>SR effect: More drugs supplied by remaining dealers at higher P. Profits!</a:t>
            </a:r>
          </a:p>
          <a:p>
            <a:r>
              <a:t>LR effect: Entry  Return to old equilibrium.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Going after users works on the other side of the market. Demand shifts back, so both quantity and price fall. Dealers make less, and the trade shrinks on both counts - which is why economists generally favour demand-side policy here.</a:t>
            </a:r>
          </a:p>
          <a:p>
            <a:endParaRPr/>
          </a:p>
          <a:p>
            <a:r>
              <a:t>SR effect: Less drugs supplied by each dealer. Loss!</a:t>
            </a:r>
          </a:p>
          <a:p>
            <a:r>
              <a:t>LR effect: Exit  Converge to new equilibrium with less drugs consumed!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is about what happens when something pushes a market away from its competitive equilibrium - price controls, taxes, subsidies. The tools we need are consumer surplus, producer surplus and deadweight loss, and the next three slides build them.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Price consumers would be willing to pay = MPV we have seen in Module 2</a:t>
            </a:r>
          </a:p>
          <a:p>
            <a:endParaRPr/>
          </a:p>
          <a:p>
            <a:r>
              <a:t>We can tell them to check in the textbook how to compute CS from the demand curve (triangle area) + that it will be covered by the 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example PS&gt;CS but it all depends on the relative steepness of the D and S curves</a:t>
            </a:r>
          </a:p>
          <a:p>
            <a:r>
              <a:t>Willingness to sell depends on the producer cost structure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Deadweight loss is the value that simply disappears - trades that both sides would have been happy to make, which the intervention prevents. It is the difference between total welfare in the free market and total welfare under the regulation, where welfare means consumer surplus plus producer surplus.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Example: gasoline</a:t>
            </a:r>
          </a:p>
          <a:p>
            <a:endParaRPr/>
          </a:p>
          <a:p>
            <a:r>
              <a:t>The welfare losses and incidence (who pays the tax) depends on elasticities of demand and supply. For example, if supply is perfectly elastic (the supply curve is horizontal), all of the tax is paid by the consumers.</a:t>
            </a:r>
          </a:p>
          <a:p>
            <a:endParaRPr/>
          </a:p>
          <a:p>
            <a:r>
              <a:t>The analysis of a subsidy is similar, except the demand (or supply) curve will shift outward.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point that surprises most people. It does not matter which side of the market physically hands the money to the government - the burden splits the same way either way. What determines the split is elasticity: whichever side responds less to price ends up paying more of the tax.</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theory, some context. Minimum wages are one of the most widely used price floors in the world, and the map shows how much the level varies across US states. Keep that variation in mind - it is what makes the empirical evidence possible.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podcast slide. The theory says a minimum wage should reduce employment, but the evidence is genuinely mixed: employment itself often does not fall much, while hours worked do. Listen for the distinction between experienced workers, whose total income can still rise, and low-skilled or new entrants, who tend to lose on both counts.</a:t>
            </a:r>
          </a:p>
          <a:p>
            <a:endParaRPr/>
          </a:p>
          <a:p>
            <a:r>
              <a:t>https://www.epi.org/minimum-wage-tracker/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minimum wage as a price floor. Set above the market wage, it raises the wage for those who keep their jobs (area A), but firms hire fewer workers, so some who would have worked do not (area C). The gap between labour supplied and labour demanded at the floor is unemployment, and B plus C is the deadweight loss.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do rent control, a quick calibration exercise. Look at the flat, the location and the map, and write down what you think it rents for. Hold your number - the answer on the next slide is usually a surprise.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Guess what's the monthly rent...
https://www.polleverywhere.com/multiple_choice_polls/Ba4892DreAxLjvidjmrOV?state=opened&amp;flow=Default&amp;onscreen=persist</a:t>
            </a:r>
          </a:p>
        </p:txBody>
      </p:sp>
      <p:sp>
        <p:nvSpPr>
          <p:cNvPr id="4" name="Slide Number Placeholder 3"/>
          <p:cNvSpPr>
            <a:spLocks noGrp="1"/>
          </p:cNvSpPr>
          <p:nvPr>
            <p:ph type="sldNum" sz="quarter" idx="5"/>
          </p:nvPr>
        </p:nvSpPr>
        <p:spPr/>
        <p:txBody>
          <a:bodyPr/>
          <a:lstStyle/>
          <a:p>
            <a:fld id="{C5A79474-3F6C-4F5A-AEB7-943304FF46E0}" type="slidenum">
              <a:rPr lang="en-US" smtClean="0"/>
              <a:t>26</a:t>
            </a:fld>
            <a:endParaRPr lang="en-US"/>
          </a:p>
        </p:txBody>
      </p:sp>
      <p:sp>
        <p:nvSpPr>
          <p:cNvPr id="5" name="TextBox 4">
            <a:extLst>
              <a:ext uri="{FF2B5EF4-FFF2-40B4-BE49-F238E27FC236}">
                <a16:creationId xmlns:a16="http://schemas.microsoft.com/office/drawing/2014/main" id="{F3BC03DE-E453-C29A-1B03-CBBBCF4635F2}"/>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93847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answer. The unit is rent-controlled, and the Maximum Allowable Rent on the city's own database is far below what the neighbouring units fetch. That gap between the controlled rent and the market rent is the whole subject of the next few slides.</a:t>
            </a:r>
          </a:p>
          <a:p>
            <a:endParaRPr/>
          </a:p>
          <a:p>
            <a:r>
              <a:t>https://www.smgov.net/departments/rentcontrol/mar.aspx</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Rent control is the mirror image: a ceiling below the market price. Renters lucky enough to hold a place gain (area A), but landlords list fewer flats, so the quantity supplied falls and a shortage opens up between what renters want and what is offered. B plus C is again the deadweight loss.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Price is not the only thing landlords can adjust. When they cannot raise the rent they can let maintenance slide, buy tenants out, or - illegally - make life unpleasant enough that people leave. The photographs are from rent-controlled buildings in Santa Monica.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geography of residential properties and rent control in Cambridge, Massachusetts. Cambridge residential properties as of 2008 are marked with gray circles. Plots that were rent controlled as of 1994 are overlaid with black circles.</a:t>
            </a:r>
          </a:p>
          <a:p>
            <a:endParaRPr/>
          </a:p>
          <a:p>
            <a:r>
              <a:t>Source: Autor, Palmer and Pathak (2014), “Housing Market Spillovers: Evidence from the End of Rent Control in Cambridge, Massachusetts” — https://economics.mit.edu/files/9774</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Cambridge, Massachusetts gives us an unusually clean test. Rent control ended there suddenly in 1995, so we can compare what happened to controlled units against never-controlled units nearby. Think about your prediction for each of the three questions before we look.</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results. Rents rose sharply at the decontrolled units, as you would expect - but they also rose at units nearby that were never controlled, and investment went up at both. The spillover is the surprising part: rent control was holding down the value of the whole neighbourhood, not just the controlled flats.</a:t>
            </a:r>
          </a:p>
          <a:p>
            <a:endParaRPr/>
          </a:p>
          <a:p>
            <a:r>
              <a:t>Source of all three panels: Autor, Palmer and Pathak (2014), “Housing Market Spillovers: Evidence from the End of Rent Control in Cambridge, Massachusetts”.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Magnitudes are as reported in the press, not from a study. Source: The Wall Street Journal, “Argentina Scrapped Its Rent Controls. Now the Market Is Thriving.”</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definitions we need. An externality is a cost or a benefit that lands on someone who is not part of the transaction - pollution from a power plant on one side, a well-kept front yard on the other. The gasoline number on this slide, about $1.50 a gallon in external cost, is the one we use in the worked example.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families of fix. Price mechanisms - a tax on the harm or a subsidy for the benefit - change what the decision-maker faces and let the market find the quantity. Quantity mechanisms - quotas, standards, outright bans - set the quantity directly. Each has its place, and the next slides work through the price route.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wedge. Drivers weigh only their own cost of a gallon, so the market settles where demand meets private marginal cost. Add the external cost that everyone else bears and the socially efficient quantity is smaller. The gap between the two supply curves is the external marginal cost - about $1.50 a gallon.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Externality of gas is approx $1.5 per gallon: https://energyathaas.wordpress.com/2015/01/05/raise-the-gas-tax/ </a:t>
            </a:r>
          </a:p>
          <a:p>
            <a:endParaRPr/>
          </a:p>
          <a:p>
            <a:r>
              <a:t>77 countries have committed to achieving net zero emissions by 2050</a:t>
            </a:r>
          </a:p>
          <a:p>
            <a:r>
              <a:t>Half of emissions cuts must be in place by 2030 to keep warming below 1.5°C</a:t>
            </a:r>
          </a:p>
          <a:p>
            <a:endParaRPr/>
          </a:p>
          <a:p>
            <a:r>
              <a:t>Carbon taxes have been implemented (or scheduled) in 46 countries</a:t>
            </a:r>
          </a:p>
          <a:p>
            <a:r>
              <a:t>$44 billion raised in carbon pricing revenues in 2018</a:t>
            </a:r>
          </a:p>
          <a:p>
            <a:endParaRPr/>
          </a:p>
          <a:p>
            <a:r>
              <a:t>But this is not enough</a:t>
            </a:r>
          </a:p>
          <a:p>
            <a:r>
              <a:t>Covers only 20% of emissions</a:t>
            </a:r>
          </a:p>
          <a:p>
            <a:r>
              <a:t>No carbon tax in the US nor in China…</a:t>
            </a:r>
          </a:p>
          <a:p>
            <a:r>
              <a:t>Incentives for Coal countries to burn their coal even faster now, before regulation goes into effect</a:t>
            </a:r>
          </a:p>
          <a:p>
            <a:endParaRPr/>
          </a:p>
          <a:p>
            <a:r>
              <a:t>Other ways of limiting emissions?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Airport noise is the same problem in a form you can hear. Every flight in and out of Santa Monica imposes a cost on the neighbourhood that the pilot does not pay, and the article shows how sharply the community has pushed back.</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here is where the arithmetic gets uncomfortable. Add the noise cost to the pilots' own cost and social marginal cost lies above willingness to pay at EVERY quantity - so the efficient number of flights is zero. This is a corner solution, and in Santa Monica it is close to what actually happened.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999" y="1783080"/>
            <a:ext cx="11687697" cy="1554480"/>
          </a:xfrm>
          <a:prstGeom prst="rect">
            <a:avLst/>
          </a:prstGeom>
          <a:noFill/>
        </p:spPr>
        <p:txBody>
          <a:bodyPr wrap="square" lIns="0" tIns="0" rIns="0" bIns="0">
            <a:spAutoFit/>
          </a:bodyPr>
          <a:lstStyle/>
          <a:p>
            <a:pPr algn="ctr"/>
            <a:r>
              <a:rPr sz="5000" b="1" i="0" u="none">
                <a:solidFill>
                  <a:srgbClr val="0B2B4E"/>
                </a:solidFill>
                <a:latin typeface="Calibri"/>
              </a:rPr>
              <a:t>Competitive Markets and Market Interventions</a:t>
            </a:r>
          </a:p>
        </p:txBody>
      </p:sp>
      <p:sp>
        <p:nvSpPr>
          <p:cNvPr id="3" name="TextBox 2"/>
          <p:cNvSpPr txBox="1"/>
          <p:nvPr/>
        </p:nvSpPr>
        <p:spPr>
          <a:xfrm>
            <a:off x="251999" y="3401568"/>
            <a:ext cx="11687697" cy="731520"/>
          </a:xfrm>
          <a:prstGeom prst="rect">
            <a:avLst/>
          </a:prstGeom>
          <a:noFill/>
        </p:spPr>
        <p:txBody>
          <a:bodyPr wrap="square" lIns="0" tIns="0" rIns="0" bIns="0">
            <a:spAutoFit/>
          </a:bodyPr>
          <a:lstStyle/>
          <a:p>
            <a:pPr algn="ctr"/>
            <a:r>
              <a:rPr sz="4000" b="1" i="0" u="none">
                <a:solidFill>
                  <a:srgbClr val="E09F3E"/>
                </a:solidFill>
                <a:latin typeface="Calibri"/>
              </a:rPr>
              <a:t>Module 4</a:t>
            </a:r>
          </a:p>
        </p:txBody>
      </p:sp>
      <p:sp>
        <p:nvSpPr>
          <p:cNvPr id="4" name="Rectangle 3"/>
          <p:cNvSpPr/>
          <p:nvPr/>
        </p:nvSpPr>
        <p:spPr>
          <a:xfrm>
            <a:off x="4267047" y="4224528"/>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999" y="4553712"/>
            <a:ext cx="11687697" cy="41148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5047488"/>
            <a:ext cx="11687697" cy="41148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251999" y="653796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978318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51892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52715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15B941D9-D594-59B7-AD0C-322EB1EE6C39}" type="slidenum">
              <a:rPr lang="en-US" sz="1200" dirty="0">
                <a:solidFill>
                  <a:srgbClr val="555B66"/>
                </a:solidFill>
                <a:latin typeface="Calibri"/>
              </a:rPr>
              <a:t>2</a:t>
            </a:fld>
            <a:endParaRPr lang="en-US" sz="1200" dirty="0">
              <a:solidFill>
                <a:srgbClr val="555B66"/>
              </a:solidFill>
              <a:latin typeface="Calibri"/>
            </a:endParaRPr>
          </a:p>
        </p:txBody>
      </p:sp>
    </p:spTree>
    <p:extLst>
      <p:ext uri="{BB962C8B-B14F-4D97-AF65-F5344CB8AC3E}">
        <p14:creationId xmlns:p14="http://schemas.microsoft.com/office/powerpoint/2010/main" val="86552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1</a:t>
            </a:r>
          </a:p>
        </p:txBody>
      </p:sp>
      <p:sp>
        <p:nvSpPr>
          <p:cNvPr id="9" name="TextBox 8"/>
          <p:cNvSpPr txBox="1"/>
          <p:nvPr/>
        </p:nvSpPr>
        <p:spPr>
          <a:xfrm>
            <a:off x="1874519" y="137845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Market Structures</a:t>
            </a:r>
          </a:p>
          <a:p>
            <a:pPr algn="l">
              <a:spcBef>
                <a:spcPts val="0"/>
              </a:spcBef>
              <a:buNone/>
            </a:pPr>
            <a:r>
              <a:rPr sz="2200">
                <a:solidFill>
                  <a:srgbClr val="555B66"/>
                </a:solidFill>
                <a:latin typeface="Calibri"/>
              </a:rPr>
              <a:t>Where a firm sits between price taker and price setter</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1" name="Rounded Rectangle 10"/>
          <p:cNvSpPr/>
          <p:nvPr/>
        </p:nvSpPr>
        <p:spPr>
          <a:xfrm>
            <a:off x="10332720" y="2260854"/>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2</a:t>
            </a:r>
          </a:p>
        </p:txBody>
      </p:sp>
      <p:sp>
        <p:nvSpPr>
          <p:cNvPr id="12" name="TextBox 11"/>
          <p:cNvSpPr txBox="1"/>
          <p:nvPr/>
        </p:nvSpPr>
        <p:spPr>
          <a:xfrm>
            <a:off x="1874519" y="2096262"/>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Perfect Competition</a:t>
            </a:r>
          </a:p>
          <a:p>
            <a:pPr algn="l">
              <a:spcBef>
                <a:spcPts val="0"/>
              </a:spcBef>
              <a:buNone/>
            </a:pPr>
            <a:r>
              <a:rPr sz="2200">
                <a:solidFill>
                  <a:srgbClr val="555B66"/>
                </a:solidFill>
                <a:latin typeface="Calibri"/>
              </a:rPr>
              <a:t>Many small sellers, an identical product, and free entry</a:t>
            </a:r>
          </a:p>
        </p:txBody>
      </p:sp>
      <p:sp>
        <p:nvSpPr>
          <p:cNvPr id="13" name="Oval 12"/>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dirty="0">
                <a:solidFill>
                  <a:srgbClr val="0B2B4E"/>
                </a:solidFill>
                <a:latin typeface="Calibri"/>
              </a:rPr>
              <a:t>2a</a:t>
            </a:r>
          </a:p>
        </p:txBody>
      </p:sp>
      <p:sp>
        <p:nvSpPr>
          <p:cNvPr id="14" name="Rounded Rectangle 13"/>
          <p:cNvSpPr/>
          <p:nvPr/>
        </p:nvSpPr>
        <p:spPr>
          <a:xfrm>
            <a:off x="10707625" y="297865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5" name="TextBox 14"/>
          <p:cNvSpPr txBox="1"/>
          <p:nvPr/>
        </p:nvSpPr>
        <p:spPr>
          <a:xfrm>
            <a:off x="2148840" y="281406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Profit Maximization of a Price Taker in the Short Run</a:t>
            </a:r>
          </a:p>
          <a:p>
            <a:pPr algn="l">
              <a:spcBef>
                <a:spcPts val="0"/>
              </a:spcBef>
              <a:buNone/>
            </a:pPr>
            <a:r>
              <a:rPr sz="2000">
                <a:solidFill>
                  <a:srgbClr val="555B66"/>
                </a:solidFill>
                <a:latin typeface="Calibri"/>
              </a:rPr>
              <a:t>How much to produce, and when to stop production</a:t>
            </a:r>
          </a:p>
        </p:txBody>
      </p:sp>
      <p:sp>
        <p:nvSpPr>
          <p:cNvPr id="16" name="Oval 15"/>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dirty="0">
                <a:solidFill>
                  <a:srgbClr val="0B2B4E"/>
                </a:solidFill>
                <a:latin typeface="Calibri"/>
              </a:rPr>
              <a:t>2b</a:t>
            </a:r>
          </a:p>
        </p:txBody>
      </p:sp>
      <p:sp>
        <p:nvSpPr>
          <p:cNvPr id="17" name="Rounded Rectangle 16"/>
          <p:cNvSpPr/>
          <p:nvPr/>
        </p:nvSpPr>
        <p:spPr>
          <a:xfrm>
            <a:off x="10707625" y="3696462"/>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18" name="TextBox 17"/>
          <p:cNvSpPr txBox="1"/>
          <p:nvPr/>
        </p:nvSpPr>
        <p:spPr>
          <a:xfrm>
            <a:off x="2148840" y="353187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Firm-Level and Market Supply</a:t>
            </a:r>
          </a:p>
          <a:p>
            <a:pPr algn="l">
              <a:spcBef>
                <a:spcPts val="0"/>
              </a:spcBef>
              <a:buNone/>
            </a:pPr>
            <a:r>
              <a:rPr sz="2000">
                <a:solidFill>
                  <a:srgbClr val="555B66"/>
                </a:solidFill>
                <a:latin typeface="Calibri"/>
              </a:rPr>
              <a:t>Marginal cost is one firm’s supply curve; market supply sums across firms</a:t>
            </a:r>
          </a:p>
        </p:txBody>
      </p:sp>
      <p:sp>
        <p:nvSpPr>
          <p:cNvPr id="19" name="Oval 18"/>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2c</a:t>
            </a:r>
          </a:p>
        </p:txBody>
      </p:sp>
      <p:sp>
        <p:nvSpPr>
          <p:cNvPr id="20" name="Rounded Rectangle 19"/>
          <p:cNvSpPr/>
          <p:nvPr/>
        </p:nvSpPr>
        <p:spPr>
          <a:xfrm>
            <a:off x="10707625" y="441426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5</a:t>
            </a:r>
          </a:p>
        </p:txBody>
      </p:sp>
      <p:sp>
        <p:nvSpPr>
          <p:cNvPr id="21" name="TextBox 20"/>
          <p:cNvSpPr txBox="1"/>
          <p:nvPr/>
        </p:nvSpPr>
        <p:spPr>
          <a:xfrm>
            <a:off x="2148840" y="4249674"/>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Long-Run Competitive Equilibrium</a:t>
            </a:r>
          </a:p>
          <a:p>
            <a:pPr algn="l">
              <a:spcBef>
                <a:spcPts val="0"/>
              </a:spcBef>
              <a:buNone/>
            </a:pPr>
            <a:r>
              <a:rPr sz="2000">
                <a:solidFill>
                  <a:srgbClr val="555B66"/>
                </a:solidFill>
                <a:latin typeface="Calibri"/>
              </a:rPr>
              <a:t>Entry and exit drive economic profits to zero</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3</a:t>
            </a:r>
          </a:p>
        </p:txBody>
      </p:sp>
      <p:sp>
        <p:nvSpPr>
          <p:cNvPr id="23" name="Rounded Rectangle 22"/>
          <p:cNvSpPr/>
          <p:nvPr/>
        </p:nvSpPr>
        <p:spPr>
          <a:xfrm>
            <a:off x="10332720" y="5132070"/>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4" name="TextBox 23"/>
          <p:cNvSpPr txBox="1"/>
          <p:nvPr/>
        </p:nvSpPr>
        <p:spPr>
          <a:xfrm>
            <a:off x="1874519" y="496747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 Distortions and Regulations</a:t>
            </a:r>
          </a:p>
          <a:p>
            <a:pPr algn="l">
              <a:spcBef>
                <a:spcPts val="0"/>
              </a:spcBef>
              <a:buNone/>
            </a:pPr>
            <a:r>
              <a:rPr sz="2200">
                <a:solidFill>
                  <a:srgbClr val="555B66"/>
                </a:solidFill>
                <a:latin typeface="Calibri"/>
              </a:rPr>
              <a:t>Who wins, who loses, and what is lost outright</a:t>
            </a:r>
          </a:p>
        </p:txBody>
      </p:sp>
      <p:sp>
        <p:nvSpPr>
          <p:cNvPr id="25" name="Oval 24"/>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dirty="0">
                <a:solidFill>
                  <a:srgbClr val="0B2B4E"/>
                </a:solidFill>
                <a:latin typeface="Calibri"/>
              </a:rPr>
              <a:t>4</a:t>
            </a:r>
          </a:p>
        </p:txBody>
      </p:sp>
      <p:sp>
        <p:nvSpPr>
          <p:cNvPr id="26" name="Rounded Rectangle 25"/>
          <p:cNvSpPr/>
          <p:nvPr/>
        </p:nvSpPr>
        <p:spPr>
          <a:xfrm>
            <a:off x="10332720" y="5849874"/>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7" name="TextBox 26"/>
          <p:cNvSpPr txBox="1"/>
          <p:nvPr/>
        </p:nvSpPr>
        <p:spPr>
          <a:xfrm>
            <a:off x="1874519" y="5685282"/>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0B2B4E"/>
                </a:solidFill>
                <a:latin typeface="Calibri"/>
              </a:rPr>
              <a:t>Externalities</a:t>
            </a:r>
          </a:p>
          <a:p>
            <a:pPr algn="l">
              <a:spcBef>
                <a:spcPts val="0"/>
              </a:spcBef>
              <a:buNone/>
            </a:pPr>
            <a:r>
              <a:rPr sz="2200" dirty="0">
                <a:solidFill>
                  <a:srgbClr val="555B66"/>
                </a:solidFill>
                <a:latin typeface="Calibri"/>
              </a:rPr>
              <a:t>Costs and benefits that land on people outside the deal</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93248381-6920-52FA-A239-9A7875F0D053}" type="slidenum">
              <a:rPr lang="en-US" sz="1200" dirty="0">
                <a:solidFill>
                  <a:srgbClr val="555B66"/>
                </a:solidFill>
                <a:latin typeface="Calibri"/>
              </a:rPr>
              <a:t>3</a:t>
            </a:fld>
            <a:endParaRPr lang="en-US" sz="1200" dirty="0">
              <a:solidFill>
                <a:srgbClr val="555B66"/>
              </a:solidFill>
              <a:latin typeface="Calibri"/>
            </a:endParaRPr>
          </a:p>
        </p:txBody>
      </p:sp>
    </p:spTree>
    <p:extLst>
      <p:ext uri="{BB962C8B-B14F-4D97-AF65-F5344CB8AC3E}">
        <p14:creationId xmlns:p14="http://schemas.microsoft.com/office/powerpoint/2010/main" val="292394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animBg="1"/>
      <p:bldP spid="14" grpId="0" animBg="1"/>
      <p:bldP spid="15" grpId="0"/>
      <p:bldP spid="16" grpId="0" animBg="1"/>
      <p:bldP spid="17" grpId="0" animBg="1"/>
      <p:bldP spid="18" grpId="0"/>
      <p:bldP spid="19" grpId="0" animBg="1"/>
      <p:bldP spid="20" grpId="0" animBg="1"/>
      <p:bldP spid="21" grpId="0"/>
      <p:bldP spid="22" grpId="0" animBg="1"/>
      <p:bldP spid="23" grpId="0" animBg="1"/>
      <p:bldP spid="24" grpId="0"/>
      <p:bldP spid="25" grpId="0" animBg="1"/>
      <p:bldP spid="26" grpId="0" animBg="1"/>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743200"/>
            <a:ext cx="12191695" cy="1661993"/>
          </a:xfrm>
          <a:prstGeom prst="rect">
            <a:avLst/>
          </a:prstGeom>
          <a:noFill/>
        </p:spPr>
        <p:txBody>
          <a:bodyPr wrap="square" lIns="0" tIns="0" rIns="0" bIns="0">
            <a:spAutoFit/>
          </a:bodyPr>
          <a:lstStyle/>
          <a:p>
            <a:pPr algn="ctr"/>
            <a:r>
              <a:rPr lang="en-US" sz="5400" b="1" i="0" u="none" dirty="0">
                <a:solidFill>
                  <a:srgbClr val="0B2B4E"/>
                </a:solidFill>
                <a:latin typeface="Calibri"/>
              </a:rPr>
              <a:t>Module 4</a:t>
            </a:r>
          </a:p>
          <a:p>
            <a:pPr algn="ctr"/>
            <a:r>
              <a:rPr sz="5400" b="1" i="0" u="none" dirty="0">
                <a:solidFill>
                  <a:srgbClr val="0B2B4E"/>
                </a:solidFill>
                <a:latin typeface="Calibri"/>
              </a:rPr>
              <a:t>In-Class Part</a:t>
            </a:r>
          </a:p>
        </p:txBody>
      </p:sp>
      <p:sp>
        <p:nvSpPr>
          <p:cNvPr id="3" name="Rectangle 2"/>
          <p:cNvSpPr/>
          <p:nvPr/>
        </p:nvSpPr>
        <p:spPr>
          <a:xfrm>
            <a:off x="4267047" y="4350329"/>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7" name="TextBox 6"/>
          <p:cNvSpPr txBox="1"/>
          <p:nvPr/>
        </p:nvSpPr>
        <p:spPr>
          <a:xfrm>
            <a:off x="11475720" y="6583680"/>
            <a:ext cx="502920" cy="292608"/>
          </a:xfrm>
          <a:prstGeom prst="rect">
            <a:avLst/>
          </a:prstGeom>
          <a:noFill/>
        </p:spPr>
        <p:txBody>
          <a:bodyPr wrap="none" lIns="0" tIns="0" rIns="0" bIns="0">
            <a:spAutoFit/>
          </a:bodyPr>
          <a:lstStyle/>
          <a:p>
            <a:pPr algn="r"/>
            <a:fld id="{CB972BC2-82CB-5C6F-AF19-7106BC1EEDA4}" type="slidenum">
              <a:rPr lang="en-US" sz="1200" dirty="0">
                <a:solidFill>
                  <a:srgbClr val="555B66"/>
                </a:solidFill>
                <a:latin typeface="Calibri"/>
              </a:rPr>
              <a:t>4</a:t>
            </a:fld>
            <a:endParaRPr lang="en-US" sz="1200" dirty="0">
              <a:solidFill>
                <a:srgbClr val="555B66"/>
              </a:solidFill>
              <a:latin typeface="Calibri"/>
            </a:endParaRPr>
          </a:p>
        </p:txBody>
      </p:sp>
    </p:spTree>
    <p:extLst>
      <p:ext uri="{BB962C8B-B14F-4D97-AF65-F5344CB8AC3E}">
        <p14:creationId xmlns:p14="http://schemas.microsoft.com/office/powerpoint/2010/main" val="4130808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400300"/>
            <a:ext cx="12191695" cy="1691640"/>
          </a:xfrm>
          <a:prstGeom prst="rect">
            <a:avLst/>
          </a:prstGeom>
          <a:noFill/>
        </p:spPr>
        <p:txBody>
          <a:bodyPr wrap="square" lIns="0" tIns="0" rIns="0" bIns="0">
            <a:spAutoFit/>
          </a:bodyPr>
          <a:lstStyle/>
          <a:p>
            <a:pPr algn="ctr"/>
            <a:r>
              <a:rPr sz="5400" b="1" i="0" u="none" dirty="0">
                <a:solidFill>
                  <a:srgbClr val="0B2B4E"/>
                </a:solidFill>
                <a:latin typeface="Calibri"/>
              </a:rPr>
              <a:t>Some Applications of the Material</a:t>
            </a:r>
          </a:p>
          <a:p>
            <a:pPr algn="ctr"/>
            <a:r>
              <a:rPr sz="5400" b="1" dirty="0">
                <a:solidFill>
                  <a:srgbClr val="0B2B4E"/>
                </a:solidFill>
                <a:latin typeface="Calibri"/>
              </a:rPr>
              <a:t>Covered in </a:t>
            </a:r>
            <a:r>
              <a:rPr lang="en-US" sz="5400" b="1" dirty="0">
                <a:solidFill>
                  <a:srgbClr val="0B2B4E"/>
                </a:solidFill>
                <a:latin typeface="Calibri"/>
              </a:rPr>
              <a:t>the </a:t>
            </a:r>
            <a:r>
              <a:rPr sz="5400" b="1" dirty="0">
                <a:solidFill>
                  <a:srgbClr val="0B2B4E"/>
                </a:solidFill>
                <a:latin typeface="Calibri"/>
              </a:rPr>
              <a:t>Videos</a:t>
            </a:r>
          </a:p>
        </p:txBody>
      </p:sp>
      <p:sp>
        <p:nvSpPr>
          <p:cNvPr id="3" name="Rectangle 2"/>
          <p:cNvSpPr/>
          <p:nvPr/>
        </p:nvSpPr>
        <p:spPr>
          <a:xfrm>
            <a:off x="975207" y="4229100"/>
            <a:ext cx="1024128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7" name="TextBox 6"/>
          <p:cNvSpPr txBox="1"/>
          <p:nvPr/>
        </p:nvSpPr>
        <p:spPr>
          <a:xfrm>
            <a:off x="11475720" y="6583680"/>
            <a:ext cx="502920" cy="292608"/>
          </a:xfrm>
          <a:prstGeom prst="rect">
            <a:avLst/>
          </a:prstGeom>
          <a:noFill/>
        </p:spPr>
        <p:txBody>
          <a:bodyPr wrap="none" lIns="0" tIns="0" rIns="0" bIns="0">
            <a:spAutoFit/>
          </a:bodyPr>
          <a:lstStyle/>
          <a:p>
            <a:pPr algn="r"/>
            <a:fld id="{B38D1FD4-E120-5B60-A5FE-8016C3F29564}" type="slidenum">
              <a:rPr lang="en-US" sz="1200" dirty="0">
                <a:solidFill>
                  <a:srgbClr val="555B66"/>
                </a:solidFill>
                <a:latin typeface="Calibri"/>
              </a:rPr>
              <a:t>5</a:t>
            </a:fld>
            <a:endParaRPr lang="en-US" sz="1200" dirty="0">
              <a:solidFill>
                <a:srgbClr val="555B66"/>
              </a:solidFill>
              <a:latin typeface="Calibri"/>
            </a:endParaRPr>
          </a:p>
        </p:txBody>
      </p:sp>
    </p:spTree>
    <p:extLst>
      <p:ext uri="{BB962C8B-B14F-4D97-AF65-F5344CB8AC3E}">
        <p14:creationId xmlns:p14="http://schemas.microsoft.com/office/powerpoint/2010/main" val="2080487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Introduction to Market Structures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Four Basic Market Structures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4" name="Group pair 114"/>
          <p:cNvGrpSpPr/>
          <p:nvPr/>
        </p:nvGrpSpPr>
        <p:grpSpPr>
          <a:xfrm>
            <a:off x="380847" y="1783080"/>
            <a:ext cx="11430000" cy="3383280"/>
            <a:chOff x="380847" y="1783080"/>
            <a:chExt cx="11430000" cy="3383280"/>
          </a:xfrm>
        </p:grpSpPr>
        <p:sp>
          <p:nvSpPr>
            <p:cNvPr id="7" name="Rectangle 6"/>
            <p:cNvSpPr/>
            <p:nvPr/>
          </p:nvSpPr>
          <p:spPr>
            <a:xfrm>
              <a:off x="380847" y="1783080"/>
              <a:ext cx="11430000"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18007" y="1920240"/>
            <a:ext cx="11155680" cy="3108960"/>
          </p:xfrm>
          <a:graphic>
            <a:graphicData uri="http://schemas.openxmlformats.org/drawingml/2006/table">
              <a:tbl>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914400">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Perfect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Monopolistic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Oligopoly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Monopoly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31520">
                  <a:tc>
                    <a:txBody>
                      <a:bodyPr/>
                      <a:lstStyle/>
                      <a:p>
                        <a:pPr algn="l"/>
                        <a:r>
                          <a:rPr sz="2000" b="1">
                            <a:solidFill>
                              <a:srgbClr val="0B2B4E"/>
                            </a:solidFill>
                            <a:latin typeface="Calibri"/>
                          </a:rPr>
                          <a:t>Number of firms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dirty="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Few</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31520">
                  <a:tc>
                    <a:txBody>
                      <a:bodyPr/>
                      <a:lstStyle/>
                      <a:p>
                        <a:pPr algn="l"/>
                        <a:r>
                          <a:rPr sz="2000" b="1">
                            <a:solidFill>
                              <a:srgbClr val="0B2B4E"/>
                            </a:solidFill>
                            <a:latin typeface="Calibri"/>
                          </a:rPr>
                          <a:t>Type of products sold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Identical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Differentiated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Identical or
Differentiated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“Unique”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731520">
                  <a:tc>
                    <a:txBody>
                      <a:bodyPr/>
                      <a:lstStyle/>
                      <a:p>
                        <a:pPr algn="l"/>
                        <a:r>
                          <a:rPr sz="2000" b="1">
                            <a:solidFill>
                              <a:srgbClr val="0B2B4E"/>
                            </a:solidFill>
                            <a:latin typeface="Calibri"/>
                          </a:rPr>
                          <a:t>Barriers to entry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Some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dirty="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bl>
            </a:graphicData>
          </a:graphic>
        </p:graphicFrame>
      </p:grpSp>
      <p:sp>
        <p:nvSpPr>
          <p:cNvPr id="9" name="Rounded Rectangle 8"/>
          <p:cNvSpPr/>
          <p:nvPr/>
        </p:nvSpPr>
        <p:spPr>
          <a:xfrm>
            <a:off x="3867911" y="5303520"/>
            <a:ext cx="7531455" cy="932688"/>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bIns="109728" rtlCol="0" anchor="b"/>
          <a:lstStyle/>
          <a:p>
            <a:pPr algn="ctr"/>
            <a:r>
              <a:rPr sz="1900" b="1" dirty="0">
                <a:solidFill>
                  <a:srgbClr val="0B2B4E"/>
                </a:solidFill>
                <a:latin typeface="Calibri"/>
              </a:rPr>
              <a:t>More firms, more similar products, easier entry</a:t>
            </a:r>
            <a:r>
              <a:rPr lang="en-US" sz="1900" b="1" dirty="0">
                <a:solidFill>
                  <a:srgbClr val="0B2B4E"/>
                </a:solidFill>
                <a:latin typeface="Calibri"/>
              </a:rPr>
              <a:t>, </a:t>
            </a:r>
            <a:r>
              <a:rPr sz="1900" b="1" dirty="0">
                <a:solidFill>
                  <a:srgbClr val="0B2B4E"/>
                </a:solidFill>
                <a:latin typeface="Calibri"/>
              </a:rPr>
              <a:t>more competition</a:t>
            </a:r>
          </a:p>
        </p:txBody>
      </p:sp>
      <p:cxnSp>
        <p:nvCxnSpPr>
          <p:cNvPr id="10" name="Connector 9"/>
          <p:cNvCxnSpPr>
            <a:cxnSpLocks/>
          </p:cNvCxnSpPr>
          <p:nvPr/>
        </p:nvCxnSpPr>
        <p:spPr>
          <a:xfrm flipH="1">
            <a:off x="4626864" y="5596128"/>
            <a:ext cx="6144768" cy="0"/>
          </a:xfrm>
          <a:prstGeom prst="line">
            <a:avLst/>
          </a:prstGeom>
          <a:ln w="63500">
            <a:solidFill>
              <a:srgbClr val="0B2B4E"/>
            </a:solidFill>
            <a:tailEnd type="triangle" w="lg"/>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6</a:t>
            </a:fld>
            <a:endParaRPr lang="en-US" sz="1200" dirty="0">
              <a:solidFill>
                <a:srgbClr val="555B66"/>
              </a:solidFill>
              <a:latin typeface="Calibri"/>
            </a:endParaRPr>
          </a:p>
        </p:txBody>
      </p:sp>
    </p:spTree>
    <p:extLst>
      <p:ext uri="{BB962C8B-B14F-4D97-AF65-F5344CB8AC3E}">
        <p14:creationId xmlns:p14="http://schemas.microsoft.com/office/powerpoint/2010/main" val="71960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1 · Introduction to Market Structures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Extent of Market Power: Price Takers vs. Price Searchers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61872"/>
            <a:ext cx="3657600" cy="457200"/>
          </a:xfrm>
          <a:prstGeom prst="rect">
            <a:avLst/>
          </a:prstGeom>
          <a:noFill/>
        </p:spPr>
        <p:txBody>
          <a:bodyPr wrap="square" lIns="0" tIns="0" rIns="0" bIns="0">
            <a:spAutoFit/>
          </a:bodyPr>
          <a:lstStyle/>
          <a:p>
            <a:pPr algn="l"/>
            <a:r>
              <a:rPr sz="2800" b="1" i="0" u="none">
                <a:solidFill>
                  <a:srgbClr val="0B2B4E"/>
                </a:solidFill>
                <a:latin typeface="Calibri"/>
              </a:rPr>
              <a:t>Least Market Power</a:t>
            </a:r>
          </a:p>
        </p:txBody>
      </p:sp>
      <p:sp>
        <p:nvSpPr>
          <p:cNvPr id="8" name="TextBox 7"/>
          <p:cNvSpPr txBox="1"/>
          <p:nvPr/>
        </p:nvSpPr>
        <p:spPr>
          <a:xfrm>
            <a:off x="8028431" y="1261872"/>
            <a:ext cx="3657600" cy="457200"/>
          </a:xfrm>
          <a:prstGeom prst="rect">
            <a:avLst/>
          </a:prstGeom>
          <a:noFill/>
        </p:spPr>
        <p:txBody>
          <a:bodyPr wrap="square" lIns="0" tIns="0" r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1847088"/>
            <a:ext cx="11274552" cy="0"/>
          </a:xfrm>
          <a:prstGeom prst="line">
            <a:avLst/>
          </a:prstGeom>
          <a:ln w="44450">
            <a:solidFill>
              <a:srgbClr val="0B2B4E"/>
            </a:solidFill>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Perfect
Competition</a:t>
            </a:r>
          </a:p>
        </p:txBody>
      </p:sp>
      <p:sp>
        <p:nvSpPr>
          <p:cNvPr id="11" name="TextBox 10"/>
          <p:cNvSpPr txBox="1"/>
          <p:nvPr/>
        </p:nvSpPr>
        <p:spPr>
          <a:xfrm>
            <a:off x="329184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Monopolistic
Competition</a:t>
            </a:r>
          </a:p>
        </p:txBody>
      </p:sp>
      <p:sp>
        <p:nvSpPr>
          <p:cNvPr id="12" name="TextBox 11"/>
          <p:cNvSpPr txBox="1"/>
          <p:nvPr/>
        </p:nvSpPr>
        <p:spPr>
          <a:xfrm>
            <a:off x="612648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Oligopoly</a:t>
            </a:r>
          </a:p>
        </p:txBody>
      </p:sp>
      <p:sp>
        <p:nvSpPr>
          <p:cNvPr id="13" name="TextBox 12"/>
          <p:cNvSpPr txBox="1"/>
          <p:nvPr/>
        </p:nvSpPr>
        <p:spPr>
          <a:xfrm>
            <a:off x="891540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Monopoly</a:t>
            </a:r>
          </a:p>
        </p:txBody>
      </p:sp>
      <p:sp>
        <p:nvSpPr>
          <p:cNvPr id="14" name="Rectangle 13"/>
          <p:cNvSpPr/>
          <p:nvPr/>
        </p:nvSpPr>
        <p:spPr>
          <a:xfrm>
            <a:off x="315468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7824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2852928"/>
            <a:ext cx="205740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Takers)</a:t>
            </a:r>
          </a:p>
        </p:txBody>
      </p:sp>
      <p:sp>
        <p:nvSpPr>
          <p:cNvPr id="18" name="Rounded Rectangle 17"/>
          <p:cNvSpPr/>
          <p:nvPr/>
        </p:nvSpPr>
        <p:spPr>
          <a:xfrm>
            <a:off x="3566160" y="2852928"/>
            <a:ext cx="790956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Searchers)</a:t>
            </a:r>
          </a:p>
        </p:txBody>
      </p:sp>
      <p:sp>
        <p:nvSpPr>
          <p:cNvPr id="19" name="Rounded Rectangle 18"/>
          <p:cNvSpPr/>
          <p:nvPr/>
        </p:nvSpPr>
        <p:spPr>
          <a:xfrm>
            <a:off x="448056" y="1956816"/>
            <a:ext cx="2724912" cy="4251960"/>
          </a:xfrm>
          <a:prstGeom prst="roundRect">
            <a:avLst>
              <a:gd name="adj" fmla="val 4000"/>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5" name="Group pair 135"/>
          <p:cNvGrpSpPr/>
          <p:nvPr/>
        </p:nvGrpSpPr>
        <p:grpSpPr>
          <a:xfrm>
            <a:off x="502920" y="3401568"/>
            <a:ext cx="2697480" cy="2560320"/>
            <a:chOff x="502920" y="3401568"/>
            <a:chExt cx="2697480" cy="2560320"/>
          </a:xfrm>
        </p:grpSpPr>
        <p:pic>
          <p:nvPicPr>
            <p:cNvPr id="20" name="Picture 19" descr="NV_s07_10_f9f010a8.jpg"/>
            <p:cNvPicPr>
              <a:picLocks noChangeAspect="1"/>
            </p:cNvPicPr>
            <p:nvPr/>
          </p:nvPicPr>
          <p:blipFill>
            <a:blip r:embed="rId3"/>
            <a:stretch>
              <a:fillRect/>
            </a:stretch>
          </p:blipFill>
          <p:spPr>
            <a:xfrm>
              <a:off x="713232" y="3401568"/>
              <a:ext cx="2273881" cy="2194560"/>
            </a:xfrm>
            <a:prstGeom prst="roundRect">
              <a:avLst>
                <a:gd name="adj" fmla="val 8000"/>
              </a:avLst>
            </a:prstGeom>
            <a:effectLst>
              <a:outerShdw blurRad="50800" dist="38100" dir="2700000" algn="tl" rotWithShape="0">
                <a:srgbClr val="000000">
                  <a:alpha val="50000"/>
                </a:srgbClr>
              </a:outerShdw>
            </a:effectLst>
          </p:spPr>
        </p:pic>
        <p:sp>
          <p:nvSpPr>
            <p:cNvPr id="25" name="TextBox 24"/>
            <p:cNvSpPr txBox="1"/>
            <p:nvPr/>
          </p:nvSpPr>
          <p:spPr>
            <a:xfrm>
              <a:off x="50292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Commodity markets</a:t>
              </a:r>
            </a:p>
          </p:txBody>
        </p:sp>
      </p:grpSp>
      <p:grpSp>
        <p:nvGrpSpPr>
          <p:cNvPr id="136" name="Group pair 136"/>
          <p:cNvGrpSpPr/>
          <p:nvPr/>
        </p:nvGrpSpPr>
        <p:grpSpPr>
          <a:xfrm>
            <a:off x="3291840" y="3401568"/>
            <a:ext cx="2697480" cy="2560320"/>
            <a:chOff x="3291840" y="3401568"/>
            <a:chExt cx="2697480" cy="2560320"/>
          </a:xfrm>
        </p:grpSpPr>
        <p:pic>
          <p:nvPicPr>
            <p:cNvPr id="21" name="Picture 20" descr="NV_s07_g1.1_1f7061fb.png"/>
            <p:cNvPicPr>
              <a:picLocks noChangeAspect="1"/>
            </p:cNvPicPr>
            <p:nvPr/>
          </p:nvPicPr>
          <p:blipFill>
            <a:blip r:embed="rId4"/>
            <a:stretch>
              <a:fillRect/>
            </a:stretch>
          </p:blipFill>
          <p:spPr>
            <a:xfrm>
              <a:off x="3465576" y="3401568"/>
              <a:ext cx="2348495" cy="2194560"/>
            </a:xfrm>
            <a:prstGeom prst="roundRect">
              <a:avLst>
                <a:gd name="adj" fmla="val 8000"/>
              </a:avLst>
            </a:prstGeom>
            <a:effectLst>
              <a:outerShdw blurRad="50800" dist="38100" dir="2700000" algn="tl" rotWithShape="0">
                <a:srgbClr val="000000">
                  <a:alpha val="50000"/>
                </a:srgbClr>
              </a:outerShdw>
            </a:effectLst>
          </p:spPr>
        </p:pic>
        <p:sp>
          <p:nvSpPr>
            <p:cNvPr id="26" name="TextBox 25"/>
            <p:cNvSpPr txBox="1"/>
            <p:nvPr/>
          </p:nvSpPr>
          <p:spPr>
            <a:xfrm>
              <a:off x="329184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Restaurants in WeHo</a:t>
              </a:r>
            </a:p>
          </p:txBody>
        </p:sp>
      </p:grpSp>
      <p:pic>
        <p:nvPicPr>
          <p:cNvPr id="22" name="Picture 21" descr="NV_s07_g12.1_a0b89503.jpg"/>
          <p:cNvPicPr>
            <a:picLocks noChangeAspect="1"/>
          </p:cNvPicPr>
          <p:nvPr/>
        </p:nvPicPr>
        <p:blipFill>
          <a:blip r:embed="rId5"/>
          <a:stretch>
            <a:fillRect/>
          </a:stretch>
        </p:blipFill>
        <p:spPr>
          <a:xfrm>
            <a:off x="6746443" y="3401568"/>
            <a:ext cx="1457553" cy="969326"/>
          </a:xfrm>
          <a:prstGeom prst="rect">
            <a:avLst/>
          </a:prstGeom>
        </p:spPr>
      </p:pic>
      <p:grpSp>
        <p:nvGrpSpPr>
          <p:cNvPr id="137" name="Group pair 137"/>
          <p:cNvGrpSpPr/>
          <p:nvPr/>
        </p:nvGrpSpPr>
        <p:grpSpPr>
          <a:xfrm>
            <a:off x="6126480" y="4443984"/>
            <a:ext cx="2697480" cy="1517904"/>
            <a:chOff x="6126480" y="4443984"/>
            <a:chExt cx="2697480" cy="1517904"/>
          </a:xfrm>
        </p:grpSpPr>
        <p:pic>
          <p:nvPicPr>
            <p:cNvPr id="23" name="Picture 22" descr="NV_s07_g12.2_3444df7e.png"/>
            <p:cNvPicPr>
              <a:picLocks noChangeAspect="1"/>
            </p:cNvPicPr>
            <p:nvPr/>
          </p:nvPicPr>
          <p:blipFill>
            <a:blip r:embed="rId6"/>
            <a:stretch>
              <a:fillRect/>
            </a:stretch>
          </p:blipFill>
          <p:spPr>
            <a:xfrm>
              <a:off x="6746443" y="4443984"/>
              <a:ext cx="1457553" cy="1151467"/>
            </a:xfrm>
            <a:prstGeom prst="rect">
              <a:avLst/>
            </a:prstGeom>
          </p:spPr>
        </p:pic>
        <p:sp>
          <p:nvSpPr>
            <p:cNvPr id="27" name="TextBox 26"/>
            <p:cNvSpPr txBox="1"/>
            <p:nvPr/>
          </p:nvSpPr>
          <p:spPr>
            <a:xfrm>
              <a:off x="612648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Wide-body aircraft</a:t>
              </a:r>
            </a:p>
          </p:txBody>
        </p:sp>
      </p:grpSp>
      <p:grpSp>
        <p:nvGrpSpPr>
          <p:cNvPr id="138" name="Group pair 138"/>
          <p:cNvGrpSpPr/>
          <p:nvPr/>
        </p:nvGrpSpPr>
        <p:grpSpPr>
          <a:xfrm>
            <a:off x="8915400" y="3401568"/>
            <a:ext cx="2697480" cy="2560320"/>
            <a:chOff x="8915400" y="3401568"/>
            <a:chExt cx="2697480" cy="2560320"/>
          </a:xfrm>
        </p:grpSpPr>
        <p:pic>
          <p:nvPicPr>
            <p:cNvPr id="24" name="Picture 23" descr="NV_s07_13_4dc4c7c4.jpg"/>
            <p:cNvPicPr>
              <a:picLocks noChangeAspect="1"/>
            </p:cNvPicPr>
            <p:nvPr/>
          </p:nvPicPr>
          <p:blipFill>
            <a:blip r:embed="rId7"/>
            <a:stretch>
              <a:fillRect/>
            </a:stretch>
          </p:blipFill>
          <p:spPr>
            <a:xfrm>
              <a:off x="9226296" y="3401568"/>
              <a:ext cx="2073700" cy="2194560"/>
            </a:xfrm>
            <a:prstGeom prst="rect">
              <a:avLst/>
            </a:prstGeom>
          </p:spPr>
        </p:pic>
        <p:sp>
          <p:nvSpPr>
            <p:cNvPr id="28" name="TextBox 27"/>
            <p:cNvSpPr txBox="1"/>
            <p:nvPr/>
          </p:nvSpPr>
          <p:spPr>
            <a:xfrm>
              <a:off x="891540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Municipal utilities</a:t>
              </a:r>
            </a:p>
          </p:txBody>
        </p:sp>
      </p:grpSp>
      <p:grpSp>
        <p:nvGrpSpPr>
          <p:cNvPr id="134" name="Group pair 134"/>
          <p:cNvGrpSpPr/>
          <p:nvPr/>
        </p:nvGrpSpPr>
        <p:grpSpPr>
          <a:xfrm>
            <a:off x="1033271" y="5998464"/>
            <a:ext cx="1554480" cy="420624"/>
            <a:chOff x="1033271" y="5998464"/>
            <a:chExt cx="1554480" cy="420624"/>
          </a:xfrm>
        </p:grpSpPr>
        <p:sp>
          <p:nvSpPr>
            <p:cNvPr id="29" name="Rounded Rectangle 28"/>
            <p:cNvSpPr/>
            <p:nvPr/>
          </p:nvSpPr>
          <p:spPr>
            <a:xfrm>
              <a:off x="1033271" y="5998464"/>
              <a:ext cx="1554480" cy="420624"/>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1033271" y="5998464"/>
              <a:ext cx="1554480" cy="420624"/>
            </a:xfrm>
            <a:prstGeom prst="roundRect">
              <a:avLst>
                <a:gd name="adj" fmla="val 30000"/>
              </a:avLst>
            </a:prstGeom>
            <a:solidFill>
              <a:srgbClr val="C00000">
                <a:alpha val="30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TODAY</a:t>
              </a: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7</a:t>
            </a:fld>
            <a:endParaRPr lang="en-US" sz="1200" dirty="0">
              <a:solidFill>
                <a:srgbClr val="555B66"/>
              </a:solidFill>
              <a:latin typeface="Calibri"/>
            </a:endParaRPr>
          </a:p>
        </p:txBody>
      </p:sp>
    </p:spTree>
    <p:extLst>
      <p:ext uri="{BB962C8B-B14F-4D97-AF65-F5344CB8AC3E}">
        <p14:creationId xmlns:p14="http://schemas.microsoft.com/office/powerpoint/2010/main" val="115650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5"/>
                                        </p:tgtEl>
                                        <p:attrNameLst>
                                          <p:attrName>style.visibility</p:attrName>
                                        </p:attrNameLst>
                                      </p:cBhvr>
                                      <p:to>
                                        <p:strVal val="visible"/>
                                      </p:to>
                                    </p:set>
                                    <p:animEffect transition="in" filter="fade">
                                      <p:cBhvr>
                                        <p:cTn id="17" dur="500"/>
                                        <p:tgtEl>
                                          <p:spTgt spid="1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6"/>
                                        </p:tgtEl>
                                        <p:attrNameLst>
                                          <p:attrName>style.visibility</p:attrName>
                                        </p:attrNameLst>
                                      </p:cBhvr>
                                      <p:to>
                                        <p:strVal val="visible"/>
                                      </p:to>
                                    </p:set>
                                    <p:animEffect transition="in" filter="fade">
                                      <p:cBhvr>
                                        <p:cTn id="22" dur="500"/>
                                        <p:tgtEl>
                                          <p:spTgt spid="1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137"/>
                                        </p:tgtEl>
                                        <p:attrNameLst>
                                          <p:attrName>style.visibility</p:attrName>
                                        </p:attrNameLst>
                                      </p:cBhvr>
                                      <p:to>
                                        <p:strVal val="visible"/>
                                      </p:to>
                                    </p:set>
                                    <p:animEffect transition="in" filter="fade">
                                      <p:cBhvr>
                                        <p:cTn id="30" dur="500"/>
                                        <p:tgtEl>
                                          <p:spTgt spid="13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8"/>
                                        </p:tgtEl>
                                        <p:attrNameLst>
                                          <p:attrName>style.visibility</p:attrName>
                                        </p:attrNameLst>
                                      </p:cBhvr>
                                      <p:to>
                                        <p:strVal val="visible"/>
                                      </p:to>
                                    </p:set>
                                    <p:animEffect transition="in" filter="fade">
                                      <p:cBhvr>
                                        <p:cTn id="35" dur="500"/>
                                        <p:tgtEl>
                                          <p:spTgt spid="1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134"/>
                                        </p:tgtEl>
                                        <p:attrNameLst>
                                          <p:attrName>style.visibility</p:attrName>
                                        </p:attrNameLst>
                                      </p:cBhvr>
                                      <p:to>
                                        <p:strVal val="visible"/>
                                      </p:to>
                                    </p:set>
                                    <p:animEffect transition="in" filter="fade">
                                      <p:cBhvr>
                                        <p:cTn id="43"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2 · Perfect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Perfect Competition: The Market and the Firm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66444" y="1890522"/>
            <a:ext cx="3200400" cy="365760"/>
          </a:xfrm>
          <a:prstGeom prst="rect">
            <a:avLst/>
          </a:prstGeom>
          <a:noFill/>
        </p:spPr>
        <p:txBody>
          <a:bodyPr wrap="square" lIns="0" tIns="0" rIns="0" bIns="0">
            <a:spAutoFit/>
          </a:bodyPr>
          <a:lstStyle/>
          <a:p>
            <a:pPr algn="ctr"/>
            <a:r>
              <a:rPr sz="2200" b="1" i="0" u="none" dirty="0">
                <a:solidFill>
                  <a:srgbClr val="0B2B4E"/>
                </a:solidFill>
                <a:latin typeface="Calibri"/>
              </a:rPr>
              <a:t>Market</a:t>
            </a:r>
          </a:p>
        </p:txBody>
      </p:sp>
      <p:sp>
        <p:nvSpPr>
          <p:cNvPr id="8" name="TextBox 7"/>
          <p:cNvSpPr txBox="1"/>
          <p:nvPr/>
        </p:nvSpPr>
        <p:spPr>
          <a:xfrm>
            <a:off x="7450836" y="1984248"/>
            <a:ext cx="3474720" cy="365760"/>
          </a:xfrm>
          <a:prstGeom prst="rect">
            <a:avLst/>
          </a:prstGeom>
          <a:noFill/>
        </p:spPr>
        <p:txBody>
          <a:bodyPr wrap="square" lIns="0" tIns="0" rIns="0" bIns="0">
            <a:spAutoFit/>
          </a:bodyPr>
          <a:lstStyle/>
          <a:p>
            <a:pPr algn="ctr"/>
            <a:r>
              <a:rPr sz="2200" b="1" i="0" u="none" dirty="0">
                <a:solidFill>
                  <a:srgbClr val="0B2B4E"/>
                </a:solidFill>
                <a:latin typeface="Calibri"/>
              </a:rPr>
              <a:t>Firm (price taker)</a:t>
            </a:r>
          </a:p>
        </p:txBody>
      </p:sp>
      <p:cxnSp>
        <p:nvCxnSpPr>
          <p:cNvPr id="9" name="Connector 8"/>
          <p:cNvCxnSpPr/>
          <p:nvPr/>
        </p:nvCxnSpPr>
        <p:spPr>
          <a:xfrm flipV="1">
            <a:off x="1280160" y="2395727"/>
            <a:ext cx="0" cy="341071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80160" y="5806440"/>
            <a:ext cx="33649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00430" y="2263139"/>
            <a:ext cx="806577" cy="26517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2" name="TextBox 11"/>
          <p:cNvSpPr txBox="1"/>
          <p:nvPr/>
        </p:nvSpPr>
        <p:spPr>
          <a:xfrm>
            <a:off x="4199001" y="5852159"/>
            <a:ext cx="892302" cy="26517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cxnSp>
        <p:nvCxnSpPr>
          <p:cNvPr id="13" name="Connector 12"/>
          <p:cNvCxnSpPr/>
          <p:nvPr/>
        </p:nvCxnSpPr>
        <p:spPr>
          <a:xfrm flipV="1">
            <a:off x="7223760" y="2395727"/>
            <a:ext cx="0" cy="341071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223760" y="5806440"/>
            <a:ext cx="36393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44031" y="2263139"/>
            <a:ext cx="806577" cy="26517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6" name="TextBox 15"/>
          <p:cNvSpPr txBox="1"/>
          <p:nvPr/>
        </p:nvSpPr>
        <p:spPr>
          <a:xfrm>
            <a:off x="10416920" y="5852159"/>
            <a:ext cx="892302" cy="26517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cxnSp>
        <p:nvCxnSpPr>
          <p:cNvPr id="17" name="Connector 16"/>
          <p:cNvCxnSpPr/>
          <p:nvPr/>
        </p:nvCxnSpPr>
        <p:spPr>
          <a:xfrm flipV="1">
            <a:off x="1472184" y="2884932"/>
            <a:ext cx="2752343" cy="2596895"/>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72184" y="2884932"/>
            <a:ext cx="2752343" cy="2596895"/>
          </a:xfrm>
          <a:prstGeom prst="line">
            <a:avLst/>
          </a:prstGeom>
          <a:ln w="31750">
            <a:solidFill>
              <a:srgbClr val="B8860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72533" y="2738628"/>
            <a:ext cx="206502" cy="292608"/>
          </a:xfrm>
          <a:prstGeom prst="rect">
            <a:avLst/>
          </a:prstGeom>
          <a:noFill/>
        </p:spPr>
        <p:txBody>
          <a:bodyPr wrap="square" lIns="0" tIns="0" rIns="0" bIns="0">
            <a:spAutoFit/>
          </a:bodyPr>
          <a:lstStyle/>
          <a:p>
            <a:pPr algn="l"/>
            <a:r>
              <a:rPr sz="2000" b="1" i="1" u="none">
                <a:solidFill>
                  <a:srgbClr val="0B2B4E"/>
                </a:solidFill>
                <a:latin typeface="Calibri"/>
              </a:rPr>
              <a:t>S</a:t>
            </a:r>
          </a:p>
        </p:txBody>
      </p:sp>
      <p:sp>
        <p:nvSpPr>
          <p:cNvPr id="20" name="TextBox 19"/>
          <p:cNvSpPr txBox="1"/>
          <p:nvPr/>
        </p:nvSpPr>
        <p:spPr>
          <a:xfrm>
            <a:off x="4272533" y="5303062"/>
            <a:ext cx="235077" cy="292608"/>
          </a:xfrm>
          <a:prstGeom prst="rect">
            <a:avLst/>
          </a:prstGeom>
          <a:noFill/>
        </p:spPr>
        <p:txBody>
          <a:bodyPr wrap="square" lIns="0" tIns="0" rIns="0" bIns="0">
            <a:spAutoFit/>
          </a:bodyPr>
          <a:lstStyle/>
          <a:p>
            <a:pPr algn="l"/>
            <a:r>
              <a:rPr sz="2000" b="1" i="1" u="none">
                <a:solidFill>
                  <a:srgbClr val="B8860B"/>
                </a:solidFill>
                <a:latin typeface="Calibri"/>
              </a:rPr>
              <a:t>D</a:t>
            </a:r>
          </a:p>
        </p:txBody>
      </p:sp>
      <p:sp>
        <p:nvSpPr>
          <p:cNvPr id="21" name="Oval 20"/>
          <p:cNvSpPr/>
          <p:nvPr/>
        </p:nvSpPr>
        <p:spPr>
          <a:xfrm>
            <a:off x="2784348" y="4119371"/>
            <a:ext cx="128016" cy="128016"/>
          </a:xfrm>
          <a:prstGeom prst="ellipse">
            <a:avLst/>
          </a:prstGeom>
          <a:solidFill>
            <a:srgbClr val="C00000"/>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2848356" y="4183379"/>
            <a:ext cx="4375404" cy="0"/>
          </a:xfrm>
          <a:prstGeom prst="line">
            <a:avLst/>
          </a:prstGeom>
          <a:ln w="25400">
            <a:solidFill>
              <a:srgbClr val="C00000"/>
            </a:solidFill>
            <a:prstDash val="dash"/>
            <a:tailEnd type="triangle" w="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 y="4183379"/>
            <a:ext cx="156819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95731" y="4046219"/>
            <a:ext cx="311277"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25" name="TextBox 24"/>
          <p:cNvSpPr txBox="1"/>
          <p:nvPr/>
        </p:nvSpPr>
        <p:spPr>
          <a:xfrm>
            <a:off x="1979676" y="2450592"/>
            <a:ext cx="1737360" cy="548640"/>
          </a:xfrm>
          <a:prstGeom prst="rect">
            <a:avLst/>
          </a:prstGeom>
          <a:noFill/>
        </p:spPr>
        <p:txBody>
          <a:bodyPr wrap="square" lIns="0" tIns="0" rIns="0" bIns="0">
            <a:spAutoFit/>
          </a:bodyPr>
          <a:lstStyle/>
          <a:p>
            <a:pPr algn="ctr"/>
            <a:r>
              <a:rPr sz="1500" b="0" i="1" u="none">
                <a:solidFill>
                  <a:srgbClr val="C00000"/>
                </a:solidFill>
                <a:latin typeface="Calibri"/>
              </a:rPr>
              <a:t>Market
equilibrium</a:t>
            </a:r>
          </a:p>
        </p:txBody>
      </p:sp>
      <p:cxnSp>
        <p:nvCxnSpPr>
          <p:cNvPr id="26" name="Connector 25"/>
          <p:cNvCxnSpPr/>
          <p:nvPr/>
        </p:nvCxnSpPr>
        <p:spPr>
          <a:xfrm>
            <a:off x="2848356" y="3108960"/>
            <a:ext cx="0" cy="960120"/>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23760" y="4183379"/>
            <a:ext cx="3266236" cy="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81928" y="3931920"/>
            <a:ext cx="868680"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29" name="TextBox 28"/>
          <p:cNvSpPr txBox="1"/>
          <p:nvPr/>
        </p:nvSpPr>
        <p:spPr>
          <a:xfrm>
            <a:off x="7406640" y="3840480"/>
            <a:ext cx="4434840" cy="365760"/>
          </a:xfrm>
          <a:prstGeom prst="rect">
            <a:avLst/>
          </a:prstGeom>
          <a:noFill/>
        </p:spPr>
        <p:txBody>
          <a:bodyPr wrap="square" lIns="0" tIns="0" rIns="0" bIns="0">
            <a:spAutoFit/>
          </a:bodyPr>
          <a:lstStyle/>
          <a:p>
            <a:pPr algn="l"/>
            <a:r>
              <a:rPr sz="1700" b="1" i="0" u="none" dirty="0">
                <a:solidFill>
                  <a:srgbClr val="C00000"/>
                </a:solidFill>
                <a:latin typeface="Calibri"/>
              </a:rPr>
              <a:t>Demand curve  d  =  Marginal Revenue (MR)</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972B4CC0-F718-5ECA-B75E-378D901D90F2}" type="slidenum">
              <a:rPr lang="en-US" sz="1200" dirty="0">
                <a:solidFill>
                  <a:srgbClr val="555B66"/>
                </a:solidFill>
                <a:latin typeface="Calibri"/>
              </a:rPr>
              <a:t>8</a:t>
            </a:fld>
            <a:endParaRPr lang="en-US" sz="1200" dirty="0">
              <a:solidFill>
                <a:srgbClr val="555B66"/>
              </a:solidFill>
              <a:latin typeface="Calibri"/>
            </a:endParaRPr>
          </a:p>
        </p:txBody>
      </p:sp>
    </p:spTree>
    <p:extLst>
      <p:ext uri="{BB962C8B-B14F-4D97-AF65-F5344CB8AC3E}">
        <p14:creationId xmlns:p14="http://schemas.microsoft.com/office/powerpoint/2010/main" val="52696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10"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3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Maximizing Profits in the Short Run: The General Case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335024"/>
            <a:ext cx="11466576"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Profit Levels for Different Market Prices</a:t>
            </a:r>
          </a:p>
        </p:txBody>
      </p:sp>
      <p:sp>
        <p:nvSpPr>
          <p:cNvPr id="8" name="Rounded Rectangle 7"/>
          <p:cNvSpPr/>
          <p:nvPr/>
        </p:nvSpPr>
        <p:spPr>
          <a:xfrm>
            <a:off x="502920" y="2077252"/>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Positive Profit</a:t>
            </a:r>
          </a:p>
        </p:txBody>
      </p:sp>
      <p:cxnSp>
        <p:nvCxnSpPr>
          <p:cNvPr id="9" name="Connector 8"/>
          <p:cNvCxnSpPr/>
          <p:nvPr/>
        </p:nvCxnSpPr>
        <p:spPr>
          <a:xfrm flipV="1">
            <a:off x="1188720" y="3000795"/>
            <a:ext cx="0" cy="2734057"/>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88720" y="5734852"/>
            <a:ext cx="27706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8591" y="286820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2" name="TextBox 11"/>
          <p:cNvSpPr txBox="1"/>
          <p:nvPr/>
        </p:nvSpPr>
        <p:spPr>
          <a:xfrm>
            <a:off x="3846576" y="5780571"/>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13" name="Rectangle 12"/>
          <p:cNvSpPr/>
          <p:nvPr/>
        </p:nvSpPr>
        <p:spPr>
          <a:xfrm>
            <a:off x="1188720" y="3706327"/>
            <a:ext cx="1487005" cy="470114"/>
          </a:xfrm>
          <a:prstGeom prst="rect">
            <a:avLst/>
          </a:prstGeom>
          <a:solidFill>
            <a:srgbClr val="C00000">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521405" y="3219481"/>
            <a:ext cx="1607983" cy="1725598"/>
          </a:xfrm>
          <a:custGeom>
            <a:avLst/>
            <a:gdLst/>
            <a:ahLst/>
            <a:cxnLst/>
            <a:rect l="0" t="0" r="r" b="b"/>
            <a:pathLst>
              <a:path w="1607983" h="1725598">
                <a:moveTo>
                  <a:pt x="0" y="1725598"/>
                </a:moveTo>
                <a:cubicBezTo>
                  <a:pt x="66999" y="1653698"/>
                  <a:pt x="267997" y="1437998"/>
                  <a:pt x="401996" y="1294199"/>
                </a:cubicBezTo>
                <a:cubicBezTo>
                  <a:pt x="535994" y="1150399"/>
                  <a:pt x="669993" y="1006598"/>
                  <a:pt x="803992" y="862799"/>
                </a:cubicBezTo>
                <a:cubicBezTo>
                  <a:pt x="937990" y="718999"/>
                  <a:pt x="1071988" y="575199"/>
                  <a:pt x="1205987" y="431400"/>
                </a:cubicBezTo>
                <a:cubicBezTo>
                  <a:pt x="1339985" y="287600"/>
                  <a:pt x="1540983" y="71900"/>
                  <a:pt x="1607983"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21405" y="3658544"/>
            <a:ext cx="1607983" cy="623744"/>
          </a:xfrm>
          <a:custGeom>
            <a:avLst/>
            <a:gdLst/>
            <a:ahLst/>
            <a:cxnLst/>
            <a:rect l="0" t="0" r="r" b="b"/>
            <a:pathLst>
              <a:path w="1607983" h="623744">
                <a:moveTo>
                  <a:pt x="0" y="0"/>
                </a:moveTo>
                <a:cubicBezTo>
                  <a:pt x="33499" y="73986"/>
                  <a:pt x="133998" y="346266"/>
                  <a:pt x="200998" y="443921"/>
                </a:cubicBezTo>
                <a:cubicBezTo>
                  <a:pt x="267997" y="541575"/>
                  <a:pt x="334996" y="556484"/>
                  <a:pt x="401996" y="585929"/>
                </a:cubicBezTo>
                <a:cubicBezTo>
                  <a:pt x="468995" y="615374"/>
                  <a:pt x="535994" y="617437"/>
                  <a:pt x="602994" y="620591"/>
                </a:cubicBezTo>
                <a:cubicBezTo>
                  <a:pt x="669993" y="623744"/>
                  <a:pt x="736992" y="614711"/>
                  <a:pt x="803992" y="604852"/>
                </a:cubicBezTo>
                <a:cubicBezTo>
                  <a:pt x="870991" y="594992"/>
                  <a:pt x="937989" y="578711"/>
                  <a:pt x="1004989" y="561433"/>
                </a:cubicBezTo>
                <a:cubicBezTo>
                  <a:pt x="1071988" y="544154"/>
                  <a:pt x="1138987" y="523097"/>
                  <a:pt x="1205987" y="501180"/>
                </a:cubicBezTo>
                <a:cubicBezTo>
                  <a:pt x="1272986" y="479262"/>
                  <a:pt x="1339985" y="454942"/>
                  <a:pt x="1406985" y="429928"/>
                </a:cubicBezTo>
                <a:cubicBezTo>
                  <a:pt x="1473984" y="404914"/>
                  <a:pt x="1574483" y="364234"/>
                  <a:pt x="1607983" y="351096"/>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188720" y="3706327"/>
            <a:ext cx="202383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54145" y="3550879"/>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18" name="Connector 17"/>
          <p:cNvCxnSpPr/>
          <p:nvPr/>
        </p:nvCxnSpPr>
        <p:spPr>
          <a:xfrm flipV="1">
            <a:off x="2675725" y="3706327"/>
            <a:ext cx="0" cy="2028525"/>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05799" y="5789715"/>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20" name="TextBox 19"/>
          <p:cNvSpPr txBox="1"/>
          <p:nvPr/>
        </p:nvSpPr>
        <p:spPr>
          <a:xfrm>
            <a:off x="918591" y="3569167"/>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sp>
        <p:nvSpPr>
          <p:cNvPr id="21" name="TextBox 20"/>
          <p:cNvSpPr txBox="1"/>
          <p:nvPr/>
        </p:nvSpPr>
        <p:spPr>
          <a:xfrm>
            <a:off x="3073940" y="2992037"/>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sp>
        <p:nvSpPr>
          <p:cNvPr id="22" name="TextBox 21"/>
          <p:cNvSpPr txBox="1"/>
          <p:nvPr/>
        </p:nvSpPr>
        <p:spPr>
          <a:xfrm>
            <a:off x="3190380" y="3903906"/>
            <a:ext cx="416052" cy="292608"/>
          </a:xfrm>
          <a:prstGeom prst="rect">
            <a:avLst/>
          </a:prstGeom>
          <a:noFill/>
        </p:spPr>
        <p:txBody>
          <a:bodyPr wrap="square" lIns="0" tIns="0" rIns="0" bIns="0">
            <a:spAutoFit/>
          </a:bodyPr>
          <a:lstStyle/>
          <a:p>
            <a:pPr algn="l"/>
            <a:r>
              <a:rPr sz="1600" b="1" i="1" u="none">
                <a:solidFill>
                  <a:srgbClr val="E09F3E"/>
                </a:solidFill>
                <a:latin typeface="Calibri"/>
              </a:rPr>
              <a:t>ATC</a:t>
            </a:r>
          </a:p>
        </p:txBody>
      </p:sp>
      <p:sp>
        <p:nvSpPr>
          <p:cNvPr id="23" name="TextBox 22"/>
          <p:cNvSpPr txBox="1"/>
          <p:nvPr/>
        </p:nvSpPr>
        <p:spPr>
          <a:xfrm>
            <a:off x="1520742" y="3817940"/>
            <a:ext cx="822960" cy="246888"/>
          </a:xfrm>
          <a:prstGeom prst="rect">
            <a:avLst/>
          </a:prstGeom>
          <a:noFill/>
        </p:spPr>
        <p:txBody>
          <a:bodyPr wrap="square" lIns="0" tIns="0" rIns="0" bIns="0">
            <a:spAutoFit/>
          </a:bodyPr>
          <a:lstStyle/>
          <a:p>
            <a:pPr algn="ctr"/>
            <a:r>
              <a:rPr sz="1600" b="1" i="0" u="none">
                <a:solidFill>
                  <a:srgbClr val="C00000"/>
                </a:solidFill>
                <a:latin typeface="Calibri"/>
              </a:rPr>
              <a:t>π &gt; 0</a:t>
            </a:r>
          </a:p>
        </p:txBody>
      </p:sp>
      <p:grpSp>
        <p:nvGrpSpPr>
          <p:cNvPr id="164" name="Group pair 164"/>
          <p:cNvGrpSpPr/>
          <p:nvPr/>
        </p:nvGrpSpPr>
        <p:grpSpPr>
          <a:xfrm>
            <a:off x="2194560" y="4674148"/>
            <a:ext cx="1536192" cy="310896"/>
            <a:chOff x="2194560" y="4517136"/>
            <a:chExt cx="1536192" cy="310896"/>
          </a:xfrm>
        </p:grpSpPr>
        <p:sp>
          <p:nvSpPr>
            <p:cNvPr id="24" name="Rounded Rectangle 23"/>
            <p:cNvSpPr/>
            <p:nvPr/>
          </p:nvSpPr>
          <p:spPr>
            <a:xfrm>
              <a:off x="2194560" y="4517136"/>
              <a:ext cx="1536192" cy="310896"/>
            </a:xfrm>
            <a:prstGeom prst="roundRect">
              <a:avLst>
                <a:gd name="adj" fmla="val 20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31136" y="4535424"/>
              <a:ext cx="1463040" cy="274320"/>
            </a:xfrm>
            <a:prstGeom prst="rect">
              <a:avLst/>
            </a:prstGeom>
            <a:noFill/>
          </p:spPr>
          <p:txBody>
            <a:bodyPr wrap="square" lIns="45720" tIns="0" rIns="45720" bIns="0" anchor="ctr">
              <a:spAutoFit/>
            </a:bodyPr>
            <a:lstStyle/>
            <a:p>
              <a:pPr algn="ctr"/>
              <a:r>
                <a:rPr sz="1500" b="1" i="0" u="none">
                  <a:solidFill>
                    <a:srgbClr val="0B2B4E"/>
                  </a:solidFill>
                  <a:latin typeface="Calibri"/>
                </a:rPr>
                <a:t>P &gt; ATC at Q*</a:t>
              </a:r>
            </a:p>
          </p:txBody>
        </p:sp>
      </p:grpSp>
      <p:sp>
        <p:nvSpPr>
          <p:cNvPr id="26" name="Rounded Rectangle 25"/>
          <p:cNvSpPr/>
          <p:nvPr/>
        </p:nvSpPr>
        <p:spPr>
          <a:xfrm>
            <a:off x="4453128" y="2077252"/>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Zero Profit</a:t>
            </a:r>
          </a:p>
        </p:txBody>
      </p:sp>
      <p:cxnSp>
        <p:nvCxnSpPr>
          <p:cNvPr id="27" name="Connector 26"/>
          <p:cNvCxnSpPr/>
          <p:nvPr/>
        </p:nvCxnSpPr>
        <p:spPr>
          <a:xfrm flipV="1">
            <a:off x="5138928" y="3000795"/>
            <a:ext cx="0" cy="2734057"/>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38928" y="5734852"/>
            <a:ext cx="27706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868799" y="286820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30" name="TextBox 29"/>
          <p:cNvSpPr txBox="1"/>
          <p:nvPr/>
        </p:nvSpPr>
        <p:spPr>
          <a:xfrm>
            <a:off x="7796784" y="5780571"/>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31" name="Rectangle 30"/>
          <p:cNvSpPr/>
          <p:nvPr/>
        </p:nvSpPr>
        <p:spPr>
          <a:xfrm>
            <a:off x="5471613" y="3219481"/>
            <a:ext cx="1607983" cy="1725598"/>
          </a:xfrm>
          <a:custGeom>
            <a:avLst/>
            <a:gdLst/>
            <a:ahLst/>
            <a:cxnLst/>
            <a:rect l="0" t="0" r="r" b="b"/>
            <a:pathLst>
              <a:path w="1607983" h="1725598">
                <a:moveTo>
                  <a:pt x="0" y="1725598"/>
                </a:moveTo>
                <a:cubicBezTo>
                  <a:pt x="66999" y="1653698"/>
                  <a:pt x="267997" y="1437998"/>
                  <a:pt x="401996" y="1294199"/>
                </a:cubicBezTo>
                <a:cubicBezTo>
                  <a:pt x="535994" y="1150399"/>
                  <a:pt x="669993" y="1006598"/>
                  <a:pt x="803992" y="862799"/>
                </a:cubicBezTo>
                <a:cubicBezTo>
                  <a:pt x="937990" y="718999"/>
                  <a:pt x="1071988" y="575199"/>
                  <a:pt x="1205987" y="431400"/>
                </a:cubicBezTo>
                <a:cubicBezTo>
                  <a:pt x="1339985" y="287600"/>
                  <a:pt x="1540983" y="71900"/>
                  <a:pt x="1607983"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471613" y="3658544"/>
            <a:ext cx="1607983" cy="623744"/>
          </a:xfrm>
          <a:custGeom>
            <a:avLst/>
            <a:gdLst/>
            <a:ahLst/>
            <a:cxnLst/>
            <a:rect l="0" t="0" r="r" b="b"/>
            <a:pathLst>
              <a:path w="1607983" h="623744">
                <a:moveTo>
                  <a:pt x="0" y="0"/>
                </a:moveTo>
                <a:cubicBezTo>
                  <a:pt x="33499" y="73986"/>
                  <a:pt x="133998" y="346266"/>
                  <a:pt x="200998" y="443921"/>
                </a:cubicBezTo>
                <a:cubicBezTo>
                  <a:pt x="267997" y="541575"/>
                  <a:pt x="334996" y="556484"/>
                  <a:pt x="401996" y="585929"/>
                </a:cubicBezTo>
                <a:cubicBezTo>
                  <a:pt x="468995" y="615374"/>
                  <a:pt x="535994" y="617437"/>
                  <a:pt x="602994" y="620591"/>
                </a:cubicBezTo>
                <a:cubicBezTo>
                  <a:pt x="669993" y="623744"/>
                  <a:pt x="736992" y="614711"/>
                  <a:pt x="803992" y="604852"/>
                </a:cubicBezTo>
                <a:cubicBezTo>
                  <a:pt x="870991" y="594992"/>
                  <a:pt x="937989" y="578711"/>
                  <a:pt x="1004989" y="561433"/>
                </a:cubicBezTo>
                <a:cubicBezTo>
                  <a:pt x="1071988" y="544154"/>
                  <a:pt x="1138987" y="523097"/>
                  <a:pt x="1205987" y="501180"/>
                </a:cubicBezTo>
                <a:cubicBezTo>
                  <a:pt x="1272986" y="479262"/>
                  <a:pt x="1339985" y="454942"/>
                  <a:pt x="1406985" y="429928"/>
                </a:cubicBezTo>
                <a:cubicBezTo>
                  <a:pt x="1473984" y="404914"/>
                  <a:pt x="1574483" y="364234"/>
                  <a:pt x="1607983" y="351096"/>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5138928" y="4279309"/>
            <a:ext cx="202383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04353" y="4123861"/>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35" name="Connector 34"/>
          <p:cNvCxnSpPr/>
          <p:nvPr/>
        </p:nvCxnSpPr>
        <p:spPr>
          <a:xfrm flipV="1">
            <a:off x="6092006" y="4279309"/>
            <a:ext cx="0" cy="1455543"/>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22080" y="5789715"/>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37" name="TextBox 36"/>
          <p:cNvSpPr txBox="1"/>
          <p:nvPr/>
        </p:nvSpPr>
        <p:spPr>
          <a:xfrm>
            <a:off x="4868799" y="4142149"/>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sp>
        <p:nvSpPr>
          <p:cNvPr id="38" name="TextBox 37"/>
          <p:cNvSpPr txBox="1"/>
          <p:nvPr/>
        </p:nvSpPr>
        <p:spPr>
          <a:xfrm>
            <a:off x="7024148" y="2992037"/>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sp>
        <p:nvSpPr>
          <p:cNvPr id="39" name="TextBox 38"/>
          <p:cNvSpPr txBox="1"/>
          <p:nvPr/>
        </p:nvSpPr>
        <p:spPr>
          <a:xfrm>
            <a:off x="7140588" y="3903906"/>
            <a:ext cx="416052" cy="292608"/>
          </a:xfrm>
          <a:prstGeom prst="rect">
            <a:avLst/>
          </a:prstGeom>
          <a:noFill/>
        </p:spPr>
        <p:txBody>
          <a:bodyPr wrap="square" lIns="0" tIns="0" rIns="0" bIns="0">
            <a:spAutoFit/>
          </a:bodyPr>
          <a:lstStyle/>
          <a:p>
            <a:pPr algn="l"/>
            <a:r>
              <a:rPr sz="1600" b="1" i="1" u="none">
                <a:solidFill>
                  <a:srgbClr val="E09F3E"/>
                </a:solidFill>
                <a:latin typeface="Calibri"/>
              </a:rPr>
              <a:t>ATC</a:t>
            </a:r>
          </a:p>
        </p:txBody>
      </p:sp>
      <p:grpSp>
        <p:nvGrpSpPr>
          <p:cNvPr id="165" name="Group pair 165"/>
          <p:cNvGrpSpPr/>
          <p:nvPr/>
        </p:nvGrpSpPr>
        <p:grpSpPr>
          <a:xfrm>
            <a:off x="6144768" y="4674148"/>
            <a:ext cx="1536192" cy="310896"/>
            <a:chOff x="6144768" y="4517136"/>
            <a:chExt cx="1536192" cy="310896"/>
          </a:xfrm>
        </p:grpSpPr>
        <p:sp>
          <p:nvSpPr>
            <p:cNvPr id="40" name="Rounded Rectangle 39"/>
            <p:cNvSpPr/>
            <p:nvPr/>
          </p:nvSpPr>
          <p:spPr>
            <a:xfrm>
              <a:off x="6144768" y="4517136"/>
              <a:ext cx="1536192" cy="310896"/>
            </a:xfrm>
            <a:prstGeom prst="roundRect">
              <a:avLst>
                <a:gd name="adj" fmla="val 20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81344" y="4535424"/>
              <a:ext cx="1463040" cy="274320"/>
            </a:xfrm>
            <a:prstGeom prst="rect">
              <a:avLst/>
            </a:prstGeom>
            <a:noFill/>
          </p:spPr>
          <p:txBody>
            <a:bodyPr wrap="square" lIns="45720" tIns="0" rIns="45720" bIns="0" anchor="ctr">
              <a:spAutoFit/>
            </a:bodyPr>
            <a:lstStyle/>
            <a:p>
              <a:pPr algn="ctr"/>
              <a:r>
                <a:rPr sz="1500" b="1" i="0" u="none">
                  <a:solidFill>
                    <a:srgbClr val="0B2B4E"/>
                  </a:solidFill>
                  <a:latin typeface="Calibri"/>
                </a:rPr>
                <a:t>P = ATC at Q*</a:t>
              </a:r>
            </a:p>
          </p:txBody>
        </p:sp>
      </p:grpSp>
      <p:sp>
        <p:nvSpPr>
          <p:cNvPr id="42" name="Rounded Rectangle 41"/>
          <p:cNvSpPr/>
          <p:nvPr/>
        </p:nvSpPr>
        <p:spPr>
          <a:xfrm>
            <a:off x="8403336" y="2077252"/>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Negative Profit (Loss)</a:t>
            </a:r>
          </a:p>
        </p:txBody>
      </p:sp>
      <p:cxnSp>
        <p:nvCxnSpPr>
          <p:cNvPr id="43" name="Connector 42"/>
          <p:cNvCxnSpPr/>
          <p:nvPr/>
        </p:nvCxnSpPr>
        <p:spPr>
          <a:xfrm flipV="1">
            <a:off x="9089136" y="3000795"/>
            <a:ext cx="0" cy="2734057"/>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089136" y="5734852"/>
            <a:ext cx="27706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819007" y="2868207"/>
            <a:ext cx="196976" cy="26517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46" name="TextBox 45"/>
          <p:cNvSpPr txBox="1"/>
          <p:nvPr/>
        </p:nvSpPr>
        <p:spPr>
          <a:xfrm>
            <a:off x="11746992" y="5780571"/>
            <a:ext cx="225551" cy="265176"/>
          </a:xfrm>
          <a:prstGeom prst="rect">
            <a:avLst/>
          </a:prstGeom>
          <a:noFill/>
        </p:spPr>
        <p:txBody>
          <a:bodyPr wrap="square" lIns="0" tIns="0" rIns="0" bIns="0">
            <a:spAutoFit/>
          </a:bodyPr>
          <a:lstStyle/>
          <a:p>
            <a:pPr algn="l"/>
            <a:r>
              <a:rPr sz="1700" b="1" i="1" u="none">
                <a:solidFill>
                  <a:srgbClr val="0B2B4E"/>
                </a:solidFill>
                <a:latin typeface="Calibri"/>
              </a:rPr>
              <a:t>Q</a:t>
            </a:r>
          </a:p>
        </p:txBody>
      </p:sp>
      <p:sp>
        <p:nvSpPr>
          <p:cNvPr id="47" name="Rectangle 46"/>
          <p:cNvSpPr/>
          <p:nvPr/>
        </p:nvSpPr>
        <p:spPr>
          <a:xfrm>
            <a:off x="9089136" y="4232778"/>
            <a:ext cx="705697" cy="312006"/>
          </a:xfrm>
          <a:prstGeom prst="rect">
            <a:avLst/>
          </a:prstGeom>
          <a:solidFill>
            <a:srgbClr val="555B66">
              <a:alpha val="22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421821" y="3219481"/>
            <a:ext cx="1607983" cy="1725598"/>
          </a:xfrm>
          <a:custGeom>
            <a:avLst/>
            <a:gdLst/>
            <a:ahLst/>
            <a:cxnLst/>
            <a:rect l="0" t="0" r="r" b="b"/>
            <a:pathLst>
              <a:path w="1607983" h="1725598">
                <a:moveTo>
                  <a:pt x="0" y="1725598"/>
                </a:moveTo>
                <a:cubicBezTo>
                  <a:pt x="66999" y="1653698"/>
                  <a:pt x="267997" y="1437998"/>
                  <a:pt x="401996" y="1294199"/>
                </a:cubicBezTo>
                <a:cubicBezTo>
                  <a:pt x="535994" y="1150399"/>
                  <a:pt x="669993" y="1006598"/>
                  <a:pt x="803992" y="862799"/>
                </a:cubicBezTo>
                <a:cubicBezTo>
                  <a:pt x="937990" y="718999"/>
                  <a:pt x="1071988" y="575199"/>
                  <a:pt x="1205987" y="431400"/>
                </a:cubicBezTo>
                <a:cubicBezTo>
                  <a:pt x="1339985" y="287600"/>
                  <a:pt x="1540983" y="71900"/>
                  <a:pt x="1607983"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421821" y="3658544"/>
            <a:ext cx="1607983" cy="623744"/>
          </a:xfrm>
          <a:custGeom>
            <a:avLst/>
            <a:gdLst/>
            <a:ahLst/>
            <a:cxnLst/>
            <a:rect l="0" t="0" r="r" b="b"/>
            <a:pathLst>
              <a:path w="1607983" h="623744">
                <a:moveTo>
                  <a:pt x="0" y="0"/>
                </a:moveTo>
                <a:cubicBezTo>
                  <a:pt x="33499" y="73986"/>
                  <a:pt x="133998" y="346266"/>
                  <a:pt x="200998" y="443921"/>
                </a:cubicBezTo>
                <a:cubicBezTo>
                  <a:pt x="267997" y="541575"/>
                  <a:pt x="334996" y="556484"/>
                  <a:pt x="401996" y="585929"/>
                </a:cubicBezTo>
                <a:cubicBezTo>
                  <a:pt x="468995" y="615374"/>
                  <a:pt x="535994" y="617437"/>
                  <a:pt x="602994" y="620591"/>
                </a:cubicBezTo>
                <a:cubicBezTo>
                  <a:pt x="669993" y="623744"/>
                  <a:pt x="736992" y="614711"/>
                  <a:pt x="803992" y="604852"/>
                </a:cubicBezTo>
                <a:cubicBezTo>
                  <a:pt x="870991" y="594992"/>
                  <a:pt x="937989" y="578711"/>
                  <a:pt x="1004989" y="561433"/>
                </a:cubicBezTo>
                <a:cubicBezTo>
                  <a:pt x="1071988" y="544154"/>
                  <a:pt x="1138987" y="523097"/>
                  <a:pt x="1205987" y="501180"/>
                </a:cubicBezTo>
                <a:cubicBezTo>
                  <a:pt x="1272986" y="479262"/>
                  <a:pt x="1339985" y="454942"/>
                  <a:pt x="1406985" y="429928"/>
                </a:cubicBezTo>
                <a:cubicBezTo>
                  <a:pt x="1473984" y="404914"/>
                  <a:pt x="1574483" y="364234"/>
                  <a:pt x="1607983" y="351096"/>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a:off x="9089136" y="4544784"/>
            <a:ext cx="2023839" cy="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1154561" y="4389336"/>
            <a:ext cx="822960" cy="310896"/>
          </a:xfrm>
          <a:prstGeom prst="rect">
            <a:avLst/>
          </a:prstGeom>
          <a:noFill/>
        </p:spPr>
        <p:txBody>
          <a:bodyPr wrap="square" lIns="0" tIns="0" rIns="0" bIns="0">
            <a:spAutoFit/>
          </a:bodyPr>
          <a:lstStyle/>
          <a:p>
            <a:pPr algn="l"/>
            <a:r>
              <a:rPr sz="1500" b="1" i="1" u="none">
                <a:solidFill>
                  <a:srgbClr val="C00000"/>
                </a:solidFill>
                <a:latin typeface="Calibri"/>
              </a:rPr>
              <a:t>d = MR</a:t>
            </a:r>
          </a:p>
        </p:txBody>
      </p:sp>
      <p:cxnSp>
        <p:nvCxnSpPr>
          <p:cNvPr id="52" name="Connector 51"/>
          <p:cNvCxnSpPr/>
          <p:nvPr/>
        </p:nvCxnSpPr>
        <p:spPr>
          <a:xfrm flipV="1">
            <a:off x="9794833" y="4544784"/>
            <a:ext cx="0" cy="119006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624907" y="5789715"/>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sp>
        <p:nvSpPr>
          <p:cNvPr id="54" name="TextBox 53"/>
          <p:cNvSpPr txBox="1"/>
          <p:nvPr/>
        </p:nvSpPr>
        <p:spPr>
          <a:xfrm>
            <a:off x="8819007" y="4407624"/>
            <a:ext cx="196976" cy="274320"/>
          </a:xfrm>
          <a:prstGeom prst="rect">
            <a:avLst/>
          </a:prstGeom>
          <a:noFill/>
        </p:spPr>
        <p:txBody>
          <a:bodyPr wrap="square" lIns="0" tIns="0" rIns="0" bIns="0">
            <a:spAutoFit/>
          </a:bodyPr>
          <a:lstStyle/>
          <a:p>
            <a:pPr algn="r"/>
            <a:r>
              <a:rPr sz="1700" b="1" i="1" u="none">
                <a:solidFill>
                  <a:srgbClr val="C00000"/>
                </a:solidFill>
                <a:latin typeface="Calibri"/>
              </a:rPr>
              <a:t>P</a:t>
            </a:r>
          </a:p>
        </p:txBody>
      </p:sp>
      <p:sp>
        <p:nvSpPr>
          <p:cNvPr id="55" name="TextBox 54"/>
          <p:cNvSpPr txBox="1"/>
          <p:nvPr/>
        </p:nvSpPr>
        <p:spPr>
          <a:xfrm>
            <a:off x="10974356" y="2992037"/>
            <a:ext cx="358902" cy="292608"/>
          </a:xfrm>
          <a:prstGeom prst="rect">
            <a:avLst/>
          </a:prstGeom>
          <a:noFill/>
        </p:spPr>
        <p:txBody>
          <a:bodyPr wrap="square" lIns="0" tIns="0" rIns="0" bIns="0">
            <a:spAutoFit/>
          </a:bodyPr>
          <a:lstStyle/>
          <a:p>
            <a:pPr algn="l"/>
            <a:r>
              <a:rPr sz="1600" b="1" i="1" u="none">
                <a:solidFill>
                  <a:srgbClr val="0B2B4E"/>
                </a:solidFill>
                <a:latin typeface="Calibri"/>
              </a:rPr>
              <a:t>MC</a:t>
            </a:r>
          </a:p>
        </p:txBody>
      </p:sp>
      <p:sp>
        <p:nvSpPr>
          <p:cNvPr id="56" name="TextBox 55"/>
          <p:cNvSpPr txBox="1"/>
          <p:nvPr/>
        </p:nvSpPr>
        <p:spPr>
          <a:xfrm>
            <a:off x="11090796" y="3903906"/>
            <a:ext cx="416052" cy="292608"/>
          </a:xfrm>
          <a:prstGeom prst="rect">
            <a:avLst/>
          </a:prstGeom>
          <a:noFill/>
        </p:spPr>
        <p:txBody>
          <a:bodyPr wrap="square" lIns="0" tIns="0" rIns="0" bIns="0">
            <a:spAutoFit/>
          </a:bodyPr>
          <a:lstStyle/>
          <a:p>
            <a:pPr algn="l"/>
            <a:r>
              <a:rPr sz="1600" b="1" i="1" u="none">
                <a:solidFill>
                  <a:srgbClr val="E09F3E"/>
                </a:solidFill>
                <a:latin typeface="Calibri"/>
              </a:rPr>
              <a:t>ATC</a:t>
            </a:r>
          </a:p>
        </p:txBody>
      </p:sp>
      <p:sp>
        <p:nvSpPr>
          <p:cNvPr id="57" name="TextBox 56"/>
          <p:cNvSpPr txBox="1"/>
          <p:nvPr/>
        </p:nvSpPr>
        <p:spPr>
          <a:xfrm>
            <a:off x="9030504" y="4265337"/>
            <a:ext cx="822960" cy="246888"/>
          </a:xfrm>
          <a:prstGeom prst="rect">
            <a:avLst/>
          </a:prstGeom>
          <a:noFill/>
        </p:spPr>
        <p:txBody>
          <a:bodyPr wrap="square" lIns="0" tIns="0" rIns="0" bIns="0">
            <a:spAutoFit/>
          </a:bodyPr>
          <a:lstStyle/>
          <a:p>
            <a:pPr algn="ctr"/>
            <a:r>
              <a:rPr sz="1600" b="1" i="0" u="none">
                <a:solidFill>
                  <a:srgbClr val="0B2B4E"/>
                </a:solidFill>
                <a:latin typeface="Calibri"/>
              </a:rPr>
              <a:t>π &lt; 0</a:t>
            </a:r>
          </a:p>
        </p:txBody>
      </p:sp>
      <p:grpSp>
        <p:nvGrpSpPr>
          <p:cNvPr id="166" name="Group pair 166"/>
          <p:cNvGrpSpPr/>
          <p:nvPr/>
        </p:nvGrpSpPr>
        <p:grpSpPr>
          <a:xfrm>
            <a:off x="10094976" y="4674148"/>
            <a:ext cx="1536192" cy="310896"/>
            <a:chOff x="10094976" y="4517136"/>
            <a:chExt cx="1536192" cy="310896"/>
          </a:xfrm>
        </p:grpSpPr>
        <p:sp>
          <p:nvSpPr>
            <p:cNvPr id="58" name="Rounded Rectangle 57"/>
            <p:cNvSpPr/>
            <p:nvPr/>
          </p:nvSpPr>
          <p:spPr>
            <a:xfrm>
              <a:off x="10094976" y="4517136"/>
              <a:ext cx="1536192" cy="310896"/>
            </a:xfrm>
            <a:prstGeom prst="roundRect">
              <a:avLst>
                <a:gd name="adj" fmla="val 20000"/>
              </a:avLst>
            </a:prstGeom>
            <a:solidFill>
              <a:srgbClr val="FDF6E6"/>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131552" y="4535424"/>
              <a:ext cx="1463040" cy="274320"/>
            </a:xfrm>
            <a:prstGeom prst="rect">
              <a:avLst/>
            </a:prstGeom>
            <a:noFill/>
          </p:spPr>
          <p:txBody>
            <a:bodyPr wrap="square" lIns="45720" tIns="0" rIns="45720" bIns="0" anchor="ctr">
              <a:spAutoFit/>
            </a:bodyPr>
            <a:lstStyle/>
            <a:p>
              <a:pPr algn="ctr"/>
              <a:r>
                <a:rPr sz="1500" b="1" i="0" u="none">
                  <a:solidFill>
                    <a:srgbClr val="0B2B4E"/>
                  </a:solidFill>
                  <a:latin typeface="Calibri"/>
                </a:rPr>
                <a:t>P &lt; ATC at Q*</a:t>
              </a:r>
            </a:p>
          </p:txBody>
        </p:sp>
      </p:grpSp>
      <p:sp>
        <p:nvSpPr>
          <p:cNvPr id="60" name="Rectangle 5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63" name="TextBox 62"/>
          <p:cNvSpPr txBox="1"/>
          <p:nvPr/>
        </p:nvSpPr>
        <p:spPr>
          <a:xfrm>
            <a:off x="11475720" y="6583680"/>
            <a:ext cx="502920" cy="292608"/>
          </a:xfrm>
          <a:prstGeom prst="rect">
            <a:avLst/>
          </a:prstGeom>
          <a:noFill/>
        </p:spPr>
        <p:txBody>
          <a:bodyPr wrap="none" lIns="0" tIns="0" rIns="0" bIns="0">
            <a:spAutoFit/>
          </a:bodyPr>
          <a:lstStyle/>
          <a:p>
            <a:pPr algn="r"/>
            <a:fld id="{7373E417-ECEB-5E52-B810-17214CB68111}" type="slidenum">
              <a:rPr lang="en-US" sz="1200" dirty="0">
                <a:solidFill>
                  <a:srgbClr val="555B66"/>
                </a:solidFill>
                <a:latin typeface="Calibri"/>
              </a:rPr>
              <a:t>9</a:t>
            </a:fld>
            <a:endParaRPr lang="en-US" sz="1200" dirty="0">
              <a:solidFill>
                <a:srgbClr val="555B66"/>
              </a:solidFill>
              <a:latin typeface="Calibri"/>
            </a:endParaRPr>
          </a:p>
        </p:txBody>
      </p:sp>
    </p:spTree>
    <p:extLst>
      <p:ext uri="{BB962C8B-B14F-4D97-AF65-F5344CB8AC3E}">
        <p14:creationId xmlns:p14="http://schemas.microsoft.com/office/powerpoint/2010/main" val="122228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2" grpId="0"/>
      <p:bldP spid="13" grpId="0" animBg="1"/>
      <p:bldP spid="14" grpId="0" animBg="1"/>
      <p:bldP spid="15" grpId="0" animBg="1"/>
      <p:bldP spid="17" grpId="0"/>
      <p:bldP spid="19" grpId="0"/>
      <p:bldP spid="20" grpId="0"/>
      <p:bldP spid="21" grpId="0"/>
      <p:bldP spid="22" grpId="0"/>
      <p:bldP spid="23" grpId="0"/>
      <p:bldP spid="26" grpId="0" animBg="1"/>
      <p:bldP spid="29" grpId="0"/>
      <p:bldP spid="30" grpId="0"/>
      <p:bldP spid="31" grpId="0" animBg="1"/>
      <p:bldP spid="32" grpId="0" animBg="1"/>
      <p:bldP spid="34" grpId="0"/>
      <p:bldP spid="36" grpId="0"/>
      <p:bldP spid="37" grpId="0"/>
      <p:bldP spid="38" grpId="0"/>
      <p:bldP spid="39" grpId="0"/>
      <p:bldP spid="42" grpId="0" animBg="1"/>
      <p:bldP spid="45" grpId="0"/>
      <p:bldP spid="46" grpId="0"/>
      <p:bldP spid="47" grpId="0" animBg="1"/>
      <p:bldP spid="48" grpId="0" animBg="1"/>
      <p:bldP spid="49" grpId="0" animBg="1"/>
      <p:bldP spid="51" grpId="0"/>
      <p:bldP spid="53" grpId="0"/>
      <p:bldP spid="54" grpId="0"/>
      <p:bldP spid="55" grpId="0"/>
      <p:bldP spid="56" grpId="0"/>
      <p:bldP spid="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5 · Long-Run Competitive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Long-Run Competitive Equilibrium With Many Identical Producers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a:cxnSpLocks/>
          </p:cNvCxnSpPr>
          <p:nvPr/>
        </p:nvCxnSpPr>
        <p:spPr>
          <a:xfrm flipV="1">
            <a:off x="2331720" y="2276856"/>
            <a:ext cx="15088" cy="3300984"/>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31720" y="5577840"/>
            <a:ext cx="66568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155316" y="2107692"/>
            <a:ext cx="206502" cy="265176"/>
          </a:xfrm>
          <a:prstGeom prst="rect">
            <a:avLst/>
          </a:prstGeom>
          <a:noFill/>
        </p:spPr>
        <p:txBody>
          <a:bodyPr wrap="square" lIns="0" tIns="0" rIns="0" bIns="0">
            <a:spAutoFit/>
          </a:bodyPr>
          <a:lstStyle/>
          <a:p>
            <a:pPr algn="l"/>
            <a:r>
              <a:rPr sz="1800" b="1" i="1" u="none" dirty="0">
                <a:solidFill>
                  <a:srgbClr val="0B2B4E"/>
                </a:solidFill>
                <a:latin typeface="Calibri"/>
              </a:rPr>
              <a:t>P</a:t>
            </a:r>
          </a:p>
        </p:txBody>
      </p:sp>
      <p:sp>
        <p:nvSpPr>
          <p:cNvPr id="10" name="TextBox 9"/>
          <p:cNvSpPr txBox="1"/>
          <p:nvPr/>
        </p:nvSpPr>
        <p:spPr>
          <a:xfrm>
            <a:off x="8875775" y="5623559"/>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1" name="Rectangle 10"/>
          <p:cNvSpPr/>
          <p:nvPr/>
        </p:nvSpPr>
        <p:spPr>
          <a:xfrm>
            <a:off x="3346132" y="3019575"/>
            <a:ext cx="4915654" cy="1347291"/>
          </a:xfrm>
          <a:custGeom>
            <a:avLst/>
            <a:gdLst/>
            <a:ahLst/>
            <a:cxnLst/>
            <a:rect l="0" t="0" r="r" b="b"/>
            <a:pathLst>
              <a:path w="4936808" h="1508910">
                <a:moveTo>
                  <a:pt x="0" y="225285"/>
                </a:moveTo>
                <a:cubicBezTo>
                  <a:pt x="164560" y="363960"/>
                  <a:pt x="658240" y="853080"/>
                  <a:pt x="987361" y="1057339"/>
                </a:cubicBezTo>
                <a:cubicBezTo>
                  <a:pt x="1316481" y="1261597"/>
                  <a:pt x="1645602" y="1392763"/>
                  <a:pt x="1974723" y="1450837"/>
                </a:cubicBezTo>
                <a:cubicBezTo>
                  <a:pt x="2303843" y="1508910"/>
                  <a:pt x="2632964" y="1493891"/>
                  <a:pt x="2962085" y="1405780"/>
                </a:cubicBezTo>
                <a:cubicBezTo>
                  <a:pt x="3291205" y="1317668"/>
                  <a:pt x="3620325" y="1156464"/>
                  <a:pt x="3949446" y="922168"/>
                </a:cubicBezTo>
                <a:cubicBezTo>
                  <a:pt x="4278566" y="687871"/>
                  <a:pt x="4772247" y="153694"/>
                  <a:pt x="4936808" y="0"/>
                </a:cubicBezTo>
              </a:path>
            </a:pathLst>
          </a:custGeom>
          <a:noFill/>
          <a:ln w="4127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83979" y="2761488"/>
            <a:ext cx="454152" cy="292608"/>
          </a:xfrm>
          <a:prstGeom prst="rect">
            <a:avLst/>
          </a:prstGeom>
          <a:noFill/>
        </p:spPr>
        <p:txBody>
          <a:bodyPr wrap="square" lIns="0" tIns="0" rIns="0" bIns="0">
            <a:spAutoFit/>
          </a:bodyPr>
          <a:lstStyle/>
          <a:p>
            <a:pPr algn="l"/>
            <a:r>
              <a:rPr sz="1900" b="1" i="1" u="none" dirty="0">
                <a:solidFill>
                  <a:srgbClr val="E09F3E"/>
                </a:solidFill>
                <a:latin typeface="Calibri"/>
              </a:rPr>
              <a:t>LAC</a:t>
            </a:r>
          </a:p>
        </p:txBody>
      </p:sp>
      <p:cxnSp>
        <p:nvCxnSpPr>
          <p:cNvPr id="13" name="Connector 12"/>
          <p:cNvCxnSpPr/>
          <p:nvPr/>
        </p:nvCxnSpPr>
        <p:spPr>
          <a:xfrm flipV="1">
            <a:off x="4245578" y="2781833"/>
            <a:ext cx="3699224" cy="2588415"/>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77174" y="2388641"/>
            <a:ext cx="520827" cy="292608"/>
          </a:xfrm>
          <a:prstGeom prst="rect">
            <a:avLst/>
          </a:prstGeom>
          <a:noFill/>
        </p:spPr>
        <p:txBody>
          <a:bodyPr wrap="square" lIns="0" tIns="0" rIns="0" bIns="0">
            <a:spAutoFit/>
          </a:bodyPr>
          <a:lstStyle/>
          <a:p>
            <a:pPr algn="l"/>
            <a:r>
              <a:rPr sz="1900" b="1" i="1" u="none">
                <a:solidFill>
                  <a:srgbClr val="0B2B4E"/>
                </a:solidFill>
                <a:latin typeface="Calibri"/>
              </a:rPr>
              <a:t>LMC</a:t>
            </a:r>
          </a:p>
        </p:txBody>
      </p:sp>
      <p:cxnSp>
        <p:nvCxnSpPr>
          <p:cNvPr id="15" name="Connector 14"/>
          <p:cNvCxnSpPr/>
          <p:nvPr/>
        </p:nvCxnSpPr>
        <p:spPr>
          <a:xfrm>
            <a:off x="2331720" y="3108960"/>
            <a:ext cx="6221730" cy="0"/>
          </a:xfrm>
          <a:prstGeom prst="line">
            <a:avLst/>
          </a:prstGeom>
          <a:ln w="317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0" y="2953512"/>
            <a:ext cx="1828800" cy="310896"/>
          </a:xfrm>
          <a:prstGeom prst="rect">
            <a:avLst/>
          </a:prstGeom>
          <a:noFill/>
        </p:spPr>
        <p:txBody>
          <a:bodyPr wrap="square" lIns="0" tIns="0" rIns="0" bIns="0">
            <a:spAutoFit/>
          </a:bodyPr>
          <a:lstStyle/>
          <a:p>
            <a:pPr algn="l"/>
            <a:r>
              <a:rPr sz="1700" b="1" i="1" u="none">
                <a:solidFill>
                  <a:srgbClr val="C00000"/>
                </a:solidFill>
                <a:latin typeface="Calibri"/>
              </a:rPr>
              <a:t>MR = P</a:t>
            </a:r>
            <a:r>
              <a:rPr sz="1700" b="1" i="1" u="none" baseline="-25000">
                <a:solidFill>
                  <a:srgbClr val="C00000"/>
                </a:solidFill>
                <a:latin typeface="Calibri"/>
              </a:rPr>
              <a:t>1</a:t>
            </a:r>
          </a:p>
        </p:txBody>
      </p:sp>
      <p:sp>
        <p:nvSpPr>
          <p:cNvPr id="17" name="TextBox 16"/>
          <p:cNvSpPr txBox="1"/>
          <p:nvPr/>
        </p:nvSpPr>
        <p:spPr>
          <a:xfrm>
            <a:off x="1956815" y="2971800"/>
            <a:ext cx="301752" cy="274320"/>
          </a:xfrm>
          <a:prstGeom prst="rect">
            <a:avLst/>
          </a:prstGeom>
          <a:noFill/>
        </p:spPr>
        <p:txBody>
          <a:bodyPr wrap="square" lIns="0" tIns="0" rIns="0" bIns="0">
            <a:spAutoFit/>
          </a:bodyPr>
          <a:lstStyle/>
          <a:p>
            <a:pPr algn="r"/>
            <a:r>
              <a:rPr sz="1700" b="1" i="1" u="none">
                <a:solidFill>
                  <a:srgbClr val="0B2B4E"/>
                </a:solidFill>
                <a:latin typeface="Calibri"/>
              </a:rPr>
              <a:t>P</a:t>
            </a:r>
            <a:r>
              <a:rPr sz="1700" b="1" i="1" u="none" baseline="-25000">
                <a:solidFill>
                  <a:srgbClr val="0B2B4E"/>
                </a:solidFill>
                <a:latin typeface="Calibri"/>
              </a:rPr>
              <a:t>1</a:t>
            </a:r>
          </a:p>
        </p:txBody>
      </p:sp>
      <p:cxnSp>
        <p:nvCxnSpPr>
          <p:cNvPr id="18" name="Connector 17"/>
          <p:cNvCxnSpPr/>
          <p:nvPr/>
        </p:nvCxnSpPr>
        <p:spPr>
          <a:xfrm flipV="1">
            <a:off x="7477290" y="3108960"/>
            <a:ext cx="0" cy="246888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07364" y="5632703"/>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r>
              <a:rPr sz="1700" b="1" i="1" u="none" baseline="-25000">
                <a:solidFill>
                  <a:srgbClr val="0B2B4E"/>
                </a:solidFill>
                <a:latin typeface="Calibri"/>
              </a:rPr>
              <a:t>1</a:t>
            </a:r>
          </a:p>
        </p:txBody>
      </p:sp>
      <p:sp>
        <p:nvSpPr>
          <p:cNvPr id="20" name="Oval 19"/>
          <p:cNvSpPr/>
          <p:nvPr/>
        </p:nvSpPr>
        <p:spPr>
          <a:xfrm>
            <a:off x="7417854" y="304952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2331720" y="4343400"/>
            <a:ext cx="6221730" cy="0"/>
          </a:xfrm>
          <a:prstGeom prst="line">
            <a:avLst/>
          </a:prstGeom>
          <a:ln w="31750">
            <a:solidFill>
              <a:srgbClr val="A216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961120" y="4187952"/>
            <a:ext cx="1828800" cy="310896"/>
          </a:xfrm>
          <a:prstGeom prst="rect">
            <a:avLst/>
          </a:prstGeom>
          <a:noFill/>
        </p:spPr>
        <p:txBody>
          <a:bodyPr wrap="square" lIns="0" tIns="0" rIns="0" bIns="0">
            <a:spAutoFit/>
          </a:bodyPr>
          <a:lstStyle/>
          <a:p>
            <a:pPr algn="l"/>
            <a:r>
              <a:rPr sz="1700" b="1" i="1" u="none">
                <a:solidFill>
                  <a:srgbClr val="A2162A"/>
                </a:solidFill>
                <a:latin typeface="Calibri"/>
              </a:rPr>
              <a:t>MR = P</a:t>
            </a:r>
            <a:r>
              <a:rPr sz="1700" b="1" i="1" u="none" baseline="-25000">
                <a:solidFill>
                  <a:srgbClr val="A2162A"/>
                </a:solidFill>
                <a:latin typeface="Calibri"/>
              </a:rPr>
              <a:t>LR</a:t>
            </a:r>
          </a:p>
        </p:txBody>
      </p:sp>
      <p:sp>
        <p:nvSpPr>
          <p:cNvPr id="23" name="TextBox 22"/>
          <p:cNvSpPr txBox="1"/>
          <p:nvPr/>
        </p:nvSpPr>
        <p:spPr>
          <a:xfrm>
            <a:off x="1852041" y="4206240"/>
            <a:ext cx="406527" cy="274320"/>
          </a:xfrm>
          <a:prstGeom prst="rect">
            <a:avLst/>
          </a:prstGeom>
          <a:noFill/>
        </p:spPr>
        <p:txBody>
          <a:bodyPr wrap="square" lIns="0" tIns="0" rIns="0" bIns="0">
            <a:spAutoFit/>
          </a:bodyPr>
          <a:lstStyle/>
          <a:p>
            <a:pPr algn="r"/>
            <a:r>
              <a:rPr sz="1700" b="1" i="1" u="none">
                <a:solidFill>
                  <a:srgbClr val="0B2B4E"/>
                </a:solidFill>
                <a:latin typeface="Calibri"/>
              </a:rPr>
              <a:t>P</a:t>
            </a:r>
            <a:r>
              <a:rPr sz="1700" b="1" i="1" u="none" baseline="-25000">
                <a:solidFill>
                  <a:srgbClr val="0B2B4E"/>
                </a:solidFill>
                <a:latin typeface="Calibri"/>
              </a:rPr>
              <a:t>LR</a:t>
            </a:r>
          </a:p>
        </p:txBody>
      </p:sp>
      <p:cxnSp>
        <p:nvCxnSpPr>
          <p:cNvPr id="24" name="Connector 23"/>
          <p:cNvCxnSpPr/>
          <p:nvPr/>
        </p:nvCxnSpPr>
        <p:spPr>
          <a:xfrm flipV="1">
            <a:off x="5713095" y="4343400"/>
            <a:ext cx="0" cy="123444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90782" y="5632703"/>
            <a:ext cx="444627" cy="274320"/>
          </a:xfrm>
          <a:prstGeom prst="rect">
            <a:avLst/>
          </a:prstGeom>
          <a:noFill/>
        </p:spPr>
        <p:txBody>
          <a:bodyPr wrap="square" lIns="0" tIns="0" rIns="0" bIns="0">
            <a:spAutoFit/>
          </a:bodyPr>
          <a:lstStyle/>
          <a:p>
            <a:pPr algn="ctr"/>
            <a:r>
              <a:rPr sz="1700" b="1" i="1" u="none">
                <a:solidFill>
                  <a:srgbClr val="0B2B4E"/>
                </a:solidFill>
                <a:latin typeface="Calibri"/>
              </a:rPr>
              <a:t>Q</a:t>
            </a:r>
            <a:r>
              <a:rPr sz="1700" b="1" i="1" u="none" baseline="-25000">
                <a:solidFill>
                  <a:srgbClr val="0B2B4E"/>
                </a:solidFill>
                <a:latin typeface="Calibri"/>
              </a:rPr>
              <a:t>LR</a:t>
            </a:r>
          </a:p>
        </p:txBody>
      </p:sp>
      <p:sp>
        <p:nvSpPr>
          <p:cNvPr id="26" name="Oval 25"/>
          <p:cNvSpPr/>
          <p:nvPr/>
        </p:nvSpPr>
        <p:spPr>
          <a:xfrm>
            <a:off x="5653659" y="428396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2331720" y="4960620"/>
            <a:ext cx="6221730" cy="0"/>
          </a:xfrm>
          <a:prstGeom prst="line">
            <a:avLst/>
          </a:prstGeom>
          <a:ln w="317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961120" y="4805172"/>
            <a:ext cx="1828800" cy="310896"/>
          </a:xfrm>
          <a:prstGeom prst="rect">
            <a:avLst/>
          </a:prstGeom>
          <a:noFill/>
        </p:spPr>
        <p:txBody>
          <a:bodyPr wrap="square" lIns="0" tIns="0" rIns="0" bIns="0">
            <a:spAutoFit/>
          </a:bodyPr>
          <a:lstStyle/>
          <a:p>
            <a:pPr algn="l"/>
            <a:r>
              <a:rPr sz="1700" b="1" i="1" u="none">
                <a:solidFill>
                  <a:srgbClr val="C00000"/>
                </a:solidFill>
                <a:latin typeface="Calibri"/>
              </a:rPr>
              <a:t>MR = P</a:t>
            </a:r>
            <a:r>
              <a:rPr sz="1700" b="1" i="1" u="none" baseline="-25000">
                <a:solidFill>
                  <a:srgbClr val="C00000"/>
                </a:solidFill>
                <a:latin typeface="Calibri"/>
              </a:rPr>
              <a:t>2</a:t>
            </a:r>
          </a:p>
        </p:txBody>
      </p:sp>
      <p:sp>
        <p:nvSpPr>
          <p:cNvPr id="29" name="TextBox 28"/>
          <p:cNvSpPr txBox="1"/>
          <p:nvPr/>
        </p:nvSpPr>
        <p:spPr>
          <a:xfrm>
            <a:off x="1956815" y="4823460"/>
            <a:ext cx="301752" cy="274320"/>
          </a:xfrm>
          <a:prstGeom prst="rect">
            <a:avLst/>
          </a:prstGeom>
          <a:noFill/>
        </p:spPr>
        <p:txBody>
          <a:bodyPr wrap="square" lIns="0" tIns="0" rIns="0" bIns="0">
            <a:spAutoFit/>
          </a:bodyPr>
          <a:lstStyle/>
          <a:p>
            <a:pPr algn="r"/>
            <a:r>
              <a:rPr sz="1700" b="1" i="1" u="none">
                <a:solidFill>
                  <a:srgbClr val="0B2B4E"/>
                </a:solidFill>
                <a:latin typeface="Calibri"/>
              </a:rPr>
              <a:t>P</a:t>
            </a:r>
            <a:r>
              <a:rPr sz="1700" b="1" i="1" u="none" baseline="-25000">
                <a:solidFill>
                  <a:srgbClr val="0B2B4E"/>
                </a:solidFill>
                <a:latin typeface="Calibri"/>
              </a:rPr>
              <a:t>2</a:t>
            </a:r>
          </a:p>
        </p:txBody>
      </p:sp>
      <p:cxnSp>
        <p:nvCxnSpPr>
          <p:cNvPr id="30" name="Connector 29"/>
          <p:cNvCxnSpPr/>
          <p:nvPr/>
        </p:nvCxnSpPr>
        <p:spPr>
          <a:xfrm flipV="1">
            <a:off x="4830997" y="4960620"/>
            <a:ext cx="0" cy="61722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661071" y="5632703"/>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r>
              <a:rPr sz="1700" b="1" i="1" u="none" baseline="-25000">
                <a:solidFill>
                  <a:srgbClr val="0B2B4E"/>
                </a:solidFill>
                <a:latin typeface="Calibri"/>
              </a:rPr>
              <a:t>2</a:t>
            </a:r>
          </a:p>
        </p:txBody>
      </p:sp>
      <p:sp>
        <p:nvSpPr>
          <p:cNvPr id="32" name="Oval 31"/>
          <p:cNvSpPr/>
          <p:nvPr/>
        </p:nvSpPr>
        <p:spPr>
          <a:xfrm>
            <a:off x="4771561" y="490118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3048095" y="3172968"/>
            <a:ext cx="0" cy="1110996"/>
          </a:xfrm>
          <a:prstGeom prst="line">
            <a:avLst/>
          </a:prstGeom>
          <a:ln w="50800">
            <a:solidFill>
              <a:srgbClr val="A2162A"/>
            </a:solidFill>
            <a:tailEnd type="triangle" w="lg"/>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144013" y="3650308"/>
            <a:ext cx="1188720" cy="310896"/>
          </a:xfrm>
          <a:prstGeom prst="rect">
            <a:avLst/>
          </a:prstGeom>
          <a:noFill/>
        </p:spPr>
        <p:txBody>
          <a:bodyPr wrap="square" lIns="0" tIns="0" rIns="0" bIns="0">
            <a:spAutoFit/>
          </a:bodyPr>
          <a:lstStyle/>
          <a:p>
            <a:pPr algn="l"/>
            <a:r>
              <a:rPr sz="1700" b="1" i="0" u="none" dirty="0">
                <a:solidFill>
                  <a:srgbClr val="A2162A"/>
                </a:solidFill>
                <a:latin typeface="Calibri"/>
              </a:rPr>
              <a:t>Entry</a:t>
            </a:r>
          </a:p>
        </p:txBody>
      </p:sp>
      <p:cxnSp>
        <p:nvCxnSpPr>
          <p:cNvPr id="35" name="Connector 34"/>
          <p:cNvCxnSpPr/>
          <p:nvPr/>
        </p:nvCxnSpPr>
        <p:spPr>
          <a:xfrm flipV="1">
            <a:off x="4090035" y="4405122"/>
            <a:ext cx="0" cy="493776"/>
          </a:xfrm>
          <a:prstGeom prst="line">
            <a:avLst/>
          </a:prstGeom>
          <a:ln w="50800">
            <a:solidFill>
              <a:srgbClr val="A2162A"/>
            </a:solidFill>
            <a:tailEnd type="triangle" w="lg"/>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236339" y="4475988"/>
            <a:ext cx="1188720" cy="310896"/>
          </a:xfrm>
          <a:prstGeom prst="rect">
            <a:avLst/>
          </a:prstGeom>
          <a:noFill/>
        </p:spPr>
        <p:txBody>
          <a:bodyPr wrap="square" lIns="0" tIns="0" rIns="0" bIns="0">
            <a:spAutoFit/>
          </a:bodyPr>
          <a:lstStyle/>
          <a:p>
            <a:pPr algn="l"/>
            <a:r>
              <a:rPr sz="1700" b="1" i="0" u="none">
                <a:solidFill>
                  <a:srgbClr val="A2162A"/>
                </a:solidFill>
                <a:latin typeface="Calibri"/>
              </a:rPr>
              <a:t>Exit</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B0142077-D761-56B3-949B-5E0727ACD2FB}" type="slidenum">
              <a:rPr lang="en-US" sz="1200" dirty="0">
                <a:solidFill>
                  <a:srgbClr val="555B66"/>
                </a:solidFill>
                <a:latin typeface="Calibri"/>
              </a:rPr>
              <a:t>10</a:t>
            </a:fld>
            <a:endParaRPr lang="en-US" sz="1200" dirty="0">
              <a:solidFill>
                <a:srgbClr val="555B66"/>
              </a:solidFill>
              <a:latin typeface="Calibri"/>
            </a:endParaRPr>
          </a:p>
        </p:txBody>
      </p:sp>
      <p:sp>
        <p:nvSpPr>
          <p:cNvPr id="41" name="Rounded Rectangle 40"/>
          <p:cNvSpPr/>
          <p:nvPr/>
        </p:nvSpPr>
        <p:spPr>
          <a:xfrm>
            <a:off x="2346808" y="5987466"/>
            <a:ext cx="7498079" cy="413333"/>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1">
                <a:solidFill>
                  <a:srgbClr val="0B2B4E"/>
                </a:solidFill>
                <a:latin typeface="Calibri"/>
              </a:rPr>
              <a:t>At Q</a:t>
            </a:r>
            <a:r>
              <a:rPr sz="2000" b="1" i="1" baseline="-25000">
                <a:solidFill>
                  <a:srgbClr val="0B2B4E"/>
                </a:solidFill>
                <a:latin typeface="Calibri"/>
              </a:rPr>
              <a:t>LR</a:t>
            </a:r>
            <a:r>
              <a:rPr sz="2000" b="1" i="1">
                <a:solidFill>
                  <a:srgbClr val="0B2B4E"/>
                </a:solidFill>
                <a:latin typeface="Calibri"/>
              </a:rPr>
              <a:t>:  P = LAC = LMC, and economic profit is zero</a:t>
            </a:r>
          </a:p>
        </p:txBody>
      </p:sp>
      <p:sp>
        <p:nvSpPr>
          <p:cNvPr id="43" name="Rounded Rectangle 6">
            <a:extLst>
              <a:ext uri="{FF2B5EF4-FFF2-40B4-BE49-F238E27FC236}">
                <a16:creationId xmlns:a16="http://schemas.microsoft.com/office/drawing/2014/main" id="{38B5ED52-3EDB-D3B0-7352-E619F90E1FD2}"/>
              </a:ext>
            </a:extLst>
          </p:cNvPr>
          <p:cNvSpPr/>
          <p:nvPr/>
        </p:nvSpPr>
        <p:spPr>
          <a:xfrm>
            <a:off x="2155316" y="1299443"/>
            <a:ext cx="7360920" cy="703425"/>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2000" b="1" dirty="0">
                <a:solidFill>
                  <a:srgbClr val="FFFFFF"/>
                </a:solidFill>
                <a:latin typeface="Calibri"/>
              </a:rPr>
              <a:t>Competitive Markets: Large number of (actual and potential) firms that have the same cost structure and compete with each other </a:t>
            </a:r>
            <a:endParaRPr sz="2000" b="1" dirty="0">
              <a:solidFill>
                <a:srgbClr val="FFFFFF"/>
              </a:solidFill>
              <a:latin typeface="Calibri"/>
            </a:endParaRPr>
          </a:p>
        </p:txBody>
      </p:sp>
    </p:spTree>
    <p:extLst>
      <p:ext uri="{BB962C8B-B14F-4D97-AF65-F5344CB8AC3E}">
        <p14:creationId xmlns:p14="http://schemas.microsoft.com/office/powerpoint/2010/main" val="342395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childTnLst>
                                </p:cTn>
                              </p:par>
                              <p:par>
                                <p:cTn id="68" presetID="10" presetClass="entr" presetSubtype="0" fill="hold"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10" presetClass="entr" presetSubtype="0"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500"/>
                                        <p:tgtEl>
                                          <p:spTgt spid="3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5 · Long-Run Competitive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Long-Run Equilibrium: The Drug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508760"/>
            <a:ext cx="11338560" cy="1097280"/>
          </a:xfrm>
          <a:prstGeom prst="rect">
            <a:avLst/>
          </a:prstGeom>
          <a:noFill/>
        </p:spPr>
        <p:txBody>
          <a:bodyPr wrap="square" lIns="0" tIns="0" rIns="0" bIns="0">
            <a:noAutofit/>
          </a:bodyPr>
          <a:lstStyle>
            <a:lvl1pPr marL="342900" indent="-342900">
              <a:spcBef>
                <a:spcPts val="10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Can we use the toolbox on the market for illegal drugs?</a:t>
            </a:r>
          </a:p>
          <a:p>
            <a:pPr lvl="1" algn="l"/>
            <a:r>
              <a:rPr>
                <a:latin typeface="Calibri"/>
              </a:rPr>
              <a:t>Assume individual dealers are price takers</a:t>
            </a:r>
          </a:p>
        </p:txBody>
      </p:sp>
      <p:sp>
        <p:nvSpPr>
          <p:cNvPr id="8" name="TextBox 7"/>
          <p:cNvSpPr txBox="1"/>
          <p:nvPr/>
        </p:nvSpPr>
        <p:spPr>
          <a:xfrm>
            <a:off x="389159" y="2788920"/>
            <a:ext cx="11338560" cy="384048"/>
          </a:xfrm>
          <a:prstGeom prst="rect">
            <a:avLst/>
          </a:prstGeom>
          <a:noFill/>
        </p:spPr>
        <p:txBody>
          <a:bodyPr wrap="square" lIns="0" tIns="0" rIns="0" bIns="0">
            <a:spAutoFit/>
          </a:bodyPr>
          <a:lstStyle/>
          <a:p>
            <a:pPr algn="l"/>
            <a:r>
              <a:rPr sz="2500" b="0" i="0" u="none">
                <a:solidFill>
                  <a:srgbClr val="0B2B4E"/>
                </a:solidFill>
                <a:latin typeface="Calibri"/>
              </a:rPr>
              <a:t>The government has two one-time options:</a:t>
            </a:r>
          </a:p>
        </p:txBody>
      </p:sp>
      <p:sp>
        <p:nvSpPr>
          <p:cNvPr id="9" name="Rounded Rectangle 8"/>
          <p:cNvSpPr/>
          <p:nvPr/>
        </p:nvSpPr>
        <p:spPr>
          <a:xfrm>
            <a:off x="960120" y="3383280"/>
            <a:ext cx="502920" cy="502920"/>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B2B4E"/>
                </a:solidFill>
                <a:latin typeface="Calibri"/>
              </a:rPr>
              <a:t>1</a:t>
            </a:r>
          </a:p>
        </p:txBody>
      </p:sp>
      <p:sp>
        <p:nvSpPr>
          <p:cNvPr id="10" name="TextBox 9"/>
          <p:cNvSpPr txBox="1"/>
          <p:nvPr/>
        </p:nvSpPr>
        <p:spPr>
          <a:xfrm>
            <a:off x="1783080" y="3410712"/>
            <a:ext cx="9601200" cy="457200"/>
          </a:xfrm>
          <a:prstGeom prst="rect">
            <a:avLst/>
          </a:prstGeom>
          <a:noFill/>
        </p:spPr>
        <p:txBody>
          <a:bodyPr wrap="square" lIns="0" tIns="0" rIns="0" bIns="0">
            <a:spAutoFit/>
          </a:bodyPr>
          <a:lstStyle/>
          <a:p>
            <a:pPr algn="l"/>
            <a:r>
              <a:rPr sz="2600" b="0" i="0" u="none" dirty="0">
                <a:solidFill>
                  <a:srgbClr val="0B2B4E"/>
                </a:solidFill>
                <a:latin typeface="Calibri"/>
              </a:rPr>
              <a:t>Arrest the drug dealers</a:t>
            </a:r>
          </a:p>
        </p:txBody>
      </p:sp>
      <p:sp>
        <p:nvSpPr>
          <p:cNvPr id="11" name="Rounded Rectangle 10"/>
          <p:cNvSpPr/>
          <p:nvPr/>
        </p:nvSpPr>
        <p:spPr>
          <a:xfrm>
            <a:off x="960120" y="4160520"/>
            <a:ext cx="502920" cy="502920"/>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B2B4E"/>
                </a:solidFill>
                <a:latin typeface="Calibri"/>
              </a:rPr>
              <a:t>2</a:t>
            </a:r>
          </a:p>
        </p:txBody>
      </p:sp>
      <p:sp>
        <p:nvSpPr>
          <p:cNvPr id="12" name="TextBox 11"/>
          <p:cNvSpPr txBox="1"/>
          <p:nvPr/>
        </p:nvSpPr>
        <p:spPr>
          <a:xfrm>
            <a:off x="1783080" y="4187952"/>
            <a:ext cx="9601200" cy="457200"/>
          </a:xfrm>
          <a:prstGeom prst="rect">
            <a:avLst/>
          </a:prstGeom>
          <a:noFill/>
        </p:spPr>
        <p:txBody>
          <a:bodyPr wrap="square" lIns="0" tIns="0" rIns="0" bIns="0">
            <a:spAutoFit/>
          </a:bodyPr>
          <a:lstStyle/>
          <a:p>
            <a:pPr algn="l"/>
            <a:r>
              <a:rPr sz="2600" b="0" i="0" u="none" dirty="0">
                <a:solidFill>
                  <a:srgbClr val="0B2B4E"/>
                </a:solidFill>
                <a:latin typeface="Calibri"/>
              </a:rPr>
              <a:t>Arrest or punish the drug users</a:t>
            </a:r>
          </a:p>
        </p:txBody>
      </p:sp>
      <p:sp>
        <p:nvSpPr>
          <p:cNvPr id="13" name="Rounded Rectangle 12"/>
          <p:cNvSpPr/>
          <p:nvPr/>
        </p:nvSpPr>
        <p:spPr>
          <a:xfrm>
            <a:off x="1706727" y="5257800"/>
            <a:ext cx="8778240"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0B2B4E"/>
                </a:solidFill>
                <a:latin typeface="Calibri"/>
              </a:rPr>
              <a:t>Which policy does more to reduce the use of illegal drugs?</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AB707137-F7EE-5E7D-AC74-68ACA2259F27}" type="slidenum">
              <a:rPr lang="en-US" sz="1200" dirty="0">
                <a:solidFill>
                  <a:srgbClr val="555B66"/>
                </a:solidFill>
                <a:latin typeface="Calibri"/>
              </a:rPr>
              <a:t>11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B46BB4-DAC3-07A1-4753-78078FFC2444}"/>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1249615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5 · Long-Run Competitive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Arrest Drug Dealers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0" name="TextBox 9"/>
          <p:cNvSpPr txBox="1"/>
          <p:nvPr/>
        </p:nvSpPr>
        <p:spPr>
          <a:xfrm>
            <a:off x="11475720" y="6583680"/>
            <a:ext cx="502920" cy="292608"/>
          </a:xfrm>
          <a:prstGeom prst="rect">
            <a:avLst/>
          </a:prstGeom>
          <a:noFill/>
        </p:spPr>
        <p:txBody>
          <a:bodyPr wrap="none" lIns="0" tIns="0" rIns="0" bIns="0">
            <a:spAutoFit/>
          </a:bodyPr>
          <a:lstStyle/>
          <a:p>
            <a:pPr algn="r"/>
            <a:fld id="{0F6C8757-91A0-56B1-BB2E-C8D834533948}" type="slidenum">
              <a:rPr lang="en-US" sz="1200" dirty="0">
                <a:solidFill>
                  <a:srgbClr val="555B66"/>
                </a:solidFill>
                <a:latin typeface="Calibri"/>
              </a:rPr>
              <a:t>13</a:t>
            </a:fld>
            <a:endParaRPr lang="en-US" sz="1200" dirty="0">
              <a:solidFill>
                <a:srgbClr val="555B66"/>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Video 5 · Long-Run Competitive Equilibrium</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Arrest / Punish Drug Users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0" name="TextBox 9"/>
          <p:cNvSpPr txBox="1"/>
          <p:nvPr/>
        </p:nvSpPr>
        <p:spPr>
          <a:xfrm>
            <a:off x="11475720" y="6583680"/>
            <a:ext cx="502920" cy="292608"/>
          </a:xfrm>
          <a:prstGeom prst="rect">
            <a:avLst/>
          </a:prstGeom>
          <a:noFill/>
        </p:spPr>
        <p:txBody>
          <a:bodyPr wrap="none" lIns="0" tIns="0" rIns="0" bIns="0">
            <a:spAutoFit/>
          </a:bodyPr>
          <a:lstStyle/>
          <a:p>
            <a:pPr algn="r"/>
            <a:fld id="{26C31B40-B3B2-576C-9AE7-BEDF2C7178F0}" type="slidenum">
              <a:rPr lang="en-US" sz="1200" dirty="0">
                <a:solidFill>
                  <a:srgbClr val="555B66"/>
                </a:solidFill>
                <a:latin typeface="Calibri"/>
              </a:rPr>
              <a:t>14</a:t>
            </a:fld>
            <a:endParaRPr lang="en-US" sz="1200" dirty="0">
              <a:solidFill>
                <a:srgbClr val="555B66"/>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55219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26999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3" name="Oval 12"/>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2a</a:t>
            </a:r>
          </a:p>
        </p:txBody>
      </p:sp>
      <p:sp>
        <p:nvSpPr>
          <p:cNvPr id="14" name="Rounded Rectangle 13"/>
          <p:cNvSpPr/>
          <p:nvPr/>
        </p:nvSpPr>
        <p:spPr>
          <a:xfrm>
            <a:off x="10707625" y="297865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148840" y="2987802"/>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6" name="Oval 15"/>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2b</a:t>
            </a:r>
          </a:p>
        </p:txBody>
      </p:sp>
      <p:sp>
        <p:nvSpPr>
          <p:cNvPr id="17" name="Rounded Rectangle 16"/>
          <p:cNvSpPr/>
          <p:nvPr/>
        </p:nvSpPr>
        <p:spPr>
          <a:xfrm>
            <a:off x="10707625" y="3696462"/>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148840" y="370560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9" name="Oval 18"/>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2c</a:t>
            </a:r>
          </a:p>
        </p:txBody>
      </p:sp>
      <p:sp>
        <p:nvSpPr>
          <p:cNvPr id="20" name="Rounded Rectangle 19"/>
          <p:cNvSpPr/>
          <p:nvPr/>
        </p:nvSpPr>
        <p:spPr>
          <a:xfrm>
            <a:off x="10707625" y="441426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1" name="TextBox 20"/>
          <p:cNvSpPr txBox="1"/>
          <p:nvPr/>
        </p:nvSpPr>
        <p:spPr>
          <a:xfrm>
            <a:off x="2148840" y="442341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22" name="Rounded Rectangle 21"/>
          <p:cNvSpPr/>
          <p:nvPr/>
        </p:nvSpPr>
        <p:spPr>
          <a:xfrm>
            <a:off x="822960" y="4912614"/>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24" name="Rounded Rectangle 23"/>
          <p:cNvSpPr/>
          <p:nvPr/>
        </p:nvSpPr>
        <p:spPr>
          <a:xfrm>
            <a:off x="10332720" y="5132070"/>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5" name="TextBox 24"/>
          <p:cNvSpPr txBox="1"/>
          <p:nvPr/>
        </p:nvSpPr>
        <p:spPr>
          <a:xfrm>
            <a:off x="1874519" y="496747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 Distortions and Regulations</a:t>
            </a:r>
          </a:p>
          <a:p>
            <a:pPr algn="l">
              <a:spcBef>
                <a:spcPts val="0"/>
              </a:spcBef>
              <a:buNone/>
            </a:pPr>
            <a:r>
              <a:rPr sz="2200">
                <a:solidFill>
                  <a:srgbClr val="555B66"/>
                </a:solidFill>
                <a:latin typeface="Calibri"/>
              </a:rPr>
              <a:t>Who wins, who loses, and what is lost outright</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7" name="Rounded Rectangle 26"/>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1874519" y="585901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CE89B108-9381-5E04-A273-4FE9F535F17B}" type="slidenum">
              <a:rPr lang="en-US" sz="1200" dirty="0">
                <a:solidFill>
                  <a:srgbClr val="555B66"/>
                </a:solidFill>
                <a:latin typeface="Calibri"/>
              </a:rPr>
              <a:t>15</a:t>
            </a:fld>
            <a:endParaRPr lang="en-US" sz="1200" dirty="0">
              <a:solidFill>
                <a:srgbClr val="555B66"/>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Welfare in a Market Economy and Distortions: Introduction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5843016" cy="4892040"/>
          </a:xfrm>
          <a:prstGeom prst="rect">
            <a:avLst/>
          </a:prstGeom>
          <a:noFill/>
        </p:spPr>
        <p:txBody>
          <a:bodyPr wrap="square" lIns="0" tIns="0" rIns="0" bIns="0" anchor="ctr">
            <a:no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In a competitive market, equilibrium is where supply meets demand</a:t>
            </a:r>
          </a:p>
          <a:p>
            <a:pPr algn="l"/>
            <a:r>
              <a:rPr>
                <a:latin typeface="Calibri"/>
              </a:rPr>
              <a:t>Outside forces can push the market away from it</a:t>
            </a:r>
          </a:p>
          <a:p>
            <a:pPr lvl="1" algn="l"/>
            <a:r>
              <a:rPr>
                <a:latin typeface="Calibri"/>
              </a:rPr>
              <a:t>Price controls — rent control, minimum wages</a:t>
            </a:r>
          </a:p>
          <a:p>
            <a:pPr lvl="1" algn="l"/>
            <a:r>
              <a:rPr>
                <a:latin typeface="Calibri"/>
              </a:rPr>
              <a:t>Taxes and subsidies</a:t>
            </a:r>
          </a:p>
          <a:p>
            <a:pPr algn="l"/>
            <a:r>
              <a:rPr>
                <a:latin typeface="Calibri"/>
              </a:rPr>
              <a:t>How do we tell who gains and who loses?</a:t>
            </a:r>
          </a:p>
          <a:p>
            <a:pPr lvl="1" algn="l"/>
            <a:r>
              <a:rPr>
                <a:latin typeface="Calibri"/>
              </a:rPr>
              <a:t>Consumer and producer surplus</a:t>
            </a:r>
          </a:p>
          <a:p>
            <a:pPr lvl="1" algn="l"/>
            <a:r>
              <a:rPr>
                <a:latin typeface="Calibri"/>
              </a:rPr>
              <a:t>Deadweight loss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B3935316-30D0-5953-85AF-5E090D7EBF07}" type="slidenum">
              <a:rPr lang="en-US" sz="1200" dirty="0">
                <a:solidFill>
                  <a:srgbClr val="555B66"/>
                </a:solidFill>
                <a:latin typeface="Calibri"/>
              </a:rPr>
              <a:t>16</a:t>
            </a:fld>
            <a:endParaRPr lang="en-US" sz="1200" dirty="0">
              <a:solidFill>
                <a:srgbClr val="555B66"/>
              </a:solidFill>
              <a:latin typeface="Calibri"/>
            </a:endParaRPr>
          </a:p>
        </p:txBody>
      </p:sp>
      <p:grpSp>
        <p:nvGrpSpPr>
          <p:cNvPr id="113" name="Group pair 113"/>
          <p:cNvGrpSpPr/>
          <p:nvPr/>
        </p:nvGrpSpPr>
        <p:grpSpPr>
          <a:xfrm>
            <a:off x="6446520" y="1417320"/>
            <a:ext cx="5212080" cy="3880548"/>
            <a:chOff x="6446520" y="1417320"/>
            <a:chExt cx="5212080" cy="3880548"/>
          </a:xfrm>
        </p:grpSpPr>
        <p:sp>
          <p:nvSpPr>
            <p:cNvPr id="12" name="TextBox 11"/>
            <p:cNvSpPr txBox="1"/>
            <p:nvPr/>
          </p:nvSpPr>
          <p:spPr>
            <a:xfrm>
              <a:off x="6446520" y="1417320"/>
              <a:ext cx="5212080" cy="329184"/>
            </a:xfrm>
            <a:prstGeom prst="rect">
              <a:avLst/>
            </a:prstGeom>
            <a:noFill/>
          </p:spPr>
          <p:txBody>
            <a:bodyPr wrap="square" lIns="0" tIns="0" rIns="0" bIns="0">
              <a:spAutoFit/>
            </a:bodyPr>
            <a:lstStyle/>
            <a:p>
              <a:pPr algn="ctr"/>
              <a:r>
                <a:rPr sz="1500" b="1" i="1" u="none" dirty="0">
                  <a:solidFill>
                    <a:srgbClr val="0B2B4E"/>
                  </a:solidFill>
                  <a:latin typeface="Calibri"/>
                </a:rPr>
                <a:t>A competitive market with many consumers and producers</a:t>
              </a:r>
            </a:p>
          </p:txBody>
        </p:sp>
        <p:pic>
          <p:nvPicPr>
            <p:cNvPr id="13" name="Picture 12" descr="Competitve Market Illustration.png"/>
            <p:cNvPicPr>
              <a:picLocks noChangeAspect="1"/>
            </p:cNvPicPr>
            <p:nvPr/>
          </p:nvPicPr>
          <p:blipFill>
            <a:blip r:embed="rId3"/>
            <a:stretch>
              <a:fillRect/>
            </a:stretch>
          </p:blipFill>
          <p:spPr>
            <a:xfrm>
              <a:off x="6446520" y="1828800"/>
              <a:ext cx="5212080" cy="3469068"/>
            </a:xfrm>
            <a:prstGeom prst="roundRect">
              <a:avLst>
                <a:gd name="adj" fmla="val 8000"/>
              </a:avLst>
            </a:prstGeom>
            <a:effectLst>
              <a:outerShdw blurRad="50800" dist="38100" dir="2700000" algn="tl" rotWithShape="0">
                <a:srgbClr val="000000">
                  <a:alpha val="50000"/>
                </a:srgbClr>
              </a:outerShdw>
            </a:effectLst>
          </p:spPr>
        </p:pic>
      </p:grpSp>
    </p:spTree>
    <p:extLst>
      <p:ext uri="{BB962C8B-B14F-4D97-AF65-F5344CB8AC3E}">
        <p14:creationId xmlns:p14="http://schemas.microsoft.com/office/powerpoint/2010/main" val="361182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3"/>
                                        </p:tgtEl>
                                        <p:attrNameLst>
                                          <p:attrName>style.visibility</p:attrName>
                                        </p:attrNameLst>
                                      </p:cBhvr>
                                      <p:to>
                                        <p:strVal val="visible"/>
                                      </p:to>
                                    </p:set>
                                    <p:animEffect transition="in" filter="fade">
                                      <p:cBhvr>
                                        <p:cTn id="16" dur="500"/>
                                        <p:tgtEl>
                                          <p:spTgt spid="1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fade">
                                      <p:cBhvr>
                                        <p:cTn id="24" dur="500"/>
                                        <p:tgtEl>
                                          <p:spTgt spid="7">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Consumer Surplus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737360" y="2075688"/>
            <a:ext cx="0" cy="37764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3736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57705" y="194310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TextBox 9"/>
          <p:cNvSpPr txBox="1"/>
          <p:nvPr/>
        </p:nvSpPr>
        <p:spPr>
          <a:xfrm>
            <a:off x="5721095" y="589788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1" name="Rectangle 10"/>
          <p:cNvSpPr/>
          <p:nvPr/>
        </p:nvSpPr>
        <p:spPr>
          <a:xfrm>
            <a:off x="1737360" y="2568632"/>
            <a:ext cx="1462284" cy="1343261"/>
          </a:xfrm>
          <a:custGeom>
            <a:avLst/>
            <a:gdLst/>
            <a:ahLst/>
            <a:cxnLst/>
            <a:rect l="0" t="0" r="r" b="b"/>
            <a:pathLst>
              <a:path w="1462284" h="1343261">
                <a:moveTo>
                  <a:pt x="0" y="1343261"/>
                </a:moveTo>
                <a:lnTo>
                  <a:pt x="0" y="0"/>
                </a:lnTo>
                <a:lnTo>
                  <a:pt x="1462284" y="1343261"/>
                </a:lnTo>
                <a:close/>
              </a:path>
            </a:pathLst>
          </a:custGeom>
          <a:solidFill>
            <a:srgbClr val="C0201B">
              <a:alpha val="26000"/>
            </a:srgbClr>
          </a:solidFill>
          <a:ln w="15875">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1737360" y="2568632"/>
            <a:ext cx="3431493" cy="3152186"/>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54470" y="5321683"/>
            <a:ext cx="225551" cy="292608"/>
          </a:xfrm>
          <a:prstGeom prst="rect">
            <a:avLst/>
          </a:prstGeom>
          <a:noFill/>
        </p:spPr>
        <p:txBody>
          <a:bodyPr wrap="square" lIns="0" tIns="0" rIns="0" bIns="0">
            <a:spAutoFit/>
          </a:bodyPr>
          <a:lstStyle/>
          <a:p>
            <a:pPr algn="l"/>
            <a:r>
              <a:rPr sz="1900" b="1" i="1" u="none">
                <a:solidFill>
                  <a:srgbClr val="C00000"/>
                </a:solidFill>
                <a:latin typeface="Calibri"/>
              </a:rPr>
              <a:t>D</a:t>
            </a:r>
          </a:p>
        </p:txBody>
      </p:sp>
      <p:cxnSp>
        <p:nvCxnSpPr>
          <p:cNvPr id="14" name="Connector 13"/>
          <p:cNvCxnSpPr/>
          <p:nvPr/>
        </p:nvCxnSpPr>
        <p:spPr>
          <a:xfrm flipV="1">
            <a:off x="1737360" y="2371621"/>
            <a:ext cx="2859578" cy="3152186"/>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61278" y="2176064"/>
            <a:ext cx="196976" cy="292608"/>
          </a:xfrm>
          <a:prstGeom prst="rect">
            <a:avLst/>
          </a:prstGeom>
          <a:noFill/>
        </p:spPr>
        <p:txBody>
          <a:bodyPr wrap="square" lIns="0" tIns="0" rIns="0" bIns="0">
            <a:spAutoFit/>
          </a:bodyPr>
          <a:lstStyle/>
          <a:p>
            <a:pPr algn="l"/>
            <a:r>
              <a:rPr sz="1900" b="1" i="1" u="none">
                <a:solidFill>
                  <a:srgbClr val="0B2B4E"/>
                </a:solidFill>
                <a:latin typeface="Calibri"/>
              </a:rPr>
              <a:t>S</a:t>
            </a:r>
          </a:p>
        </p:txBody>
      </p:sp>
      <p:cxnSp>
        <p:nvCxnSpPr>
          <p:cNvPr id="16" name="Connector 15"/>
          <p:cNvCxnSpPr/>
          <p:nvPr/>
        </p:nvCxnSpPr>
        <p:spPr>
          <a:xfrm>
            <a:off x="1737360" y="3911893"/>
            <a:ext cx="1462284"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99644" y="3911893"/>
            <a:ext cx="0" cy="1940267"/>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352931" y="3774733"/>
            <a:ext cx="311277"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19" name="TextBox 18"/>
          <p:cNvSpPr txBox="1"/>
          <p:nvPr/>
        </p:nvSpPr>
        <p:spPr>
          <a:xfrm>
            <a:off x="3029718" y="5907024"/>
            <a:ext cx="339852" cy="274320"/>
          </a:xfrm>
          <a:prstGeom prst="rect">
            <a:avLst/>
          </a:prstGeom>
          <a:noFill/>
        </p:spPr>
        <p:txBody>
          <a:bodyPr wrap="square" lIns="0" tIns="0" rIns="0" bIns="0">
            <a:spAutoFit/>
          </a:bodyPr>
          <a:lstStyle/>
          <a:p>
            <a:pPr algn="ctr"/>
            <a:r>
              <a:rPr sz="1800" b="1" i="1" u="none">
                <a:solidFill>
                  <a:srgbClr val="0B2B4E"/>
                </a:solidFill>
                <a:latin typeface="Calibri"/>
              </a:rPr>
              <a:t>Q*</a:t>
            </a:r>
          </a:p>
        </p:txBody>
      </p:sp>
      <p:sp>
        <p:nvSpPr>
          <p:cNvPr id="20" name="Oval 19"/>
          <p:cNvSpPr/>
          <p:nvPr/>
        </p:nvSpPr>
        <p:spPr>
          <a:xfrm>
            <a:off x="3131064" y="3843313"/>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13308" y="3281260"/>
            <a:ext cx="822960" cy="365760"/>
          </a:xfrm>
          <a:prstGeom prst="rect">
            <a:avLst/>
          </a:prstGeom>
          <a:noFill/>
        </p:spPr>
        <p:txBody>
          <a:bodyPr wrap="square" lIns="0" tIns="0" rIns="0" bIns="0">
            <a:spAutoFit/>
          </a:bodyPr>
          <a:lstStyle/>
          <a:p>
            <a:pPr algn="ctr"/>
            <a:r>
              <a:rPr sz="2200" b="1" i="0" u="none">
                <a:solidFill>
                  <a:srgbClr val="0B2B4E"/>
                </a:solidFill>
                <a:latin typeface="Calibri"/>
              </a:rPr>
              <a:t>CS</a:t>
            </a:r>
          </a:p>
        </p:txBody>
      </p:sp>
      <p:grpSp>
        <p:nvGrpSpPr>
          <p:cNvPr id="128" name="Group pair 128"/>
          <p:cNvGrpSpPr/>
          <p:nvPr/>
        </p:nvGrpSpPr>
        <p:grpSpPr>
          <a:xfrm>
            <a:off x="6400800" y="3054096"/>
            <a:ext cx="5074920" cy="1307592"/>
            <a:chOff x="6400800" y="3054096"/>
            <a:chExt cx="5074920" cy="1307592"/>
          </a:xfrm>
        </p:grpSpPr>
        <p:sp>
          <p:nvSpPr>
            <p:cNvPr id="22" name="Rounded Rectangle 21"/>
            <p:cNvSpPr/>
            <p:nvPr/>
          </p:nvSpPr>
          <p:spPr>
            <a:xfrm>
              <a:off x="6400800" y="3054096"/>
              <a:ext cx="5074920" cy="1307592"/>
            </a:xfrm>
            <a:prstGeom prst="roundRect">
              <a:avLst>
                <a:gd name="adj" fmla="val 10000"/>
              </a:avLst>
            </a:prstGeom>
            <a:solidFill>
              <a:srgbClr val="C0201B">
                <a:alpha val="26000"/>
              </a:srgbClr>
            </a:solidFill>
            <a:ln w="127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3081528"/>
              <a:ext cx="4709160" cy="1252728"/>
            </a:xfrm>
            <a:prstGeom prst="rect">
              <a:avLst/>
            </a:prstGeom>
            <a:noFill/>
          </p:spPr>
          <p:txBody>
            <a:bodyPr wrap="square" lIns="45720" tIns="0" rIns="45720" bIns="0" anchor="ctr">
              <a:spAutoFit/>
            </a:bodyPr>
            <a:lstStyle/>
            <a:p>
              <a:pPr algn="l">
                <a:spcBef>
                  <a:spcPts val="600"/>
                </a:spcBef>
              </a:pPr>
              <a:r>
                <a:rPr sz="2000" b="0" i="0" u="none">
                  <a:solidFill>
                    <a:srgbClr val="0B2B4E"/>
                  </a:solidFill>
                  <a:latin typeface="Calibri"/>
                </a:rPr>
                <a:t>Consumer surplus (CS) is the area below the demand curve and above the price line</a:t>
              </a:r>
            </a:p>
            <a:p>
              <a:pPr algn="l">
                <a:spcBef>
                  <a:spcPts val="600"/>
                </a:spcBef>
              </a:pPr>
              <a:r>
                <a:rPr sz="2000" b="0" i="0" u="none">
                  <a:solidFill>
                    <a:srgbClr val="0B2B4E"/>
                  </a:solidFill>
                  <a:latin typeface="Calibri"/>
                </a:rPr>
                <a:t>What buyers were willing to pay, less what they actually paid</a:t>
              </a:r>
            </a:p>
          </p:txBody>
        </p:sp>
      </p:gr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7" name="TextBox 26"/>
          <p:cNvSpPr txBox="1"/>
          <p:nvPr/>
        </p:nvSpPr>
        <p:spPr>
          <a:xfrm>
            <a:off x="11475720" y="6583680"/>
            <a:ext cx="502920" cy="292608"/>
          </a:xfrm>
          <a:prstGeom prst="rect">
            <a:avLst/>
          </a:prstGeom>
          <a:noFill/>
        </p:spPr>
        <p:txBody>
          <a:bodyPr wrap="none" lIns="0" tIns="0" rIns="0" bIns="0">
            <a:spAutoFit/>
          </a:bodyPr>
          <a:lstStyle/>
          <a:p>
            <a:pPr algn="r"/>
            <a:fld id="{C6B2407C-84A4-5AB5-8015-477A8A4534C9}" type="slidenum">
              <a:rPr lang="en-US" sz="1200" dirty="0">
                <a:solidFill>
                  <a:srgbClr val="555B66"/>
                </a:solidFill>
                <a:latin typeface="Calibri"/>
              </a:rPr>
              <a:t>17</a:t>
            </a:fld>
            <a:endParaRPr lang="en-US" sz="1200" dirty="0">
              <a:solidFill>
                <a:srgbClr val="555B66"/>
              </a:solidFill>
              <a:latin typeface="Calibri"/>
            </a:endParaRPr>
          </a:p>
        </p:txBody>
      </p:sp>
      <p:sp>
        <p:nvSpPr>
          <p:cNvPr id="28" name="TextBox 27"/>
          <p:cNvSpPr txBox="1"/>
          <p:nvPr/>
        </p:nvSpPr>
        <p:spPr>
          <a:xfrm>
            <a:off x="389159" y="1243584"/>
            <a:ext cx="11338560" cy="323165"/>
          </a:xfrm>
          <a:prstGeom prst="rect">
            <a:avLst/>
          </a:prstGeom>
          <a:noFill/>
        </p:spPr>
        <p:txBody>
          <a:bodyPr wrap="square" lIns="0" tIns="0" rIns="0" bIns="0">
            <a:spAutoFit/>
          </a:bodyPr>
          <a:lstStyle/>
          <a:p>
            <a:pPr algn="l"/>
            <a:r>
              <a:rPr sz="2100" b="0" i="0" u="none" dirty="0">
                <a:solidFill>
                  <a:srgbClr val="0B2B4E"/>
                </a:solidFill>
                <a:latin typeface="Calibri"/>
              </a:rPr>
              <a:t>CS: the gap between what consumers </a:t>
            </a:r>
            <a:r>
              <a:rPr sz="2100" b="0" i="0" u="sng" dirty="0">
                <a:solidFill>
                  <a:srgbClr val="0B2B4E"/>
                </a:solidFill>
                <a:latin typeface="Calibri"/>
              </a:rPr>
              <a:t>would</a:t>
            </a:r>
            <a:r>
              <a:rPr sz="2100" b="0" i="0" u="none" dirty="0">
                <a:solidFill>
                  <a:srgbClr val="0B2B4E"/>
                </a:solidFill>
                <a:latin typeface="Calibri"/>
              </a:rPr>
              <a:t> pay (the D curve) and what they </a:t>
            </a:r>
            <a:r>
              <a:rPr sz="2100" b="0" i="0" u="sng" dirty="0">
                <a:solidFill>
                  <a:srgbClr val="0B2B4E"/>
                </a:solidFill>
                <a:latin typeface="Calibri"/>
              </a:rPr>
              <a:t>do pay</a:t>
            </a:r>
            <a:r>
              <a:rPr sz="2100" b="0" i="0" dirty="0">
                <a:solidFill>
                  <a:srgbClr val="0B2B4E"/>
                </a:solidFill>
                <a:latin typeface="Calibri"/>
              </a:rPr>
              <a:t> </a:t>
            </a:r>
            <a:r>
              <a:rPr sz="2100" b="0" i="0" u="none" dirty="0">
                <a:solidFill>
                  <a:srgbClr val="0B2B4E"/>
                </a:solidFill>
                <a:latin typeface="Calibri"/>
              </a:rPr>
              <a:t>(P*)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28"/>
                                        </p:tgtEl>
                                        <p:attrNameLst>
                                          <p:attrName>style.visibility</p:attrName>
                                        </p:attrNameLst>
                                      </p:cBhvr>
                                      <p:to>
                                        <p:strVal val="visible"/>
                                      </p:to>
                                    </p:set>
                                    <p:animEffect transition="in" filter="fade">
                                      <p:cBhvr>
                                        <p:cTn id="48"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Producer Surplus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737360" y="2075688"/>
            <a:ext cx="0" cy="37764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37360" y="5852160"/>
            <a:ext cx="40965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57705" y="194310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TextBox 9"/>
          <p:cNvSpPr txBox="1"/>
          <p:nvPr/>
        </p:nvSpPr>
        <p:spPr>
          <a:xfrm>
            <a:off x="5721095" y="589788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1" name="Rectangle 10"/>
          <p:cNvSpPr/>
          <p:nvPr/>
        </p:nvSpPr>
        <p:spPr>
          <a:xfrm>
            <a:off x="1737360" y="3911893"/>
            <a:ext cx="1462284" cy="1611914"/>
          </a:xfrm>
          <a:custGeom>
            <a:avLst/>
            <a:gdLst/>
            <a:ahLst/>
            <a:cxnLst/>
            <a:rect l="0" t="0" r="r" b="b"/>
            <a:pathLst>
              <a:path w="1462284" h="1611914">
                <a:moveTo>
                  <a:pt x="0" y="0"/>
                </a:moveTo>
                <a:lnTo>
                  <a:pt x="0" y="1611914"/>
                </a:lnTo>
                <a:lnTo>
                  <a:pt x="1462284" y="0"/>
                </a:lnTo>
                <a:close/>
              </a:path>
            </a:pathLst>
          </a:custGeom>
          <a:solidFill>
            <a:srgbClr val="4E79B5">
              <a:alpha val="34000"/>
            </a:srgbClr>
          </a:solidFill>
          <a:ln w="15875">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1737360" y="2568632"/>
            <a:ext cx="3431493" cy="3152186"/>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54470" y="5321683"/>
            <a:ext cx="225551" cy="292608"/>
          </a:xfrm>
          <a:prstGeom prst="rect">
            <a:avLst/>
          </a:prstGeom>
          <a:noFill/>
        </p:spPr>
        <p:txBody>
          <a:bodyPr wrap="square" lIns="0" tIns="0" rIns="0" bIns="0">
            <a:spAutoFit/>
          </a:bodyPr>
          <a:lstStyle/>
          <a:p>
            <a:pPr algn="l"/>
            <a:r>
              <a:rPr sz="1900" b="1" i="1" u="none">
                <a:solidFill>
                  <a:srgbClr val="C00000"/>
                </a:solidFill>
                <a:latin typeface="Calibri"/>
              </a:rPr>
              <a:t>D</a:t>
            </a:r>
          </a:p>
        </p:txBody>
      </p:sp>
      <p:cxnSp>
        <p:nvCxnSpPr>
          <p:cNvPr id="14" name="Connector 13"/>
          <p:cNvCxnSpPr/>
          <p:nvPr/>
        </p:nvCxnSpPr>
        <p:spPr>
          <a:xfrm flipV="1">
            <a:off x="1737360" y="2371621"/>
            <a:ext cx="2859578" cy="3152186"/>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61278" y="2176064"/>
            <a:ext cx="196976" cy="292608"/>
          </a:xfrm>
          <a:prstGeom prst="rect">
            <a:avLst/>
          </a:prstGeom>
          <a:noFill/>
        </p:spPr>
        <p:txBody>
          <a:bodyPr wrap="square" lIns="0" tIns="0" rIns="0" bIns="0">
            <a:spAutoFit/>
          </a:bodyPr>
          <a:lstStyle/>
          <a:p>
            <a:pPr algn="l"/>
            <a:r>
              <a:rPr sz="1900" b="1" i="1" u="none">
                <a:solidFill>
                  <a:srgbClr val="0B2B4E"/>
                </a:solidFill>
                <a:latin typeface="Calibri"/>
              </a:rPr>
              <a:t>S</a:t>
            </a:r>
          </a:p>
        </p:txBody>
      </p:sp>
      <p:cxnSp>
        <p:nvCxnSpPr>
          <p:cNvPr id="16" name="Connector 15"/>
          <p:cNvCxnSpPr/>
          <p:nvPr/>
        </p:nvCxnSpPr>
        <p:spPr>
          <a:xfrm>
            <a:off x="1737360" y="3911893"/>
            <a:ext cx="1462284"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99644" y="3911893"/>
            <a:ext cx="0" cy="1940267"/>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352931" y="3774733"/>
            <a:ext cx="311277"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19" name="TextBox 18"/>
          <p:cNvSpPr txBox="1"/>
          <p:nvPr/>
        </p:nvSpPr>
        <p:spPr>
          <a:xfrm>
            <a:off x="3029718" y="5907024"/>
            <a:ext cx="339852" cy="274320"/>
          </a:xfrm>
          <a:prstGeom prst="rect">
            <a:avLst/>
          </a:prstGeom>
          <a:noFill/>
        </p:spPr>
        <p:txBody>
          <a:bodyPr wrap="square" lIns="0" tIns="0" rIns="0" bIns="0">
            <a:spAutoFit/>
          </a:bodyPr>
          <a:lstStyle/>
          <a:p>
            <a:pPr algn="ctr"/>
            <a:r>
              <a:rPr sz="1800" b="1" i="1" u="none">
                <a:solidFill>
                  <a:srgbClr val="0B2B4E"/>
                </a:solidFill>
                <a:latin typeface="Calibri"/>
              </a:rPr>
              <a:t>Q*</a:t>
            </a:r>
          </a:p>
        </p:txBody>
      </p:sp>
      <p:sp>
        <p:nvSpPr>
          <p:cNvPr id="20" name="Oval 19"/>
          <p:cNvSpPr/>
          <p:nvPr/>
        </p:nvSpPr>
        <p:spPr>
          <a:xfrm>
            <a:off x="3131064" y="3843313"/>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13308" y="4266318"/>
            <a:ext cx="822960" cy="365760"/>
          </a:xfrm>
          <a:prstGeom prst="rect">
            <a:avLst/>
          </a:prstGeom>
          <a:noFill/>
        </p:spPr>
        <p:txBody>
          <a:bodyPr wrap="square" lIns="0" tIns="0" rIns="0" bIns="0">
            <a:spAutoFit/>
          </a:bodyPr>
          <a:lstStyle/>
          <a:p>
            <a:pPr algn="ctr"/>
            <a:r>
              <a:rPr sz="2200" b="1" i="0" u="none">
                <a:solidFill>
                  <a:srgbClr val="0B2B4E"/>
                </a:solidFill>
                <a:latin typeface="Calibri"/>
              </a:rPr>
              <a:t>PS</a:t>
            </a:r>
          </a:p>
        </p:txBody>
      </p:sp>
      <p:grpSp>
        <p:nvGrpSpPr>
          <p:cNvPr id="128" name="Group pair 128"/>
          <p:cNvGrpSpPr/>
          <p:nvPr/>
        </p:nvGrpSpPr>
        <p:grpSpPr>
          <a:xfrm>
            <a:off x="6629400" y="2898648"/>
            <a:ext cx="5074920" cy="1389888"/>
            <a:chOff x="6629400" y="2898648"/>
            <a:chExt cx="5074920" cy="1389888"/>
          </a:xfrm>
        </p:grpSpPr>
        <p:sp>
          <p:nvSpPr>
            <p:cNvPr id="22" name="Rounded Rectangle 21"/>
            <p:cNvSpPr/>
            <p:nvPr/>
          </p:nvSpPr>
          <p:spPr>
            <a:xfrm>
              <a:off x="6629400" y="2898648"/>
              <a:ext cx="5074920" cy="1389888"/>
            </a:xfrm>
            <a:prstGeom prst="roundRect">
              <a:avLst>
                <a:gd name="adj" fmla="val 10000"/>
              </a:avLst>
            </a:prstGeom>
            <a:solidFill>
              <a:srgbClr val="4E79B5">
                <a:alpha val="34000"/>
              </a:srgbClr>
            </a:solidFill>
            <a:ln w="12700">
              <a:solidFill>
                <a:srgbClr val="2E5A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12280" y="2898648"/>
              <a:ext cx="4709160" cy="1389888"/>
            </a:xfrm>
            <a:prstGeom prst="rect">
              <a:avLst/>
            </a:prstGeom>
            <a:noFill/>
          </p:spPr>
          <p:txBody>
            <a:bodyPr wrap="square" lIns="45720" tIns="0" rIns="45720" bIns="0" anchor="ctr">
              <a:spAutoFit/>
            </a:bodyPr>
            <a:lstStyle/>
            <a:p>
              <a:pPr algn="l">
                <a:spcBef>
                  <a:spcPts val="600"/>
                </a:spcBef>
              </a:pPr>
              <a:r>
                <a:rPr sz="1900" b="0" i="0" u="none">
                  <a:solidFill>
                    <a:srgbClr val="0B2B4E"/>
                  </a:solidFill>
                  <a:latin typeface="Calibri"/>
                </a:rPr>
                <a:t>Producer surplus (PS) is the area above the supply curve and below the price line</a:t>
              </a:r>
            </a:p>
            <a:p>
              <a:pPr algn="l">
                <a:spcBef>
                  <a:spcPts val="600"/>
                </a:spcBef>
              </a:pPr>
              <a:r>
                <a:rPr sz="1900" b="0" i="0" u="none">
                  <a:solidFill>
                    <a:srgbClr val="0B2B4E"/>
                  </a:solidFill>
                  <a:latin typeface="Calibri"/>
                </a:rPr>
                <a:t>What sellers received, less the least they would have accepted</a:t>
              </a:r>
            </a:p>
          </p:txBody>
        </p:sp>
      </p:gr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7" name="TextBox 26"/>
          <p:cNvSpPr txBox="1"/>
          <p:nvPr/>
        </p:nvSpPr>
        <p:spPr>
          <a:xfrm>
            <a:off x="11475720" y="6583680"/>
            <a:ext cx="502920" cy="292608"/>
          </a:xfrm>
          <a:prstGeom prst="rect">
            <a:avLst/>
          </a:prstGeom>
          <a:noFill/>
        </p:spPr>
        <p:txBody>
          <a:bodyPr wrap="none" lIns="0" tIns="0" rIns="0" bIns="0">
            <a:spAutoFit/>
          </a:bodyPr>
          <a:lstStyle/>
          <a:p>
            <a:pPr algn="r"/>
            <a:fld id="{A8010BAA-C654-50BB-8399-63D01C1D2EDA}" type="slidenum">
              <a:rPr lang="en-US" sz="1200" dirty="0">
                <a:solidFill>
                  <a:srgbClr val="555B66"/>
                </a:solidFill>
                <a:latin typeface="Calibri"/>
              </a:rPr>
              <a:t>18</a:t>
            </a:fld>
            <a:endParaRPr lang="en-US" sz="1200" dirty="0">
              <a:solidFill>
                <a:srgbClr val="555B66"/>
              </a:solidFill>
              <a:latin typeface="Calibri"/>
            </a:endParaRPr>
          </a:p>
        </p:txBody>
      </p:sp>
      <p:sp>
        <p:nvSpPr>
          <p:cNvPr id="28" name="TextBox 27"/>
          <p:cNvSpPr txBox="1"/>
          <p:nvPr/>
        </p:nvSpPr>
        <p:spPr>
          <a:xfrm>
            <a:off x="389159" y="1243584"/>
            <a:ext cx="11338560" cy="384048"/>
          </a:xfrm>
          <a:prstGeom prst="rect">
            <a:avLst/>
          </a:prstGeom>
          <a:noFill/>
        </p:spPr>
        <p:txBody>
          <a:bodyPr wrap="square" lIns="0" tIns="0" rIns="0" bIns="0">
            <a:spAutoFit/>
          </a:bodyPr>
          <a:lstStyle/>
          <a:p>
            <a:pPr algn="l"/>
            <a:r>
              <a:rPr sz="2100" b="0" i="0" u="none">
                <a:solidFill>
                  <a:srgbClr val="0B2B4E"/>
                </a:solidFill>
                <a:latin typeface="Calibri"/>
              </a:rPr>
              <a:t>PS: the gap between the price at which producers would sell (the S curve) and what they do receive (P*)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28"/>
                                        </p:tgtEl>
                                        <p:attrNameLst>
                                          <p:attrName>style.visibility</p:attrName>
                                        </p:attrNameLst>
                                      </p:cBhvr>
                                      <p:to>
                                        <p:strVal val="visible"/>
                                      </p:to>
                                    </p:set>
                                    <p:animEffect transition="in" filter="fade">
                                      <p:cBhvr>
                                        <p:cTn id="48"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Distortions: Deadweight Loss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600200"/>
            <a:ext cx="5916168" cy="210312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The inefficiency that a market intervention creates</a:t>
            </a:r>
          </a:p>
          <a:p>
            <a:pPr algn="l"/>
            <a:r>
              <a:rPr dirty="0">
                <a:latin typeface="Calibri"/>
              </a:rPr>
              <a:t>Mutually beneficial transactions that no longer happen</a:t>
            </a:r>
          </a:p>
          <a:p>
            <a:pPr lvl="1" algn="l"/>
            <a:r>
              <a:rPr dirty="0">
                <a:latin typeface="Calibri"/>
              </a:rPr>
              <a:t>Workers willing to work at the market wage and firms willing to hire them — but a minimum wage stands in the way</a:t>
            </a:r>
          </a:p>
        </p:txBody>
      </p:sp>
      <p:pic>
        <p:nvPicPr>
          <p:cNvPr id="8" name="Picture 7" descr="Red Tape.png"/>
          <p:cNvPicPr>
            <a:picLocks noChangeAspect="1"/>
          </p:cNvPicPr>
          <p:nvPr/>
        </p:nvPicPr>
        <p:blipFill>
          <a:blip r:embed="rId3"/>
          <a:stretch>
            <a:fillRect/>
          </a:stretch>
        </p:blipFill>
        <p:spPr>
          <a:xfrm>
            <a:off x="7955280" y="1344168"/>
            <a:ext cx="3520440" cy="3520440"/>
          </a:xfrm>
          <a:prstGeom prst="roundRect">
            <a:avLst>
              <a:gd name="adj" fmla="val 8000"/>
            </a:avLst>
          </a:prstGeom>
          <a:effectLst>
            <a:outerShdw blurRad="50800" dist="38100" dir="2700000" algn="tl" rotWithShape="0">
              <a:srgbClr val="000000">
                <a:alpha val="50000"/>
              </a:srgbClr>
            </a:outerShdw>
          </a:effectLst>
        </p:spPr>
      </p:pic>
      <mc:AlternateContent xmlns:mc="http://schemas.openxmlformats.org/markup-compatibility/2006" xmlns:a14="http://schemas.microsoft.com/office/drawing/2010/main">
        <mc:Choice Requires="a14">
          <p:sp>
            <p:nvSpPr>
              <p:cNvPr id="9" name="TextBox 8"/>
              <p:cNvSpPr txBox="1"/>
              <p:nvPr/>
            </p:nvSpPr>
            <p:spPr>
              <a:xfrm>
                <a:off x="1865376" y="5047488"/>
                <a:ext cx="8887968" cy="768096"/>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600" b="0" i="1">
                    <a:solidFill>
                      <a:srgbClr val="0B2B4E"/>
                    </a:solidFill>
                    <a:latin typeface="Cambria Math"/>
                  </a:defRPr>
                </a:pPr>
                <a14:m>
                  <m:oMathPara xmlns:m="http://schemas.openxmlformats.org/officeDocument/2006/math">
                    <m:oMath>
                      <m:r>
                        <m:rPr>
                          <m:sty m:val="p"/>
                        </m:rPr>
                        <a:rPr lang="en-US" sz="2600" b="0" i="0">
                          <a:solidFill>
                            <a:srgbClr val="A2162A"/>
                          </a:solidFill>
                          <a:latin typeface="Cambria Math"/>
                        </a:rPr>
                        <m:t>Deadweight</m:t>
                      </m:r>
                      <m:r>
                        <a:rPr lang="en-US" sz="2600" b="0" i="0">
                          <a:solidFill>
                            <a:srgbClr val="A2162A"/>
                          </a:solidFill>
                          <a:latin typeface="Cambria Math"/>
                        </a:rPr>
                        <m:t> </m:t>
                      </m:r>
                      <m:r>
                        <m:rPr>
                          <m:sty m:val="p"/>
                        </m:rPr>
                        <a:rPr lang="en-US" sz="2600" b="0" i="0">
                          <a:solidFill>
                            <a:srgbClr val="A2162A"/>
                          </a:solidFill>
                          <a:latin typeface="Cambria Math"/>
                        </a:rPr>
                        <m:t>loss</m:t>
                      </m:r>
                      <m:r>
                        <a:rPr lang="en-US" sz="2600" b="0" i="0">
                          <a:solidFill>
                            <a:srgbClr val="0B2B4E"/>
                          </a:solidFill>
                          <a:latin typeface="Cambria Math"/>
                        </a:rPr>
                        <m:t> = </m:t>
                      </m:r>
                      <m:sSub>
                        <m:sSubPr>
                          <m:ctrlPr>
                            <a:rPr lang="en-US" sz="2600" b="0" i="0">
                              <a:solidFill>
                                <a:srgbClr val="0B2B4E"/>
                              </a:solidFill>
                              <a:latin typeface="Cambria Math"/>
                            </a:rPr>
                          </m:ctrlPr>
                        </m:sSubPr>
                        <m:e>
                          <m:r>
                            <m:rPr>
                              <m:sty m:val="p"/>
                            </m:rPr>
                            <a:rPr lang="en-US" sz="2600" b="0" i="0">
                              <a:solidFill>
                                <a:srgbClr val="0B2B4E"/>
                              </a:solidFill>
                              <a:latin typeface="Cambria Math"/>
                            </a:rPr>
                            <m:t>Welfare</m:t>
                          </m:r>
                        </m:e>
                        <m:sub>
                          <m:r>
                            <m:rPr>
                              <m:sty m:val="p"/>
                            </m:rPr>
                            <a:rPr lang="en-US" sz="2600" b="0" i="0">
                              <a:solidFill>
                                <a:srgbClr val="0B2B4E"/>
                              </a:solidFill>
                              <a:latin typeface="Cambria Math"/>
                            </a:rPr>
                            <m:t>free</m:t>
                          </m:r>
                          <m:r>
                            <a:rPr lang="en-US" sz="2600" b="0" i="0">
                              <a:solidFill>
                                <a:srgbClr val="0B2B4E"/>
                              </a:solidFill>
                              <a:latin typeface="Cambria Math"/>
                            </a:rPr>
                            <m:t> </m:t>
                          </m:r>
                          <m:r>
                            <m:rPr>
                              <m:sty m:val="p"/>
                            </m:rPr>
                            <a:rPr lang="en-US" sz="2600" b="0" i="0">
                              <a:solidFill>
                                <a:srgbClr val="0B2B4E"/>
                              </a:solidFill>
                              <a:latin typeface="Cambria Math"/>
                            </a:rPr>
                            <m:t>market</m:t>
                          </m:r>
                        </m:sub>
                      </m:sSub>
                      <m:r>
                        <a:rPr lang="en-US" sz="2600" b="0" i="0">
                          <a:solidFill>
                            <a:srgbClr val="0B2B4E"/>
                          </a:solidFill>
                          <a:latin typeface="Cambria Math"/>
                        </a:rPr>
                        <m:t> − </m:t>
                      </m:r>
                      <m:sSub>
                        <m:sSubPr>
                          <m:ctrlPr>
                            <a:rPr lang="en-US" sz="2600" b="0" i="0">
                              <a:solidFill>
                                <a:srgbClr val="0B2B4E"/>
                              </a:solidFill>
                              <a:latin typeface="Cambria Math"/>
                            </a:rPr>
                          </m:ctrlPr>
                        </m:sSubPr>
                        <m:e>
                          <m:r>
                            <m:rPr>
                              <m:sty m:val="p"/>
                            </m:rPr>
                            <a:rPr lang="en-US" sz="2600" b="0" i="0">
                              <a:solidFill>
                                <a:srgbClr val="0B2B4E"/>
                              </a:solidFill>
                              <a:latin typeface="Cambria Math"/>
                            </a:rPr>
                            <m:t>Welfare</m:t>
                          </m:r>
                        </m:e>
                        <m:sub>
                          <m:r>
                            <m:rPr>
                              <m:sty m:val="p"/>
                            </m:rPr>
                            <a:rPr lang="en-US" sz="2600" b="0" i="0">
                              <a:solidFill>
                                <a:srgbClr val="0B2B4E"/>
                              </a:solidFill>
                              <a:latin typeface="Cambria Math"/>
                            </a:rPr>
                            <m:t>regulation</m:t>
                          </m:r>
                        </m:sub>
                      </m:sSub>
                    </m:oMath>
                  </m:oMathPara>
                </a14:m>
                <a:endParaRPr lang="en-US" sz="2600"/>
              </a:p>
            </p:txBody>
          </p:sp>
        </mc:Choice>
        <mc:Fallback xmlns="">
          <p:sp>
            <p:nvSpPr>
              <p:cNvPr id="9" name="TextBox 8"/>
              <p:cNvSpPr txBox="1">
                <a:spLocks noRot="1" noChangeAspect="1" noMove="1" noResize="1" noEditPoints="1" noAdjustHandles="1" noChangeArrowheads="1" noChangeShapeType="1" noTextEdit="1"/>
              </p:cNvSpPr>
              <p:nvPr/>
            </p:nvSpPr>
            <p:spPr>
              <a:xfrm>
                <a:off x="1865376" y="5047488"/>
                <a:ext cx="8887968" cy="768096"/>
              </a:xfrm>
              <a:prstGeom prst="roundRect">
                <a:avLst>
                  <a:gd name="adj" fmla="val 25000"/>
                </a:avLst>
              </a:prstGeom>
              <a:blipFill>
                <a:blip r:embed="rId4"/>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721608" y="5907024"/>
                <a:ext cx="4754880" cy="5486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200" b="0" i="1">
                    <a:solidFill>
                      <a:srgbClr val="0B2B4E"/>
                    </a:solidFill>
                    <a:latin typeface="Cambria Math"/>
                  </a:defRPr>
                </a:pPr>
                <a14:m>
                  <m:oMathPara xmlns:m="http://schemas.openxmlformats.org/officeDocument/2006/math">
                    <m:oMath>
                      <m:r>
                        <m:rPr>
                          <m:sty m:val="p"/>
                        </m:rPr>
                        <a:rPr lang="en-US" sz="2200" b="0" i="0">
                          <a:solidFill>
                            <a:srgbClr val="0B2B4E"/>
                          </a:solidFill>
                          <a:latin typeface="Cambria Math"/>
                        </a:rPr>
                        <m:t>with</m:t>
                      </m:r>
                      <m:r>
                        <a:rPr lang="en-US" sz="2200" b="0" i="0">
                          <a:solidFill>
                            <a:srgbClr val="0B2B4E"/>
                          </a:solidFill>
                          <a:latin typeface="Cambria Math"/>
                        </a:rPr>
                        <m:t>   </m:t>
                      </m:r>
                      <m:r>
                        <m:rPr>
                          <m:sty m:val="p"/>
                        </m:rPr>
                        <a:rPr lang="en-US" sz="2200" b="0" i="0">
                          <a:solidFill>
                            <a:srgbClr val="0B2B4E"/>
                          </a:solidFill>
                          <a:latin typeface="Cambria Math"/>
                        </a:rPr>
                        <m:t>Welfare</m:t>
                      </m:r>
                      <m:r>
                        <a:rPr lang="en-US" sz="2200" b="0" i="0">
                          <a:solidFill>
                            <a:srgbClr val="0B2B4E"/>
                          </a:solidFill>
                          <a:latin typeface="Cambria Math"/>
                        </a:rPr>
                        <m:t> = </m:t>
                      </m:r>
                      <m:r>
                        <m:rPr>
                          <m:sty m:val="p"/>
                        </m:rPr>
                        <a:rPr lang="en-US" sz="2200" b="0" i="0">
                          <a:solidFill>
                            <a:srgbClr val="0B2B4E"/>
                          </a:solidFill>
                          <a:latin typeface="Cambria Math"/>
                        </a:rPr>
                        <m:t>CS</m:t>
                      </m:r>
                      <m:r>
                        <a:rPr lang="en-US" sz="2200" b="0" i="0">
                          <a:solidFill>
                            <a:srgbClr val="0B2B4E"/>
                          </a:solidFill>
                          <a:latin typeface="Cambria Math"/>
                        </a:rPr>
                        <m:t> + </m:t>
                      </m:r>
                      <m:r>
                        <m:rPr>
                          <m:sty m:val="p"/>
                        </m:rPr>
                        <a:rPr lang="en-US" sz="2200" b="0" i="0">
                          <a:solidFill>
                            <a:srgbClr val="0B2B4E"/>
                          </a:solidFill>
                          <a:latin typeface="Cambria Math"/>
                        </a:rPr>
                        <m:t>PS</m:t>
                      </m:r>
                    </m:oMath>
                  </m:oMathPara>
                </a14:m>
                <a:endParaRPr lang="en-US" sz="2200"/>
              </a:p>
            </p:txBody>
          </p:sp>
        </mc:Choice>
        <mc:Fallback xmlns="">
          <p:sp>
            <p:nvSpPr>
              <p:cNvPr id="10" name="TextBox 9"/>
              <p:cNvSpPr txBox="1">
                <a:spLocks noRot="1" noChangeAspect="1" noMove="1" noResize="1" noEditPoints="1" noAdjustHandles="1" noChangeArrowheads="1" noChangeShapeType="1" noTextEdit="1"/>
              </p:cNvSpPr>
              <p:nvPr/>
            </p:nvSpPr>
            <p:spPr>
              <a:xfrm>
                <a:off x="3721608" y="5907024"/>
                <a:ext cx="4754880" cy="548640"/>
              </a:xfrm>
              <a:prstGeom prst="roundRect">
                <a:avLst>
                  <a:gd name="adj" fmla="val 25000"/>
                </a:avLst>
              </a:prstGeom>
              <a:blipFill>
                <a:blip r:embed="rId5"/>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693E6277-CDA5-5C83-80DB-FFFD2EA37ECF}" type="slidenum">
              <a:rPr lang="en-US" sz="1200" dirty="0">
                <a:solidFill>
                  <a:srgbClr val="555B66"/>
                </a:solidFill>
                <a:latin typeface="Calibri"/>
              </a:rPr>
              <a:t>19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Sales Tax: a 10 % Tax on Top of the Listed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170432" y="1792224"/>
            <a:ext cx="0" cy="409651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70432" y="5888736"/>
            <a:ext cx="5285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90778" y="1659636"/>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TextBox 9"/>
          <p:cNvSpPr txBox="1"/>
          <p:nvPr/>
        </p:nvSpPr>
        <p:spPr>
          <a:xfrm>
            <a:off x="6342888" y="5934456"/>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61" name="Group 60">
            <a:extLst>
              <a:ext uri="{FF2B5EF4-FFF2-40B4-BE49-F238E27FC236}">
                <a16:creationId xmlns:a16="http://schemas.microsoft.com/office/drawing/2014/main" id="{0AC881AA-744B-0834-494E-D95963120F45}"/>
              </a:ext>
            </a:extLst>
          </p:cNvPr>
          <p:cNvGrpSpPr/>
          <p:nvPr/>
        </p:nvGrpSpPr>
        <p:grpSpPr>
          <a:xfrm>
            <a:off x="1170432" y="2478938"/>
            <a:ext cx="4246936" cy="2694903"/>
            <a:chOff x="1170432" y="2478938"/>
            <a:chExt cx="4246936" cy="2694903"/>
          </a:xfrm>
        </p:grpSpPr>
        <p:cxnSp>
          <p:nvCxnSpPr>
            <p:cNvPr id="15" name="Connector 14"/>
            <p:cNvCxnSpPr/>
            <p:nvPr/>
          </p:nvCxnSpPr>
          <p:spPr>
            <a:xfrm flipV="1">
              <a:off x="1170432" y="2714604"/>
              <a:ext cx="4003409" cy="245923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20392" y="2478938"/>
              <a:ext cx="196976" cy="292608"/>
            </a:xfrm>
            <a:prstGeom prst="rect">
              <a:avLst/>
            </a:prstGeom>
            <a:noFill/>
          </p:spPr>
          <p:txBody>
            <a:bodyPr wrap="square" lIns="0" tIns="0" rIns="0" bIns="0">
              <a:spAutoFit/>
            </a:bodyPr>
            <a:lstStyle/>
            <a:p>
              <a:pPr algn="l"/>
              <a:r>
                <a:rPr sz="1900" b="1" i="1" u="none">
                  <a:solidFill>
                    <a:srgbClr val="0B2B4E"/>
                  </a:solidFill>
                  <a:latin typeface="Calibri"/>
                </a:rPr>
                <a:t>S</a:t>
              </a:r>
            </a:p>
          </p:txBody>
        </p:sp>
      </p:grpSp>
      <p:grpSp>
        <p:nvGrpSpPr>
          <p:cNvPr id="60" name="Group 59">
            <a:extLst>
              <a:ext uri="{FF2B5EF4-FFF2-40B4-BE49-F238E27FC236}">
                <a16:creationId xmlns:a16="http://schemas.microsoft.com/office/drawing/2014/main" id="{CEF71892-6DB9-6D9C-6DE6-7893A3C01652}"/>
              </a:ext>
            </a:extLst>
          </p:cNvPr>
          <p:cNvGrpSpPr/>
          <p:nvPr/>
        </p:nvGrpSpPr>
        <p:grpSpPr>
          <a:xfrm>
            <a:off x="1170432" y="2314263"/>
            <a:ext cx="4647921" cy="3431494"/>
            <a:chOff x="1170432" y="2314263"/>
            <a:chExt cx="4647921" cy="3431494"/>
          </a:xfrm>
        </p:grpSpPr>
        <p:cxnSp>
          <p:nvCxnSpPr>
            <p:cNvPr id="19" name="Connector 18"/>
            <p:cNvCxnSpPr/>
            <p:nvPr/>
          </p:nvCxnSpPr>
          <p:spPr>
            <a:xfrm>
              <a:off x="1170432" y="2314263"/>
              <a:ext cx="4468922" cy="3431494"/>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592802" y="5420729"/>
              <a:ext cx="225551" cy="292608"/>
            </a:xfrm>
            <a:prstGeom prst="rect">
              <a:avLst/>
            </a:prstGeom>
            <a:noFill/>
          </p:spPr>
          <p:txBody>
            <a:bodyPr wrap="square" lIns="0" tIns="0" rIns="0" bIns="0">
              <a:spAutoFit/>
            </a:bodyPr>
            <a:lstStyle/>
            <a:p>
              <a:pPr algn="l"/>
              <a:r>
                <a:rPr sz="1900" b="1" i="1" u="none">
                  <a:solidFill>
                    <a:srgbClr val="C00000"/>
                  </a:solidFill>
                  <a:latin typeface="Calibri"/>
                </a:rPr>
                <a:t>D</a:t>
              </a:r>
            </a:p>
          </p:txBody>
        </p:sp>
      </p:grpSp>
      <p:grpSp>
        <p:nvGrpSpPr>
          <p:cNvPr id="129" name="Group 128">
            <a:extLst>
              <a:ext uri="{FF2B5EF4-FFF2-40B4-BE49-F238E27FC236}">
                <a16:creationId xmlns:a16="http://schemas.microsoft.com/office/drawing/2014/main" id="{79057695-D11C-5D3B-1F60-ADBCD4C3B084}"/>
              </a:ext>
            </a:extLst>
          </p:cNvPr>
          <p:cNvGrpSpPr/>
          <p:nvPr/>
        </p:nvGrpSpPr>
        <p:grpSpPr>
          <a:xfrm>
            <a:off x="700278" y="4083488"/>
            <a:ext cx="2021863" cy="274320"/>
            <a:chOff x="700278" y="4083488"/>
            <a:chExt cx="2021863" cy="274320"/>
          </a:xfrm>
        </p:grpSpPr>
        <p:cxnSp>
          <p:nvCxnSpPr>
            <p:cNvPr id="25" name="Connector 24"/>
            <p:cNvCxnSpPr/>
            <p:nvPr/>
          </p:nvCxnSpPr>
          <p:spPr>
            <a:xfrm>
              <a:off x="1170432" y="4220648"/>
              <a:ext cx="1551709"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00278" y="4083488"/>
              <a:ext cx="397002" cy="274320"/>
            </a:xfrm>
            <a:prstGeom prst="rect">
              <a:avLst/>
            </a:prstGeom>
            <a:noFill/>
          </p:spPr>
          <p:txBody>
            <a:bodyPr wrap="square" lIns="0" tIns="0" rIns="0" bIns="0">
              <a:spAutoFit/>
            </a:bodyPr>
            <a:lstStyle/>
            <a:p>
              <a:pPr algn="r"/>
              <a:r>
                <a:rPr sz="1700" b="1" i="1" u="none" dirty="0">
                  <a:solidFill>
                    <a:srgbClr val="0B2B4E"/>
                  </a:solidFill>
                  <a:latin typeface="Calibri"/>
                </a:rPr>
                <a:t>P</a:t>
              </a:r>
              <a:r>
                <a:rPr sz="1700" b="1" i="1" u="none" baseline="-25000" dirty="0">
                  <a:solidFill>
                    <a:srgbClr val="0B2B4E"/>
                  </a:solidFill>
                  <a:latin typeface="Calibri"/>
                </a:rPr>
                <a:t>S</a:t>
              </a:r>
            </a:p>
          </p:txBody>
        </p:sp>
      </p:grpSp>
      <p:grpSp>
        <p:nvGrpSpPr>
          <p:cNvPr id="137" name="Group 136">
            <a:extLst>
              <a:ext uri="{FF2B5EF4-FFF2-40B4-BE49-F238E27FC236}">
                <a16:creationId xmlns:a16="http://schemas.microsoft.com/office/drawing/2014/main" id="{FAEA240B-5D42-490F-8651-A723CDAAE6D2}"/>
              </a:ext>
            </a:extLst>
          </p:cNvPr>
          <p:cNvGrpSpPr/>
          <p:nvPr/>
        </p:nvGrpSpPr>
        <p:grpSpPr>
          <a:xfrm>
            <a:off x="690613" y="3368594"/>
            <a:ext cx="2201454" cy="2849326"/>
            <a:chOff x="690613" y="3368594"/>
            <a:chExt cx="2201454" cy="2849326"/>
          </a:xfrm>
        </p:grpSpPr>
        <p:grpSp>
          <p:nvGrpSpPr>
            <p:cNvPr id="128" name="Group 127">
              <a:extLst>
                <a:ext uri="{FF2B5EF4-FFF2-40B4-BE49-F238E27FC236}">
                  <a16:creationId xmlns:a16="http://schemas.microsoft.com/office/drawing/2014/main" id="{4CBD619B-C20D-7E01-1800-DE894358C7BA}"/>
                </a:ext>
              </a:extLst>
            </p:cNvPr>
            <p:cNvGrpSpPr/>
            <p:nvPr/>
          </p:nvGrpSpPr>
          <p:grpSpPr>
            <a:xfrm>
              <a:off x="690613" y="3368594"/>
              <a:ext cx="2040913" cy="2520142"/>
              <a:chOff x="681228" y="3368594"/>
              <a:chExt cx="2040913" cy="2520142"/>
            </a:xfrm>
          </p:grpSpPr>
          <p:cxnSp>
            <p:nvCxnSpPr>
              <p:cNvPr id="21" name="Connector 20"/>
              <p:cNvCxnSpPr/>
              <p:nvPr/>
            </p:nvCxnSpPr>
            <p:spPr>
              <a:xfrm>
                <a:off x="1170432" y="3505754"/>
                <a:ext cx="1551709"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1228" y="3368594"/>
                <a:ext cx="416052" cy="274320"/>
              </a:xfrm>
              <a:prstGeom prst="rect">
                <a:avLst/>
              </a:prstGeom>
              <a:noFill/>
            </p:spPr>
            <p:txBody>
              <a:bodyPr wrap="square" lIns="0" tIns="0" rIns="0" bIns="0">
                <a:spAutoFit/>
              </a:bodyPr>
              <a:lstStyle/>
              <a:p>
                <a:pPr algn="r"/>
                <a:r>
                  <a:rPr sz="1700" b="1" i="1" u="none">
                    <a:solidFill>
                      <a:srgbClr val="0B2B4E"/>
                    </a:solidFill>
                    <a:latin typeface="Calibri"/>
                  </a:rPr>
                  <a:t>P</a:t>
                </a:r>
                <a:r>
                  <a:rPr sz="1700" b="1" i="1" u="none" baseline="-25000">
                    <a:solidFill>
                      <a:srgbClr val="0B2B4E"/>
                    </a:solidFill>
                    <a:latin typeface="Calibri"/>
                  </a:rPr>
                  <a:t>B</a:t>
                </a:r>
              </a:p>
            </p:txBody>
          </p:sp>
          <p:cxnSp>
            <p:nvCxnSpPr>
              <p:cNvPr id="27" name="Connector 26"/>
              <p:cNvCxnSpPr/>
              <p:nvPr/>
            </p:nvCxnSpPr>
            <p:spPr>
              <a:xfrm flipV="1">
                <a:off x="2722141" y="3505754"/>
                <a:ext cx="0" cy="2382982"/>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sp>
          <p:nvSpPr>
            <p:cNvPr id="28" name="TextBox 27"/>
            <p:cNvSpPr txBox="1"/>
            <p:nvPr/>
          </p:nvSpPr>
          <p:spPr>
            <a:xfrm>
              <a:off x="2552215" y="5943600"/>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r>
                <a:rPr sz="1700" b="1" i="1" u="none" baseline="-25000">
                  <a:solidFill>
                    <a:srgbClr val="0B2B4E"/>
                  </a:solidFill>
                  <a:latin typeface="Calibri"/>
                </a:rPr>
                <a:t>1</a:t>
              </a:r>
            </a:p>
          </p:txBody>
        </p:sp>
      </p:grpSp>
      <p:grpSp>
        <p:nvGrpSpPr>
          <p:cNvPr id="62" name="Group 61">
            <a:extLst>
              <a:ext uri="{FF2B5EF4-FFF2-40B4-BE49-F238E27FC236}">
                <a16:creationId xmlns:a16="http://schemas.microsoft.com/office/drawing/2014/main" id="{0F32EC92-8325-8C88-1D94-901D00A1935E}"/>
              </a:ext>
            </a:extLst>
          </p:cNvPr>
          <p:cNvGrpSpPr/>
          <p:nvPr/>
        </p:nvGrpSpPr>
        <p:grpSpPr>
          <a:xfrm>
            <a:off x="803460" y="3756613"/>
            <a:ext cx="2613775" cy="2452163"/>
            <a:chOff x="795528" y="3765757"/>
            <a:chExt cx="2613775" cy="2452163"/>
          </a:xfrm>
        </p:grpSpPr>
        <p:cxnSp>
          <p:nvCxnSpPr>
            <p:cNvPr id="23" name="Connector 22"/>
            <p:cNvCxnSpPr/>
            <p:nvPr/>
          </p:nvCxnSpPr>
          <p:spPr>
            <a:xfrm>
              <a:off x="1170432" y="3902917"/>
              <a:ext cx="2068945"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95528" y="3765757"/>
              <a:ext cx="301752" cy="274320"/>
            </a:xfrm>
            <a:prstGeom prst="rect">
              <a:avLst/>
            </a:prstGeom>
            <a:noFill/>
          </p:spPr>
          <p:txBody>
            <a:bodyPr wrap="square" lIns="0" tIns="0" rIns="0" bIns="0">
              <a:spAutoFit/>
            </a:bodyPr>
            <a:lstStyle/>
            <a:p>
              <a:pPr algn="r"/>
              <a:r>
                <a:rPr sz="1700" b="1" i="1" u="none">
                  <a:solidFill>
                    <a:srgbClr val="0B2B4E"/>
                  </a:solidFill>
                  <a:latin typeface="Calibri"/>
                </a:rPr>
                <a:t>P</a:t>
              </a:r>
              <a:r>
                <a:rPr sz="1700" b="1" i="1" u="none" baseline="-25000">
                  <a:solidFill>
                    <a:srgbClr val="0B2B4E"/>
                  </a:solidFill>
                  <a:latin typeface="Calibri"/>
                </a:rPr>
                <a:t>0</a:t>
              </a:r>
            </a:p>
          </p:txBody>
        </p:sp>
        <p:cxnSp>
          <p:nvCxnSpPr>
            <p:cNvPr id="29" name="Connector 28"/>
            <p:cNvCxnSpPr/>
            <p:nvPr/>
          </p:nvCxnSpPr>
          <p:spPr>
            <a:xfrm flipV="1">
              <a:off x="3239377" y="3902917"/>
              <a:ext cx="0" cy="1985819"/>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69451" y="5943600"/>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r>
                <a:rPr sz="1700" b="1" i="1" u="none" baseline="-25000">
                  <a:solidFill>
                    <a:srgbClr val="0B2B4E"/>
                  </a:solidFill>
                  <a:latin typeface="Calibri"/>
                </a:rPr>
                <a:t>0</a:t>
              </a:r>
            </a:p>
          </p:txBody>
        </p:sp>
      </p:grpSp>
      <p:grpSp>
        <p:nvGrpSpPr>
          <p:cNvPr id="131" name="Group 130">
            <a:extLst>
              <a:ext uri="{FF2B5EF4-FFF2-40B4-BE49-F238E27FC236}">
                <a16:creationId xmlns:a16="http://schemas.microsoft.com/office/drawing/2014/main" id="{E4C136E5-A0A9-5965-7890-7675E319F1C7}"/>
              </a:ext>
            </a:extLst>
          </p:cNvPr>
          <p:cNvGrpSpPr/>
          <p:nvPr/>
        </p:nvGrpSpPr>
        <p:grpSpPr>
          <a:xfrm>
            <a:off x="1170432" y="3505754"/>
            <a:ext cx="2068945" cy="445377"/>
            <a:chOff x="1170432" y="3505754"/>
            <a:chExt cx="2068945" cy="445377"/>
          </a:xfrm>
        </p:grpSpPr>
        <p:sp>
          <p:nvSpPr>
            <p:cNvPr id="11" name="Rectangle 10"/>
            <p:cNvSpPr/>
            <p:nvPr/>
          </p:nvSpPr>
          <p:spPr>
            <a:xfrm>
              <a:off x="1170432" y="3505754"/>
              <a:ext cx="1551709" cy="397163"/>
            </a:xfrm>
            <a:custGeom>
              <a:avLst/>
              <a:gdLst/>
              <a:ahLst/>
              <a:cxnLst/>
              <a:rect l="0" t="0" r="r" b="b"/>
              <a:pathLst>
                <a:path w="1551709" h="397163">
                  <a:moveTo>
                    <a:pt x="0" y="397163"/>
                  </a:moveTo>
                  <a:lnTo>
                    <a:pt x="0" y="0"/>
                  </a:lnTo>
                  <a:lnTo>
                    <a:pt x="1551709" y="0"/>
                  </a:lnTo>
                  <a:lnTo>
                    <a:pt x="1551709" y="397163"/>
                  </a:lnTo>
                  <a:close/>
                </a:path>
              </a:pathLst>
            </a:custGeom>
            <a:solidFill>
              <a:srgbClr val="A2162A">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22141" y="3505754"/>
              <a:ext cx="517236" cy="397163"/>
            </a:xfrm>
            <a:custGeom>
              <a:avLst/>
              <a:gdLst/>
              <a:ahLst/>
              <a:cxnLst/>
              <a:rect l="0" t="0" r="r" b="b"/>
              <a:pathLst>
                <a:path w="517236" h="397163">
                  <a:moveTo>
                    <a:pt x="0" y="397163"/>
                  </a:moveTo>
                  <a:lnTo>
                    <a:pt x="0" y="0"/>
                  </a:lnTo>
                  <a:lnTo>
                    <a:pt x="517236" y="397163"/>
                  </a:lnTo>
                  <a:close/>
                </a:path>
              </a:pathLst>
            </a:custGeom>
            <a:solidFill>
              <a:srgbClr val="2E5AA8">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640101" y="3548888"/>
              <a:ext cx="457200" cy="310896"/>
            </a:xfrm>
            <a:prstGeom prst="rect">
              <a:avLst/>
            </a:prstGeom>
            <a:noFill/>
          </p:spPr>
          <p:txBody>
            <a:bodyPr wrap="square" lIns="0" tIns="0" rIns="0" bIns="0">
              <a:spAutoFit/>
            </a:bodyPr>
            <a:lstStyle/>
            <a:p>
              <a:pPr algn="ctr"/>
              <a:r>
                <a:rPr sz="1700" b="1" i="0" u="none">
                  <a:solidFill>
                    <a:srgbClr val="0B2B4E"/>
                  </a:solidFill>
                  <a:latin typeface="Calibri"/>
                </a:rPr>
                <a:t>A</a:t>
              </a:r>
            </a:p>
          </p:txBody>
        </p:sp>
        <p:sp>
          <p:nvSpPr>
            <p:cNvPr id="33" name="TextBox 32"/>
            <p:cNvSpPr txBox="1"/>
            <p:nvPr/>
          </p:nvSpPr>
          <p:spPr>
            <a:xfrm>
              <a:off x="2651815" y="3640235"/>
              <a:ext cx="457200" cy="310896"/>
            </a:xfrm>
            <a:prstGeom prst="rect">
              <a:avLst/>
            </a:prstGeom>
            <a:noFill/>
          </p:spPr>
          <p:txBody>
            <a:bodyPr wrap="square" lIns="0" tIns="0" rIns="0" bIns="0">
              <a:spAutoFit/>
            </a:bodyPr>
            <a:lstStyle/>
            <a:p>
              <a:pPr algn="ctr"/>
              <a:r>
                <a:rPr sz="1700" b="1" i="0" u="none">
                  <a:solidFill>
                    <a:srgbClr val="0B2B4E"/>
                  </a:solidFill>
                  <a:latin typeface="Calibri"/>
                </a:rPr>
                <a:t>B</a:t>
              </a:r>
            </a:p>
          </p:txBody>
        </p:sp>
      </p:grpSp>
      <p:grpSp>
        <p:nvGrpSpPr>
          <p:cNvPr id="133" name="Group 132">
            <a:extLst>
              <a:ext uri="{FF2B5EF4-FFF2-40B4-BE49-F238E27FC236}">
                <a16:creationId xmlns:a16="http://schemas.microsoft.com/office/drawing/2014/main" id="{026ECDD2-80A2-065B-97D0-3094750E0B45}"/>
              </a:ext>
            </a:extLst>
          </p:cNvPr>
          <p:cNvGrpSpPr/>
          <p:nvPr/>
        </p:nvGrpSpPr>
        <p:grpSpPr>
          <a:xfrm>
            <a:off x="1170432" y="3897597"/>
            <a:ext cx="2068945" cy="323051"/>
            <a:chOff x="1170432" y="3897597"/>
            <a:chExt cx="2068945" cy="323051"/>
          </a:xfrm>
        </p:grpSpPr>
        <p:sp>
          <p:nvSpPr>
            <p:cNvPr id="12" name="Rectangle 11"/>
            <p:cNvSpPr/>
            <p:nvPr/>
          </p:nvSpPr>
          <p:spPr>
            <a:xfrm>
              <a:off x="1170432" y="3902917"/>
              <a:ext cx="1551709" cy="317731"/>
            </a:xfrm>
            <a:custGeom>
              <a:avLst/>
              <a:gdLst/>
              <a:ahLst/>
              <a:cxnLst/>
              <a:rect l="0" t="0" r="r" b="b"/>
              <a:pathLst>
                <a:path w="1551709" h="317731">
                  <a:moveTo>
                    <a:pt x="0" y="317731"/>
                  </a:moveTo>
                  <a:lnTo>
                    <a:pt x="0" y="0"/>
                  </a:lnTo>
                  <a:lnTo>
                    <a:pt x="1551709" y="0"/>
                  </a:lnTo>
                  <a:lnTo>
                    <a:pt x="1551709" y="317731"/>
                  </a:lnTo>
                  <a:close/>
                </a:path>
              </a:pathLst>
            </a:custGeom>
            <a:solidFill>
              <a:srgbClr val="555B66">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22141" y="3902917"/>
              <a:ext cx="517236" cy="317731"/>
            </a:xfrm>
            <a:custGeom>
              <a:avLst/>
              <a:gdLst/>
              <a:ahLst/>
              <a:cxnLst/>
              <a:rect l="0" t="0" r="r" b="b"/>
              <a:pathLst>
                <a:path w="517236" h="317731">
                  <a:moveTo>
                    <a:pt x="0" y="317731"/>
                  </a:moveTo>
                  <a:lnTo>
                    <a:pt x="0" y="0"/>
                  </a:lnTo>
                  <a:lnTo>
                    <a:pt x="517236" y="0"/>
                  </a:lnTo>
                  <a:close/>
                </a:path>
              </a:pathLst>
            </a:custGeom>
            <a:solidFill>
              <a:srgbClr val="B8860B">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640101" y="3906335"/>
              <a:ext cx="457200" cy="310896"/>
            </a:xfrm>
            <a:prstGeom prst="rect">
              <a:avLst/>
            </a:prstGeom>
            <a:noFill/>
          </p:spPr>
          <p:txBody>
            <a:bodyPr wrap="square" lIns="0" tIns="0" rIns="0" bIns="0">
              <a:spAutoFit/>
            </a:bodyPr>
            <a:lstStyle/>
            <a:p>
              <a:pPr algn="ctr"/>
              <a:r>
                <a:rPr sz="1700" b="1" i="0" u="none">
                  <a:solidFill>
                    <a:srgbClr val="0B2B4E"/>
                  </a:solidFill>
                  <a:latin typeface="Calibri"/>
                </a:rPr>
                <a:t>C</a:t>
              </a:r>
            </a:p>
          </p:txBody>
        </p:sp>
        <p:sp>
          <p:nvSpPr>
            <p:cNvPr id="34" name="TextBox 33"/>
            <p:cNvSpPr txBox="1"/>
            <p:nvPr/>
          </p:nvSpPr>
          <p:spPr>
            <a:xfrm>
              <a:off x="2651815" y="3897597"/>
              <a:ext cx="457200" cy="310896"/>
            </a:xfrm>
            <a:prstGeom prst="rect">
              <a:avLst/>
            </a:prstGeom>
            <a:noFill/>
          </p:spPr>
          <p:txBody>
            <a:bodyPr wrap="square" lIns="0" tIns="0" rIns="0" bIns="0">
              <a:spAutoFit/>
            </a:bodyPr>
            <a:lstStyle/>
            <a:p>
              <a:pPr algn="ctr"/>
              <a:r>
                <a:rPr sz="1700" b="1" i="0" u="none">
                  <a:solidFill>
                    <a:srgbClr val="0B2B4E"/>
                  </a:solidFill>
                  <a:latin typeface="Calibri"/>
                </a:rPr>
                <a:t>D</a:t>
              </a:r>
            </a:p>
          </p:txBody>
        </p:sp>
      </p:grpSp>
      <p:grpSp>
        <p:nvGrpSpPr>
          <p:cNvPr id="130" name="Group 129">
            <a:extLst>
              <a:ext uri="{FF2B5EF4-FFF2-40B4-BE49-F238E27FC236}">
                <a16:creationId xmlns:a16="http://schemas.microsoft.com/office/drawing/2014/main" id="{4C76791C-BD46-9C11-9D99-6766065DDC53}"/>
              </a:ext>
            </a:extLst>
          </p:cNvPr>
          <p:cNvGrpSpPr/>
          <p:nvPr/>
        </p:nvGrpSpPr>
        <p:grpSpPr>
          <a:xfrm>
            <a:off x="402336" y="3090671"/>
            <a:ext cx="438912" cy="1554480"/>
            <a:chOff x="402336" y="3090671"/>
            <a:chExt cx="438912" cy="1554480"/>
          </a:xfrm>
        </p:grpSpPr>
        <p:sp>
          <p:nvSpPr>
            <p:cNvPr id="35" name="Left Brace 34"/>
            <p:cNvSpPr/>
            <p:nvPr/>
          </p:nvSpPr>
          <p:spPr>
            <a:xfrm>
              <a:off x="694944" y="3505754"/>
              <a:ext cx="146304" cy="714894"/>
            </a:xfrm>
            <a:prstGeom prst="leftBrace">
              <a:avLst/>
            </a:prstGeom>
            <a:noFill/>
            <a:ln w="22225">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rot="16200000">
              <a:off x="-219456" y="3712463"/>
              <a:ext cx="1554480" cy="310896"/>
            </a:xfrm>
            <a:prstGeom prst="rect">
              <a:avLst/>
            </a:prstGeom>
            <a:noFill/>
          </p:spPr>
          <p:txBody>
            <a:bodyPr wrap="square" lIns="0" tIns="0" rIns="0" bIns="0">
              <a:spAutoFit/>
            </a:bodyPr>
            <a:lstStyle/>
            <a:p>
              <a:pPr algn="ctr"/>
              <a:r>
                <a:rPr sz="1500" b="1" i="1" u="none" dirty="0">
                  <a:solidFill>
                    <a:srgbClr val="A2162A"/>
                  </a:solidFill>
                  <a:latin typeface="Calibri"/>
                </a:rPr>
                <a:t>P</a:t>
              </a:r>
              <a:r>
                <a:rPr sz="1500" b="1" i="1" u="none" baseline="-25000" dirty="0">
                  <a:solidFill>
                    <a:srgbClr val="A2162A"/>
                  </a:solidFill>
                  <a:latin typeface="Calibri"/>
                </a:rPr>
                <a:t>B</a:t>
              </a:r>
              <a:r>
                <a:rPr sz="1500" b="1" i="1" u="none" dirty="0">
                  <a:solidFill>
                    <a:srgbClr val="A2162A"/>
                  </a:solidFill>
                  <a:latin typeface="Calibri"/>
                </a:rPr>
                <a:t> − P</a:t>
              </a:r>
              <a:r>
                <a:rPr sz="1500" b="1" i="1" u="none" baseline="-25000" dirty="0">
                  <a:solidFill>
                    <a:srgbClr val="A2162A"/>
                  </a:solidFill>
                  <a:latin typeface="Calibri"/>
                </a:rPr>
                <a:t>S</a:t>
              </a:r>
              <a:r>
                <a:rPr sz="1500" b="1" i="1" u="none" dirty="0">
                  <a:solidFill>
                    <a:srgbClr val="A2162A"/>
                  </a:solidFill>
                  <a:latin typeface="Calibri"/>
                </a:rPr>
                <a:t> = t</a:t>
              </a:r>
            </a:p>
          </p:txBody>
        </p:sp>
      </p:grpSp>
      <p:grpSp>
        <p:nvGrpSpPr>
          <p:cNvPr id="63" name="Group 62">
            <a:extLst>
              <a:ext uri="{FF2B5EF4-FFF2-40B4-BE49-F238E27FC236}">
                <a16:creationId xmlns:a16="http://schemas.microsoft.com/office/drawing/2014/main" id="{02F00655-9C35-DE6A-0BA2-B3C521864E8F}"/>
              </a:ext>
            </a:extLst>
          </p:cNvPr>
          <p:cNvGrpSpPr/>
          <p:nvPr/>
        </p:nvGrpSpPr>
        <p:grpSpPr>
          <a:xfrm>
            <a:off x="1170432" y="1878676"/>
            <a:ext cx="3517946" cy="2988782"/>
            <a:chOff x="1170432" y="1878676"/>
            <a:chExt cx="3517946" cy="2988782"/>
          </a:xfrm>
        </p:grpSpPr>
        <p:cxnSp>
          <p:nvCxnSpPr>
            <p:cNvPr id="17" name="Connector 16"/>
            <p:cNvCxnSpPr/>
            <p:nvPr/>
          </p:nvCxnSpPr>
          <p:spPr>
            <a:xfrm flipV="1">
              <a:off x="1170432" y="2191711"/>
              <a:ext cx="3049108" cy="2675747"/>
            </a:xfrm>
            <a:prstGeom prst="line">
              <a:avLst/>
            </a:prstGeom>
            <a:ln w="34925">
              <a:solidFill>
                <a:srgbClr val="007A3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25017" y="1878676"/>
              <a:ext cx="273177" cy="292608"/>
            </a:xfrm>
            <a:prstGeom prst="rect">
              <a:avLst/>
            </a:prstGeom>
            <a:noFill/>
          </p:spPr>
          <p:txBody>
            <a:bodyPr wrap="square" lIns="0" tIns="0" rIns="0" bIns="0">
              <a:spAutoFit/>
            </a:bodyPr>
            <a:lstStyle/>
            <a:p>
              <a:pPr algn="l"/>
              <a:r>
                <a:rPr sz="1900" b="1" i="1" u="none" dirty="0">
                  <a:solidFill>
                    <a:srgbClr val="007A33"/>
                  </a:solidFill>
                  <a:latin typeface="Calibri"/>
                </a:rPr>
                <a:t>S’</a:t>
              </a:r>
            </a:p>
          </p:txBody>
        </p:sp>
        <p:cxnSp>
          <p:nvCxnSpPr>
            <p:cNvPr id="37" name="Connector 36"/>
            <p:cNvCxnSpPr/>
            <p:nvPr/>
          </p:nvCxnSpPr>
          <p:spPr>
            <a:xfrm flipV="1">
              <a:off x="3591098" y="2743200"/>
              <a:ext cx="0" cy="943660"/>
            </a:xfrm>
            <a:prstGeom prst="line">
              <a:avLst/>
            </a:prstGeom>
            <a:ln w="31750">
              <a:solidFill>
                <a:srgbClr val="007A33"/>
              </a:solidFill>
              <a:headEnd type="triangle" w="med"/>
              <a:tailEnd type="triangle" w="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682538" y="2870135"/>
              <a:ext cx="1005840" cy="310896"/>
            </a:xfrm>
            <a:prstGeom prst="rect">
              <a:avLst/>
            </a:prstGeom>
            <a:noFill/>
          </p:spPr>
          <p:txBody>
            <a:bodyPr wrap="square" lIns="0" tIns="0" rIns="0" bIns="0">
              <a:spAutoFit/>
            </a:bodyPr>
            <a:lstStyle/>
            <a:p>
              <a:pPr algn="l"/>
              <a:r>
                <a:rPr sz="1500" b="1" i="0" u="none">
                  <a:solidFill>
                    <a:srgbClr val="007A33"/>
                  </a:solidFill>
                  <a:latin typeface="Calibri"/>
                </a:rPr>
                <a:t>tax (t)</a:t>
              </a:r>
            </a:p>
          </p:txBody>
        </p:sp>
      </p:grpSp>
      <p:grpSp>
        <p:nvGrpSpPr>
          <p:cNvPr id="159" name="Group pair 159"/>
          <p:cNvGrpSpPr/>
          <p:nvPr/>
        </p:nvGrpSpPr>
        <p:grpSpPr>
          <a:xfrm>
            <a:off x="7040880" y="1444752"/>
            <a:ext cx="4709160" cy="909828"/>
            <a:chOff x="7040880" y="1417320"/>
            <a:chExt cx="4709160" cy="1600200"/>
          </a:xfrm>
        </p:grpSpPr>
        <p:sp>
          <p:nvSpPr>
            <p:cNvPr id="39" name="Rounded Rectangle 38"/>
            <p:cNvSpPr/>
            <p:nvPr/>
          </p:nvSpPr>
          <p:spPr>
            <a:xfrm>
              <a:off x="7040880" y="1417320"/>
              <a:ext cx="4709160" cy="1600200"/>
            </a:xfrm>
            <a:prstGeom prst="roundRect">
              <a:avLst>
                <a:gd name="adj" fmla="val 10000"/>
              </a:avLst>
            </a:prstGeom>
            <a:solidFill>
              <a:srgbClr val="FDF6E6"/>
            </a:solidFill>
            <a:ln w="12700">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95744" y="1554480"/>
              <a:ext cx="4599432" cy="1325880"/>
            </a:xfrm>
            <a:prstGeom prst="rect">
              <a:avLst/>
            </a:prstGeom>
            <a:noFill/>
          </p:spPr>
          <p:txBody>
            <a:bodyPr wrap="square" lIns="45720" tIns="0" rIns="45720" bIns="0" anchor="ctr">
              <a:spAutoFit/>
            </a:bodyPr>
            <a:lstStyle/>
            <a:p>
              <a:pPr marL="285750" indent="-285750" algn="l">
                <a:buFont typeface="Arial" panose="020B0604020202020204" pitchFamily="34" charset="0"/>
                <a:buChar char="•"/>
              </a:pPr>
              <a:r>
                <a:rPr sz="1800" b="0" i="1" u="none" dirty="0">
                  <a:solidFill>
                    <a:srgbClr val="0B2B4E"/>
                  </a:solidFill>
                  <a:latin typeface="Calibri"/>
                </a:rPr>
                <a:t>Price received by the seller (P</a:t>
              </a:r>
              <a:r>
                <a:rPr sz="1800" b="0" i="1" u="none" baseline="-25000" dirty="0">
                  <a:solidFill>
                    <a:srgbClr val="0B2B4E"/>
                  </a:solidFill>
                  <a:latin typeface="Calibri"/>
                </a:rPr>
                <a:t>S</a:t>
              </a:r>
              <a:r>
                <a:rPr sz="1800" b="0" i="1" u="none" dirty="0">
                  <a:solidFill>
                    <a:srgbClr val="0B2B4E"/>
                  </a:solidFill>
                  <a:latin typeface="Calibri"/>
                </a:rPr>
                <a:t>) drops.</a:t>
              </a:r>
            </a:p>
            <a:p>
              <a:pPr marL="285750" indent="-285750" algn="l">
                <a:buFont typeface="Arial" panose="020B0604020202020204" pitchFamily="34" charset="0"/>
                <a:buChar char="•"/>
              </a:pPr>
              <a:r>
                <a:rPr sz="1800" b="0" i="1" u="none" dirty="0">
                  <a:solidFill>
                    <a:srgbClr val="0B2B4E"/>
                  </a:solidFill>
                  <a:latin typeface="Calibri"/>
                </a:rPr>
                <a:t>Total price paid by the buyer (P</a:t>
              </a:r>
              <a:r>
                <a:rPr sz="1800" b="0" i="1" u="none" baseline="-25000" dirty="0">
                  <a:solidFill>
                    <a:srgbClr val="0B2B4E"/>
                  </a:solidFill>
                  <a:latin typeface="Calibri"/>
                </a:rPr>
                <a:t>B</a:t>
              </a:r>
              <a:r>
                <a:rPr sz="1800" b="0" i="1" u="none" dirty="0">
                  <a:solidFill>
                    <a:srgbClr val="0B2B4E"/>
                  </a:solidFill>
                  <a:latin typeface="Calibri"/>
                </a:rPr>
                <a:t>, inclusive of tax) increases, but by less than the tax.</a:t>
              </a:r>
            </a:p>
          </p:txBody>
        </p:sp>
      </p:grpSp>
      <p:grpSp>
        <p:nvGrpSpPr>
          <p:cNvPr id="132" name="Group 131">
            <a:extLst>
              <a:ext uri="{FF2B5EF4-FFF2-40B4-BE49-F238E27FC236}">
                <a16:creationId xmlns:a16="http://schemas.microsoft.com/office/drawing/2014/main" id="{326BE45D-4839-D99A-98E2-CDD2432E4663}"/>
              </a:ext>
            </a:extLst>
          </p:cNvPr>
          <p:cNvGrpSpPr/>
          <p:nvPr/>
        </p:nvGrpSpPr>
        <p:grpSpPr>
          <a:xfrm>
            <a:off x="7324344" y="3063240"/>
            <a:ext cx="4526280" cy="310896"/>
            <a:chOff x="7324344" y="3063240"/>
            <a:chExt cx="4526280" cy="310896"/>
          </a:xfrm>
        </p:grpSpPr>
        <p:sp>
          <p:nvSpPr>
            <p:cNvPr id="41" name="Rectangle 40"/>
            <p:cNvSpPr/>
            <p:nvPr/>
          </p:nvSpPr>
          <p:spPr>
            <a:xfrm>
              <a:off x="7324344" y="3127248"/>
              <a:ext cx="182880" cy="182880"/>
            </a:xfrm>
            <a:prstGeom prst="rect">
              <a:avLst/>
            </a:prstGeom>
            <a:solidFill>
              <a:srgbClr val="A2162A">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ight Triangle 41"/>
            <p:cNvSpPr/>
            <p:nvPr/>
          </p:nvSpPr>
          <p:spPr>
            <a:xfrm>
              <a:off x="7525512" y="3127248"/>
              <a:ext cx="182880" cy="182880"/>
            </a:xfrm>
            <a:prstGeom prst="rtTriangle">
              <a:avLst/>
            </a:prstGeom>
            <a:solidFill>
              <a:srgbClr val="2E5AA8">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891272" y="3063240"/>
              <a:ext cx="3959352" cy="310896"/>
            </a:xfrm>
            <a:prstGeom prst="rect">
              <a:avLst/>
            </a:prstGeom>
            <a:noFill/>
          </p:spPr>
          <p:txBody>
            <a:bodyPr wrap="square" lIns="0" tIns="0" rIns="0" bIns="0">
              <a:spAutoFit/>
            </a:bodyPr>
            <a:lstStyle/>
            <a:p>
              <a:pPr algn="l"/>
              <a:r>
                <a:rPr sz="2000" b="0" i="0" u="none">
                  <a:solidFill>
                    <a:srgbClr val="0B2B4E"/>
                  </a:solidFill>
                  <a:latin typeface="Calibri"/>
                </a:rPr>
                <a:t>The buyers lose A + B</a:t>
              </a:r>
            </a:p>
          </p:txBody>
        </p:sp>
      </p:grpSp>
      <p:grpSp>
        <p:nvGrpSpPr>
          <p:cNvPr id="134" name="Group 133">
            <a:extLst>
              <a:ext uri="{FF2B5EF4-FFF2-40B4-BE49-F238E27FC236}">
                <a16:creationId xmlns:a16="http://schemas.microsoft.com/office/drawing/2014/main" id="{3A8C629E-ED71-84E2-52CB-BED3B0ADE6A9}"/>
              </a:ext>
            </a:extLst>
          </p:cNvPr>
          <p:cNvGrpSpPr/>
          <p:nvPr/>
        </p:nvGrpSpPr>
        <p:grpSpPr>
          <a:xfrm>
            <a:off x="7324344" y="3520439"/>
            <a:ext cx="4526280" cy="310896"/>
            <a:chOff x="7324344" y="3520439"/>
            <a:chExt cx="4526280" cy="310896"/>
          </a:xfrm>
        </p:grpSpPr>
        <p:sp>
          <p:nvSpPr>
            <p:cNvPr id="44" name="Rectangle 43"/>
            <p:cNvSpPr/>
            <p:nvPr/>
          </p:nvSpPr>
          <p:spPr>
            <a:xfrm>
              <a:off x="7324344" y="3584448"/>
              <a:ext cx="182880" cy="182880"/>
            </a:xfrm>
            <a:prstGeom prst="rect">
              <a:avLst/>
            </a:prstGeom>
            <a:solidFill>
              <a:srgbClr val="555B66">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ight Triangle 44"/>
            <p:cNvSpPr/>
            <p:nvPr/>
          </p:nvSpPr>
          <p:spPr>
            <a:xfrm flipV="1">
              <a:off x="7525512" y="3584448"/>
              <a:ext cx="182880" cy="182880"/>
            </a:xfrm>
            <a:prstGeom prst="rtTriangle">
              <a:avLst/>
            </a:prstGeom>
            <a:solidFill>
              <a:srgbClr val="B8860B">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891272" y="3520439"/>
              <a:ext cx="3959352" cy="310896"/>
            </a:xfrm>
            <a:prstGeom prst="rect">
              <a:avLst/>
            </a:prstGeom>
            <a:noFill/>
          </p:spPr>
          <p:txBody>
            <a:bodyPr wrap="square" lIns="0" tIns="0" rIns="0" bIns="0">
              <a:spAutoFit/>
            </a:bodyPr>
            <a:lstStyle/>
            <a:p>
              <a:pPr algn="l"/>
              <a:r>
                <a:rPr sz="2000" b="0" i="0" u="none">
                  <a:solidFill>
                    <a:srgbClr val="0B2B4E"/>
                  </a:solidFill>
                  <a:latin typeface="Calibri"/>
                </a:rPr>
                <a:t>The sellers lose C + D</a:t>
              </a:r>
            </a:p>
          </p:txBody>
        </p:sp>
      </p:grpSp>
      <p:grpSp>
        <p:nvGrpSpPr>
          <p:cNvPr id="135" name="Group 134">
            <a:extLst>
              <a:ext uri="{FF2B5EF4-FFF2-40B4-BE49-F238E27FC236}">
                <a16:creationId xmlns:a16="http://schemas.microsoft.com/office/drawing/2014/main" id="{DE2BA0C7-8B50-7ED8-EDF4-1A527613C243}"/>
              </a:ext>
            </a:extLst>
          </p:cNvPr>
          <p:cNvGrpSpPr/>
          <p:nvPr/>
        </p:nvGrpSpPr>
        <p:grpSpPr>
          <a:xfrm>
            <a:off x="7324344" y="4041648"/>
            <a:ext cx="4526280" cy="374904"/>
            <a:chOff x="7324344" y="4041648"/>
            <a:chExt cx="4526280" cy="374904"/>
          </a:xfrm>
        </p:grpSpPr>
        <p:sp>
          <p:nvSpPr>
            <p:cNvPr id="47" name="Right Triangle 46"/>
            <p:cNvSpPr/>
            <p:nvPr/>
          </p:nvSpPr>
          <p:spPr>
            <a:xfrm>
              <a:off x="7324344" y="4041648"/>
              <a:ext cx="182880" cy="182880"/>
            </a:xfrm>
            <a:prstGeom prst="rtTriangle">
              <a:avLst/>
            </a:prstGeom>
            <a:solidFill>
              <a:srgbClr val="2E5AA8">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ight Triangle 47"/>
            <p:cNvSpPr/>
            <p:nvPr/>
          </p:nvSpPr>
          <p:spPr>
            <a:xfrm flipV="1">
              <a:off x="7324344" y="4233672"/>
              <a:ext cx="182880" cy="182880"/>
            </a:xfrm>
            <a:prstGeom prst="rtTriangle">
              <a:avLst/>
            </a:prstGeom>
            <a:solidFill>
              <a:srgbClr val="B8860B">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891272" y="4073652"/>
              <a:ext cx="3959352" cy="310896"/>
            </a:xfrm>
            <a:prstGeom prst="rect">
              <a:avLst/>
            </a:prstGeom>
            <a:noFill/>
          </p:spPr>
          <p:txBody>
            <a:bodyPr wrap="square" lIns="0" tIns="0" rIns="0" bIns="0">
              <a:spAutoFit/>
            </a:bodyPr>
            <a:lstStyle/>
            <a:p>
              <a:pPr algn="l"/>
              <a:r>
                <a:rPr sz="2000" b="0" i="0" u="none">
                  <a:solidFill>
                    <a:srgbClr val="0B2B4E"/>
                  </a:solidFill>
                  <a:latin typeface="Calibri"/>
                </a:rPr>
                <a:t>Deadweight loss: B + D</a:t>
              </a:r>
            </a:p>
          </p:txBody>
        </p:sp>
      </p:grpSp>
      <p:grpSp>
        <p:nvGrpSpPr>
          <p:cNvPr id="136" name="Group 135">
            <a:extLst>
              <a:ext uri="{FF2B5EF4-FFF2-40B4-BE49-F238E27FC236}">
                <a16:creationId xmlns:a16="http://schemas.microsoft.com/office/drawing/2014/main" id="{DCDC190F-A781-67D7-BEA3-AFA6338C6F98}"/>
              </a:ext>
            </a:extLst>
          </p:cNvPr>
          <p:cNvGrpSpPr/>
          <p:nvPr/>
        </p:nvGrpSpPr>
        <p:grpSpPr>
          <a:xfrm>
            <a:off x="7324344" y="4498848"/>
            <a:ext cx="4526280" cy="374904"/>
            <a:chOff x="7324344" y="4498848"/>
            <a:chExt cx="4526280" cy="374904"/>
          </a:xfrm>
        </p:grpSpPr>
        <p:sp>
          <p:nvSpPr>
            <p:cNvPr id="50" name="Rectangle 49"/>
            <p:cNvSpPr/>
            <p:nvPr/>
          </p:nvSpPr>
          <p:spPr>
            <a:xfrm>
              <a:off x="7324344" y="4498848"/>
              <a:ext cx="182880" cy="182880"/>
            </a:xfrm>
            <a:prstGeom prst="rect">
              <a:avLst/>
            </a:prstGeom>
            <a:solidFill>
              <a:srgbClr val="A2162A">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324344" y="4690872"/>
              <a:ext cx="182880" cy="182880"/>
            </a:xfrm>
            <a:prstGeom prst="rect">
              <a:avLst/>
            </a:prstGeom>
            <a:solidFill>
              <a:srgbClr val="555B66">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891272" y="4530852"/>
              <a:ext cx="3959352" cy="310896"/>
            </a:xfrm>
            <a:prstGeom prst="rect">
              <a:avLst/>
            </a:prstGeom>
            <a:noFill/>
          </p:spPr>
          <p:txBody>
            <a:bodyPr wrap="square" lIns="0" tIns="0" rIns="0" bIns="0">
              <a:spAutoFit/>
            </a:bodyPr>
            <a:lstStyle/>
            <a:p>
              <a:pPr algn="l"/>
              <a:r>
                <a:rPr sz="2000" b="0" i="0" u="none">
                  <a:solidFill>
                    <a:srgbClr val="0B2B4E"/>
                  </a:solidFill>
                  <a:latin typeface="Calibri"/>
                </a:rPr>
                <a:t>The government gets A + C</a:t>
              </a:r>
            </a:p>
          </p:txBody>
        </p:sp>
      </p:grpSp>
      <p:sp>
        <p:nvSpPr>
          <p:cNvPr id="53" name="Rectangle 5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56" name="TextBox 55"/>
          <p:cNvSpPr txBox="1"/>
          <p:nvPr/>
        </p:nvSpPr>
        <p:spPr>
          <a:xfrm>
            <a:off x="11475720" y="6583680"/>
            <a:ext cx="502920" cy="292608"/>
          </a:xfrm>
          <a:prstGeom prst="rect">
            <a:avLst/>
          </a:prstGeom>
          <a:noFill/>
        </p:spPr>
        <p:txBody>
          <a:bodyPr wrap="none" lIns="0" tIns="0" rIns="0" bIns="0">
            <a:spAutoFit/>
          </a:bodyPr>
          <a:lstStyle/>
          <a:p>
            <a:pPr algn="r"/>
            <a:fld id="{859291FE-DB9D-5F65-9427-6E3356439D96}" type="slidenum">
              <a:rPr lang="en-US" sz="1200" dirty="0">
                <a:solidFill>
                  <a:srgbClr val="555B66"/>
                </a:solidFill>
                <a:latin typeface="Calibri"/>
              </a:rPr>
              <a:t>20</a:t>
            </a:fld>
            <a:endParaRPr lang="en-US" sz="1200" dirty="0">
              <a:solidFill>
                <a:srgbClr val="555B66"/>
              </a:solidFill>
              <a:latin typeface="Calibri"/>
            </a:endParaRPr>
          </a:p>
        </p:txBody>
      </p:sp>
      <p:grpSp>
        <p:nvGrpSpPr>
          <p:cNvPr id="160" name="Group pair 160"/>
          <p:cNvGrpSpPr/>
          <p:nvPr/>
        </p:nvGrpSpPr>
        <p:grpSpPr>
          <a:xfrm>
            <a:off x="7040880" y="5102352"/>
            <a:ext cx="4709160" cy="786384"/>
            <a:chOff x="7040880" y="5102352"/>
            <a:chExt cx="4709160" cy="786384"/>
          </a:xfrm>
        </p:grpSpPr>
        <p:sp>
          <p:nvSpPr>
            <p:cNvPr id="57" name="Rounded Rectangle 56"/>
            <p:cNvSpPr/>
            <p:nvPr/>
          </p:nvSpPr>
          <p:spPr>
            <a:xfrm>
              <a:off x="7040880" y="5102352"/>
              <a:ext cx="4709160" cy="786384"/>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23760" y="5129784"/>
              <a:ext cx="4343400" cy="731520"/>
            </a:xfrm>
            <a:prstGeom prst="rect">
              <a:avLst/>
            </a:prstGeom>
            <a:noFill/>
          </p:spPr>
          <p:txBody>
            <a:bodyPr wrap="square" lIns="45720" tIns="0" rIns="45720" bIns="0" anchor="ctr">
              <a:spAutoFit/>
            </a:bodyPr>
            <a:lstStyle/>
            <a:p>
              <a:pPr algn="ctr"/>
              <a:r>
                <a:rPr sz="1800" b="1" i="0" u="none" dirty="0">
                  <a:solidFill>
                    <a:srgbClr val="FFFFFF"/>
                  </a:solidFill>
                  <a:latin typeface="Calibri"/>
                </a:rPr>
                <a:t>Taxes on some goods (e.g. cigarettes, gasoline…) can still make sense due to externalities (more below)</a:t>
              </a:r>
            </a:p>
          </p:txBody>
        </p:sp>
      </p:grpSp>
      <p:sp>
        <p:nvSpPr>
          <p:cNvPr id="59" name="Rounded Rectangle 58"/>
          <p:cNvSpPr/>
          <p:nvPr/>
        </p:nvSpPr>
        <p:spPr>
          <a:xfrm>
            <a:off x="9692640" y="5998464"/>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600" b="1">
                <a:solidFill>
                  <a:srgbClr val="E09F3E"/>
                </a:solidFill>
                <a:latin typeface="Calibri"/>
              </a:rPr>
              <a:t>✎  </a:t>
            </a:r>
            <a:r>
              <a:rPr sz="1600" b="1">
                <a:solidFill>
                  <a:srgbClr val="0B2B4E"/>
                </a:solidFill>
                <a:latin typeface="Calibri"/>
              </a:rPr>
              <a:t>Problem Set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Tax Incidence: Who Really Pays?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4" name="Group pair 114"/>
          <p:cNvGrpSpPr/>
          <p:nvPr/>
        </p:nvGrpSpPr>
        <p:grpSpPr>
          <a:xfrm>
            <a:off x="1097280" y="1481328"/>
            <a:ext cx="10058400" cy="960120"/>
            <a:chOff x="1097280" y="1481328"/>
            <a:chExt cx="10058400" cy="960120"/>
          </a:xfrm>
        </p:grpSpPr>
        <p:sp>
          <p:nvSpPr>
            <p:cNvPr id="7" name="Rounded Rectangle 6"/>
            <p:cNvSpPr/>
            <p:nvPr/>
          </p:nvSpPr>
          <p:spPr>
            <a:xfrm>
              <a:off x="1097280" y="1481328"/>
              <a:ext cx="10058400" cy="96012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591056"/>
              <a:ext cx="9692640" cy="740664"/>
            </a:xfrm>
            <a:prstGeom prst="rect">
              <a:avLst/>
            </a:prstGeom>
            <a:noFill/>
          </p:spPr>
          <p:txBody>
            <a:bodyPr wrap="square" lIns="45720" tIns="0" rIns="45720" bIns="0" anchor="ctr">
              <a:spAutoFit/>
            </a:bodyPr>
            <a:lstStyle/>
            <a:p>
              <a:pPr algn="l"/>
              <a:r>
                <a:rPr sz="2100" b="1" i="0" u="none">
                  <a:solidFill>
                    <a:srgbClr val="0B2B4E"/>
                  </a:solidFill>
                  <a:latin typeface="Calibri"/>
                </a:rPr>
                <a:t>Tax incidence:  </a:t>
              </a:r>
              <a:r>
                <a:rPr sz="2100" b="0" i="0" u="none">
                  <a:solidFill>
                    <a:srgbClr val="0B2B4E"/>
                  </a:solidFill>
                  <a:latin typeface="Calibri"/>
                </a:rPr>
                <a:t>which side of the market — buyers or sellers — ends up bearing the burden of the tax</a:t>
              </a:r>
            </a:p>
          </p:txBody>
        </p:sp>
      </p:grpSp>
      <p:sp>
        <p:nvSpPr>
          <p:cNvPr id="9" name="TextBox 8"/>
          <p:cNvSpPr txBox="1"/>
          <p:nvPr/>
        </p:nvSpPr>
        <p:spPr>
          <a:xfrm>
            <a:off x="572039" y="2788920"/>
            <a:ext cx="11155680" cy="260604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Who hands the money to the government does not matter</a:t>
            </a:r>
          </a:p>
          <a:p>
            <a:pPr lvl="1" algn="l"/>
            <a:r>
              <a:rPr dirty="0">
                <a:latin typeface="Calibri"/>
              </a:rPr>
              <a:t>The incidence is the same whether the tax is collected from the buyer or from the seller</a:t>
            </a:r>
          </a:p>
          <a:p>
            <a:pPr algn="l"/>
            <a:r>
              <a:rPr dirty="0">
                <a:latin typeface="Calibri"/>
              </a:rPr>
              <a:t>What matters is the elasticity of supply and demand</a:t>
            </a:r>
          </a:p>
          <a:p>
            <a:pPr lvl="1" algn="l"/>
            <a:r>
              <a:rPr dirty="0">
                <a:latin typeface="Calibri"/>
              </a:rPr>
              <a:t>The side that responds less to price bears more of the tax</a:t>
            </a:r>
          </a:p>
        </p:txBody>
      </p:sp>
      <p:sp>
        <p:nvSpPr>
          <p:cNvPr id="10" name="Rounded Rectangle 9"/>
          <p:cNvSpPr/>
          <p:nvPr/>
        </p:nvSpPr>
        <p:spPr>
          <a:xfrm>
            <a:off x="2379040" y="5376672"/>
            <a:ext cx="7494879"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dirty="0">
                <a:solidFill>
                  <a:srgbClr val="0B2B4E"/>
                </a:solidFill>
                <a:latin typeface="Calibri"/>
              </a:rPr>
              <a:t>The less </a:t>
            </a:r>
            <a:r>
              <a:rPr lang="en-US" sz="2000" b="1" dirty="0">
                <a:solidFill>
                  <a:srgbClr val="0B2B4E"/>
                </a:solidFill>
                <a:latin typeface="Calibri"/>
              </a:rPr>
              <a:t>elastic</a:t>
            </a:r>
            <a:r>
              <a:rPr sz="2000" b="1" dirty="0">
                <a:solidFill>
                  <a:srgbClr val="0B2B4E"/>
                </a:solidFill>
                <a:latin typeface="Calibri"/>
              </a:rPr>
              <a:t> side of the market pays the larger share</a:t>
            </a:r>
            <a:r>
              <a:rPr lang="en-US" sz="2000" b="1" dirty="0">
                <a:solidFill>
                  <a:srgbClr val="0B2B4E"/>
                </a:solidFill>
                <a:latin typeface="Calibri"/>
              </a:rPr>
              <a:t> of a tax</a:t>
            </a:r>
            <a:endParaRPr sz="2000" b="1" dirty="0">
              <a:solidFill>
                <a:srgbClr val="0B2B4E"/>
              </a:solidFill>
              <a:latin typeface="Calibri"/>
            </a:endParaRP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60EF2B8D-DFB0-5EE2-BA1B-BC0C48F01538}" type="slidenum">
              <a:rPr lang="en-US" sz="1200" dirty="0">
                <a:solidFill>
                  <a:srgbClr val="555B66"/>
                </a:solidFill>
                <a:latin typeface="Calibri"/>
              </a:rPr>
              <a:t>21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500"/>
                                        <p:tgtEl>
                                          <p:spTgt spid="9">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fade">
                                      <p:cBhvr>
                                        <p:cTn id="16" dur="500"/>
                                        <p:tgtEl>
                                          <p:spTgt spid="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Minimum Wage: A Popular Policy Tool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2" name="Group pair 112"/>
          <p:cNvGrpSpPr/>
          <p:nvPr/>
        </p:nvGrpSpPr>
        <p:grpSpPr>
          <a:xfrm>
            <a:off x="2468880" y="1371600"/>
            <a:ext cx="7251192" cy="5157216"/>
            <a:chOff x="2468880" y="1371600"/>
            <a:chExt cx="7251192" cy="5157216"/>
          </a:xfrm>
        </p:grpSpPr>
        <p:pic>
          <p:nvPicPr>
            <p:cNvPr id="7" name="Picture 6" descr="MW_minwage_map.jpg"/>
            <p:cNvPicPr>
              <a:picLocks noChangeAspect="1"/>
            </p:cNvPicPr>
            <p:nvPr/>
          </p:nvPicPr>
          <p:blipFill>
            <a:blip r:embed="rId3"/>
            <a:stretch>
              <a:fillRect/>
            </a:stretch>
          </p:blipFill>
          <p:spPr>
            <a:xfrm>
              <a:off x="2468880" y="1371600"/>
              <a:ext cx="7251192" cy="4837176"/>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2468880" y="6272784"/>
              <a:ext cx="7251192" cy="256032"/>
            </a:xfrm>
            <a:prstGeom prst="rect">
              <a:avLst/>
            </a:prstGeom>
            <a:noFill/>
          </p:spPr>
          <p:txBody>
            <a:bodyPr wrap="square" lIns="0" tIns="0" rIns="0" bIns="0">
              <a:spAutoFit/>
            </a:bodyPr>
            <a:lstStyle/>
            <a:p>
              <a:pPr algn="ctr"/>
              <a:r>
                <a:rPr sz="1100" b="0" i="1" u="none">
                  <a:solidFill>
                    <a:srgbClr val="555B66"/>
                  </a:solidFill>
                  <a:latin typeface="Calibri"/>
                </a:rPr>
                <a:t>Source: Wikipedia / US Department of Labor</a:t>
              </a:r>
            </a:p>
          </p:txBody>
        </p:sp>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4C6DCD1-CCBD-540B-BF60-3B7B5F405290}" type="slidenum">
              <a:rPr lang="en-US" sz="1200" dirty="0">
                <a:solidFill>
                  <a:srgbClr val="555B66"/>
                </a:solidFill>
                <a:latin typeface="Calibri"/>
              </a:rPr>
              <a:t>22</a:t>
            </a:fld>
            <a:endParaRPr lang="en-US" sz="1200" dirty="0">
              <a:solidFill>
                <a:srgbClr val="555B66"/>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Podcast: What Does the Evidence Say on the Minimum Wage?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417320"/>
            <a:ext cx="5760720" cy="3611880"/>
          </a:xfrm>
          <a:prstGeom prst="rect">
            <a:avLst/>
          </a:prstGeom>
          <a:noFill/>
        </p:spPr>
        <p:txBody>
          <a:bodyPr wrap="square" lIns="0" tIns="0" rIns="0" bIns="0">
            <a:noAutofit/>
          </a:bodyPr>
          <a:lstStyle>
            <a:lvl1pPr marL="342900" indent="-342900">
              <a:spcBef>
                <a:spcPts val="7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dirty="0">
                <a:latin typeface="Calibri"/>
              </a:rPr>
              <a:t>What is the expected effect of raising the minimum wage on employment?</a:t>
            </a:r>
          </a:p>
          <a:p>
            <a:pPr lvl="1" algn="l"/>
            <a:r>
              <a:rPr dirty="0">
                <a:latin typeface="Calibri"/>
              </a:rPr>
              <a:t>According to economic theory: Negative</a:t>
            </a:r>
          </a:p>
          <a:p>
            <a:pPr algn="l"/>
            <a:r>
              <a:rPr dirty="0">
                <a:latin typeface="Calibri"/>
              </a:rPr>
              <a:t>Evidence: Mixed results</a:t>
            </a:r>
          </a:p>
          <a:p>
            <a:pPr lvl="1" algn="l"/>
            <a:r>
              <a:rPr dirty="0">
                <a:latin typeface="Calibri"/>
              </a:rPr>
              <a:t>Employment does not seem to decline, BUT:</a:t>
            </a:r>
          </a:p>
          <a:p>
            <a:pPr lvl="1" algn="l"/>
            <a:r>
              <a:rPr dirty="0">
                <a:latin typeface="Calibri"/>
              </a:rPr>
              <a:t>Hours worked decline (Seattle study)</a:t>
            </a:r>
          </a:p>
          <a:p>
            <a:pPr marL="1028700" lvl="2" indent="-228600" algn="l">
              <a:spcBef>
                <a:spcPts val="300"/>
              </a:spcBef>
              <a:buClr>
                <a:srgbClr val="555B66"/>
              </a:buClr>
              <a:buFont typeface="Calibri"/>
              <a:buChar char="–"/>
            </a:pPr>
            <a:r>
              <a:rPr sz="1800" dirty="0">
                <a:solidFill>
                  <a:srgbClr val="555B66"/>
                </a:solidFill>
                <a:latin typeface="Calibri"/>
              </a:rPr>
              <a:t>Experienced workers: moderate decline in hours, so total income ↑</a:t>
            </a:r>
          </a:p>
          <a:p>
            <a:pPr marL="1028700" lvl="2" indent="-228600" algn="l">
              <a:spcBef>
                <a:spcPts val="300"/>
              </a:spcBef>
              <a:buClr>
                <a:srgbClr val="555B66"/>
              </a:buClr>
              <a:buFont typeface="Calibri"/>
              <a:buChar char="–"/>
            </a:pPr>
            <a:r>
              <a:rPr sz="1800" dirty="0">
                <a:solidFill>
                  <a:srgbClr val="555B66"/>
                </a:solidFill>
                <a:latin typeface="Calibri"/>
              </a:rPr>
              <a:t>Low-skilled, inexperienced workers: substantial decline in hours and thus income ↓</a:t>
            </a:r>
          </a:p>
          <a:p>
            <a:pPr marL="1028700" lvl="2" indent="-228600" algn="l">
              <a:spcBef>
                <a:spcPts val="300"/>
              </a:spcBef>
              <a:buClr>
                <a:srgbClr val="555B66"/>
              </a:buClr>
              <a:buFont typeface="Calibri"/>
              <a:buChar char="–"/>
            </a:pPr>
            <a:r>
              <a:rPr sz="1800" dirty="0">
                <a:solidFill>
                  <a:srgbClr val="555B66"/>
                </a:solidFill>
                <a:latin typeface="Calibri"/>
              </a:rPr>
              <a:t>New workers: harder to find first job</a:t>
            </a:r>
          </a:p>
          <a:p>
            <a:pPr algn="l"/>
            <a:r>
              <a:rPr dirty="0">
                <a:latin typeface="Calibri"/>
              </a:rPr>
              <a:t>What are possible long-run effects of a (high) minimum wage?</a:t>
            </a:r>
          </a:p>
        </p:txBody>
      </p:sp>
      <p:pic>
        <p:nvPicPr>
          <p:cNvPr id="8" name="Picture 7" descr="mw_headline_krueger_nyt_2015.png"/>
          <p:cNvPicPr>
            <a:picLocks noChangeAspect="1"/>
          </p:cNvPicPr>
          <p:nvPr/>
        </p:nvPicPr>
        <p:blipFill>
          <a:blip r:embed="rId3"/>
          <a:stretch>
            <a:fillRect/>
          </a:stretch>
        </p:blipFill>
        <p:spPr>
          <a:xfrm>
            <a:off x="6327648" y="1316736"/>
            <a:ext cx="5394960" cy="1317374"/>
          </a:xfrm>
          <a:prstGeom prst="rect">
            <a:avLst/>
          </a:prstGeom>
          <a:effectLst>
            <a:outerShdw blurRad="50800" dist="38100" dir="2700000" algn="tl" rotWithShape="0">
              <a:srgbClr val="000000">
                <a:alpha val="45000"/>
              </a:srgbClr>
            </a:outerShdw>
          </a:effectLst>
        </p:spPr>
      </p:pic>
      <p:pic>
        <p:nvPicPr>
          <p:cNvPr id="9" name="Picture 8" descr="mw_headline_vox_2017.png"/>
          <p:cNvPicPr>
            <a:picLocks noChangeAspect="1"/>
          </p:cNvPicPr>
          <p:nvPr/>
        </p:nvPicPr>
        <p:blipFill>
          <a:blip r:embed="rId4"/>
          <a:stretch>
            <a:fillRect/>
          </a:stretch>
        </p:blipFill>
        <p:spPr>
          <a:xfrm>
            <a:off x="6355080" y="2715768"/>
            <a:ext cx="5394960" cy="1094406"/>
          </a:xfrm>
          <a:prstGeom prst="rect">
            <a:avLst/>
          </a:prstGeom>
          <a:effectLst>
            <a:outerShdw blurRad="50800" dist="38100" dir="2700000" algn="tl" rotWithShape="0">
              <a:srgbClr val="000000">
                <a:alpha val="45000"/>
              </a:srgbClr>
            </a:outerShdw>
          </a:effectLst>
        </p:spPr>
      </p:pic>
      <p:grpSp>
        <p:nvGrpSpPr>
          <p:cNvPr id="115" name="Group pair 115"/>
          <p:cNvGrpSpPr/>
          <p:nvPr/>
        </p:nvGrpSpPr>
        <p:grpSpPr>
          <a:xfrm>
            <a:off x="7914132" y="3991356"/>
            <a:ext cx="3264408" cy="2514600"/>
            <a:chOff x="6355080" y="3968496"/>
            <a:chExt cx="3264408" cy="2514600"/>
          </a:xfrm>
        </p:grpSpPr>
        <p:pic>
          <p:nvPicPr>
            <p:cNvPr id="10" name="Picture 9" descr="NV_s59_3_3e55694d.png"/>
            <p:cNvPicPr>
              <a:picLocks noChangeAspect="1"/>
            </p:cNvPicPr>
            <p:nvPr/>
          </p:nvPicPr>
          <p:blipFill>
            <a:blip r:embed="rId5"/>
            <a:stretch>
              <a:fillRect/>
            </a:stretch>
          </p:blipFill>
          <p:spPr>
            <a:xfrm>
              <a:off x="6355080" y="3968496"/>
              <a:ext cx="3264408" cy="2212848"/>
            </a:xfrm>
            <a:prstGeom prst="roundRect">
              <a:avLst>
                <a:gd name="adj" fmla="val 8000"/>
              </a:avLst>
            </a:prstGeom>
            <a:effectLst>
              <a:outerShdw blurRad="50800" dist="38100" dir="2700000" algn="tl" rotWithShape="0">
                <a:srgbClr val="000000">
                  <a:alpha val="50000"/>
                </a:srgbClr>
              </a:outerShdw>
            </a:effectLst>
          </p:spPr>
        </p:pic>
        <p:sp>
          <p:nvSpPr>
            <p:cNvPr id="11" name="TextBox 10"/>
            <p:cNvSpPr txBox="1"/>
            <p:nvPr/>
          </p:nvSpPr>
          <p:spPr>
            <a:xfrm>
              <a:off x="6446520" y="6208776"/>
              <a:ext cx="3099816" cy="274320"/>
            </a:xfrm>
            <a:prstGeom prst="rect">
              <a:avLst/>
            </a:prstGeom>
            <a:noFill/>
          </p:spPr>
          <p:txBody>
            <a:bodyPr wrap="square" lIns="0" tIns="0" rIns="0" bIns="0">
              <a:spAutoFit/>
            </a:bodyPr>
            <a:lstStyle/>
            <a:p>
              <a:pPr algn="ctr"/>
              <a:r>
                <a:rPr sz="1200" b="0" i="1" u="none">
                  <a:solidFill>
                    <a:srgbClr val="555B66"/>
                  </a:solidFill>
                  <a:latin typeface="Calibri"/>
                </a:rPr>
                <a:t>One way firms respond to a higher wage floor</a:t>
              </a:r>
            </a:p>
          </p:txBody>
        </p:sp>
      </p:gr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CB972BC2-82CB-5C6F-AF19-7106BC1EEDA4}" type="slidenum">
              <a:rPr lang="en-US" sz="1200" dirty="0">
                <a:solidFill>
                  <a:srgbClr val="555B66"/>
                </a:solidFill>
                <a:latin typeface="Calibri"/>
              </a:rPr>
              <a:t>23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Floor: The Minimum Wage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188720" y="1664208"/>
            <a:ext cx="0" cy="395935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5623560"/>
            <a:ext cx="43251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0916" y="1531620"/>
            <a:ext cx="644652" cy="265176"/>
          </a:xfrm>
          <a:prstGeom prst="rect">
            <a:avLst/>
          </a:prstGeom>
          <a:noFill/>
        </p:spPr>
        <p:txBody>
          <a:bodyPr wrap="square" lIns="0" tIns="0" rIns="0" bIns="0">
            <a:spAutoFit/>
          </a:bodyPr>
          <a:lstStyle/>
          <a:p>
            <a:pPr algn="l"/>
            <a:r>
              <a:rPr sz="1800" b="1" i="1" u="none">
                <a:solidFill>
                  <a:srgbClr val="0B2B4E"/>
                </a:solidFill>
                <a:latin typeface="Calibri"/>
              </a:rPr>
              <a:t>Wage</a:t>
            </a:r>
          </a:p>
        </p:txBody>
      </p:sp>
      <p:sp>
        <p:nvSpPr>
          <p:cNvPr id="10" name="TextBox 9"/>
          <p:cNvSpPr txBox="1"/>
          <p:nvPr/>
        </p:nvSpPr>
        <p:spPr>
          <a:xfrm>
            <a:off x="5196268" y="5669280"/>
            <a:ext cx="635127" cy="265176"/>
          </a:xfrm>
          <a:prstGeom prst="rect">
            <a:avLst/>
          </a:prstGeom>
          <a:noFill/>
        </p:spPr>
        <p:txBody>
          <a:bodyPr wrap="square" lIns="0" tIns="0" rIns="0" bIns="0">
            <a:spAutoFit/>
          </a:bodyPr>
          <a:lstStyle/>
          <a:p>
            <a:pPr algn="l"/>
            <a:r>
              <a:rPr sz="1800" b="1" i="1" u="none">
                <a:solidFill>
                  <a:srgbClr val="0B2B4E"/>
                </a:solidFill>
                <a:latin typeface="Calibri"/>
              </a:rPr>
              <a:t>Labor</a:t>
            </a:r>
          </a:p>
        </p:txBody>
      </p:sp>
      <p:grpSp>
        <p:nvGrpSpPr>
          <p:cNvPr id="54" name="Group 53">
            <a:extLst>
              <a:ext uri="{FF2B5EF4-FFF2-40B4-BE49-F238E27FC236}">
                <a16:creationId xmlns:a16="http://schemas.microsoft.com/office/drawing/2014/main" id="{4EDAAED5-05F2-ABA5-6735-0E4A0BB57CE2}"/>
              </a:ext>
            </a:extLst>
          </p:cNvPr>
          <p:cNvGrpSpPr/>
          <p:nvPr/>
        </p:nvGrpSpPr>
        <p:grpSpPr>
          <a:xfrm>
            <a:off x="1188720" y="2173778"/>
            <a:ext cx="3920955" cy="3380786"/>
            <a:chOff x="1188720" y="2173778"/>
            <a:chExt cx="3920955" cy="3380786"/>
          </a:xfrm>
        </p:grpSpPr>
        <p:cxnSp>
          <p:nvCxnSpPr>
            <p:cNvPr id="14" name="Connector 13"/>
            <p:cNvCxnSpPr/>
            <p:nvPr/>
          </p:nvCxnSpPr>
          <p:spPr>
            <a:xfrm>
              <a:off x="1188720" y="2173778"/>
              <a:ext cx="3025832" cy="3311790"/>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64998" y="5261956"/>
              <a:ext cx="844677" cy="292608"/>
            </a:xfrm>
            <a:prstGeom prst="rect">
              <a:avLst/>
            </a:prstGeom>
            <a:noFill/>
          </p:spPr>
          <p:txBody>
            <a:bodyPr wrap="square" lIns="0" tIns="0" rIns="0" bIns="0">
              <a:spAutoFit/>
            </a:bodyPr>
            <a:lstStyle/>
            <a:p>
              <a:pPr algn="l"/>
              <a:r>
                <a:rPr sz="1700" b="1" i="1" u="none" dirty="0" err="1">
                  <a:solidFill>
                    <a:srgbClr val="C00000"/>
                  </a:solidFill>
                  <a:latin typeface="Calibri"/>
                </a:rPr>
                <a:t>D</a:t>
              </a:r>
              <a:r>
                <a:rPr sz="1700" b="1" i="1" u="none" baseline="-25000" dirty="0" err="1">
                  <a:solidFill>
                    <a:srgbClr val="C00000"/>
                  </a:solidFill>
                  <a:latin typeface="Calibri"/>
                </a:rPr>
                <a:t>Labor</a:t>
              </a:r>
              <a:endParaRPr sz="1700" b="1" i="1" u="none" baseline="-25000" dirty="0">
                <a:solidFill>
                  <a:srgbClr val="C00000"/>
                </a:solidFill>
                <a:latin typeface="Calibri"/>
              </a:endParaRPr>
            </a:p>
          </p:txBody>
        </p:sp>
      </p:grpSp>
      <p:grpSp>
        <p:nvGrpSpPr>
          <p:cNvPr id="55" name="Group 54">
            <a:extLst>
              <a:ext uri="{FF2B5EF4-FFF2-40B4-BE49-F238E27FC236}">
                <a16:creationId xmlns:a16="http://schemas.microsoft.com/office/drawing/2014/main" id="{9A7CA239-BDBB-FA93-2C20-F1CA8A649713}"/>
              </a:ext>
            </a:extLst>
          </p:cNvPr>
          <p:cNvGrpSpPr/>
          <p:nvPr/>
        </p:nvGrpSpPr>
        <p:grpSpPr>
          <a:xfrm>
            <a:off x="1188720" y="1664208"/>
            <a:ext cx="3875133" cy="3614373"/>
            <a:chOff x="1188720" y="1664208"/>
            <a:chExt cx="3875133" cy="3614373"/>
          </a:xfrm>
        </p:grpSpPr>
        <p:cxnSp>
          <p:nvCxnSpPr>
            <p:cNvPr id="16" name="Connector 15"/>
            <p:cNvCxnSpPr/>
            <p:nvPr/>
          </p:nvCxnSpPr>
          <p:spPr>
            <a:xfrm flipV="1">
              <a:off x="1188720" y="1966791"/>
              <a:ext cx="3025832" cy="331179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47751" y="1664208"/>
              <a:ext cx="816102" cy="292608"/>
            </a:xfrm>
            <a:prstGeom prst="rect">
              <a:avLst/>
            </a:prstGeom>
            <a:noFill/>
          </p:spPr>
          <p:txBody>
            <a:bodyPr wrap="square" lIns="0" tIns="0" rIns="0" bIns="0">
              <a:spAutoFit/>
            </a:bodyPr>
            <a:lstStyle/>
            <a:p>
              <a:pPr algn="l"/>
              <a:r>
                <a:rPr sz="1700" b="1" i="1" u="none" dirty="0" err="1">
                  <a:solidFill>
                    <a:srgbClr val="0B2B4E"/>
                  </a:solidFill>
                  <a:latin typeface="Calibri"/>
                </a:rPr>
                <a:t>S</a:t>
              </a:r>
              <a:r>
                <a:rPr sz="1700" b="1" i="1" u="none" baseline="-25000" dirty="0" err="1">
                  <a:solidFill>
                    <a:srgbClr val="0B2B4E"/>
                  </a:solidFill>
                  <a:latin typeface="Calibri"/>
                </a:rPr>
                <a:t>Labor</a:t>
              </a:r>
              <a:endParaRPr sz="1700" b="1" i="1" u="none" baseline="-25000" dirty="0">
                <a:solidFill>
                  <a:srgbClr val="0B2B4E"/>
                </a:solidFill>
                <a:latin typeface="Calibri"/>
              </a:endParaRPr>
            </a:p>
          </p:txBody>
        </p:sp>
      </p:grpSp>
      <p:grpSp>
        <p:nvGrpSpPr>
          <p:cNvPr id="56" name="Group 55">
            <a:extLst>
              <a:ext uri="{FF2B5EF4-FFF2-40B4-BE49-F238E27FC236}">
                <a16:creationId xmlns:a16="http://schemas.microsoft.com/office/drawing/2014/main" id="{66E2532D-C48A-61B5-539E-944F7BD5BD1E}"/>
              </a:ext>
            </a:extLst>
          </p:cNvPr>
          <p:cNvGrpSpPr/>
          <p:nvPr/>
        </p:nvGrpSpPr>
        <p:grpSpPr>
          <a:xfrm>
            <a:off x="766191" y="3589020"/>
            <a:ext cx="1982239" cy="2363724"/>
            <a:chOff x="766191" y="3589020"/>
            <a:chExt cx="1982239" cy="2363724"/>
          </a:xfrm>
        </p:grpSpPr>
        <p:cxnSp>
          <p:nvCxnSpPr>
            <p:cNvPr id="18" name="Connector 17"/>
            <p:cNvCxnSpPr/>
            <p:nvPr/>
          </p:nvCxnSpPr>
          <p:spPr>
            <a:xfrm>
              <a:off x="1188720" y="3726180"/>
              <a:ext cx="1418359"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607079" y="3726180"/>
              <a:ext cx="0" cy="189738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66191" y="3589020"/>
              <a:ext cx="349377" cy="274320"/>
            </a:xfrm>
            <a:prstGeom prst="rect">
              <a:avLst/>
            </a:prstGeom>
            <a:noFill/>
          </p:spPr>
          <p:txBody>
            <a:bodyPr wrap="square" lIns="0" tIns="0" rIns="0" bIns="0">
              <a:spAutoFit/>
            </a:bodyPr>
            <a:lstStyle/>
            <a:p>
              <a:pPr algn="r"/>
              <a:r>
                <a:rPr sz="1700" b="1" i="1" u="none">
                  <a:solidFill>
                    <a:srgbClr val="0B2B4E"/>
                  </a:solidFill>
                  <a:latin typeface="Calibri"/>
                </a:rPr>
                <a:t>w*</a:t>
              </a:r>
            </a:p>
          </p:txBody>
        </p:sp>
        <p:sp>
          <p:nvSpPr>
            <p:cNvPr id="21" name="TextBox 20"/>
            <p:cNvSpPr txBox="1"/>
            <p:nvPr/>
          </p:nvSpPr>
          <p:spPr>
            <a:xfrm>
              <a:off x="2465728" y="5678424"/>
              <a:ext cx="282702" cy="274320"/>
            </a:xfrm>
            <a:prstGeom prst="rect">
              <a:avLst/>
            </a:prstGeom>
            <a:noFill/>
          </p:spPr>
          <p:txBody>
            <a:bodyPr wrap="square" lIns="0" tIns="0" rIns="0" bIns="0">
              <a:spAutoFit/>
            </a:bodyPr>
            <a:lstStyle/>
            <a:p>
              <a:pPr algn="ctr"/>
              <a:r>
                <a:rPr sz="1700" b="1" i="1" u="none">
                  <a:solidFill>
                    <a:srgbClr val="0B2B4E"/>
                  </a:solidFill>
                  <a:latin typeface="Calibri"/>
                </a:rPr>
                <a:t>L*</a:t>
              </a:r>
            </a:p>
          </p:txBody>
        </p:sp>
      </p:grpSp>
      <p:grpSp>
        <p:nvGrpSpPr>
          <p:cNvPr id="57" name="Group 56">
            <a:extLst>
              <a:ext uri="{FF2B5EF4-FFF2-40B4-BE49-F238E27FC236}">
                <a16:creationId xmlns:a16="http://schemas.microsoft.com/office/drawing/2014/main" id="{CC5413BD-511D-8034-25E0-C6189EED906D}"/>
              </a:ext>
            </a:extLst>
          </p:cNvPr>
          <p:cNvGrpSpPr/>
          <p:nvPr/>
        </p:nvGrpSpPr>
        <p:grpSpPr>
          <a:xfrm>
            <a:off x="537591" y="3071552"/>
            <a:ext cx="3185263" cy="261610"/>
            <a:chOff x="537591" y="3071552"/>
            <a:chExt cx="3185263" cy="261610"/>
          </a:xfrm>
        </p:grpSpPr>
        <p:cxnSp>
          <p:nvCxnSpPr>
            <p:cNvPr id="22" name="Connector 21"/>
            <p:cNvCxnSpPr/>
            <p:nvPr/>
          </p:nvCxnSpPr>
          <p:spPr>
            <a:xfrm>
              <a:off x="1188720" y="3208712"/>
              <a:ext cx="2534134" cy="0"/>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7591" y="3071552"/>
              <a:ext cx="577977" cy="261610"/>
            </a:xfrm>
            <a:prstGeom prst="rect">
              <a:avLst/>
            </a:prstGeom>
            <a:noFill/>
          </p:spPr>
          <p:txBody>
            <a:bodyPr wrap="square" lIns="0" tIns="0" rIns="0" bIns="0">
              <a:spAutoFit/>
            </a:bodyPr>
            <a:lstStyle/>
            <a:p>
              <a:pPr algn="r"/>
              <a:r>
                <a:rPr sz="1700" b="1" i="1" u="none" dirty="0" err="1">
                  <a:solidFill>
                    <a:srgbClr val="C00000"/>
                  </a:solidFill>
                  <a:latin typeface="Calibri"/>
                </a:rPr>
                <a:t>w</a:t>
              </a:r>
              <a:r>
                <a:rPr sz="1700" b="1" i="1" u="none" baseline="-25000" dirty="0" err="1">
                  <a:solidFill>
                    <a:srgbClr val="C00000"/>
                  </a:solidFill>
                  <a:latin typeface="Calibri"/>
                </a:rPr>
                <a:t>min</a:t>
              </a:r>
              <a:endParaRPr sz="1700" b="1" i="1" u="none" baseline="-25000" dirty="0">
                <a:solidFill>
                  <a:srgbClr val="C00000"/>
                </a:solidFill>
                <a:latin typeface="Calibri"/>
              </a:endParaRPr>
            </a:p>
          </p:txBody>
        </p:sp>
      </p:grpSp>
      <p:grpSp>
        <p:nvGrpSpPr>
          <p:cNvPr id="59" name="Group 58">
            <a:extLst>
              <a:ext uri="{FF2B5EF4-FFF2-40B4-BE49-F238E27FC236}">
                <a16:creationId xmlns:a16="http://schemas.microsoft.com/office/drawing/2014/main" id="{2C0BC6B0-B56E-75D2-E645-9254A2A08053}"/>
              </a:ext>
            </a:extLst>
          </p:cNvPr>
          <p:cNvGrpSpPr/>
          <p:nvPr/>
        </p:nvGrpSpPr>
        <p:grpSpPr>
          <a:xfrm>
            <a:off x="1926266" y="3208712"/>
            <a:ext cx="416052" cy="2744032"/>
            <a:chOff x="1926266" y="3208712"/>
            <a:chExt cx="416052" cy="2744032"/>
          </a:xfrm>
        </p:grpSpPr>
        <p:cxnSp>
          <p:nvCxnSpPr>
            <p:cNvPr id="24" name="Connector 23"/>
            <p:cNvCxnSpPr/>
            <p:nvPr/>
          </p:nvCxnSpPr>
          <p:spPr>
            <a:xfrm flipV="1">
              <a:off x="2134292" y="3208712"/>
              <a:ext cx="0" cy="241484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926266" y="5678424"/>
              <a:ext cx="416052" cy="274320"/>
            </a:xfrm>
            <a:prstGeom prst="rect">
              <a:avLst/>
            </a:prstGeom>
            <a:noFill/>
          </p:spPr>
          <p:txBody>
            <a:bodyPr wrap="square" lIns="0" tIns="0" rIns="0" bIns="0">
              <a:spAutoFit/>
            </a:bodyPr>
            <a:lstStyle/>
            <a:p>
              <a:pPr algn="ctr"/>
              <a:r>
                <a:rPr sz="1700" b="1" i="1" u="none">
                  <a:solidFill>
                    <a:srgbClr val="0B2B4E"/>
                  </a:solidFill>
                  <a:latin typeface="Calibri"/>
                </a:rPr>
                <a:t>L</a:t>
              </a:r>
              <a:r>
                <a:rPr sz="1700" b="1" i="1" u="none" baseline="-25000">
                  <a:solidFill>
                    <a:srgbClr val="0B2B4E"/>
                  </a:solidFill>
                  <a:latin typeface="Calibri"/>
                </a:rPr>
                <a:t>D</a:t>
              </a:r>
            </a:p>
          </p:txBody>
        </p:sp>
      </p:grpSp>
      <p:grpSp>
        <p:nvGrpSpPr>
          <p:cNvPr id="58" name="Group 57">
            <a:extLst>
              <a:ext uri="{FF2B5EF4-FFF2-40B4-BE49-F238E27FC236}">
                <a16:creationId xmlns:a16="http://schemas.microsoft.com/office/drawing/2014/main" id="{6FF8494E-FC73-C9F9-44DD-6CBE69B0BF6D}"/>
              </a:ext>
            </a:extLst>
          </p:cNvPr>
          <p:cNvGrpSpPr/>
          <p:nvPr/>
        </p:nvGrpSpPr>
        <p:grpSpPr>
          <a:xfrm>
            <a:off x="2890889" y="3208712"/>
            <a:ext cx="377952" cy="2744032"/>
            <a:chOff x="2890889" y="3208712"/>
            <a:chExt cx="377952" cy="2744032"/>
          </a:xfrm>
        </p:grpSpPr>
        <p:cxnSp>
          <p:nvCxnSpPr>
            <p:cNvPr id="26" name="Connector 25"/>
            <p:cNvCxnSpPr/>
            <p:nvPr/>
          </p:nvCxnSpPr>
          <p:spPr>
            <a:xfrm flipV="1">
              <a:off x="3079865" y="3208712"/>
              <a:ext cx="0" cy="241484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90889" y="5678424"/>
              <a:ext cx="377952" cy="274320"/>
            </a:xfrm>
            <a:prstGeom prst="rect">
              <a:avLst/>
            </a:prstGeom>
            <a:noFill/>
          </p:spPr>
          <p:txBody>
            <a:bodyPr wrap="square" lIns="0" tIns="0" rIns="0" bIns="0">
              <a:spAutoFit/>
            </a:bodyPr>
            <a:lstStyle/>
            <a:p>
              <a:pPr algn="ctr"/>
              <a:r>
                <a:rPr sz="1700" b="1" i="1" u="none">
                  <a:solidFill>
                    <a:srgbClr val="0B2B4E"/>
                  </a:solidFill>
                  <a:latin typeface="Calibri"/>
                </a:rPr>
                <a:t>L</a:t>
              </a:r>
              <a:r>
                <a:rPr sz="1700" b="1" i="1" u="none" baseline="-25000">
                  <a:solidFill>
                    <a:srgbClr val="0B2B4E"/>
                  </a:solidFill>
                  <a:latin typeface="Calibri"/>
                </a:rPr>
                <a:t>S</a:t>
              </a:r>
            </a:p>
          </p:txBody>
        </p:sp>
      </p:grpSp>
      <p:grpSp>
        <p:nvGrpSpPr>
          <p:cNvPr id="60" name="Group 59">
            <a:extLst>
              <a:ext uri="{FF2B5EF4-FFF2-40B4-BE49-F238E27FC236}">
                <a16:creationId xmlns:a16="http://schemas.microsoft.com/office/drawing/2014/main" id="{68A9B2DE-605A-7C73-24D1-B22385AEFC00}"/>
              </a:ext>
            </a:extLst>
          </p:cNvPr>
          <p:cNvGrpSpPr/>
          <p:nvPr/>
        </p:nvGrpSpPr>
        <p:grpSpPr>
          <a:xfrm>
            <a:off x="1235478" y="5961888"/>
            <a:ext cx="2743200" cy="530352"/>
            <a:chOff x="1235478" y="5961888"/>
            <a:chExt cx="2743200" cy="530352"/>
          </a:xfrm>
        </p:grpSpPr>
        <p:sp>
          <p:nvSpPr>
            <p:cNvPr id="28" name="Left Brace 27"/>
            <p:cNvSpPr/>
            <p:nvPr/>
          </p:nvSpPr>
          <p:spPr>
            <a:xfrm rot="16200000">
              <a:off x="2524782" y="5571397"/>
              <a:ext cx="164592" cy="945573"/>
            </a:xfrm>
            <a:prstGeom prst="leftBrace">
              <a:avLst/>
            </a:prstGeom>
            <a:noFill/>
            <a:ln w="22225">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35478" y="6181344"/>
              <a:ext cx="2743200" cy="310896"/>
            </a:xfrm>
            <a:prstGeom prst="rect">
              <a:avLst/>
            </a:prstGeom>
            <a:noFill/>
          </p:spPr>
          <p:txBody>
            <a:bodyPr wrap="square" lIns="0" tIns="0" rIns="0" bIns="0">
              <a:spAutoFit/>
            </a:bodyPr>
            <a:lstStyle/>
            <a:p>
              <a:pPr algn="ctr"/>
              <a:r>
                <a:rPr sz="1400" b="1" i="1" u="none">
                  <a:solidFill>
                    <a:srgbClr val="A2162A"/>
                  </a:solidFill>
                  <a:latin typeface="Calibri"/>
                </a:rPr>
                <a:t>L</a:t>
              </a:r>
              <a:r>
                <a:rPr sz="1400" b="1" i="1" u="none" baseline="-25000">
                  <a:solidFill>
                    <a:srgbClr val="A2162A"/>
                  </a:solidFill>
                  <a:latin typeface="Calibri"/>
                </a:rPr>
                <a:t>S</a:t>
              </a:r>
              <a:r>
                <a:rPr sz="1400" b="1" i="1" u="none">
                  <a:solidFill>
                    <a:srgbClr val="A2162A"/>
                  </a:solidFill>
                  <a:latin typeface="Calibri"/>
                </a:rPr>
                <a:t> − L</a:t>
              </a:r>
              <a:r>
                <a:rPr sz="1400" b="1" i="1" u="none" baseline="-25000">
                  <a:solidFill>
                    <a:srgbClr val="A2162A"/>
                  </a:solidFill>
                  <a:latin typeface="Calibri"/>
                </a:rPr>
                <a:t>D</a:t>
              </a:r>
              <a:r>
                <a:rPr sz="1400" b="1" i="1" u="none">
                  <a:solidFill>
                    <a:srgbClr val="A2162A"/>
                  </a:solidFill>
                  <a:latin typeface="Calibri"/>
                </a:rPr>
                <a:t> = unemployment</a:t>
              </a:r>
            </a:p>
          </p:txBody>
        </p:sp>
      </p:grpSp>
      <p:grpSp>
        <p:nvGrpSpPr>
          <p:cNvPr id="61" name="Group 60">
            <a:extLst>
              <a:ext uri="{FF2B5EF4-FFF2-40B4-BE49-F238E27FC236}">
                <a16:creationId xmlns:a16="http://schemas.microsoft.com/office/drawing/2014/main" id="{15E38BD5-0340-BAD7-8B68-76681E2B35E9}"/>
              </a:ext>
            </a:extLst>
          </p:cNvPr>
          <p:cNvGrpSpPr/>
          <p:nvPr/>
        </p:nvGrpSpPr>
        <p:grpSpPr>
          <a:xfrm>
            <a:off x="1188720" y="3208712"/>
            <a:ext cx="945572" cy="517468"/>
            <a:chOff x="1188720" y="3208712"/>
            <a:chExt cx="945572" cy="517468"/>
          </a:xfrm>
        </p:grpSpPr>
        <p:sp>
          <p:nvSpPr>
            <p:cNvPr id="11" name="Rectangle 10"/>
            <p:cNvSpPr/>
            <p:nvPr/>
          </p:nvSpPr>
          <p:spPr>
            <a:xfrm>
              <a:off x="1188720" y="3208712"/>
              <a:ext cx="945572" cy="517468"/>
            </a:xfrm>
            <a:custGeom>
              <a:avLst/>
              <a:gdLst/>
              <a:ahLst/>
              <a:cxnLst/>
              <a:rect l="0" t="0" r="r" b="b"/>
              <a:pathLst>
                <a:path w="945572" h="517468">
                  <a:moveTo>
                    <a:pt x="0" y="517468"/>
                  </a:moveTo>
                  <a:lnTo>
                    <a:pt x="0" y="0"/>
                  </a:lnTo>
                  <a:lnTo>
                    <a:pt x="945572" y="0"/>
                  </a:lnTo>
                  <a:lnTo>
                    <a:pt x="945572" y="517468"/>
                  </a:lnTo>
                  <a:close/>
                </a:path>
              </a:pathLst>
            </a:custGeom>
            <a:solidFill>
              <a:srgbClr val="A2162A">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413994" y="3311998"/>
              <a:ext cx="457200" cy="310896"/>
            </a:xfrm>
            <a:prstGeom prst="rect">
              <a:avLst/>
            </a:prstGeom>
            <a:noFill/>
          </p:spPr>
          <p:txBody>
            <a:bodyPr wrap="square" lIns="0" tIns="0" rIns="0" bIns="0">
              <a:spAutoFit/>
            </a:bodyPr>
            <a:lstStyle/>
            <a:p>
              <a:pPr algn="ctr"/>
              <a:r>
                <a:rPr sz="1700" b="1" i="0" u="none">
                  <a:solidFill>
                    <a:srgbClr val="0B2B4E"/>
                  </a:solidFill>
                  <a:latin typeface="Calibri"/>
                </a:rPr>
                <a:t>A</a:t>
              </a:r>
            </a:p>
          </p:txBody>
        </p:sp>
      </p:grpSp>
      <p:grpSp>
        <p:nvGrpSpPr>
          <p:cNvPr id="53" name="Group 52">
            <a:extLst>
              <a:ext uri="{FF2B5EF4-FFF2-40B4-BE49-F238E27FC236}">
                <a16:creationId xmlns:a16="http://schemas.microsoft.com/office/drawing/2014/main" id="{E0EF05EA-96AD-8DD6-D091-8BC3D9378460}"/>
              </a:ext>
            </a:extLst>
          </p:cNvPr>
          <p:cNvGrpSpPr/>
          <p:nvPr/>
        </p:nvGrpSpPr>
        <p:grpSpPr>
          <a:xfrm>
            <a:off x="2019161" y="3208712"/>
            <a:ext cx="587918" cy="517468"/>
            <a:chOff x="2019161" y="3208712"/>
            <a:chExt cx="587918" cy="517468"/>
          </a:xfrm>
        </p:grpSpPr>
        <p:sp>
          <p:nvSpPr>
            <p:cNvPr id="12" name="Rectangle 11"/>
            <p:cNvSpPr/>
            <p:nvPr/>
          </p:nvSpPr>
          <p:spPr>
            <a:xfrm>
              <a:off x="2134292" y="3208712"/>
              <a:ext cx="472787" cy="517468"/>
            </a:xfrm>
            <a:custGeom>
              <a:avLst/>
              <a:gdLst/>
              <a:ahLst/>
              <a:cxnLst/>
              <a:rect l="0" t="0" r="r" b="b"/>
              <a:pathLst>
                <a:path w="472787" h="517468">
                  <a:moveTo>
                    <a:pt x="0" y="517468"/>
                  </a:moveTo>
                  <a:lnTo>
                    <a:pt x="0" y="0"/>
                  </a:lnTo>
                  <a:lnTo>
                    <a:pt x="472787" y="517468"/>
                  </a:lnTo>
                  <a:close/>
                </a:path>
              </a:pathLst>
            </a:custGeom>
            <a:solidFill>
              <a:srgbClr val="555B66">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19161" y="3346496"/>
              <a:ext cx="457200" cy="310896"/>
            </a:xfrm>
            <a:prstGeom prst="rect">
              <a:avLst/>
            </a:prstGeom>
            <a:noFill/>
          </p:spPr>
          <p:txBody>
            <a:bodyPr wrap="square" lIns="0" tIns="0" rIns="0" bIns="0">
              <a:spAutoFit/>
            </a:bodyPr>
            <a:lstStyle/>
            <a:p>
              <a:pPr algn="ctr"/>
              <a:r>
                <a:rPr sz="1700" b="1" i="0" u="none">
                  <a:solidFill>
                    <a:srgbClr val="0B2B4E"/>
                  </a:solidFill>
                  <a:latin typeface="Calibri"/>
                </a:rPr>
                <a:t>B</a:t>
              </a:r>
            </a:p>
          </p:txBody>
        </p:sp>
      </p:grpSp>
      <p:grpSp>
        <p:nvGrpSpPr>
          <p:cNvPr id="52" name="Group 51">
            <a:extLst>
              <a:ext uri="{FF2B5EF4-FFF2-40B4-BE49-F238E27FC236}">
                <a16:creationId xmlns:a16="http://schemas.microsoft.com/office/drawing/2014/main" id="{C868B362-50E8-4825-8681-80AFF0FEC9F6}"/>
              </a:ext>
            </a:extLst>
          </p:cNvPr>
          <p:cNvGrpSpPr/>
          <p:nvPr/>
        </p:nvGrpSpPr>
        <p:grpSpPr>
          <a:xfrm>
            <a:off x="2019161" y="3726180"/>
            <a:ext cx="587918" cy="517467"/>
            <a:chOff x="2019161" y="3726180"/>
            <a:chExt cx="587918" cy="517467"/>
          </a:xfrm>
        </p:grpSpPr>
        <p:sp>
          <p:nvSpPr>
            <p:cNvPr id="13" name="Rectangle 12"/>
            <p:cNvSpPr/>
            <p:nvPr/>
          </p:nvSpPr>
          <p:spPr>
            <a:xfrm>
              <a:off x="2134292" y="3726180"/>
              <a:ext cx="472787" cy="517467"/>
            </a:xfrm>
            <a:custGeom>
              <a:avLst/>
              <a:gdLst/>
              <a:ahLst/>
              <a:cxnLst/>
              <a:rect l="0" t="0" r="r" b="b"/>
              <a:pathLst>
                <a:path w="472787" h="517467">
                  <a:moveTo>
                    <a:pt x="0" y="0"/>
                  </a:moveTo>
                  <a:lnTo>
                    <a:pt x="472787" y="0"/>
                  </a:lnTo>
                  <a:lnTo>
                    <a:pt x="0" y="517467"/>
                  </a:lnTo>
                  <a:close/>
                </a:path>
              </a:pathLst>
            </a:custGeom>
            <a:solidFill>
              <a:srgbClr val="007A33">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019161" y="3760470"/>
              <a:ext cx="457200" cy="310896"/>
            </a:xfrm>
            <a:prstGeom prst="rect">
              <a:avLst/>
            </a:prstGeom>
            <a:noFill/>
          </p:spPr>
          <p:txBody>
            <a:bodyPr wrap="square" lIns="0" tIns="0" rIns="0" bIns="0">
              <a:spAutoFit/>
            </a:bodyPr>
            <a:lstStyle/>
            <a:p>
              <a:pPr algn="ctr"/>
              <a:r>
                <a:rPr sz="1700" b="1" i="0" u="none" dirty="0">
                  <a:solidFill>
                    <a:srgbClr val="0B2B4E"/>
                  </a:solidFill>
                  <a:latin typeface="Calibri"/>
                </a:rPr>
                <a:t>C</a:t>
              </a:r>
            </a:p>
          </p:txBody>
        </p:sp>
      </p:grpSp>
      <p:sp>
        <p:nvSpPr>
          <p:cNvPr id="33" name="TextBox 32"/>
          <p:cNvSpPr txBox="1"/>
          <p:nvPr/>
        </p:nvSpPr>
        <p:spPr>
          <a:xfrm>
            <a:off x="5989320" y="1481328"/>
            <a:ext cx="5806440" cy="365760"/>
          </a:xfrm>
          <a:prstGeom prst="rect">
            <a:avLst/>
          </a:prstGeom>
          <a:noFill/>
        </p:spPr>
        <p:txBody>
          <a:bodyPr wrap="square" lIns="0" tIns="0" rIns="0" bIns="0">
            <a:spAutoFit/>
          </a:bodyPr>
          <a:lstStyle/>
          <a:p>
            <a:pPr algn="l"/>
            <a:r>
              <a:rPr sz="2100" b="1" i="0" u="none" dirty="0">
                <a:solidFill>
                  <a:srgbClr val="0B2B4E"/>
                </a:solidFill>
                <a:latin typeface="Calibri"/>
              </a:rPr>
              <a:t>Welfare effects</a:t>
            </a:r>
          </a:p>
        </p:txBody>
      </p:sp>
      <p:grpSp>
        <p:nvGrpSpPr>
          <p:cNvPr id="50" name="Group 49">
            <a:extLst>
              <a:ext uri="{FF2B5EF4-FFF2-40B4-BE49-F238E27FC236}">
                <a16:creationId xmlns:a16="http://schemas.microsoft.com/office/drawing/2014/main" id="{7DAECAAC-DF85-0A5C-3FF0-6D0832E2D540}"/>
              </a:ext>
            </a:extLst>
          </p:cNvPr>
          <p:cNvGrpSpPr/>
          <p:nvPr/>
        </p:nvGrpSpPr>
        <p:grpSpPr>
          <a:xfrm>
            <a:off x="6126480" y="1947672"/>
            <a:ext cx="5669280" cy="310896"/>
            <a:chOff x="6126480" y="1947672"/>
            <a:chExt cx="5669280" cy="310896"/>
          </a:xfrm>
        </p:grpSpPr>
        <p:sp>
          <p:nvSpPr>
            <p:cNvPr id="34" name="Rectangle 33"/>
            <p:cNvSpPr/>
            <p:nvPr/>
          </p:nvSpPr>
          <p:spPr>
            <a:xfrm>
              <a:off x="6126480" y="2011680"/>
              <a:ext cx="182880" cy="182880"/>
            </a:xfrm>
            <a:prstGeom prst="rect">
              <a:avLst/>
            </a:prstGeom>
            <a:solidFill>
              <a:srgbClr val="A2162A">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93408" y="1947672"/>
              <a:ext cx="5102352" cy="310896"/>
            </a:xfrm>
            <a:prstGeom prst="rect">
              <a:avLst/>
            </a:prstGeom>
            <a:noFill/>
          </p:spPr>
          <p:txBody>
            <a:bodyPr wrap="square" lIns="0" tIns="0" rIns="0" bIns="0">
              <a:spAutoFit/>
            </a:bodyPr>
            <a:lstStyle/>
            <a:p>
              <a:pPr algn="l"/>
              <a:r>
                <a:rPr sz="1900" b="0" i="0" u="none" dirty="0">
                  <a:solidFill>
                    <a:srgbClr val="0B2B4E"/>
                  </a:solidFill>
                  <a:latin typeface="Calibri"/>
                </a:rPr>
                <a:t>Some workers win A — they are paid more</a:t>
              </a:r>
            </a:p>
          </p:txBody>
        </p:sp>
      </p:grpSp>
      <p:grpSp>
        <p:nvGrpSpPr>
          <p:cNvPr id="51" name="Group 50">
            <a:extLst>
              <a:ext uri="{FF2B5EF4-FFF2-40B4-BE49-F238E27FC236}">
                <a16:creationId xmlns:a16="http://schemas.microsoft.com/office/drawing/2014/main" id="{FD06AD80-602E-AD22-9A8A-E6A33629E847}"/>
              </a:ext>
            </a:extLst>
          </p:cNvPr>
          <p:cNvGrpSpPr/>
          <p:nvPr/>
        </p:nvGrpSpPr>
        <p:grpSpPr>
          <a:xfrm>
            <a:off x="6126480" y="2368296"/>
            <a:ext cx="5669280" cy="310896"/>
            <a:chOff x="6126480" y="2368296"/>
            <a:chExt cx="5669280" cy="310896"/>
          </a:xfrm>
        </p:grpSpPr>
        <p:sp>
          <p:nvSpPr>
            <p:cNvPr id="36" name="Right Triangle 35"/>
            <p:cNvSpPr/>
            <p:nvPr/>
          </p:nvSpPr>
          <p:spPr>
            <a:xfrm flipV="1">
              <a:off x="6126480" y="2432304"/>
              <a:ext cx="182880" cy="182880"/>
            </a:xfrm>
            <a:prstGeom prst="rtTriangle">
              <a:avLst/>
            </a:prstGeom>
            <a:solidFill>
              <a:srgbClr val="007A33">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2368296"/>
              <a:ext cx="5102352" cy="310896"/>
            </a:xfrm>
            <a:prstGeom prst="rect">
              <a:avLst/>
            </a:prstGeom>
            <a:noFill/>
          </p:spPr>
          <p:txBody>
            <a:bodyPr wrap="square" lIns="0" tIns="0" rIns="0" bIns="0">
              <a:spAutoFit/>
            </a:bodyPr>
            <a:lstStyle/>
            <a:p>
              <a:pPr algn="l"/>
              <a:r>
                <a:rPr sz="1900" b="0" i="0" u="none" dirty="0">
                  <a:solidFill>
                    <a:srgbClr val="0B2B4E"/>
                  </a:solidFill>
                  <a:latin typeface="Calibri"/>
                </a:rPr>
                <a:t>Some workers lose C — they are not hired</a:t>
              </a:r>
            </a:p>
          </p:txBody>
        </p:sp>
      </p:grpSp>
      <p:grpSp>
        <p:nvGrpSpPr>
          <p:cNvPr id="62" name="Group 61">
            <a:extLst>
              <a:ext uri="{FF2B5EF4-FFF2-40B4-BE49-F238E27FC236}">
                <a16:creationId xmlns:a16="http://schemas.microsoft.com/office/drawing/2014/main" id="{A7E6603F-307B-1495-0F05-8106F1E9D493}"/>
              </a:ext>
            </a:extLst>
          </p:cNvPr>
          <p:cNvGrpSpPr/>
          <p:nvPr/>
        </p:nvGrpSpPr>
        <p:grpSpPr>
          <a:xfrm>
            <a:off x="6126480" y="2788920"/>
            <a:ext cx="5669280" cy="310896"/>
            <a:chOff x="6126480" y="2788920"/>
            <a:chExt cx="5669280" cy="310896"/>
          </a:xfrm>
        </p:grpSpPr>
        <p:sp>
          <p:nvSpPr>
            <p:cNvPr id="38" name="Rectangle 37"/>
            <p:cNvSpPr/>
            <p:nvPr/>
          </p:nvSpPr>
          <p:spPr>
            <a:xfrm>
              <a:off x="6126480" y="2852928"/>
              <a:ext cx="182880" cy="182880"/>
            </a:xfrm>
            <a:prstGeom prst="rect">
              <a:avLst/>
            </a:prstGeom>
            <a:solidFill>
              <a:srgbClr val="A2162A">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ight Triangle 38"/>
            <p:cNvSpPr/>
            <p:nvPr/>
          </p:nvSpPr>
          <p:spPr>
            <a:xfrm>
              <a:off x="6327648" y="2852928"/>
              <a:ext cx="182880" cy="182880"/>
            </a:xfrm>
            <a:prstGeom prst="rtTriangle">
              <a:avLst/>
            </a:prstGeom>
            <a:solidFill>
              <a:srgbClr val="555B66">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93408" y="2788920"/>
              <a:ext cx="5102352" cy="310896"/>
            </a:xfrm>
            <a:prstGeom prst="rect">
              <a:avLst/>
            </a:prstGeom>
            <a:noFill/>
          </p:spPr>
          <p:txBody>
            <a:bodyPr wrap="square" lIns="0" tIns="0" rIns="0" bIns="0">
              <a:spAutoFit/>
            </a:bodyPr>
            <a:lstStyle/>
            <a:p>
              <a:pPr algn="l"/>
              <a:r>
                <a:rPr sz="1900" b="0" i="0" u="none" dirty="0">
                  <a:solidFill>
                    <a:srgbClr val="0B2B4E"/>
                  </a:solidFill>
                  <a:latin typeface="Calibri"/>
                </a:rPr>
                <a:t>Firms lose A + B</a:t>
              </a:r>
            </a:p>
          </p:txBody>
        </p:sp>
      </p:grpSp>
      <p:grpSp>
        <p:nvGrpSpPr>
          <p:cNvPr id="63" name="Group 62">
            <a:extLst>
              <a:ext uri="{FF2B5EF4-FFF2-40B4-BE49-F238E27FC236}">
                <a16:creationId xmlns:a16="http://schemas.microsoft.com/office/drawing/2014/main" id="{ED2478A5-53A1-9437-97E8-CCA25F434FD7}"/>
              </a:ext>
            </a:extLst>
          </p:cNvPr>
          <p:cNvGrpSpPr/>
          <p:nvPr/>
        </p:nvGrpSpPr>
        <p:grpSpPr>
          <a:xfrm>
            <a:off x="6126480" y="3273552"/>
            <a:ext cx="5669280" cy="374904"/>
            <a:chOff x="6126480" y="3273552"/>
            <a:chExt cx="5669280" cy="374904"/>
          </a:xfrm>
        </p:grpSpPr>
        <p:sp>
          <p:nvSpPr>
            <p:cNvPr id="41" name="Right Triangle 40"/>
            <p:cNvSpPr/>
            <p:nvPr/>
          </p:nvSpPr>
          <p:spPr>
            <a:xfrm>
              <a:off x="6126480" y="3273552"/>
              <a:ext cx="182880" cy="182880"/>
            </a:xfrm>
            <a:prstGeom prst="rtTriangle">
              <a:avLst/>
            </a:prstGeom>
            <a:solidFill>
              <a:srgbClr val="555B66">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ight Triangle 41"/>
            <p:cNvSpPr/>
            <p:nvPr/>
          </p:nvSpPr>
          <p:spPr>
            <a:xfrm flipV="1">
              <a:off x="6126480" y="3465576"/>
              <a:ext cx="182880" cy="182880"/>
            </a:xfrm>
            <a:prstGeom prst="rtTriangle">
              <a:avLst/>
            </a:prstGeom>
            <a:solidFill>
              <a:srgbClr val="007A33">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3305556"/>
              <a:ext cx="5102352" cy="310896"/>
            </a:xfrm>
            <a:prstGeom prst="rect">
              <a:avLst/>
            </a:prstGeom>
            <a:noFill/>
          </p:spPr>
          <p:txBody>
            <a:bodyPr wrap="square" lIns="0" tIns="0" rIns="0" bIns="0">
              <a:spAutoFit/>
            </a:bodyPr>
            <a:lstStyle/>
            <a:p>
              <a:pPr algn="l"/>
              <a:r>
                <a:rPr sz="1900" b="0" i="0" u="none">
                  <a:solidFill>
                    <a:srgbClr val="0B2B4E"/>
                  </a:solidFill>
                  <a:latin typeface="Calibri"/>
                </a:rPr>
                <a:t>Deadweight loss: B + C</a:t>
              </a:r>
            </a:p>
          </p:txBody>
        </p:sp>
      </p:grpSp>
      <p:grpSp>
        <p:nvGrpSpPr>
          <p:cNvPr id="149" name="Group pair 149"/>
          <p:cNvGrpSpPr/>
          <p:nvPr/>
        </p:nvGrpSpPr>
        <p:grpSpPr>
          <a:xfrm>
            <a:off x="7406640" y="4608576"/>
            <a:ext cx="4069080" cy="1581912"/>
            <a:chOff x="7406640" y="4608576"/>
            <a:chExt cx="4069080" cy="1581912"/>
          </a:xfrm>
        </p:grpSpPr>
        <p:sp>
          <p:nvSpPr>
            <p:cNvPr id="44" name="Rounded Rectangle 43"/>
            <p:cNvSpPr/>
            <p:nvPr/>
          </p:nvSpPr>
          <p:spPr>
            <a:xfrm>
              <a:off x="7406640" y="4608576"/>
              <a:ext cx="4069080" cy="1581912"/>
            </a:xfrm>
            <a:prstGeom prst="roundRect">
              <a:avLst>
                <a:gd name="adj" fmla="val 10000"/>
              </a:avLst>
            </a:prstGeom>
            <a:solidFill>
              <a:srgbClr val="FDF6E6"/>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7571231" y="4736592"/>
              <a:ext cx="3776472" cy="1353312"/>
            </a:xfrm>
            <a:prstGeom prst="rect">
              <a:avLst/>
            </a:prstGeom>
            <a:noFill/>
          </p:spPr>
          <p:txBody>
            <a:bodyPr wrap="square" lIns="0" tIns="0" rIns="0" bIns="0">
              <a:noAutofit/>
            </a:bodyPr>
            <a:lstStyle>
              <a:lvl1pPr marL="342900" indent="-342900">
                <a:spcBef>
                  <a:spcPts val="600"/>
                </a:spcBef>
                <a:buClr>
                  <a:srgbClr val="0B2B4E"/>
                </a:buClr>
                <a:buFont typeface="Calibri"/>
                <a:buChar char="▪"/>
                <a:defRPr sz="18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000" b="1">
                  <a:solidFill>
                    <a:srgbClr val="0B2B4E"/>
                  </a:solidFill>
                  <a:latin typeface="Calibri"/>
                </a:rPr>
                <a:t>Circumvention of minimum wages?</a:t>
              </a:r>
            </a:p>
            <a:p>
              <a:pPr lvl="1" algn="l"/>
              <a:r>
                <a:rPr>
                  <a:latin typeface="Calibri"/>
                </a:rPr>
                <a:t>Underground labor market</a:t>
              </a:r>
            </a:p>
            <a:p>
              <a:pPr lvl="1" algn="l"/>
              <a:r>
                <a:rPr>
                  <a:latin typeface="Calibri"/>
                </a:rPr>
                <a:t>Cutting non-wage benefits</a:t>
              </a:r>
            </a:p>
            <a:p>
              <a:pPr lvl="1" algn="l"/>
              <a:r>
                <a:rPr>
                  <a:latin typeface="Calibri"/>
                </a:rPr>
                <a:t>Unpaid internships</a:t>
              </a:r>
            </a:p>
          </p:txBody>
        </p:sp>
      </p:grpSp>
      <p:sp>
        <p:nvSpPr>
          <p:cNvPr id="46" name="Rectangle 4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49" name="TextBox 48"/>
          <p:cNvSpPr txBox="1"/>
          <p:nvPr/>
        </p:nvSpPr>
        <p:spPr>
          <a:xfrm>
            <a:off x="11475720" y="6583680"/>
            <a:ext cx="502920" cy="292608"/>
          </a:xfrm>
          <a:prstGeom prst="rect">
            <a:avLst/>
          </a:prstGeom>
          <a:noFill/>
        </p:spPr>
        <p:txBody>
          <a:bodyPr wrap="none" lIns="0" tIns="0" rIns="0" bIns="0">
            <a:spAutoFit/>
          </a:bodyPr>
          <a:lstStyle/>
          <a:p>
            <a:pPr algn="r"/>
            <a:fld id="{8BE8F451-805B-50E6-9893-1EE6C8D1B9CA}" type="slidenum">
              <a:rPr lang="en-US" sz="1200" dirty="0">
                <a:solidFill>
                  <a:srgbClr val="555B66"/>
                </a:solidFill>
                <a:latin typeface="Calibri"/>
              </a:rPr>
              <a:t>24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Guess the Rent!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61_6_fb7ae0ee.png"/>
          <p:cNvPicPr>
            <a:picLocks noChangeAspect="1"/>
          </p:cNvPicPr>
          <p:nvPr/>
        </p:nvPicPr>
        <p:blipFill>
          <a:blip r:embed="rId3"/>
          <a:stretch>
            <a:fillRect/>
          </a:stretch>
        </p:blipFill>
        <p:spPr>
          <a:xfrm>
            <a:off x="256032" y="1408176"/>
            <a:ext cx="5833872" cy="4946904"/>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6217920" y="1271016"/>
            <a:ext cx="5715000" cy="2560320"/>
          </a:xfrm>
          <a:prstGeom prst="rect">
            <a:avLst/>
          </a:prstGeom>
          <a:noFill/>
        </p:spPr>
        <p:txBody>
          <a:bodyPr wrap="square" lIns="0" tIns="0" rIns="0" bIns="0">
            <a:noAutofit/>
          </a:bodyPr>
          <a:lstStyle>
            <a:lvl1pPr marL="342900" indent="-342900">
              <a:spcBef>
                <a:spcPts val="800"/>
              </a:spcBef>
              <a:buClr>
                <a:srgbClr val="0B2B4E"/>
              </a:buClr>
              <a:buFont typeface="Calibri"/>
              <a:buChar char="▪"/>
              <a:defRPr sz="2800" b="0">
                <a:solidFill>
                  <a:srgbClr val="0B2B4E"/>
                </a:solidFill>
                <a:latin typeface="Calibri"/>
              </a:defRPr>
            </a:lvl1pPr>
            <a:lvl2pPr marL="685800" indent="-228600">
              <a:spcBef>
                <a:spcPts val="200"/>
              </a:spcBef>
              <a:buClr>
                <a:srgbClr val="555B66"/>
              </a:buClr>
              <a:buFont typeface="Calibri"/>
              <a:buChar char="–"/>
              <a:defRPr sz="2400" b="0">
                <a:solidFill>
                  <a:srgbClr val="555B66"/>
                </a:solidFill>
                <a:latin typeface="Calibri"/>
              </a:defRPr>
            </a:lvl2pPr>
          </a:lstStyle>
          <a:p>
            <a:pPr algn="l"/>
            <a:r>
              <a:rPr dirty="0">
                <a:latin typeface="Calibri"/>
              </a:rPr>
              <a:t>1 bed, 1 bath</a:t>
            </a:r>
          </a:p>
          <a:p>
            <a:pPr algn="l"/>
            <a:r>
              <a:rPr dirty="0">
                <a:latin typeface="Calibri"/>
              </a:rPr>
              <a:t>900 </a:t>
            </a:r>
            <a:r>
              <a:rPr dirty="0" err="1">
                <a:latin typeface="Calibri"/>
              </a:rPr>
              <a:t>sqft</a:t>
            </a:r>
            <a:endParaRPr dirty="0">
              <a:latin typeface="Calibri"/>
            </a:endParaRPr>
          </a:p>
          <a:p>
            <a:pPr algn="l"/>
            <a:r>
              <a:rPr dirty="0">
                <a:latin typeface="Calibri"/>
              </a:rPr>
              <a:t>401 San Vicente Blvd., Santa Monica</a:t>
            </a:r>
          </a:p>
          <a:p>
            <a:pPr lvl="1" algn="l"/>
            <a:r>
              <a:rPr dirty="0">
                <a:latin typeface="Calibri"/>
              </a:rPr>
              <a:t>5-minute walk to the beach</a:t>
            </a:r>
          </a:p>
          <a:p>
            <a:pPr lvl="1" algn="l"/>
            <a:r>
              <a:rPr dirty="0">
                <a:latin typeface="Calibri"/>
              </a:rPr>
              <a:t>Best public school district in West LA</a:t>
            </a:r>
          </a:p>
        </p:txBody>
      </p:sp>
      <p:grpSp>
        <p:nvGrpSpPr>
          <p:cNvPr id="15" name="Group 14">
            <a:extLst>
              <a:ext uri="{FF2B5EF4-FFF2-40B4-BE49-F238E27FC236}">
                <a16:creationId xmlns:a16="http://schemas.microsoft.com/office/drawing/2014/main" id="{6745506A-A03E-3227-D590-F7C0D7A391E2}"/>
              </a:ext>
            </a:extLst>
          </p:cNvPr>
          <p:cNvGrpSpPr/>
          <p:nvPr/>
        </p:nvGrpSpPr>
        <p:grpSpPr>
          <a:xfrm>
            <a:off x="6300216" y="3776472"/>
            <a:ext cx="3319272" cy="2670048"/>
            <a:chOff x="6300216" y="3776472"/>
            <a:chExt cx="3319272" cy="2670048"/>
          </a:xfrm>
        </p:grpSpPr>
        <p:pic>
          <p:nvPicPr>
            <p:cNvPr id="9" name="Picture 8" descr="NV_flat_map.png"/>
            <p:cNvPicPr>
              <a:picLocks noChangeAspect="1"/>
            </p:cNvPicPr>
            <p:nvPr/>
          </p:nvPicPr>
          <p:blipFill>
            <a:blip r:embed="rId4"/>
            <a:stretch>
              <a:fillRect/>
            </a:stretch>
          </p:blipFill>
          <p:spPr>
            <a:xfrm>
              <a:off x="6300216" y="3776472"/>
              <a:ext cx="3319272" cy="2670048"/>
            </a:xfrm>
            <a:prstGeom prst="roundRect">
              <a:avLst>
                <a:gd name="adj" fmla="val 8000"/>
              </a:avLst>
            </a:prstGeom>
            <a:effectLst>
              <a:outerShdw blurRad="50800" dist="38100" dir="2700000" algn="tl" rotWithShape="0">
                <a:srgbClr val="000000">
                  <a:alpha val="50000"/>
                </a:srgbClr>
              </a:outerShdw>
            </a:effectLst>
          </p:spPr>
        </p:pic>
        <p:sp>
          <p:nvSpPr>
            <p:cNvPr id="10" name="Oval 9"/>
            <p:cNvSpPr/>
            <p:nvPr/>
          </p:nvSpPr>
          <p:spPr>
            <a:xfrm>
              <a:off x="7902236" y="4422634"/>
              <a:ext cx="219456" cy="219456"/>
            </a:xfrm>
            <a:prstGeom prst="ellipse">
              <a:avLst/>
            </a:prstGeom>
            <a:solidFill>
              <a:srgbClr val="A2162A"/>
            </a:solidFill>
            <a:ln>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E098812F-7B2C-5338-A27D-12F45D1836F7}" type="slidenum">
              <a:rPr lang="en-US" sz="1200" dirty="0">
                <a:solidFill>
                  <a:srgbClr val="555B66"/>
                </a:solidFill>
                <a:latin typeface="Calibri"/>
              </a:rPr>
              <a:t>25</a:t>
            </a:fld>
            <a:endParaRPr lang="en-US" sz="1200" dirty="0">
              <a:solidFill>
                <a:srgbClr val="555B66"/>
              </a:solidFill>
              <a:latin typeface="Calibri"/>
            </a:endParaRPr>
          </a:p>
        </p:txBody>
      </p:sp>
      <p:grpSp>
        <p:nvGrpSpPr>
          <p:cNvPr id="9650" name="PollBreakBadge"/>
          <p:cNvGrpSpPr/>
          <p:nvPr/>
        </p:nvGrpSpPr>
        <p:grpSpPr>
          <a:xfrm>
            <a:off x="9361444" y="6190030"/>
            <a:ext cx="2697480" cy="487009"/>
            <a:chOff x="9361444" y="6190030"/>
            <a:chExt cx="2697480" cy="487009"/>
          </a:xfrm>
        </p:grpSpPr>
        <p:sp>
          <p:nvSpPr>
            <p:cNvPr id="965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5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fade">
                                      <p:cBhvr>
                                        <p:cTn id="16" dur="500"/>
                                        <p:tgtEl>
                                          <p:spTgt spid="8">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500"/>
                                        <p:tgtEl>
                                          <p:spTgt spid="8">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Effect transition="in" filter="fade">
                                      <p:cBhvr>
                                        <p:cTn id="25" dur="500"/>
                                        <p:tgtEl>
                                          <p:spTgt spid="8">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6FA752-448E-44E6-1CCC-E38613473DAE}"/>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2191650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Rent Is…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W_rent_is.png"/>
          <p:cNvPicPr>
            <a:picLocks noChangeAspect="1"/>
          </p:cNvPicPr>
          <p:nvPr/>
        </p:nvPicPr>
        <p:blipFill>
          <a:blip r:embed="rId3"/>
          <a:stretch>
            <a:fillRect/>
          </a:stretch>
        </p:blipFill>
        <p:spPr>
          <a:xfrm>
            <a:off x="1527048" y="2057400"/>
            <a:ext cx="9144000" cy="2697480"/>
          </a:xfrm>
          <a:prstGeom prst="rect">
            <a:avLst/>
          </a:prstGeom>
        </p:spPr>
      </p:pic>
      <p:sp>
        <p:nvSpPr>
          <p:cNvPr id="8" name="Rectangle 7"/>
          <p:cNvSpPr/>
          <p:nvPr/>
        </p:nvSpPr>
        <p:spPr>
          <a:xfrm>
            <a:off x="3136392" y="3593592"/>
            <a:ext cx="6007608" cy="42062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3655CD08-94F7-5EC5-BB1A-BBA38EEAC6D6}" type="slidenum">
              <a:rPr lang="en-US" sz="1200" dirty="0">
                <a:solidFill>
                  <a:srgbClr val="555B66"/>
                </a:solidFill>
                <a:latin typeface="Calibri"/>
              </a:rPr>
              <a:t>27</a:t>
            </a:fld>
            <a:endParaRPr lang="en-US" sz="1200" dirty="0">
              <a:solidFill>
                <a:srgbClr val="555B66"/>
              </a:solidFill>
              <a:latin typeface="Calibri"/>
            </a:endParaRPr>
          </a:p>
        </p:txBody>
      </p:sp>
      <p:grpSp>
        <p:nvGrpSpPr>
          <p:cNvPr id="9660" name="PollBreakBadge"/>
          <p:cNvGrpSpPr/>
          <p:nvPr/>
        </p:nvGrpSpPr>
        <p:grpSpPr>
          <a:xfrm>
            <a:off x="9361444" y="6190030"/>
            <a:ext cx="2697480" cy="487009"/>
            <a:chOff x="9361444" y="6190030"/>
            <a:chExt cx="2697480" cy="487009"/>
          </a:xfrm>
        </p:grpSpPr>
        <p:sp>
          <p:nvSpPr>
            <p:cNvPr id="966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6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Ceiling: Rent Control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188720" y="1664208"/>
            <a:ext cx="0" cy="395935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5623560"/>
            <a:ext cx="432511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09066" y="153162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TextBox 9"/>
          <p:cNvSpPr txBox="1"/>
          <p:nvPr/>
        </p:nvSpPr>
        <p:spPr>
          <a:xfrm>
            <a:off x="5401056" y="566928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cxnSp>
        <p:nvCxnSpPr>
          <p:cNvPr id="14" name="Connector 13"/>
          <p:cNvCxnSpPr/>
          <p:nvPr/>
        </p:nvCxnSpPr>
        <p:spPr>
          <a:xfrm>
            <a:off x="1188720" y="2173778"/>
            <a:ext cx="3630999" cy="3311790"/>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698685" y="5073631"/>
            <a:ext cx="225551" cy="292608"/>
          </a:xfrm>
          <a:prstGeom prst="rect">
            <a:avLst/>
          </a:prstGeom>
          <a:noFill/>
        </p:spPr>
        <p:txBody>
          <a:bodyPr wrap="square" lIns="0" tIns="0" rIns="0" bIns="0">
            <a:spAutoFit/>
          </a:bodyPr>
          <a:lstStyle/>
          <a:p>
            <a:pPr algn="l"/>
            <a:r>
              <a:rPr sz="1900" b="1" i="1" u="none">
                <a:solidFill>
                  <a:srgbClr val="C00000"/>
                </a:solidFill>
                <a:latin typeface="Calibri"/>
              </a:rPr>
              <a:t>D</a:t>
            </a:r>
          </a:p>
        </p:txBody>
      </p:sp>
      <p:cxnSp>
        <p:nvCxnSpPr>
          <p:cNvPr id="16" name="Connector 15"/>
          <p:cNvCxnSpPr/>
          <p:nvPr/>
        </p:nvCxnSpPr>
        <p:spPr>
          <a:xfrm flipV="1">
            <a:off x="1188720" y="1966791"/>
            <a:ext cx="3025832" cy="331179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282633" y="1768740"/>
            <a:ext cx="196976" cy="292608"/>
          </a:xfrm>
          <a:prstGeom prst="rect">
            <a:avLst/>
          </a:prstGeom>
          <a:noFill/>
        </p:spPr>
        <p:txBody>
          <a:bodyPr wrap="square" lIns="0" tIns="0" rIns="0" bIns="0">
            <a:spAutoFit/>
          </a:bodyPr>
          <a:lstStyle/>
          <a:p>
            <a:pPr algn="l"/>
            <a:r>
              <a:rPr sz="1900" b="1" i="1" u="none">
                <a:solidFill>
                  <a:srgbClr val="0B2B4E"/>
                </a:solidFill>
                <a:latin typeface="Calibri"/>
              </a:rPr>
              <a:t>S</a:t>
            </a:r>
          </a:p>
        </p:txBody>
      </p:sp>
      <p:grpSp>
        <p:nvGrpSpPr>
          <p:cNvPr id="61" name="Group 60">
            <a:extLst>
              <a:ext uri="{FF2B5EF4-FFF2-40B4-BE49-F238E27FC236}">
                <a16:creationId xmlns:a16="http://schemas.microsoft.com/office/drawing/2014/main" id="{08427DCC-8DA2-9C6B-AE7C-A3EB45EA3868}"/>
              </a:ext>
            </a:extLst>
          </p:cNvPr>
          <p:cNvGrpSpPr/>
          <p:nvPr/>
        </p:nvGrpSpPr>
        <p:grpSpPr>
          <a:xfrm>
            <a:off x="813816" y="3447892"/>
            <a:ext cx="2092130" cy="2504852"/>
            <a:chOff x="813816" y="3447892"/>
            <a:chExt cx="2092130" cy="2504852"/>
          </a:xfrm>
        </p:grpSpPr>
        <p:cxnSp>
          <p:nvCxnSpPr>
            <p:cNvPr id="18" name="Connector 17"/>
            <p:cNvCxnSpPr/>
            <p:nvPr/>
          </p:nvCxnSpPr>
          <p:spPr>
            <a:xfrm>
              <a:off x="1188720" y="3585052"/>
              <a:ext cx="1547300"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nvGrpSpPr>
            <p:cNvPr id="55" name="Group 54">
              <a:extLst>
                <a:ext uri="{FF2B5EF4-FFF2-40B4-BE49-F238E27FC236}">
                  <a16:creationId xmlns:a16="http://schemas.microsoft.com/office/drawing/2014/main" id="{A342D232-B67B-6A8F-B5CF-9F02ADC065F0}"/>
                </a:ext>
              </a:extLst>
            </p:cNvPr>
            <p:cNvGrpSpPr/>
            <p:nvPr/>
          </p:nvGrpSpPr>
          <p:grpSpPr>
            <a:xfrm>
              <a:off x="813816" y="3447892"/>
              <a:ext cx="2092130" cy="2504852"/>
              <a:chOff x="813816" y="3447892"/>
              <a:chExt cx="2092130" cy="2504852"/>
            </a:xfrm>
          </p:grpSpPr>
          <p:cxnSp>
            <p:nvCxnSpPr>
              <p:cNvPr id="19" name="Connector 18"/>
              <p:cNvCxnSpPr/>
              <p:nvPr/>
            </p:nvCxnSpPr>
            <p:spPr>
              <a:xfrm flipV="1">
                <a:off x="2736020" y="3585052"/>
                <a:ext cx="0" cy="203850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3816" y="3447892"/>
                <a:ext cx="301752" cy="274320"/>
              </a:xfrm>
              <a:prstGeom prst="rect">
                <a:avLst/>
              </a:prstGeom>
              <a:noFill/>
            </p:spPr>
            <p:txBody>
              <a:bodyPr wrap="square" lIns="0" tIns="0" rIns="0" bIns="0">
                <a:spAutoFit/>
              </a:bodyPr>
              <a:lstStyle/>
              <a:p>
                <a:pPr algn="r"/>
                <a:r>
                  <a:rPr sz="1700" b="1" i="1" u="none">
                    <a:solidFill>
                      <a:srgbClr val="0B2B4E"/>
                    </a:solidFill>
                    <a:latin typeface="Calibri"/>
                  </a:rPr>
                  <a:t>P*</a:t>
                </a:r>
              </a:p>
            </p:txBody>
          </p:sp>
          <p:sp>
            <p:nvSpPr>
              <p:cNvPr id="21" name="TextBox 20"/>
              <p:cNvSpPr txBox="1"/>
              <p:nvPr/>
            </p:nvSpPr>
            <p:spPr>
              <a:xfrm>
                <a:off x="2566094" y="5678424"/>
                <a:ext cx="339852" cy="274320"/>
              </a:xfrm>
              <a:prstGeom prst="rect">
                <a:avLst/>
              </a:prstGeom>
              <a:noFill/>
            </p:spPr>
            <p:txBody>
              <a:bodyPr wrap="square" lIns="0" tIns="0" rIns="0" bIns="0">
                <a:spAutoFit/>
              </a:bodyPr>
              <a:lstStyle/>
              <a:p>
                <a:pPr algn="ctr"/>
                <a:r>
                  <a:rPr sz="1700" b="1" i="1" u="none">
                    <a:solidFill>
                      <a:srgbClr val="0B2B4E"/>
                    </a:solidFill>
                    <a:latin typeface="Calibri"/>
                  </a:rPr>
                  <a:t>Q*</a:t>
                </a:r>
              </a:p>
            </p:txBody>
          </p:sp>
        </p:grpSp>
      </p:grpSp>
      <p:grpSp>
        <p:nvGrpSpPr>
          <p:cNvPr id="56" name="Group 55">
            <a:extLst>
              <a:ext uri="{FF2B5EF4-FFF2-40B4-BE49-F238E27FC236}">
                <a16:creationId xmlns:a16="http://schemas.microsoft.com/office/drawing/2014/main" id="{946358E2-8CCF-60FA-14BA-212B8343CB98}"/>
              </a:ext>
            </a:extLst>
          </p:cNvPr>
          <p:cNvGrpSpPr/>
          <p:nvPr/>
        </p:nvGrpSpPr>
        <p:grpSpPr>
          <a:xfrm>
            <a:off x="528066" y="4278976"/>
            <a:ext cx="3881905" cy="274320"/>
            <a:chOff x="528066" y="4278976"/>
            <a:chExt cx="3881905" cy="274320"/>
          </a:xfrm>
        </p:grpSpPr>
        <p:cxnSp>
          <p:nvCxnSpPr>
            <p:cNvPr id="22" name="Connector 21"/>
            <p:cNvCxnSpPr/>
            <p:nvPr/>
          </p:nvCxnSpPr>
          <p:spPr>
            <a:xfrm>
              <a:off x="1188720" y="4416136"/>
              <a:ext cx="3221251" cy="0"/>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8066" y="4278976"/>
              <a:ext cx="587502" cy="274320"/>
            </a:xfrm>
            <a:prstGeom prst="rect">
              <a:avLst/>
            </a:prstGeom>
            <a:noFill/>
          </p:spPr>
          <p:txBody>
            <a:bodyPr wrap="square" lIns="0" tIns="0" rIns="0" bIns="0">
              <a:spAutoFit/>
            </a:bodyPr>
            <a:lstStyle/>
            <a:p>
              <a:pPr algn="r"/>
              <a:r>
                <a:rPr sz="1700" b="1" i="1" u="none" dirty="0">
                  <a:solidFill>
                    <a:srgbClr val="C00000"/>
                  </a:solidFill>
                  <a:latin typeface="Calibri"/>
                </a:rPr>
                <a:t>P</a:t>
              </a:r>
              <a:r>
                <a:rPr sz="1700" b="1" i="1" u="none" baseline="-25000" dirty="0">
                  <a:solidFill>
                    <a:srgbClr val="C00000"/>
                  </a:solidFill>
                  <a:latin typeface="Calibri"/>
                </a:rPr>
                <a:t>max</a:t>
              </a:r>
            </a:p>
          </p:txBody>
        </p:sp>
      </p:grpSp>
      <p:grpSp>
        <p:nvGrpSpPr>
          <p:cNvPr id="58" name="Group 57">
            <a:extLst>
              <a:ext uri="{FF2B5EF4-FFF2-40B4-BE49-F238E27FC236}">
                <a16:creationId xmlns:a16="http://schemas.microsoft.com/office/drawing/2014/main" id="{86AE7DD6-E90C-C9A2-A2DE-407E6E034433}"/>
              </a:ext>
            </a:extLst>
          </p:cNvPr>
          <p:cNvGrpSpPr/>
          <p:nvPr/>
        </p:nvGrpSpPr>
        <p:grpSpPr>
          <a:xfrm>
            <a:off x="1759146" y="4416136"/>
            <a:ext cx="435102" cy="1536608"/>
            <a:chOff x="1759146" y="4416136"/>
            <a:chExt cx="435102" cy="1536608"/>
          </a:xfrm>
        </p:grpSpPr>
        <p:cxnSp>
          <p:nvCxnSpPr>
            <p:cNvPr id="24" name="Connector 23"/>
            <p:cNvCxnSpPr/>
            <p:nvPr/>
          </p:nvCxnSpPr>
          <p:spPr>
            <a:xfrm flipV="1">
              <a:off x="1976697" y="4416136"/>
              <a:ext cx="0" cy="120742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59146" y="5678424"/>
              <a:ext cx="435102" cy="274320"/>
            </a:xfrm>
            <a:prstGeom prst="rect">
              <a:avLst/>
            </a:prstGeom>
            <a:noFill/>
          </p:spPr>
          <p:txBody>
            <a:bodyPr wrap="square" lIns="0" tIns="0" rIns="0" bIns="0">
              <a:spAutoFit/>
            </a:bodyPr>
            <a:lstStyle/>
            <a:p>
              <a:pPr algn="ctr"/>
              <a:r>
                <a:rPr sz="1700" b="1" i="1" u="none">
                  <a:solidFill>
                    <a:srgbClr val="0B2B4E"/>
                  </a:solidFill>
                  <a:latin typeface="Calibri"/>
                </a:rPr>
                <a:t>Q</a:t>
              </a:r>
              <a:r>
                <a:rPr sz="1700" b="1" i="1" u="none" baseline="-25000">
                  <a:solidFill>
                    <a:srgbClr val="0B2B4E"/>
                  </a:solidFill>
                  <a:latin typeface="Calibri"/>
                </a:rPr>
                <a:t>S</a:t>
              </a:r>
            </a:p>
          </p:txBody>
        </p:sp>
      </p:grpSp>
      <p:grpSp>
        <p:nvGrpSpPr>
          <p:cNvPr id="57" name="Group 56">
            <a:extLst>
              <a:ext uri="{FF2B5EF4-FFF2-40B4-BE49-F238E27FC236}">
                <a16:creationId xmlns:a16="http://schemas.microsoft.com/office/drawing/2014/main" id="{FE3C9F1B-B214-D317-25C4-14C8A7146F4B}"/>
              </a:ext>
            </a:extLst>
          </p:cNvPr>
          <p:cNvGrpSpPr/>
          <p:nvPr/>
        </p:nvGrpSpPr>
        <p:grpSpPr>
          <a:xfrm>
            <a:off x="3391384" y="4427392"/>
            <a:ext cx="473201" cy="1516208"/>
            <a:chOff x="3391384" y="4427392"/>
            <a:chExt cx="473201" cy="1516208"/>
          </a:xfrm>
        </p:grpSpPr>
        <p:cxnSp>
          <p:nvCxnSpPr>
            <p:cNvPr id="26" name="Connector 25"/>
            <p:cNvCxnSpPr/>
            <p:nvPr/>
          </p:nvCxnSpPr>
          <p:spPr>
            <a:xfrm flipV="1">
              <a:off x="3627985" y="4427392"/>
              <a:ext cx="0" cy="120742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391384" y="5669280"/>
              <a:ext cx="473201" cy="274320"/>
            </a:xfrm>
            <a:prstGeom prst="rect">
              <a:avLst/>
            </a:prstGeom>
            <a:noFill/>
          </p:spPr>
          <p:txBody>
            <a:bodyPr wrap="square" lIns="0" tIns="0" rIns="0" bIns="0">
              <a:spAutoFit/>
            </a:bodyPr>
            <a:lstStyle/>
            <a:p>
              <a:pPr algn="ctr"/>
              <a:r>
                <a:rPr sz="1700" b="1" i="1" u="none" dirty="0">
                  <a:solidFill>
                    <a:srgbClr val="0B2B4E"/>
                  </a:solidFill>
                  <a:latin typeface="Calibri"/>
                </a:rPr>
                <a:t>Q</a:t>
              </a:r>
              <a:r>
                <a:rPr sz="1700" b="1" i="1" u="none" baseline="-25000" dirty="0">
                  <a:solidFill>
                    <a:srgbClr val="0B2B4E"/>
                  </a:solidFill>
                  <a:latin typeface="Calibri"/>
                </a:rPr>
                <a:t>D</a:t>
              </a:r>
            </a:p>
          </p:txBody>
        </p:sp>
      </p:grpSp>
      <p:grpSp>
        <p:nvGrpSpPr>
          <p:cNvPr id="59" name="Group 58">
            <a:extLst>
              <a:ext uri="{FF2B5EF4-FFF2-40B4-BE49-F238E27FC236}">
                <a16:creationId xmlns:a16="http://schemas.microsoft.com/office/drawing/2014/main" id="{0DEA16AE-8E6D-AE10-ACEA-7FC9D3040099}"/>
              </a:ext>
            </a:extLst>
          </p:cNvPr>
          <p:cNvGrpSpPr/>
          <p:nvPr/>
        </p:nvGrpSpPr>
        <p:grpSpPr>
          <a:xfrm>
            <a:off x="1534346" y="5961888"/>
            <a:ext cx="2743200" cy="530352"/>
            <a:chOff x="1534346" y="5961888"/>
            <a:chExt cx="2743200" cy="530352"/>
          </a:xfrm>
        </p:grpSpPr>
        <p:sp>
          <p:nvSpPr>
            <p:cNvPr id="28" name="Left Brace 27"/>
            <p:cNvSpPr/>
            <p:nvPr/>
          </p:nvSpPr>
          <p:spPr>
            <a:xfrm rot="16200000">
              <a:off x="2708615" y="5229970"/>
              <a:ext cx="187454" cy="1651290"/>
            </a:xfrm>
            <a:prstGeom prst="leftBrace">
              <a:avLst/>
            </a:prstGeom>
            <a:noFill/>
            <a:ln w="22225">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34346" y="6181344"/>
              <a:ext cx="2743200" cy="310896"/>
            </a:xfrm>
            <a:prstGeom prst="rect">
              <a:avLst/>
            </a:prstGeom>
            <a:noFill/>
          </p:spPr>
          <p:txBody>
            <a:bodyPr wrap="square" lIns="0" tIns="0" rIns="0" bIns="0">
              <a:spAutoFit/>
            </a:bodyPr>
            <a:lstStyle/>
            <a:p>
              <a:pPr algn="ctr"/>
              <a:r>
                <a:rPr sz="1400" b="1" i="1" u="none" dirty="0">
                  <a:solidFill>
                    <a:srgbClr val="A2162A"/>
                  </a:solidFill>
                  <a:latin typeface="Calibri"/>
                </a:rPr>
                <a:t>Q</a:t>
              </a:r>
              <a:r>
                <a:rPr sz="1400" b="1" i="1" u="none" baseline="-25000" dirty="0">
                  <a:solidFill>
                    <a:srgbClr val="A2162A"/>
                  </a:solidFill>
                  <a:latin typeface="Calibri"/>
                </a:rPr>
                <a:t>D</a:t>
              </a:r>
              <a:r>
                <a:rPr sz="1400" b="1" i="1" u="none" dirty="0">
                  <a:solidFill>
                    <a:srgbClr val="A2162A"/>
                  </a:solidFill>
                  <a:latin typeface="Calibri"/>
                </a:rPr>
                <a:t> − Q</a:t>
              </a:r>
              <a:r>
                <a:rPr sz="1400" b="1" i="1" u="none" baseline="-25000" dirty="0">
                  <a:solidFill>
                    <a:srgbClr val="A2162A"/>
                  </a:solidFill>
                  <a:latin typeface="Calibri"/>
                </a:rPr>
                <a:t>S</a:t>
              </a:r>
              <a:r>
                <a:rPr sz="1400" b="1" i="1" u="none" dirty="0">
                  <a:solidFill>
                    <a:srgbClr val="A2162A"/>
                  </a:solidFill>
                  <a:latin typeface="Calibri"/>
                </a:rPr>
                <a:t> = shortage</a:t>
              </a:r>
            </a:p>
          </p:txBody>
        </p:sp>
      </p:grpSp>
      <p:grpSp>
        <p:nvGrpSpPr>
          <p:cNvPr id="48" name="Group 47">
            <a:extLst>
              <a:ext uri="{FF2B5EF4-FFF2-40B4-BE49-F238E27FC236}">
                <a16:creationId xmlns:a16="http://schemas.microsoft.com/office/drawing/2014/main" id="{8E304126-3C48-A8D0-E515-A5536647A1EF}"/>
              </a:ext>
            </a:extLst>
          </p:cNvPr>
          <p:cNvGrpSpPr/>
          <p:nvPr/>
        </p:nvGrpSpPr>
        <p:grpSpPr>
          <a:xfrm>
            <a:off x="1188720" y="3585052"/>
            <a:ext cx="787977" cy="831084"/>
            <a:chOff x="1188720" y="3585052"/>
            <a:chExt cx="787977" cy="831084"/>
          </a:xfrm>
        </p:grpSpPr>
        <p:sp>
          <p:nvSpPr>
            <p:cNvPr id="11" name="Rectangle 10"/>
            <p:cNvSpPr/>
            <p:nvPr/>
          </p:nvSpPr>
          <p:spPr>
            <a:xfrm>
              <a:off x="1188720" y="3585052"/>
              <a:ext cx="787977" cy="831084"/>
            </a:xfrm>
            <a:custGeom>
              <a:avLst/>
              <a:gdLst/>
              <a:ahLst/>
              <a:cxnLst/>
              <a:rect l="0" t="0" r="r" b="b"/>
              <a:pathLst>
                <a:path w="787977" h="831084">
                  <a:moveTo>
                    <a:pt x="0" y="831084"/>
                  </a:moveTo>
                  <a:lnTo>
                    <a:pt x="0" y="0"/>
                  </a:lnTo>
                  <a:lnTo>
                    <a:pt x="787977" y="0"/>
                  </a:lnTo>
                  <a:lnTo>
                    <a:pt x="787977" y="831084"/>
                  </a:lnTo>
                  <a:close/>
                </a:path>
              </a:pathLst>
            </a:custGeom>
            <a:solidFill>
              <a:srgbClr val="A2162A">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38349" y="3932959"/>
              <a:ext cx="457200" cy="310896"/>
            </a:xfrm>
            <a:prstGeom prst="rect">
              <a:avLst/>
            </a:prstGeom>
            <a:noFill/>
          </p:spPr>
          <p:txBody>
            <a:bodyPr wrap="square" lIns="0" tIns="0" rIns="0" bIns="0">
              <a:spAutoFit/>
            </a:bodyPr>
            <a:lstStyle/>
            <a:p>
              <a:pPr algn="ctr"/>
              <a:r>
                <a:rPr sz="1700" b="1" i="0" u="none">
                  <a:solidFill>
                    <a:srgbClr val="0B2B4E"/>
                  </a:solidFill>
                  <a:latin typeface="Calibri"/>
                </a:rPr>
                <a:t>A</a:t>
              </a:r>
            </a:p>
          </p:txBody>
        </p:sp>
      </p:grpSp>
      <p:grpSp>
        <p:nvGrpSpPr>
          <p:cNvPr id="50" name="Group 49">
            <a:extLst>
              <a:ext uri="{FF2B5EF4-FFF2-40B4-BE49-F238E27FC236}">
                <a16:creationId xmlns:a16="http://schemas.microsoft.com/office/drawing/2014/main" id="{BD06EB84-B5FC-3961-4564-CC3A8144F081}"/>
              </a:ext>
            </a:extLst>
          </p:cNvPr>
          <p:cNvGrpSpPr/>
          <p:nvPr/>
        </p:nvGrpSpPr>
        <p:grpSpPr>
          <a:xfrm>
            <a:off x="1958409" y="2892482"/>
            <a:ext cx="777611" cy="692570"/>
            <a:chOff x="1958409" y="2892482"/>
            <a:chExt cx="777611" cy="692570"/>
          </a:xfrm>
        </p:grpSpPr>
        <p:sp>
          <p:nvSpPr>
            <p:cNvPr id="12" name="Rectangle 11"/>
            <p:cNvSpPr/>
            <p:nvPr/>
          </p:nvSpPr>
          <p:spPr>
            <a:xfrm>
              <a:off x="1976697" y="2892482"/>
              <a:ext cx="759323" cy="692570"/>
            </a:xfrm>
            <a:custGeom>
              <a:avLst/>
              <a:gdLst/>
              <a:ahLst/>
              <a:cxnLst/>
              <a:rect l="0" t="0" r="r" b="b"/>
              <a:pathLst>
                <a:path w="759323" h="692570">
                  <a:moveTo>
                    <a:pt x="0" y="692570"/>
                  </a:moveTo>
                  <a:lnTo>
                    <a:pt x="759323" y="692570"/>
                  </a:lnTo>
                  <a:lnTo>
                    <a:pt x="0" y="0"/>
                  </a:lnTo>
                  <a:close/>
                </a:path>
              </a:pathLst>
            </a:custGeom>
            <a:solidFill>
              <a:srgbClr val="555B66">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58409" y="3260440"/>
              <a:ext cx="457200" cy="310896"/>
            </a:xfrm>
            <a:prstGeom prst="rect">
              <a:avLst/>
            </a:prstGeom>
            <a:noFill/>
          </p:spPr>
          <p:txBody>
            <a:bodyPr wrap="square" lIns="0" tIns="0" rIns="0" bIns="0">
              <a:spAutoFit/>
            </a:bodyPr>
            <a:lstStyle/>
            <a:p>
              <a:pPr algn="ctr"/>
              <a:r>
                <a:rPr sz="1700" b="1" i="0" u="none">
                  <a:solidFill>
                    <a:srgbClr val="0B2B4E"/>
                  </a:solidFill>
                  <a:latin typeface="Calibri"/>
                </a:rPr>
                <a:t>B</a:t>
              </a:r>
            </a:p>
          </p:txBody>
        </p:sp>
      </p:grpSp>
      <p:grpSp>
        <p:nvGrpSpPr>
          <p:cNvPr id="52" name="Group 51">
            <a:extLst>
              <a:ext uri="{FF2B5EF4-FFF2-40B4-BE49-F238E27FC236}">
                <a16:creationId xmlns:a16="http://schemas.microsoft.com/office/drawing/2014/main" id="{25FAA372-939D-7817-C78F-56DA06C985B5}"/>
              </a:ext>
            </a:extLst>
          </p:cNvPr>
          <p:cNvGrpSpPr/>
          <p:nvPr/>
        </p:nvGrpSpPr>
        <p:grpSpPr>
          <a:xfrm>
            <a:off x="1965479" y="3585052"/>
            <a:ext cx="770541" cy="831084"/>
            <a:chOff x="1965479" y="3585052"/>
            <a:chExt cx="770541" cy="831084"/>
          </a:xfrm>
        </p:grpSpPr>
        <p:sp>
          <p:nvSpPr>
            <p:cNvPr id="13" name="Rectangle 12"/>
            <p:cNvSpPr/>
            <p:nvPr/>
          </p:nvSpPr>
          <p:spPr>
            <a:xfrm>
              <a:off x="1976697" y="3585052"/>
              <a:ext cx="759323" cy="831084"/>
            </a:xfrm>
            <a:custGeom>
              <a:avLst/>
              <a:gdLst/>
              <a:ahLst/>
              <a:cxnLst/>
              <a:rect l="0" t="0" r="r" b="b"/>
              <a:pathLst>
                <a:path w="759323" h="831084">
                  <a:moveTo>
                    <a:pt x="0" y="0"/>
                  </a:moveTo>
                  <a:lnTo>
                    <a:pt x="759323" y="0"/>
                  </a:lnTo>
                  <a:lnTo>
                    <a:pt x="0" y="831084"/>
                  </a:lnTo>
                  <a:close/>
                </a:path>
              </a:pathLst>
            </a:custGeom>
            <a:solidFill>
              <a:srgbClr val="007A33">
                <a:alpha val="28000"/>
              </a:srgbClr>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965479" y="3767328"/>
              <a:ext cx="457200" cy="310896"/>
            </a:xfrm>
            <a:prstGeom prst="rect">
              <a:avLst/>
            </a:prstGeom>
            <a:noFill/>
          </p:spPr>
          <p:txBody>
            <a:bodyPr wrap="square" lIns="0" tIns="0" rIns="0" bIns="0">
              <a:spAutoFit/>
            </a:bodyPr>
            <a:lstStyle/>
            <a:p>
              <a:pPr algn="ctr"/>
              <a:r>
                <a:rPr sz="1700" b="1" i="0" u="none" dirty="0">
                  <a:solidFill>
                    <a:srgbClr val="0B2B4E"/>
                  </a:solidFill>
                  <a:latin typeface="Calibri"/>
                </a:rPr>
                <a:t>C</a:t>
              </a:r>
            </a:p>
          </p:txBody>
        </p:sp>
      </p:grpSp>
      <p:sp>
        <p:nvSpPr>
          <p:cNvPr id="33" name="TextBox 32"/>
          <p:cNvSpPr txBox="1"/>
          <p:nvPr/>
        </p:nvSpPr>
        <p:spPr>
          <a:xfrm>
            <a:off x="5989320" y="1600200"/>
            <a:ext cx="5806440" cy="365760"/>
          </a:xfrm>
          <a:prstGeom prst="rect">
            <a:avLst/>
          </a:prstGeom>
          <a:noFill/>
        </p:spPr>
        <p:txBody>
          <a:bodyPr wrap="square" lIns="0" tIns="0" rIns="0" bIns="0">
            <a:spAutoFit/>
          </a:bodyPr>
          <a:lstStyle/>
          <a:p>
            <a:pPr algn="l"/>
            <a:r>
              <a:rPr sz="2100" b="1" i="0" u="none">
                <a:solidFill>
                  <a:srgbClr val="0B2B4E"/>
                </a:solidFill>
                <a:latin typeface="Calibri"/>
              </a:rPr>
              <a:t>Welfare effects</a:t>
            </a:r>
          </a:p>
        </p:txBody>
      </p:sp>
      <p:grpSp>
        <p:nvGrpSpPr>
          <p:cNvPr id="49" name="Group 48">
            <a:extLst>
              <a:ext uri="{FF2B5EF4-FFF2-40B4-BE49-F238E27FC236}">
                <a16:creationId xmlns:a16="http://schemas.microsoft.com/office/drawing/2014/main" id="{A5DE22C9-0EDD-74E5-A274-F7E3CB7359C6}"/>
              </a:ext>
            </a:extLst>
          </p:cNvPr>
          <p:cNvGrpSpPr/>
          <p:nvPr/>
        </p:nvGrpSpPr>
        <p:grpSpPr>
          <a:xfrm>
            <a:off x="6126480" y="2084832"/>
            <a:ext cx="5669280" cy="310896"/>
            <a:chOff x="6126480" y="2084832"/>
            <a:chExt cx="5669280" cy="310896"/>
          </a:xfrm>
        </p:grpSpPr>
        <p:sp>
          <p:nvSpPr>
            <p:cNvPr id="34" name="Rectangle 33"/>
            <p:cNvSpPr/>
            <p:nvPr/>
          </p:nvSpPr>
          <p:spPr>
            <a:xfrm>
              <a:off x="6126480" y="2148840"/>
              <a:ext cx="182880" cy="182880"/>
            </a:xfrm>
            <a:prstGeom prst="rect">
              <a:avLst/>
            </a:prstGeom>
            <a:solidFill>
              <a:srgbClr val="A2162A">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93408" y="2084832"/>
              <a:ext cx="5102352" cy="310896"/>
            </a:xfrm>
            <a:prstGeom prst="rect">
              <a:avLst/>
            </a:prstGeom>
            <a:noFill/>
          </p:spPr>
          <p:txBody>
            <a:bodyPr wrap="square" lIns="0" tIns="0" rIns="0" bIns="0">
              <a:spAutoFit/>
            </a:bodyPr>
            <a:lstStyle/>
            <a:p>
              <a:pPr algn="l"/>
              <a:r>
                <a:rPr sz="1800" b="0" i="0" u="none" dirty="0">
                  <a:solidFill>
                    <a:srgbClr val="0B2B4E"/>
                  </a:solidFill>
                  <a:latin typeface="Calibri"/>
                </a:rPr>
                <a:t>Some renters win A — those who keep a place</a:t>
              </a:r>
            </a:p>
          </p:txBody>
        </p:sp>
      </p:grpSp>
      <p:grpSp>
        <p:nvGrpSpPr>
          <p:cNvPr id="51" name="Group 50">
            <a:extLst>
              <a:ext uri="{FF2B5EF4-FFF2-40B4-BE49-F238E27FC236}">
                <a16:creationId xmlns:a16="http://schemas.microsoft.com/office/drawing/2014/main" id="{05766D31-AFC7-B5C9-34F3-6C48B3321F63}"/>
              </a:ext>
            </a:extLst>
          </p:cNvPr>
          <p:cNvGrpSpPr/>
          <p:nvPr/>
        </p:nvGrpSpPr>
        <p:grpSpPr>
          <a:xfrm>
            <a:off x="6126480" y="2587752"/>
            <a:ext cx="5669280" cy="310896"/>
            <a:chOff x="6126480" y="2587752"/>
            <a:chExt cx="5669280" cy="310896"/>
          </a:xfrm>
        </p:grpSpPr>
        <p:sp>
          <p:nvSpPr>
            <p:cNvPr id="36" name="Right Triangle 35"/>
            <p:cNvSpPr/>
            <p:nvPr/>
          </p:nvSpPr>
          <p:spPr>
            <a:xfrm>
              <a:off x="6126480" y="2651760"/>
              <a:ext cx="182880" cy="182880"/>
            </a:xfrm>
            <a:prstGeom prst="rtTriangle">
              <a:avLst/>
            </a:prstGeom>
            <a:solidFill>
              <a:srgbClr val="555B66">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2587752"/>
              <a:ext cx="5102352" cy="310896"/>
            </a:xfrm>
            <a:prstGeom prst="rect">
              <a:avLst/>
            </a:prstGeom>
            <a:noFill/>
          </p:spPr>
          <p:txBody>
            <a:bodyPr wrap="square" lIns="0" tIns="0" rIns="0" bIns="0">
              <a:spAutoFit/>
            </a:bodyPr>
            <a:lstStyle/>
            <a:p>
              <a:pPr algn="l"/>
              <a:r>
                <a:rPr sz="1800" b="0" i="0" u="none" dirty="0">
                  <a:solidFill>
                    <a:srgbClr val="0B2B4E"/>
                  </a:solidFill>
                  <a:latin typeface="Calibri"/>
                </a:rPr>
                <a:t>Some renters lose B — they cannot find one</a:t>
              </a:r>
            </a:p>
          </p:txBody>
        </p:sp>
      </p:grpSp>
      <p:grpSp>
        <p:nvGrpSpPr>
          <p:cNvPr id="53" name="Group 52">
            <a:extLst>
              <a:ext uri="{FF2B5EF4-FFF2-40B4-BE49-F238E27FC236}">
                <a16:creationId xmlns:a16="http://schemas.microsoft.com/office/drawing/2014/main" id="{932EB136-0397-0477-F296-34B4D6122601}"/>
              </a:ext>
            </a:extLst>
          </p:cNvPr>
          <p:cNvGrpSpPr/>
          <p:nvPr/>
        </p:nvGrpSpPr>
        <p:grpSpPr>
          <a:xfrm>
            <a:off x="6126480" y="3090672"/>
            <a:ext cx="5669280" cy="310896"/>
            <a:chOff x="6126480" y="3090672"/>
            <a:chExt cx="5669280" cy="310896"/>
          </a:xfrm>
        </p:grpSpPr>
        <p:sp>
          <p:nvSpPr>
            <p:cNvPr id="38" name="Rectangle 37"/>
            <p:cNvSpPr/>
            <p:nvPr/>
          </p:nvSpPr>
          <p:spPr>
            <a:xfrm>
              <a:off x="6126480" y="3154680"/>
              <a:ext cx="182880" cy="182880"/>
            </a:xfrm>
            <a:prstGeom prst="rect">
              <a:avLst/>
            </a:prstGeom>
            <a:solidFill>
              <a:srgbClr val="A2162A">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ight Triangle 38"/>
            <p:cNvSpPr/>
            <p:nvPr/>
          </p:nvSpPr>
          <p:spPr>
            <a:xfrm flipV="1">
              <a:off x="6327648" y="3154680"/>
              <a:ext cx="182880" cy="182880"/>
            </a:xfrm>
            <a:prstGeom prst="rtTriangle">
              <a:avLst/>
            </a:prstGeom>
            <a:solidFill>
              <a:srgbClr val="007A33">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93408" y="3090672"/>
              <a:ext cx="5102352" cy="310896"/>
            </a:xfrm>
            <a:prstGeom prst="rect">
              <a:avLst/>
            </a:prstGeom>
            <a:noFill/>
          </p:spPr>
          <p:txBody>
            <a:bodyPr wrap="square" lIns="0" tIns="0" rIns="0" bIns="0">
              <a:spAutoFit/>
            </a:bodyPr>
            <a:lstStyle/>
            <a:p>
              <a:pPr algn="l"/>
              <a:r>
                <a:rPr sz="1800" b="0" i="0" u="none">
                  <a:solidFill>
                    <a:srgbClr val="0B2B4E"/>
                  </a:solidFill>
                  <a:latin typeface="Calibri"/>
                </a:rPr>
                <a:t>Landlords lose A + C</a:t>
              </a:r>
            </a:p>
          </p:txBody>
        </p:sp>
      </p:grpSp>
      <p:grpSp>
        <p:nvGrpSpPr>
          <p:cNvPr id="54" name="Group 53">
            <a:extLst>
              <a:ext uri="{FF2B5EF4-FFF2-40B4-BE49-F238E27FC236}">
                <a16:creationId xmlns:a16="http://schemas.microsoft.com/office/drawing/2014/main" id="{787B5CA4-341B-AB94-9D7B-33F01670AC28}"/>
              </a:ext>
            </a:extLst>
          </p:cNvPr>
          <p:cNvGrpSpPr/>
          <p:nvPr/>
        </p:nvGrpSpPr>
        <p:grpSpPr>
          <a:xfrm>
            <a:off x="6126480" y="3657600"/>
            <a:ext cx="5669280" cy="374904"/>
            <a:chOff x="6126480" y="3657600"/>
            <a:chExt cx="5669280" cy="374904"/>
          </a:xfrm>
        </p:grpSpPr>
        <p:sp>
          <p:nvSpPr>
            <p:cNvPr id="41" name="Right Triangle 40"/>
            <p:cNvSpPr/>
            <p:nvPr/>
          </p:nvSpPr>
          <p:spPr>
            <a:xfrm>
              <a:off x="6126480" y="3657600"/>
              <a:ext cx="182880" cy="182880"/>
            </a:xfrm>
            <a:prstGeom prst="rtTriangle">
              <a:avLst/>
            </a:prstGeom>
            <a:solidFill>
              <a:srgbClr val="555B66">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ight Triangle 41"/>
            <p:cNvSpPr/>
            <p:nvPr/>
          </p:nvSpPr>
          <p:spPr>
            <a:xfrm flipV="1">
              <a:off x="6126480" y="3849624"/>
              <a:ext cx="182880" cy="182880"/>
            </a:xfrm>
            <a:prstGeom prst="rtTriangle">
              <a:avLst/>
            </a:prstGeom>
            <a:solidFill>
              <a:srgbClr val="007A33">
                <a:alpha val="30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3689604"/>
              <a:ext cx="5102352" cy="310896"/>
            </a:xfrm>
            <a:prstGeom prst="rect">
              <a:avLst/>
            </a:prstGeom>
            <a:noFill/>
          </p:spPr>
          <p:txBody>
            <a:bodyPr wrap="square" lIns="0" tIns="0" rIns="0" bIns="0">
              <a:spAutoFit/>
            </a:bodyPr>
            <a:lstStyle/>
            <a:p>
              <a:pPr algn="l"/>
              <a:r>
                <a:rPr sz="1800" b="0" i="0" u="none" dirty="0">
                  <a:solidFill>
                    <a:srgbClr val="0B2B4E"/>
                  </a:solidFill>
                  <a:latin typeface="Calibri"/>
                </a:rPr>
                <a:t>Deadweight loss: B + C</a:t>
              </a:r>
            </a:p>
          </p:txBody>
        </p:sp>
      </p:grpSp>
      <p:sp>
        <p:nvSpPr>
          <p:cNvPr id="44" name="Rectangle 4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47" name="TextBox 46"/>
          <p:cNvSpPr txBox="1"/>
          <p:nvPr/>
        </p:nvSpPr>
        <p:spPr>
          <a:xfrm>
            <a:off x="11475720" y="6583680"/>
            <a:ext cx="502920" cy="292608"/>
          </a:xfrm>
          <a:prstGeom prst="rect">
            <a:avLst/>
          </a:prstGeom>
          <a:noFill/>
        </p:spPr>
        <p:txBody>
          <a:bodyPr wrap="none" lIns="0" tIns="0" rIns="0" bIns="0">
            <a:spAutoFit/>
          </a:bodyPr>
          <a:lstStyle/>
          <a:p>
            <a:pPr algn="r"/>
            <a:fld id="{2D51E997-482C-5AB1-8E65-EB8009E358F8}" type="slidenum">
              <a:rPr lang="en-US" sz="1200" dirty="0">
                <a:solidFill>
                  <a:srgbClr val="555B66"/>
                </a:solidFill>
                <a:latin typeface="Calibri"/>
              </a:rPr>
              <a:t>28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How Do Landlords React to Rent Control?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399032"/>
            <a:ext cx="3986784" cy="1929384"/>
          </a:xfrm>
          <a:prstGeom prst="rect">
            <a:avLst/>
          </a:prstGeom>
          <a:noFill/>
        </p:spPr>
        <p:txBody>
          <a:bodyPr wrap="square" lIns="0" tIns="0" rIns="0" bIns="0">
            <a:noAutofit/>
          </a:bodyPr>
          <a:lstStyle>
            <a:lvl1pPr marL="342900" indent="-342900">
              <a:spcBef>
                <a:spcPts val="12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Non-price adjustments (e.g. neglect maintenance)</a:t>
            </a:r>
          </a:p>
          <a:p>
            <a:pPr algn="l"/>
            <a:r>
              <a:rPr>
                <a:latin typeface="Calibri"/>
              </a:rPr>
              <a:t>Buy the tenants out (legal)</a:t>
            </a:r>
          </a:p>
          <a:p>
            <a:pPr algn="l"/>
            <a:r>
              <a:rPr>
                <a:latin typeface="Calibri"/>
              </a:rPr>
              <a:t>Harass the tenants (illegal)</a:t>
            </a:r>
          </a:p>
        </p:txBody>
      </p:sp>
      <p:pic>
        <p:nvPicPr>
          <p:cNvPr id="8" name="Picture 7" descr="NV_s67_5_9b9eb200.jpg"/>
          <p:cNvPicPr>
            <a:picLocks noChangeAspect="1"/>
          </p:cNvPicPr>
          <p:nvPr/>
        </p:nvPicPr>
        <p:blipFill>
          <a:blip r:embed="rId3"/>
          <a:stretch>
            <a:fillRect/>
          </a:stretch>
        </p:blipFill>
        <p:spPr>
          <a:xfrm>
            <a:off x="1901952" y="3392424"/>
            <a:ext cx="4041648" cy="3026664"/>
          </a:xfrm>
          <a:prstGeom prst="roundRect">
            <a:avLst>
              <a:gd name="adj" fmla="val 8000"/>
            </a:avLst>
          </a:prstGeom>
          <a:effectLst>
            <a:outerShdw blurRad="50800" dist="38100" dir="2700000" algn="tl" rotWithShape="0">
              <a:srgbClr val="000000">
                <a:alpha val="50000"/>
              </a:srgbClr>
            </a:outerShdw>
          </a:effectLst>
        </p:spPr>
      </p:pic>
      <p:pic>
        <p:nvPicPr>
          <p:cNvPr id="9" name="Picture 8" descr="NV_s67_4_868e46cb.jpg"/>
          <p:cNvPicPr>
            <a:picLocks noChangeAspect="1"/>
          </p:cNvPicPr>
          <p:nvPr/>
        </p:nvPicPr>
        <p:blipFill>
          <a:blip r:embed="rId4"/>
          <a:stretch>
            <a:fillRect/>
          </a:stretch>
        </p:blipFill>
        <p:spPr>
          <a:xfrm>
            <a:off x="7680960" y="1289304"/>
            <a:ext cx="3877056" cy="5175504"/>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919582EC-26A3-5FDE-9A63-332CE2516606}" type="slidenum">
              <a:rPr lang="en-US" sz="1200" dirty="0">
                <a:solidFill>
                  <a:srgbClr val="555B66"/>
                </a:solidFill>
                <a:latin typeface="Calibri"/>
              </a:rPr>
              <a:t>29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Evidence on Rent Control: Cambridge, MA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389888"/>
            <a:ext cx="11338560" cy="384048"/>
          </a:xfrm>
          <a:prstGeom prst="rect">
            <a:avLst/>
          </a:prstGeom>
          <a:noFill/>
        </p:spPr>
        <p:txBody>
          <a:bodyPr wrap="square" lIns="0" tIns="0" rIns="0" bIns="0">
            <a:spAutoFit/>
          </a:bodyPr>
          <a:lstStyle/>
          <a:p>
            <a:pPr algn="l"/>
            <a:r>
              <a:rPr sz="2300" b="0" i="0" u="none">
                <a:solidFill>
                  <a:srgbClr val="0B2B4E"/>
                </a:solidFill>
                <a:latin typeface="Calibri"/>
              </a:rPr>
              <a:t>A natural experiment: rent control in Cambridge ended suddenly in 1995</a:t>
            </a:r>
          </a:p>
        </p:txBody>
      </p:sp>
      <p:grpSp>
        <p:nvGrpSpPr>
          <p:cNvPr id="113" name="Group pair 113"/>
          <p:cNvGrpSpPr/>
          <p:nvPr/>
        </p:nvGrpSpPr>
        <p:grpSpPr>
          <a:xfrm>
            <a:off x="2542032" y="1874519"/>
            <a:ext cx="7022592" cy="4672585"/>
            <a:chOff x="2542032" y="1874519"/>
            <a:chExt cx="7022592" cy="4672585"/>
          </a:xfrm>
        </p:grpSpPr>
        <p:pic>
          <p:nvPicPr>
            <p:cNvPr id="8" name="Picture 7" descr="NV_s68_5_5777e352.png"/>
            <p:cNvPicPr>
              <a:picLocks noChangeAspect="1"/>
            </p:cNvPicPr>
            <p:nvPr/>
          </p:nvPicPr>
          <p:blipFill>
            <a:blip r:embed="rId3"/>
            <a:stretch>
              <a:fillRect/>
            </a:stretch>
          </p:blipFill>
          <p:spPr>
            <a:xfrm>
              <a:off x="2542032" y="1874519"/>
              <a:ext cx="7022592" cy="4306824"/>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3063240" y="6272784"/>
              <a:ext cx="6080760" cy="274320"/>
            </a:xfrm>
            <a:prstGeom prst="rect">
              <a:avLst/>
            </a:prstGeom>
            <a:noFill/>
          </p:spPr>
          <p:txBody>
            <a:bodyPr wrap="square" lIns="0" tIns="0" rIns="0" bIns="0">
              <a:spAutoFit/>
            </a:bodyPr>
            <a:lstStyle/>
            <a:p>
              <a:pPr algn="ctr"/>
              <a:r>
                <a:rPr sz="1200" b="0" i="1" u="none">
                  <a:solidFill>
                    <a:srgbClr val="555B66"/>
                  </a:solidFill>
                  <a:latin typeface="Calibri"/>
                </a:rPr>
                <a:t>Source: Autor, Palmer and Pathak (2014)</a:t>
              </a:r>
            </a:p>
          </p:txBody>
        </p:sp>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60025ED-E43E-5422-B56E-66247596E0AB}" type="slidenum">
              <a:rPr lang="en-US" sz="1200" dirty="0">
                <a:solidFill>
                  <a:srgbClr val="555B66"/>
                </a:solidFill>
                <a:latin typeface="Calibri"/>
              </a:rPr>
              <a:t>30</a:t>
            </a:fld>
            <a:endParaRPr lang="en-US" sz="1200" dirty="0">
              <a:solidFill>
                <a:srgbClr val="555B66"/>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Happened When Rent Control Ended?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2039" y="1737360"/>
            <a:ext cx="10972800" cy="329184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“Natural” experiment: sudden end of rent control in Cambridge, MA in 1995</a:t>
            </a:r>
          </a:p>
          <a:p>
            <a:pPr algn="l"/>
            <a:r>
              <a:rPr>
                <a:latin typeface="Calibri"/>
              </a:rPr>
              <a:t>What do you think happened to:</a:t>
            </a:r>
          </a:p>
          <a:p>
            <a:pPr lvl="1" algn="l"/>
            <a:r>
              <a:rPr>
                <a:latin typeface="Calibri"/>
              </a:rPr>
              <a:t>Rental price for previously rent-controlled units?</a:t>
            </a:r>
          </a:p>
          <a:p>
            <a:pPr lvl="1" algn="l"/>
            <a:r>
              <a:rPr>
                <a:latin typeface="Calibri"/>
              </a:rPr>
              <a:t>Investment in previously rent-controlled units?</a:t>
            </a:r>
          </a:p>
          <a:p>
            <a:pPr lvl="1" algn="l"/>
            <a:r>
              <a:rPr>
                <a:latin typeface="Calibri"/>
              </a:rPr>
              <a:t>Price/investment for nearby never-controlled units?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6C154A0D-CC2C-5E04-B2ED-6C5EC1C1A25E}" type="slidenum">
              <a:rPr lang="en-US" sz="1200" dirty="0">
                <a:solidFill>
                  <a:srgbClr val="555B66"/>
                </a:solidFill>
                <a:latin typeface="Calibri"/>
              </a:rPr>
              <a:t>31</a:t>
            </a:fld>
            <a:endParaRPr lang="en-US" sz="1200" dirty="0">
              <a:solidFill>
                <a:srgbClr val="555B66"/>
              </a:solidFill>
              <a:latin typeface="Calibri"/>
            </a:endParaRPr>
          </a:p>
        </p:txBody>
      </p:sp>
      <p:grpSp>
        <p:nvGrpSpPr>
          <p:cNvPr id="9670" name="PollBreakBadge"/>
          <p:cNvGrpSpPr/>
          <p:nvPr/>
        </p:nvGrpSpPr>
        <p:grpSpPr>
          <a:xfrm>
            <a:off x="8008041" y="6190030"/>
            <a:ext cx="4050792" cy="487009"/>
            <a:chOff x="8008041" y="6190030"/>
            <a:chExt cx="4050792" cy="487009"/>
          </a:xfrm>
        </p:grpSpPr>
        <p:sp>
          <p:nvSpPr>
            <p:cNvPr id="9671" name="PollBreakShape"/>
            <p:cNvSpPr/>
            <p:nvPr/>
          </p:nvSpPr>
          <p:spPr>
            <a:xfrm>
              <a:off x="8008041" y="6190030"/>
              <a:ext cx="4050792" cy="487009"/>
            </a:xfrm>
            <a:custGeom>
              <a:avLst/>
              <a:gdLst/>
              <a:ahLst/>
              <a:cxnLst/>
              <a:rect l="16253" t="0" r="83747" b="100000"/>
              <a:pathLst>
                <a:path w="100000" h="100000">
                  <a:moveTo>
                    <a:pt x="21253" y="0"/>
                  </a:moveTo>
                  <a:lnTo>
                    <a:pt x="95000" y="0"/>
                  </a:lnTo>
                  <a:cubicBezTo>
                    <a:pt x="100000" y="0"/>
                    <a:pt x="100000" y="0"/>
                    <a:pt x="99187" y="5000"/>
                  </a:cubicBezTo>
                  <a:lnTo>
                    <a:pt x="84560" y="95000"/>
                  </a:lnTo>
                  <a:cubicBezTo>
                    <a:pt x="83747" y="100000"/>
                    <a:pt x="83747" y="100000"/>
                    <a:pt x="78747" y="100000"/>
                  </a:cubicBezTo>
                  <a:lnTo>
                    <a:pt x="5000" y="100000"/>
                  </a:lnTo>
                  <a:cubicBezTo>
                    <a:pt x="0" y="100000"/>
                    <a:pt x="0" y="100000"/>
                    <a:pt x="813" y="95000"/>
                  </a:cubicBezTo>
                  <a:lnTo>
                    <a:pt x="15440" y="5000"/>
                  </a:lnTo>
                  <a:cubicBezTo>
                    <a:pt x="16253" y="0"/>
                    <a:pt x="16253" y="0"/>
                    <a:pt x="21253"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72" name="PollBreakLabel"/>
            <p:cNvSpPr txBox="1"/>
            <p:nvPr/>
          </p:nvSpPr>
          <p:spPr>
            <a:xfrm>
              <a:off x="8666409" y="6190030"/>
              <a:ext cx="2734056" cy="487009"/>
            </a:xfrm>
            <a:prstGeom prst="rect">
              <a:avLst/>
            </a:prstGeom>
            <a:noFill/>
          </p:spPr>
          <p:txBody>
            <a:bodyPr wrap="none" lIns="45720" tIns="18288" rIns="45720" bIns="18288" anchor="ctr">
              <a:spAutoFit/>
            </a:bodyPr>
            <a:lstStyle/>
            <a:p>
              <a:pPr algn="ctr"/>
              <a:r>
                <a:rPr sz="2800" b="1" dirty="0">
                  <a:solidFill>
                    <a:srgbClr val="0B2B4E"/>
                  </a:solidFill>
                  <a:latin typeface="Calibri"/>
                </a:rPr>
                <a:t>Discussion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Evidence on Rent Control: Results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 y="1508760"/>
            <a:ext cx="4389120" cy="512064"/>
          </a:xfrm>
          <a:prstGeom prst="rect">
            <a:avLst/>
          </a:prstGeom>
          <a:noFill/>
        </p:spPr>
        <p:txBody>
          <a:bodyPr wrap="square" lIns="0" tIns="0" rIns="0" bIns="0">
            <a:spAutoFit/>
          </a:bodyPr>
          <a:lstStyle/>
          <a:p>
            <a:pPr algn="ctr"/>
            <a:r>
              <a:rPr sz="1400" b="1" i="1" u="none">
                <a:solidFill>
                  <a:srgbClr val="0B2B4E"/>
                </a:solidFill>
                <a:latin typeface="Calibri"/>
              </a:rPr>
              <a:t>Impact on the price of decontrolled units</a:t>
            </a:r>
          </a:p>
        </p:txBody>
      </p:sp>
      <p:pic>
        <p:nvPicPr>
          <p:cNvPr id="8" name="Picture 7" descr="NV_s70_2_95e7216e.png"/>
          <p:cNvPicPr>
            <a:picLocks noChangeAspect="1"/>
          </p:cNvPicPr>
          <p:nvPr/>
        </p:nvPicPr>
        <p:blipFill>
          <a:blip r:embed="rId3"/>
          <a:stretch>
            <a:fillRect/>
          </a:stretch>
        </p:blipFill>
        <p:spPr>
          <a:xfrm>
            <a:off x="201168" y="1792224"/>
            <a:ext cx="4133087" cy="2578608"/>
          </a:xfrm>
          <a:prstGeom prst="rect">
            <a:avLst/>
          </a:prstGeom>
          <a:effectLst>
            <a:outerShdw blurRad="50800" dist="38100" dir="2700000" algn="tl" rotWithShape="0">
              <a:srgbClr val="000000">
                <a:alpha val="45000"/>
              </a:srgbClr>
            </a:outerShdw>
          </a:effectLst>
        </p:spPr>
      </p:pic>
      <p:cxnSp>
        <p:nvCxnSpPr>
          <p:cNvPr id="9" name="Connector 8"/>
          <p:cNvCxnSpPr/>
          <p:nvPr/>
        </p:nvCxnSpPr>
        <p:spPr>
          <a:xfrm flipV="1">
            <a:off x="1925905" y="2378341"/>
            <a:ext cx="2057451" cy="567036"/>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0" y="1463040"/>
            <a:ext cx="3840480" cy="512064"/>
          </a:xfrm>
          <a:prstGeom prst="rect">
            <a:avLst/>
          </a:prstGeom>
          <a:noFill/>
        </p:spPr>
        <p:txBody>
          <a:bodyPr wrap="square" lIns="0" tIns="0" rIns="0" bIns="0">
            <a:spAutoFit/>
          </a:bodyPr>
          <a:lstStyle/>
          <a:p>
            <a:pPr algn="ctr"/>
            <a:r>
              <a:rPr sz="1400" b="1" i="1" u="none">
                <a:solidFill>
                  <a:srgbClr val="0B2B4E"/>
                </a:solidFill>
                <a:latin typeface="Calibri"/>
              </a:rPr>
              <a:t>Impact on the price of never-controlled units</a:t>
            </a:r>
          </a:p>
        </p:txBody>
      </p:sp>
      <p:pic>
        <p:nvPicPr>
          <p:cNvPr id="11" name="Picture 10" descr="NV_s70_4_5ecaba44.png"/>
          <p:cNvPicPr>
            <a:picLocks noChangeAspect="1"/>
          </p:cNvPicPr>
          <p:nvPr/>
        </p:nvPicPr>
        <p:blipFill>
          <a:blip r:embed="rId4"/>
          <a:stretch>
            <a:fillRect/>
          </a:stretch>
        </p:blipFill>
        <p:spPr>
          <a:xfrm>
            <a:off x="4837176" y="1783080"/>
            <a:ext cx="3429000" cy="2523744"/>
          </a:xfrm>
          <a:prstGeom prst="rect">
            <a:avLst/>
          </a:prstGeom>
          <a:effectLst>
            <a:outerShdw blurRad="50800" dist="38100" dir="2700000" algn="tl" rotWithShape="0">
              <a:srgbClr val="000000">
                <a:alpha val="45000"/>
              </a:srgbClr>
            </a:outerShdw>
          </a:effectLst>
        </p:spPr>
      </p:pic>
      <p:cxnSp>
        <p:nvCxnSpPr>
          <p:cNvPr id="12" name="Connector 11"/>
          <p:cNvCxnSpPr/>
          <p:nvPr/>
        </p:nvCxnSpPr>
        <p:spPr>
          <a:xfrm flipV="1">
            <a:off x="6314046" y="2868542"/>
            <a:ext cx="1828685" cy="501972"/>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120" name="Group pair 120"/>
          <p:cNvGrpSpPr/>
          <p:nvPr/>
        </p:nvGrpSpPr>
        <p:grpSpPr>
          <a:xfrm>
            <a:off x="8769096" y="1344168"/>
            <a:ext cx="3209544" cy="4041648"/>
            <a:chOff x="8769096" y="1344168"/>
            <a:chExt cx="3209544" cy="4041648"/>
          </a:xfrm>
        </p:grpSpPr>
        <p:sp>
          <p:nvSpPr>
            <p:cNvPr id="13" name="TextBox 12"/>
            <p:cNvSpPr txBox="1"/>
            <p:nvPr/>
          </p:nvSpPr>
          <p:spPr>
            <a:xfrm>
              <a:off x="8823960" y="1344168"/>
              <a:ext cx="3154680" cy="429768"/>
            </a:xfrm>
            <a:prstGeom prst="rect">
              <a:avLst/>
            </a:prstGeom>
            <a:noFill/>
          </p:spPr>
          <p:txBody>
            <a:bodyPr wrap="square" lIns="0" tIns="0" rIns="0" bIns="0">
              <a:spAutoFit/>
            </a:bodyPr>
            <a:lstStyle/>
            <a:p>
              <a:pPr algn="ctr"/>
              <a:r>
                <a:rPr sz="1400" b="1" i="1" u="none">
                  <a:solidFill>
                    <a:srgbClr val="0B2B4E"/>
                  </a:solidFill>
                  <a:latin typeface="Calibri"/>
                </a:rPr>
                <a:t>Impact on investment activities at decontrolled units ($1000s)</a:t>
              </a:r>
            </a:p>
          </p:txBody>
        </p:sp>
        <p:pic>
          <p:nvPicPr>
            <p:cNvPr id="14" name="Picture 13" descr="NV_s70_6_08feed5a.png"/>
            <p:cNvPicPr>
              <a:picLocks noChangeAspect="1"/>
            </p:cNvPicPr>
            <p:nvPr/>
          </p:nvPicPr>
          <p:blipFill>
            <a:blip r:embed="rId5"/>
            <a:stretch>
              <a:fillRect/>
            </a:stretch>
          </p:blipFill>
          <p:spPr>
            <a:xfrm>
              <a:off x="8769096" y="1801368"/>
              <a:ext cx="3090672" cy="3584448"/>
            </a:xfrm>
            <a:prstGeom prst="rect">
              <a:avLst/>
            </a:prstGeom>
            <a:effectLst>
              <a:outerShdw blurRad="50800" dist="38100" dir="2700000" algn="tl" rotWithShape="0">
                <a:srgbClr val="000000">
                  <a:alpha val="45000"/>
                </a:srgbClr>
              </a:outerShdw>
            </a:effectLst>
          </p:spPr>
        </p:pic>
      </p:grpSp>
      <p:cxnSp>
        <p:nvCxnSpPr>
          <p:cNvPr id="15" name="Connector 14"/>
          <p:cNvCxnSpPr/>
          <p:nvPr/>
        </p:nvCxnSpPr>
        <p:spPr>
          <a:xfrm flipV="1">
            <a:off x="9736476" y="3018288"/>
            <a:ext cx="1147566" cy="625486"/>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615287" y="5788152"/>
            <a:ext cx="896112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dirty="0">
                <a:solidFill>
                  <a:srgbClr val="FFFFFF"/>
                </a:solidFill>
                <a:latin typeface="Calibri"/>
              </a:rPr>
              <a:t>Rents rose, and so did investment — including at the units next door</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189B3304-CDE3-5386-93BE-6E7B3B0EFE8D}" type="slidenum">
              <a:rPr lang="en-US" sz="1200" dirty="0">
                <a:solidFill>
                  <a:srgbClr val="555B66"/>
                </a:solidFill>
                <a:latin typeface="Calibri"/>
              </a:rPr>
              <a:t>32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0"/>
                                        </p:tgtEl>
                                        <p:attrNameLst>
                                          <p:attrName>style.visibility</p:attrName>
                                        </p:attrNameLst>
                                      </p:cBhvr>
                                      <p:to>
                                        <p:strVal val="visible"/>
                                      </p:to>
                                    </p:set>
                                    <p:animEffect transition="in" filter="fade">
                                      <p:cBhvr>
                                        <p:cTn id="29" dur="500"/>
                                        <p:tgtEl>
                                          <p:spTgt spid="120"/>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Argentina Scrapped Its Rent Controls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w_headline_wsj_argentina.png"/>
          <p:cNvPicPr>
            <a:picLocks noChangeAspect="1"/>
          </p:cNvPicPr>
          <p:nvPr/>
        </p:nvPicPr>
        <p:blipFill>
          <a:blip r:embed="rId3"/>
          <a:stretch>
            <a:fillRect/>
          </a:stretch>
        </p:blipFill>
        <p:spPr>
          <a:xfrm>
            <a:off x="1417320" y="1508760"/>
            <a:ext cx="9326880" cy="1871224"/>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754919" y="3566160"/>
            <a:ext cx="10607040" cy="173736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Argentina repealed its rent-control law at the end of 2023</a:t>
            </a:r>
          </a:p>
          <a:p>
            <a:pPr algn="l"/>
            <a:r>
              <a:rPr>
                <a:latin typeface="Calibri"/>
              </a:rPr>
              <a:t>Reported since: many more flats listed, and rents lower in real terms</a:t>
            </a:r>
          </a:p>
          <a:p>
            <a:pPr algn="l"/>
            <a:r>
              <a:rPr>
                <a:latin typeface="Calibri"/>
              </a:rPr>
              <a:t>Not everyone gains — sitting tenants lost their protection</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EBC46955-A002-5DA8-B6D4-80773DB8CA62}" type="slidenum">
              <a:rPr lang="en-US" sz="1200" dirty="0">
                <a:solidFill>
                  <a:srgbClr val="555B66"/>
                </a:solidFill>
                <a:latin typeface="Calibri"/>
              </a:rPr>
              <a:t>33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1</a:t>
            </a:r>
          </a:p>
        </p:txBody>
      </p:sp>
      <p:sp>
        <p:nvSpPr>
          <p:cNvPr id="9" name="TextBox 8"/>
          <p:cNvSpPr txBox="1"/>
          <p:nvPr/>
        </p:nvSpPr>
        <p:spPr>
          <a:xfrm>
            <a:off x="1874519" y="155219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Rounded Rectangle 10"/>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12" name="TextBox 11"/>
          <p:cNvSpPr txBox="1"/>
          <p:nvPr/>
        </p:nvSpPr>
        <p:spPr>
          <a:xfrm>
            <a:off x="1874519" y="2269998"/>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3" name="Oval 12"/>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2a</a:t>
            </a:r>
          </a:p>
        </p:txBody>
      </p:sp>
      <p:sp>
        <p:nvSpPr>
          <p:cNvPr id="14" name="Rounded Rectangle 13"/>
          <p:cNvSpPr/>
          <p:nvPr/>
        </p:nvSpPr>
        <p:spPr>
          <a:xfrm>
            <a:off x="10707625" y="297865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148840" y="2987802"/>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6" name="Oval 15"/>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2b</a:t>
            </a:r>
          </a:p>
        </p:txBody>
      </p:sp>
      <p:sp>
        <p:nvSpPr>
          <p:cNvPr id="17" name="Rounded Rectangle 16"/>
          <p:cNvSpPr/>
          <p:nvPr/>
        </p:nvSpPr>
        <p:spPr>
          <a:xfrm>
            <a:off x="10707625" y="3696462"/>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148840" y="3705606"/>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9" name="Oval 18"/>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2c</a:t>
            </a:r>
          </a:p>
        </p:txBody>
      </p:sp>
      <p:sp>
        <p:nvSpPr>
          <p:cNvPr id="20" name="Rounded Rectangle 19"/>
          <p:cNvSpPr/>
          <p:nvPr/>
        </p:nvSpPr>
        <p:spPr>
          <a:xfrm>
            <a:off x="10707625" y="441426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1" name="TextBox 20"/>
          <p:cNvSpPr txBox="1"/>
          <p:nvPr/>
        </p:nvSpPr>
        <p:spPr>
          <a:xfrm>
            <a:off x="2148840" y="4423410"/>
            <a:ext cx="8394193"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22" name="Oval 21"/>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23" name="Rounded Rectangle 22"/>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4" name="TextBox 23"/>
          <p:cNvSpPr txBox="1"/>
          <p:nvPr/>
        </p:nvSpPr>
        <p:spPr>
          <a:xfrm>
            <a:off x="1874519" y="5141214"/>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5" name="Rounded Rectangle 24"/>
          <p:cNvSpPr/>
          <p:nvPr/>
        </p:nvSpPr>
        <p:spPr>
          <a:xfrm>
            <a:off x="822960" y="563041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27" name="Rounded Rectangle 26"/>
          <p:cNvSpPr/>
          <p:nvPr/>
        </p:nvSpPr>
        <p:spPr>
          <a:xfrm>
            <a:off x="10332720" y="5849874"/>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8" name="TextBox 27"/>
          <p:cNvSpPr txBox="1"/>
          <p:nvPr/>
        </p:nvSpPr>
        <p:spPr>
          <a:xfrm>
            <a:off x="1874519" y="5685282"/>
            <a:ext cx="8293609" cy="653796"/>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Externalities</a:t>
            </a:r>
          </a:p>
          <a:p>
            <a:pPr algn="l">
              <a:spcBef>
                <a:spcPts val="0"/>
              </a:spcBef>
              <a:buNone/>
            </a:pPr>
            <a:r>
              <a:rPr sz="2200">
                <a:solidFill>
                  <a:srgbClr val="555B66"/>
                </a:solidFill>
                <a:latin typeface="Calibri"/>
              </a:rPr>
              <a:t>Costs and benefits that land on people outside the deal</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9D3E3D20-3DC9-5483-AA90-4FD580D513B5}" type="slidenum">
              <a:rPr lang="en-US" sz="1200" dirty="0">
                <a:solidFill>
                  <a:srgbClr val="555B66"/>
                </a:solidFill>
                <a:latin typeface="Calibri"/>
              </a:rPr>
              <a:t>34</a:t>
            </a:fld>
            <a:endParaRPr lang="en-US" sz="1200" dirty="0">
              <a:solidFill>
                <a:srgbClr val="555B66"/>
              </a:solidFill>
              <a:latin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Externalities: Definitions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3" name="Group pair 113"/>
          <p:cNvGrpSpPr/>
          <p:nvPr/>
        </p:nvGrpSpPr>
        <p:grpSpPr>
          <a:xfrm>
            <a:off x="914400" y="1463040"/>
            <a:ext cx="10332720" cy="914400"/>
            <a:chOff x="914400" y="1463040"/>
            <a:chExt cx="10332720" cy="914400"/>
          </a:xfrm>
        </p:grpSpPr>
        <p:sp>
          <p:nvSpPr>
            <p:cNvPr id="7" name="Rounded Rectangle 6"/>
            <p:cNvSpPr/>
            <p:nvPr/>
          </p:nvSpPr>
          <p:spPr>
            <a:xfrm>
              <a:off x="914400" y="1463040"/>
              <a:ext cx="10332720" cy="91440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572768"/>
              <a:ext cx="9966960" cy="694944"/>
            </a:xfrm>
            <a:prstGeom prst="rect">
              <a:avLst/>
            </a:prstGeom>
            <a:noFill/>
          </p:spPr>
          <p:txBody>
            <a:bodyPr wrap="square" lIns="45720" tIns="0" rIns="45720" bIns="0" anchor="ctr">
              <a:spAutoFit/>
            </a:bodyPr>
            <a:lstStyle/>
            <a:p>
              <a:pPr algn="l"/>
              <a:r>
                <a:rPr sz="2200" b="1" i="0" u="none">
                  <a:solidFill>
                    <a:srgbClr val="0B2B4E"/>
                  </a:solidFill>
                  <a:latin typeface="Calibri"/>
                </a:rPr>
                <a:t>Externality:  </a:t>
              </a:r>
              <a:r>
                <a:rPr sz="2200" b="0" i="0" u="none">
                  <a:solidFill>
                    <a:srgbClr val="0B2B4E"/>
                  </a:solidFill>
                  <a:latin typeface="Calibri"/>
                </a:rPr>
                <a:t>A cost or a benefit that falls on someone who is not part of the transaction</a:t>
              </a:r>
            </a:p>
          </p:txBody>
        </p:sp>
      </p:grpSp>
      <p:sp>
        <p:nvSpPr>
          <p:cNvPr id="9" name="TextBox 8"/>
          <p:cNvSpPr txBox="1"/>
          <p:nvPr/>
        </p:nvSpPr>
        <p:spPr>
          <a:xfrm>
            <a:off x="572039" y="2743200"/>
            <a:ext cx="11155680" cy="301752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b="1" dirty="0">
                <a:solidFill>
                  <a:srgbClr val="C00000"/>
                </a:solidFill>
                <a:latin typeface="Calibri"/>
              </a:rPr>
              <a:t>Negative externality</a:t>
            </a:r>
            <a:r>
              <a:rPr dirty="0">
                <a:latin typeface="Calibri"/>
              </a:rPr>
              <a:t> — A </a:t>
            </a:r>
            <a:r>
              <a:rPr b="1" u="sng" dirty="0">
                <a:latin typeface="Calibri"/>
              </a:rPr>
              <a:t>cost</a:t>
            </a:r>
            <a:r>
              <a:rPr dirty="0">
                <a:latin typeface="Calibri"/>
              </a:rPr>
              <a:t> imposed on an outsider</a:t>
            </a:r>
          </a:p>
          <a:p>
            <a:pPr lvl="1" algn="l"/>
            <a:r>
              <a:rPr dirty="0">
                <a:latin typeface="Calibri"/>
              </a:rPr>
              <a:t>Air pollution from coal-fired power plants</a:t>
            </a:r>
          </a:p>
          <a:p>
            <a:pPr lvl="1" algn="l"/>
            <a:r>
              <a:rPr dirty="0">
                <a:latin typeface="Calibri"/>
              </a:rPr>
              <a:t>The external cost of gasoline is about $1.50 per gallon</a:t>
            </a:r>
          </a:p>
          <a:p>
            <a:pPr algn="l"/>
            <a:r>
              <a:rPr b="1" dirty="0">
                <a:solidFill>
                  <a:srgbClr val="007A33"/>
                </a:solidFill>
                <a:latin typeface="Calibri"/>
              </a:rPr>
              <a:t>Positive externality</a:t>
            </a:r>
            <a:r>
              <a:rPr dirty="0">
                <a:latin typeface="Calibri"/>
              </a:rPr>
              <a:t> — A </a:t>
            </a:r>
            <a:r>
              <a:rPr b="1" u="sng" dirty="0">
                <a:latin typeface="Calibri"/>
              </a:rPr>
              <a:t>benefit</a:t>
            </a:r>
            <a:r>
              <a:rPr dirty="0">
                <a:latin typeface="Calibri"/>
              </a:rPr>
              <a:t> conferred on an outsider</a:t>
            </a:r>
          </a:p>
          <a:p>
            <a:pPr lvl="1" algn="l"/>
            <a:r>
              <a:rPr dirty="0">
                <a:latin typeface="Calibri"/>
              </a:rPr>
              <a:t>Your neighbor's well-kept front yard is a pleasure for you to look at too</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D0F75885-460E-5C4B-B276-65C6A0E048D9}" type="slidenum">
              <a:rPr lang="en-US" sz="1200" dirty="0">
                <a:solidFill>
                  <a:srgbClr val="555B66"/>
                </a:solidFill>
                <a:latin typeface="Calibri"/>
              </a:rPr>
              <a:t>35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fade">
                                      <p:cBhvr>
                                        <p:cTn id="10" dur="500"/>
                                        <p:tgtEl>
                                          <p:spTgt spid="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Effect transition="in" filter="fade">
                                      <p:cBhvr>
                                        <p:cTn id="15" dur="500"/>
                                        <p:tgtEl>
                                          <p:spTgt spid="9">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4" end="4"/>
                                            </p:txEl>
                                          </p:spTgt>
                                        </p:tgtEl>
                                        <p:attrNameLst>
                                          <p:attrName>style.visibility</p:attrName>
                                        </p:attrNameLst>
                                      </p:cBhvr>
                                      <p:to>
                                        <p:strVal val="visible"/>
                                      </p:to>
                                    </p:set>
                                    <p:animEffect transition="in" filter="fade">
                                      <p:cBhvr>
                                        <p:cTn id="18"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Correcting for Externalities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371600"/>
            <a:ext cx="7589520" cy="685800"/>
          </a:xfrm>
          <a:prstGeom prst="rect">
            <a:avLst/>
          </a:prstGeom>
          <a:noFill/>
        </p:spPr>
        <p:txBody>
          <a:bodyPr wrap="square" lIns="0" tIns="0" rIns="0" bIns="0">
            <a:spAutoFit/>
          </a:bodyPr>
          <a:lstStyle/>
          <a:p>
            <a:pPr algn="l"/>
            <a:r>
              <a:rPr sz="2100" b="0" i="0" u="none">
                <a:solidFill>
                  <a:srgbClr val="0B2B4E"/>
                </a:solidFill>
                <a:latin typeface="Calibri"/>
              </a:rPr>
              <a:t>The aim of the intervention: move the market toward the quantity that would be chosen if the outside cost or benefit were counted</a:t>
            </a:r>
          </a:p>
        </p:txBody>
      </p:sp>
      <p:sp>
        <p:nvSpPr>
          <p:cNvPr id="8" name="Rounded Rectangle 7"/>
          <p:cNvSpPr/>
          <p:nvPr/>
        </p:nvSpPr>
        <p:spPr>
          <a:xfrm>
            <a:off x="502920" y="2331720"/>
            <a:ext cx="758952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Price mechanisms:  taxes and subsidies</a:t>
            </a:r>
          </a:p>
        </p:txBody>
      </p:sp>
      <p:sp>
        <p:nvSpPr>
          <p:cNvPr id="9" name="TextBox 8"/>
          <p:cNvSpPr txBox="1"/>
          <p:nvPr/>
        </p:nvSpPr>
        <p:spPr>
          <a:xfrm>
            <a:off x="777240" y="2926080"/>
            <a:ext cx="7315200" cy="82296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a:latin typeface="Calibri"/>
              </a:rPr>
              <a:t>Tax the activity that imposes the cost, subsidize the one that confers the benefit</a:t>
            </a:r>
          </a:p>
        </p:txBody>
      </p:sp>
      <p:sp>
        <p:nvSpPr>
          <p:cNvPr id="10" name="Rounded Rectangle 9"/>
          <p:cNvSpPr/>
          <p:nvPr/>
        </p:nvSpPr>
        <p:spPr>
          <a:xfrm>
            <a:off x="502920" y="3794760"/>
            <a:ext cx="758952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Quantity mechanisms:  quotas and mandates</a:t>
            </a:r>
          </a:p>
        </p:txBody>
      </p:sp>
      <p:sp>
        <p:nvSpPr>
          <p:cNvPr id="11" name="TextBox 10"/>
          <p:cNvSpPr txBox="1"/>
          <p:nvPr/>
        </p:nvSpPr>
        <p:spPr>
          <a:xfrm>
            <a:off x="777240" y="4434840"/>
            <a:ext cx="7315200" cy="1463040"/>
          </a:xfrm>
          <a:prstGeom prst="rect">
            <a:avLst/>
          </a:prstGeom>
          <a:noFill/>
        </p:spPr>
        <p:txBody>
          <a:bodyPr wrap="square" lIns="0" tIns="0" rIns="0" bIns="0">
            <a:noAutofit/>
          </a:bodyPr>
          <a:lstStyle>
            <a:lvl1pPr marL="342900" indent="-342900">
              <a:spcBef>
                <a:spcPts val="12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r>
              <a:rPr b="1">
                <a:latin typeface="Calibri"/>
              </a:rPr>
              <a:t>Negative externality — cap it:</a:t>
            </a:r>
            <a:r>
              <a:rPr>
                <a:latin typeface="Calibri"/>
              </a:rPr>
              <a:t> a limit on the tonnes of sulphur dioxide a power plant may emit in a year</a:t>
            </a:r>
          </a:p>
          <a:p>
            <a:pPr algn="l"/>
            <a:r>
              <a:rPr b="1">
                <a:latin typeface="Calibri"/>
              </a:rPr>
              <a:t>Positive externality — require it:</a:t>
            </a:r>
            <a:r>
              <a:rPr>
                <a:latin typeface="Calibri"/>
              </a:rPr>
              <a:t> childhood vaccination as a condition of school entry</a:t>
            </a:r>
          </a:p>
        </p:txBody>
      </p:sp>
      <p:pic>
        <p:nvPicPr>
          <p:cNvPr id="12" name="Picture 11" descr="NV_s73_4_e69d8d25.png"/>
          <p:cNvPicPr>
            <a:picLocks noChangeAspect="1"/>
          </p:cNvPicPr>
          <p:nvPr/>
        </p:nvPicPr>
        <p:blipFill>
          <a:blip r:embed="rId3"/>
          <a:stretch>
            <a:fillRect/>
          </a:stretch>
        </p:blipFill>
        <p:spPr>
          <a:xfrm>
            <a:off x="8549640" y="1417320"/>
            <a:ext cx="2926080" cy="4585965"/>
          </a:xfrm>
          <a:prstGeom prst="roundRect">
            <a:avLst>
              <a:gd name="adj" fmla="val 8000"/>
            </a:avLst>
          </a:prstGeom>
          <a:effectLst>
            <a:outerShdw blurRad="50800" dist="38100" dir="2700000" algn="tl" rotWithShape="0">
              <a:srgbClr val="000000">
                <a:alpha val="50000"/>
              </a:srgbClr>
            </a:outerShdw>
          </a:effectLst>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A2ADB6C1-50E7-5338-8389-6273BB9D5E18}" type="slidenum">
              <a:rPr lang="en-US" sz="1200" dirty="0">
                <a:solidFill>
                  <a:srgbClr val="555B66"/>
                </a:solidFill>
                <a:latin typeface="Calibri"/>
              </a:rPr>
              <a:t>36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fade">
                                      <p:cBhvr>
                                        <p:cTn id="23"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Externality: Gasoline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328024" y="1765401"/>
            <a:ext cx="0" cy="41422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28024" y="5907633"/>
            <a:ext cx="578815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05419" y="1632813"/>
            <a:ext cx="949452" cy="265176"/>
          </a:xfrm>
          <a:prstGeom prst="rect">
            <a:avLst/>
          </a:prstGeom>
          <a:noFill/>
        </p:spPr>
        <p:txBody>
          <a:bodyPr wrap="square" lIns="0" tIns="0" rIns="0" bIns="0">
            <a:spAutoFit/>
          </a:bodyPr>
          <a:lstStyle/>
          <a:p>
            <a:pPr algn="l"/>
            <a:r>
              <a:rPr sz="1700" b="1" i="1" u="none">
                <a:solidFill>
                  <a:srgbClr val="0B2B4E"/>
                </a:solidFill>
                <a:latin typeface="Calibri"/>
              </a:rPr>
              <a:t>$ / gallon</a:t>
            </a:r>
          </a:p>
        </p:txBody>
      </p:sp>
      <p:sp>
        <p:nvSpPr>
          <p:cNvPr id="10" name="TextBox 9"/>
          <p:cNvSpPr txBox="1"/>
          <p:nvPr/>
        </p:nvSpPr>
        <p:spPr>
          <a:xfrm>
            <a:off x="5817537" y="5953352"/>
            <a:ext cx="2597277" cy="265176"/>
          </a:xfrm>
          <a:prstGeom prst="rect">
            <a:avLst/>
          </a:prstGeom>
          <a:noFill/>
        </p:spPr>
        <p:txBody>
          <a:bodyPr wrap="square" lIns="0" tIns="0" rIns="0" bIns="0">
            <a:spAutoFit/>
          </a:bodyPr>
          <a:lstStyle/>
          <a:p>
            <a:pPr algn="l"/>
            <a:r>
              <a:rPr sz="1700" b="1" i="1" u="none">
                <a:solidFill>
                  <a:srgbClr val="0B2B4E"/>
                </a:solidFill>
                <a:latin typeface="Calibri"/>
              </a:rPr>
              <a:t>Gallons of gasoline per year</a:t>
            </a:r>
          </a:p>
        </p:txBody>
      </p:sp>
      <p:cxnSp>
        <p:nvCxnSpPr>
          <p:cNvPr id="11" name="Connector 10"/>
          <p:cNvCxnSpPr/>
          <p:nvPr/>
        </p:nvCxnSpPr>
        <p:spPr>
          <a:xfrm>
            <a:off x="1328024" y="2371953"/>
            <a:ext cx="5264609" cy="2333548"/>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04112" y="4344009"/>
            <a:ext cx="896112" cy="292608"/>
          </a:xfrm>
          <a:prstGeom prst="rect">
            <a:avLst/>
          </a:prstGeom>
          <a:noFill/>
        </p:spPr>
        <p:txBody>
          <a:bodyPr wrap="square" lIns="0" tIns="0" rIns="0" bIns="0">
            <a:spAutoFit/>
          </a:bodyPr>
          <a:lstStyle/>
          <a:p>
            <a:pPr algn="l"/>
            <a:r>
              <a:rPr sz="1800" b="1" i="1" u="none">
                <a:solidFill>
                  <a:srgbClr val="C00000"/>
                </a:solidFill>
                <a:latin typeface="Calibri"/>
              </a:rPr>
              <a:t>Demand</a:t>
            </a:r>
          </a:p>
        </p:txBody>
      </p:sp>
      <p:cxnSp>
        <p:nvCxnSpPr>
          <p:cNvPr id="13" name="Connector 12"/>
          <p:cNvCxnSpPr/>
          <p:nvPr/>
        </p:nvCxnSpPr>
        <p:spPr>
          <a:xfrm flipV="1">
            <a:off x="1328024" y="3326586"/>
            <a:ext cx="5264609" cy="213908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28024" y="2858108"/>
            <a:ext cx="4786008" cy="1944625"/>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28024" y="3986067"/>
            <a:ext cx="3641528"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969552" y="3986067"/>
            <a:ext cx="0" cy="192156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13877" y="5962496"/>
            <a:ext cx="911351" cy="274320"/>
          </a:xfrm>
          <a:prstGeom prst="rect">
            <a:avLst/>
          </a:prstGeom>
          <a:noFill/>
        </p:spPr>
        <p:txBody>
          <a:bodyPr wrap="square" lIns="0" tIns="0" rIns="0" bIns="0">
            <a:spAutoFit/>
          </a:bodyPr>
          <a:lstStyle/>
          <a:p>
            <a:pPr algn="ctr"/>
            <a:r>
              <a:rPr sz="1600" b="1" i="1" u="none">
                <a:solidFill>
                  <a:srgbClr val="0B2B4E"/>
                </a:solidFill>
                <a:latin typeface="Calibri"/>
              </a:rPr>
              <a:t>Q</a:t>
            </a:r>
            <a:r>
              <a:rPr sz="1600" b="1" i="1" u="none" baseline="-25000">
                <a:solidFill>
                  <a:srgbClr val="0B2B4E"/>
                </a:solidFill>
                <a:latin typeface="Calibri"/>
              </a:rPr>
              <a:t>Market</a:t>
            </a:r>
          </a:p>
        </p:txBody>
      </p:sp>
      <p:sp>
        <p:nvSpPr>
          <p:cNvPr id="18" name="TextBox 17"/>
          <p:cNvSpPr txBox="1"/>
          <p:nvPr/>
        </p:nvSpPr>
        <p:spPr>
          <a:xfrm>
            <a:off x="372094" y="3848907"/>
            <a:ext cx="882776" cy="274320"/>
          </a:xfrm>
          <a:prstGeom prst="rect">
            <a:avLst/>
          </a:prstGeom>
          <a:noFill/>
        </p:spPr>
        <p:txBody>
          <a:bodyPr wrap="square" lIns="0" tIns="0" rIns="0" bIns="0">
            <a:spAutoFit/>
          </a:bodyPr>
          <a:lstStyle/>
          <a:p>
            <a:pPr algn="r"/>
            <a:r>
              <a:rPr sz="1600" b="1" i="1" u="none">
                <a:solidFill>
                  <a:srgbClr val="0B2B4E"/>
                </a:solidFill>
                <a:latin typeface="Calibri"/>
              </a:rPr>
              <a:t>P</a:t>
            </a:r>
            <a:r>
              <a:rPr sz="1600" b="1" i="1" u="none" baseline="-25000">
                <a:solidFill>
                  <a:srgbClr val="0B2B4E"/>
                </a:solidFill>
                <a:latin typeface="Calibri"/>
              </a:rPr>
              <a:t>Market</a:t>
            </a:r>
          </a:p>
        </p:txBody>
      </p:sp>
      <p:sp>
        <p:nvSpPr>
          <p:cNvPr id="19" name="Oval 18"/>
          <p:cNvSpPr/>
          <p:nvPr/>
        </p:nvSpPr>
        <p:spPr>
          <a:xfrm>
            <a:off x="4910116" y="3926631"/>
            <a:ext cx="118872" cy="118872"/>
          </a:xfrm>
          <a:prstGeom prst="ellipse">
            <a:avLst/>
          </a:prstGeom>
          <a:solidFill>
            <a:srgbClr val="0B2B4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328024" y="3640186"/>
            <a:ext cx="2861200"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189224" y="3640186"/>
            <a:ext cx="0" cy="2267447"/>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904999" y="5962496"/>
            <a:ext cx="568451" cy="274320"/>
          </a:xfrm>
          <a:prstGeom prst="rect">
            <a:avLst/>
          </a:prstGeom>
          <a:noFill/>
        </p:spPr>
        <p:txBody>
          <a:bodyPr wrap="square" lIns="0" tIns="0" rIns="0" bIns="0">
            <a:spAutoFit/>
          </a:bodyPr>
          <a:lstStyle/>
          <a:p>
            <a:pPr algn="ctr"/>
            <a:r>
              <a:rPr sz="1600" b="1" i="1" u="none">
                <a:solidFill>
                  <a:srgbClr val="0B2B4E"/>
                </a:solidFill>
                <a:latin typeface="Calibri"/>
              </a:rPr>
              <a:t>Q</a:t>
            </a:r>
            <a:r>
              <a:rPr sz="1600" b="1" i="1" u="none" baseline="-25000">
                <a:solidFill>
                  <a:srgbClr val="0B2B4E"/>
                </a:solidFill>
                <a:latin typeface="Calibri"/>
              </a:rPr>
              <a:t>Ext</a:t>
            </a:r>
          </a:p>
        </p:txBody>
      </p:sp>
      <p:sp>
        <p:nvSpPr>
          <p:cNvPr id="23" name="TextBox 22"/>
          <p:cNvSpPr txBox="1"/>
          <p:nvPr/>
        </p:nvSpPr>
        <p:spPr>
          <a:xfrm>
            <a:off x="714994" y="3503026"/>
            <a:ext cx="539876" cy="274320"/>
          </a:xfrm>
          <a:prstGeom prst="rect">
            <a:avLst/>
          </a:prstGeom>
          <a:noFill/>
        </p:spPr>
        <p:txBody>
          <a:bodyPr wrap="square" lIns="0" tIns="0" rIns="0" bIns="0">
            <a:spAutoFit/>
          </a:bodyPr>
          <a:lstStyle/>
          <a:p>
            <a:pPr algn="r"/>
            <a:r>
              <a:rPr sz="1600" b="1" i="1" u="none">
                <a:solidFill>
                  <a:srgbClr val="0B2B4E"/>
                </a:solidFill>
                <a:latin typeface="Calibri"/>
              </a:rPr>
              <a:t>P</a:t>
            </a:r>
            <a:r>
              <a:rPr sz="1600" b="1" i="1" u="none" baseline="-25000">
                <a:solidFill>
                  <a:srgbClr val="0B2B4E"/>
                </a:solidFill>
                <a:latin typeface="Calibri"/>
              </a:rPr>
              <a:t>Ext</a:t>
            </a:r>
          </a:p>
        </p:txBody>
      </p:sp>
      <p:sp>
        <p:nvSpPr>
          <p:cNvPr id="24" name="Oval 23"/>
          <p:cNvSpPr/>
          <p:nvPr/>
        </p:nvSpPr>
        <p:spPr>
          <a:xfrm>
            <a:off x="4129788" y="358075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1328024" y="5244693"/>
            <a:ext cx="5264609" cy="0"/>
          </a:xfrm>
          <a:prstGeom prst="line">
            <a:avLst/>
          </a:prstGeom>
          <a:ln w="44450">
            <a:solidFill>
              <a:srgbClr val="7030A0"/>
            </a:solidFill>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5019" y="5107533"/>
            <a:ext cx="339852" cy="274320"/>
          </a:xfrm>
          <a:prstGeom prst="rect">
            <a:avLst/>
          </a:prstGeom>
          <a:noFill/>
        </p:spPr>
        <p:txBody>
          <a:bodyPr wrap="square" lIns="0" tIns="0" rIns="0" bIns="0">
            <a:spAutoFit/>
          </a:bodyPr>
          <a:lstStyle/>
          <a:p>
            <a:pPr algn="r"/>
            <a:r>
              <a:rPr sz="1600" b="1" i="1" u="none">
                <a:solidFill>
                  <a:srgbClr val="0B2B4E"/>
                </a:solidFill>
                <a:latin typeface="Calibri"/>
              </a:rPr>
              <a:t>1.5</a:t>
            </a:r>
          </a:p>
        </p:txBody>
      </p:sp>
      <p:sp>
        <p:nvSpPr>
          <p:cNvPr id="27" name="TextBox 26"/>
          <p:cNvSpPr txBox="1"/>
          <p:nvPr/>
        </p:nvSpPr>
        <p:spPr>
          <a:xfrm>
            <a:off x="6741272" y="5038953"/>
            <a:ext cx="1517904" cy="493776"/>
          </a:xfrm>
          <a:prstGeom prst="rect">
            <a:avLst/>
          </a:prstGeom>
          <a:noFill/>
        </p:spPr>
        <p:txBody>
          <a:bodyPr wrap="square" lIns="0" tIns="0" rIns="0" bIns="0">
            <a:spAutoFit/>
          </a:bodyPr>
          <a:lstStyle/>
          <a:p>
            <a:pPr algn="l"/>
            <a:r>
              <a:rPr sz="1600" b="1" i="0" u="none">
                <a:solidFill>
                  <a:srgbClr val="7030A0"/>
                </a:solidFill>
                <a:latin typeface="Calibri"/>
              </a:rPr>
              <a:t>External marginal 
cost (EMC)</a:t>
            </a:r>
          </a:p>
        </p:txBody>
      </p:sp>
      <p:sp>
        <p:nvSpPr>
          <p:cNvPr id="28" name="TextBox 27"/>
          <p:cNvSpPr txBox="1"/>
          <p:nvPr/>
        </p:nvSpPr>
        <p:spPr>
          <a:xfrm>
            <a:off x="6110336" y="2304897"/>
            <a:ext cx="1947672" cy="566928"/>
          </a:xfrm>
          <a:prstGeom prst="rect">
            <a:avLst/>
          </a:prstGeom>
          <a:noFill/>
        </p:spPr>
        <p:txBody>
          <a:bodyPr wrap="square" lIns="0" tIns="0" rIns="0" bIns="0">
            <a:spAutoFit/>
          </a:bodyPr>
          <a:lstStyle/>
          <a:p>
            <a:pPr algn="l"/>
            <a:r>
              <a:rPr sz="1700" b="1" i="1" u="none">
                <a:solidFill>
                  <a:srgbClr val="E09F3E"/>
                </a:solidFill>
                <a:latin typeface="Calibri"/>
              </a:rPr>
              <a:t>Social marginal cost
SMC = MC</a:t>
            </a:r>
            <a:r>
              <a:rPr sz="1700" b="1" i="1" u="none" baseline="-25000">
                <a:solidFill>
                  <a:srgbClr val="E09F3E"/>
                </a:solidFill>
                <a:latin typeface="Calibri"/>
              </a:rPr>
              <a:t>I</a:t>
            </a:r>
            <a:r>
              <a:rPr sz="1700" b="1" i="1" u="none">
                <a:solidFill>
                  <a:srgbClr val="E09F3E"/>
                </a:solidFill>
                <a:latin typeface="Calibri"/>
              </a:rPr>
              <a:t> + EMC</a:t>
            </a:r>
          </a:p>
        </p:txBody>
      </p:sp>
      <p:sp>
        <p:nvSpPr>
          <p:cNvPr id="29" name="TextBox 28"/>
          <p:cNvSpPr txBox="1"/>
          <p:nvPr/>
        </p:nvSpPr>
        <p:spPr>
          <a:xfrm>
            <a:off x="6649831" y="3118713"/>
            <a:ext cx="1947672" cy="521207"/>
          </a:xfrm>
          <a:prstGeom prst="rect">
            <a:avLst/>
          </a:prstGeom>
          <a:noFill/>
        </p:spPr>
        <p:txBody>
          <a:bodyPr wrap="square" lIns="0" tIns="0" rIns="0" bIns="0">
            <a:spAutoFit/>
          </a:bodyPr>
          <a:lstStyle/>
          <a:p>
            <a:pPr algn="l"/>
            <a:r>
              <a:rPr sz="1700" b="1" i="1" u="none">
                <a:solidFill>
                  <a:srgbClr val="0B2B4E"/>
                </a:solidFill>
                <a:latin typeface="Calibri"/>
              </a:rPr>
              <a:t>Supply = internal
marginal cost (MC</a:t>
            </a:r>
            <a:r>
              <a:rPr sz="1700" b="1" i="1" u="none" baseline="-25000">
                <a:solidFill>
                  <a:srgbClr val="0B2B4E"/>
                </a:solidFill>
                <a:latin typeface="Calibri"/>
              </a:rPr>
              <a:t>I</a:t>
            </a:r>
            <a:r>
              <a:rPr sz="1700" b="1" i="1" u="none">
                <a:solidFill>
                  <a:srgbClr val="0B2B4E"/>
                </a:solidFill>
                <a:latin typeface="Calibri"/>
              </a:rPr>
              <a:t>)</a:t>
            </a:r>
          </a:p>
        </p:txBody>
      </p:sp>
      <p:cxnSp>
        <p:nvCxnSpPr>
          <p:cNvPr id="30" name="Connector 29"/>
          <p:cNvCxnSpPr/>
          <p:nvPr/>
        </p:nvCxnSpPr>
        <p:spPr>
          <a:xfrm flipV="1">
            <a:off x="2644176" y="4267961"/>
            <a:ext cx="0" cy="662940"/>
          </a:xfrm>
          <a:prstGeom prst="line">
            <a:avLst/>
          </a:prstGeom>
          <a:ln w="31750">
            <a:solidFill>
              <a:srgbClr val="7030A0"/>
            </a:solidFill>
            <a:tailEnd type="triangle" w="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482704" y="2652369"/>
            <a:ext cx="1179576" cy="521207"/>
          </a:xfrm>
          <a:prstGeom prst="rect">
            <a:avLst/>
          </a:prstGeom>
          <a:noFill/>
        </p:spPr>
        <p:txBody>
          <a:bodyPr wrap="square" lIns="0" tIns="0" rIns="0" bIns="0">
            <a:spAutoFit/>
          </a:bodyPr>
          <a:lstStyle/>
          <a:p>
            <a:pPr algn="l"/>
            <a:r>
              <a:rPr sz="1700" b="1" i="0" u="none">
                <a:solidFill>
                  <a:srgbClr val="7030A0"/>
                </a:solidFill>
                <a:latin typeface="Calibri"/>
              </a:rPr>
              <a:t>EMC = $1.50 
per gallon</a:t>
            </a:r>
          </a:p>
        </p:txBody>
      </p:sp>
      <p:grpSp>
        <p:nvGrpSpPr>
          <p:cNvPr id="137" name="Group pair 137"/>
          <p:cNvGrpSpPr/>
          <p:nvPr/>
        </p:nvGrpSpPr>
        <p:grpSpPr>
          <a:xfrm>
            <a:off x="8661222" y="4253177"/>
            <a:ext cx="3415186" cy="1691640"/>
            <a:chOff x="8001000" y="3977639"/>
            <a:chExt cx="3794760" cy="1691640"/>
          </a:xfrm>
        </p:grpSpPr>
        <p:sp>
          <p:nvSpPr>
            <p:cNvPr id="32" name="Rounded Rectangle 31"/>
            <p:cNvSpPr/>
            <p:nvPr/>
          </p:nvSpPr>
          <p:spPr>
            <a:xfrm>
              <a:off x="8001000" y="3977639"/>
              <a:ext cx="3794760" cy="16916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83880" y="4087367"/>
              <a:ext cx="3429000" cy="1472184"/>
            </a:xfrm>
            <a:prstGeom prst="rect">
              <a:avLst/>
            </a:prstGeom>
            <a:noFill/>
          </p:spPr>
          <p:txBody>
            <a:bodyPr wrap="square" lIns="45720" tIns="0" rIns="45720" bIns="0" anchor="ctr">
              <a:spAutoFit/>
            </a:bodyPr>
            <a:lstStyle/>
            <a:p>
              <a:pPr algn="l"/>
              <a:r>
                <a:rPr sz="1800" b="0" i="1" u="none">
                  <a:solidFill>
                    <a:srgbClr val="0B2B4E"/>
                  </a:solidFill>
                  <a:latin typeface="Calibri"/>
                </a:rPr>
                <a:t>Drivers weigh only their own cost, so the market settles at Q</a:t>
              </a:r>
              <a:r>
                <a:rPr sz="1800" b="0" i="1" u="none" baseline="-25000">
                  <a:solidFill>
                    <a:srgbClr val="0B2B4E"/>
                  </a:solidFill>
                  <a:latin typeface="Calibri"/>
                </a:rPr>
                <a:t>Market</a:t>
              </a:r>
              <a:r>
                <a:rPr sz="1800" b="0" i="1" u="none">
                  <a:solidFill>
                    <a:srgbClr val="0B2B4E"/>
                  </a:solidFill>
                  <a:latin typeface="Calibri"/>
                </a:rPr>
                <a:t>. Counting the cost borne by everyone else, the efficient quantity is the smaller Q</a:t>
              </a:r>
              <a:r>
                <a:rPr sz="1800" b="0" i="1" u="none" baseline="-25000">
                  <a:solidFill>
                    <a:srgbClr val="0B2B4E"/>
                  </a:solidFill>
                  <a:latin typeface="Calibri"/>
                </a:rPr>
                <a:t>Ext</a:t>
              </a:r>
              <a:r>
                <a:rPr sz="1800" b="0" i="1" u="none">
                  <a:solidFill>
                    <a:srgbClr val="0B2B4E"/>
                  </a:solidFill>
                  <a:latin typeface="Calibri"/>
                </a:rPr>
                <a:t>.</a:t>
              </a:r>
            </a:p>
          </p:txBody>
        </p:sp>
      </p:grpSp>
      <p:sp>
        <p:nvSpPr>
          <p:cNvPr id="34" name="Rectangle 3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7" name="TextBox 36"/>
          <p:cNvSpPr txBox="1"/>
          <p:nvPr/>
        </p:nvSpPr>
        <p:spPr>
          <a:xfrm>
            <a:off x="11475720" y="6583680"/>
            <a:ext cx="502920" cy="292608"/>
          </a:xfrm>
          <a:prstGeom prst="rect">
            <a:avLst/>
          </a:prstGeom>
          <a:noFill/>
        </p:spPr>
        <p:txBody>
          <a:bodyPr wrap="none" lIns="0" tIns="0" rIns="0" bIns="0">
            <a:spAutoFit/>
          </a:bodyPr>
          <a:lstStyle/>
          <a:p>
            <a:pPr algn="r"/>
            <a:fld id="{BB114F74-4707-5ABC-A309-223687E85D1E}" type="slidenum">
              <a:rPr lang="en-US" sz="1200" dirty="0">
                <a:solidFill>
                  <a:srgbClr val="555B66"/>
                </a:solidFill>
                <a:latin typeface="Calibri"/>
              </a:rPr>
              <a:t>37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500"/>
                                        <p:tgtEl>
                                          <p:spTgt spid="30"/>
                                        </p:tgtEl>
                                      </p:cBhvr>
                                    </p:animEffect>
                                  </p:childTnLst>
                                </p:cTn>
                              </p:par>
                              <p:par>
                                <p:cTn id="60" presetID="10" presetClass="entr" presetSubtype="0" fill="hold"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par>
                                <p:cTn id="68" presetID="10" presetClass="entr" presetSubtype="0" fill="hold"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500"/>
                                        <p:tgtEl>
                                          <p:spTgt spid="21"/>
                                        </p:tgtEl>
                                      </p:cBhvr>
                                    </p:animEffect>
                                  </p:childTnLst>
                                </p:cTn>
                              </p:par>
                              <p:par>
                                <p:cTn id="71" presetID="10"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500"/>
                                        <p:tgtEl>
                                          <p:spTgt spid="22"/>
                                        </p:tgtEl>
                                      </p:cBhvr>
                                    </p:animEffect>
                                  </p:childTnLst>
                                </p:cTn>
                              </p:par>
                              <p:par>
                                <p:cTn id="74" presetID="10" presetClass="entr" presetSubtype="0" fill="hold"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childTnLst>
                                </p:cTn>
                              </p:par>
                              <p:par>
                                <p:cTn id="77" presetID="10" presetClass="entr" presetSubtype="0" fill="hold"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500"/>
                                        <p:tgtEl>
                                          <p:spTgt spid="2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37"/>
                                        </p:tgtEl>
                                        <p:attrNameLst>
                                          <p:attrName>style.visibility</p:attrName>
                                        </p:attrNameLst>
                                      </p:cBhvr>
                                      <p:to>
                                        <p:strVal val="visible"/>
                                      </p:to>
                                    </p:set>
                                    <p:animEffect transition="in" filter="fade">
                                      <p:cBhvr>
                                        <p:cTn id="84"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 Carbon Tax to Correct the Negative Externality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103120" y="1664208"/>
            <a:ext cx="0" cy="41422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03120" y="5806440"/>
            <a:ext cx="578815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80515" y="1531620"/>
            <a:ext cx="949452" cy="265176"/>
          </a:xfrm>
          <a:prstGeom prst="rect">
            <a:avLst/>
          </a:prstGeom>
          <a:noFill/>
        </p:spPr>
        <p:txBody>
          <a:bodyPr wrap="square" lIns="0" tIns="0" rIns="0" bIns="0">
            <a:spAutoFit/>
          </a:bodyPr>
          <a:lstStyle/>
          <a:p>
            <a:pPr algn="l"/>
            <a:r>
              <a:rPr sz="1700" b="1" i="1" u="none">
                <a:solidFill>
                  <a:srgbClr val="0B2B4E"/>
                </a:solidFill>
                <a:latin typeface="Calibri"/>
              </a:rPr>
              <a:t>$ / gallon</a:t>
            </a:r>
          </a:p>
        </p:txBody>
      </p:sp>
      <p:sp>
        <p:nvSpPr>
          <p:cNvPr id="10" name="TextBox 9"/>
          <p:cNvSpPr txBox="1"/>
          <p:nvPr/>
        </p:nvSpPr>
        <p:spPr>
          <a:xfrm>
            <a:off x="6592633" y="5852159"/>
            <a:ext cx="2597277" cy="265176"/>
          </a:xfrm>
          <a:prstGeom prst="rect">
            <a:avLst/>
          </a:prstGeom>
          <a:noFill/>
        </p:spPr>
        <p:txBody>
          <a:bodyPr wrap="square" lIns="0" tIns="0" rIns="0" bIns="0">
            <a:spAutoFit/>
          </a:bodyPr>
          <a:lstStyle/>
          <a:p>
            <a:pPr algn="l"/>
            <a:r>
              <a:rPr sz="1700" b="1" i="1" u="none">
                <a:solidFill>
                  <a:srgbClr val="0B2B4E"/>
                </a:solidFill>
                <a:latin typeface="Calibri"/>
              </a:rPr>
              <a:t>Gallons of gasoline per year</a:t>
            </a:r>
          </a:p>
        </p:txBody>
      </p:sp>
      <p:cxnSp>
        <p:nvCxnSpPr>
          <p:cNvPr id="11" name="Connector 10"/>
          <p:cNvCxnSpPr/>
          <p:nvPr/>
        </p:nvCxnSpPr>
        <p:spPr>
          <a:xfrm>
            <a:off x="2103120" y="2270760"/>
            <a:ext cx="5264609" cy="2333548"/>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50024" y="4151376"/>
            <a:ext cx="896112" cy="292608"/>
          </a:xfrm>
          <a:prstGeom prst="rect">
            <a:avLst/>
          </a:prstGeom>
          <a:noFill/>
        </p:spPr>
        <p:txBody>
          <a:bodyPr wrap="square" lIns="0" tIns="0" rIns="0" bIns="0">
            <a:spAutoFit/>
          </a:bodyPr>
          <a:lstStyle/>
          <a:p>
            <a:pPr algn="l"/>
            <a:r>
              <a:rPr sz="1800" b="1" i="1" u="none">
                <a:solidFill>
                  <a:srgbClr val="C00000"/>
                </a:solidFill>
                <a:latin typeface="Calibri"/>
              </a:rPr>
              <a:t>Demand</a:t>
            </a:r>
          </a:p>
        </p:txBody>
      </p:sp>
      <p:cxnSp>
        <p:nvCxnSpPr>
          <p:cNvPr id="13" name="Connector 12"/>
          <p:cNvCxnSpPr/>
          <p:nvPr/>
        </p:nvCxnSpPr>
        <p:spPr>
          <a:xfrm flipV="1">
            <a:off x="2103120" y="3225393"/>
            <a:ext cx="5264609" cy="213908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03120" y="2756915"/>
            <a:ext cx="4786008" cy="1944625"/>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03120" y="3884874"/>
            <a:ext cx="3641528"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744648" y="3884874"/>
            <a:ext cx="0" cy="192156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88973" y="5861303"/>
            <a:ext cx="911351" cy="274320"/>
          </a:xfrm>
          <a:prstGeom prst="rect">
            <a:avLst/>
          </a:prstGeom>
          <a:noFill/>
        </p:spPr>
        <p:txBody>
          <a:bodyPr wrap="square" lIns="0" tIns="0" rIns="0" bIns="0">
            <a:spAutoFit/>
          </a:bodyPr>
          <a:lstStyle/>
          <a:p>
            <a:pPr algn="ctr"/>
            <a:r>
              <a:rPr sz="1600" b="1" i="1" u="none">
                <a:solidFill>
                  <a:srgbClr val="0B2B4E"/>
                </a:solidFill>
                <a:latin typeface="Calibri"/>
              </a:rPr>
              <a:t>Q</a:t>
            </a:r>
            <a:r>
              <a:rPr sz="1600" b="1" i="1" u="none" baseline="-25000">
                <a:solidFill>
                  <a:srgbClr val="0B2B4E"/>
                </a:solidFill>
                <a:latin typeface="Calibri"/>
              </a:rPr>
              <a:t>Market</a:t>
            </a:r>
          </a:p>
        </p:txBody>
      </p:sp>
      <p:sp>
        <p:nvSpPr>
          <p:cNvPr id="18" name="TextBox 17"/>
          <p:cNvSpPr txBox="1"/>
          <p:nvPr/>
        </p:nvSpPr>
        <p:spPr>
          <a:xfrm>
            <a:off x="1147190" y="3747714"/>
            <a:ext cx="882776" cy="274320"/>
          </a:xfrm>
          <a:prstGeom prst="rect">
            <a:avLst/>
          </a:prstGeom>
          <a:noFill/>
        </p:spPr>
        <p:txBody>
          <a:bodyPr wrap="square" lIns="0" tIns="0" rIns="0" bIns="0">
            <a:spAutoFit/>
          </a:bodyPr>
          <a:lstStyle/>
          <a:p>
            <a:pPr algn="r"/>
            <a:r>
              <a:rPr sz="1600" b="1" i="1" u="none">
                <a:solidFill>
                  <a:srgbClr val="0B2B4E"/>
                </a:solidFill>
                <a:latin typeface="Calibri"/>
              </a:rPr>
              <a:t>P</a:t>
            </a:r>
            <a:r>
              <a:rPr sz="1600" b="1" i="1" u="none" baseline="-25000">
                <a:solidFill>
                  <a:srgbClr val="0B2B4E"/>
                </a:solidFill>
                <a:latin typeface="Calibri"/>
              </a:rPr>
              <a:t>Market</a:t>
            </a:r>
          </a:p>
        </p:txBody>
      </p:sp>
      <p:sp>
        <p:nvSpPr>
          <p:cNvPr id="19" name="Oval 18"/>
          <p:cNvSpPr/>
          <p:nvPr/>
        </p:nvSpPr>
        <p:spPr>
          <a:xfrm>
            <a:off x="5685212" y="3825438"/>
            <a:ext cx="118872" cy="118872"/>
          </a:xfrm>
          <a:prstGeom prst="ellipse">
            <a:avLst/>
          </a:prstGeom>
          <a:solidFill>
            <a:srgbClr val="0B2B4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80095" y="5861303"/>
            <a:ext cx="568451" cy="274320"/>
          </a:xfrm>
          <a:prstGeom prst="rect">
            <a:avLst/>
          </a:prstGeom>
          <a:noFill/>
        </p:spPr>
        <p:txBody>
          <a:bodyPr wrap="square" lIns="0" tIns="0" rIns="0" bIns="0">
            <a:spAutoFit/>
          </a:bodyPr>
          <a:lstStyle/>
          <a:p>
            <a:pPr algn="ctr"/>
            <a:r>
              <a:rPr sz="1600" b="1" i="1" u="none">
                <a:solidFill>
                  <a:srgbClr val="0B2B4E"/>
                </a:solidFill>
                <a:latin typeface="Calibri"/>
              </a:rPr>
              <a:t>Q</a:t>
            </a:r>
            <a:r>
              <a:rPr sz="1600" b="1" i="1" u="none" baseline="-25000">
                <a:solidFill>
                  <a:srgbClr val="0B2B4E"/>
                </a:solidFill>
                <a:latin typeface="Calibri"/>
              </a:rPr>
              <a:t>Ext</a:t>
            </a:r>
          </a:p>
        </p:txBody>
      </p:sp>
      <p:sp>
        <p:nvSpPr>
          <p:cNvPr id="23" name="Oval 22"/>
          <p:cNvSpPr/>
          <p:nvPr/>
        </p:nvSpPr>
        <p:spPr>
          <a:xfrm>
            <a:off x="4904884" y="3479557"/>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2103120" y="5143500"/>
            <a:ext cx="5264609" cy="0"/>
          </a:xfrm>
          <a:prstGeom prst="line">
            <a:avLst/>
          </a:prstGeom>
          <a:ln w="44450">
            <a:solidFill>
              <a:srgbClr val="7030A0"/>
            </a:solidFill>
          </a:ln>
          <a:effectLst>
            <a:outerShdw blurRad="50800" dist="38100" dir="2700000" algn="tl" rotWithShape="0">
              <a:srgbClr val="000000">
                <a:alpha val="45000"/>
              </a:srgbClr>
            </a:outerShdw>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90115" y="5006340"/>
            <a:ext cx="339852" cy="274320"/>
          </a:xfrm>
          <a:prstGeom prst="rect">
            <a:avLst/>
          </a:prstGeom>
          <a:noFill/>
        </p:spPr>
        <p:txBody>
          <a:bodyPr wrap="square" lIns="0" tIns="0" rIns="0" bIns="0">
            <a:spAutoFit/>
          </a:bodyPr>
          <a:lstStyle/>
          <a:p>
            <a:pPr algn="r"/>
            <a:r>
              <a:rPr sz="1600" b="1" i="1" u="none">
                <a:solidFill>
                  <a:srgbClr val="0B2B4E"/>
                </a:solidFill>
                <a:latin typeface="Calibri"/>
              </a:rPr>
              <a:t>1.5</a:t>
            </a:r>
          </a:p>
        </p:txBody>
      </p:sp>
      <p:sp>
        <p:nvSpPr>
          <p:cNvPr id="26" name="TextBox 25"/>
          <p:cNvSpPr txBox="1"/>
          <p:nvPr/>
        </p:nvSpPr>
        <p:spPr>
          <a:xfrm>
            <a:off x="4261104" y="5221224"/>
            <a:ext cx="3291840" cy="310896"/>
          </a:xfrm>
          <a:prstGeom prst="rect">
            <a:avLst/>
          </a:prstGeom>
          <a:noFill/>
        </p:spPr>
        <p:txBody>
          <a:bodyPr wrap="square" lIns="0" tIns="0" rIns="0" bIns="0">
            <a:spAutoFit/>
          </a:bodyPr>
          <a:lstStyle/>
          <a:p>
            <a:pPr algn="l"/>
            <a:r>
              <a:rPr sz="1600" b="1" i="0" u="none">
                <a:solidFill>
                  <a:srgbClr val="7030A0"/>
                </a:solidFill>
                <a:latin typeface="Calibri"/>
              </a:rPr>
              <a:t>External marginal cost (EMC)</a:t>
            </a:r>
          </a:p>
        </p:txBody>
      </p:sp>
      <p:sp>
        <p:nvSpPr>
          <p:cNvPr id="27" name="TextBox 26"/>
          <p:cNvSpPr txBox="1"/>
          <p:nvPr/>
        </p:nvSpPr>
        <p:spPr>
          <a:xfrm>
            <a:off x="7022592" y="2368296"/>
            <a:ext cx="3977639" cy="523220"/>
          </a:xfrm>
          <a:prstGeom prst="rect">
            <a:avLst/>
          </a:prstGeom>
          <a:noFill/>
        </p:spPr>
        <p:txBody>
          <a:bodyPr wrap="square" lIns="0" tIns="0" rIns="0" bIns="0">
            <a:spAutoFit/>
          </a:bodyPr>
          <a:lstStyle/>
          <a:p>
            <a:pPr algn="l"/>
            <a:r>
              <a:rPr lang="en-US" sz="1700" b="1" i="1" u="none" dirty="0">
                <a:solidFill>
                  <a:srgbClr val="E09F3E"/>
                </a:solidFill>
                <a:latin typeface="Calibri"/>
              </a:rPr>
              <a:t>M</a:t>
            </a:r>
            <a:r>
              <a:rPr sz="1700" b="1" i="1" u="none" dirty="0">
                <a:solidFill>
                  <a:srgbClr val="E09F3E"/>
                </a:solidFill>
                <a:latin typeface="Calibri"/>
              </a:rPr>
              <a:t>arginal </a:t>
            </a:r>
            <a:r>
              <a:rPr lang="en-US" sz="1700" b="1" i="1" u="none" dirty="0">
                <a:solidFill>
                  <a:srgbClr val="E09F3E"/>
                </a:solidFill>
                <a:latin typeface="Calibri"/>
              </a:rPr>
              <a:t>C</a:t>
            </a:r>
            <a:r>
              <a:rPr sz="1700" b="1" i="1" u="none" dirty="0">
                <a:solidFill>
                  <a:srgbClr val="E09F3E"/>
                </a:solidFill>
                <a:latin typeface="Calibri"/>
              </a:rPr>
              <a:t>ost</a:t>
            </a:r>
            <a:r>
              <a:rPr lang="en-US" sz="1700" b="1" i="1" u="none" dirty="0">
                <a:solidFill>
                  <a:srgbClr val="E09F3E"/>
                </a:solidFill>
                <a:latin typeface="Calibri"/>
              </a:rPr>
              <a:t> plus tax</a:t>
            </a:r>
            <a:r>
              <a:rPr sz="1700" b="1" i="1" u="none" dirty="0">
                <a:solidFill>
                  <a:srgbClr val="E09F3E"/>
                </a:solidFill>
                <a:latin typeface="Calibri"/>
              </a:rPr>
              <a:t>
SMC = MC</a:t>
            </a:r>
            <a:r>
              <a:rPr sz="1700" b="1" i="1" u="none" baseline="-25000" dirty="0">
                <a:solidFill>
                  <a:srgbClr val="E09F3E"/>
                </a:solidFill>
                <a:latin typeface="Calibri"/>
              </a:rPr>
              <a:t>I</a:t>
            </a:r>
            <a:r>
              <a:rPr sz="1700" b="1" i="1" u="none" dirty="0">
                <a:solidFill>
                  <a:srgbClr val="E09F3E"/>
                </a:solidFill>
                <a:latin typeface="Calibri"/>
              </a:rPr>
              <a:t> + </a:t>
            </a:r>
            <a:r>
              <a:rPr lang="en-US" sz="1700" b="1" i="1" u="none" dirty="0">
                <a:solidFill>
                  <a:srgbClr val="E09F3E"/>
                </a:solidFill>
                <a:latin typeface="Calibri"/>
              </a:rPr>
              <a:t>tax</a:t>
            </a:r>
            <a:endParaRPr sz="1700" b="1" i="1" u="none" dirty="0">
              <a:solidFill>
                <a:srgbClr val="E09F3E"/>
              </a:solidFill>
              <a:latin typeface="Calibri"/>
            </a:endParaRPr>
          </a:p>
        </p:txBody>
      </p:sp>
      <p:sp>
        <p:nvSpPr>
          <p:cNvPr id="28" name="TextBox 27"/>
          <p:cNvSpPr txBox="1"/>
          <p:nvPr/>
        </p:nvSpPr>
        <p:spPr>
          <a:xfrm>
            <a:off x="7424927" y="3035808"/>
            <a:ext cx="1883664" cy="521207"/>
          </a:xfrm>
          <a:prstGeom prst="rect">
            <a:avLst/>
          </a:prstGeom>
          <a:noFill/>
        </p:spPr>
        <p:txBody>
          <a:bodyPr wrap="square" lIns="0" tIns="0" rIns="0" bIns="0">
            <a:spAutoFit/>
          </a:bodyPr>
          <a:lstStyle/>
          <a:p>
            <a:pPr algn="l"/>
            <a:r>
              <a:rPr sz="1700" b="1" i="1" u="none">
                <a:solidFill>
                  <a:srgbClr val="0B2B4E"/>
                </a:solidFill>
                <a:latin typeface="Calibri"/>
              </a:rPr>
              <a:t>Supply = internal
marginal cost (MC</a:t>
            </a:r>
            <a:r>
              <a:rPr sz="1700" b="1" i="1" u="none" baseline="-25000">
                <a:solidFill>
                  <a:srgbClr val="0B2B4E"/>
                </a:solidFill>
                <a:latin typeface="Calibri"/>
              </a:rPr>
              <a:t>I</a:t>
            </a:r>
            <a:r>
              <a:rPr sz="1700" b="1" i="1" u="none">
                <a:solidFill>
                  <a:srgbClr val="0B2B4E"/>
                </a:solidFill>
                <a:latin typeface="Calibri"/>
              </a:rPr>
              <a:t>)</a:t>
            </a:r>
          </a:p>
        </p:txBody>
      </p:sp>
      <p:cxnSp>
        <p:nvCxnSpPr>
          <p:cNvPr id="32" name="Connector 31"/>
          <p:cNvCxnSpPr/>
          <p:nvPr/>
        </p:nvCxnSpPr>
        <p:spPr>
          <a:xfrm flipV="1">
            <a:off x="6104560" y="3044952"/>
            <a:ext cx="0" cy="662940"/>
          </a:xfrm>
          <a:prstGeom prst="line">
            <a:avLst/>
          </a:prstGeom>
          <a:ln w="31750">
            <a:solidFill>
              <a:srgbClr val="7030A0"/>
            </a:solidFill>
            <a:tailEnd type="triangle" w="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764024" y="2734056"/>
            <a:ext cx="2743200" cy="310896"/>
          </a:xfrm>
          <a:prstGeom prst="rect">
            <a:avLst/>
          </a:prstGeom>
          <a:noFill/>
        </p:spPr>
        <p:txBody>
          <a:bodyPr wrap="square" lIns="0" tIns="0" rIns="0" bIns="0">
            <a:spAutoFit/>
          </a:bodyPr>
          <a:lstStyle/>
          <a:p>
            <a:pPr algn="l"/>
            <a:r>
              <a:rPr sz="1700" b="1" i="0" u="none">
                <a:solidFill>
                  <a:srgbClr val="7030A0"/>
                </a:solidFill>
                <a:latin typeface="Calibri"/>
              </a:rPr>
              <a:t>Tax = EMC = $1.50</a:t>
            </a:r>
          </a:p>
        </p:txBody>
      </p:sp>
      <p:grpSp>
        <p:nvGrpSpPr>
          <p:cNvPr id="144" name="Group pair 144"/>
          <p:cNvGrpSpPr/>
          <p:nvPr/>
        </p:nvGrpSpPr>
        <p:grpSpPr>
          <a:xfrm>
            <a:off x="10012680" y="1463040"/>
            <a:ext cx="1965960" cy="2514600"/>
            <a:chOff x="10012680" y="1463040"/>
            <a:chExt cx="1965960" cy="2514600"/>
          </a:xfrm>
        </p:grpSpPr>
        <p:pic>
          <p:nvPicPr>
            <p:cNvPr id="34" name="Picture 33" descr="NV_s74_g13.g2.1_862b02c9.jpg"/>
            <p:cNvPicPr>
              <a:picLocks noChangeAspect="1"/>
            </p:cNvPicPr>
            <p:nvPr/>
          </p:nvPicPr>
          <p:blipFill>
            <a:blip r:embed="rId3"/>
            <a:stretch>
              <a:fillRect/>
            </a:stretch>
          </p:blipFill>
          <p:spPr>
            <a:xfrm>
              <a:off x="10287000" y="1463040"/>
              <a:ext cx="1417320" cy="2158941"/>
            </a:xfrm>
            <a:prstGeom prst="roundRect">
              <a:avLst>
                <a:gd name="adj" fmla="val 8000"/>
              </a:avLst>
            </a:prstGeom>
            <a:effectLst>
              <a:outerShdw blurRad="50800" dist="38100" dir="2700000" algn="tl" rotWithShape="0">
                <a:srgbClr val="000000">
                  <a:alpha val="50000"/>
                </a:srgbClr>
              </a:outerShdw>
            </a:effectLst>
          </p:spPr>
        </p:pic>
        <p:sp>
          <p:nvSpPr>
            <p:cNvPr id="35" name="TextBox 34"/>
            <p:cNvSpPr txBox="1"/>
            <p:nvPr/>
          </p:nvSpPr>
          <p:spPr>
            <a:xfrm>
              <a:off x="10012680" y="3703320"/>
              <a:ext cx="1965960" cy="274320"/>
            </a:xfrm>
            <a:prstGeom prst="rect">
              <a:avLst/>
            </a:prstGeom>
            <a:noFill/>
          </p:spPr>
          <p:txBody>
            <a:bodyPr wrap="square" lIns="0" tIns="0" rIns="0" bIns="0">
              <a:spAutoFit/>
            </a:bodyPr>
            <a:lstStyle/>
            <a:p>
              <a:pPr algn="ctr"/>
              <a:r>
                <a:rPr sz="1300" b="0" i="1" u="none">
                  <a:solidFill>
                    <a:srgbClr val="555B66"/>
                  </a:solidFill>
                  <a:latin typeface="Calibri"/>
                </a:rPr>
                <a:t>Arthur Pigou</a:t>
              </a:r>
            </a:p>
          </p:txBody>
        </p:sp>
      </p:grpSp>
      <p:grpSp>
        <p:nvGrpSpPr>
          <p:cNvPr id="44" name="Group 43">
            <a:extLst>
              <a:ext uri="{FF2B5EF4-FFF2-40B4-BE49-F238E27FC236}">
                <a16:creationId xmlns:a16="http://schemas.microsoft.com/office/drawing/2014/main" id="{1D362F4A-08BE-F0D5-00C8-3BDD2C66CFAC}"/>
              </a:ext>
            </a:extLst>
          </p:cNvPr>
          <p:cNvGrpSpPr/>
          <p:nvPr/>
        </p:nvGrpSpPr>
        <p:grpSpPr>
          <a:xfrm>
            <a:off x="502920" y="3401833"/>
            <a:ext cx="5120640" cy="2834375"/>
            <a:chOff x="502920" y="3401833"/>
            <a:chExt cx="5120640" cy="2834375"/>
          </a:xfrm>
        </p:grpSpPr>
        <p:cxnSp>
          <p:nvCxnSpPr>
            <p:cNvPr id="20" name="Connector 19"/>
            <p:cNvCxnSpPr/>
            <p:nvPr/>
          </p:nvCxnSpPr>
          <p:spPr>
            <a:xfrm>
              <a:off x="2103120" y="3538993"/>
              <a:ext cx="2861200"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964320" y="3538993"/>
              <a:ext cx="0" cy="2267447"/>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681352" y="3401833"/>
              <a:ext cx="348615" cy="274320"/>
            </a:xfrm>
            <a:prstGeom prst="rect">
              <a:avLst/>
            </a:prstGeom>
            <a:noFill/>
          </p:spPr>
          <p:txBody>
            <a:bodyPr wrap="square" lIns="0" tIns="0" rIns="0" bIns="0">
              <a:spAutoFit/>
            </a:bodyPr>
            <a:lstStyle/>
            <a:p>
              <a:pPr algn="r"/>
              <a:r>
                <a:rPr sz="1600" b="1" i="1" dirty="0">
                  <a:solidFill>
                    <a:srgbClr val="C00000"/>
                  </a:solidFill>
                  <a:latin typeface="Calibri"/>
                </a:rPr>
                <a:t>P</a:t>
              </a:r>
              <a:r>
                <a:rPr sz="1600" b="1" i="1" baseline="-25000" dirty="0">
                  <a:solidFill>
                    <a:srgbClr val="C00000"/>
                  </a:solidFill>
                  <a:latin typeface="Calibri"/>
                </a:rPr>
                <a:t>E</a:t>
              </a:r>
              <a:r>
                <a:rPr sz="1600" b="1" i="1" baseline="30000" dirty="0">
                  <a:solidFill>
                    <a:srgbClr val="C00000"/>
                  </a:solidFill>
                  <a:latin typeface="Calibri"/>
                </a:rPr>
                <a:t>C</a:t>
              </a:r>
            </a:p>
          </p:txBody>
        </p:sp>
        <p:sp>
          <p:nvSpPr>
            <p:cNvPr id="36" name="TextBox 35"/>
            <p:cNvSpPr txBox="1"/>
            <p:nvPr/>
          </p:nvSpPr>
          <p:spPr>
            <a:xfrm>
              <a:off x="502920" y="5961888"/>
              <a:ext cx="5120640" cy="274320"/>
            </a:xfrm>
            <a:prstGeom prst="rect">
              <a:avLst/>
            </a:prstGeom>
            <a:noFill/>
          </p:spPr>
          <p:txBody>
            <a:bodyPr wrap="square" lIns="0" tIns="0" rIns="0" bIns="0">
              <a:spAutoFit/>
            </a:bodyPr>
            <a:lstStyle/>
            <a:p>
              <a:pPr algn="l"/>
              <a:r>
                <a:rPr sz="1300" i="1" dirty="0">
                  <a:solidFill>
                    <a:srgbClr val="C00000"/>
                  </a:solidFill>
                  <a:latin typeface="Calibri"/>
                </a:rPr>
                <a:t>P</a:t>
              </a:r>
              <a:r>
                <a:rPr sz="1300" i="1" baseline="-25000" dirty="0">
                  <a:solidFill>
                    <a:srgbClr val="C00000"/>
                  </a:solidFill>
                  <a:latin typeface="Calibri"/>
                </a:rPr>
                <a:t>E</a:t>
              </a:r>
              <a:r>
                <a:rPr sz="1300" i="1" baseline="30000" dirty="0">
                  <a:solidFill>
                    <a:srgbClr val="C00000"/>
                  </a:solidFill>
                  <a:latin typeface="Calibri"/>
                </a:rPr>
                <a:t>C</a:t>
              </a:r>
              <a:r>
                <a:rPr sz="1300" i="0" dirty="0">
                  <a:solidFill>
                    <a:srgbClr val="C00000"/>
                  </a:solidFill>
                  <a:latin typeface="Calibri"/>
                </a:rPr>
                <a:t> : Price paid by consumer with tax on externality</a:t>
              </a:r>
            </a:p>
          </p:txBody>
        </p:sp>
      </p:grpSp>
      <p:grpSp>
        <p:nvGrpSpPr>
          <p:cNvPr id="45" name="Group 44">
            <a:extLst>
              <a:ext uri="{FF2B5EF4-FFF2-40B4-BE49-F238E27FC236}">
                <a16:creationId xmlns:a16="http://schemas.microsoft.com/office/drawing/2014/main" id="{DE9B6953-2C19-2611-374B-AAD316E4C4A6}"/>
              </a:ext>
            </a:extLst>
          </p:cNvPr>
          <p:cNvGrpSpPr/>
          <p:nvPr/>
        </p:nvGrpSpPr>
        <p:grpSpPr>
          <a:xfrm>
            <a:off x="502920" y="4064773"/>
            <a:ext cx="5120640" cy="2445754"/>
            <a:chOff x="502920" y="4064773"/>
            <a:chExt cx="5120640" cy="2445754"/>
          </a:xfrm>
        </p:grpSpPr>
        <p:cxnSp>
          <p:nvCxnSpPr>
            <p:cNvPr id="29" name="Connector 28"/>
            <p:cNvCxnSpPr/>
            <p:nvPr/>
          </p:nvCxnSpPr>
          <p:spPr>
            <a:xfrm>
              <a:off x="2103120" y="4201933"/>
              <a:ext cx="2861200"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81352" y="4064773"/>
              <a:ext cx="348615" cy="274320"/>
            </a:xfrm>
            <a:prstGeom prst="rect">
              <a:avLst/>
            </a:prstGeom>
            <a:noFill/>
          </p:spPr>
          <p:txBody>
            <a:bodyPr wrap="square" lIns="0" tIns="0" rIns="0" bIns="0">
              <a:spAutoFit/>
            </a:bodyPr>
            <a:lstStyle/>
            <a:p>
              <a:pPr algn="r"/>
              <a:r>
                <a:rPr sz="1600" b="1" i="1" dirty="0">
                  <a:solidFill>
                    <a:srgbClr val="C00000"/>
                  </a:solidFill>
                  <a:latin typeface="Calibri"/>
                </a:rPr>
                <a:t>P</a:t>
              </a:r>
              <a:r>
                <a:rPr sz="1600" b="1" i="1" baseline="-25000" dirty="0">
                  <a:solidFill>
                    <a:srgbClr val="C00000"/>
                  </a:solidFill>
                  <a:latin typeface="Calibri"/>
                </a:rPr>
                <a:t>E</a:t>
              </a:r>
              <a:r>
                <a:rPr sz="1600" b="1" i="1" baseline="30000" dirty="0">
                  <a:solidFill>
                    <a:srgbClr val="C00000"/>
                  </a:solidFill>
                  <a:latin typeface="Calibri"/>
                </a:rPr>
                <a:t>P</a:t>
              </a:r>
            </a:p>
          </p:txBody>
        </p:sp>
        <p:sp>
          <p:nvSpPr>
            <p:cNvPr id="37" name="TextBox 36"/>
            <p:cNvSpPr txBox="1"/>
            <p:nvPr/>
          </p:nvSpPr>
          <p:spPr>
            <a:xfrm>
              <a:off x="502920" y="6236207"/>
              <a:ext cx="5120640" cy="274320"/>
            </a:xfrm>
            <a:prstGeom prst="rect">
              <a:avLst/>
            </a:prstGeom>
            <a:noFill/>
          </p:spPr>
          <p:txBody>
            <a:bodyPr wrap="square" lIns="0" tIns="0" rIns="0" bIns="0">
              <a:spAutoFit/>
            </a:bodyPr>
            <a:lstStyle/>
            <a:p>
              <a:pPr algn="l"/>
              <a:r>
                <a:rPr sz="1300" i="1" dirty="0">
                  <a:solidFill>
                    <a:srgbClr val="C00000"/>
                  </a:solidFill>
                  <a:latin typeface="Calibri"/>
                </a:rPr>
                <a:t>P</a:t>
              </a:r>
              <a:r>
                <a:rPr sz="1300" i="1" baseline="-25000" dirty="0">
                  <a:solidFill>
                    <a:srgbClr val="C00000"/>
                  </a:solidFill>
                  <a:latin typeface="Calibri"/>
                </a:rPr>
                <a:t>E</a:t>
              </a:r>
              <a:r>
                <a:rPr sz="1300" i="1" baseline="30000" dirty="0">
                  <a:solidFill>
                    <a:srgbClr val="C00000"/>
                  </a:solidFill>
                  <a:latin typeface="Calibri"/>
                </a:rPr>
                <a:t>P</a:t>
              </a:r>
              <a:r>
                <a:rPr sz="1300" i="0" dirty="0">
                  <a:solidFill>
                    <a:srgbClr val="C00000"/>
                  </a:solidFill>
                  <a:latin typeface="Calibri"/>
                </a:rPr>
                <a:t> : Price received by producer with tax on externality</a:t>
              </a:r>
            </a:p>
          </p:txBody>
        </p:sp>
      </p:grpSp>
      <p:grpSp>
        <p:nvGrpSpPr>
          <p:cNvPr id="143" name="Group pair 143"/>
          <p:cNvGrpSpPr/>
          <p:nvPr/>
        </p:nvGrpSpPr>
        <p:grpSpPr>
          <a:xfrm>
            <a:off x="8613648" y="4251960"/>
            <a:ext cx="3447287" cy="1417320"/>
            <a:chOff x="8001000" y="4251960"/>
            <a:chExt cx="3794760" cy="1417320"/>
          </a:xfrm>
        </p:grpSpPr>
        <p:sp>
          <p:nvSpPr>
            <p:cNvPr id="38" name="Rounded Rectangle 37"/>
            <p:cNvSpPr/>
            <p:nvPr/>
          </p:nvSpPr>
          <p:spPr>
            <a:xfrm>
              <a:off x="8001000" y="4251960"/>
              <a:ext cx="3794760" cy="141732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83880" y="4361688"/>
              <a:ext cx="3429000" cy="1197864"/>
            </a:xfrm>
            <a:prstGeom prst="rect">
              <a:avLst/>
            </a:prstGeom>
            <a:noFill/>
          </p:spPr>
          <p:txBody>
            <a:bodyPr wrap="square" lIns="45720" tIns="0" rIns="45720" bIns="0" anchor="ctr">
              <a:spAutoFit/>
            </a:bodyPr>
            <a:lstStyle/>
            <a:p>
              <a:pPr algn="l"/>
              <a:r>
                <a:rPr sz="1800" b="0" i="1" u="none">
                  <a:solidFill>
                    <a:srgbClr val="0B2B4E"/>
                  </a:solidFill>
                  <a:latin typeface="Calibri"/>
                </a:rPr>
                <a:t>A tax equal to the external cost makes each driver face the social marginal cost, and the market lands on Q</a:t>
              </a:r>
              <a:r>
                <a:rPr sz="1800" b="0" i="1" u="none" baseline="-25000">
                  <a:solidFill>
                    <a:srgbClr val="0B2B4E"/>
                  </a:solidFill>
                  <a:latin typeface="Calibri"/>
                </a:rPr>
                <a:t>Ext</a:t>
              </a:r>
              <a:r>
                <a:rPr sz="1800" b="0" i="1" u="none">
                  <a:solidFill>
                    <a:srgbClr val="0B2B4E"/>
                  </a:solidFill>
                  <a:latin typeface="Calibri"/>
                </a:rPr>
                <a:t> on its own.</a:t>
              </a:r>
            </a:p>
          </p:txBody>
        </p:sp>
      </p:grpSp>
      <p:sp>
        <p:nvSpPr>
          <p:cNvPr id="40" name="Rectangle 3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43" name="TextBox 42"/>
          <p:cNvSpPr txBox="1"/>
          <p:nvPr/>
        </p:nvSpPr>
        <p:spPr>
          <a:xfrm>
            <a:off x="11475720" y="6583680"/>
            <a:ext cx="502920" cy="292608"/>
          </a:xfrm>
          <a:prstGeom prst="rect">
            <a:avLst/>
          </a:prstGeom>
          <a:noFill/>
        </p:spPr>
        <p:txBody>
          <a:bodyPr wrap="none" lIns="0" tIns="0" rIns="0" bIns="0">
            <a:spAutoFit/>
          </a:bodyPr>
          <a:lstStyle/>
          <a:p>
            <a:pPr algn="r"/>
            <a:fld id="{5154735C-6D06-5F94-A242-8E28D2FC9792}" type="slidenum">
              <a:rPr lang="en-US" sz="1200" dirty="0">
                <a:solidFill>
                  <a:srgbClr val="555B66"/>
                </a:solidFill>
                <a:latin typeface="Calibri"/>
              </a:rPr>
              <a:t>38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4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45"/>
                                        </p:tgtEl>
                                        <p:attrNameLst>
                                          <p:attrName>style.visibility</p:attrName>
                                        </p:attrNameLst>
                                      </p:cBhvr>
                                      <p:to>
                                        <p:strVal val="visible"/>
                                      </p:to>
                                    </p:set>
                                  </p:childTnLst>
                                </p:cTn>
                              </p:par>
                              <p:par>
                                <p:cTn id="72" presetID="10" presetClass="entr" presetSubtype="0"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44"/>
                                        </p:tgtEl>
                                        <p:attrNameLst>
                                          <p:attrName>style.visibility</p:attrName>
                                        </p:attrNameLst>
                                      </p:cBhvr>
                                      <p:to>
                                        <p:strVal val="visible"/>
                                      </p:to>
                                    </p:set>
                                    <p:animEffect transition="in" filter="fade">
                                      <p:cBhvr>
                                        <p:cTn id="79" dur="500"/>
                                        <p:tgtEl>
                                          <p:spTgt spid="144"/>
                                        </p:tgtEl>
                                      </p:cBhvr>
                                    </p:animEffect>
                                  </p:childTnLst>
                                </p:cTn>
                              </p:par>
                              <p:par>
                                <p:cTn id="80" presetID="10" presetClass="entr" presetSubtype="0" fill="hold" nodeType="withEffect">
                                  <p:stCondLst>
                                    <p:cond delay="0"/>
                                  </p:stCondLst>
                                  <p:childTnLst>
                                    <p:set>
                                      <p:cBhvr>
                                        <p:cTn id="81" dur="1" fill="hold">
                                          <p:stCondLst>
                                            <p:cond delay="0"/>
                                          </p:stCondLst>
                                        </p:cTn>
                                        <p:tgtEl>
                                          <p:spTgt spid="143"/>
                                        </p:tgtEl>
                                        <p:attrNameLst>
                                          <p:attrName>style.visibility</p:attrName>
                                        </p:attrNameLst>
                                      </p:cBhvr>
                                      <p:to>
                                        <p:strVal val="visible"/>
                                      </p:to>
                                    </p:set>
                                    <p:animEffect transition="in" filter="fade">
                                      <p:cBhvr>
                                        <p:cTn id="82"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Externality: Airplane Noise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3" name="Group pair 113"/>
          <p:cNvGrpSpPr/>
          <p:nvPr/>
        </p:nvGrpSpPr>
        <p:grpSpPr>
          <a:xfrm>
            <a:off x="548640" y="1463040"/>
            <a:ext cx="6949440" cy="3986784"/>
            <a:chOff x="548640" y="1463040"/>
            <a:chExt cx="6949440" cy="3986784"/>
          </a:xfrm>
        </p:grpSpPr>
        <p:pic>
          <p:nvPicPr>
            <p:cNvPr id="7" name="Picture 6" descr="NV_s75_3_4d362b83.wmf"/>
            <p:cNvPicPr>
              <a:picLocks noChangeAspect="1"/>
            </p:cNvPicPr>
            <p:nvPr/>
          </p:nvPicPr>
          <p:blipFill>
            <a:blip r:embed="rId3"/>
            <a:stretch>
              <a:fillRect/>
            </a:stretch>
          </p:blipFill>
          <p:spPr>
            <a:xfrm>
              <a:off x="548640" y="1463040"/>
              <a:ext cx="6949440" cy="364894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548640" y="5175504"/>
              <a:ext cx="6949440" cy="274320"/>
            </a:xfrm>
            <a:prstGeom prst="rect">
              <a:avLst/>
            </a:prstGeom>
            <a:noFill/>
          </p:spPr>
          <p:txBody>
            <a:bodyPr wrap="square" lIns="0" tIns="0" rIns="0" bIns="0">
              <a:spAutoFit/>
            </a:bodyPr>
            <a:lstStyle/>
            <a:p>
              <a:pPr algn="ctr"/>
              <a:r>
                <a:rPr sz="1200" b="0" i="1" u="none">
                  <a:solidFill>
                    <a:srgbClr val="555B66"/>
                  </a:solidFill>
                  <a:latin typeface="Calibri"/>
                </a:rPr>
                <a:t>Noise contours around Santa Monica Airport</a:t>
              </a:r>
            </a:p>
          </p:txBody>
        </p:sp>
      </p:grpSp>
      <p:pic>
        <p:nvPicPr>
          <p:cNvPr id="8" name="Picture 7" descr="nv_smo_lookout_article.png"/>
          <p:cNvPicPr>
            <a:picLocks noChangeAspect="1"/>
          </p:cNvPicPr>
          <p:nvPr/>
        </p:nvPicPr>
        <p:blipFill>
          <a:blip r:embed="rId4"/>
          <a:stretch>
            <a:fillRect/>
          </a:stretch>
        </p:blipFill>
        <p:spPr>
          <a:xfrm>
            <a:off x="7507224" y="3749039"/>
            <a:ext cx="4690872" cy="2798064"/>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14580A6D-8BBA-5AE2-B3DB-1D0EDBA037F0}" type="slidenum">
              <a:rPr lang="en-US" sz="1200" dirty="0">
                <a:solidFill>
                  <a:srgbClr val="555B66"/>
                </a:solidFill>
                <a:latin typeface="Calibri"/>
              </a:rPr>
              <a:t>39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 Pigouvian Tax for Noise? The Case of Santa Monica Airport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691640" y="1709928"/>
            <a:ext cx="0" cy="39136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91640" y="5623560"/>
            <a:ext cx="59253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07186" y="1577340"/>
            <a:ext cx="511302" cy="265176"/>
          </a:xfrm>
          <a:prstGeom prst="rect">
            <a:avLst/>
          </a:prstGeom>
          <a:noFill/>
        </p:spPr>
        <p:txBody>
          <a:bodyPr wrap="square" lIns="0" tIns="0" rIns="0" bIns="0">
            <a:spAutoFit/>
          </a:bodyPr>
          <a:lstStyle/>
          <a:p>
            <a:pPr algn="l"/>
            <a:r>
              <a:rPr sz="1700" b="1" i="1" u="none">
                <a:solidFill>
                  <a:srgbClr val="0B2B4E"/>
                </a:solidFill>
                <a:latin typeface="Calibri"/>
              </a:rPr>
              <a:t>Price</a:t>
            </a:r>
          </a:p>
        </p:txBody>
      </p:sp>
      <p:sp>
        <p:nvSpPr>
          <p:cNvPr id="10" name="TextBox 9"/>
          <p:cNvSpPr txBox="1"/>
          <p:nvPr/>
        </p:nvSpPr>
        <p:spPr>
          <a:xfrm>
            <a:off x="6908863" y="5669280"/>
            <a:ext cx="1416177" cy="265176"/>
          </a:xfrm>
          <a:prstGeom prst="rect">
            <a:avLst/>
          </a:prstGeom>
          <a:noFill/>
        </p:spPr>
        <p:txBody>
          <a:bodyPr wrap="square" lIns="0" tIns="0" rIns="0" bIns="0">
            <a:spAutoFit/>
          </a:bodyPr>
          <a:lstStyle/>
          <a:p>
            <a:pPr algn="l"/>
            <a:r>
              <a:rPr sz="1700" b="1" i="1" u="none">
                <a:solidFill>
                  <a:srgbClr val="0B2B4E"/>
                </a:solidFill>
                <a:latin typeface="Calibri"/>
              </a:rPr>
              <a:t>Flights per day</a:t>
            </a:r>
          </a:p>
        </p:txBody>
      </p:sp>
      <p:cxnSp>
        <p:nvCxnSpPr>
          <p:cNvPr id="11" name="Connector 10"/>
          <p:cNvCxnSpPr/>
          <p:nvPr/>
        </p:nvCxnSpPr>
        <p:spPr>
          <a:xfrm>
            <a:off x="1691640" y="3540760"/>
            <a:ext cx="5270445" cy="1874520"/>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22592" y="5303520"/>
            <a:ext cx="3291840" cy="310896"/>
          </a:xfrm>
          <a:prstGeom prst="rect">
            <a:avLst/>
          </a:prstGeom>
          <a:noFill/>
        </p:spPr>
        <p:txBody>
          <a:bodyPr wrap="square" lIns="0" tIns="0" rIns="0" bIns="0">
            <a:spAutoFit/>
          </a:bodyPr>
          <a:lstStyle/>
          <a:p>
            <a:pPr algn="l"/>
            <a:r>
              <a:rPr sz="1700" b="1" i="0" u="none">
                <a:solidFill>
                  <a:srgbClr val="C00000"/>
                </a:solidFill>
                <a:latin typeface="Calibri"/>
              </a:rPr>
              <a:t>D  (MB of flying)</a:t>
            </a:r>
          </a:p>
        </p:txBody>
      </p:sp>
      <p:cxnSp>
        <p:nvCxnSpPr>
          <p:cNvPr id="13" name="Connector 12"/>
          <p:cNvCxnSpPr/>
          <p:nvPr/>
        </p:nvCxnSpPr>
        <p:spPr>
          <a:xfrm>
            <a:off x="1691640" y="4790440"/>
            <a:ext cx="5270445"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86600" y="4480560"/>
            <a:ext cx="3931920" cy="566928"/>
          </a:xfrm>
          <a:prstGeom prst="rect">
            <a:avLst/>
          </a:prstGeom>
          <a:noFill/>
        </p:spPr>
        <p:txBody>
          <a:bodyPr wrap="square" lIns="0" tIns="0" rIns="0" bIns="0">
            <a:spAutoFit/>
          </a:bodyPr>
          <a:lstStyle/>
          <a:p>
            <a:pPr algn="l"/>
            <a:r>
              <a:rPr sz="1700" b="1" i="1" u="none">
                <a:solidFill>
                  <a:srgbClr val="0B2B4E"/>
                </a:solidFill>
                <a:latin typeface="Calibri"/>
              </a:rPr>
              <a:t>Pilots' internal
MC</a:t>
            </a:r>
            <a:r>
              <a:rPr sz="1700" b="1" i="1" u="none" baseline="-25000">
                <a:solidFill>
                  <a:srgbClr val="0B2B4E"/>
                </a:solidFill>
                <a:latin typeface="Calibri"/>
              </a:rPr>
              <a:t>I</a:t>
            </a:r>
            <a:r>
              <a:rPr sz="1700" b="1" i="1" u="none">
                <a:solidFill>
                  <a:srgbClr val="0B2B4E"/>
                </a:solidFill>
                <a:latin typeface="Calibri"/>
              </a:rPr>
              <a:t> of flying</a:t>
            </a:r>
          </a:p>
        </p:txBody>
      </p:sp>
      <p:cxnSp>
        <p:nvCxnSpPr>
          <p:cNvPr id="15" name="Connector 14"/>
          <p:cNvCxnSpPr/>
          <p:nvPr/>
        </p:nvCxnSpPr>
        <p:spPr>
          <a:xfrm>
            <a:off x="1691640" y="3124200"/>
            <a:ext cx="5270445" cy="0"/>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123176" y="2880360"/>
            <a:ext cx="3931920" cy="566928"/>
          </a:xfrm>
          <a:prstGeom prst="rect">
            <a:avLst/>
          </a:prstGeom>
          <a:noFill/>
        </p:spPr>
        <p:txBody>
          <a:bodyPr wrap="square" lIns="0" tIns="0" rIns="0" bIns="0">
            <a:spAutoFit/>
          </a:bodyPr>
          <a:lstStyle/>
          <a:p>
            <a:pPr algn="l"/>
            <a:r>
              <a:rPr sz="1700" b="1" i="1" u="none">
                <a:solidFill>
                  <a:srgbClr val="E09F3E"/>
                </a:solidFill>
                <a:latin typeface="Calibri"/>
              </a:rPr>
              <a:t>MC</a:t>
            </a:r>
            <a:r>
              <a:rPr sz="1700" b="1" i="1" u="none" baseline="-25000">
                <a:solidFill>
                  <a:srgbClr val="E09F3E"/>
                </a:solidFill>
                <a:latin typeface="Calibri"/>
              </a:rPr>
              <a:t>I</a:t>
            </a:r>
            <a:r>
              <a:rPr sz="1700" b="1" i="1" u="none">
                <a:solidFill>
                  <a:srgbClr val="E09F3E"/>
                </a:solidFill>
                <a:latin typeface="Calibri"/>
              </a:rPr>
              <a:t> + tax = SMC
(social marginal cost)</a:t>
            </a:r>
          </a:p>
        </p:txBody>
      </p:sp>
      <p:cxnSp>
        <p:nvCxnSpPr>
          <p:cNvPr id="17" name="Connector 16"/>
          <p:cNvCxnSpPr/>
          <p:nvPr/>
        </p:nvCxnSpPr>
        <p:spPr>
          <a:xfrm flipV="1">
            <a:off x="3162462" y="3124200"/>
            <a:ext cx="0" cy="1666240"/>
          </a:xfrm>
          <a:prstGeom prst="line">
            <a:avLst/>
          </a:prstGeom>
          <a:ln w="31750">
            <a:solidFill>
              <a:srgbClr val="7030A0"/>
            </a:solidFill>
            <a:tailEnd type="triangle" w="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55264" y="3547872"/>
            <a:ext cx="2926080" cy="310896"/>
          </a:xfrm>
          <a:prstGeom prst="rect">
            <a:avLst/>
          </a:prstGeom>
          <a:noFill/>
        </p:spPr>
        <p:txBody>
          <a:bodyPr wrap="square" lIns="0" tIns="0" rIns="0" bIns="0">
            <a:spAutoFit/>
          </a:bodyPr>
          <a:lstStyle/>
          <a:p>
            <a:pPr algn="l"/>
            <a:r>
              <a:rPr sz="1700" b="1" i="0" u="none">
                <a:solidFill>
                  <a:srgbClr val="7030A0"/>
                </a:solidFill>
                <a:latin typeface="Calibri"/>
              </a:rPr>
              <a:t>Noise pollution (EMC)</a:t>
            </a:r>
          </a:p>
        </p:txBody>
      </p:sp>
      <p:sp>
        <p:nvSpPr>
          <p:cNvPr id="19" name="TextBox 18"/>
          <p:cNvSpPr txBox="1"/>
          <p:nvPr/>
        </p:nvSpPr>
        <p:spPr>
          <a:xfrm>
            <a:off x="3255264" y="3803904"/>
            <a:ext cx="2743200" cy="310896"/>
          </a:xfrm>
          <a:prstGeom prst="rect">
            <a:avLst/>
          </a:prstGeom>
          <a:noFill/>
        </p:spPr>
        <p:txBody>
          <a:bodyPr wrap="square" lIns="0" tIns="0" rIns="0" bIns="0">
            <a:spAutoFit/>
          </a:bodyPr>
          <a:lstStyle/>
          <a:p>
            <a:pPr algn="l"/>
            <a:r>
              <a:rPr sz="1700" b="1" i="0" u="none">
                <a:solidFill>
                  <a:srgbClr val="7030A0"/>
                </a:solidFill>
                <a:latin typeface="Calibri"/>
              </a:rPr>
              <a:t>Noise tax = EMC</a:t>
            </a:r>
          </a:p>
        </p:txBody>
      </p:sp>
      <p:cxnSp>
        <p:nvCxnSpPr>
          <p:cNvPr id="20" name="Connector 19"/>
          <p:cNvCxnSpPr/>
          <p:nvPr/>
        </p:nvCxnSpPr>
        <p:spPr>
          <a:xfrm flipV="1">
            <a:off x="5205270" y="4790440"/>
            <a:ext cx="0" cy="833120"/>
          </a:xfrm>
          <a:prstGeom prst="line">
            <a:avLst/>
          </a:prstGeom>
          <a:ln w="17780">
            <a:solidFill>
              <a:srgbClr val="0B2B4E"/>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754357" y="5678424"/>
            <a:ext cx="901827" cy="274320"/>
          </a:xfrm>
          <a:prstGeom prst="rect">
            <a:avLst/>
          </a:prstGeom>
          <a:noFill/>
        </p:spPr>
        <p:txBody>
          <a:bodyPr wrap="square" lIns="0" tIns="0" rIns="0" bIns="0">
            <a:spAutoFit/>
          </a:bodyPr>
          <a:lstStyle/>
          <a:p>
            <a:pPr algn="ctr"/>
            <a:r>
              <a:rPr sz="1600" b="1" i="1" u="none">
                <a:solidFill>
                  <a:srgbClr val="0B2B4E"/>
                </a:solidFill>
                <a:latin typeface="Calibri"/>
              </a:rPr>
              <a:t>Q</a:t>
            </a:r>
            <a:r>
              <a:rPr sz="1600" b="1" i="1" u="none" baseline="-25000">
                <a:solidFill>
                  <a:srgbClr val="0B2B4E"/>
                </a:solidFill>
                <a:latin typeface="Calibri"/>
              </a:rPr>
              <a:t>current</a:t>
            </a:r>
          </a:p>
        </p:txBody>
      </p:sp>
      <p:sp>
        <p:nvSpPr>
          <p:cNvPr id="22" name="Oval 21"/>
          <p:cNvSpPr/>
          <p:nvPr/>
        </p:nvSpPr>
        <p:spPr>
          <a:xfrm>
            <a:off x="5145834" y="473100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69314" y="5678424"/>
            <a:ext cx="644652" cy="274320"/>
          </a:xfrm>
          <a:prstGeom prst="rect">
            <a:avLst/>
          </a:prstGeom>
          <a:noFill/>
        </p:spPr>
        <p:txBody>
          <a:bodyPr wrap="square" lIns="0" tIns="0" rIns="0" bIns="0">
            <a:spAutoFit/>
          </a:bodyPr>
          <a:lstStyle/>
          <a:p>
            <a:pPr algn="ctr"/>
            <a:r>
              <a:rPr sz="1700" b="1" i="1" u="none">
                <a:solidFill>
                  <a:srgbClr val="0B2B4E"/>
                </a:solidFill>
                <a:latin typeface="Calibri"/>
              </a:rPr>
              <a:t>Q* = 0</a:t>
            </a:r>
          </a:p>
        </p:txBody>
      </p:sp>
      <p:sp>
        <p:nvSpPr>
          <p:cNvPr id="24" name="Oval 23"/>
          <p:cNvSpPr/>
          <p:nvPr/>
        </p:nvSpPr>
        <p:spPr>
          <a:xfrm>
            <a:off x="1623060" y="347218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490472" y="3339592"/>
            <a:ext cx="402336" cy="402336"/>
          </a:xfrm>
          <a:prstGeom prst="ellipse">
            <a:avLst/>
          </a:prstGeom>
          <a:noFill/>
          <a:ln w="31750">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56231" y="2267712"/>
            <a:ext cx="2715768" cy="521207"/>
          </a:xfrm>
          <a:prstGeom prst="rect">
            <a:avLst/>
          </a:prstGeom>
          <a:noFill/>
        </p:spPr>
        <p:txBody>
          <a:bodyPr wrap="square" lIns="0" tIns="0" rIns="0" bIns="0">
            <a:spAutoFit/>
          </a:bodyPr>
          <a:lstStyle/>
          <a:p>
            <a:pPr algn="l"/>
            <a:r>
              <a:rPr sz="1700" b="1" i="0" u="none">
                <a:solidFill>
                  <a:srgbClr val="7030A0"/>
                </a:solidFill>
                <a:latin typeface="Calibri"/>
              </a:rPr>
              <a:t>“Corner solution” with Q* = 0
→ shut down the airport</a:t>
            </a:r>
          </a:p>
        </p:txBody>
      </p:sp>
      <p:cxnSp>
        <p:nvCxnSpPr>
          <p:cNvPr id="27" name="Connector 26"/>
          <p:cNvCxnSpPr/>
          <p:nvPr/>
        </p:nvCxnSpPr>
        <p:spPr>
          <a:xfrm flipH="1">
            <a:off x="1837944" y="2743200"/>
            <a:ext cx="82296" cy="614680"/>
          </a:xfrm>
          <a:prstGeom prst="line">
            <a:avLst/>
          </a:prstGeom>
          <a:ln w="22225">
            <a:solidFill>
              <a:srgbClr val="7030A0"/>
            </a:solidFill>
            <a:tailEnd type="triangle" w="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4  ·  Competitive Markets and Market Interventions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76C892E0-E170-528A-8749-40DA1FE018D8}" type="slidenum">
              <a:rPr lang="en-US" sz="1200" dirty="0">
                <a:solidFill>
                  <a:srgbClr val="555B66"/>
                </a:solidFill>
                <a:latin typeface="Calibri"/>
              </a:rPr>
              <a:t>40</a:t>
            </a:fld>
            <a:endParaRPr lang="en-US" sz="1200" dirty="0">
              <a:solidFill>
                <a:srgbClr val="555B66"/>
              </a:solidFill>
              <a:latin typeface="Calibri"/>
            </a:endParaRPr>
          </a:p>
        </p:txBody>
      </p:sp>
      <p:sp>
        <p:nvSpPr>
          <p:cNvPr id="32" name="Rounded Rectangle 31"/>
          <p:cNvSpPr/>
          <p:nvPr/>
        </p:nvSpPr>
        <p:spPr>
          <a:xfrm>
            <a:off x="883767" y="6016752"/>
            <a:ext cx="10424160" cy="475488"/>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SMC lies above willingness to pay at every quantity — a corner solution at Q* = 0, so close the airport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7f715322-55f4-4dc6-8fdb-2431d21bdf93"/>
</p:tagLst>
</file>

<file path=ppt/tags/tag2.xml><?xml version="1.0" encoding="utf-8"?>
<p:tagLst xmlns:a="http://schemas.openxmlformats.org/drawingml/2006/main" xmlns:r="http://schemas.openxmlformats.org/officeDocument/2006/relationships" xmlns:p="http://schemas.openxmlformats.org/presentationml/2006/main">
  <p:tag name="__PE_POLL_EMBED_ID" val="80d4bee9-8990-4cc7-af33-e42bf93704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5135</Words>
  <Application>Microsoft Office PowerPoint</Application>
  <PresentationFormat>Widescreen</PresentationFormat>
  <Paragraphs>624</Paragraphs>
  <Slides>40</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36</cp:revision>
  <dcterms:created xsi:type="dcterms:W3CDTF">2013-01-27T09:14:16Z</dcterms:created>
  <dcterms:modified xsi:type="dcterms:W3CDTF">2026-10-22T02:14:41Z</dcterms:modified>
  <cp:category/>
</cp:coreProperties>
</file>