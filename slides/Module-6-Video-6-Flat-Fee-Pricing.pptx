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312" r:id="rId2"/>
    <p:sldId id="313" r:id="rId3"/>
    <p:sldId id="314" r:id="rId4"/>
    <p:sldId id="315" r:id="rId5"/>
    <p:sldId id="316" r:id="rId6"/>
    <p:sldId id="317"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63EF34-BBF4-4EE4-A8C7-B7C7750069CA}"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BAC09-9370-4EA9-BE24-094450873490}" type="slidenum">
              <a:rPr lang="en-US" smtClean="0"/>
              <a:t>‹#›</a:t>
            </a:fld>
            <a:endParaRPr lang="en-US"/>
          </a:p>
        </p:txBody>
      </p:sp>
    </p:spTree>
    <p:extLst>
      <p:ext uri="{BB962C8B-B14F-4D97-AF65-F5344CB8AC3E}">
        <p14:creationId xmlns:p14="http://schemas.microsoft.com/office/powerpoint/2010/main" val="3091923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change the question. Instead of many different customers, think about one customer buying many units.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so far has been about customers who differ from each other. Now hold that aside: imagine every customer has the same demand curve, but each of them buys several units. The surplus is still there to be captured, but the tool is different, because what varies now is the value of the second unit against the first.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tools, and we take them in order. A flat fee for unlimited access. A two-part tariff, which is a flat fee plus a per-unit charge. And block pricing, where the price falls as the same customer buys more. Which one fits depends almost entirely on whether marginal cost is zero.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marginal cost at zero the customer keeps watching until the next film is worth nothing to her, so the whole area under the demand curve is there to be taken. Demand here runs from $4 down to zero at 12 movies, so that triangle is 12 times 4 over 2, which is $24. Charge a $24 flat fee for unlimited access and she is just willing to pay it. That is twice the $12 the best single price earned, and she watches 12 films instead of 6. A sliding scale of quantity discounts does the same job: you march the consumer down her own demand curve, charging less for each successive unit, and collect the same surplus.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Netflix as versioning. Three plans on the table: Standard with Ads at $8.99, Standard at $19.99, and Premium at $26.99. What separates them costs Netflix almost nothing. The number of screens you can watch at once, the download slots, 4K, and whether ads run. The price differences are far larger than the cost differences, which is the whole point of versioning. Worth asking the class which plan they are on and why they did not take the cheaper one. There is a good discussion of the 2017 price increase and the backlash it drew at https://finance.yahoo.com/news/netflix-price-hikes-wont-hurt-subscriber-growth-211526185.html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dirty="0">
                <a:solidFill>
                  <a:srgbClr val="0B2B4E"/>
                </a:solidFill>
                <a:latin typeface="Calibri"/>
              </a:rPr>
              <a:t>Flat Fee Pricing</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6  ·  Video 6</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6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29842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1</a:t>
            </a:r>
          </a:p>
        </p:txBody>
      </p:sp>
      <p:sp>
        <p:nvSpPr>
          <p:cNvPr id="8" name="Rounded Rectangle 7"/>
          <p:cNvSpPr/>
          <p:nvPr/>
        </p:nvSpPr>
        <p:spPr>
          <a:xfrm>
            <a:off x="10332720" y="135786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9" name="TextBox 8"/>
          <p:cNvSpPr txBox="1"/>
          <p:nvPr/>
        </p:nvSpPr>
        <p:spPr>
          <a:xfrm>
            <a:off x="1874519" y="138190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Simple vs. Complex Pricing</a:t>
            </a:r>
          </a:p>
        </p:txBody>
      </p:sp>
      <p:sp>
        <p:nvSpPr>
          <p:cNvPr id="10" name="Oval 9"/>
          <p:cNvSpPr/>
          <p:nvPr/>
        </p:nvSpPr>
        <p:spPr>
          <a:xfrm>
            <a:off x="1051560" y="192021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2</a:t>
            </a:r>
          </a:p>
        </p:txBody>
      </p:sp>
      <p:sp>
        <p:nvSpPr>
          <p:cNvPr id="11" name="Rounded Rectangle 10"/>
          <p:cNvSpPr/>
          <p:nvPr/>
        </p:nvSpPr>
        <p:spPr>
          <a:xfrm>
            <a:off x="10332720" y="190879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Videos 3+4</a:t>
            </a:r>
          </a:p>
        </p:txBody>
      </p:sp>
      <p:sp>
        <p:nvSpPr>
          <p:cNvPr id="12" name="TextBox 11"/>
          <p:cNvSpPr txBox="1"/>
          <p:nvPr/>
        </p:nvSpPr>
        <p:spPr>
          <a:xfrm>
            <a:off x="1874519" y="190192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Direct Price Discrimination</a:t>
            </a:r>
          </a:p>
        </p:txBody>
      </p:sp>
      <p:sp>
        <p:nvSpPr>
          <p:cNvPr id="13" name="Oval 12"/>
          <p:cNvSpPr/>
          <p:nvPr/>
        </p:nvSpPr>
        <p:spPr>
          <a:xfrm>
            <a:off x="1481328" y="234543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2a</a:t>
            </a:r>
          </a:p>
        </p:txBody>
      </p:sp>
      <p:sp>
        <p:nvSpPr>
          <p:cNvPr id="14" name="Rounded Rectangle 13"/>
          <p:cNvSpPr/>
          <p:nvPr/>
        </p:nvSpPr>
        <p:spPr>
          <a:xfrm>
            <a:off x="10707625" y="236829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5" name="TextBox 14"/>
          <p:cNvSpPr txBox="1"/>
          <p:nvPr/>
        </p:nvSpPr>
        <p:spPr>
          <a:xfrm>
            <a:off x="2084831" y="239234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Perfect Price Discrimination (First Degree)</a:t>
            </a:r>
          </a:p>
        </p:txBody>
      </p:sp>
      <p:sp>
        <p:nvSpPr>
          <p:cNvPr id="16" name="Oval 15"/>
          <p:cNvSpPr/>
          <p:nvPr/>
        </p:nvSpPr>
        <p:spPr>
          <a:xfrm>
            <a:off x="1481328" y="287578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2b</a:t>
            </a:r>
          </a:p>
        </p:txBody>
      </p:sp>
      <p:sp>
        <p:nvSpPr>
          <p:cNvPr id="17" name="Rounded Rectangle 16"/>
          <p:cNvSpPr/>
          <p:nvPr/>
        </p:nvSpPr>
        <p:spPr>
          <a:xfrm>
            <a:off x="10707625" y="289864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8" name="TextBox 17"/>
          <p:cNvSpPr txBox="1"/>
          <p:nvPr/>
        </p:nvSpPr>
        <p:spPr>
          <a:xfrm>
            <a:off x="2084831" y="292269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Segment Pricing (Third Degree)</a:t>
            </a:r>
          </a:p>
        </p:txBody>
      </p:sp>
      <p:sp>
        <p:nvSpPr>
          <p:cNvPr id="19" name="Oval 18"/>
          <p:cNvSpPr/>
          <p:nvPr/>
        </p:nvSpPr>
        <p:spPr>
          <a:xfrm>
            <a:off x="1051560" y="33695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3</a:t>
            </a:r>
          </a:p>
        </p:txBody>
      </p:sp>
      <p:sp>
        <p:nvSpPr>
          <p:cNvPr id="20" name="Rounded Rectangle 19"/>
          <p:cNvSpPr/>
          <p:nvPr/>
        </p:nvSpPr>
        <p:spPr>
          <a:xfrm>
            <a:off x="10332720" y="342900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1" name="TextBox 20"/>
          <p:cNvSpPr txBox="1"/>
          <p:nvPr/>
        </p:nvSpPr>
        <p:spPr>
          <a:xfrm>
            <a:off x="1874519" y="345304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Indirect Price Discrimination (Second Degree)</a:t>
            </a:r>
          </a:p>
        </p:txBody>
      </p:sp>
      <p:sp>
        <p:nvSpPr>
          <p:cNvPr id="22" name="Oval 21"/>
          <p:cNvSpPr/>
          <p:nvPr/>
        </p:nvSpPr>
        <p:spPr>
          <a:xfrm>
            <a:off x="1051560" y="39913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B2B4E"/>
                </a:solidFill>
                <a:latin typeface="Calibri"/>
              </a:rPr>
              <a:t>4</a:t>
            </a:r>
          </a:p>
        </p:txBody>
      </p:sp>
      <p:sp>
        <p:nvSpPr>
          <p:cNvPr id="23" name="Rounded Rectangle 22"/>
          <p:cNvSpPr/>
          <p:nvPr/>
        </p:nvSpPr>
        <p:spPr>
          <a:xfrm>
            <a:off x="10332720" y="3979938"/>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Videos 6–8</a:t>
            </a:r>
          </a:p>
        </p:txBody>
      </p:sp>
      <p:sp>
        <p:nvSpPr>
          <p:cNvPr id="24" name="TextBox 23"/>
          <p:cNvSpPr txBox="1"/>
          <p:nvPr/>
        </p:nvSpPr>
        <p:spPr>
          <a:xfrm>
            <a:off x="1874519" y="397306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Advanced Pricing Strategies</a:t>
            </a:r>
          </a:p>
        </p:txBody>
      </p:sp>
      <p:sp>
        <p:nvSpPr>
          <p:cNvPr id="25" name="Rounded Rectangle 24"/>
          <p:cNvSpPr/>
          <p:nvPr/>
        </p:nvSpPr>
        <p:spPr>
          <a:xfrm>
            <a:off x="1252728" y="4315992"/>
            <a:ext cx="10680192" cy="58978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81328" y="441657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4a</a:t>
            </a:r>
          </a:p>
        </p:txBody>
      </p:sp>
      <p:sp>
        <p:nvSpPr>
          <p:cNvPr id="27" name="Rounded Rectangle 26"/>
          <p:cNvSpPr/>
          <p:nvPr/>
        </p:nvSpPr>
        <p:spPr>
          <a:xfrm>
            <a:off x="10707625" y="4439436"/>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6</a:t>
            </a:r>
          </a:p>
        </p:txBody>
      </p:sp>
      <p:sp>
        <p:nvSpPr>
          <p:cNvPr id="28" name="TextBox 27"/>
          <p:cNvSpPr txBox="1"/>
          <p:nvPr/>
        </p:nvSpPr>
        <p:spPr>
          <a:xfrm>
            <a:off x="2084831" y="4361712"/>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Flat Fee Pricing</a:t>
            </a:r>
          </a:p>
          <a:p>
            <a:pPr algn="l">
              <a:spcBef>
                <a:spcPts val="0"/>
              </a:spcBef>
              <a:buNone/>
            </a:pPr>
            <a:r>
              <a:rPr sz="1600">
                <a:solidFill>
                  <a:srgbClr val="555B66"/>
                </a:solidFill>
                <a:latin typeface="Calibri"/>
              </a:rPr>
              <a:t>Unlimited access for one all-or-nothing fee</a:t>
            </a:r>
          </a:p>
        </p:txBody>
      </p:sp>
      <p:sp>
        <p:nvSpPr>
          <p:cNvPr id="29" name="Oval 28"/>
          <p:cNvSpPr/>
          <p:nvPr/>
        </p:nvSpPr>
        <p:spPr>
          <a:xfrm>
            <a:off x="1481328" y="494692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4b</a:t>
            </a:r>
          </a:p>
        </p:txBody>
      </p:sp>
      <p:sp>
        <p:nvSpPr>
          <p:cNvPr id="30" name="Rounded Rectangle 29"/>
          <p:cNvSpPr/>
          <p:nvPr/>
        </p:nvSpPr>
        <p:spPr>
          <a:xfrm>
            <a:off x="10707625" y="496978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7</a:t>
            </a:r>
          </a:p>
        </p:txBody>
      </p:sp>
      <p:sp>
        <p:nvSpPr>
          <p:cNvPr id="31" name="TextBox 30"/>
          <p:cNvSpPr txBox="1"/>
          <p:nvPr/>
        </p:nvSpPr>
        <p:spPr>
          <a:xfrm>
            <a:off x="2084831" y="499383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Two-Part Tariff</a:t>
            </a:r>
          </a:p>
        </p:txBody>
      </p:sp>
      <p:sp>
        <p:nvSpPr>
          <p:cNvPr id="32" name="Oval 31"/>
          <p:cNvSpPr/>
          <p:nvPr/>
        </p:nvSpPr>
        <p:spPr>
          <a:xfrm>
            <a:off x="1481328" y="5477280"/>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4c</a:t>
            </a:r>
          </a:p>
        </p:txBody>
      </p:sp>
      <p:sp>
        <p:nvSpPr>
          <p:cNvPr id="33" name="Rounded Rectangle 32"/>
          <p:cNvSpPr/>
          <p:nvPr/>
        </p:nvSpPr>
        <p:spPr>
          <a:xfrm>
            <a:off x="10707625" y="5500140"/>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8</a:t>
            </a:r>
          </a:p>
        </p:txBody>
      </p:sp>
      <p:sp>
        <p:nvSpPr>
          <p:cNvPr id="34" name="TextBox 33"/>
          <p:cNvSpPr txBox="1"/>
          <p:nvPr/>
        </p:nvSpPr>
        <p:spPr>
          <a:xfrm>
            <a:off x="2084831" y="5524189"/>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Block Pricing</a:t>
            </a:r>
          </a:p>
        </p:txBody>
      </p:sp>
      <p:sp>
        <p:nvSpPr>
          <p:cNvPr id="35" name="Oval 34"/>
          <p:cNvSpPr/>
          <p:nvPr/>
        </p:nvSpPr>
        <p:spPr>
          <a:xfrm>
            <a:off x="1051560" y="59710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5</a:t>
            </a:r>
          </a:p>
        </p:txBody>
      </p:sp>
      <p:sp>
        <p:nvSpPr>
          <p:cNvPr id="36" name="Rounded Rectangle 35"/>
          <p:cNvSpPr/>
          <p:nvPr/>
        </p:nvSpPr>
        <p:spPr>
          <a:xfrm>
            <a:off x="10332720" y="603049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9</a:t>
            </a:r>
          </a:p>
        </p:txBody>
      </p: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41" name="TextBox 40"/>
          <p:cNvSpPr txBox="1"/>
          <p:nvPr/>
        </p:nvSpPr>
        <p:spPr>
          <a:xfrm>
            <a:off x="11475720" y="6583680"/>
            <a:ext cx="502920" cy="292608"/>
          </a:xfrm>
          <a:prstGeom prst="rect">
            <a:avLst/>
          </a:prstGeom>
          <a:noFill/>
        </p:spPr>
        <p:txBody>
          <a:bodyPr wrap="none" lIns="0" tIns="0" rIns="0" bIns="0">
            <a:spAutoFit/>
          </a:bodyPr>
          <a:lstStyle/>
          <a:p>
            <a:pPr algn="r"/>
            <a:fld id="{EE7A44E1-3B49-5FD8-ABEA-DC399809A862}" type="slidenum">
              <a:rPr lang="en-US" sz="1200" dirty="0">
                <a:solidFill>
                  <a:srgbClr val="555B66"/>
                </a:solidFill>
                <a:latin typeface="Calibri"/>
              </a:rPr>
              <a:t>2</a:t>
            </a:fld>
            <a:endParaRPr lang="en-US" sz="1200" dirty="0">
              <a:solidFill>
                <a:srgbClr val="555B66"/>
              </a:solidFill>
              <a:latin typeface="Calibri"/>
            </a:endParaRPr>
          </a:p>
        </p:txBody>
      </p:sp>
      <p:sp>
        <p:nvSpPr>
          <p:cNvPr id="37" name="TextBox 36"/>
          <p:cNvSpPr txBox="1"/>
          <p:nvPr/>
        </p:nvSpPr>
        <p:spPr>
          <a:xfrm>
            <a:off x="1874519" y="6054541"/>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Summary of Pricing Strategies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6 · Flat Fee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Context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5047488" cy="4892040"/>
          </a:xfrm>
          <a:prstGeom prst="rect">
            <a:avLst/>
          </a:prstGeom>
          <a:noFill/>
        </p:spPr>
        <p:txBody>
          <a:bodyPr wrap="square" lIns="0" tIns="0" rIns="0" bIns="0" anchor="ctr">
            <a:no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So far: we had different consumers with different demand curves (marginal personal value)</a:t>
            </a:r>
          </a:p>
          <a:p>
            <a:pPr lvl="1" algn="l"/>
            <a:r>
              <a:rPr>
                <a:latin typeface="Calibri"/>
              </a:rPr>
              <a:t>Extract surplus via direct / indirect price discrimination</a:t>
            </a:r>
          </a:p>
          <a:p>
            <a:pPr algn="l"/>
            <a:r>
              <a:rPr>
                <a:latin typeface="Calibri"/>
              </a:rPr>
              <a:t>Now: consumers have identical demand curves, but each of them purchases </a:t>
            </a:r>
            <a:r>
              <a:rPr b="1">
                <a:solidFill>
                  <a:srgbClr val="A2162A"/>
                </a:solidFill>
                <a:latin typeface="Calibri"/>
              </a:rPr>
              <a:t>multiple units </a:t>
            </a:r>
            <a:r>
              <a:rPr>
                <a:latin typeface="Calibri"/>
              </a:rPr>
              <a:t>of the product</a:t>
            </a:r>
          </a:p>
          <a:p>
            <a:pPr lvl="1" algn="l"/>
            <a:r>
              <a:rPr>
                <a:latin typeface="Calibri"/>
              </a:rPr>
              <a:t>We will focus on a “</a:t>
            </a:r>
            <a:r>
              <a:rPr b="1">
                <a:solidFill>
                  <a:srgbClr val="A2162A"/>
                </a:solidFill>
                <a:latin typeface="Calibri"/>
              </a:rPr>
              <a:t>representative consumer</a:t>
            </a:r>
            <a:r>
              <a:rPr>
                <a:latin typeface="Calibri"/>
              </a:rPr>
              <a:t>”</a:t>
            </a:r>
          </a:p>
        </p:txBody>
      </p:sp>
      <p:pic>
        <p:nvPicPr>
          <p:cNvPr id="8" name="Picture 7" descr="NV_s58_img2.png"/>
          <p:cNvPicPr>
            <a:picLocks noChangeAspect="1"/>
          </p:cNvPicPr>
          <p:nvPr/>
        </p:nvPicPr>
        <p:blipFill>
          <a:blip r:embed="rId3"/>
          <a:stretch>
            <a:fillRect/>
          </a:stretch>
        </p:blipFill>
        <p:spPr>
          <a:xfrm>
            <a:off x="5632704" y="2121408"/>
            <a:ext cx="6455664" cy="3603161"/>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AB707137-F7EE-5E7D-AC74-68ACA2259F27}"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6 · Flat Fee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Advanced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7114032" cy="4892040"/>
          </a:xfrm>
          <a:prstGeom prst="rect">
            <a:avLst/>
          </a:prstGeom>
          <a:noFill/>
        </p:spPr>
        <p:txBody>
          <a:bodyPr wrap="square" lIns="0" tIns="0" rIns="0" bIns="0" anchor="ctr">
            <a:noAutofit/>
          </a:bodyPr>
          <a:lstStyle>
            <a:lvl1pPr marL="342900" indent="-342900">
              <a:spcBef>
                <a:spcPts val="13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dirty="0">
                <a:latin typeface="Calibri"/>
              </a:rPr>
              <a:t>How to extract consumer surplus from a given consumer who is prepared to buy multiple units</a:t>
            </a:r>
          </a:p>
          <a:p>
            <a:pPr lvl="1" algn="l"/>
            <a:r>
              <a:rPr dirty="0">
                <a:solidFill>
                  <a:srgbClr val="A2162A"/>
                </a:solidFill>
                <a:latin typeface="Calibri"/>
              </a:rPr>
              <a:t>Diminishing marginal personal value comes into play</a:t>
            </a:r>
          </a:p>
          <a:p>
            <a:pPr algn="l"/>
            <a:r>
              <a:rPr dirty="0">
                <a:latin typeface="Calibri"/>
              </a:rPr>
              <a:t>We will study three variants of advanced pricing</a:t>
            </a:r>
          </a:p>
          <a:p>
            <a:pPr lvl="1" algn="l"/>
            <a:r>
              <a:rPr dirty="0">
                <a:latin typeface="Calibri"/>
              </a:rPr>
              <a:t>All-or-none offers (flat fee)</a:t>
            </a:r>
          </a:p>
          <a:p>
            <a:pPr lvl="1" algn="l"/>
            <a:r>
              <a:rPr dirty="0">
                <a:latin typeface="Calibri"/>
              </a:rPr>
              <a:t>Two-part tariffs (flat fee + usage fee)</a:t>
            </a:r>
          </a:p>
          <a:p>
            <a:pPr lvl="1" algn="l"/>
            <a:r>
              <a:rPr dirty="0">
                <a:latin typeface="Calibri"/>
              </a:rPr>
              <a:t>Block pricing</a:t>
            </a:r>
          </a:p>
        </p:txBody>
      </p:sp>
      <p:pic>
        <p:nvPicPr>
          <p:cNvPr id="8" name="Picture 7" descr="NV_s59_advanced.png"/>
          <p:cNvPicPr>
            <a:picLocks noChangeAspect="1"/>
          </p:cNvPicPr>
          <p:nvPr/>
        </p:nvPicPr>
        <p:blipFill>
          <a:blip r:embed="rId3"/>
          <a:stretch>
            <a:fillRect/>
          </a:stretch>
        </p:blipFill>
        <p:spPr>
          <a:xfrm>
            <a:off x="7370064" y="2395728"/>
            <a:ext cx="4608576" cy="2572228"/>
          </a:xfrm>
          <a:prstGeom prst="roundRect">
            <a:avLst>
              <a:gd name="adj" fmla="val 8000"/>
            </a:avLst>
          </a:prstGeom>
          <a:effectLst>
            <a:outerShdw blurRad="50800" dist="38100" dir="2700000" algn="tl" rotWithShape="0">
              <a:srgbClr val="000000">
                <a:alpha val="50000"/>
              </a:srgbClr>
            </a:outerShdw>
          </a:effectLst>
        </p:spPr>
      </p:pic>
      <p:sp>
        <p:nvSpPr>
          <p:cNvPr id="9" name="Rounded Rectangle 8"/>
          <p:cNvSpPr/>
          <p:nvPr/>
        </p:nvSpPr>
        <p:spPr>
          <a:xfrm>
            <a:off x="5577841" y="4242816"/>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6</a:t>
            </a:r>
          </a:p>
        </p:txBody>
      </p:sp>
      <p:sp>
        <p:nvSpPr>
          <p:cNvPr id="10" name="Rounded Rectangle 9"/>
          <p:cNvSpPr/>
          <p:nvPr/>
        </p:nvSpPr>
        <p:spPr>
          <a:xfrm>
            <a:off x="5577841" y="4636008"/>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dirty="0">
                <a:solidFill>
                  <a:srgbClr val="0B2B4E"/>
                </a:solidFill>
                <a:latin typeface="Calibri"/>
              </a:rPr>
              <a:t>Video 7</a:t>
            </a:r>
          </a:p>
        </p:txBody>
      </p:sp>
      <p:sp>
        <p:nvSpPr>
          <p:cNvPr id="11" name="Rounded Rectangle 10"/>
          <p:cNvSpPr/>
          <p:nvPr/>
        </p:nvSpPr>
        <p:spPr>
          <a:xfrm>
            <a:off x="5577841" y="5020056"/>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8</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5F820920-0CE3-5A0E-8143-66704159DDCE}"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6 · Flat Fee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Example: Netflix Flat Fee (Assume MC = 0)</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960120" y="1344167"/>
            <a:ext cx="0" cy="464515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960120" y="5989320"/>
            <a:ext cx="51937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680466" y="1211579"/>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0" name="sdaxistitle:x"/>
          <p:cNvSpPr txBox="1"/>
          <p:nvPr/>
        </p:nvSpPr>
        <p:spPr>
          <a:xfrm>
            <a:off x="5255323" y="6035040"/>
            <a:ext cx="1797177" cy="265176"/>
          </a:xfrm>
          <a:prstGeom prst="rect">
            <a:avLst/>
          </a:prstGeom>
          <a:noFill/>
        </p:spPr>
        <p:txBody>
          <a:bodyPr wrap="square" lIns="0" tIns="0" rIns="0" bIns="0">
            <a:spAutoFit/>
          </a:bodyPr>
          <a:lstStyle/>
          <a:p>
            <a:pPr algn="l"/>
            <a:r>
              <a:rPr sz="1800" b="1" i="1" u="none" dirty="0">
                <a:solidFill>
                  <a:srgbClr val="0B2B4E"/>
                </a:solidFill>
                <a:latin typeface="Calibri"/>
              </a:rPr>
              <a:t>Movies per month</a:t>
            </a:r>
          </a:p>
        </p:txBody>
      </p:sp>
      <p:grpSp>
        <p:nvGrpSpPr>
          <p:cNvPr id="123" name="sdpair:sdreglab:f930f94e"/>
          <p:cNvGrpSpPr/>
          <p:nvPr/>
        </p:nvGrpSpPr>
        <p:grpSpPr>
          <a:xfrm>
            <a:off x="960120" y="2255519"/>
            <a:ext cx="4023360" cy="3733801"/>
            <a:chOff x="960120" y="2255519"/>
            <a:chExt cx="4023360" cy="3733801"/>
          </a:xfrm>
        </p:grpSpPr>
        <p:sp>
          <p:nvSpPr>
            <p:cNvPr id="11" name="sdregion:f930f94e"/>
            <p:cNvSpPr/>
            <p:nvPr/>
          </p:nvSpPr>
          <p:spPr>
            <a:xfrm>
              <a:off x="960120" y="2255519"/>
              <a:ext cx="4023360" cy="3733801"/>
            </a:xfrm>
            <a:custGeom>
              <a:avLst/>
              <a:gdLst/>
              <a:ahLst/>
              <a:cxnLst/>
              <a:rect l="0" t="0" r="r" b="b"/>
              <a:pathLst>
                <a:path w="4023360" h="3733801">
                  <a:moveTo>
                    <a:pt x="0" y="0"/>
                  </a:moveTo>
                  <a:lnTo>
                    <a:pt x="0" y="3733801"/>
                  </a:lnTo>
                  <a:lnTo>
                    <a:pt x="4023360" y="3733801"/>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dreglab:f930f94e"/>
            <p:cNvSpPr txBox="1"/>
            <p:nvPr/>
          </p:nvSpPr>
          <p:spPr>
            <a:xfrm>
              <a:off x="1179422" y="5001272"/>
              <a:ext cx="1653540" cy="325755"/>
            </a:xfrm>
            <a:prstGeom prst="rect">
              <a:avLst/>
            </a:prstGeom>
            <a:noFill/>
          </p:spPr>
          <p:txBody>
            <a:bodyPr wrap="square" lIns="0" tIns="0" rIns="0" bIns="0">
              <a:spAutoFit/>
            </a:bodyPr>
            <a:lstStyle/>
            <a:p>
              <a:pPr algn="ctr"/>
              <a:r>
                <a:rPr sz="1900" b="1" i="0" u="none">
                  <a:solidFill>
                    <a:srgbClr val="0B2B4E"/>
                  </a:solidFill>
                  <a:latin typeface="Calibri"/>
                </a:rPr>
                <a:t>Revenues = $24</a:t>
              </a:r>
            </a:p>
          </p:txBody>
        </p:sp>
      </p:grpSp>
      <p:grpSp>
        <p:nvGrpSpPr>
          <p:cNvPr id="25" name="Group 24">
            <a:extLst>
              <a:ext uri="{FF2B5EF4-FFF2-40B4-BE49-F238E27FC236}">
                <a16:creationId xmlns:a16="http://schemas.microsoft.com/office/drawing/2014/main" id="{F2073D53-11C6-59AA-B98D-98DFDDF73580}"/>
              </a:ext>
            </a:extLst>
          </p:cNvPr>
          <p:cNvGrpSpPr/>
          <p:nvPr/>
        </p:nvGrpSpPr>
        <p:grpSpPr>
          <a:xfrm>
            <a:off x="585216" y="1597217"/>
            <a:ext cx="4549140" cy="4721286"/>
            <a:chOff x="585216" y="1597217"/>
            <a:chExt cx="4549140" cy="4721286"/>
          </a:xfrm>
        </p:grpSpPr>
        <p:grpSp>
          <p:nvGrpSpPr>
            <p:cNvPr id="24" name="Group 23">
              <a:extLst>
                <a:ext uri="{FF2B5EF4-FFF2-40B4-BE49-F238E27FC236}">
                  <a16:creationId xmlns:a16="http://schemas.microsoft.com/office/drawing/2014/main" id="{87BB9AF2-2571-7B89-5D4D-212CD8822571}"/>
                </a:ext>
              </a:extLst>
            </p:cNvPr>
            <p:cNvGrpSpPr/>
            <p:nvPr/>
          </p:nvGrpSpPr>
          <p:grpSpPr>
            <a:xfrm>
              <a:off x="585216" y="2118359"/>
              <a:ext cx="4549140" cy="4200144"/>
              <a:chOff x="585216" y="2118359"/>
              <a:chExt cx="4549140" cy="4200144"/>
            </a:xfrm>
          </p:grpSpPr>
          <p:cxnSp>
            <p:nvCxnSpPr>
              <p:cNvPr id="12" name="Connector 11"/>
              <p:cNvCxnSpPr/>
              <p:nvPr/>
            </p:nvCxnSpPr>
            <p:spPr>
              <a:xfrm>
                <a:off x="960120" y="2255519"/>
                <a:ext cx="4023360" cy="3733801"/>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631436" y="5320283"/>
                <a:ext cx="235077" cy="292608"/>
              </a:xfrm>
              <a:prstGeom prst="rect">
                <a:avLst/>
              </a:prstGeom>
              <a:noFill/>
            </p:spPr>
            <p:txBody>
              <a:bodyPr wrap="square" lIns="0" tIns="0" rIns="0" bIns="0">
                <a:spAutoFit/>
              </a:bodyPr>
              <a:lstStyle/>
              <a:p>
                <a:pPr algn="l"/>
                <a:r>
                  <a:rPr sz="2000" b="1" i="1" u="none" dirty="0">
                    <a:solidFill>
                      <a:srgbClr val="A2162A"/>
                    </a:solidFill>
                    <a:latin typeface="Calibri"/>
                  </a:rPr>
                  <a:t>D</a:t>
                </a:r>
              </a:p>
            </p:txBody>
          </p:sp>
          <p:sp>
            <p:nvSpPr>
              <p:cNvPr id="15" name="TextBox 14"/>
              <p:cNvSpPr txBox="1"/>
              <p:nvPr/>
            </p:nvSpPr>
            <p:spPr>
              <a:xfrm>
                <a:off x="585216" y="2118359"/>
                <a:ext cx="301752" cy="274320"/>
              </a:xfrm>
              <a:prstGeom prst="rect">
                <a:avLst/>
              </a:prstGeom>
              <a:noFill/>
            </p:spPr>
            <p:txBody>
              <a:bodyPr wrap="square" lIns="0" tIns="0" rIns="0" bIns="0">
                <a:spAutoFit/>
              </a:bodyPr>
              <a:lstStyle/>
              <a:p>
                <a:pPr algn="r"/>
                <a:r>
                  <a:rPr sz="1800" b="0" i="1" u="none">
                    <a:solidFill>
                      <a:srgbClr val="0B2B4E"/>
                    </a:solidFill>
                    <a:latin typeface="Calibri"/>
                  </a:rPr>
                  <a:t>$4</a:t>
                </a:r>
              </a:p>
            </p:txBody>
          </p:sp>
          <p:sp>
            <p:nvSpPr>
              <p:cNvPr id="16" name="TextBox 15"/>
              <p:cNvSpPr txBox="1"/>
              <p:nvPr/>
            </p:nvSpPr>
            <p:spPr>
              <a:xfrm>
                <a:off x="4832604" y="6044183"/>
                <a:ext cx="301752" cy="274320"/>
              </a:xfrm>
              <a:prstGeom prst="rect">
                <a:avLst/>
              </a:prstGeom>
              <a:noFill/>
            </p:spPr>
            <p:txBody>
              <a:bodyPr wrap="square" lIns="0" tIns="0" rIns="0" bIns="0">
                <a:spAutoFit/>
              </a:bodyPr>
              <a:lstStyle/>
              <a:p>
                <a:pPr algn="ctr"/>
                <a:r>
                  <a:rPr sz="1800" b="0" i="1" u="none">
                    <a:solidFill>
                      <a:srgbClr val="0B2B4E"/>
                    </a:solidFill>
                    <a:latin typeface="Calibri"/>
                  </a:rPr>
                  <a:t>12</a:t>
                </a:r>
              </a:p>
            </p:txBody>
          </p:sp>
        </p:grpSp>
        <mc:AlternateContent xmlns:mc="http://schemas.openxmlformats.org/markup-compatibility/2006">
          <mc:Choice xmlns:a14="http://schemas.microsoft.com/office/drawing/2010/main" Requires="a14">
            <p:sp>
              <p:nvSpPr>
                <p:cNvPr id="17" name="TextBox 16"/>
                <p:cNvSpPr txBox="1"/>
                <p:nvPr/>
              </p:nvSpPr>
              <p:spPr>
                <a:xfrm>
                  <a:off x="1287018" y="1597217"/>
                  <a:ext cx="2103120" cy="728341"/>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r>
                          <a:rPr lang="en-US" sz="2200" b="0" i="1" smtClean="0">
                            <a:solidFill>
                              <a:srgbClr val="C00000"/>
                            </a:solidFill>
                            <a:latin typeface="Cambria Math"/>
                            <a:ea typeface="Cambria Math"/>
                          </a:rPr>
                          <m:t>𝑃</m:t>
                        </m:r>
                        <m:r>
                          <a:rPr lang="en-US" sz="2200" b="0" i="0">
                            <a:solidFill>
                              <a:srgbClr val="C00000"/>
                            </a:solidFill>
                            <a:latin typeface="Cambria Math"/>
                          </a:rPr>
                          <m:t> = 4 − </m:t>
                        </m:r>
                        <m:f>
                          <m:fPr>
                            <m:ctrlPr>
                              <a:rPr lang="en-US" sz="2200" b="0" i="1">
                                <a:solidFill>
                                  <a:srgbClr val="C00000"/>
                                </a:solidFill>
                                <a:latin typeface="Cambria Math"/>
                                <a:ea typeface="Cambria Math"/>
                              </a:rPr>
                            </m:ctrlPr>
                          </m:fPr>
                          <m:num>
                            <m:r>
                              <a:rPr lang="en-US" sz="2200" b="0" i="1">
                                <a:solidFill>
                                  <a:srgbClr val="C00000"/>
                                </a:solidFill>
                                <a:latin typeface="Cambria Math"/>
                                <a:ea typeface="Cambria Math"/>
                              </a:rPr>
                              <m:t>𝑄</m:t>
                            </m:r>
                          </m:num>
                          <m:den>
                            <m:r>
                              <a:rPr lang="en-US" sz="2200" b="0" i="0">
                                <a:solidFill>
                                  <a:srgbClr val="C00000"/>
                                </a:solidFill>
                                <a:latin typeface="Cambria Math"/>
                              </a:rPr>
                              <m:t>3</m:t>
                            </m:r>
                          </m:den>
                        </m:f>
                      </m:oMath>
                    </m:oMathPara>
                  </a14:m>
                  <a:endParaRPr lang="en-US" sz="2200" dirty="0">
                    <a:solidFill>
                      <a:srgbClr val="C00000"/>
                    </a:solidFill>
                  </a:endParaRPr>
                </a:p>
              </p:txBody>
            </p:sp>
          </mc:Choice>
          <mc:Fallback>
            <p:sp>
              <p:nvSpPr>
                <p:cNvPr id="17" name="TextBox 16"/>
                <p:cNvSpPr txBox="1">
                  <a:spLocks noRot="1" noChangeAspect="1" noMove="1" noResize="1" noEditPoints="1" noAdjustHandles="1" noChangeArrowheads="1" noChangeShapeType="1" noTextEdit="1"/>
                </p:cNvSpPr>
                <p:nvPr/>
              </p:nvSpPr>
              <p:spPr>
                <a:xfrm>
                  <a:off x="1287018" y="1597217"/>
                  <a:ext cx="2103120" cy="728341"/>
                </a:xfrm>
                <a:prstGeom prst="rect">
                  <a:avLst/>
                </a:prstGeom>
                <a:blipFill>
                  <a:blip r:embed="rId3"/>
                  <a:stretch>
                    <a:fillRect/>
                  </a:stretch>
                </a:blipFill>
              </p:spPr>
              <p:txBody>
                <a:bodyPr/>
                <a:lstStyle/>
                <a:p>
                  <a:r>
                    <a:rPr lang="en-US">
                      <a:noFill/>
                    </a:rPr>
                    <a:t> </a:t>
                  </a:r>
                </a:p>
              </p:txBody>
            </p:sp>
          </mc:Fallback>
        </mc:AlternateContent>
      </p:grpSp>
      <p:sp>
        <p:nvSpPr>
          <p:cNvPr id="18" name="Right Triangle 17"/>
          <p:cNvSpPr/>
          <p:nvPr/>
        </p:nvSpPr>
        <p:spPr>
          <a:xfrm>
            <a:off x="6217920" y="1819656"/>
            <a:ext cx="310896" cy="219456"/>
          </a:xfrm>
          <a:prstGeom prst="rtTriangle">
            <a:avLst/>
          </a:prstGeom>
          <a:solidFill>
            <a:srgbClr val="E09F3E">
              <a:alpha val="2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56832" y="1737360"/>
            <a:ext cx="5093208" cy="3840480"/>
          </a:xfrm>
          <a:prstGeom prst="rect">
            <a:avLst/>
          </a:prstGeom>
          <a:noFill/>
        </p:spPr>
        <p:txBody>
          <a:bodyPr wrap="square" lIns="0" tIns="0" rIns="0" bIns="0">
            <a:noAutofit/>
          </a:bodyPr>
          <a:lstStyle>
            <a:lvl1pPr marL="342900" indent="-342900">
              <a:spcBef>
                <a:spcPts val="13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dirty="0">
                <a:solidFill>
                  <a:srgbClr val="0B2B4E"/>
                </a:solidFill>
                <a:latin typeface="Calibri"/>
              </a:rPr>
              <a:t>Triangle = total value of unlimited movies for the consumer = the maximum fee Netflix can charge</a:t>
            </a:r>
          </a:p>
          <a:p>
            <a:pPr algn="l"/>
            <a:r>
              <a:rPr dirty="0">
                <a:latin typeface="Calibri"/>
              </a:rPr>
              <a:t>Area = (12 × 4)/2 = 24</a:t>
            </a:r>
          </a:p>
          <a:p>
            <a:pPr algn="l"/>
            <a:r>
              <a:rPr dirty="0">
                <a:latin typeface="Calibri"/>
              </a:rPr>
              <a:t>With a $24 flat fee for unlimited access, Netflix can attain $24 revenue — twice as much as under simple pricing</a:t>
            </a:r>
          </a:p>
          <a:p>
            <a:pPr algn="l"/>
            <a:r>
              <a:rPr dirty="0">
                <a:latin typeface="Calibri"/>
              </a:rPr>
              <a:t>The consumer will watch 12 movies a month under this fixed-fee-unlimited-access system</a:t>
            </a:r>
          </a:p>
          <a:p>
            <a:pPr algn="l"/>
            <a:r>
              <a:rPr dirty="0">
                <a:latin typeface="Calibri"/>
              </a:rPr>
              <a:t>Consumer surplus in this case = 0</a:t>
            </a:r>
          </a:p>
          <a:p>
            <a:pPr algn="l"/>
            <a:r>
              <a:rPr dirty="0">
                <a:latin typeface="Calibri"/>
              </a:rPr>
              <a:t>Note: only makes sense when MC = 0</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23" name="TextBox 22"/>
          <p:cNvSpPr txBox="1"/>
          <p:nvPr/>
        </p:nvSpPr>
        <p:spPr>
          <a:xfrm>
            <a:off x="11475720" y="6583680"/>
            <a:ext cx="502920" cy="292608"/>
          </a:xfrm>
          <a:prstGeom prst="rect">
            <a:avLst/>
          </a:prstGeom>
          <a:noFill/>
        </p:spPr>
        <p:txBody>
          <a:bodyPr wrap="none" lIns="0" tIns="0" rIns="0" bIns="0">
            <a:spAutoFit/>
          </a:bodyPr>
          <a:lstStyle/>
          <a:p>
            <a:pPr algn="r"/>
            <a:fld id="{0F6C8757-91A0-56B1-BB2E-C8D834533948}"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6 · Flat Fee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Netflix Pricing Strategy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4" name="Group pair 114"/>
          <p:cNvGrpSpPr/>
          <p:nvPr/>
        </p:nvGrpSpPr>
        <p:grpSpPr>
          <a:xfrm>
            <a:off x="429768" y="1307592"/>
            <a:ext cx="8595360" cy="4297680"/>
            <a:chOff x="429768" y="1307592"/>
            <a:chExt cx="8595360" cy="4297680"/>
          </a:xfrm>
        </p:grpSpPr>
        <p:sp>
          <p:nvSpPr>
            <p:cNvPr id="7" name="Rectangle 6"/>
            <p:cNvSpPr/>
            <p:nvPr/>
          </p:nvSpPr>
          <p:spPr>
            <a:xfrm>
              <a:off x="429768" y="1307592"/>
              <a:ext cx="8595360" cy="42976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566928" y="1444752"/>
            <a:ext cx="8321040" cy="4151376"/>
          </p:xfrm>
          <a:graphic>
            <a:graphicData uri="http://schemas.openxmlformats.org/drawingml/2006/table">
              <a:tbl>
                <a:tblPr/>
                <a:tblGrid>
                  <a:gridCol w="39319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02336">
                  <a:tc>
                    <a:txBody>
                      <a:bodyPr/>
                      <a:lstStyle/>
                      <a:p>
                        <a:pPr algn="ctr"/>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500" b="1">
                            <a:solidFill>
                              <a:srgbClr val="FFFFFF"/>
                            </a:solidFill>
                            <a:latin typeface="Calibri"/>
                          </a:rPr>
                          <a:t>Standard with Ads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500" b="1">
                            <a:solidFill>
                              <a:srgbClr val="FFFFFF"/>
                            </a:solidFill>
                            <a:latin typeface="Calibri"/>
                          </a:rPr>
                          <a:t>Standard</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500" b="1">
                            <a:solidFill>
                              <a:srgbClr val="FFFFFF"/>
                            </a:solidFill>
                            <a:latin typeface="Calibri"/>
                          </a:rPr>
                          <a:t>Premium</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402336">
                  <a:tc>
                    <a:txBody>
                      <a:bodyPr/>
                      <a:lstStyle/>
                      <a:p>
                        <a:pPr algn="l"/>
                        <a:r>
                          <a:rPr sz="1400" b="1">
                            <a:solidFill>
                              <a:srgbClr val="0B2B4E"/>
                            </a:solidFill>
                            <a:latin typeface="Calibri"/>
                          </a:rPr>
                          <a:t>Monthly cost (US$)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$8.99</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$19.99</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$26.99</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402336">
                  <a:tc>
                    <a:txBody>
                      <a:bodyPr/>
                      <a:lstStyle/>
                      <a:p>
                        <a:pPr algn="l"/>
                        <a:r>
                          <a:rPr sz="1400" b="1">
                            <a:solidFill>
                              <a:srgbClr val="0B2B4E"/>
                            </a:solidFill>
                            <a:latin typeface="Calibri"/>
                          </a:rPr>
                          <a:t>Screens you can watch at the same time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2</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2</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4</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402336">
                  <a:tc>
                    <a:txBody>
                      <a:bodyPr/>
                      <a:lstStyle/>
                      <a:p>
                        <a:pPr algn="l"/>
                        <a:r>
                          <a:rPr sz="1400" b="1">
                            <a:solidFill>
                              <a:srgbClr val="0B2B4E"/>
                            </a:solidFill>
                            <a:latin typeface="Calibri"/>
                          </a:rPr>
                          <a:t>Devices you can download 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2</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2</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6</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402336">
                  <a:tc>
                    <a:txBody>
                      <a:bodyPr/>
                      <a:lstStyle/>
                      <a:p>
                        <a:pPr algn="l"/>
                        <a:r>
                          <a:rPr sz="1400" b="1">
                            <a:solidFill>
                              <a:srgbClr val="0B2B4E"/>
                            </a:solidFill>
                            <a:latin typeface="Calibri"/>
                          </a:rPr>
                          <a:t>Unlimited movies, TV shows and mobile games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r h="402336">
                  <a:tc>
                    <a:txBody>
                      <a:bodyPr/>
                      <a:lstStyle/>
                      <a:p>
                        <a:pPr algn="l"/>
                        <a:r>
                          <a:rPr sz="1400" b="1">
                            <a:solidFill>
                              <a:srgbClr val="0B2B4E"/>
                            </a:solidFill>
                            <a:latin typeface="Calibri"/>
                          </a:rPr>
                          <a:t>Watch on laptop, TV, phone and tablet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5"/>
                    </a:ext>
                  </a:extLst>
                </a:tr>
                <a:tr h="402336">
                  <a:tc>
                    <a:txBody>
                      <a:bodyPr/>
                      <a:lstStyle/>
                      <a:p>
                        <a:pPr algn="l"/>
                        <a:r>
                          <a:rPr sz="1400" b="1">
                            <a:solidFill>
                              <a:srgbClr val="0B2B4E"/>
                            </a:solidFill>
                            <a:latin typeface="Calibri"/>
                          </a:rPr>
                          <a:t>HD (1080p) available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6"/>
                    </a:ext>
                  </a:extLst>
                </a:tr>
                <a:tr h="402336">
                  <a:tc>
                    <a:txBody>
                      <a:bodyPr/>
                      <a:lstStyle/>
                      <a:p>
                        <a:pPr algn="l"/>
                        <a:r>
                          <a:rPr sz="1400" b="1">
                            <a:solidFill>
                              <a:srgbClr val="0B2B4E"/>
                            </a:solidFill>
                            <a:latin typeface="Calibri"/>
                          </a:rPr>
                          <a:t>Ultra HD (4K) and HDR available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7"/>
                    </a:ext>
                  </a:extLst>
                </a:tr>
                <a:tr h="402336">
                  <a:tc>
                    <a:txBody>
                      <a:bodyPr/>
                      <a:lstStyle/>
                      <a:p>
                        <a:pPr algn="l"/>
                        <a:r>
                          <a:rPr sz="1400" b="1">
                            <a:solidFill>
                              <a:srgbClr val="0B2B4E"/>
                            </a:solidFill>
                            <a:latin typeface="Calibri"/>
                          </a:rPr>
                          <a:t>Ads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yes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8"/>
                    </a:ext>
                  </a:extLst>
                </a:tr>
                <a:tr h="402336">
                  <a:tc>
                    <a:txBody>
                      <a:bodyPr/>
                      <a:lstStyle/>
                      <a:p>
                        <a:pPr algn="l"/>
                        <a:r>
                          <a:rPr sz="1400" b="1">
                            <a:solidFill>
                              <a:srgbClr val="0B2B4E"/>
                            </a:solidFill>
                            <a:latin typeface="Calibri"/>
                          </a:rPr>
                          <a:t>Extra member slots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1</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2</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9"/>
                    </a:ext>
                  </a:extLst>
                </a:tr>
              </a:tbl>
            </a:graphicData>
          </a:graphic>
        </p:graphicFrame>
      </p:grpSp>
      <p:pic>
        <p:nvPicPr>
          <p:cNvPr id="9" name="Picture 8" descr="NV_s08_netflix_tv.png"/>
          <p:cNvPicPr>
            <a:picLocks noChangeAspect="1"/>
          </p:cNvPicPr>
          <p:nvPr/>
        </p:nvPicPr>
        <p:blipFill>
          <a:blip r:embed="rId3"/>
          <a:stretch>
            <a:fillRect/>
          </a:stretch>
        </p:blipFill>
        <p:spPr>
          <a:xfrm>
            <a:off x="9189720" y="1444752"/>
            <a:ext cx="2496312" cy="1725392"/>
          </a:xfrm>
          <a:prstGeom prst="roundRect">
            <a:avLst>
              <a:gd name="adj" fmla="val 8000"/>
            </a:avLst>
          </a:prstGeom>
          <a:effectLst>
            <a:outerShdw blurRad="50800" dist="38100" dir="2700000" algn="tl" rotWithShape="0">
              <a:srgbClr val="000000">
                <a:alpha val="50000"/>
              </a:srgbClr>
            </a:outerShdw>
          </a:effectLst>
        </p:spPr>
      </p:pic>
      <p:sp>
        <p:nvSpPr>
          <p:cNvPr id="10" name="Rounded Rectangle 9"/>
          <p:cNvSpPr/>
          <p:nvPr/>
        </p:nvSpPr>
        <p:spPr>
          <a:xfrm>
            <a:off x="3163824" y="5888736"/>
            <a:ext cx="6025896" cy="411480"/>
          </a:xfrm>
          <a:prstGeom prst="roundRect">
            <a:avLst>
              <a:gd name="adj" fmla="val 16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0B2B4E"/>
                </a:solidFill>
                <a:latin typeface="Calibri"/>
              </a:rPr>
              <a:t>This pricing strategy is a mix of flat fee and versioning</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26C31B40-B3B2-576C-9AE7-BEDF2C7178F0}"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923</Words>
  <Application>Microsoft Office PowerPoint</Application>
  <PresentationFormat>Widescreen</PresentationFormat>
  <Paragraphs>124</Paragraphs>
  <Slides>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12</cp:revision>
  <dcterms:created xsi:type="dcterms:W3CDTF">2013-01-27T09:14:16Z</dcterms:created>
  <dcterms:modified xsi:type="dcterms:W3CDTF">2026-09-24T01:20:27Z</dcterms:modified>
  <cp:category/>
</cp:coreProperties>
</file>