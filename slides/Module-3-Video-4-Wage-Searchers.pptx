
<file path=[Content_Types].xml><?xml version="1.0" encoding="utf-8"?>
<Types xmlns="http://schemas.openxmlformats.org/package/2006/content-types">
  <Default Extension="avi" ContentType="video/x-msvideo"/>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47" r:id="rId2"/>
    <p:sldId id="343" r:id="rId3"/>
    <p:sldId id="280" r:id="rId4"/>
    <p:sldId id="281" r:id="rId5"/>
    <p:sldId id="256" r:id="rId6"/>
    <p:sldId id="25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more wrinkle before we leave the short run. Everything so far assumed the firm can hire as many people as it wants at the going wage. That is fine for a small employer. It is not fine for a firm that is large in its local labor market, or that is bidding for very scarce talent. There the next hire raises the wage for everyone, and the true cost of that hire is well above the wage on the offer letter. That is what a wage searcher faces, and it is what the next few slides work out.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assumption deserves a second look. So far we have treated the wage as a constant that the firm simply takes as given. That is fine for a small firm hiring a few people at the going market rate. But a firm that is large relative to its local labor market can push the wage up when it hires a lot. Think of a regional hospital that needs twenty more specialized surgeons, or a frontier AI lab adding a hundred senior researchers in a single year. They cannot fill those seats at yesterday's wage. They have to bid the wage up. We call such a firm a wage searcher rather than a wage taker, because it effectively faces a wage that rises as it hires more. And that means the true marginal cost of labor is higher than the wage on the offer letter, because hiring one more person can raise what you pay everyone. The next example makes that concrete.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example, one practical wrinkle. When a firm bids up the wage to attract new hires, it usually cannot pay the new people more while keeping the existing staff on the old wage. People find out, and nobody likes being paid less than the person doing the same job right next to them. So the raise tends to spread to the whole team. The broader pattern in the data lines up with this. Larger firms tend to pay more, which is consistent with the wage-search story, though of course other things matter too, like productivity, location, and benefits. Keep that ripple effect in mind for the example coming up.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wage searching looks like when you are the one doing the hiring. Rivian wants a star designer for its next models, and the person it wants sits at BMW. She tells Rivian she would come for 2 million dollars a year. Now look at the second half of the slide. Rivian already has 2 star designers on the payroll, each on 1.5 million. The moment the new designer walks in on 2 million, those 2 are going to want the same. So the question is not what she costs. The question is what the third designer costs Rivian in total. Work that number out before we turn the page.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full cost. The designer herself has to be paid her 2 million. But the 2 designers already at Rivian now move from 1.5 million up to 2 million as well, which is half a million extra each. So the extra wage bill is her 2 million plus 2 times half a million. That comes to 3 million dollars. The marginal cost of the third designer is 3 million, not the 2 million on her contract. That is the wage-searcher point. Rivian is large enough in this very thin market for top automotive designers that its own hiring moves the wage it has to pay everyone. If you are a big buyer of something scarce, your own purchase changes the price, and the decision has to be made on the full cost rather than the sticker price.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avi"/><Relationship Id="rId1" Type="http://schemas.microsoft.com/office/2007/relationships/media" Target="../media/media1.avi"/><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Wage Searchers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4</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Rounded Rectangle 15"/>
          <p:cNvSpPr/>
          <p:nvPr/>
        </p:nvSpPr>
        <p:spPr>
          <a:xfrm>
            <a:off x="822960" y="3477006"/>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8" name="TextBox 17"/>
          <p:cNvSpPr txBox="1"/>
          <p:nvPr/>
        </p:nvSpPr>
        <p:spPr>
          <a:xfrm>
            <a:off x="1874519" y="353187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Wage Searchers</a:t>
            </a:r>
          </a:p>
          <a:p>
            <a:pPr algn="l">
              <a:spcBef>
                <a:spcPts val="0"/>
              </a:spcBef>
              <a:buNone/>
            </a:pPr>
            <a:r>
              <a:rPr sz="2200">
                <a:solidFill>
                  <a:srgbClr val="555B66"/>
                </a:solidFill>
                <a:latin typeface="Calibri"/>
              </a:rPr>
              <a:t>When hiring one more worker bids up the wage for everyone</a:t>
            </a:r>
          </a:p>
        </p:txBody>
      </p:sp>
      <p:sp>
        <p:nvSpPr>
          <p:cNvPr id="19" name="Rounded Rectangle 18"/>
          <p:cNvSpPr/>
          <p:nvPr/>
        </p:nvSpPr>
        <p:spPr>
          <a:xfrm>
            <a:off x="10332720" y="369646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4</a:t>
            </a:r>
          </a:p>
        </p:txBody>
      </p:sp>
      <p:sp>
        <p:nvSpPr>
          <p:cNvPr id="20" name="Oval 19"/>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1" name="TextBox 20"/>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2" name="Rounded Rectangle 21"/>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TextBox 23"/>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5" name="Rounded Rectangle 24"/>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7A9A74B7-DF7F-5EA1-924A-779BB974D1B0}"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Wage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The Case of Wage Searchers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3662541"/>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So far, we've assumed wages are constant</a:t>
            </a:r>
          </a:p>
          <a:p>
            <a:pPr lvl="1" algn="l"/>
            <a:r>
              <a:rPr dirty="0">
                <a:latin typeface="Calibri"/>
              </a:rPr>
              <a:t>Realistic for a small firm hiring at the market wage</a:t>
            </a:r>
          </a:p>
          <a:p>
            <a:pPr algn="l"/>
            <a:r>
              <a:rPr dirty="0">
                <a:latin typeface="Calibri"/>
              </a:rPr>
              <a:t>For a large firm (relative to the local labor market), hiring more workers can push the wage up</a:t>
            </a:r>
          </a:p>
          <a:p>
            <a:pPr lvl="1" algn="l"/>
            <a:r>
              <a:rPr dirty="0">
                <a:latin typeface="Calibri"/>
              </a:rPr>
              <a:t>Example: a local hospital hiring highly specialized surgeons</a:t>
            </a:r>
          </a:p>
          <a:p>
            <a:pPr lvl="1" algn="l"/>
            <a:r>
              <a:rPr dirty="0">
                <a:latin typeface="Calibri"/>
              </a:rPr>
              <a:t>Example: a frontier AI lab adding 100 senior researchers in one year</a:t>
            </a:r>
          </a:p>
          <a:p>
            <a:pPr algn="l"/>
            <a:r>
              <a:rPr dirty="0">
                <a:latin typeface="Calibri"/>
              </a:rPr>
              <a:t>Term:  the firm is a </a:t>
            </a:r>
            <a:r>
              <a:rPr dirty="0">
                <a:solidFill>
                  <a:srgbClr val="C00000"/>
                </a:solidFill>
                <a:latin typeface="Calibri"/>
              </a:rPr>
              <a:t>wage searcher</a:t>
            </a:r>
            <a:r>
              <a:rPr dirty="0">
                <a:latin typeface="Calibri"/>
              </a:rPr>
              <a:t>  (not a wage taker)</a:t>
            </a:r>
          </a:p>
          <a:p>
            <a:pPr lvl="1"/>
            <a:r>
              <a:rPr lang="en-US" dirty="0"/>
              <a:t>The true marginal cost of labor includes the wage-bid-up effect for other workers</a:t>
            </a:r>
          </a:p>
        </p:txBody>
      </p:sp>
      <p:sp>
        <p:nvSpPr>
          <p:cNvPr id="8" name="Rounded Rectangle 7"/>
          <p:cNvSpPr/>
          <p:nvPr/>
        </p:nvSpPr>
        <p:spPr>
          <a:xfrm>
            <a:off x="1938528" y="5600612"/>
            <a:ext cx="8783726" cy="54041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2000" b="1" dirty="0">
                <a:solidFill>
                  <a:srgbClr val="FFFFFF"/>
                </a:solidFill>
                <a:latin typeface="Calibri"/>
              </a:rPr>
              <a:t>For a wage </a:t>
            </a:r>
            <a:r>
              <a:rPr lang="en-US" sz="2000" b="1" dirty="0">
                <a:solidFill>
                  <a:srgbClr val="FFFFFF"/>
                </a:solidFill>
              </a:rPr>
              <a:t>searcher, the wage rate is upward-sloping in employment</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tIns="0" rIns="0" bIns="0">
            <a:spAutoFit/>
          </a:bodyPr>
          <a:lstStyle/>
          <a:p>
            <a:pPr algn="r"/>
            <a:fld id="{8FC7CB15-3E2C-4DA9-AE92-9DA7355ED9D2}"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Wage Searchers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Wage Searcher: Nobody Likes Being Treated Unequally…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tIns="0" rIns="0" bIns="0">
            <a:spAutoFit/>
          </a:bodyPr>
          <a:lstStyle/>
          <a:p>
            <a:pPr algn="r"/>
            <a:fld id="{27320F30-B696-42F3-A7F0-00A8BA0FC5DB}" type="slidenum">
              <a:rPr sz="1200" b="0" i="0">
                <a:solidFill>
                  <a:srgbClr val="555B66"/>
                </a:solidFill>
                <a:latin typeface="Calibri"/>
              </a:rPr>
              <a:t>4</a:t>
            </a:fld>
            <a:endParaRPr sz="1200" b="0" i="0">
              <a:solidFill>
                <a:srgbClr val="555B66"/>
              </a:solidFill>
              <a:latin typeface="Calibri"/>
            </a:endParaRPr>
          </a:p>
        </p:txBody>
      </p:sp>
      <p:pic>
        <p:nvPicPr>
          <p:cNvPr id="12" name="Brosnan and de Waal">
            <a:hlinkClick r:id="" action="ppaction://media"/>
            <a:extLst>
              <a:ext uri="{FF2B5EF4-FFF2-40B4-BE49-F238E27FC236}">
                <a16:creationId xmlns:a16="http://schemas.microsoft.com/office/drawing/2014/main" id="{C6BFEB3B-17A3-B3D2-6C49-39EFD1AA17E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120672" y="1304039"/>
            <a:ext cx="8706560" cy="48978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0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Wage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Example:  The Full Cost of a New Rivian Designer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tupBullets"/>
          <p:cNvSpPr txBox="1"/>
          <p:nvPr/>
        </p:nvSpPr>
        <p:spPr>
          <a:xfrm>
            <a:off x="251999" y="1920240"/>
            <a:ext cx="6812280" cy="3474720"/>
          </a:xfrm>
          <a:prstGeom prst="rect">
            <a:avLst/>
          </a:prstGeom>
          <a:noFill/>
        </p:spPr>
        <p:txBody>
          <a:bodyPr wrap="square" lIns="0" tIns="0" rIns="0" bIns="0">
            <a:spAutoFit/>
          </a:bodyPr>
          <a:lstStyle>
            <a:lvl1pPr marL="342900" indent="-342900">
              <a:spcBef>
                <a:spcPts val="3000"/>
              </a:spcBef>
              <a:buClr>
                <a:srgbClr val="0B2B4E"/>
              </a:buClr>
              <a:buFont typeface="Calibri"/>
              <a:buChar char="▪"/>
              <a:defRPr sz="2400" b="0">
                <a:solidFill>
                  <a:srgbClr val="0B2B4E"/>
                </a:solidFill>
                <a:latin typeface="Calibri"/>
              </a:defRPr>
            </a:lvl1pPr>
            <a:lvl2pPr marL="685800" indent="-228600">
              <a:spcBef>
                <a:spcPts val="1000"/>
              </a:spcBef>
              <a:buClr>
                <a:srgbClr val="555B66"/>
              </a:buClr>
              <a:buFont typeface="Calibri"/>
              <a:buChar char="–"/>
              <a:defRPr sz="2200" b="0">
                <a:solidFill>
                  <a:srgbClr val="555B66"/>
                </a:solidFill>
                <a:latin typeface="Calibri"/>
              </a:defRPr>
            </a:lvl2pPr>
          </a:lstStyle>
          <a:p>
            <a:pPr algn="l"/>
            <a:r>
              <a:rPr dirty="0">
                <a:latin typeface="Calibri"/>
              </a:rPr>
              <a:t>Rivian is trying to hire a star designer from BMW for its next models</a:t>
            </a:r>
          </a:p>
          <a:p>
            <a:pPr lvl="1" algn="l"/>
            <a:r>
              <a:rPr dirty="0">
                <a:latin typeface="Calibri"/>
              </a:rPr>
              <a:t>Designer says she’d be willing to join for $2M annual salary</a:t>
            </a:r>
          </a:p>
          <a:p>
            <a:pPr algn="l"/>
            <a:r>
              <a:rPr dirty="0">
                <a:latin typeface="Calibri"/>
              </a:rPr>
              <a:t>Rivian already employs 2 star designers, each earning $1.5M</a:t>
            </a:r>
          </a:p>
          <a:p>
            <a:pPr lvl="1" algn="l"/>
            <a:r>
              <a:rPr dirty="0">
                <a:latin typeface="Calibri"/>
              </a:rPr>
              <a:t>If the new designer is hired, the two existing ones would demand the same salary</a:t>
            </a:r>
          </a:p>
        </p:txBody>
      </p:sp>
      <p:pic>
        <p:nvPicPr>
          <p:cNvPr id="8" name="RivianSketch" descr="_rivian_design_sketch.jpg"/>
          <p:cNvPicPr>
            <a:picLocks noChangeAspect="1"/>
          </p:cNvPicPr>
          <p:nvPr/>
        </p:nvPicPr>
        <p:blipFill>
          <a:blip r:embed="rId3"/>
          <a:stretch>
            <a:fillRect/>
          </a:stretch>
        </p:blipFill>
        <p:spPr>
          <a:xfrm>
            <a:off x="7209678" y="1920240"/>
            <a:ext cx="4587727" cy="2580528"/>
          </a:xfrm>
          <a:prstGeom prst="roundRect">
            <a:avLst>
              <a:gd name="adj" fmla="val 8000"/>
            </a:avLst>
          </a:prstGeom>
          <a:effectLst>
            <a:outerShdw blurRad="50800" dist="38100" dir="2700000" algn="tl" rotWithShape="0">
              <a:srgbClr val="000000">
                <a:alpha val="50000"/>
              </a:srgbClr>
            </a:outerShdw>
          </a:effectLst>
        </p:spPr>
      </p:pic>
      <p:sp>
        <p:nvSpPr>
          <p:cNvPr id="9" name="QuestionBar"/>
          <p:cNvSpPr/>
          <p:nvPr/>
        </p:nvSpPr>
        <p:spPr>
          <a:xfrm>
            <a:off x="437997" y="5813206"/>
            <a:ext cx="5760720" cy="461772"/>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  What is the marginal cost of the 3rd designer?</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47DEE3D2-82DA-5B44-869B-0D4A7F0C0EDC}" type="slidenum">
              <a:rPr lang="en-US" sz="1200" dirty="0">
                <a:solidFill>
                  <a:srgbClr val="555B66"/>
                </a:solidFill>
                <a:latin typeface="Calibri"/>
              </a:rPr>
              <a:t>5</a:t>
            </a:fld>
            <a:endParaRPr lang="en-US" sz="1200" dirty="0">
              <a:solidFill>
                <a:srgbClr val="555B66"/>
              </a:solidFill>
              <a:latin typeface="Calibri"/>
            </a:endParaRPr>
          </a:p>
        </p:txBody>
      </p:sp>
      <p:grpSp>
        <p:nvGrpSpPr>
          <p:cNvPr id="9110" name="PollBreakBadge"/>
          <p:cNvGrpSpPr/>
          <p:nvPr/>
        </p:nvGrpSpPr>
        <p:grpSpPr>
          <a:xfrm>
            <a:off x="9361444" y="6190030"/>
            <a:ext cx="2697480" cy="487009"/>
            <a:chOff x="9361444" y="6190030"/>
            <a:chExt cx="2697480" cy="487009"/>
          </a:xfrm>
        </p:grpSpPr>
        <p:sp>
          <p:nvSpPr>
            <p:cNvPr id="14" name="Rectangle 13"/>
            <p:cNvSpPr/>
            <p:nvPr/>
          </p:nvSpPr>
          <p:spPr>
            <a:xfrm>
              <a:off x="9361444" y="6190030"/>
              <a:ext cx="2697480" cy="487009"/>
            </a:xfrm>
            <a:custGeom>
              <a:avLst/>
              <a:gdLst/>
              <a:ahLst/>
              <a:cxnLst/>
              <a:rect l="24406" t="0" r="75594" b="100000"/>
              <a:pathLst>
                <a:path w="100000" h="100000">
                  <a:moveTo>
                    <a:pt x="29406" y="0"/>
                  </a:moveTo>
                  <a:lnTo>
                    <a:pt x="95000" y="0"/>
                  </a:lnTo>
                  <a:cubicBezTo>
                    <a:pt x="100000" y="0"/>
                    <a:pt x="100000" y="0"/>
                    <a:pt x="98780" y="5000"/>
                  </a:cubicBezTo>
                  <a:lnTo>
                    <a:pt x="76814" y="95000"/>
                  </a:lnTo>
                  <a:cubicBezTo>
                    <a:pt x="75594" y="100000"/>
                    <a:pt x="75594" y="100000"/>
                    <a:pt x="70594" y="100000"/>
                  </a:cubicBezTo>
                  <a:lnTo>
                    <a:pt x="5000" y="100000"/>
                  </a:lnTo>
                  <a:cubicBezTo>
                    <a:pt x="0" y="100000"/>
                    <a:pt x="0" y="100000"/>
                    <a:pt x="1220" y="95000"/>
                  </a:cubicBezTo>
                  <a:lnTo>
                    <a:pt x="23186" y="5000"/>
                  </a:lnTo>
                  <a:cubicBezTo>
                    <a:pt x="24406" y="0"/>
                    <a:pt x="24406" y="0"/>
                    <a:pt x="29406"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Wage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Solution:  Marginal Cost of the 3rd Designer = $3M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olutionBullets"/>
          <p:cNvSpPr txBox="1"/>
          <p:nvPr/>
        </p:nvSpPr>
        <p:spPr>
          <a:xfrm>
            <a:off x="251999" y="1691640"/>
            <a:ext cx="11687697" cy="3017520"/>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The star designer herself is paid  $2M</a:t>
            </a:r>
          </a:p>
          <a:p>
            <a:pPr algn="l"/>
            <a:r>
              <a:rPr dirty="0">
                <a:latin typeface="Calibri"/>
              </a:rPr>
              <a:t>The two existing designers each get a raise of  ($2M − $1.5M) = $0.5M</a:t>
            </a:r>
          </a:p>
          <a:p>
            <a:pPr algn="l"/>
            <a:r>
              <a:rPr dirty="0">
                <a:latin typeface="Calibri"/>
              </a:rPr>
              <a:t>Total extra wage bill:  $2M + 2 × $0.5M</a:t>
            </a:r>
          </a:p>
          <a:p>
            <a:pPr algn="l"/>
            <a:r>
              <a:rPr dirty="0">
                <a:solidFill>
                  <a:srgbClr val="C00000"/>
                </a:solidFill>
                <a:latin typeface="Calibri"/>
              </a:rPr>
              <a:t>Full Marginal Cost of the 3rd designer  =  </a:t>
            </a:r>
            <a:r>
              <a:rPr b="1" dirty="0">
                <a:solidFill>
                  <a:srgbClr val="C00000"/>
                </a:solidFill>
                <a:latin typeface="Calibri"/>
              </a:rPr>
              <a:t>$3M</a:t>
            </a:r>
          </a:p>
        </p:txBody>
      </p:sp>
      <p:sp>
        <p:nvSpPr>
          <p:cNvPr id="8" name="TakeAwayBar"/>
          <p:cNvSpPr/>
          <p:nvPr/>
        </p:nvSpPr>
        <p:spPr>
          <a:xfrm>
            <a:off x="1719986" y="4828032"/>
            <a:ext cx="8879738" cy="502920"/>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B2B4E"/>
                </a:solidFill>
                <a:latin typeface="Calibri"/>
              </a:rPr>
              <a:t>Take-Away:  Big buyers of scarce talent can affect wages  —  factor it in</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1A0A7359-1469-5D61-A9AC-DC87152BC7A8}" type="slidenum">
              <a:rPr lang="en-US" sz="1200" dirty="0">
                <a:solidFill>
                  <a:srgbClr val="555B66"/>
                </a:solidFill>
                <a:latin typeface="Calibri"/>
              </a:rPr>
              <a:t>6</a:t>
            </a:fld>
            <a:endParaRPr lang="en-US" sz="1200" dirty="0">
              <a:solidFill>
                <a:srgbClr val="555B66"/>
              </a:solidFill>
              <a:latin typeface="Calibri"/>
            </a:endParaRPr>
          </a:p>
        </p:txBody>
      </p:sp>
      <p:grpSp>
        <p:nvGrpSpPr>
          <p:cNvPr id="9120" name="PollBreakBadge"/>
          <p:cNvGrpSpPr/>
          <p:nvPr/>
        </p:nvGrpSpPr>
        <p:grpSpPr>
          <a:xfrm>
            <a:off x="9361444" y="6190030"/>
            <a:ext cx="2697480" cy="487009"/>
            <a:chOff x="9361444" y="6190030"/>
            <a:chExt cx="2697480" cy="487009"/>
          </a:xfrm>
        </p:grpSpPr>
        <p:sp>
          <p:nvSpPr>
            <p:cNvPr id="13" name="Rectangle 12"/>
            <p:cNvSpPr/>
            <p:nvPr/>
          </p:nvSpPr>
          <p:spPr>
            <a:xfrm>
              <a:off x="9361444" y="6190030"/>
              <a:ext cx="2697480" cy="487009"/>
            </a:xfrm>
            <a:custGeom>
              <a:avLst/>
              <a:gdLst/>
              <a:ahLst/>
              <a:cxnLst/>
              <a:rect l="24406" t="0" r="75594" b="100000"/>
              <a:pathLst>
                <a:path w="100000" h="100000">
                  <a:moveTo>
                    <a:pt x="29406" y="0"/>
                  </a:moveTo>
                  <a:lnTo>
                    <a:pt x="95000" y="0"/>
                  </a:lnTo>
                  <a:cubicBezTo>
                    <a:pt x="100000" y="0"/>
                    <a:pt x="100000" y="0"/>
                    <a:pt x="98780" y="5000"/>
                  </a:cubicBezTo>
                  <a:lnTo>
                    <a:pt x="76814" y="95000"/>
                  </a:lnTo>
                  <a:cubicBezTo>
                    <a:pt x="75594" y="100000"/>
                    <a:pt x="75594" y="100000"/>
                    <a:pt x="70594" y="100000"/>
                  </a:cubicBezTo>
                  <a:lnTo>
                    <a:pt x="5000" y="100000"/>
                  </a:lnTo>
                  <a:cubicBezTo>
                    <a:pt x="0" y="100000"/>
                    <a:pt x="0" y="100000"/>
                    <a:pt x="1220" y="95000"/>
                  </a:cubicBezTo>
                  <a:lnTo>
                    <a:pt x="23186" y="5000"/>
                  </a:lnTo>
                  <a:cubicBezTo>
                    <a:pt x="24406" y="0"/>
                    <a:pt x="24406" y="0"/>
                    <a:pt x="29406"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TotalTime>
  <Words>1101</Words>
  <Application>Microsoft Office PowerPoint</Application>
  <PresentationFormat>Widescreen</PresentationFormat>
  <Paragraphs>71</Paragraphs>
  <Slides>6</Slides>
  <Notes>5</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49</cp:revision>
  <dcterms:created xsi:type="dcterms:W3CDTF">2013-01-27T09:14:16Z</dcterms:created>
  <dcterms:modified xsi:type="dcterms:W3CDTF">2026-08-27T21:53:36Z</dcterms:modified>
  <cp:category/>
</cp:coreProperties>
</file>