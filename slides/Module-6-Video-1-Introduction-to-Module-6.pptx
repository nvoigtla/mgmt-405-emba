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9" r:id="rId4"/>
    <p:sldId id="260"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63EF34-BBF4-4EE4-A8C7-B7C7750069CA}" type="datetimeFigureOut">
              <a:rPr lang="en-US" smtClean="0"/>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0BAC09-9370-4EA9-BE24-094450873490}" type="slidenum">
              <a:rPr lang="en-US" smtClean="0"/>
              <a:t>‹#›</a:t>
            </a:fld>
            <a:endParaRPr lang="en-US"/>
          </a:p>
        </p:txBody>
      </p:sp>
    </p:spTree>
    <p:extLst>
      <p:ext uri="{BB962C8B-B14F-4D97-AF65-F5344CB8AC3E}">
        <p14:creationId xmlns:p14="http://schemas.microsoft.com/office/powerpoint/2010/main" val="3091923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where we are in the course. We have done the economic way of thinking, then value and demand, then supply and cost. Module 6 sits in the fourth block, markets and pricing strategy, and it is where the demand curve you learned to estimate starts earning its keep: everything today is about turning a demand curve into a pricing decision.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whole module. We start with why one price for everyone leaves money on the table, then work through the three degrees of price discrimination, and finish with the strategies you use when a single customer buys many units. The gold tags on the right tell you which video each topic is in.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12191695" cy="1005840"/>
          </a:xfrm>
          <a:prstGeom prst="rect">
            <a:avLst/>
          </a:prstGeom>
          <a:noFill/>
        </p:spPr>
        <p:txBody>
          <a:bodyPr wrap="square" lIns="0" tIns="0" rIns="0" bIns="0">
            <a:spAutoFit/>
          </a:bodyPr>
          <a:lstStyle/>
          <a:p>
            <a:pPr algn="ctr"/>
            <a:r>
              <a:rPr sz="6000" b="1" i="0" u="none">
                <a:solidFill>
                  <a:srgbClr val="0B2B4E"/>
                </a:solidFill>
                <a:latin typeface="Calibri"/>
              </a:rPr>
              <a:t>Introduction to Module 6</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6  ·  Video 1</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148840"/>
            <a:ext cx="12191695" cy="1097280"/>
          </a:xfrm>
          <a:prstGeom prst="rect">
            <a:avLst/>
          </a:prstGeom>
          <a:noFill/>
        </p:spPr>
        <p:txBody>
          <a:bodyPr wrap="square" lIns="0" tIns="0" rIns="0" bIns="0">
            <a:spAutoFit/>
          </a:bodyPr>
          <a:lstStyle/>
          <a:p>
            <a:pPr algn="ctr"/>
            <a:r>
              <a:rPr sz="6000" b="1" i="0" u="none">
                <a:solidFill>
                  <a:srgbClr val="0B2B4E"/>
                </a:solidFill>
                <a:latin typeface="Calibri"/>
              </a:rPr>
              <a:t>Complex Pricing</a:t>
            </a:r>
          </a:p>
        </p:txBody>
      </p:sp>
      <p:sp>
        <p:nvSpPr>
          <p:cNvPr id="3" name="TextBox 2"/>
          <p:cNvSpPr txBox="1"/>
          <p:nvPr/>
        </p:nvSpPr>
        <p:spPr>
          <a:xfrm>
            <a:off x="0" y="3310128"/>
            <a:ext cx="12191695" cy="731520"/>
          </a:xfrm>
          <a:prstGeom prst="rect">
            <a:avLst/>
          </a:prstGeom>
          <a:noFill/>
        </p:spPr>
        <p:txBody>
          <a:bodyPr wrap="square" lIns="0" tIns="0" rIns="0" bIns="0">
            <a:spAutoFit/>
          </a:bodyPr>
          <a:lstStyle/>
          <a:p>
            <a:pPr algn="ctr"/>
            <a:r>
              <a:rPr sz="4000" b="1" i="0" u="none">
                <a:solidFill>
                  <a:srgbClr val="E09F3E"/>
                </a:solidFill>
                <a:latin typeface="Calibri"/>
              </a:rPr>
              <a:t>Advanced Pricing Strategies</a:t>
            </a:r>
          </a:p>
        </p:txBody>
      </p:sp>
      <p:sp>
        <p:nvSpPr>
          <p:cNvPr id="4" name="Rectangle 3"/>
          <p:cNvSpPr/>
          <p:nvPr/>
        </p:nvSpPr>
        <p:spPr>
          <a:xfrm>
            <a:off x="4267047" y="4224528"/>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535424"/>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5175504"/>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1 · Course Roadmap</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Agenda for the Class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163927" y="1828800"/>
            <a:ext cx="78638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latin typeface="Calibri"/>
              </a:rPr>
              <a:t>1. Basic Principles and Economic Way of Thinking</a:t>
            </a:r>
          </a:p>
        </p:txBody>
      </p:sp>
      <p:sp>
        <p:nvSpPr>
          <p:cNvPr id="8" name="Rounded Rectangle 7"/>
          <p:cNvSpPr/>
          <p:nvPr/>
        </p:nvSpPr>
        <p:spPr>
          <a:xfrm>
            <a:off x="1752447" y="3337560"/>
            <a:ext cx="42062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FFFFFF"/>
                </a:solidFill>
                <a:latin typeface="Calibri"/>
              </a:rPr>
              <a:t>2. Value and Demand</a:t>
            </a:r>
          </a:p>
        </p:txBody>
      </p:sp>
      <p:sp>
        <p:nvSpPr>
          <p:cNvPr id="9" name="Rounded Rectangle 8"/>
          <p:cNvSpPr/>
          <p:nvPr/>
        </p:nvSpPr>
        <p:spPr>
          <a:xfrm>
            <a:off x="6233007" y="3337560"/>
            <a:ext cx="42062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FFFFFF"/>
                </a:solidFill>
                <a:latin typeface="Calibri"/>
              </a:rPr>
              <a:t>3. Supply and Cost</a:t>
            </a:r>
          </a:p>
        </p:txBody>
      </p:sp>
      <p:sp>
        <p:nvSpPr>
          <p:cNvPr id="10" name="Rounded Rectangle 9"/>
          <p:cNvSpPr/>
          <p:nvPr/>
        </p:nvSpPr>
        <p:spPr>
          <a:xfrm>
            <a:off x="2163927" y="5029200"/>
            <a:ext cx="7863840" cy="77724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latin typeface="Calibri"/>
              </a:rPr>
              <a:t>4. Markets, Pricing, and Strategy</a:t>
            </a:r>
          </a:p>
        </p:txBody>
      </p:sp>
      <p:cxnSp>
        <p:nvCxnSpPr>
          <p:cNvPr id="11" name="Connector 10"/>
          <p:cNvCxnSpPr/>
          <p:nvPr/>
        </p:nvCxnSpPr>
        <p:spPr>
          <a:xfrm flipH="1">
            <a:off x="3855567" y="2606040"/>
            <a:ext cx="2240280" cy="73152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2606040"/>
            <a:ext cx="2240280" cy="73152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855567" y="4114800"/>
            <a:ext cx="2240280" cy="91440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6095847" y="4114800"/>
            <a:ext cx="2240280" cy="91440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sp>
        <p:nvSpPr>
          <p:cNvPr id="15" name="Right Arrow 14"/>
          <p:cNvSpPr/>
          <p:nvPr/>
        </p:nvSpPr>
        <p:spPr>
          <a:xfrm>
            <a:off x="1505559" y="5189220"/>
            <a:ext cx="548640" cy="457200"/>
          </a:xfrm>
          <a:prstGeom prst="rightArrow">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239" y="5271516"/>
            <a:ext cx="1325880" cy="292608"/>
          </a:xfrm>
          <a:prstGeom prst="rect">
            <a:avLst/>
          </a:prstGeom>
          <a:noFill/>
        </p:spPr>
        <p:txBody>
          <a:bodyPr wrap="square" lIns="0" tIns="0" rIns="0" bIns="0">
            <a:spAutoFit/>
          </a:bodyPr>
          <a:lstStyle/>
          <a:p>
            <a:pPr algn="r"/>
            <a:r>
              <a:rPr sz="1600" b="1" i="1" u="none">
                <a:solidFill>
                  <a:srgbClr val="E09F3E"/>
                </a:solidFill>
                <a:latin typeface="Calibri"/>
              </a:rPr>
              <a:t>we are here</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20" name="TextBox 19"/>
          <p:cNvSpPr txBox="1"/>
          <p:nvPr/>
        </p:nvSpPr>
        <p:spPr>
          <a:xfrm>
            <a:off x="11475720" y="6583680"/>
            <a:ext cx="502920" cy="292608"/>
          </a:xfrm>
          <a:prstGeom prst="rect">
            <a:avLst/>
          </a:prstGeom>
          <a:noFill/>
        </p:spPr>
        <p:txBody>
          <a:bodyPr wrap="none" lIns="0" tIns="0" rIns="0" bIns="0">
            <a:spAutoFit/>
          </a:bodyPr>
          <a:lstStyle/>
          <a:p>
            <a:pPr algn="r"/>
            <a:fld id="{15B941D9-D594-59B7-AD0C-322EB1EE6C39}" type="slidenum">
              <a:rPr lang="en-US" sz="1200" dirty="0">
                <a:solidFill>
                  <a:srgbClr val="555B66"/>
                </a:solidFill>
                <a:latin typeface="Calibri"/>
              </a:rPr>
              <a:t>3</a:t>
            </a:fld>
            <a:endParaRPr lang="en-US" sz="1200" dirty="0">
              <a:solidFill>
                <a:srgbClr val="555B66"/>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1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6</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298424"/>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0B2B4E"/>
                </a:solidFill>
                <a:latin typeface="Calibri"/>
              </a:rPr>
              <a:t>1</a:t>
            </a:r>
          </a:p>
        </p:txBody>
      </p:sp>
      <p:sp>
        <p:nvSpPr>
          <p:cNvPr id="8" name="Rounded Rectangle 7"/>
          <p:cNvSpPr/>
          <p:nvPr/>
        </p:nvSpPr>
        <p:spPr>
          <a:xfrm>
            <a:off x="10332720" y="1357860"/>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2</a:t>
            </a:r>
          </a:p>
        </p:txBody>
      </p:sp>
      <p:sp>
        <p:nvSpPr>
          <p:cNvPr id="9" name="TextBox 8"/>
          <p:cNvSpPr txBox="1"/>
          <p:nvPr/>
        </p:nvSpPr>
        <p:spPr>
          <a:xfrm>
            <a:off x="1874519" y="1280136"/>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Simple vs. Complex Pricing</a:t>
            </a:r>
          </a:p>
          <a:p>
            <a:pPr algn="l">
              <a:spcBef>
                <a:spcPts val="0"/>
              </a:spcBef>
              <a:buNone/>
            </a:pPr>
            <a:r>
              <a:rPr sz="1600">
                <a:solidFill>
                  <a:srgbClr val="555B66"/>
                </a:solidFill>
                <a:latin typeface="Calibri"/>
              </a:rPr>
              <a:t>The pricing dilemma and why complex pricing pays</a:t>
            </a:r>
          </a:p>
        </p:txBody>
      </p:sp>
      <p:sp>
        <p:nvSpPr>
          <p:cNvPr id="10" name="Oval 9"/>
          <p:cNvSpPr/>
          <p:nvPr/>
        </p:nvSpPr>
        <p:spPr>
          <a:xfrm>
            <a:off x="1051560" y="192021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0B2B4E"/>
                </a:solidFill>
                <a:latin typeface="Calibri"/>
              </a:rPr>
              <a:t>2</a:t>
            </a:r>
          </a:p>
        </p:txBody>
      </p:sp>
      <p:sp>
        <p:nvSpPr>
          <p:cNvPr id="11" name="Rounded Rectangle 10"/>
          <p:cNvSpPr/>
          <p:nvPr/>
        </p:nvSpPr>
        <p:spPr>
          <a:xfrm>
            <a:off x="10332720" y="1908798"/>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Videos 3+4</a:t>
            </a:r>
          </a:p>
        </p:txBody>
      </p:sp>
      <p:sp>
        <p:nvSpPr>
          <p:cNvPr id="12" name="TextBox 11"/>
          <p:cNvSpPr txBox="1"/>
          <p:nvPr/>
        </p:nvSpPr>
        <p:spPr>
          <a:xfrm>
            <a:off x="1874519" y="1901928"/>
            <a:ext cx="8293609" cy="342924"/>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dirty="0">
                <a:solidFill>
                  <a:srgbClr val="0B2B4E"/>
                </a:solidFill>
                <a:latin typeface="Calibri"/>
              </a:rPr>
              <a:t>Direct Price Discrimination</a:t>
            </a:r>
          </a:p>
        </p:txBody>
      </p:sp>
      <p:sp>
        <p:nvSpPr>
          <p:cNvPr id="13" name="Oval 12"/>
          <p:cNvSpPr/>
          <p:nvPr/>
        </p:nvSpPr>
        <p:spPr>
          <a:xfrm>
            <a:off x="1481328" y="2345436"/>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0B2B4E"/>
                </a:solidFill>
                <a:latin typeface="Calibri"/>
              </a:rPr>
              <a:t>2a</a:t>
            </a:r>
          </a:p>
        </p:txBody>
      </p:sp>
      <p:sp>
        <p:nvSpPr>
          <p:cNvPr id="14" name="Rounded Rectangle 13"/>
          <p:cNvSpPr/>
          <p:nvPr/>
        </p:nvSpPr>
        <p:spPr>
          <a:xfrm>
            <a:off x="10707625" y="2368296"/>
            <a:ext cx="1042415"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3</a:t>
            </a:r>
          </a:p>
        </p:txBody>
      </p:sp>
      <p:sp>
        <p:nvSpPr>
          <p:cNvPr id="15" name="TextBox 14"/>
          <p:cNvSpPr txBox="1"/>
          <p:nvPr/>
        </p:nvSpPr>
        <p:spPr>
          <a:xfrm>
            <a:off x="2084831" y="2290572"/>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0B2B4E"/>
                </a:solidFill>
                <a:latin typeface="Calibri"/>
              </a:rPr>
              <a:t>Perfect Price Discrimination (First Degree)</a:t>
            </a:r>
          </a:p>
          <a:p>
            <a:pPr algn="l">
              <a:spcBef>
                <a:spcPts val="0"/>
              </a:spcBef>
              <a:buNone/>
            </a:pPr>
            <a:r>
              <a:rPr sz="1600">
                <a:solidFill>
                  <a:srgbClr val="555B66"/>
                </a:solidFill>
                <a:latin typeface="Calibri"/>
              </a:rPr>
              <a:t>Charging every customer her own willingness to pay</a:t>
            </a:r>
          </a:p>
        </p:txBody>
      </p:sp>
      <p:sp>
        <p:nvSpPr>
          <p:cNvPr id="16" name="Oval 15"/>
          <p:cNvSpPr/>
          <p:nvPr/>
        </p:nvSpPr>
        <p:spPr>
          <a:xfrm>
            <a:off x="1481328" y="2875788"/>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0B2B4E"/>
                </a:solidFill>
                <a:latin typeface="Calibri"/>
              </a:rPr>
              <a:t>2b</a:t>
            </a:r>
          </a:p>
        </p:txBody>
      </p:sp>
      <p:sp>
        <p:nvSpPr>
          <p:cNvPr id="17" name="Rounded Rectangle 16"/>
          <p:cNvSpPr/>
          <p:nvPr/>
        </p:nvSpPr>
        <p:spPr>
          <a:xfrm>
            <a:off x="10707625" y="2898648"/>
            <a:ext cx="1042415"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4</a:t>
            </a:r>
          </a:p>
        </p:txBody>
      </p:sp>
      <p:sp>
        <p:nvSpPr>
          <p:cNvPr id="18" name="TextBox 17"/>
          <p:cNvSpPr txBox="1"/>
          <p:nvPr/>
        </p:nvSpPr>
        <p:spPr>
          <a:xfrm>
            <a:off x="2084831" y="2820924"/>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0B2B4E"/>
                </a:solidFill>
                <a:latin typeface="Calibri"/>
              </a:rPr>
              <a:t>Segment Pricing (Third Degree)</a:t>
            </a:r>
          </a:p>
          <a:p>
            <a:pPr algn="l">
              <a:spcBef>
                <a:spcPts val="0"/>
              </a:spcBef>
              <a:buNone/>
            </a:pPr>
            <a:r>
              <a:rPr sz="1600">
                <a:solidFill>
                  <a:srgbClr val="555B66"/>
                </a:solidFill>
                <a:latin typeface="Calibri"/>
              </a:rPr>
              <a:t>Different prices for groups with different price sensitivity</a:t>
            </a:r>
          </a:p>
        </p:txBody>
      </p:sp>
      <p:sp>
        <p:nvSpPr>
          <p:cNvPr id="19" name="Oval 18"/>
          <p:cNvSpPr/>
          <p:nvPr/>
        </p:nvSpPr>
        <p:spPr>
          <a:xfrm>
            <a:off x="1051560" y="3369564"/>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0B2B4E"/>
                </a:solidFill>
                <a:latin typeface="Calibri"/>
              </a:rPr>
              <a:t>3</a:t>
            </a:r>
          </a:p>
        </p:txBody>
      </p:sp>
      <p:sp>
        <p:nvSpPr>
          <p:cNvPr id="20" name="Rounded Rectangle 19"/>
          <p:cNvSpPr/>
          <p:nvPr/>
        </p:nvSpPr>
        <p:spPr>
          <a:xfrm>
            <a:off x="10332720" y="3429000"/>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5</a:t>
            </a:r>
          </a:p>
        </p:txBody>
      </p:sp>
      <p:sp>
        <p:nvSpPr>
          <p:cNvPr id="21" name="TextBox 20"/>
          <p:cNvSpPr txBox="1"/>
          <p:nvPr/>
        </p:nvSpPr>
        <p:spPr>
          <a:xfrm>
            <a:off x="1874519" y="3351276"/>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Indirect Price Discrimination (Second Degree)</a:t>
            </a:r>
          </a:p>
          <a:p>
            <a:pPr algn="l">
              <a:spcBef>
                <a:spcPts val="0"/>
              </a:spcBef>
              <a:buNone/>
            </a:pPr>
            <a:r>
              <a:rPr sz="1600">
                <a:solidFill>
                  <a:srgbClr val="555B66"/>
                </a:solidFill>
                <a:latin typeface="Calibri"/>
              </a:rPr>
              <a:t>Versioning and coupons let customers sort themselves</a:t>
            </a:r>
          </a:p>
        </p:txBody>
      </p:sp>
      <p:sp>
        <p:nvSpPr>
          <p:cNvPr id="22" name="Oval 21"/>
          <p:cNvSpPr/>
          <p:nvPr/>
        </p:nvSpPr>
        <p:spPr>
          <a:xfrm>
            <a:off x="1051560" y="399135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dirty="0">
                <a:solidFill>
                  <a:srgbClr val="0B2B4E"/>
                </a:solidFill>
                <a:latin typeface="Calibri"/>
              </a:rPr>
              <a:t>4</a:t>
            </a:r>
          </a:p>
        </p:txBody>
      </p:sp>
      <p:sp>
        <p:nvSpPr>
          <p:cNvPr id="23" name="Rounded Rectangle 22"/>
          <p:cNvSpPr/>
          <p:nvPr/>
        </p:nvSpPr>
        <p:spPr>
          <a:xfrm>
            <a:off x="10332720" y="3979938"/>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Videos 6–8</a:t>
            </a:r>
          </a:p>
        </p:txBody>
      </p:sp>
      <p:sp>
        <p:nvSpPr>
          <p:cNvPr id="24" name="TextBox 23"/>
          <p:cNvSpPr txBox="1"/>
          <p:nvPr/>
        </p:nvSpPr>
        <p:spPr>
          <a:xfrm>
            <a:off x="1874519" y="3973068"/>
            <a:ext cx="8293609" cy="342924"/>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Advanced Pricing Strategies</a:t>
            </a:r>
          </a:p>
        </p:txBody>
      </p:sp>
      <p:sp>
        <p:nvSpPr>
          <p:cNvPr id="25" name="Oval 24"/>
          <p:cNvSpPr/>
          <p:nvPr/>
        </p:nvSpPr>
        <p:spPr>
          <a:xfrm>
            <a:off x="1481328" y="4416576"/>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0B2B4E"/>
                </a:solidFill>
                <a:latin typeface="Calibri"/>
              </a:rPr>
              <a:t>4a</a:t>
            </a:r>
          </a:p>
        </p:txBody>
      </p:sp>
      <p:sp>
        <p:nvSpPr>
          <p:cNvPr id="26" name="Rounded Rectangle 25"/>
          <p:cNvSpPr/>
          <p:nvPr/>
        </p:nvSpPr>
        <p:spPr>
          <a:xfrm>
            <a:off x="10707625" y="4439436"/>
            <a:ext cx="1042415"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6</a:t>
            </a:r>
          </a:p>
        </p:txBody>
      </p:sp>
      <p:sp>
        <p:nvSpPr>
          <p:cNvPr id="27" name="TextBox 26"/>
          <p:cNvSpPr txBox="1"/>
          <p:nvPr/>
        </p:nvSpPr>
        <p:spPr>
          <a:xfrm>
            <a:off x="2084831" y="4361712"/>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0B2B4E"/>
                </a:solidFill>
                <a:latin typeface="Calibri"/>
              </a:rPr>
              <a:t>Flat Fee Pricing</a:t>
            </a:r>
          </a:p>
          <a:p>
            <a:pPr algn="l">
              <a:spcBef>
                <a:spcPts val="0"/>
              </a:spcBef>
              <a:buNone/>
            </a:pPr>
            <a:r>
              <a:rPr sz="1600">
                <a:solidFill>
                  <a:srgbClr val="555B66"/>
                </a:solidFill>
                <a:latin typeface="Calibri"/>
              </a:rPr>
              <a:t>Unlimited access for one all-or-nothing fee</a:t>
            </a:r>
          </a:p>
        </p:txBody>
      </p:sp>
      <p:sp>
        <p:nvSpPr>
          <p:cNvPr id="28" name="Oval 27"/>
          <p:cNvSpPr/>
          <p:nvPr/>
        </p:nvSpPr>
        <p:spPr>
          <a:xfrm>
            <a:off x="1481328" y="4946928"/>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0B2B4E"/>
                </a:solidFill>
                <a:latin typeface="Calibri"/>
              </a:rPr>
              <a:t>4b</a:t>
            </a:r>
          </a:p>
        </p:txBody>
      </p:sp>
      <p:sp>
        <p:nvSpPr>
          <p:cNvPr id="29" name="Rounded Rectangle 28"/>
          <p:cNvSpPr/>
          <p:nvPr/>
        </p:nvSpPr>
        <p:spPr>
          <a:xfrm>
            <a:off x="10707625" y="4969788"/>
            <a:ext cx="1042415"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7</a:t>
            </a:r>
          </a:p>
        </p:txBody>
      </p:sp>
      <p:sp>
        <p:nvSpPr>
          <p:cNvPr id="30" name="TextBox 29"/>
          <p:cNvSpPr txBox="1"/>
          <p:nvPr/>
        </p:nvSpPr>
        <p:spPr>
          <a:xfrm>
            <a:off x="2084831" y="4892064"/>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0B2B4E"/>
                </a:solidFill>
                <a:latin typeface="Calibri"/>
              </a:rPr>
              <a:t>Two-Part Tariff</a:t>
            </a:r>
          </a:p>
          <a:p>
            <a:pPr algn="l">
              <a:spcBef>
                <a:spcPts val="0"/>
              </a:spcBef>
              <a:buNone/>
            </a:pPr>
            <a:r>
              <a:rPr sz="1600">
                <a:solidFill>
                  <a:srgbClr val="555B66"/>
                </a:solidFill>
                <a:latin typeface="Calibri"/>
              </a:rPr>
              <a:t>A flat fee plus a usage fee set at marginal cost</a:t>
            </a:r>
          </a:p>
        </p:txBody>
      </p:sp>
      <p:sp>
        <p:nvSpPr>
          <p:cNvPr id="31" name="Oval 30"/>
          <p:cNvSpPr/>
          <p:nvPr/>
        </p:nvSpPr>
        <p:spPr>
          <a:xfrm>
            <a:off x="1481328" y="5477280"/>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0B2B4E"/>
                </a:solidFill>
                <a:latin typeface="Calibri"/>
              </a:rPr>
              <a:t>4c</a:t>
            </a:r>
          </a:p>
        </p:txBody>
      </p:sp>
      <p:sp>
        <p:nvSpPr>
          <p:cNvPr id="32" name="Rounded Rectangle 31"/>
          <p:cNvSpPr/>
          <p:nvPr/>
        </p:nvSpPr>
        <p:spPr>
          <a:xfrm>
            <a:off x="10707625" y="5500140"/>
            <a:ext cx="1042415"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8</a:t>
            </a:r>
          </a:p>
        </p:txBody>
      </p:sp>
      <p:sp>
        <p:nvSpPr>
          <p:cNvPr id="33" name="TextBox 32"/>
          <p:cNvSpPr txBox="1"/>
          <p:nvPr/>
        </p:nvSpPr>
        <p:spPr>
          <a:xfrm>
            <a:off x="2084831" y="5422416"/>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0B2B4E"/>
                </a:solidFill>
                <a:latin typeface="Calibri"/>
              </a:rPr>
              <a:t>Block Pricing</a:t>
            </a:r>
          </a:p>
          <a:p>
            <a:pPr algn="l">
              <a:spcBef>
                <a:spcPts val="0"/>
              </a:spcBef>
              <a:buNone/>
            </a:pPr>
            <a:r>
              <a:rPr sz="1600">
                <a:solidFill>
                  <a:srgbClr val="555B66"/>
                </a:solidFill>
                <a:latin typeface="Calibri"/>
              </a:rPr>
              <a:t>A lower price as the same customer buys more</a:t>
            </a:r>
          </a:p>
        </p:txBody>
      </p:sp>
      <p:sp>
        <p:nvSpPr>
          <p:cNvPr id="34" name="Oval 33"/>
          <p:cNvSpPr/>
          <p:nvPr/>
        </p:nvSpPr>
        <p:spPr>
          <a:xfrm>
            <a:off x="1051560" y="597105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dirty="0">
                <a:solidFill>
                  <a:srgbClr val="0B2B4E"/>
                </a:solidFill>
                <a:latin typeface="Calibri"/>
              </a:rPr>
              <a:t>5</a:t>
            </a:r>
          </a:p>
        </p:txBody>
      </p:sp>
      <p:sp>
        <p:nvSpPr>
          <p:cNvPr id="35" name="Rounded Rectangle 34"/>
          <p:cNvSpPr/>
          <p:nvPr/>
        </p:nvSpPr>
        <p:spPr>
          <a:xfrm>
            <a:off x="10332720" y="6030492"/>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9</a:t>
            </a:r>
          </a:p>
        </p:txBody>
      </p:sp>
      <p:sp>
        <p:nvSpPr>
          <p:cNvPr id="36" name="TextBox 35"/>
          <p:cNvSpPr txBox="1"/>
          <p:nvPr/>
        </p:nvSpPr>
        <p:spPr>
          <a:xfrm>
            <a:off x="1874519" y="5952768"/>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Summary of Pricing Strategies</a:t>
            </a:r>
          </a:p>
          <a:p>
            <a:pPr algn="l">
              <a:spcBef>
                <a:spcPts val="0"/>
              </a:spcBef>
              <a:buNone/>
            </a:pPr>
            <a:r>
              <a:rPr sz="1600">
                <a:solidFill>
                  <a:srgbClr val="555B66"/>
                </a:solidFill>
                <a:latin typeface="Calibri"/>
              </a:rPr>
              <a:t>Which strategy fits which market conditions</a:t>
            </a:r>
          </a:p>
        </p:txBody>
      </p:sp>
      <p:sp>
        <p:nvSpPr>
          <p:cNvPr id="37" name="Rectangle 3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40" name="TextBox 39"/>
          <p:cNvSpPr txBox="1"/>
          <p:nvPr/>
        </p:nvSpPr>
        <p:spPr>
          <a:xfrm>
            <a:off x="11475720" y="6583680"/>
            <a:ext cx="502920" cy="292608"/>
          </a:xfrm>
          <a:prstGeom prst="rect">
            <a:avLst/>
          </a:prstGeom>
          <a:noFill/>
        </p:spPr>
        <p:txBody>
          <a:bodyPr wrap="none" lIns="0" tIns="0" rIns="0" bIns="0">
            <a:spAutoFit/>
          </a:bodyPr>
          <a:lstStyle/>
          <a:p>
            <a:pPr algn="r"/>
            <a:fld id="{93248381-6920-52FA-A239-9A7875F0D053}"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P spid="13" grpId="0" animBg="1"/>
      <p:bldP spid="14" grpId="0" animBg="1"/>
      <p:bldP spid="15" grpId="0"/>
      <p:bldP spid="16" grpId="0" animBg="1"/>
      <p:bldP spid="17" grpId="0" animBg="1"/>
      <p:bldP spid="18" grpId="0"/>
      <p:bldP spid="19" grpId="0" animBg="1"/>
      <p:bldP spid="20" grpId="0" animBg="1"/>
      <p:bldP spid="21" grpId="0"/>
      <p:bldP spid="22" grpId="0" animBg="1"/>
      <p:bldP spid="23" grpId="0" animBg="1"/>
      <p:bldP spid="24" grpId="0"/>
      <p:bldP spid="25" grpId="0" animBg="1"/>
      <p:bldP spid="26" grpId="0" animBg="1"/>
      <p:bldP spid="27" grpId="0"/>
      <p:bldP spid="28" grpId="0" animBg="1"/>
      <p:bldP spid="29" grpId="0" animBg="1"/>
      <p:bldP spid="30" grpId="0"/>
      <p:bldP spid="31" grpId="0" animBg="1"/>
      <p:bldP spid="32" grpId="0" animBg="1"/>
      <p:bldP spid="33" grpId="0"/>
      <p:bldP spid="34" grpId="0" animBg="1"/>
      <p:bldP spid="35" grpId="0" animBg="1"/>
      <p:bldP spid="3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376</Words>
  <Application>Microsoft Office PowerPoint</Application>
  <PresentationFormat>Widescreen</PresentationFormat>
  <Paragraphs>61</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Arial</vt:lpstr>
      <vt:lpstr>Calibri</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4</cp:revision>
  <dcterms:created xsi:type="dcterms:W3CDTF">2013-01-27T09:14:16Z</dcterms:created>
  <dcterms:modified xsi:type="dcterms:W3CDTF">2026-09-23T18:17:25Z</dcterms:modified>
  <cp:category/>
</cp:coreProperties>
</file>