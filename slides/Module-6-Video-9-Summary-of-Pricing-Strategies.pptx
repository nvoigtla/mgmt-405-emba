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337" r:id="rId2"/>
    <p:sldId id="338" r:id="rId3"/>
    <p:sldId id="339"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114"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63EF34-BBF4-4EE4-A8C7-B7C7750069CA}" type="datetimeFigureOut">
              <a:rPr lang="en-US" smtClean="0"/>
              <a:t>9/23/2026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0BAC09-9370-4EA9-BE24-094450873490}" type="slidenum">
              <a:rPr lang="en-US" smtClean="0"/>
              <a:t>‹#›</a:t>
            </a:fld>
            <a:endParaRPr lang="en-US"/>
          </a:p>
        </p:txBody>
      </p:sp>
    </p:spTree>
    <p:extLst>
      <p:ext uri="{BB962C8B-B14F-4D97-AF65-F5344CB8AC3E}">
        <p14:creationId xmlns:p14="http://schemas.microsoft.com/office/powerpoint/2010/main" val="3091923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Last section. We have all the pieces now, so this one is about choosing between them.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tree pulls the whole module together, and it is worth walking down it slowly. No market power and you are a price taker, so there is no pricing strategy to have. Market power but no way to stop resale, and you are back to one simple price. Then the two questions that matter. Do customers differ from each other, and can you tell them apart? Yes to both is direct price discrimination - perfectly if you know each individual, by group if you only know the segment. Customers who differ but cannot be told apart send you down the indirect route, versioning and coupons. And if they do not differ from each other but each buys several units, you are in the advanced strategies: flat fee, two-part tariff, block pricing. Every branch on this slide is something we covered.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920240"/>
            <a:ext cx="12191695" cy="1005840"/>
          </a:xfrm>
          <a:prstGeom prst="rect">
            <a:avLst/>
          </a:prstGeom>
          <a:noFill/>
        </p:spPr>
        <p:txBody>
          <a:bodyPr wrap="square" lIns="0" tIns="0" rIns="0" bIns="0">
            <a:spAutoFit/>
          </a:bodyPr>
          <a:lstStyle/>
          <a:p>
            <a:pPr algn="ctr"/>
            <a:r>
              <a:rPr sz="6000" b="1" i="0" u="none" dirty="0">
                <a:solidFill>
                  <a:srgbClr val="0B2B4E"/>
                </a:solidFill>
                <a:latin typeface="Calibri"/>
              </a:rPr>
              <a:t>Summary of Pricing Strategies</a:t>
            </a:r>
          </a:p>
        </p:txBody>
      </p:sp>
      <p:sp>
        <p:nvSpPr>
          <p:cNvPr id="3" name="TextBox 2"/>
          <p:cNvSpPr txBox="1"/>
          <p:nvPr/>
        </p:nvSpPr>
        <p:spPr>
          <a:xfrm>
            <a:off x="0" y="2971800"/>
            <a:ext cx="12191695" cy="685800"/>
          </a:xfrm>
          <a:prstGeom prst="rect">
            <a:avLst/>
          </a:prstGeom>
          <a:noFill/>
        </p:spPr>
        <p:txBody>
          <a:bodyPr wrap="square" lIns="0" tIns="0" rIns="0" bIns="0">
            <a:spAutoFit/>
          </a:bodyPr>
          <a:lstStyle/>
          <a:p>
            <a:pPr algn="ctr"/>
            <a:r>
              <a:rPr sz="4000" b="1" i="0" u="none">
                <a:solidFill>
                  <a:srgbClr val="E09F3E"/>
                </a:solidFill>
                <a:latin typeface="Calibri"/>
              </a:rPr>
              <a:t>Module 6  ·  Video 9</a:t>
            </a:r>
          </a:p>
        </p:txBody>
      </p:sp>
      <p:sp>
        <p:nvSpPr>
          <p:cNvPr id="4" name="Rectangle 3"/>
          <p:cNvSpPr/>
          <p:nvPr/>
        </p:nvSpPr>
        <p:spPr>
          <a:xfrm>
            <a:off x="4267047" y="391363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4224528"/>
            <a:ext cx="12191695" cy="50292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0" y="4864608"/>
            <a:ext cx="12191695" cy="45720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9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6</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298424"/>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BFBFBF"/>
                </a:solidFill>
                <a:latin typeface="Calibri"/>
              </a:rPr>
              <a:t>1</a:t>
            </a:r>
          </a:p>
        </p:txBody>
      </p:sp>
      <p:sp>
        <p:nvSpPr>
          <p:cNvPr id="8" name="Rounded Rectangle 7"/>
          <p:cNvSpPr/>
          <p:nvPr/>
        </p:nvSpPr>
        <p:spPr>
          <a:xfrm>
            <a:off x="10332720" y="135786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2</a:t>
            </a:r>
          </a:p>
        </p:txBody>
      </p:sp>
      <p:sp>
        <p:nvSpPr>
          <p:cNvPr id="9" name="TextBox 8"/>
          <p:cNvSpPr txBox="1"/>
          <p:nvPr/>
        </p:nvSpPr>
        <p:spPr>
          <a:xfrm>
            <a:off x="1874519" y="1381909"/>
            <a:ext cx="8293609"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Simple vs. Complex Pricing</a:t>
            </a:r>
          </a:p>
        </p:txBody>
      </p:sp>
      <p:sp>
        <p:nvSpPr>
          <p:cNvPr id="10" name="Oval 9"/>
          <p:cNvSpPr/>
          <p:nvPr/>
        </p:nvSpPr>
        <p:spPr>
          <a:xfrm>
            <a:off x="1051560" y="1920216"/>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BFBFBF"/>
                </a:solidFill>
                <a:latin typeface="Calibri"/>
              </a:rPr>
              <a:t>2</a:t>
            </a:r>
          </a:p>
        </p:txBody>
      </p:sp>
      <p:sp>
        <p:nvSpPr>
          <p:cNvPr id="11" name="Rounded Rectangle 10"/>
          <p:cNvSpPr/>
          <p:nvPr/>
        </p:nvSpPr>
        <p:spPr>
          <a:xfrm>
            <a:off x="10332720" y="1908798"/>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Videos 3+4</a:t>
            </a:r>
          </a:p>
        </p:txBody>
      </p:sp>
      <p:sp>
        <p:nvSpPr>
          <p:cNvPr id="12" name="TextBox 11"/>
          <p:cNvSpPr txBox="1"/>
          <p:nvPr/>
        </p:nvSpPr>
        <p:spPr>
          <a:xfrm>
            <a:off x="1874519" y="1901928"/>
            <a:ext cx="8293609" cy="342924"/>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Direct Price Discrimination</a:t>
            </a:r>
          </a:p>
        </p:txBody>
      </p:sp>
      <p:sp>
        <p:nvSpPr>
          <p:cNvPr id="13" name="Oval 12"/>
          <p:cNvSpPr/>
          <p:nvPr/>
        </p:nvSpPr>
        <p:spPr>
          <a:xfrm>
            <a:off x="1481328" y="2345436"/>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2a</a:t>
            </a:r>
          </a:p>
        </p:txBody>
      </p:sp>
      <p:sp>
        <p:nvSpPr>
          <p:cNvPr id="14" name="Rounded Rectangle 13"/>
          <p:cNvSpPr/>
          <p:nvPr/>
        </p:nvSpPr>
        <p:spPr>
          <a:xfrm>
            <a:off x="10707625" y="2368296"/>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3</a:t>
            </a:r>
          </a:p>
        </p:txBody>
      </p:sp>
      <p:sp>
        <p:nvSpPr>
          <p:cNvPr id="15" name="TextBox 14"/>
          <p:cNvSpPr txBox="1"/>
          <p:nvPr/>
        </p:nvSpPr>
        <p:spPr>
          <a:xfrm>
            <a:off x="2084831" y="2392345"/>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Perfect Price Discrimination (First Degree)</a:t>
            </a:r>
          </a:p>
        </p:txBody>
      </p:sp>
      <p:sp>
        <p:nvSpPr>
          <p:cNvPr id="16" name="Oval 15"/>
          <p:cNvSpPr/>
          <p:nvPr/>
        </p:nvSpPr>
        <p:spPr>
          <a:xfrm>
            <a:off x="1481328" y="2875788"/>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2b</a:t>
            </a:r>
          </a:p>
        </p:txBody>
      </p:sp>
      <p:sp>
        <p:nvSpPr>
          <p:cNvPr id="17" name="Rounded Rectangle 16"/>
          <p:cNvSpPr/>
          <p:nvPr/>
        </p:nvSpPr>
        <p:spPr>
          <a:xfrm>
            <a:off x="10707625" y="2898648"/>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4</a:t>
            </a:r>
          </a:p>
        </p:txBody>
      </p:sp>
      <p:sp>
        <p:nvSpPr>
          <p:cNvPr id="18" name="TextBox 17"/>
          <p:cNvSpPr txBox="1"/>
          <p:nvPr/>
        </p:nvSpPr>
        <p:spPr>
          <a:xfrm>
            <a:off x="2084831" y="2922697"/>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Segment Pricing (Third Degree)</a:t>
            </a:r>
          </a:p>
        </p:txBody>
      </p:sp>
      <p:sp>
        <p:nvSpPr>
          <p:cNvPr id="19" name="Oval 18"/>
          <p:cNvSpPr/>
          <p:nvPr/>
        </p:nvSpPr>
        <p:spPr>
          <a:xfrm>
            <a:off x="1051560" y="3369564"/>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BFBFBF"/>
                </a:solidFill>
                <a:latin typeface="Calibri"/>
              </a:rPr>
              <a:t>3</a:t>
            </a:r>
          </a:p>
        </p:txBody>
      </p:sp>
      <p:sp>
        <p:nvSpPr>
          <p:cNvPr id="20" name="Rounded Rectangle 19"/>
          <p:cNvSpPr/>
          <p:nvPr/>
        </p:nvSpPr>
        <p:spPr>
          <a:xfrm>
            <a:off x="10332720" y="342900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5</a:t>
            </a:r>
          </a:p>
        </p:txBody>
      </p:sp>
      <p:sp>
        <p:nvSpPr>
          <p:cNvPr id="21" name="TextBox 20"/>
          <p:cNvSpPr txBox="1"/>
          <p:nvPr/>
        </p:nvSpPr>
        <p:spPr>
          <a:xfrm>
            <a:off x="1874519" y="3453049"/>
            <a:ext cx="8293609"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Indirect Price Discrimination (Second Degree)</a:t>
            </a:r>
          </a:p>
        </p:txBody>
      </p:sp>
      <p:sp>
        <p:nvSpPr>
          <p:cNvPr id="22" name="Oval 21"/>
          <p:cNvSpPr/>
          <p:nvPr/>
        </p:nvSpPr>
        <p:spPr>
          <a:xfrm>
            <a:off x="1051560" y="3991356"/>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BFBFBF"/>
                </a:solidFill>
                <a:latin typeface="Calibri"/>
              </a:rPr>
              <a:t>4</a:t>
            </a:r>
          </a:p>
        </p:txBody>
      </p:sp>
      <p:sp>
        <p:nvSpPr>
          <p:cNvPr id="23" name="Rounded Rectangle 22"/>
          <p:cNvSpPr/>
          <p:nvPr/>
        </p:nvSpPr>
        <p:spPr>
          <a:xfrm>
            <a:off x="10332720" y="3979938"/>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Videos 6–8</a:t>
            </a:r>
          </a:p>
        </p:txBody>
      </p:sp>
      <p:sp>
        <p:nvSpPr>
          <p:cNvPr id="24" name="TextBox 23"/>
          <p:cNvSpPr txBox="1"/>
          <p:nvPr/>
        </p:nvSpPr>
        <p:spPr>
          <a:xfrm>
            <a:off x="1874519" y="3973068"/>
            <a:ext cx="8293609" cy="342924"/>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Advanced Pricing Strategies</a:t>
            </a:r>
          </a:p>
        </p:txBody>
      </p:sp>
      <p:sp>
        <p:nvSpPr>
          <p:cNvPr id="25" name="Oval 24"/>
          <p:cNvSpPr/>
          <p:nvPr/>
        </p:nvSpPr>
        <p:spPr>
          <a:xfrm>
            <a:off x="1481328" y="4416576"/>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4a</a:t>
            </a:r>
          </a:p>
        </p:txBody>
      </p:sp>
      <p:sp>
        <p:nvSpPr>
          <p:cNvPr id="26" name="Rounded Rectangle 25"/>
          <p:cNvSpPr/>
          <p:nvPr/>
        </p:nvSpPr>
        <p:spPr>
          <a:xfrm>
            <a:off x="10707625" y="4439436"/>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6</a:t>
            </a:r>
          </a:p>
        </p:txBody>
      </p:sp>
      <p:sp>
        <p:nvSpPr>
          <p:cNvPr id="27" name="TextBox 26"/>
          <p:cNvSpPr txBox="1"/>
          <p:nvPr/>
        </p:nvSpPr>
        <p:spPr>
          <a:xfrm>
            <a:off x="2084831" y="4463485"/>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Flat Fee Pricing</a:t>
            </a:r>
          </a:p>
        </p:txBody>
      </p:sp>
      <p:sp>
        <p:nvSpPr>
          <p:cNvPr id="28" name="Oval 27"/>
          <p:cNvSpPr/>
          <p:nvPr/>
        </p:nvSpPr>
        <p:spPr>
          <a:xfrm>
            <a:off x="1481328" y="4946928"/>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4b</a:t>
            </a:r>
          </a:p>
        </p:txBody>
      </p:sp>
      <p:sp>
        <p:nvSpPr>
          <p:cNvPr id="29" name="Rounded Rectangle 28"/>
          <p:cNvSpPr/>
          <p:nvPr/>
        </p:nvSpPr>
        <p:spPr>
          <a:xfrm>
            <a:off x="10707625" y="4969788"/>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7</a:t>
            </a:r>
          </a:p>
        </p:txBody>
      </p:sp>
      <p:sp>
        <p:nvSpPr>
          <p:cNvPr id="30" name="TextBox 29"/>
          <p:cNvSpPr txBox="1"/>
          <p:nvPr/>
        </p:nvSpPr>
        <p:spPr>
          <a:xfrm>
            <a:off x="2084831" y="4993837"/>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Two-Part Tariff</a:t>
            </a:r>
          </a:p>
        </p:txBody>
      </p:sp>
      <p:sp>
        <p:nvSpPr>
          <p:cNvPr id="31" name="Oval 30"/>
          <p:cNvSpPr/>
          <p:nvPr/>
        </p:nvSpPr>
        <p:spPr>
          <a:xfrm>
            <a:off x="1481328" y="5477280"/>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4c</a:t>
            </a:r>
          </a:p>
        </p:txBody>
      </p:sp>
      <p:sp>
        <p:nvSpPr>
          <p:cNvPr id="32" name="Rounded Rectangle 31"/>
          <p:cNvSpPr/>
          <p:nvPr/>
        </p:nvSpPr>
        <p:spPr>
          <a:xfrm>
            <a:off x="10707625" y="5500140"/>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8</a:t>
            </a:r>
          </a:p>
        </p:txBody>
      </p:sp>
      <p:sp>
        <p:nvSpPr>
          <p:cNvPr id="33" name="TextBox 32"/>
          <p:cNvSpPr txBox="1"/>
          <p:nvPr/>
        </p:nvSpPr>
        <p:spPr>
          <a:xfrm>
            <a:off x="2084831" y="5524189"/>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Block Pricing</a:t>
            </a:r>
          </a:p>
        </p:txBody>
      </p:sp>
      <p:sp>
        <p:nvSpPr>
          <p:cNvPr id="34" name="Rounded Rectangle 33"/>
          <p:cNvSpPr/>
          <p:nvPr/>
        </p:nvSpPr>
        <p:spPr>
          <a:xfrm>
            <a:off x="822960" y="5907048"/>
            <a:ext cx="11109960" cy="589788"/>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051560" y="5971056"/>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0B2B4E"/>
                </a:solidFill>
                <a:latin typeface="Calibri"/>
              </a:rPr>
              <a:t>5</a:t>
            </a:r>
          </a:p>
        </p:txBody>
      </p:sp>
      <p:sp>
        <p:nvSpPr>
          <p:cNvPr id="36" name="Rounded Rectangle 35"/>
          <p:cNvSpPr/>
          <p:nvPr/>
        </p:nvSpPr>
        <p:spPr>
          <a:xfrm>
            <a:off x="10332720" y="6030492"/>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9</a:t>
            </a:r>
          </a:p>
        </p:txBody>
      </p:sp>
      <p:sp>
        <p:nvSpPr>
          <p:cNvPr id="37" name="TextBox 36"/>
          <p:cNvSpPr txBox="1"/>
          <p:nvPr/>
        </p:nvSpPr>
        <p:spPr>
          <a:xfrm>
            <a:off x="1874519" y="5952768"/>
            <a:ext cx="8293609"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Summary of Pricing Strategies</a:t>
            </a:r>
          </a:p>
          <a:p>
            <a:pPr algn="l">
              <a:spcBef>
                <a:spcPts val="0"/>
              </a:spcBef>
              <a:buNone/>
            </a:pPr>
            <a:r>
              <a:rPr sz="1600">
                <a:solidFill>
                  <a:srgbClr val="555B66"/>
                </a:solidFill>
                <a:latin typeface="Calibri"/>
              </a:rPr>
              <a:t>Which strategy fits which market conditions</a:t>
            </a:r>
          </a:p>
        </p:txBody>
      </p:sp>
      <p:sp>
        <p:nvSpPr>
          <p:cNvPr id="38" name="Rectangle 3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41" name="TextBox 40"/>
          <p:cNvSpPr txBox="1"/>
          <p:nvPr/>
        </p:nvSpPr>
        <p:spPr>
          <a:xfrm>
            <a:off x="11475720" y="6583680"/>
            <a:ext cx="502920" cy="292608"/>
          </a:xfrm>
          <a:prstGeom prst="rect">
            <a:avLst/>
          </a:prstGeom>
          <a:noFill/>
        </p:spPr>
        <p:txBody>
          <a:bodyPr wrap="none" lIns="0" tIns="0" rIns="0" bIns="0">
            <a:spAutoFit/>
          </a:bodyPr>
          <a:lstStyle/>
          <a:p>
            <a:pPr algn="r"/>
            <a:fld id="{9D3E3D20-3DC9-5483-AA90-4FD580D513B5}" type="slidenum">
              <a:rPr lang="en-US" sz="1200" dirty="0">
                <a:solidFill>
                  <a:srgbClr val="555B66"/>
                </a:solidFill>
                <a:latin typeface="Calibri"/>
              </a:rPr>
              <a:t>2</a:t>
            </a:fld>
            <a:endParaRPr lang="en-US" sz="1200" dirty="0">
              <a:solidFill>
                <a:srgbClr val="555B66"/>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9 · Summary of Pricing Strategies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How to Extract Consumer Surplus? A Summary of Pricing Strategies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385816" y="1325880"/>
            <a:ext cx="2788920" cy="621792"/>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dirty="0">
                <a:solidFill>
                  <a:srgbClr val="FFFFFF"/>
                </a:solidFill>
                <a:latin typeface="Calibri"/>
              </a:rPr>
              <a:t>Does the firm have market power?</a:t>
            </a:r>
          </a:p>
        </p:txBody>
      </p:sp>
      <p:sp>
        <p:nvSpPr>
          <p:cNvPr id="8" name="Rounded Rectangle 7"/>
          <p:cNvSpPr/>
          <p:nvPr/>
        </p:nvSpPr>
        <p:spPr>
          <a:xfrm>
            <a:off x="8823960" y="1325880"/>
            <a:ext cx="3108960" cy="621792"/>
          </a:xfrm>
          <a:prstGeom prst="roundRect">
            <a:avLst>
              <a:gd name="adj" fmla="val 12000"/>
            </a:avLst>
          </a:prstGeom>
          <a:solidFill>
            <a:srgbClr val="007A33"/>
          </a:solidFill>
          <a:ln w="15875">
            <a:solidFill>
              <a:srgbClr val="007A33"/>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0" dirty="0">
                <a:solidFill>
                  <a:srgbClr val="FFFFFF"/>
                </a:solidFill>
                <a:latin typeface="Calibri"/>
              </a:rPr>
              <a:t>Perfect competition produces quantity at which MR = P = MC</a:t>
            </a:r>
          </a:p>
        </p:txBody>
      </p:sp>
      <p:grpSp>
        <p:nvGrpSpPr>
          <p:cNvPr id="141" name="sdpair:arrow:141"/>
          <p:cNvGrpSpPr/>
          <p:nvPr/>
        </p:nvGrpSpPr>
        <p:grpSpPr>
          <a:xfrm>
            <a:off x="8174736" y="1362456"/>
            <a:ext cx="649224" cy="274320"/>
            <a:chOff x="8174736" y="1362456"/>
            <a:chExt cx="649224" cy="274320"/>
          </a:xfrm>
        </p:grpSpPr>
        <p:cxnSp>
          <p:nvCxnSpPr>
            <p:cNvPr id="9" name="Connector 8"/>
            <p:cNvCxnSpPr/>
            <p:nvPr/>
          </p:nvCxnSpPr>
          <p:spPr>
            <a:xfrm>
              <a:off x="8174736" y="1636776"/>
              <a:ext cx="649224" cy="0"/>
            </a:xfrm>
            <a:prstGeom prst="line">
              <a:avLst/>
            </a:prstGeom>
            <a:ln w="22225">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229600" y="1362456"/>
              <a:ext cx="502920" cy="237744"/>
            </a:xfrm>
            <a:prstGeom prst="rect">
              <a:avLst/>
            </a:prstGeom>
            <a:noFill/>
          </p:spPr>
          <p:txBody>
            <a:bodyPr wrap="square" lIns="0" tIns="0" rIns="0" bIns="0">
              <a:spAutoFit/>
            </a:bodyPr>
            <a:lstStyle/>
            <a:p>
              <a:pPr algn="ctr"/>
              <a:r>
                <a:rPr sz="1500" b="1" i="0" u="none">
                  <a:solidFill>
                    <a:srgbClr val="555B66"/>
                  </a:solidFill>
                  <a:latin typeface="Calibri"/>
                </a:rPr>
                <a:t>No</a:t>
              </a:r>
            </a:p>
          </p:txBody>
        </p:sp>
      </p:grpSp>
      <p:grpSp>
        <p:nvGrpSpPr>
          <p:cNvPr id="142" name="sdpair:arrow:142"/>
          <p:cNvGrpSpPr/>
          <p:nvPr/>
        </p:nvGrpSpPr>
        <p:grpSpPr>
          <a:xfrm>
            <a:off x="6780276" y="1947672"/>
            <a:ext cx="585216" cy="402336"/>
            <a:chOff x="6780276" y="1947672"/>
            <a:chExt cx="585216" cy="402336"/>
          </a:xfrm>
        </p:grpSpPr>
        <p:cxnSp>
          <p:nvCxnSpPr>
            <p:cNvPr id="11" name="Connector 10"/>
            <p:cNvCxnSpPr/>
            <p:nvPr/>
          </p:nvCxnSpPr>
          <p:spPr>
            <a:xfrm>
              <a:off x="6780276" y="1947672"/>
              <a:ext cx="0" cy="402336"/>
            </a:xfrm>
            <a:prstGeom prst="line">
              <a:avLst/>
            </a:prstGeom>
            <a:ln w="22225">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62572" y="1984248"/>
              <a:ext cx="502920" cy="237744"/>
            </a:xfrm>
            <a:prstGeom prst="rect">
              <a:avLst/>
            </a:prstGeom>
            <a:noFill/>
          </p:spPr>
          <p:txBody>
            <a:bodyPr wrap="square" lIns="0" tIns="0" rIns="0" bIns="0">
              <a:spAutoFit/>
            </a:bodyPr>
            <a:lstStyle/>
            <a:p>
              <a:pPr algn="l"/>
              <a:r>
                <a:rPr sz="1500" b="1" i="0" u="none">
                  <a:solidFill>
                    <a:srgbClr val="555B66"/>
                  </a:solidFill>
                  <a:latin typeface="Calibri"/>
                </a:rPr>
                <a:t>Yes</a:t>
              </a:r>
            </a:p>
          </p:txBody>
        </p:sp>
      </p:grpSp>
      <p:sp>
        <p:nvSpPr>
          <p:cNvPr id="13" name="Rounded Rectangle 12"/>
          <p:cNvSpPr/>
          <p:nvPr/>
        </p:nvSpPr>
        <p:spPr>
          <a:xfrm>
            <a:off x="5385816" y="2350008"/>
            <a:ext cx="2788920" cy="621792"/>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Calibri"/>
              </a:rPr>
              <a:t>Can the firm prevent resale and arbitrage?</a:t>
            </a:r>
          </a:p>
        </p:txBody>
      </p:sp>
      <p:sp>
        <p:nvSpPr>
          <p:cNvPr id="14" name="Rounded Rectangle 13"/>
          <p:cNvSpPr/>
          <p:nvPr/>
        </p:nvSpPr>
        <p:spPr>
          <a:xfrm>
            <a:off x="8823960" y="2226564"/>
            <a:ext cx="3108960" cy="868680"/>
          </a:xfrm>
          <a:prstGeom prst="roundRect">
            <a:avLst>
              <a:gd name="adj" fmla="val 12000"/>
            </a:avLst>
          </a:prstGeom>
          <a:solidFill>
            <a:srgbClr val="FDF6E6"/>
          </a:solidFill>
          <a:ln w="15875">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dirty="0">
                <a:solidFill>
                  <a:srgbClr val="0B2B4E"/>
                </a:solidFill>
                <a:latin typeface="Calibri"/>
              </a:rPr>
              <a:t>Simple pricing </a:t>
            </a:r>
            <a:r>
              <a:rPr sz="1600" b="0" dirty="0">
                <a:solidFill>
                  <a:srgbClr val="0B2B4E"/>
                </a:solidFill>
                <a:latin typeface="Calibri"/>
              </a:rPr>
              <a:t>under monopolistic competition: Set price such that MR = MC at optimal quantity Q*</a:t>
            </a:r>
          </a:p>
        </p:txBody>
      </p:sp>
      <p:grpSp>
        <p:nvGrpSpPr>
          <p:cNvPr id="143" name="sdpair:arrow:143"/>
          <p:cNvGrpSpPr/>
          <p:nvPr/>
        </p:nvGrpSpPr>
        <p:grpSpPr>
          <a:xfrm>
            <a:off x="8174736" y="2386584"/>
            <a:ext cx="649224" cy="274320"/>
            <a:chOff x="8174736" y="2386584"/>
            <a:chExt cx="649224" cy="274320"/>
          </a:xfrm>
        </p:grpSpPr>
        <p:cxnSp>
          <p:nvCxnSpPr>
            <p:cNvPr id="15" name="Connector 14"/>
            <p:cNvCxnSpPr/>
            <p:nvPr/>
          </p:nvCxnSpPr>
          <p:spPr>
            <a:xfrm>
              <a:off x="8174736" y="2660904"/>
              <a:ext cx="649224" cy="0"/>
            </a:xfrm>
            <a:prstGeom prst="line">
              <a:avLst/>
            </a:prstGeom>
            <a:ln w="22225">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229600" y="2386584"/>
              <a:ext cx="502920" cy="237744"/>
            </a:xfrm>
            <a:prstGeom prst="rect">
              <a:avLst/>
            </a:prstGeom>
            <a:noFill/>
          </p:spPr>
          <p:txBody>
            <a:bodyPr wrap="square" lIns="0" tIns="0" rIns="0" bIns="0">
              <a:spAutoFit/>
            </a:bodyPr>
            <a:lstStyle/>
            <a:p>
              <a:pPr algn="ctr"/>
              <a:r>
                <a:rPr sz="1500" b="1" i="0" u="none" dirty="0">
                  <a:solidFill>
                    <a:srgbClr val="555B66"/>
                  </a:solidFill>
                  <a:latin typeface="Calibri"/>
                </a:rPr>
                <a:t>No</a:t>
              </a:r>
            </a:p>
          </p:txBody>
        </p:sp>
      </p:grpSp>
      <p:grpSp>
        <p:nvGrpSpPr>
          <p:cNvPr id="144" name="sdpair:arrow:144"/>
          <p:cNvGrpSpPr/>
          <p:nvPr/>
        </p:nvGrpSpPr>
        <p:grpSpPr>
          <a:xfrm>
            <a:off x="6780276" y="2971800"/>
            <a:ext cx="585216" cy="402336"/>
            <a:chOff x="6780276" y="2971800"/>
            <a:chExt cx="585216" cy="402336"/>
          </a:xfrm>
        </p:grpSpPr>
        <p:cxnSp>
          <p:nvCxnSpPr>
            <p:cNvPr id="17" name="Connector 16"/>
            <p:cNvCxnSpPr/>
            <p:nvPr/>
          </p:nvCxnSpPr>
          <p:spPr>
            <a:xfrm>
              <a:off x="6780276" y="2971800"/>
              <a:ext cx="0" cy="402336"/>
            </a:xfrm>
            <a:prstGeom prst="line">
              <a:avLst/>
            </a:prstGeom>
            <a:ln w="22225">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62572" y="3008376"/>
              <a:ext cx="502920" cy="237744"/>
            </a:xfrm>
            <a:prstGeom prst="rect">
              <a:avLst/>
            </a:prstGeom>
            <a:noFill/>
          </p:spPr>
          <p:txBody>
            <a:bodyPr wrap="square" lIns="0" tIns="0" rIns="0" bIns="0">
              <a:spAutoFit/>
            </a:bodyPr>
            <a:lstStyle/>
            <a:p>
              <a:pPr algn="l"/>
              <a:r>
                <a:rPr sz="1500" b="1" i="0" u="none">
                  <a:solidFill>
                    <a:srgbClr val="555B66"/>
                  </a:solidFill>
                  <a:latin typeface="Calibri"/>
                </a:rPr>
                <a:t>Yes</a:t>
              </a:r>
            </a:p>
          </p:txBody>
        </p:sp>
      </p:grpSp>
      <p:sp>
        <p:nvSpPr>
          <p:cNvPr id="19" name="Rounded Rectangle 18"/>
          <p:cNvSpPr/>
          <p:nvPr/>
        </p:nvSpPr>
        <p:spPr>
          <a:xfrm>
            <a:off x="5385816" y="3374136"/>
            <a:ext cx="2788920" cy="621792"/>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Calibri"/>
              </a:rPr>
              <a:t>Do the firm’s customers have different demand curves?</a:t>
            </a:r>
          </a:p>
        </p:txBody>
      </p:sp>
      <p:sp>
        <p:nvSpPr>
          <p:cNvPr id="20" name="Rounded Rectangle 19"/>
          <p:cNvSpPr/>
          <p:nvPr/>
        </p:nvSpPr>
        <p:spPr>
          <a:xfrm>
            <a:off x="8823960" y="3250692"/>
            <a:ext cx="3108960" cy="868680"/>
          </a:xfrm>
          <a:prstGeom prst="roundRect">
            <a:avLst>
              <a:gd name="adj" fmla="val 12000"/>
            </a:avLst>
          </a:prstGeom>
          <a:solidFill>
            <a:srgbClr val="E09F3E"/>
          </a:solidFill>
          <a:ln w="1587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0">
                <a:solidFill>
                  <a:srgbClr val="0B2B4E"/>
                </a:solidFill>
                <a:latin typeface="Calibri"/>
              </a:rPr>
              <a:t>Advanced pricing strategies
• Flat-fee  • Two-part tariff  • Block pricing</a:t>
            </a:r>
          </a:p>
        </p:txBody>
      </p:sp>
      <p:grpSp>
        <p:nvGrpSpPr>
          <p:cNvPr id="145" name="sdpair:arrow:145"/>
          <p:cNvGrpSpPr/>
          <p:nvPr/>
        </p:nvGrpSpPr>
        <p:grpSpPr>
          <a:xfrm>
            <a:off x="8174736" y="3410712"/>
            <a:ext cx="649224" cy="274320"/>
            <a:chOff x="8174736" y="3410712"/>
            <a:chExt cx="649224" cy="274320"/>
          </a:xfrm>
        </p:grpSpPr>
        <p:cxnSp>
          <p:nvCxnSpPr>
            <p:cNvPr id="21" name="Connector 20"/>
            <p:cNvCxnSpPr/>
            <p:nvPr/>
          </p:nvCxnSpPr>
          <p:spPr>
            <a:xfrm>
              <a:off x="8174736" y="3685032"/>
              <a:ext cx="649224" cy="0"/>
            </a:xfrm>
            <a:prstGeom prst="line">
              <a:avLst/>
            </a:prstGeom>
            <a:ln w="22225">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229600" y="3410712"/>
              <a:ext cx="502920" cy="237744"/>
            </a:xfrm>
            <a:prstGeom prst="rect">
              <a:avLst/>
            </a:prstGeom>
            <a:noFill/>
          </p:spPr>
          <p:txBody>
            <a:bodyPr wrap="square" lIns="0" tIns="0" rIns="0" bIns="0">
              <a:spAutoFit/>
            </a:bodyPr>
            <a:lstStyle/>
            <a:p>
              <a:pPr algn="ctr"/>
              <a:r>
                <a:rPr sz="1500" b="1" i="0" u="none" dirty="0">
                  <a:solidFill>
                    <a:srgbClr val="555B66"/>
                  </a:solidFill>
                  <a:latin typeface="Calibri"/>
                </a:rPr>
                <a:t>No</a:t>
              </a:r>
            </a:p>
          </p:txBody>
        </p:sp>
      </p:grpSp>
      <p:grpSp>
        <p:nvGrpSpPr>
          <p:cNvPr id="146" name="sdpair:arrow:146"/>
          <p:cNvGrpSpPr/>
          <p:nvPr/>
        </p:nvGrpSpPr>
        <p:grpSpPr>
          <a:xfrm>
            <a:off x="6780276" y="3995928"/>
            <a:ext cx="585216" cy="402336"/>
            <a:chOff x="6780276" y="3995928"/>
            <a:chExt cx="585216" cy="402336"/>
          </a:xfrm>
        </p:grpSpPr>
        <p:cxnSp>
          <p:nvCxnSpPr>
            <p:cNvPr id="23" name="Connector 22"/>
            <p:cNvCxnSpPr/>
            <p:nvPr/>
          </p:nvCxnSpPr>
          <p:spPr>
            <a:xfrm>
              <a:off x="6780276" y="3995928"/>
              <a:ext cx="0" cy="402336"/>
            </a:xfrm>
            <a:prstGeom prst="line">
              <a:avLst/>
            </a:prstGeom>
            <a:ln w="22225">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862572" y="4032504"/>
              <a:ext cx="502920" cy="237744"/>
            </a:xfrm>
            <a:prstGeom prst="rect">
              <a:avLst/>
            </a:prstGeom>
            <a:noFill/>
          </p:spPr>
          <p:txBody>
            <a:bodyPr wrap="square" lIns="0" tIns="0" rIns="0" bIns="0">
              <a:spAutoFit/>
            </a:bodyPr>
            <a:lstStyle/>
            <a:p>
              <a:pPr algn="l"/>
              <a:r>
                <a:rPr sz="1500" b="1" i="0" u="none">
                  <a:solidFill>
                    <a:srgbClr val="555B66"/>
                  </a:solidFill>
                  <a:latin typeface="Calibri"/>
                </a:rPr>
                <a:t>Yes</a:t>
              </a:r>
            </a:p>
          </p:txBody>
        </p:sp>
      </p:grpSp>
      <p:sp>
        <p:nvSpPr>
          <p:cNvPr id="25" name="Rounded Rectangle 24"/>
          <p:cNvSpPr/>
          <p:nvPr/>
        </p:nvSpPr>
        <p:spPr>
          <a:xfrm>
            <a:off x="5385816" y="4398264"/>
            <a:ext cx="2788920" cy="621792"/>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dirty="0">
                <a:solidFill>
                  <a:srgbClr val="FFFFFF"/>
                </a:solidFill>
                <a:latin typeface="Calibri"/>
              </a:rPr>
              <a:t>Can the firm directly identify different customers?</a:t>
            </a:r>
          </a:p>
        </p:txBody>
      </p:sp>
      <p:sp>
        <p:nvSpPr>
          <p:cNvPr id="26" name="Rounded Rectangle 25"/>
          <p:cNvSpPr/>
          <p:nvPr/>
        </p:nvSpPr>
        <p:spPr>
          <a:xfrm>
            <a:off x="8823960" y="4274820"/>
            <a:ext cx="3108960" cy="868680"/>
          </a:xfrm>
          <a:prstGeom prst="roundRect">
            <a:avLst>
              <a:gd name="adj" fmla="val 12000"/>
            </a:avLst>
          </a:prstGeom>
          <a:solidFill>
            <a:srgbClr val="E09F3E"/>
          </a:solidFill>
          <a:ln w="1587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0">
                <a:solidFill>
                  <a:srgbClr val="0B2B4E"/>
                </a:solidFill>
                <a:latin typeface="Calibri"/>
              </a:rPr>
              <a:t>Indirect (second-degree) price discrimination
• Versioning  • Coupons</a:t>
            </a:r>
          </a:p>
        </p:txBody>
      </p:sp>
      <p:grpSp>
        <p:nvGrpSpPr>
          <p:cNvPr id="147" name="sdpair:arrow:147"/>
          <p:cNvGrpSpPr/>
          <p:nvPr/>
        </p:nvGrpSpPr>
        <p:grpSpPr>
          <a:xfrm>
            <a:off x="8174736" y="4434840"/>
            <a:ext cx="649224" cy="274320"/>
            <a:chOff x="8174736" y="4434840"/>
            <a:chExt cx="649224" cy="274320"/>
          </a:xfrm>
        </p:grpSpPr>
        <p:cxnSp>
          <p:nvCxnSpPr>
            <p:cNvPr id="27" name="Connector 26"/>
            <p:cNvCxnSpPr/>
            <p:nvPr/>
          </p:nvCxnSpPr>
          <p:spPr>
            <a:xfrm>
              <a:off x="8174736" y="4709160"/>
              <a:ext cx="649224" cy="0"/>
            </a:xfrm>
            <a:prstGeom prst="line">
              <a:avLst/>
            </a:prstGeom>
            <a:ln w="22225">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229600" y="4434840"/>
              <a:ext cx="502920" cy="237744"/>
            </a:xfrm>
            <a:prstGeom prst="rect">
              <a:avLst/>
            </a:prstGeom>
            <a:noFill/>
          </p:spPr>
          <p:txBody>
            <a:bodyPr wrap="square" lIns="0" tIns="0" rIns="0" bIns="0">
              <a:spAutoFit/>
            </a:bodyPr>
            <a:lstStyle/>
            <a:p>
              <a:pPr algn="ctr"/>
              <a:r>
                <a:rPr sz="1500" b="1" i="0" u="none" dirty="0">
                  <a:solidFill>
                    <a:srgbClr val="555B66"/>
                  </a:solidFill>
                  <a:latin typeface="Calibri"/>
                </a:rPr>
                <a:t>No</a:t>
              </a:r>
            </a:p>
          </p:txBody>
        </p:sp>
      </p:grpSp>
      <p:grpSp>
        <p:nvGrpSpPr>
          <p:cNvPr id="148" name="sdpair:arrow:148"/>
          <p:cNvGrpSpPr/>
          <p:nvPr/>
        </p:nvGrpSpPr>
        <p:grpSpPr>
          <a:xfrm>
            <a:off x="4215384" y="4507992"/>
            <a:ext cx="1042416" cy="361188"/>
            <a:chOff x="4617720" y="4658868"/>
            <a:chExt cx="1042416" cy="361188"/>
          </a:xfrm>
        </p:grpSpPr>
        <p:cxnSp>
          <p:nvCxnSpPr>
            <p:cNvPr id="29" name="Connector 28"/>
            <p:cNvCxnSpPr/>
            <p:nvPr/>
          </p:nvCxnSpPr>
          <p:spPr>
            <a:xfrm flipH="1" flipV="1">
              <a:off x="4617720" y="4864608"/>
              <a:ext cx="1042416" cy="155448"/>
            </a:xfrm>
            <a:prstGeom prst="line">
              <a:avLst/>
            </a:prstGeom>
            <a:ln w="22225">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097780" y="4658868"/>
              <a:ext cx="502920" cy="237744"/>
            </a:xfrm>
            <a:prstGeom prst="rect">
              <a:avLst/>
            </a:prstGeom>
            <a:noFill/>
          </p:spPr>
          <p:txBody>
            <a:bodyPr wrap="square" lIns="0" tIns="0" rIns="0" bIns="0">
              <a:spAutoFit/>
            </a:bodyPr>
            <a:lstStyle/>
            <a:p>
              <a:pPr algn="l"/>
              <a:r>
                <a:rPr sz="1500" b="1" i="0" u="none">
                  <a:solidFill>
                    <a:srgbClr val="555B66"/>
                  </a:solidFill>
                  <a:latin typeface="Calibri"/>
                </a:rPr>
                <a:t>Yes</a:t>
              </a:r>
            </a:p>
          </p:txBody>
        </p:sp>
      </p:grpSp>
      <p:sp>
        <p:nvSpPr>
          <p:cNvPr id="31" name="Rounded Rectangle 30"/>
          <p:cNvSpPr/>
          <p:nvPr/>
        </p:nvSpPr>
        <p:spPr>
          <a:xfrm>
            <a:off x="2203704" y="4434840"/>
            <a:ext cx="2011680" cy="502920"/>
          </a:xfrm>
          <a:prstGeom prst="roundRect">
            <a:avLst>
              <a:gd name="adj" fmla="val 16000"/>
            </a:avLst>
          </a:prstGeom>
          <a:solidFill>
            <a:srgbClr val="A2162A"/>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dirty="0">
                <a:solidFill>
                  <a:srgbClr val="FFFFFF"/>
                </a:solidFill>
                <a:latin typeface="Calibri"/>
              </a:rPr>
              <a:t>Direct price discrimination</a:t>
            </a:r>
          </a:p>
        </p:txBody>
      </p:sp>
      <p:grpSp>
        <p:nvGrpSpPr>
          <p:cNvPr id="42" name="Group 41">
            <a:extLst>
              <a:ext uri="{FF2B5EF4-FFF2-40B4-BE49-F238E27FC236}">
                <a16:creationId xmlns:a16="http://schemas.microsoft.com/office/drawing/2014/main" id="{A01ECBC8-CDAC-2B07-FB85-46C55256EBAD}"/>
              </a:ext>
            </a:extLst>
          </p:cNvPr>
          <p:cNvGrpSpPr/>
          <p:nvPr/>
        </p:nvGrpSpPr>
        <p:grpSpPr>
          <a:xfrm>
            <a:off x="329184" y="5413248"/>
            <a:ext cx="2880360" cy="1078992"/>
            <a:chOff x="420624" y="5394960"/>
            <a:chExt cx="2880360" cy="1078992"/>
          </a:xfrm>
        </p:grpSpPr>
        <p:sp>
          <p:nvSpPr>
            <p:cNvPr id="33" name="Rounded Rectangle 32"/>
            <p:cNvSpPr/>
            <p:nvPr/>
          </p:nvSpPr>
          <p:spPr>
            <a:xfrm>
              <a:off x="420624" y="5394960"/>
              <a:ext cx="2880360" cy="1078992"/>
            </a:xfrm>
            <a:prstGeom prst="roundRect">
              <a:avLst>
                <a:gd name="adj" fmla="val 12000"/>
              </a:avLst>
            </a:prstGeom>
            <a:noFill/>
            <a:ln w="15875">
              <a:solidFill>
                <a:srgbClr val="A216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12064" y="5468112"/>
              <a:ext cx="2697480" cy="969264"/>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600" b="0">
                  <a:solidFill>
                    <a:srgbClr val="0B2B4E"/>
                  </a:solidFill>
                  <a:latin typeface="Calibri"/>
                </a:defRPr>
              </a:lvl1pPr>
              <a:lvl2pPr marL="685800" indent="-228600">
                <a:spcBef>
                  <a:spcPts val="300"/>
                </a:spcBef>
                <a:buClr>
                  <a:srgbClr val="555B66"/>
                </a:buClr>
                <a:buFont typeface="Calibri"/>
                <a:buChar char="–"/>
                <a:defRPr sz="1200" b="0">
                  <a:solidFill>
                    <a:srgbClr val="555B66"/>
                  </a:solidFill>
                  <a:latin typeface="Calibri"/>
                </a:defRPr>
              </a:lvl2pPr>
            </a:lstStyle>
            <a:p>
              <a:pPr algn="l">
                <a:buNone/>
              </a:pPr>
              <a:r>
                <a:rPr sz="1600" b="1" dirty="0">
                  <a:solidFill>
                    <a:srgbClr val="0B2B4E"/>
                  </a:solidFill>
                  <a:latin typeface="Calibri"/>
                </a:rPr>
                <a:t>Complete information on </a:t>
              </a:r>
              <a:r>
                <a:rPr sz="1600" b="1" u="sng" dirty="0">
                  <a:solidFill>
                    <a:srgbClr val="0B2B4E"/>
                  </a:solidFill>
                  <a:latin typeface="Calibri"/>
                </a:rPr>
                <a:t>every</a:t>
              </a:r>
              <a:r>
                <a:rPr sz="1600" b="1" dirty="0">
                  <a:solidFill>
                    <a:srgbClr val="0B2B4E"/>
                  </a:solidFill>
                  <a:latin typeface="Calibri"/>
                </a:rPr>
                <a:t> customer</a:t>
              </a:r>
            </a:p>
            <a:p>
              <a:pPr algn="l">
                <a:spcBef>
                  <a:spcPts val="200"/>
                </a:spcBef>
                <a:buNone/>
              </a:pPr>
              <a:r>
                <a:rPr sz="1600" dirty="0">
                  <a:solidFill>
                    <a:srgbClr val="0B2B4E"/>
                  </a:solidFill>
                  <a:latin typeface="Calibri"/>
                </a:rPr>
                <a:t>→ perfect (first-degree) price discrimination</a:t>
              </a:r>
            </a:p>
          </p:txBody>
        </p:sp>
      </p:grpSp>
      <p:grpSp>
        <p:nvGrpSpPr>
          <p:cNvPr id="46" name="Group 45">
            <a:extLst>
              <a:ext uri="{FF2B5EF4-FFF2-40B4-BE49-F238E27FC236}">
                <a16:creationId xmlns:a16="http://schemas.microsoft.com/office/drawing/2014/main" id="{4D5BC176-6C99-C450-2117-8CE0DC7CC943}"/>
              </a:ext>
            </a:extLst>
          </p:cNvPr>
          <p:cNvGrpSpPr/>
          <p:nvPr/>
        </p:nvGrpSpPr>
        <p:grpSpPr>
          <a:xfrm>
            <a:off x="3255264" y="5413248"/>
            <a:ext cx="2880360" cy="1078992"/>
            <a:chOff x="3255264" y="5413248"/>
            <a:chExt cx="2880360" cy="1078992"/>
          </a:xfrm>
        </p:grpSpPr>
        <p:sp>
          <p:nvSpPr>
            <p:cNvPr id="35" name="Rounded Rectangle 34"/>
            <p:cNvSpPr/>
            <p:nvPr/>
          </p:nvSpPr>
          <p:spPr>
            <a:xfrm>
              <a:off x="3255264" y="5413248"/>
              <a:ext cx="2880360" cy="1078992"/>
            </a:xfrm>
            <a:prstGeom prst="roundRect">
              <a:avLst>
                <a:gd name="adj" fmla="val 12000"/>
              </a:avLst>
            </a:prstGeom>
            <a:noFill/>
            <a:ln w="15875">
              <a:solidFill>
                <a:srgbClr val="A216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346704" y="5468112"/>
              <a:ext cx="2697480" cy="969264"/>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600" b="0">
                  <a:solidFill>
                    <a:srgbClr val="0B2B4E"/>
                  </a:solidFill>
                  <a:latin typeface="Calibri"/>
                </a:defRPr>
              </a:lvl1pPr>
              <a:lvl2pPr marL="685800" indent="-228600">
                <a:spcBef>
                  <a:spcPts val="300"/>
                </a:spcBef>
                <a:buClr>
                  <a:srgbClr val="555B66"/>
                </a:buClr>
                <a:buFont typeface="Calibri"/>
                <a:buChar char="–"/>
                <a:defRPr sz="1200" b="0">
                  <a:solidFill>
                    <a:srgbClr val="555B66"/>
                  </a:solidFill>
                  <a:latin typeface="Calibri"/>
                </a:defRPr>
              </a:lvl2pPr>
            </a:lstStyle>
            <a:p>
              <a:pPr algn="l">
                <a:buNone/>
              </a:pPr>
              <a:r>
                <a:rPr sz="1600" b="1" dirty="0">
                  <a:solidFill>
                    <a:srgbClr val="0B2B4E"/>
                  </a:solidFill>
                  <a:latin typeface="Calibri"/>
                </a:rPr>
                <a:t>Information on </a:t>
              </a:r>
              <a:r>
                <a:rPr sz="1600" b="1" u="sng" dirty="0">
                  <a:solidFill>
                    <a:srgbClr val="0B2B4E"/>
                  </a:solidFill>
                  <a:latin typeface="Calibri"/>
                </a:rPr>
                <a:t>groups</a:t>
              </a:r>
              <a:r>
                <a:rPr sz="1600" b="1" dirty="0">
                  <a:solidFill>
                    <a:srgbClr val="0B2B4E"/>
                  </a:solidFill>
                  <a:latin typeface="Calibri"/>
                </a:rPr>
                <a:t> of customers</a:t>
              </a:r>
            </a:p>
            <a:p>
              <a:pPr algn="l">
                <a:spcBef>
                  <a:spcPts val="200"/>
                </a:spcBef>
                <a:buNone/>
              </a:pPr>
              <a:r>
                <a:rPr sz="1600" dirty="0">
                  <a:solidFill>
                    <a:srgbClr val="0B2B4E"/>
                  </a:solidFill>
                  <a:latin typeface="Calibri"/>
                </a:rPr>
                <a:t>→ segmenting (third-degree) price discrimination</a:t>
              </a:r>
            </a:p>
          </p:txBody>
        </p:sp>
      </p:grpSp>
      <p:cxnSp>
        <p:nvCxnSpPr>
          <p:cNvPr id="36" name="Connector 35"/>
          <p:cNvCxnSpPr>
            <a:cxnSpLocks/>
          </p:cNvCxnSpPr>
          <p:nvPr/>
        </p:nvCxnSpPr>
        <p:spPr>
          <a:xfrm flipH="1">
            <a:off x="2478024" y="4974336"/>
            <a:ext cx="347472" cy="438912"/>
          </a:xfrm>
          <a:prstGeom prst="line">
            <a:avLst/>
          </a:prstGeom>
          <a:ln w="22225">
            <a:solidFill>
              <a:srgbClr val="C00000"/>
            </a:solidFill>
            <a:tailEnd type="triangle" w="med"/>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41" name="TextBox 40"/>
          <p:cNvSpPr txBox="1"/>
          <p:nvPr/>
        </p:nvSpPr>
        <p:spPr>
          <a:xfrm>
            <a:off x="11475720" y="6583680"/>
            <a:ext cx="502920" cy="292608"/>
          </a:xfrm>
          <a:prstGeom prst="rect">
            <a:avLst/>
          </a:prstGeom>
          <a:noFill/>
        </p:spPr>
        <p:txBody>
          <a:bodyPr wrap="none" lIns="0" tIns="0" rIns="0" bIns="0">
            <a:spAutoFit/>
          </a:bodyPr>
          <a:lstStyle/>
          <a:p>
            <a:pPr algn="r"/>
            <a:fld id="{D0F75885-460E-5C4B-B276-65C6A0E048D9}" type="slidenum">
              <a:rPr lang="en-US" sz="1200" dirty="0">
                <a:solidFill>
                  <a:srgbClr val="555B66"/>
                </a:solidFill>
                <a:latin typeface="Calibri"/>
              </a:rPr>
              <a:t>3</a:t>
            </a:fld>
            <a:endParaRPr lang="en-US" sz="1200" dirty="0">
              <a:solidFill>
                <a:srgbClr val="555B66"/>
              </a:solidFill>
              <a:latin typeface="Calibri"/>
            </a:endParaRPr>
          </a:p>
        </p:txBody>
      </p:sp>
      <p:cxnSp>
        <p:nvCxnSpPr>
          <p:cNvPr id="44" name="Connector 35">
            <a:extLst>
              <a:ext uri="{FF2B5EF4-FFF2-40B4-BE49-F238E27FC236}">
                <a16:creationId xmlns:a16="http://schemas.microsoft.com/office/drawing/2014/main" id="{3FCB4593-F050-D081-F644-DA405903E554}"/>
              </a:ext>
            </a:extLst>
          </p:cNvPr>
          <p:cNvCxnSpPr>
            <a:cxnSpLocks/>
          </p:cNvCxnSpPr>
          <p:nvPr/>
        </p:nvCxnSpPr>
        <p:spPr>
          <a:xfrm>
            <a:off x="3803904" y="4974336"/>
            <a:ext cx="386335" cy="429769"/>
          </a:xfrm>
          <a:prstGeom prst="line">
            <a:avLst/>
          </a:prstGeom>
          <a:ln w="22225">
            <a:solidFill>
              <a:srgbClr val="C00000"/>
            </a:solidFill>
            <a:tailEnd type="triangle" w="med"/>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4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4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4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4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6"/>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2"/>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44"/>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3" grpId="0" animBg="1"/>
      <p:bldP spid="14" grpId="0" animBg="1"/>
      <p:bldP spid="19" grpId="0" animBg="1"/>
      <p:bldP spid="20" grpId="0" animBg="1"/>
      <p:bldP spid="25" grpId="0" animBg="1"/>
      <p:bldP spid="26" grpId="0" animBg="1"/>
      <p:bldP spid="31"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451</Words>
  <Application>Microsoft Office PowerPoint</Application>
  <PresentationFormat>Widescreen</PresentationFormat>
  <Paragraphs>66</Paragraphs>
  <Slides>3</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Arial</vt:lpstr>
      <vt:lpstr>Calibri</vt:lpstr>
      <vt:lpstr>Office Theme</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24</cp:revision>
  <dcterms:created xsi:type="dcterms:W3CDTF">2013-01-27T09:14:16Z</dcterms:created>
  <dcterms:modified xsi:type="dcterms:W3CDTF">2026-09-23T17:59:21Z</dcterms:modified>
  <cp:category/>
</cp:coreProperties>
</file>