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2" r:id="rId2"/>
    <p:sldId id="273" r:id="rId3"/>
    <p:sldId id="274" r:id="rId4"/>
    <p:sldId id="275" r:id="rId5"/>
    <p:sldId id="276" r:id="rId6"/>
    <p:sldId id="277" r:id="rId7"/>
    <p:sldId id="278" r:id="rId8"/>
    <p:sldId id="279" r:id="rId9"/>
    <p:sldId id="280" r:id="rId10"/>
    <p:sldId id="281" r:id="rId11"/>
    <p:sldId id="282" r:id="rId12"/>
    <p:sldId id="28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24A93-ABCD-4C63-96F0-29849A91DE01}"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F47B3-DFFB-4987-AFFF-51E8AEAFC762}" type="slidenum">
              <a:rPr lang="en-US" smtClean="0"/>
              <a:t>‹#›</a:t>
            </a:fld>
            <a:endParaRPr lang="en-US"/>
          </a:p>
        </p:txBody>
      </p:sp>
    </p:spTree>
    <p:extLst>
      <p:ext uri="{BB962C8B-B14F-4D97-AF65-F5344CB8AC3E}">
        <p14:creationId xmlns:p14="http://schemas.microsoft.com/office/powerpoint/2010/main" val="1741738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Oligopoly: Cournot versus Bertrand. In what follows we will assume no collusion: competition rather than cooperation between firms. There are a lot of models of oligopoly – as many as assumptions you are willing to make on rivals' responses. You will come back to these issues in your strategy class, for now we give the foundations that will be used in strategy.</a:t>
            </a:r>
          </a:p>
          <a:p>
            <a:r>
              <a:t>Two oligopoly models – the two most famous ones.</a:t>
            </a:r>
          </a:p>
          <a:p>
            <a:r>
              <a:t>Cournot assumed quantity competition: each firm sets quantity taking as fixed the quantity set by the other. The assumption is that the other firm will continue to produce the same quantity whatever I do. As we will see shortly price does not go to the competitive level but settles between the monopoly and perfect competition price.</a:t>
            </a:r>
          </a:p>
          <a:p>
            <a:r>
              <a:t>Bertrand (in his review of the Cournot book) proposed an alternative – that competition occurs on prices, not quantity. That is, the rival's price is held fixed when setting price. The idea is that in response to my price cut, others don't match. The equilibrium is where this assumption turns out to be correct (as before the assumption is false for all except the equilibrium point). What happens? As we will see shortly, equilibrium ends up equal to perfect competition.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setup for our Cournot analysis. Two firms — Vale as Firm A and Tsingshan as Firm B — produce an identical good, nickel. Market supply is the sum of the two firms' quantities, market demand is P = 100 minus total quantity, and both firms have the same marginal cost of $10 per kg. All numbers are stylized to keep the algebra clean.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Cournot assumed quantity competition: each firm sets quantity taking as fixed the quantity set by the other. The assumption is that the other firm will continue to produce the same quantity whatever I do. [Of course most of the time this assumption will prove false, but not at the equilibrium]. The residual demand curve is just the amount of demand left over when subtracting the other firm's fixed supply from market demand. As we will see shortly price does not go to the competitive level but settles between the monopoly and perfect competition price.</a:t>
            </a:r>
          </a:p>
          <a:p>
            <a:r>
              <a:t>Step 1: Go from the market-level demand to the individual-level demand by 'assuming' QB=50: P=100−(QA+50)=50−QA</a:t>
            </a:r>
          </a:p>
          <a:p>
            <a:r>
              <a:t>Step 2: Once you have the individual-level demand, find the profit-maximizing quantity as usual (MR=MC): MRA=50−2QA; 50−2QA=10 → QA=20.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Cournot assumed quantity competition: each firm sets quantity taking as fixed the quantity set by the other. The assumption is that the other firm will continue to produce the same quantity whatever I do. [Of course most of the time this assumption will prove false, but not at the equilibrium]. The residual demand curve is just the amount of demand left over when subtracting the other firm's fixed supply from market demand. As we will see shortly price does not go to the competitive level but settles between the monopoly and perfect competition price.</a:t>
            </a:r>
          </a:p>
          <a:p>
            <a:r>
              <a:t>Step 1: Go from the market-level demand to the individual-level demand by 'assuming' QB=20: P=100−(QA+20)=80−QA</a:t>
            </a:r>
          </a:p>
          <a:p>
            <a:r>
              <a:t>Step 2: Once you have the individual-level demand, find the profit-maximizing quantity as usual (MR=MC): MRA=80−2QA; 80−2QA=10 → QA=35.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say they move sequentially — it's just 'contemplating'. The reaction function collects Firm A's optimal responses: for every quantity B might produce, it gives A's profit-maximizing quantity. The two points we just derived — B produces 50, A responds with 20; B produces 20, A responds with 35 — pin down the line QA = 45 − 0.5·QB. The same logic (with the general algebra) is worked through in the practice video.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say they move sequentially — it's just 'contemplating'. The last step is to figure out the Cournot equilibrium, given by the 'intersection' of the two reaction functions. The intuition: we want a pair (QA*, QB*) so that A wants to respond to QB* with QA*, and B wants to respond to QA* by picking QB*.</a:t>
            </a:r>
          </a:p>
          <a:p>
            <a:r>
              <a:t>We start from the reaction function for A: QA=45−0.5QB (1). Then we repeat the analysis for firm B (everything is symmetric, so it is the mirror image): QB=45−0.5QA (2). Last, we need the pair (QA*, QB*) that satisfies both — two equations, two unknowns. Replace (1) in (2): QB=45−0.5(45−0.5QB)=22.5+0.25QB → 0.75QB=22.5 → QB=30. By symmetry QA=30 as well (verify: QA=45−0.5·30=30). The figure shows the graphical version: two lines with different slopes intersect in exactly one point. The staircase from QA=15 shows how the contemplated responses converge to the equilibrium.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practice videos on BruinLearn walk through the Cournot algebra step by step: the baseline case we just did, and the more general case where the two firms have different marginal costs.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Cournot Competition</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7  ·  Video 3</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82640"/>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141065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1</a:t>
            </a:r>
          </a:p>
        </p:txBody>
      </p:sp>
      <p:sp>
        <p:nvSpPr>
          <p:cNvPr id="9" name="TextBox 8"/>
          <p:cNvSpPr txBox="1"/>
          <p:nvPr/>
        </p:nvSpPr>
        <p:spPr>
          <a:xfrm>
            <a:off x="1874519" y="1401146"/>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Oligopoly and Game Theory</a:t>
            </a:r>
          </a:p>
        </p:txBody>
      </p:sp>
      <p:sp>
        <p:nvSpPr>
          <p:cNvPr id="10" name="Oval 9"/>
          <p:cNvSpPr/>
          <p:nvPr/>
        </p:nvSpPr>
        <p:spPr>
          <a:xfrm>
            <a:off x="1051560" y="1950152"/>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Rounded Rectangle 10"/>
          <p:cNvSpPr/>
          <p:nvPr/>
        </p:nvSpPr>
        <p:spPr>
          <a:xfrm>
            <a:off x="10332720" y="207816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12" name="TextBox 11"/>
          <p:cNvSpPr txBox="1"/>
          <p:nvPr/>
        </p:nvSpPr>
        <p:spPr>
          <a:xfrm>
            <a:off x="1874519" y="2068658"/>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Collusion and Cartels</a:t>
            </a:r>
          </a:p>
        </p:txBody>
      </p:sp>
      <p:sp>
        <p:nvSpPr>
          <p:cNvPr id="13" name="Rounded Rectangle 12"/>
          <p:cNvSpPr/>
          <p:nvPr/>
        </p:nvSpPr>
        <p:spPr>
          <a:xfrm>
            <a:off x="822960" y="2553656"/>
            <a:ext cx="11109960" cy="72694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51560" y="26176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5" name="Rounded Rectangle 14"/>
          <p:cNvSpPr/>
          <p:nvPr/>
        </p:nvSpPr>
        <p:spPr>
          <a:xfrm>
            <a:off x="10332720" y="274568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3</a:t>
            </a:r>
          </a:p>
        </p:txBody>
      </p:sp>
      <p:sp>
        <p:nvSpPr>
          <p:cNvPr id="16" name="TextBox 15"/>
          <p:cNvSpPr txBox="1"/>
          <p:nvPr/>
        </p:nvSpPr>
        <p:spPr>
          <a:xfrm>
            <a:off x="1874519" y="2599376"/>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Cournot Competition</a:t>
            </a:r>
          </a:p>
          <a:p>
            <a:pPr algn="l">
              <a:spcBef>
                <a:spcPts val="0"/>
              </a:spcBef>
              <a:buNone/>
            </a:pPr>
            <a:r>
              <a:rPr sz="2000">
                <a:solidFill>
                  <a:srgbClr val="555B66"/>
                </a:solidFill>
                <a:latin typeface="Calibri"/>
              </a:rPr>
              <a:t>Competing by choosing quantities: capacity decisions in oligopoly</a:t>
            </a:r>
          </a:p>
        </p:txBody>
      </p:sp>
      <p:sp>
        <p:nvSpPr>
          <p:cNvPr id="17" name="Oval 16"/>
          <p:cNvSpPr/>
          <p:nvPr/>
        </p:nvSpPr>
        <p:spPr>
          <a:xfrm>
            <a:off x="1051560" y="328517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8" name="Rounded Rectangle 17"/>
          <p:cNvSpPr/>
          <p:nvPr/>
        </p:nvSpPr>
        <p:spPr>
          <a:xfrm>
            <a:off x="10332720" y="341319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9" name="TextBox 18"/>
          <p:cNvSpPr txBox="1"/>
          <p:nvPr/>
        </p:nvSpPr>
        <p:spPr>
          <a:xfrm>
            <a:off x="1874519" y="3403682"/>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Bertrand Competition</a:t>
            </a:r>
          </a:p>
        </p:txBody>
      </p:sp>
      <p:sp>
        <p:nvSpPr>
          <p:cNvPr id="20" name="Oval 19"/>
          <p:cNvSpPr/>
          <p:nvPr/>
        </p:nvSpPr>
        <p:spPr>
          <a:xfrm>
            <a:off x="1051560" y="3952688"/>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1" name="Rounded Rectangle 20"/>
          <p:cNvSpPr/>
          <p:nvPr/>
        </p:nvSpPr>
        <p:spPr>
          <a:xfrm>
            <a:off x="10332720" y="408070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2" name="TextBox 21"/>
          <p:cNvSpPr txBox="1"/>
          <p:nvPr/>
        </p:nvSpPr>
        <p:spPr>
          <a:xfrm>
            <a:off x="1874519" y="4071194"/>
            <a:ext cx="8293609"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Bertrand Competition with Differentiated Goods</a:t>
            </a:r>
          </a:p>
        </p:txBody>
      </p:sp>
      <p:sp>
        <p:nvSpPr>
          <p:cNvPr id="23" name="Oval 22"/>
          <p:cNvSpPr/>
          <p:nvPr/>
        </p:nvSpPr>
        <p:spPr>
          <a:xfrm>
            <a:off x="1051560" y="4711640"/>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4" name="Rounded Rectangle 23"/>
          <p:cNvSpPr/>
          <p:nvPr/>
        </p:nvSpPr>
        <p:spPr>
          <a:xfrm>
            <a:off x="10332720" y="4741163"/>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5" name="TextBox 24"/>
          <p:cNvSpPr txBox="1"/>
          <p:nvPr/>
        </p:nvSpPr>
        <p:spPr>
          <a:xfrm>
            <a:off x="1874519" y="4693352"/>
            <a:ext cx="8293609" cy="424807"/>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Game Theory</a:t>
            </a:r>
          </a:p>
        </p:txBody>
      </p:sp>
      <p:sp>
        <p:nvSpPr>
          <p:cNvPr id="26" name="Oval 25"/>
          <p:cNvSpPr/>
          <p:nvPr/>
        </p:nvSpPr>
        <p:spPr>
          <a:xfrm>
            <a:off x="1481328" y="5218743"/>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6a</a:t>
            </a:r>
          </a:p>
        </p:txBody>
      </p:sp>
      <p:sp>
        <p:nvSpPr>
          <p:cNvPr id="27" name="Rounded Rectangle 26"/>
          <p:cNvSpPr/>
          <p:nvPr/>
        </p:nvSpPr>
        <p:spPr>
          <a:xfrm>
            <a:off x="10707625" y="5310183"/>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8" name="TextBox 27"/>
          <p:cNvSpPr txBox="1"/>
          <p:nvPr/>
        </p:nvSpPr>
        <p:spPr>
          <a:xfrm>
            <a:off x="2084831" y="5300673"/>
            <a:ext cx="8458202"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Strategic Thinking: Key Concepts</a:t>
            </a:r>
          </a:p>
        </p:txBody>
      </p:sp>
      <p:sp>
        <p:nvSpPr>
          <p:cNvPr id="29" name="Oval 28"/>
          <p:cNvSpPr/>
          <p:nvPr/>
        </p:nvSpPr>
        <p:spPr>
          <a:xfrm>
            <a:off x="1481328" y="5886255"/>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6b</a:t>
            </a:r>
          </a:p>
        </p:txBody>
      </p:sp>
      <p:sp>
        <p:nvSpPr>
          <p:cNvPr id="30" name="Rounded Rectangle 29"/>
          <p:cNvSpPr/>
          <p:nvPr/>
        </p:nvSpPr>
        <p:spPr>
          <a:xfrm>
            <a:off x="10707625" y="5977695"/>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35" name="TextBox 34"/>
          <p:cNvSpPr txBox="1"/>
          <p:nvPr/>
        </p:nvSpPr>
        <p:spPr>
          <a:xfrm>
            <a:off x="11475720" y="6583680"/>
            <a:ext cx="502920" cy="292608"/>
          </a:xfrm>
          <a:prstGeom prst="rect">
            <a:avLst/>
          </a:prstGeom>
          <a:noFill/>
        </p:spPr>
        <p:txBody>
          <a:bodyPr wrap="none" lIns="0" tIns="0" rIns="0" bIns="0">
            <a:spAutoFit/>
          </a:bodyPr>
          <a:lstStyle/>
          <a:p>
            <a:pPr algn="r"/>
            <a:fld id="{767D61CF-76F3-5E2A-A75B-17F69F126F1A}" type="slidenum">
              <a:rPr lang="en-US" sz="1200" dirty="0">
                <a:solidFill>
                  <a:srgbClr val="555B66"/>
                </a:solidFill>
                <a:latin typeface="Calibri"/>
              </a:rPr>
              <a:t>2</a:t>
            </a:fld>
            <a:endParaRPr lang="en-US" sz="1200" dirty="0">
              <a:solidFill>
                <a:srgbClr val="555B66"/>
              </a:solidFill>
              <a:latin typeface="Calibri"/>
            </a:endParaRPr>
          </a:p>
        </p:txBody>
      </p:sp>
      <p:sp>
        <p:nvSpPr>
          <p:cNvPr id="31" name="TextBox 30"/>
          <p:cNvSpPr txBox="1"/>
          <p:nvPr/>
        </p:nvSpPr>
        <p:spPr>
          <a:xfrm>
            <a:off x="2084831" y="5968185"/>
            <a:ext cx="8458202" cy="62179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Prisoner’s Dilemma, Game of Chicken…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Note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3" name="sdpair:box:113"/>
          <p:cNvGrpSpPr/>
          <p:nvPr/>
        </p:nvGrpSpPr>
        <p:grpSpPr>
          <a:xfrm>
            <a:off x="2697480" y="1212402"/>
            <a:ext cx="7307701" cy="1459108"/>
            <a:chOff x="2697480" y="1212402"/>
            <a:chExt cx="7307701" cy="1459108"/>
          </a:xfrm>
        </p:grpSpPr>
        <p:sp>
          <p:nvSpPr>
            <p:cNvPr id="7" name="Rounded Rectangle 6"/>
            <p:cNvSpPr/>
            <p:nvPr/>
          </p:nvSpPr>
          <p:spPr>
            <a:xfrm>
              <a:off x="2697480" y="1212402"/>
              <a:ext cx="7307701" cy="145910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59877" y="1249436"/>
              <a:ext cx="6982907" cy="1384950"/>
            </a:xfrm>
            <a:prstGeom prst="rect">
              <a:avLst/>
            </a:prstGeom>
            <a:noFill/>
          </p:spPr>
          <p:txBody>
            <a:bodyPr wrap="square" lIns="45720" tIns="0" rIns="45720" bIns="0" anchor="ctr">
              <a:spAutoFit/>
            </a:bodyPr>
            <a:lstStyle/>
            <a:p>
              <a:pPr algn="l"/>
              <a:r>
                <a:rPr sz="2600" b="1" i="0" u="none">
                  <a:solidFill>
                    <a:srgbClr val="0B2B4E"/>
                  </a:solidFill>
                  <a:latin typeface="Calibri"/>
                </a:rPr>
                <a:t>From now on:</a:t>
              </a:r>
            </a:p>
            <a:p>
              <a:pPr algn="l"/>
              <a:r>
                <a:rPr sz="4000" b="1" i="0" u="none">
                  <a:solidFill>
                    <a:srgbClr val="0B2B4E"/>
                  </a:solidFill>
                  <a:latin typeface="Calibri"/>
                </a:rPr>
                <a:t>No</a:t>
              </a:r>
              <a:r>
                <a:rPr sz="4000" b="0" i="0" u="none">
                  <a:solidFill>
                    <a:srgbClr val="0B2B4E"/>
                  </a:solidFill>
                  <a:latin typeface="Calibri"/>
                </a:rPr>
                <a:t> collusion among competitors</a:t>
              </a:r>
            </a:p>
            <a:p>
              <a:pPr algn="l"/>
              <a:r>
                <a:rPr sz="2400" b="1" i="0" u="none">
                  <a:solidFill>
                    <a:srgbClr val="0B2B4E"/>
                  </a:solidFill>
                  <a:latin typeface="Calibri"/>
                </a:rPr>
                <a:t>→  Firms compete strategically (“games”)</a:t>
              </a:r>
            </a:p>
          </p:txBody>
        </p:sp>
      </p:grpSp>
      <p:pic>
        <p:nvPicPr>
          <p:cNvPr id="9" name="Picture 8" descr="no_collusion.png"/>
          <p:cNvPicPr>
            <a:picLocks noChangeAspect="1"/>
          </p:cNvPicPr>
          <p:nvPr/>
        </p:nvPicPr>
        <p:blipFill>
          <a:blip r:embed="rId2"/>
          <a:stretch>
            <a:fillRect/>
          </a:stretch>
        </p:blipFill>
        <p:spPr>
          <a:xfrm>
            <a:off x="4265218" y="2766425"/>
            <a:ext cx="3661257" cy="3720419"/>
          </a:xfrm>
          <a:prstGeom prst="roundRect">
            <a:avLst>
              <a:gd name="adj" fmla="val 8000"/>
            </a:avLst>
          </a:prstGeom>
          <a:effectLst>
            <a:outerShdw blurRad="50800" dist="38100" dir="2700000" algn="tl" rotWithShape="0">
              <a:srgbClr val="000000">
                <a:alpha val="50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99F61522-E0F5-5E55-941C-914BECEA8EC9}"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Two Models of Oligopoly Competition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600200"/>
            <a:ext cx="4389120" cy="411480"/>
          </a:xfrm>
          <a:prstGeom prst="rect">
            <a:avLst/>
          </a:prstGeom>
          <a:noFill/>
        </p:spPr>
        <p:txBody>
          <a:bodyPr wrap="square" lIns="0" tIns="0" rIns="0" bIns="0">
            <a:spAutoFit/>
          </a:bodyPr>
          <a:lstStyle/>
          <a:p>
            <a:pPr algn="ctr"/>
            <a:r>
              <a:rPr sz="2400" b="1" i="0" u="none">
                <a:solidFill>
                  <a:srgbClr val="0B2B4E"/>
                </a:solidFill>
                <a:latin typeface="Calibri"/>
              </a:rPr>
              <a:t>Cournot (1801–1877)</a:t>
            </a:r>
          </a:p>
        </p:txBody>
      </p:sp>
      <p:pic>
        <p:nvPicPr>
          <p:cNvPr id="8" name="Picture 7" descr="image27.png"/>
          <p:cNvPicPr>
            <a:picLocks noChangeAspect="1"/>
          </p:cNvPicPr>
          <p:nvPr/>
        </p:nvPicPr>
        <p:blipFill>
          <a:blip r:embed="rId3"/>
          <a:stretch>
            <a:fillRect/>
          </a:stretch>
        </p:blipFill>
        <p:spPr>
          <a:xfrm>
            <a:off x="2267712" y="2039112"/>
            <a:ext cx="2039112" cy="2871216"/>
          </a:xfrm>
          <a:prstGeom prst="roundRect">
            <a:avLst>
              <a:gd name="adj" fmla="val 8000"/>
            </a:avLst>
          </a:prstGeom>
          <a:effectLst>
            <a:outerShdw blurRad="50800" dist="38100" dir="2700000" algn="tl" rotWithShape="0">
              <a:srgbClr val="000000">
                <a:alpha val="50000"/>
              </a:srgbClr>
            </a:outerShdw>
          </a:effectLst>
        </p:spPr>
      </p:pic>
      <p:sp>
        <p:nvSpPr>
          <p:cNvPr id="9" name="Rounded Rectangle 8"/>
          <p:cNvSpPr/>
          <p:nvPr/>
        </p:nvSpPr>
        <p:spPr>
          <a:xfrm>
            <a:off x="1051560" y="5120640"/>
            <a:ext cx="438912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Cournot Model: Competition in Quantity</a:t>
            </a:r>
          </a:p>
        </p:txBody>
      </p:sp>
      <p:sp>
        <p:nvSpPr>
          <p:cNvPr id="10" name="TextBox 9"/>
          <p:cNvSpPr txBox="1"/>
          <p:nvPr/>
        </p:nvSpPr>
        <p:spPr>
          <a:xfrm>
            <a:off x="6748272" y="1600200"/>
            <a:ext cx="4389120" cy="411480"/>
          </a:xfrm>
          <a:prstGeom prst="rect">
            <a:avLst/>
          </a:prstGeom>
          <a:noFill/>
        </p:spPr>
        <p:txBody>
          <a:bodyPr wrap="square" lIns="0" tIns="0" rIns="0" bIns="0">
            <a:spAutoFit/>
          </a:bodyPr>
          <a:lstStyle/>
          <a:p>
            <a:pPr algn="ctr"/>
            <a:r>
              <a:rPr sz="2400" b="1" i="0" u="none">
                <a:solidFill>
                  <a:srgbClr val="0B2B4E"/>
                </a:solidFill>
                <a:latin typeface="Calibri"/>
              </a:rPr>
              <a:t>Bertrand (1822–1900)</a:t>
            </a:r>
          </a:p>
        </p:txBody>
      </p:sp>
      <p:pic>
        <p:nvPicPr>
          <p:cNvPr id="11" name="Picture 10" descr="image26.jpg"/>
          <p:cNvPicPr>
            <a:picLocks noChangeAspect="1"/>
          </p:cNvPicPr>
          <p:nvPr/>
        </p:nvPicPr>
        <p:blipFill>
          <a:blip r:embed="rId4"/>
          <a:stretch>
            <a:fillRect/>
          </a:stretch>
        </p:blipFill>
        <p:spPr>
          <a:xfrm>
            <a:off x="7891272" y="2057400"/>
            <a:ext cx="2368296" cy="2871216"/>
          </a:xfrm>
          <a:prstGeom prst="roundRect">
            <a:avLst>
              <a:gd name="adj" fmla="val 8000"/>
            </a:avLst>
          </a:prstGeom>
          <a:effectLst>
            <a:outerShdw blurRad="50800" dist="38100" dir="2700000" algn="tl" rotWithShape="0">
              <a:srgbClr val="000000">
                <a:alpha val="50000"/>
              </a:srgbClr>
            </a:outerShdw>
          </a:effectLst>
        </p:spPr>
      </p:pic>
      <p:sp>
        <p:nvSpPr>
          <p:cNvPr id="12" name="Rounded Rectangle 11"/>
          <p:cNvSpPr/>
          <p:nvPr/>
        </p:nvSpPr>
        <p:spPr>
          <a:xfrm>
            <a:off x="6748272" y="5120640"/>
            <a:ext cx="438912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Bertrand Model: Competition in Price</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948DC3A2-FC9C-5302-B94F-DE090F01F204}"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Two Oligopoly Models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49427" y="1316736"/>
            <a:ext cx="5440680" cy="54864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Cournot</a:t>
            </a:r>
          </a:p>
        </p:txBody>
      </p:sp>
      <p:sp>
        <p:nvSpPr>
          <p:cNvPr id="8" name="Rounded Rectangle 7"/>
          <p:cNvSpPr/>
          <p:nvPr/>
        </p:nvSpPr>
        <p:spPr>
          <a:xfrm>
            <a:off x="6301587" y="1316736"/>
            <a:ext cx="5440680" cy="548640"/>
          </a:xfrm>
          <a:prstGeom prst="roundRect">
            <a:avLst>
              <a:gd name="adj" fmla="val 15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Bertrand</a:t>
            </a:r>
          </a:p>
        </p:txBody>
      </p:sp>
      <p:grpSp>
        <p:nvGrpSpPr>
          <p:cNvPr id="118" name="sdpair:box:118"/>
          <p:cNvGrpSpPr/>
          <p:nvPr/>
        </p:nvGrpSpPr>
        <p:grpSpPr>
          <a:xfrm>
            <a:off x="449427" y="1975104"/>
            <a:ext cx="5440680" cy="1819656"/>
            <a:chOff x="449427" y="1975104"/>
            <a:chExt cx="5440680" cy="1819656"/>
          </a:xfrm>
        </p:grpSpPr>
        <p:sp>
          <p:nvSpPr>
            <p:cNvPr id="9" name="Rounded Rectangle 8"/>
            <p:cNvSpPr/>
            <p:nvPr/>
          </p:nvSpPr>
          <p:spPr>
            <a:xfrm>
              <a:off x="449427" y="1975104"/>
              <a:ext cx="5440680" cy="1819656"/>
            </a:xfrm>
            <a:prstGeom prst="roundRect">
              <a:avLst>
                <a:gd name="adj" fmla="val 5000"/>
              </a:avLst>
            </a:prstGeom>
            <a:solidFill>
              <a:srgbClr val="FFFFFF"/>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23747" y="2231163"/>
              <a:ext cx="4892040" cy="1307537"/>
            </a:xfrm>
            <a:prstGeom prst="rect">
              <a:avLst/>
            </a:prstGeom>
            <a:noFill/>
          </p:spPr>
          <p:txBody>
            <a:bodyPr wrap="square" lIns="0" tIns="0" rIns="0" bIns="0" anchor="ctr">
              <a:spAutoFit/>
            </a:bodyPr>
            <a:lstStyle/>
            <a:p>
              <a:pPr marL="342900" indent="-342900" algn="l">
                <a:lnSpc>
                  <a:spcPct val="85000"/>
                </a:lnSpc>
                <a:buClr>
                  <a:srgbClr val="0B2B4E"/>
                </a:buClr>
                <a:buFont typeface="Calibri"/>
                <a:buChar char="▪"/>
              </a:pPr>
              <a:r>
                <a:rPr sz="2200" b="0" dirty="0">
                  <a:solidFill>
                    <a:srgbClr val="0B2B4E"/>
                  </a:solidFill>
                  <a:latin typeface="Calibri"/>
                </a:rPr>
                <a:t>The rival's </a:t>
              </a:r>
              <a:r>
                <a:rPr sz="2200" b="0" dirty="0">
                  <a:solidFill>
                    <a:srgbClr val="C00000"/>
                  </a:solidFill>
                  <a:latin typeface="Calibri"/>
                </a:rPr>
                <a:t>supply</a:t>
              </a:r>
              <a:r>
                <a:rPr sz="2200" b="0" dirty="0">
                  <a:solidFill>
                    <a:srgbClr val="0B2B4E"/>
                  </a:solidFill>
                  <a:latin typeface="Calibri"/>
                </a:rPr>
                <a:t> is taken as given</a:t>
              </a:r>
            </a:p>
            <a:p>
              <a:pPr marL="342900" indent="-342900" algn="l">
                <a:lnSpc>
                  <a:spcPct val="85000"/>
                </a:lnSpc>
                <a:spcBef>
                  <a:spcPts val="600"/>
                </a:spcBef>
                <a:buClr>
                  <a:srgbClr val="0B2B4E"/>
                </a:buClr>
                <a:buFont typeface="Calibri"/>
                <a:buChar char="▪"/>
              </a:pPr>
              <a:r>
                <a:rPr sz="2200" b="0" dirty="0">
                  <a:solidFill>
                    <a:srgbClr val="0B2B4E"/>
                  </a:solidFill>
                  <a:latin typeface="Calibri"/>
                </a:rPr>
                <a:t>Firm reacts by adjusting its own </a:t>
              </a:r>
              <a:r>
                <a:rPr sz="2200" b="0" dirty="0">
                  <a:solidFill>
                    <a:srgbClr val="C00000"/>
                  </a:solidFill>
                  <a:latin typeface="Calibri"/>
                </a:rPr>
                <a:t>quantity</a:t>
              </a:r>
              <a:r>
                <a:rPr sz="2200" b="0" dirty="0">
                  <a:solidFill>
                    <a:srgbClr val="0B2B4E"/>
                  </a:solidFill>
                  <a:latin typeface="Calibri"/>
                </a:rPr>
                <a:t> accordingly</a:t>
              </a:r>
            </a:p>
            <a:p>
              <a:pPr marL="342900" indent="-342900" algn="l">
                <a:lnSpc>
                  <a:spcPct val="85000"/>
                </a:lnSpc>
                <a:spcBef>
                  <a:spcPts val="600"/>
                </a:spcBef>
                <a:buClr>
                  <a:srgbClr val="0B2B4E"/>
                </a:buClr>
                <a:buFont typeface="Calibri"/>
                <a:buChar char="▪"/>
              </a:pPr>
              <a:r>
                <a:rPr sz="2200" b="0" dirty="0">
                  <a:solidFill>
                    <a:srgbClr val="0B2B4E"/>
                  </a:solidFill>
                  <a:latin typeface="Calibri"/>
                </a:rPr>
                <a:t>Price is determined in the market</a:t>
              </a:r>
            </a:p>
          </p:txBody>
        </p:sp>
      </p:grpSp>
      <p:grpSp>
        <p:nvGrpSpPr>
          <p:cNvPr id="119" name="sdpair:box:119"/>
          <p:cNvGrpSpPr/>
          <p:nvPr/>
        </p:nvGrpSpPr>
        <p:grpSpPr>
          <a:xfrm>
            <a:off x="6301587" y="1975104"/>
            <a:ext cx="5440680" cy="1819656"/>
            <a:chOff x="6301587" y="1975104"/>
            <a:chExt cx="5440680" cy="1819656"/>
          </a:xfrm>
        </p:grpSpPr>
        <p:sp>
          <p:nvSpPr>
            <p:cNvPr id="10" name="Rounded Rectangle 9"/>
            <p:cNvSpPr/>
            <p:nvPr/>
          </p:nvSpPr>
          <p:spPr>
            <a:xfrm>
              <a:off x="6301587" y="1975104"/>
              <a:ext cx="5440680" cy="1819656"/>
            </a:xfrm>
            <a:prstGeom prst="roundRect">
              <a:avLst>
                <a:gd name="adj" fmla="val 5000"/>
              </a:avLst>
            </a:prstGeom>
            <a:solidFill>
              <a:srgbClr val="FFFFFF"/>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575907" y="2087277"/>
              <a:ext cx="4892040" cy="1595309"/>
            </a:xfrm>
            <a:prstGeom prst="rect">
              <a:avLst/>
            </a:prstGeom>
            <a:noFill/>
          </p:spPr>
          <p:txBody>
            <a:bodyPr wrap="square" lIns="0" tIns="0" rIns="0" bIns="0" anchor="ctr">
              <a:spAutoFit/>
            </a:bodyPr>
            <a:lstStyle/>
            <a:p>
              <a:pPr marL="342900" indent="-342900" algn="l">
                <a:lnSpc>
                  <a:spcPct val="85000"/>
                </a:lnSpc>
                <a:buClr>
                  <a:srgbClr val="0B2B4E"/>
                </a:buClr>
                <a:buFont typeface="Calibri"/>
                <a:buChar char="▪"/>
              </a:pPr>
              <a:r>
                <a:rPr sz="2200" b="0" dirty="0">
                  <a:solidFill>
                    <a:srgbClr val="0B2B4E"/>
                  </a:solidFill>
                  <a:latin typeface="Calibri"/>
                </a:rPr>
                <a:t>The rival's </a:t>
              </a:r>
              <a:r>
                <a:rPr sz="2200" b="0" dirty="0">
                  <a:solidFill>
                    <a:srgbClr val="C00000"/>
                  </a:solidFill>
                  <a:latin typeface="Calibri"/>
                </a:rPr>
                <a:t>price</a:t>
              </a:r>
              <a:r>
                <a:rPr sz="2200" b="0" dirty="0">
                  <a:solidFill>
                    <a:srgbClr val="0B2B4E"/>
                  </a:solidFill>
                  <a:latin typeface="Calibri"/>
                </a:rPr>
                <a:t> is taken as given</a:t>
              </a:r>
            </a:p>
            <a:p>
              <a:pPr marL="342900" indent="-342900" algn="l">
                <a:lnSpc>
                  <a:spcPct val="85000"/>
                </a:lnSpc>
                <a:spcBef>
                  <a:spcPts val="600"/>
                </a:spcBef>
                <a:buClr>
                  <a:srgbClr val="0B2B4E"/>
                </a:buClr>
                <a:buFont typeface="Calibri"/>
                <a:buChar char="▪"/>
              </a:pPr>
              <a:r>
                <a:rPr sz="2200" b="0" dirty="0">
                  <a:solidFill>
                    <a:srgbClr val="0B2B4E"/>
                  </a:solidFill>
                  <a:latin typeface="Calibri"/>
                </a:rPr>
                <a:t>Firm reacts by adjusting its own </a:t>
              </a:r>
              <a:r>
                <a:rPr sz="2200" b="0" dirty="0">
                  <a:solidFill>
                    <a:srgbClr val="C00000"/>
                  </a:solidFill>
                  <a:latin typeface="Calibri"/>
                </a:rPr>
                <a:t>price</a:t>
              </a:r>
              <a:r>
                <a:rPr sz="2200" b="0" dirty="0">
                  <a:solidFill>
                    <a:srgbClr val="0B2B4E"/>
                  </a:solidFill>
                  <a:latin typeface="Calibri"/>
                </a:rPr>
                <a:t> (underbidding, if feasible)</a:t>
              </a:r>
            </a:p>
            <a:p>
              <a:pPr marL="342900" indent="-342900" algn="l">
                <a:lnSpc>
                  <a:spcPct val="85000"/>
                </a:lnSpc>
                <a:spcBef>
                  <a:spcPts val="600"/>
                </a:spcBef>
                <a:buClr>
                  <a:srgbClr val="0B2B4E"/>
                </a:buClr>
                <a:buFont typeface="Calibri"/>
                <a:buChar char="▪"/>
              </a:pPr>
              <a:r>
                <a:rPr sz="2200" b="0" dirty="0">
                  <a:solidFill>
                    <a:srgbClr val="0B2B4E"/>
                  </a:solidFill>
                  <a:latin typeface="Calibri"/>
                </a:rPr>
                <a:t>Firms then supply the quantity that is demanded at the price they set</a:t>
              </a:r>
            </a:p>
          </p:txBody>
        </p:sp>
      </p:grpSp>
      <p:pic>
        <p:nvPicPr>
          <p:cNvPr id="13" name="Picture 12" descr="Cournot_competition_quantity.png"/>
          <p:cNvPicPr>
            <a:picLocks noChangeAspect="1"/>
          </p:cNvPicPr>
          <p:nvPr/>
        </p:nvPicPr>
        <p:blipFill>
          <a:blip r:embed="rId2"/>
          <a:stretch>
            <a:fillRect/>
          </a:stretch>
        </p:blipFill>
        <p:spPr>
          <a:xfrm>
            <a:off x="994867" y="4040733"/>
            <a:ext cx="4148632" cy="2315260"/>
          </a:xfrm>
          <a:prstGeom prst="roundRect">
            <a:avLst>
              <a:gd name="adj" fmla="val 8000"/>
            </a:avLst>
          </a:prstGeom>
          <a:effectLst>
            <a:outerShdw blurRad="50800" dist="38100" dir="2700000" algn="tl" rotWithShape="0">
              <a:srgbClr val="000000">
                <a:alpha val="50000"/>
              </a:srgbClr>
            </a:outerShdw>
          </a:effectLst>
        </p:spPr>
      </p:pic>
      <p:pic>
        <p:nvPicPr>
          <p:cNvPr id="14" name="Picture 13" descr="Bertrand_price_competition.png"/>
          <p:cNvPicPr>
            <a:picLocks noChangeAspect="1"/>
          </p:cNvPicPr>
          <p:nvPr/>
        </p:nvPicPr>
        <p:blipFill>
          <a:blip r:embed="rId3"/>
          <a:stretch>
            <a:fillRect/>
          </a:stretch>
        </p:blipFill>
        <p:spPr>
          <a:xfrm>
            <a:off x="6947611" y="4039819"/>
            <a:ext cx="4148632" cy="2315260"/>
          </a:xfrm>
          <a:prstGeom prst="roundRect">
            <a:avLst>
              <a:gd name="adj" fmla="val 8000"/>
            </a:avLst>
          </a:prstGeom>
          <a:effectLst>
            <a:outerShdw blurRad="50800" dist="38100" dir="2700000" algn="tl" rotWithShape="0">
              <a:srgbClr val="000000">
                <a:alpha val="50000"/>
              </a:srgbClr>
            </a:outerShdw>
          </a:effectLst>
        </p:spPr>
      </p:pic>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8" name="TextBox 17"/>
          <p:cNvSpPr txBox="1"/>
          <p:nvPr/>
        </p:nvSpPr>
        <p:spPr>
          <a:xfrm>
            <a:off x="11475720" y="6583680"/>
            <a:ext cx="502920" cy="292608"/>
          </a:xfrm>
          <a:prstGeom prst="rect">
            <a:avLst/>
          </a:prstGeom>
          <a:noFill/>
        </p:spPr>
        <p:txBody>
          <a:bodyPr wrap="none" lIns="0" tIns="0" rIns="0" bIns="0">
            <a:spAutoFit/>
          </a:bodyPr>
          <a:lstStyle/>
          <a:p>
            <a:pPr algn="r"/>
            <a:fld id="{B914F248-C04B-539C-B111-436372A81D26}"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500"/>
                                        <p:tgtEl>
                                          <p:spTgt spid="118"/>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9"/>
                                        </p:tgtEl>
                                        <p:attrNameLst>
                                          <p:attrName>style.visibility</p:attrName>
                                        </p:attrNameLst>
                                      </p:cBhvr>
                                      <p:to>
                                        <p:strVal val="visible"/>
                                      </p:to>
                                    </p:set>
                                    <p:animEffect transition="in" filter="fade">
                                      <p:cBhvr>
                                        <p:cTn id="15" dur="500"/>
                                        <p:tgtEl>
                                          <p:spTgt spid="119"/>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Duopoly Example: Nickel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7" name="TextBox 6"/>
              <p:cNvSpPr txBox="1"/>
              <p:nvPr/>
            </p:nvSpPr>
            <p:spPr>
              <a:xfrm>
                <a:off x="599846" y="1572768"/>
                <a:ext cx="8964777" cy="4154984"/>
              </a:xfrm>
              <a:prstGeom prst="rect">
                <a:avLst/>
              </a:prstGeom>
              <a:noFill/>
            </p:spPr>
            <p:txBody>
              <a:bodyPr wrap="square" lIns="45720" tIns="0" rIns="45720" bIns="0">
                <a:spAutoFit/>
              </a:bodyPr>
              <a:lstStyle/>
              <a:p>
                <a:r>
                  <a:rPr lang="en-US" sz="2400" dirty="0">
                    <a:solidFill>
                      <a:srgbClr val="0B2B4E"/>
                    </a:solidFill>
                    <a:latin typeface="Calibri"/>
                  </a:rPr>
                  <a:t>▪  Two firms: Vale (Firm A) and </a:t>
                </a:r>
                <a:r>
                  <a:rPr lang="en-US" sz="2400" dirty="0" err="1">
                    <a:solidFill>
                      <a:srgbClr val="0B2B4E"/>
                    </a:solidFill>
                    <a:latin typeface="Calibri"/>
                  </a:rPr>
                  <a:t>Tsingshan</a:t>
                </a:r>
                <a:r>
                  <a:rPr lang="en-US" sz="2400" dirty="0">
                    <a:solidFill>
                      <a:srgbClr val="0B2B4E"/>
                    </a:solidFill>
                    <a:latin typeface="Calibri"/>
                  </a:rPr>
                  <a:t> (Firm B)</a:t>
                </a:r>
                <a:endParaRPr lang="en-US" dirty="0"/>
              </a:p>
              <a:p>
                <a:endParaRPr lang="en-US" dirty="0"/>
              </a:p>
              <a:p>
                <a:endParaRPr lang="en-US" dirty="0"/>
              </a:p>
              <a:p>
                <a:endParaRPr lang="en-US" dirty="0"/>
              </a:p>
              <a:p>
                <a:endParaRPr lang="en-US" dirty="0"/>
              </a:p>
              <a:p>
                <a:r>
                  <a:rPr lang="en-US" sz="2400" dirty="0">
                    <a:solidFill>
                      <a:srgbClr val="0B2B4E"/>
                    </a:solidFill>
                    <a:latin typeface="Calibri"/>
                  </a:rPr>
                  <a:t>▪  Homogeneous (identical) good</a:t>
                </a:r>
                <a:endParaRPr lang="en-US" dirty="0"/>
              </a:p>
              <a:p>
                <a:endParaRPr lang="en-US" dirty="0"/>
              </a:p>
              <a:p>
                <a:r>
                  <a:rPr lang="en-US" sz="2400" dirty="0">
                    <a:solidFill>
                      <a:srgbClr val="0B2B4E"/>
                    </a:solidFill>
                    <a:latin typeface="Calibri"/>
                  </a:rPr>
                  <a:t>▪  Market supply is the sum of the two firms' supply:</a:t>
                </a:r>
                <a:endParaRPr lang="en-US" dirty="0"/>
              </a:p>
              <a:p>
                <a:r>
                  <a:rPr lang="en-US" sz="2400" dirty="0">
                    <a:solidFill>
                      <a:srgbClr val="0B2B4E"/>
                    </a:solidFill>
                    <a:latin typeface="Calibri"/>
                  </a:rPr>
                  <a:t>        </a:t>
                </a:r>
                <a14:m>
                  <m:oMath xmlns:m="http://schemas.openxmlformats.org/officeDocument/2006/math">
                    <m:sSub>
                      <m:sSubPr>
                        <m:ctrlPr>
                          <a:rPr lang="en-US" sz="2400" b="0" i="1">
                            <a:solidFill>
                              <a:srgbClr val="0B2B4E"/>
                            </a:solidFill>
                            <a:latin typeface="Cambria Math"/>
                            <a:ea typeface="Cambria Math"/>
                          </a:rPr>
                        </m:ctrlPr>
                      </m:sSubPr>
                      <m:e>
                        <m:r>
                          <a:rPr lang="en-US" sz="2400" b="0" i="1">
                            <a:solidFill>
                              <a:srgbClr val="0B2B4E"/>
                            </a:solidFill>
                            <a:latin typeface="Cambria Math"/>
                            <a:ea typeface="Cambria Math"/>
                          </a:rPr>
                          <m:t>𝑄</m:t>
                        </m:r>
                      </m:e>
                      <m:sub>
                        <m:r>
                          <m:rPr>
                            <m:sty m:val="p"/>
                          </m:rPr>
                          <a:rPr lang="en-US" sz="2400" b="0" i="0">
                            <a:solidFill>
                              <a:srgbClr val="0B2B4E"/>
                            </a:solidFill>
                            <a:latin typeface="Cambria Math"/>
                          </a:rPr>
                          <m:t>M</m:t>
                        </m:r>
                      </m:sub>
                    </m:sSub>
                    <m:r>
                      <a:rPr lang="en-US" sz="2400" b="0" i="0">
                        <a:solidFill>
                          <a:srgbClr val="0B2B4E"/>
                        </a:solidFill>
                        <a:latin typeface="Cambria Math"/>
                      </a:rPr>
                      <m:t> = </m:t>
                    </m:r>
                    <m:sSub>
                      <m:sSubPr>
                        <m:ctrlPr>
                          <a:rPr lang="en-US" sz="2400" b="0" i="1">
                            <a:solidFill>
                              <a:srgbClr val="0B2B4E"/>
                            </a:solidFill>
                            <a:latin typeface="Cambria Math"/>
                            <a:ea typeface="Cambria Math"/>
                          </a:rPr>
                        </m:ctrlPr>
                      </m:sSubPr>
                      <m:e>
                        <m:r>
                          <a:rPr lang="en-US" sz="2400" b="0" i="1">
                            <a:solidFill>
                              <a:srgbClr val="0B2B4E"/>
                            </a:solidFill>
                            <a:latin typeface="Cambria Math"/>
                            <a:ea typeface="Cambria Math"/>
                          </a:rPr>
                          <m:t>𝑄</m:t>
                        </m:r>
                      </m:e>
                      <m:sub>
                        <m:r>
                          <m:rPr>
                            <m:sty m:val="p"/>
                          </m:rPr>
                          <a:rPr lang="en-US" sz="2400" b="0" i="0">
                            <a:solidFill>
                              <a:srgbClr val="0B2B4E"/>
                            </a:solidFill>
                            <a:latin typeface="Cambria Math"/>
                          </a:rPr>
                          <m:t>A</m:t>
                        </m:r>
                      </m:sub>
                    </m:sSub>
                    <m:r>
                      <a:rPr lang="en-US" sz="2400" b="0" i="0">
                        <a:solidFill>
                          <a:srgbClr val="0B2B4E"/>
                        </a:solidFill>
                        <a:latin typeface="Cambria Math"/>
                      </a:rPr>
                      <m:t> + </m:t>
                    </m:r>
                    <m:sSub>
                      <m:sSubPr>
                        <m:ctrlPr>
                          <a:rPr lang="en-US" sz="2400" b="0" i="1">
                            <a:solidFill>
                              <a:srgbClr val="0B2B4E"/>
                            </a:solidFill>
                            <a:latin typeface="Cambria Math"/>
                            <a:ea typeface="Cambria Math"/>
                          </a:rPr>
                        </m:ctrlPr>
                      </m:sSubPr>
                      <m:e>
                        <m:r>
                          <a:rPr lang="en-US" sz="2400" b="0" i="1">
                            <a:solidFill>
                              <a:srgbClr val="0B2B4E"/>
                            </a:solidFill>
                            <a:latin typeface="Cambria Math"/>
                            <a:ea typeface="Cambria Math"/>
                          </a:rPr>
                          <m:t>𝑄</m:t>
                        </m:r>
                      </m:e>
                      <m:sub>
                        <m:r>
                          <m:rPr>
                            <m:sty m:val="p"/>
                          </m:rPr>
                          <a:rPr lang="en-US" sz="2400" b="0" i="0">
                            <a:solidFill>
                              <a:srgbClr val="0B2B4E"/>
                            </a:solidFill>
                            <a:latin typeface="Cambria Math"/>
                          </a:rPr>
                          <m:t>B</m:t>
                        </m:r>
                      </m:sub>
                    </m:sSub>
                  </m:oMath>
                </a14:m>
                <a:endParaRPr lang="en-US" dirty="0"/>
              </a:p>
              <a:p>
                <a:endParaRPr lang="en-US" dirty="0"/>
              </a:p>
              <a:p>
                <a:r>
                  <a:rPr lang="en-US" sz="2400" dirty="0">
                    <a:solidFill>
                      <a:srgbClr val="0B2B4E"/>
                    </a:solidFill>
                    <a:latin typeface="Calibri"/>
                  </a:rPr>
                  <a:t>▪  Market demand is:   </a:t>
                </a:r>
                <a14:m>
                  <m:oMath xmlns:m="http://schemas.openxmlformats.org/officeDocument/2006/math">
                    <m:r>
                      <a:rPr lang="en-US" sz="2400" b="0" i="1">
                        <a:solidFill>
                          <a:srgbClr val="0B2B4E"/>
                        </a:solidFill>
                        <a:latin typeface="Cambria Math"/>
                        <a:ea typeface="Cambria Math"/>
                      </a:rPr>
                      <m:t>𝑃</m:t>
                    </m:r>
                    <m:r>
                      <a:rPr lang="en-US" sz="2400" b="0" i="0">
                        <a:solidFill>
                          <a:srgbClr val="0B2B4E"/>
                        </a:solidFill>
                        <a:latin typeface="Cambria Math"/>
                      </a:rPr>
                      <m:t> = 100 − </m:t>
                    </m:r>
                    <m:sSub>
                      <m:sSubPr>
                        <m:ctrlPr>
                          <a:rPr lang="en-US" sz="2400" b="0" i="1">
                            <a:solidFill>
                              <a:srgbClr val="0B2B4E"/>
                            </a:solidFill>
                            <a:latin typeface="Cambria Math"/>
                            <a:ea typeface="Cambria Math"/>
                          </a:rPr>
                        </m:ctrlPr>
                      </m:sSubPr>
                      <m:e>
                        <m:r>
                          <a:rPr lang="en-US" sz="2400" b="0" i="1">
                            <a:solidFill>
                              <a:srgbClr val="0B2B4E"/>
                            </a:solidFill>
                            <a:latin typeface="Cambria Math"/>
                            <a:ea typeface="Cambria Math"/>
                          </a:rPr>
                          <m:t>𝑄</m:t>
                        </m:r>
                      </m:e>
                      <m:sub>
                        <m:r>
                          <m:rPr>
                            <m:sty m:val="p"/>
                          </m:rPr>
                          <a:rPr lang="en-US" sz="2400" b="0" i="0">
                            <a:solidFill>
                              <a:srgbClr val="0B2B4E"/>
                            </a:solidFill>
                            <a:latin typeface="Cambria Math"/>
                          </a:rPr>
                          <m:t>M</m:t>
                        </m:r>
                      </m:sub>
                    </m:sSub>
                  </m:oMath>
                </a14:m>
                <a:endParaRPr lang="en-US" dirty="0"/>
              </a:p>
              <a:p>
                <a:endParaRPr lang="en-US" dirty="0"/>
              </a:p>
              <a:p>
                <a:r>
                  <a:rPr lang="en-US" sz="2400" dirty="0">
                    <a:solidFill>
                      <a:srgbClr val="0B2B4E"/>
                    </a:solidFill>
                    <a:latin typeface="Calibri"/>
                  </a:rPr>
                  <a:t>▪  The two firms have the same marginal cost of $10</a:t>
                </a:r>
                <a:endParaRPr lang="en-US" dirty="0"/>
              </a:p>
            </p:txBody>
          </p:sp>
        </mc:Choice>
        <mc:Fallback>
          <p:sp>
            <p:nvSpPr>
              <p:cNvPr id="7" name="TextBox 6"/>
              <p:cNvSpPr txBox="1">
                <a:spLocks noRot="1" noChangeAspect="1" noMove="1" noResize="1" noEditPoints="1" noAdjustHandles="1" noChangeArrowheads="1" noChangeShapeType="1" noTextEdit="1"/>
              </p:cNvSpPr>
              <p:nvPr/>
            </p:nvSpPr>
            <p:spPr>
              <a:xfrm>
                <a:off x="599846" y="1572768"/>
                <a:ext cx="8964777" cy="4154984"/>
              </a:xfrm>
              <a:prstGeom prst="rect">
                <a:avLst/>
              </a:prstGeom>
              <a:blipFill>
                <a:blip r:embed="rId3"/>
                <a:stretch>
                  <a:fillRect l="-1564" t="-2199" b="-3372"/>
                </a:stretch>
              </a:blipFill>
            </p:spPr>
            <p:txBody>
              <a:bodyPr/>
              <a:lstStyle/>
              <a:p>
                <a:r>
                  <a:rPr lang="en-US">
                    <a:noFill/>
                  </a:rPr>
                  <a:t> </a:t>
                </a:r>
              </a:p>
            </p:txBody>
          </p:sp>
        </mc:Fallback>
      </mc:AlternateContent>
      <p:pic>
        <p:nvPicPr>
          <p:cNvPr id="8" name="Picture 7" descr="image28.jpg"/>
          <p:cNvPicPr>
            <a:picLocks noChangeAspect="1"/>
          </p:cNvPicPr>
          <p:nvPr/>
        </p:nvPicPr>
        <p:blipFill>
          <a:blip r:embed="rId4"/>
          <a:stretch>
            <a:fillRect/>
          </a:stretch>
        </p:blipFill>
        <p:spPr>
          <a:xfrm>
            <a:off x="2267712" y="2050999"/>
            <a:ext cx="2194560" cy="988498"/>
          </a:xfrm>
          <a:prstGeom prst="rect">
            <a:avLst/>
          </a:prstGeom>
        </p:spPr>
      </p:pic>
      <p:sp>
        <p:nvSpPr>
          <p:cNvPr id="9" name="Rounded Rectangle 8"/>
          <p:cNvSpPr/>
          <p:nvPr/>
        </p:nvSpPr>
        <p:spPr>
          <a:xfrm>
            <a:off x="4998110" y="2050999"/>
            <a:ext cx="2194560" cy="960120"/>
          </a:xfrm>
          <a:prstGeom prst="roundRect">
            <a:avLst>
              <a:gd name="adj" fmla="val 6000"/>
            </a:avLst>
          </a:prstGeom>
          <a:solidFill>
            <a:srgbClr val="FFFFFF"/>
          </a:solid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06B3F"/>
                </a:solidFill>
                <a:latin typeface="Calibri"/>
              </a:rPr>
              <a:t>TSINGSHAN</a:t>
            </a:r>
          </a:p>
          <a:p>
            <a:pPr algn="ctr"/>
            <a:r>
              <a:rPr sz="1100">
                <a:solidFill>
                  <a:srgbClr val="555B66"/>
                </a:solidFill>
                <a:latin typeface="Calibri"/>
              </a:rPr>
              <a:t>HOLDING GROUP</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743D7CE8-A7AB-5873-9C1E-FFF8DB94D596}"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500"/>
                                        <p:tgtEl>
                                          <p:spTgt spid="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7" end="7"/>
                                            </p:txEl>
                                          </p:spTgt>
                                        </p:tgtEl>
                                        <p:attrNameLst>
                                          <p:attrName>style.visibility</p:attrName>
                                        </p:attrNameLst>
                                      </p:cBhvr>
                                      <p:to>
                                        <p:strVal val="visible"/>
                                      </p:to>
                                    </p:set>
                                    <p:animEffect transition="in" filter="fade">
                                      <p:cBhvr>
                                        <p:cTn id="12" dur="500"/>
                                        <p:tgtEl>
                                          <p:spTgt spid="7">
                                            <p:txEl>
                                              <p:pRg st="7" end="7"/>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animEffect transition="in" filter="fade">
                                      <p:cBhvr>
                                        <p:cTn id="15" dur="500"/>
                                        <p:tgtEl>
                                          <p:spTgt spid="7">
                                            <p:txEl>
                                              <p:pRg st="8" end="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10" end="10"/>
                                            </p:txEl>
                                          </p:spTgt>
                                        </p:tgtEl>
                                        <p:attrNameLst>
                                          <p:attrName>style.visibility</p:attrName>
                                        </p:attrNameLst>
                                      </p:cBhvr>
                                      <p:to>
                                        <p:strVal val="visible"/>
                                      </p:to>
                                    </p:set>
                                    <p:animEffect transition="in" filter="fade">
                                      <p:cBhvr>
                                        <p:cTn id="20" dur="500"/>
                                        <p:tgtEl>
                                          <p:spTgt spid="7">
                                            <p:txEl>
                                              <p:pRg st="10" end="1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12" end="12"/>
                                            </p:txEl>
                                          </p:spTgt>
                                        </p:tgtEl>
                                        <p:attrNameLst>
                                          <p:attrName>style.visibility</p:attrName>
                                        </p:attrNameLst>
                                      </p:cBhvr>
                                      <p:to>
                                        <p:strVal val="visible"/>
                                      </p:to>
                                    </p:set>
                                    <p:animEffect transition="in" filter="fade">
                                      <p:cBhvr>
                                        <p:cTn id="25"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s21_image27.png"/>
          <p:cNvPicPr>
            <a:picLocks noChangeAspect="1"/>
          </p:cNvPicPr>
          <p:nvPr/>
        </p:nvPicPr>
        <p:blipFill>
          <a:blip r:embed="rId2"/>
          <a:stretch>
            <a:fillRect/>
          </a:stretch>
        </p:blipFill>
        <p:spPr>
          <a:xfrm>
            <a:off x="3658" y="0"/>
            <a:ext cx="12185294" cy="6858000"/>
          </a:xfrm>
          <a:prstGeom prst="rect">
            <a:avLst/>
          </a:prstGeom>
        </p:spPr>
      </p:pic>
      <p:sp>
        <p:nvSpPr>
          <p:cNvPr id="3" name="Rectangle 2"/>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5" name="TextBox 4"/>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Cournot Competition (with Homogeneous Goods)</a:t>
            </a:r>
          </a:p>
        </p:txBody>
      </p:sp>
      <p:sp>
        <p:nvSpPr>
          <p:cNvPr id="6" name="Rectangle 5"/>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9500" name="Group 12">
            <a:extLst>
              <a:ext uri="{FF2B5EF4-FFF2-40B4-BE49-F238E27FC236}">
                <a16:creationId xmlns:a16="http://schemas.microsoft.com/office/drawing/2014/main" id="{3FC2C896-F331-7DD1-80CD-222E9950AFD8}"/>
              </a:ext>
            </a:extLst>
          </p:cNvPr>
          <p:cNvGrpSpPr/>
          <p:nvPr/>
        </p:nvGrpSpPr>
        <p:grpSpPr>
          <a:xfrm>
            <a:off x="2569463" y="1243584"/>
            <a:ext cx="6858001" cy="1371600"/>
            <a:chOff x="1752447" y="2651760"/>
            <a:chExt cx="8686800" cy="2011680"/>
          </a:xfrm>
        </p:grpSpPr>
        <p:sp>
          <p:nvSpPr>
            <p:cNvPr id="9501" name="Rounded Rectangle 6"/>
            <p:cNvSpPr/>
            <p:nvPr/>
          </p:nvSpPr>
          <p:spPr>
            <a:xfrm>
              <a:off x="1752447" y="2651760"/>
              <a:ext cx="8686800" cy="201168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2" name="TextBox 7"/>
            <p:cNvSpPr txBox="1"/>
            <p:nvPr/>
          </p:nvSpPr>
          <p:spPr>
            <a:xfrm>
              <a:off x="1935327" y="2993088"/>
              <a:ext cx="8321040" cy="1329022"/>
            </a:xfrm>
            <a:prstGeom prst="rect">
              <a:avLst/>
            </a:prstGeom>
            <a:noFill/>
          </p:spPr>
          <p:txBody>
            <a:bodyPr wrap="square" lIns="45720" tIns="0" rIns="45720" bIns="0" anchor="ctr">
              <a:spAutoFit/>
            </a:bodyPr>
            <a:lstStyle/>
            <a:p>
              <a:pPr algn="l">
                <a:lnSpc>
                  <a:spcPct val="140000"/>
                </a:lnSpc>
              </a:pPr>
              <a:r>
                <a:rPr sz="2600" b="1" i="0" dirty="0">
                  <a:solidFill>
                    <a:srgbClr val="0B2B4E"/>
                  </a:solidFill>
                  <a:latin typeface="Calibri"/>
                </a:rPr>
                <a:t>Assumptions:</a:t>
              </a:r>
            </a:p>
            <a:p>
              <a:pPr algn="l"/>
              <a:r>
                <a:rPr sz="2400" b="0" i="0" dirty="0">
                  <a:solidFill>
                    <a:srgbClr val="0B2B4E"/>
                  </a:solidFill>
                  <a:latin typeface="Calibri"/>
                </a:rPr>
                <a:t>▪  Firms make </a:t>
              </a:r>
              <a:r>
                <a:rPr sz="2400" b="0" i="0" u="sng" dirty="0">
                  <a:solidFill>
                    <a:srgbClr val="0B2B4E"/>
                  </a:solidFill>
                  <a:latin typeface="Calibri"/>
                </a:rPr>
                <a:t>identical products</a:t>
              </a:r>
            </a:p>
            <a:p>
              <a:pPr algn="l"/>
              <a:r>
                <a:rPr sz="2400" b="0" i="0" dirty="0">
                  <a:solidFill>
                    <a:srgbClr val="0B2B4E"/>
                  </a:solidFill>
                  <a:latin typeface="Calibri"/>
                </a:rPr>
                <a:t>▪  Firms compete by choosing a </a:t>
              </a:r>
              <a:r>
                <a:rPr sz="2400" b="0" i="0" u="sng" dirty="0">
                  <a:solidFill>
                    <a:srgbClr val="0B2B4E"/>
                  </a:solidFill>
                  <a:latin typeface="Calibri"/>
                </a:rPr>
                <a:t>quantity</a:t>
              </a:r>
              <a:r>
                <a:rPr sz="2400" b="0" i="0" dirty="0">
                  <a:solidFill>
                    <a:srgbClr val="0B2B4E"/>
                  </a:solidFill>
                  <a:latin typeface="Calibri"/>
                </a:rPr>
                <a:t> to produce</a:t>
              </a:r>
            </a:p>
          </p:txBody>
        </p:sp>
      </p:grpSp>
      <p:sp>
        <p:nvSpPr>
          <p:cNvPr id="9503" name="Rectangle 95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4" name="Rectangle 95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5" name="TextBox 950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9506" name="TextBox 9505"/>
          <p:cNvSpPr txBox="1"/>
          <p:nvPr/>
        </p:nvSpPr>
        <p:spPr>
          <a:xfrm>
            <a:off x="11475720" y="6583680"/>
            <a:ext cx="502920" cy="292608"/>
          </a:xfrm>
          <a:prstGeom prst="rect">
            <a:avLst/>
          </a:prstGeom>
          <a:noFill/>
        </p:spPr>
        <p:txBody>
          <a:bodyPr wrap="none" lIns="0" tIns="0" rIns="0" bIns="0">
            <a:spAutoFit/>
          </a:bodyPr>
          <a:lstStyle/>
          <a:p>
            <a:pPr algn="r"/>
            <a:fld id="{2E08368C-E20F-5A0A-B753-D95CA8D8D6E2}"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Cournot Competition: Reaction Function (I)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1371600"/>
            <a:ext cx="11430000" cy="49834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sdaxis:y"/>
          <p:cNvCxnSpPr/>
          <p:nvPr/>
        </p:nvCxnSpPr>
        <p:spPr>
          <a:xfrm flipV="1">
            <a:off x="1417320" y="1572767"/>
            <a:ext cx="0" cy="423367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417320" y="5806440"/>
            <a:ext cx="75712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1210818" y="1433321"/>
            <a:ext cx="133350" cy="278892"/>
          </a:xfrm>
          <a:prstGeom prst="rect">
            <a:avLst/>
          </a:prstGeom>
          <a:noFill/>
        </p:spPr>
        <p:txBody>
          <a:bodyPr wrap="none" lIns="0" tIns="0" rIns="0" bIns="0">
            <a:spAutoFit/>
          </a:bodyPr>
          <a:lstStyle/>
          <a:p>
            <a:pPr algn="ctr"/>
            <a:r>
              <a:rPr sz="1800" b="1" i="1" u="none">
                <a:solidFill>
                  <a:srgbClr val="0B2B4E"/>
                </a:solidFill>
                <a:latin typeface="Calibri"/>
              </a:rPr>
              <a:t>P</a:t>
            </a:r>
          </a:p>
        </p:txBody>
      </p:sp>
      <p:sp>
        <p:nvSpPr>
          <p:cNvPr id="11" name="sdaxistitle:x"/>
          <p:cNvSpPr txBox="1"/>
          <p:nvPr/>
        </p:nvSpPr>
        <p:spPr>
          <a:xfrm>
            <a:off x="8912352" y="5852159"/>
            <a:ext cx="152400" cy="278892"/>
          </a:xfrm>
          <a:prstGeom prst="rect">
            <a:avLst/>
          </a:prstGeom>
          <a:noFill/>
        </p:spPr>
        <p:txBody>
          <a:bodyPr wrap="none" lIns="0" tIns="0" rIns="0" bIns="0">
            <a:spAutoFit/>
          </a:bodyPr>
          <a:lstStyle/>
          <a:p>
            <a:pPr algn="ctr"/>
            <a:r>
              <a:rPr sz="1800" b="1" i="1" u="none">
                <a:solidFill>
                  <a:srgbClr val="0B2B4E"/>
                </a:solidFill>
                <a:latin typeface="Calibri"/>
              </a:rPr>
              <a:t>Q</a:t>
            </a:r>
          </a:p>
        </p:txBody>
      </p:sp>
      <p:cxnSp>
        <p:nvCxnSpPr>
          <p:cNvPr id="12" name="Connector 11"/>
          <p:cNvCxnSpPr/>
          <p:nvPr/>
        </p:nvCxnSpPr>
        <p:spPr>
          <a:xfrm>
            <a:off x="1417320" y="5443129"/>
            <a:ext cx="6943725"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415909" y="5305969"/>
            <a:ext cx="349377" cy="274320"/>
          </a:xfrm>
          <a:prstGeom prst="rect">
            <a:avLst/>
          </a:prstGeom>
          <a:noFill/>
        </p:spPr>
        <p:txBody>
          <a:bodyPr wrap="square" lIns="0" tIns="0" rIns="0" bIns="0">
            <a:spAutoFit/>
          </a:bodyPr>
          <a:lstStyle/>
          <a:p>
            <a:pPr algn="ctr"/>
            <a:r>
              <a:rPr sz="1600" b="1" i="0" u="none">
                <a:solidFill>
                  <a:srgbClr val="0B2B4E"/>
                </a:solidFill>
                <a:latin typeface="Calibri"/>
              </a:rPr>
              <a:t>MC</a:t>
            </a:r>
          </a:p>
        </p:txBody>
      </p:sp>
      <p:cxnSp>
        <p:nvCxnSpPr>
          <p:cNvPr id="14" name="Connector 13"/>
          <p:cNvCxnSpPr/>
          <p:nvPr/>
        </p:nvCxnSpPr>
        <p:spPr>
          <a:xfrm>
            <a:off x="1417320" y="2173332"/>
            <a:ext cx="6613071" cy="3633108"/>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6698894" y="4811572"/>
                <a:ext cx="2324404" cy="261518"/>
              </a:xfrm>
              <a:prstGeom prst="rect">
                <a:avLst/>
              </a:prstGeom>
              <a:noFill/>
            </p:spPr>
            <p:txBody>
              <a:bodyPr wrap="square" lIns="45720" tIns="0" rIns="45720" bIns="0">
                <a:spAutoFit/>
              </a:bodyPr>
              <a:lstStyle/>
              <a:p>
                <a:r>
                  <a:rPr lang="en-US" sz="1700" b="1" i="1">
                    <a:solidFill>
                      <a:srgbClr val="C00000"/>
                    </a:solidFill>
                    <a:latin typeface="Calibri"/>
                  </a:rPr>
                  <a:t>D</a:t>
                </a:r>
                <a:r>
                  <a:rPr lang="en-US" sz="1700" b="1" i="1" baseline="-25000">
                    <a:solidFill>
                      <a:srgbClr val="C00000"/>
                    </a:solidFill>
                    <a:latin typeface="Calibri"/>
                  </a:rPr>
                  <a:t>Market</a:t>
                </a:r>
                <a:r>
                  <a:rPr lang="en-US" sz="1700" b="1" i="1">
                    <a:solidFill>
                      <a:srgbClr val="C00000"/>
                    </a:solidFill>
                    <a:latin typeface="Calibri"/>
                  </a:rPr>
                  <a:t> : </a:t>
                </a:r>
                <a14:m>
                  <m:oMath xmlns:m="http://schemas.openxmlformats.org/officeDocument/2006/math">
                    <m:r>
                      <a:rPr lang="en-US" sz="1600" b="0" i="1">
                        <a:solidFill>
                          <a:srgbClr val="C00000"/>
                        </a:solidFill>
                        <a:latin typeface="Cambria Math"/>
                        <a:ea typeface="Cambria Math"/>
                      </a:rPr>
                      <m:t>𝑃</m:t>
                    </m:r>
                    <m:r>
                      <a:rPr lang="en-US" sz="1600" b="0" i="0">
                        <a:solidFill>
                          <a:srgbClr val="C00000"/>
                        </a:solidFill>
                        <a:latin typeface="Cambria Math"/>
                      </a:rPr>
                      <m:t> = 100 − </m:t>
                    </m:r>
                    <m:sSub>
                      <m:sSubPr>
                        <m:ctrlPr>
                          <a:rPr lang="en-US" sz="1600" b="0" i="1">
                            <a:solidFill>
                              <a:srgbClr val="C00000"/>
                            </a:solidFill>
                            <a:latin typeface="Cambria Math"/>
                            <a:ea typeface="Cambria Math"/>
                          </a:rPr>
                        </m:ctrlPr>
                      </m:sSubPr>
                      <m:e>
                        <m:r>
                          <a:rPr lang="en-US" sz="1600" b="0" i="1">
                            <a:solidFill>
                              <a:srgbClr val="C00000"/>
                            </a:solidFill>
                            <a:latin typeface="Cambria Math"/>
                            <a:ea typeface="Cambria Math"/>
                          </a:rPr>
                          <m:t>𝑄</m:t>
                        </m:r>
                      </m:e>
                      <m:sub>
                        <m:r>
                          <m:rPr>
                            <m:sty m:val="p"/>
                          </m:rPr>
                          <a:rPr lang="en-US" sz="1600" b="0" i="0">
                            <a:solidFill>
                              <a:srgbClr val="C00000"/>
                            </a:solidFill>
                            <a:latin typeface="Cambria Math"/>
                          </a:rPr>
                          <m:t>M</m:t>
                        </m:r>
                      </m:sub>
                    </m:sSub>
                  </m:oMath>
                </a14:m>
                <a:endParaRPr lang="en-US"/>
              </a:p>
            </p:txBody>
          </p:sp>
        </mc:Choice>
        <mc:Fallback xmlns="">
          <p:sp>
            <p:nvSpPr>
              <p:cNvPr id="15" name="TextBox 14"/>
              <p:cNvSpPr txBox="1">
                <a:spLocks noRot="1" noChangeAspect="1" noMove="1" noResize="1" noEditPoints="1" noAdjustHandles="1" noChangeArrowheads="1" noChangeShapeType="1" noTextEdit="1"/>
              </p:cNvSpPr>
              <p:nvPr/>
            </p:nvSpPr>
            <p:spPr>
              <a:xfrm>
                <a:off x="6698894" y="4811572"/>
                <a:ext cx="2324404" cy="261518"/>
              </a:xfrm>
              <a:prstGeom prst="rect">
                <a:avLst/>
              </a:prstGeom>
              <a:blipFill>
                <a:blip r:embed="rId3"/>
                <a:stretch>
                  <a:fillRect l="-3675" t="-25581" b="-48837"/>
                </a:stretch>
              </a:blipFill>
            </p:spPr>
            <p:txBody>
              <a:bodyPr/>
              <a:lstStyle/>
              <a:p>
                <a:r>
                  <a:rPr lang="en-US">
                    <a:noFill/>
                  </a:rPr>
                  <a:t> </a:t>
                </a:r>
              </a:p>
            </p:txBody>
          </p:sp>
        </mc:Fallback>
      </mc:AlternateContent>
      <p:cxnSp>
        <p:nvCxnSpPr>
          <p:cNvPr id="16" name="Connector 15"/>
          <p:cNvCxnSpPr/>
          <p:nvPr/>
        </p:nvCxnSpPr>
        <p:spPr>
          <a:xfrm>
            <a:off x="1417320" y="3989886"/>
            <a:ext cx="3306535" cy="1816554"/>
          </a:xfrm>
          <a:prstGeom prst="line">
            <a:avLst/>
          </a:prstGeom>
          <a:ln w="34925">
            <a:solidFill>
              <a:srgbClr val="0070C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1649577" y="3738981"/>
                <a:ext cx="2743200" cy="692200"/>
              </a:xfrm>
              <a:prstGeom prst="rect">
                <a:avLst/>
              </a:prstGeom>
              <a:noFill/>
            </p:spPr>
            <p:txBody>
              <a:bodyPr wrap="square" lIns="45720" tIns="0" rIns="45720" bIns="0">
                <a:spAutoFit/>
              </a:bodyPr>
              <a:lstStyle/>
              <a:p>
                <a:r>
                  <a:rPr lang="en-US" sz="1700" b="1" i="1">
                    <a:solidFill>
                      <a:srgbClr val="0070C0"/>
                    </a:solidFill>
                    <a:latin typeface="Calibri"/>
                  </a:rPr>
                  <a:t>D</a:t>
                </a:r>
                <a:r>
                  <a:rPr lang="en-US" sz="1700" b="1" baseline="-25000">
                    <a:solidFill>
                      <a:srgbClr val="0070C0"/>
                    </a:solidFill>
                    <a:latin typeface="Calibri"/>
                  </a:rPr>
                  <a:t>A</a:t>
                </a:r>
                <a:r>
                  <a:rPr lang="en-US" sz="1700">
                    <a:solidFill>
                      <a:srgbClr val="0070C0"/>
                    </a:solidFill>
                    <a:latin typeface="Calibri"/>
                  </a:rPr>
                  <a:t> (residual demand):</a:t>
                </a:r>
                <a:endParaRPr lang="en-US"/>
              </a:p>
              <a:p>
                <a:pPr/>
                <a14:m>
                  <m:oMathPara xmlns:m="http://schemas.openxmlformats.org/officeDocument/2006/math">
                    <m:oMath>
                      <m:r>
                        <a:rPr lang="en-US" sz="1400" b="0" i="1">
                          <a:solidFill>
                            <a:srgbClr val="0070C0"/>
                          </a:solidFill>
                          <a:latin typeface="Cambria Math"/>
                          <a:ea typeface="Cambria Math"/>
                        </a:rPr>
                        <m:t>𝑃</m:t>
                      </m:r>
                      <m:r>
                        <a:rPr lang="en-US" sz="1400" b="0" i="0">
                          <a:solidFill>
                            <a:srgbClr val="0070C0"/>
                          </a:solidFill>
                          <a:latin typeface="Cambria Math"/>
                        </a:rPr>
                        <m:t> = 100 − (</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r>
                        <a:rPr lang="en-US" sz="1400" b="0" i="0">
                          <a:solidFill>
                            <a:srgbClr val="0070C0"/>
                          </a:solidFill>
                          <a:latin typeface="Cambria Math"/>
                        </a:rPr>
                        <m:t> + </m:t>
                      </m:r>
                      <m:r>
                        <a:rPr lang="en-US" sz="1400" b="0" i="0">
                          <a:solidFill>
                            <a:srgbClr val="007A33"/>
                          </a:solidFill>
                          <a:latin typeface="Cambria Math"/>
                        </a:rPr>
                        <m:t>50</m:t>
                      </m:r>
                      <m:r>
                        <a:rPr lang="en-US" sz="1400" b="0" i="0">
                          <a:solidFill>
                            <a:srgbClr val="0070C0"/>
                          </a:solidFill>
                          <a:latin typeface="Cambria Math"/>
                        </a:rPr>
                        <m:t>)</m:t>
                      </m:r>
                    </m:oMath>
                  </m:oMathPara>
                </a14:m>
                <a:endParaRPr lang="en-US"/>
              </a:p>
              <a:p>
                <a:pPr/>
                <a14:m>
                  <m:oMathPara xmlns:m="http://schemas.openxmlformats.org/officeDocument/2006/math">
                    <m:oMath>
                      <m:r>
                        <a:rPr lang="en-US" sz="1400" b="0" i="0">
                          <a:solidFill>
                            <a:srgbClr val="0070C0"/>
                          </a:solidFill>
                          <a:latin typeface="Cambria Math"/>
                        </a:rPr>
                        <m:t>    = 50 − </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oMath>
                  </m:oMathPara>
                </a14:m>
                <a:endParaRPr lang="en-US"/>
              </a:p>
            </p:txBody>
          </p:sp>
        </mc:Choice>
        <mc:Fallback xmlns="">
          <p:sp>
            <p:nvSpPr>
              <p:cNvPr id="17" name="TextBox 16"/>
              <p:cNvSpPr txBox="1">
                <a:spLocks noRot="1" noChangeAspect="1" noMove="1" noResize="1" noEditPoints="1" noAdjustHandles="1" noChangeArrowheads="1" noChangeShapeType="1" noTextEdit="1"/>
              </p:cNvSpPr>
              <p:nvPr/>
            </p:nvSpPr>
            <p:spPr>
              <a:xfrm>
                <a:off x="1649577" y="3738981"/>
                <a:ext cx="2743200" cy="692200"/>
              </a:xfrm>
              <a:prstGeom prst="rect">
                <a:avLst/>
              </a:prstGeom>
              <a:blipFill>
                <a:blip r:embed="rId4"/>
                <a:stretch>
                  <a:fillRect l="-3111" t="-9649" b="-8772"/>
                </a:stretch>
              </a:blipFill>
            </p:spPr>
            <p:txBody>
              <a:bodyPr/>
              <a:lstStyle/>
              <a:p>
                <a:r>
                  <a:rPr lang="en-US">
                    <a:noFill/>
                  </a:rPr>
                  <a:t> </a:t>
                </a:r>
              </a:p>
            </p:txBody>
          </p:sp>
        </mc:Fallback>
      </mc:AlternateContent>
      <p:cxnSp>
        <p:nvCxnSpPr>
          <p:cNvPr id="18" name="Connector 17"/>
          <p:cNvCxnSpPr/>
          <p:nvPr/>
        </p:nvCxnSpPr>
        <p:spPr>
          <a:xfrm>
            <a:off x="1417320" y="3989886"/>
            <a:ext cx="1653267" cy="1816554"/>
          </a:xfrm>
          <a:prstGeom prst="line">
            <a:avLst/>
          </a:prstGeom>
          <a:ln w="28575">
            <a:solidFill>
              <a:srgbClr val="0070C0"/>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p:cNvSpPr txBox="1"/>
              <p:nvPr/>
            </p:nvSpPr>
            <p:spPr>
              <a:xfrm>
                <a:off x="2739542" y="5876848"/>
                <a:ext cx="868680" cy="329184"/>
              </a:xfrm>
              <a:prstGeom prst="rect">
                <a:avLst/>
              </a:prstGeom>
              <a:noFill/>
            </p:spPr>
            <p:txBody>
              <a:bodyPr wrap="square" anchor="ctr">
                <a:spAutoFit/>
              </a:bodyPr>
              <a:lstStyle/>
              <a:p>
                <a:pPr algn="ctr">
                  <a:defRPr sz="1600" b="0" i="1">
                    <a:solidFill>
                      <a:srgbClr val="0070C0"/>
                    </a:solidFill>
                    <a:latin typeface="Cambria Math"/>
                  </a:defRPr>
                </a:pPr>
                <a14:m>
                  <m:oMathPara xmlns:m="http://schemas.openxmlformats.org/officeDocument/2006/math">
                    <m:oMath>
                      <m:sSub>
                        <m:sSubPr>
                          <m:ctrlPr>
                            <a:rPr lang="en-US" sz="1600" b="0" i="0">
                              <a:solidFill>
                                <a:srgbClr val="0070C0"/>
                              </a:solidFill>
                              <a:latin typeface="Cambria Math"/>
                            </a:rPr>
                          </m:ctrlPr>
                        </m:sSubPr>
                        <m:e>
                          <m:r>
                            <m:rPr>
                              <m:sty m:val="p"/>
                            </m:rPr>
                            <a:rPr lang="en-US" sz="1600" b="0" i="0">
                              <a:solidFill>
                                <a:srgbClr val="0070C0"/>
                              </a:solidFill>
                              <a:latin typeface="Cambria Math"/>
                            </a:rPr>
                            <m:t>MR</m:t>
                          </m:r>
                        </m:e>
                        <m:sub>
                          <m:r>
                            <m:rPr>
                              <m:sty m:val="p"/>
                            </m:rPr>
                            <a:rPr lang="en-US" sz="1600" b="0" i="0">
                              <a:solidFill>
                                <a:srgbClr val="0070C0"/>
                              </a:solidFill>
                              <a:latin typeface="Cambria Math"/>
                            </a:rPr>
                            <m:t>A</m:t>
                          </m:r>
                        </m:sub>
                      </m:sSub>
                    </m:oMath>
                  </m:oMathPara>
                </a14:m>
                <a:endParaRPr lang="en-US" sz="1600"/>
              </a:p>
            </p:txBody>
          </p:sp>
        </mc:Choice>
        <mc:Fallback xmlns="">
          <p:sp>
            <p:nvSpPr>
              <p:cNvPr id="19" name="TextBox 18"/>
              <p:cNvSpPr txBox="1">
                <a:spLocks noRot="1" noChangeAspect="1" noMove="1" noResize="1" noEditPoints="1" noAdjustHandles="1" noChangeArrowheads="1" noChangeShapeType="1" noTextEdit="1"/>
              </p:cNvSpPr>
              <p:nvPr/>
            </p:nvSpPr>
            <p:spPr>
              <a:xfrm>
                <a:off x="2739542" y="5876848"/>
                <a:ext cx="868680" cy="329184"/>
              </a:xfrm>
              <a:prstGeom prst="rect">
                <a:avLst/>
              </a:prstGeom>
              <a:blipFill>
                <a:blip r:embed="rId5"/>
                <a:stretch>
                  <a:fillRect b="-1852"/>
                </a:stretch>
              </a:blipFill>
            </p:spPr>
            <p:txBody>
              <a:bodyPr/>
              <a:lstStyle/>
              <a:p>
                <a:r>
                  <a:rPr lang="en-US">
                    <a:noFill/>
                  </a:rPr>
                  <a:t> </a:t>
                </a:r>
              </a:p>
            </p:txBody>
          </p:sp>
        </mc:Fallback>
      </mc:AlternateContent>
      <p:cxnSp>
        <p:nvCxnSpPr>
          <p:cNvPr id="20" name="Connector 19"/>
          <p:cNvCxnSpPr/>
          <p:nvPr/>
        </p:nvCxnSpPr>
        <p:spPr>
          <a:xfrm flipH="1">
            <a:off x="3136718" y="4934494"/>
            <a:ext cx="3306536" cy="0"/>
          </a:xfrm>
          <a:prstGeom prst="line">
            <a:avLst/>
          </a:prstGeom>
          <a:ln w="22225">
            <a:solidFill>
              <a:srgbClr val="007A33"/>
            </a:solidFill>
            <a:tailEnd type="triangle" w="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51540" y="5023713"/>
            <a:ext cx="730377" cy="274320"/>
          </a:xfrm>
          <a:prstGeom prst="rect">
            <a:avLst/>
          </a:prstGeom>
          <a:noFill/>
        </p:spPr>
        <p:txBody>
          <a:bodyPr wrap="square" lIns="0" tIns="0" rIns="0" bIns="0">
            <a:spAutoFit/>
          </a:bodyPr>
          <a:lstStyle/>
          <a:p>
            <a:pPr algn="ctr"/>
            <a:r>
              <a:rPr sz="1600" b="1" i="0" u="none">
                <a:solidFill>
                  <a:srgbClr val="007A33"/>
                </a:solidFill>
                <a:latin typeface="Calibri"/>
              </a:rPr>
              <a:t>50 units</a:t>
            </a:r>
          </a:p>
        </p:txBody>
      </p:sp>
      <p:cxnSp>
        <p:nvCxnSpPr>
          <p:cNvPr id="22" name="Connector 21"/>
          <p:cNvCxnSpPr/>
          <p:nvPr/>
        </p:nvCxnSpPr>
        <p:spPr>
          <a:xfrm flipV="1">
            <a:off x="2739934" y="4716507"/>
            <a:ext cx="0" cy="1089933"/>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2689642" y="5392837"/>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5340" y="2045316"/>
            <a:ext cx="492252" cy="274320"/>
          </a:xfrm>
          <a:prstGeom prst="rect">
            <a:avLst/>
          </a:prstGeom>
          <a:noFill/>
        </p:spPr>
        <p:txBody>
          <a:bodyPr wrap="none" lIns="0" tIns="0" rIns="0" bIns="0">
            <a:spAutoFit/>
          </a:bodyPr>
          <a:lstStyle/>
          <a:p>
            <a:pPr algn="r"/>
            <a:r>
              <a:rPr sz="1600" b="0" i="0" u="none">
                <a:solidFill>
                  <a:srgbClr val="0B2B4E"/>
                </a:solidFill>
                <a:latin typeface="Calibri"/>
              </a:rPr>
              <a:t>$100</a:t>
            </a:r>
          </a:p>
        </p:txBody>
      </p:sp>
      <p:sp>
        <p:nvSpPr>
          <p:cNvPr id="25" name="TextBox 24"/>
          <p:cNvSpPr txBox="1"/>
          <p:nvPr/>
        </p:nvSpPr>
        <p:spPr>
          <a:xfrm>
            <a:off x="920115" y="3861870"/>
            <a:ext cx="387477" cy="274320"/>
          </a:xfrm>
          <a:prstGeom prst="rect">
            <a:avLst/>
          </a:prstGeom>
          <a:noFill/>
        </p:spPr>
        <p:txBody>
          <a:bodyPr wrap="none" lIns="0" tIns="0" rIns="0" bIns="0">
            <a:spAutoFit/>
          </a:bodyPr>
          <a:lstStyle/>
          <a:p>
            <a:pPr algn="r"/>
            <a:r>
              <a:rPr sz="1600" b="0" i="0" u="none">
                <a:solidFill>
                  <a:srgbClr val="0070C0"/>
                </a:solidFill>
                <a:latin typeface="Calibri"/>
              </a:rPr>
              <a:t>$50</a:t>
            </a:r>
          </a:p>
        </p:txBody>
      </p:sp>
      <p:sp>
        <p:nvSpPr>
          <p:cNvPr id="26" name="TextBox 25"/>
          <p:cNvSpPr txBox="1"/>
          <p:nvPr/>
        </p:nvSpPr>
        <p:spPr>
          <a:xfrm>
            <a:off x="920115" y="5315113"/>
            <a:ext cx="387477" cy="274320"/>
          </a:xfrm>
          <a:prstGeom prst="rect">
            <a:avLst/>
          </a:prstGeom>
          <a:noFill/>
        </p:spPr>
        <p:txBody>
          <a:bodyPr wrap="none" lIns="0" tIns="0" rIns="0" bIns="0">
            <a:spAutoFit/>
          </a:bodyPr>
          <a:lstStyle/>
          <a:p>
            <a:pPr algn="r"/>
            <a:r>
              <a:rPr sz="1600" b="0" i="0" u="none">
                <a:solidFill>
                  <a:srgbClr val="0B2B4E"/>
                </a:solidFill>
                <a:latin typeface="Calibri"/>
              </a:rPr>
              <a:t>$10</a:t>
            </a:r>
          </a:p>
        </p:txBody>
      </p:sp>
      <p:sp>
        <p:nvSpPr>
          <p:cNvPr id="27" name="TextBox 26"/>
          <p:cNvSpPr txBox="1"/>
          <p:nvPr/>
        </p:nvSpPr>
        <p:spPr>
          <a:xfrm>
            <a:off x="2598583" y="5861303"/>
            <a:ext cx="282702" cy="274320"/>
          </a:xfrm>
          <a:prstGeom prst="rect">
            <a:avLst/>
          </a:prstGeom>
          <a:noFill/>
        </p:spPr>
        <p:txBody>
          <a:bodyPr wrap="none" lIns="0" tIns="0" rIns="0" bIns="0">
            <a:spAutoFit/>
          </a:bodyPr>
          <a:lstStyle/>
          <a:p>
            <a:pPr algn="ctr"/>
            <a:r>
              <a:rPr sz="1600" b="1" i="0" u="none">
                <a:solidFill>
                  <a:srgbClr val="0070C0"/>
                </a:solidFill>
                <a:latin typeface="Calibri"/>
              </a:rPr>
              <a:t>20</a:t>
            </a:r>
          </a:p>
        </p:txBody>
      </p:sp>
      <p:sp>
        <p:nvSpPr>
          <p:cNvPr id="28" name="TextBox 27"/>
          <p:cNvSpPr txBox="1"/>
          <p:nvPr/>
        </p:nvSpPr>
        <p:spPr>
          <a:xfrm>
            <a:off x="4582504" y="5861303"/>
            <a:ext cx="282702" cy="274320"/>
          </a:xfrm>
          <a:prstGeom prst="rect">
            <a:avLst/>
          </a:prstGeom>
          <a:noFill/>
        </p:spPr>
        <p:txBody>
          <a:bodyPr wrap="none" lIns="0" tIns="0" rIns="0" bIns="0">
            <a:spAutoFit/>
          </a:bodyPr>
          <a:lstStyle/>
          <a:p>
            <a:pPr algn="ctr"/>
            <a:r>
              <a:rPr sz="1600" b="0" i="0" u="none">
                <a:solidFill>
                  <a:srgbClr val="0B2B4E"/>
                </a:solidFill>
                <a:latin typeface="Calibri"/>
              </a:rPr>
              <a:t>50</a:t>
            </a:r>
          </a:p>
        </p:txBody>
      </p:sp>
      <p:sp>
        <p:nvSpPr>
          <p:cNvPr id="29" name="TextBox 28"/>
          <p:cNvSpPr txBox="1"/>
          <p:nvPr/>
        </p:nvSpPr>
        <p:spPr>
          <a:xfrm>
            <a:off x="7836653" y="5861303"/>
            <a:ext cx="387477" cy="274320"/>
          </a:xfrm>
          <a:prstGeom prst="rect">
            <a:avLst/>
          </a:prstGeom>
          <a:noFill/>
        </p:spPr>
        <p:txBody>
          <a:bodyPr wrap="none" lIns="0" tIns="0" rIns="0" bIns="0">
            <a:spAutoFit/>
          </a:bodyPr>
          <a:lstStyle/>
          <a:p>
            <a:pPr algn="ctr"/>
            <a:r>
              <a:rPr sz="1600" b="0" i="0" u="none">
                <a:solidFill>
                  <a:srgbClr val="0B2B4E"/>
                </a:solidFill>
                <a:latin typeface="Calibri"/>
              </a:rPr>
              <a:t>100</a:t>
            </a:r>
          </a:p>
        </p:txBody>
      </p:sp>
      <p:grpSp>
        <p:nvGrpSpPr>
          <p:cNvPr id="33" name="MktGuide 33"/>
          <p:cNvGrpSpPr/>
          <p:nvPr/>
        </p:nvGrpSpPr>
        <p:grpSpPr>
          <a:xfrm>
            <a:off x="5905119" y="4666215"/>
            <a:ext cx="282702" cy="1469408"/>
            <a:chOff x="5905119" y="4666215"/>
            <a:chExt cx="282702" cy="1469408"/>
          </a:xfrm>
        </p:grpSpPr>
        <p:cxnSp>
          <p:nvCxnSpPr>
            <p:cNvPr id="30" name="Connector 29"/>
            <p:cNvCxnSpPr/>
            <p:nvPr/>
          </p:nvCxnSpPr>
          <p:spPr>
            <a:xfrm>
              <a:off x="6046470" y="4716507"/>
              <a:ext cx="0" cy="1089933"/>
            </a:xfrm>
            <a:prstGeom prst="line">
              <a:avLst/>
            </a:prstGeom>
            <a:ln w="158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5996178" y="4666215"/>
              <a:ext cx="100584" cy="100584"/>
            </a:xfrm>
            <a:prstGeom prst="ellipse">
              <a:avLst/>
            </a:prstGeom>
            <a:solidFill>
              <a:srgbClr val="C00000"/>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05119" y="5861303"/>
              <a:ext cx="282702" cy="274320"/>
            </a:xfrm>
            <a:prstGeom prst="rect">
              <a:avLst/>
            </a:prstGeom>
            <a:noFill/>
          </p:spPr>
          <p:txBody>
            <a:bodyPr wrap="none" lIns="0" tIns="0" rIns="0" bIns="0">
              <a:spAutoFit/>
            </a:bodyPr>
            <a:lstStyle/>
            <a:p>
              <a:pPr algn="ctr"/>
              <a:r>
                <a:rPr sz="1600" b="0" i="0" u="none">
                  <a:solidFill>
                    <a:srgbClr val="C00000"/>
                  </a:solidFill>
                  <a:latin typeface="Calibri"/>
                </a:rPr>
                <a:t>70</a:t>
              </a:r>
            </a:p>
          </p:txBody>
        </p:sp>
      </p:grpSp>
      <p:grpSp>
        <p:nvGrpSpPr>
          <p:cNvPr id="38" name="PriceGuide 38"/>
          <p:cNvGrpSpPr/>
          <p:nvPr/>
        </p:nvGrpSpPr>
        <p:grpSpPr>
          <a:xfrm>
            <a:off x="920115" y="4023360"/>
            <a:ext cx="9366884" cy="839451"/>
            <a:chOff x="920115" y="4023360"/>
            <a:chExt cx="9366884" cy="839451"/>
          </a:xfrm>
        </p:grpSpPr>
        <p:cxnSp>
          <p:nvCxnSpPr>
            <p:cNvPr id="34" name="Connector 33"/>
            <p:cNvCxnSpPr/>
            <p:nvPr/>
          </p:nvCxnSpPr>
          <p:spPr>
            <a:xfrm>
              <a:off x="1417320" y="4716507"/>
              <a:ext cx="4629150" cy="0"/>
            </a:xfrm>
            <a:prstGeom prst="line">
              <a:avLst/>
            </a:prstGeom>
            <a:ln w="158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20115" y="4588491"/>
              <a:ext cx="387477" cy="274320"/>
            </a:xfrm>
            <a:prstGeom prst="rect">
              <a:avLst/>
            </a:prstGeom>
            <a:noFill/>
          </p:spPr>
          <p:txBody>
            <a:bodyPr wrap="none" lIns="0" tIns="0" rIns="0" bIns="0">
              <a:spAutoFit/>
            </a:bodyPr>
            <a:lstStyle/>
            <a:p>
              <a:pPr algn="r"/>
              <a:r>
                <a:rPr sz="1600" b="1" i="0" u="none">
                  <a:solidFill>
                    <a:srgbClr val="C00000"/>
                  </a:solidFill>
                  <a:latin typeface="Calibri"/>
                </a:rPr>
                <a:t>$30</a:t>
              </a:r>
            </a:p>
          </p:txBody>
        </p:sp>
        <p:sp>
          <p:nvSpPr>
            <p:cNvPr id="36" name="TextBox 35"/>
            <p:cNvSpPr txBox="1"/>
            <p:nvPr/>
          </p:nvSpPr>
          <p:spPr>
            <a:xfrm>
              <a:off x="7498079" y="4023360"/>
              <a:ext cx="2788920" cy="566928"/>
            </a:xfrm>
            <a:prstGeom prst="rect">
              <a:avLst/>
            </a:prstGeom>
            <a:noFill/>
          </p:spPr>
          <p:txBody>
            <a:bodyPr wrap="square" lIns="45720" tIns="0" rIns="45720" bIns="0">
              <a:spAutoFit/>
            </a:bodyPr>
            <a:lstStyle/>
            <a:p>
              <a:r>
                <a:rPr lang="en-US" sz="1700" b="1">
                  <a:solidFill>
                    <a:srgbClr val="C00000"/>
                  </a:solidFill>
                  <a:latin typeface="Calibri"/>
                </a:rPr>
                <a:t>Market price determined by</a:t>
              </a:r>
              <a:endParaRPr lang="en-US"/>
            </a:p>
            <a:p>
              <a:r>
                <a:rPr lang="en-US" sz="1700" b="1">
                  <a:solidFill>
                    <a:srgbClr val="C00000"/>
                  </a:solidFill>
                  <a:latin typeface="Calibri"/>
                </a:rPr>
                <a:t>overall </a:t>
              </a:r>
              <a:r>
                <a:rPr lang="en-US" sz="1700" b="1" i="1">
                  <a:solidFill>
                    <a:srgbClr val="C00000"/>
                  </a:solidFill>
                  <a:latin typeface="Calibri"/>
                </a:rPr>
                <a:t>Q</a:t>
              </a:r>
              <a:r>
                <a:rPr lang="en-US" sz="1700" b="1">
                  <a:solidFill>
                    <a:srgbClr val="C00000"/>
                  </a:solidFill>
                  <a:latin typeface="Calibri"/>
                </a:rPr>
                <a:t> = </a:t>
              </a:r>
              <a:r>
                <a:rPr lang="en-US" sz="1700" b="1" i="1">
                  <a:solidFill>
                    <a:srgbClr val="C00000"/>
                  </a:solidFill>
                  <a:latin typeface="Calibri"/>
                </a:rPr>
                <a:t>Q</a:t>
              </a:r>
              <a:r>
                <a:rPr lang="en-US" sz="1700" b="1" baseline="-25000">
                  <a:solidFill>
                    <a:srgbClr val="C00000"/>
                  </a:solidFill>
                  <a:latin typeface="Calibri"/>
                </a:rPr>
                <a:t>A</a:t>
              </a:r>
              <a:r>
                <a:rPr lang="en-US" sz="1700" b="1">
                  <a:solidFill>
                    <a:srgbClr val="C00000"/>
                  </a:solidFill>
                  <a:latin typeface="Calibri"/>
                </a:rPr>
                <a:t> + </a:t>
              </a:r>
              <a:r>
                <a:rPr lang="en-US" sz="1700" b="1" i="1">
                  <a:solidFill>
                    <a:srgbClr val="C00000"/>
                  </a:solidFill>
                  <a:latin typeface="Calibri"/>
                </a:rPr>
                <a:t>Q</a:t>
              </a:r>
              <a:r>
                <a:rPr lang="en-US" sz="1700" b="1" baseline="-25000">
                  <a:solidFill>
                    <a:srgbClr val="C00000"/>
                  </a:solidFill>
                  <a:latin typeface="Calibri"/>
                </a:rPr>
                <a:t>B</a:t>
              </a:r>
              <a:endParaRPr lang="en-US"/>
            </a:p>
          </p:txBody>
        </p:sp>
        <p:cxnSp>
          <p:nvCxnSpPr>
            <p:cNvPr id="37" name="Connector 36"/>
            <p:cNvCxnSpPr/>
            <p:nvPr/>
          </p:nvCxnSpPr>
          <p:spPr>
            <a:xfrm flipH="1">
              <a:off x="6110478" y="4493998"/>
              <a:ext cx="1351335" cy="176789"/>
            </a:xfrm>
            <a:prstGeom prst="line">
              <a:avLst/>
            </a:prstGeom>
            <a:ln w="1905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grpSp>
      <p:grpSp>
        <p:nvGrpSpPr>
          <p:cNvPr id="145" name="sdpair:box:145"/>
          <p:cNvGrpSpPr/>
          <p:nvPr/>
        </p:nvGrpSpPr>
        <p:grpSpPr>
          <a:xfrm>
            <a:off x="8485632" y="2130552"/>
            <a:ext cx="3172968" cy="914400"/>
            <a:chOff x="8485632" y="2130552"/>
            <a:chExt cx="3172968" cy="914400"/>
          </a:xfrm>
        </p:grpSpPr>
        <p:sp>
          <p:nvSpPr>
            <p:cNvPr id="39" name="Rounded Rectangle 38"/>
            <p:cNvSpPr/>
            <p:nvPr/>
          </p:nvSpPr>
          <p:spPr>
            <a:xfrm>
              <a:off x="8485632" y="2130552"/>
              <a:ext cx="3172968" cy="914400"/>
            </a:xfrm>
            <a:prstGeom prst="roundRect">
              <a:avLst>
                <a:gd name="adj" fmla="val 16000"/>
              </a:avLst>
            </a:prstGeom>
            <a:solidFill>
              <a:srgbClr val="FFFFFF"/>
            </a:solidFill>
            <a:ln w="15875">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8631936" y="2264968"/>
              <a:ext cx="2880360" cy="649224"/>
            </a:xfrm>
            <a:prstGeom prst="rect">
              <a:avLst/>
            </a:prstGeom>
            <a:noFill/>
          </p:spPr>
          <p:txBody>
            <a:bodyPr wrap="square" anchor="ctr">
              <a:spAutoFit/>
            </a:bodyPr>
            <a:lstStyle/>
            <a:p>
              <a:r>
                <a:rPr sz="1800" b="0">
                  <a:solidFill>
                    <a:srgbClr val="0070C0"/>
                  </a:solidFill>
                  <a:latin typeface="Calibri"/>
                </a:rPr>
                <a:t>Firm A assumes that B produces 50 units (</a:t>
              </a:r>
              <a:r>
                <a:rPr sz="1800" b="1">
                  <a:solidFill>
                    <a:srgbClr val="007A33"/>
                  </a:solidFill>
                  <a:latin typeface="Calibri"/>
                </a:rPr>
                <a:t>Q</a:t>
              </a:r>
              <a:r>
                <a:rPr sz="1800" b="1" baseline="-25000">
                  <a:solidFill>
                    <a:srgbClr val="007A33"/>
                  </a:solidFill>
                  <a:latin typeface="Calibri"/>
                </a:rPr>
                <a:t>B</a:t>
              </a:r>
              <a:r>
                <a:rPr sz="1800" b="1">
                  <a:solidFill>
                    <a:srgbClr val="007A33"/>
                  </a:solidFill>
                  <a:latin typeface="Calibri"/>
                </a:rPr>
                <a:t> = 50</a:t>
              </a:r>
              <a:r>
                <a:rPr sz="1800" b="0">
                  <a:solidFill>
                    <a:srgbClr val="0070C0"/>
                  </a:solidFill>
                  <a:latin typeface="Calibri"/>
                </a:rPr>
                <a:t>)</a:t>
              </a:r>
            </a:p>
          </p:txBody>
        </p:sp>
      </p:grpSp>
      <p:sp>
        <p:nvSpPr>
          <p:cNvPr id="41" name="TextBox 40"/>
          <p:cNvSpPr txBox="1"/>
          <p:nvPr/>
        </p:nvSpPr>
        <p:spPr>
          <a:xfrm>
            <a:off x="9098280" y="3154680"/>
            <a:ext cx="2130552" cy="822960"/>
          </a:xfrm>
          <a:prstGeom prst="rect">
            <a:avLst/>
          </a:prstGeom>
          <a:noFill/>
        </p:spPr>
        <p:txBody>
          <a:bodyPr wrap="square" lIns="0" tIns="0" rIns="0" bIns="0">
            <a:spAutoFit/>
          </a:bodyPr>
          <a:lstStyle/>
          <a:p>
            <a:pPr algn="l"/>
            <a:r>
              <a:rPr sz="1700" b="1" i="0" u="none">
                <a:solidFill>
                  <a:srgbClr val="0070C0"/>
                </a:solidFill>
                <a:latin typeface="Calibri"/>
              </a:rPr>
              <a:t>→  Firm A's optimal response is 20 units</a:t>
            </a:r>
          </a:p>
        </p:txBody>
      </p:sp>
      <p:sp>
        <p:nvSpPr>
          <p:cNvPr id="42" name="Rectangle 4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45" name="TextBox 44"/>
          <p:cNvSpPr txBox="1"/>
          <p:nvPr/>
        </p:nvSpPr>
        <p:spPr>
          <a:xfrm>
            <a:off x="11475720" y="6583680"/>
            <a:ext cx="502920" cy="292608"/>
          </a:xfrm>
          <a:prstGeom prst="rect">
            <a:avLst/>
          </a:prstGeom>
          <a:noFill/>
        </p:spPr>
        <p:txBody>
          <a:bodyPr wrap="none" lIns="0" tIns="0" rIns="0" bIns="0">
            <a:spAutoFit/>
          </a:bodyPr>
          <a:lstStyle/>
          <a:p>
            <a:pPr algn="r"/>
            <a:fld id="{54A555C4-A634-54BE-999C-D49D035C457D}"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5"/>
                                        </p:tgtEl>
                                        <p:attrNameLst>
                                          <p:attrName>style.visibility</p:attrName>
                                        </p:attrNameLst>
                                      </p:cBhvr>
                                      <p:to>
                                        <p:strVal val="visible"/>
                                      </p:to>
                                    </p:set>
                                    <p:animEffect transition="in" filter="fade">
                                      <p:cBhvr>
                                        <p:cTn id="32" dur="500"/>
                                        <p:tgtEl>
                                          <p:spTgt spid="14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10" presetClass="entr" presetSubtype="0" fill="hold"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Cournot Competition: Reaction Function (II)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1371600"/>
            <a:ext cx="11430000" cy="49834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sdaxis:y"/>
          <p:cNvCxnSpPr/>
          <p:nvPr/>
        </p:nvCxnSpPr>
        <p:spPr>
          <a:xfrm flipV="1">
            <a:off x="1417320" y="1572767"/>
            <a:ext cx="0" cy="423367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417320" y="5806440"/>
            <a:ext cx="75712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1210818" y="1433321"/>
            <a:ext cx="133350" cy="278892"/>
          </a:xfrm>
          <a:prstGeom prst="rect">
            <a:avLst/>
          </a:prstGeom>
          <a:noFill/>
        </p:spPr>
        <p:txBody>
          <a:bodyPr wrap="none" lIns="0" tIns="0" rIns="0" bIns="0">
            <a:spAutoFit/>
          </a:bodyPr>
          <a:lstStyle/>
          <a:p>
            <a:pPr algn="ctr"/>
            <a:r>
              <a:rPr sz="1800" b="1" i="1" u="none">
                <a:solidFill>
                  <a:srgbClr val="0B2B4E"/>
                </a:solidFill>
                <a:latin typeface="Calibri"/>
              </a:rPr>
              <a:t>P</a:t>
            </a:r>
          </a:p>
        </p:txBody>
      </p:sp>
      <p:sp>
        <p:nvSpPr>
          <p:cNvPr id="11" name="sdaxistitle:x"/>
          <p:cNvSpPr txBox="1"/>
          <p:nvPr/>
        </p:nvSpPr>
        <p:spPr>
          <a:xfrm>
            <a:off x="8912352" y="5852159"/>
            <a:ext cx="152400" cy="278892"/>
          </a:xfrm>
          <a:prstGeom prst="rect">
            <a:avLst/>
          </a:prstGeom>
          <a:noFill/>
        </p:spPr>
        <p:txBody>
          <a:bodyPr wrap="none" lIns="0" tIns="0" rIns="0" bIns="0">
            <a:spAutoFit/>
          </a:bodyPr>
          <a:lstStyle/>
          <a:p>
            <a:pPr algn="ctr"/>
            <a:r>
              <a:rPr sz="1800" b="1" i="1" u="none">
                <a:solidFill>
                  <a:srgbClr val="0B2B4E"/>
                </a:solidFill>
                <a:latin typeface="Calibri"/>
              </a:rPr>
              <a:t>Q</a:t>
            </a:r>
          </a:p>
        </p:txBody>
      </p:sp>
      <p:cxnSp>
        <p:nvCxnSpPr>
          <p:cNvPr id="12" name="Connector 11"/>
          <p:cNvCxnSpPr/>
          <p:nvPr/>
        </p:nvCxnSpPr>
        <p:spPr>
          <a:xfrm>
            <a:off x="1417320" y="5443129"/>
            <a:ext cx="6943725"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415909" y="5305969"/>
            <a:ext cx="349377" cy="274320"/>
          </a:xfrm>
          <a:prstGeom prst="rect">
            <a:avLst/>
          </a:prstGeom>
          <a:noFill/>
        </p:spPr>
        <p:txBody>
          <a:bodyPr wrap="square" lIns="0" tIns="0" rIns="0" bIns="0">
            <a:spAutoFit/>
          </a:bodyPr>
          <a:lstStyle/>
          <a:p>
            <a:pPr algn="ctr"/>
            <a:r>
              <a:rPr sz="1600" b="1" i="0" u="none">
                <a:solidFill>
                  <a:srgbClr val="0B2B4E"/>
                </a:solidFill>
                <a:latin typeface="Calibri"/>
              </a:rPr>
              <a:t>MC</a:t>
            </a:r>
          </a:p>
        </p:txBody>
      </p:sp>
      <p:cxnSp>
        <p:nvCxnSpPr>
          <p:cNvPr id="14" name="Connector 13"/>
          <p:cNvCxnSpPr/>
          <p:nvPr/>
        </p:nvCxnSpPr>
        <p:spPr>
          <a:xfrm>
            <a:off x="1417320" y="2173332"/>
            <a:ext cx="6613071" cy="3633108"/>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6698894" y="4811572"/>
                <a:ext cx="2324404" cy="261518"/>
              </a:xfrm>
              <a:prstGeom prst="rect">
                <a:avLst/>
              </a:prstGeom>
              <a:noFill/>
            </p:spPr>
            <p:txBody>
              <a:bodyPr wrap="square" lIns="45720" tIns="0" rIns="45720" bIns="0">
                <a:spAutoFit/>
              </a:bodyPr>
              <a:lstStyle/>
              <a:p>
                <a:r>
                  <a:rPr lang="en-US" sz="1700" b="1" i="1">
                    <a:solidFill>
                      <a:srgbClr val="C00000"/>
                    </a:solidFill>
                    <a:latin typeface="Calibri"/>
                  </a:rPr>
                  <a:t>D</a:t>
                </a:r>
                <a:r>
                  <a:rPr lang="en-US" sz="1700" b="1" i="1" baseline="-25000">
                    <a:solidFill>
                      <a:srgbClr val="C00000"/>
                    </a:solidFill>
                    <a:latin typeface="Calibri"/>
                  </a:rPr>
                  <a:t>Market</a:t>
                </a:r>
                <a:r>
                  <a:rPr lang="en-US" sz="1700" b="1" i="1">
                    <a:solidFill>
                      <a:srgbClr val="C00000"/>
                    </a:solidFill>
                    <a:latin typeface="Calibri"/>
                  </a:rPr>
                  <a:t> : </a:t>
                </a:r>
                <a14:m>
                  <m:oMath xmlns:m="http://schemas.openxmlformats.org/officeDocument/2006/math">
                    <m:r>
                      <a:rPr lang="en-US" sz="1600" b="0" i="1">
                        <a:solidFill>
                          <a:srgbClr val="C00000"/>
                        </a:solidFill>
                        <a:latin typeface="Cambria Math"/>
                        <a:ea typeface="Cambria Math"/>
                      </a:rPr>
                      <m:t>𝑃</m:t>
                    </m:r>
                    <m:r>
                      <a:rPr lang="en-US" sz="1600" b="0" i="0">
                        <a:solidFill>
                          <a:srgbClr val="C00000"/>
                        </a:solidFill>
                        <a:latin typeface="Cambria Math"/>
                      </a:rPr>
                      <m:t> = 100 − </m:t>
                    </m:r>
                    <m:sSub>
                      <m:sSubPr>
                        <m:ctrlPr>
                          <a:rPr lang="en-US" sz="1600" b="0" i="1">
                            <a:solidFill>
                              <a:srgbClr val="C00000"/>
                            </a:solidFill>
                            <a:latin typeface="Cambria Math"/>
                            <a:ea typeface="Cambria Math"/>
                          </a:rPr>
                        </m:ctrlPr>
                      </m:sSubPr>
                      <m:e>
                        <m:r>
                          <a:rPr lang="en-US" sz="1600" b="0" i="1">
                            <a:solidFill>
                              <a:srgbClr val="C00000"/>
                            </a:solidFill>
                            <a:latin typeface="Cambria Math"/>
                            <a:ea typeface="Cambria Math"/>
                          </a:rPr>
                          <m:t>𝑄</m:t>
                        </m:r>
                      </m:e>
                      <m:sub>
                        <m:r>
                          <m:rPr>
                            <m:sty m:val="p"/>
                          </m:rPr>
                          <a:rPr lang="en-US" sz="1600" b="0" i="0">
                            <a:solidFill>
                              <a:srgbClr val="C00000"/>
                            </a:solidFill>
                            <a:latin typeface="Cambria Math"/>
                          </a:rPr>
                          <m:t>M</m:t>
                        </m:r>
                      </m:sub>
                    </m:sSub>
                  </m:oMath>
                </a14:m>
                <a:endParaRPr lang="en-US"/>
              </a:p>
            </p:txBody>
          </p:sp>
        </mc:Choice>
        <mc:Fallback xmlns="">
          <p:sp>
            <p:nvSpPr>
              <p:cNvPr id="15" name="TextBox 14"/>
              <p:cNvSpPr txBox="1">
                <a:spLocks noRot="1" noChangeAspect="1" noMove="1" noResize="1" noEditPoints="1" noAdjustHandles="1" noChangeArrowheads="1" noChangeShapeType="1" noTextEdit="1"/>
              </p:cNvSpPr>
              <p:nvPr/>
            </p:nvSpPr>
            <p:spPr>
              <a:xfrm>
                <a:off x="6698894" y="4811572"/>
                <a:ext cx="2324404" cy="261518"/>
              </a:xfrm>
              <a:prstGeom prst="rect">
                <a:avLst/>
              </a:prstGeom>
              <a:blipFill>
                <a:blip r:embed="rId3"/>
                <a:stretch>
                  <a:fillRect l="-3675" t="-25581" b="-48837"/>
                </a:stretch>
              </a:blipFill>
            </p:spPr>
            <p:txBody>
              <a:bodyPr/>
              <a:lstStyle/>
              <a:p>
                <a:r>
                  <a:rPr lang="en-US">
                    <a:noFill/>
                  </a:rPr>
                  <a:t> </a:t>
                </a:r>
              </a:p>
            </p:txBody>
          </p:sp>
        </mc:Fallback>
      </mc:AlternateContent>
      <p:cxnSp>
        <p:nvCxnSpPr>
          <p:cNvPr id="16" name="Connector 15"/>
          <p:cNvCxnSpPr/>
          <p:nvPr/>
        </p:nvCxnSpPr>
        <p:spPr>
          <a:xfrm>
            <a:off x="1417320" y="2899954"/>
            <a:ext cx="5290457" cy="2906486"/>
          </a:xfrm>
          <a:prstGeom prst="line">
            <a:avLst/>
          </a:prstGeom>
          <a:ln w="34925">
            <a:solidFill>
              <a:srgbClr val="0070C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2739542" y="2350008"/>
                <a:ext cx="1929384" cy="477316"/>
              </a:xfrm>
              <a:prstGeom prst="rect">
                <a:avLst/>
              </a:prstGeom>
              <a:noFill/>
            </p:spPr>
            <p:txBody>
              <a:bodyPr wrap="square" lIns="45720" tIns="0" rIns="45720" bIns="0">
                <a:spAutoFit/>
              </a:bodyPr>
              <a:lstStyle/>
              <a:p>
                <a:r>
                  <a:rPr lang="en-US" sz="1700" b="1" i="1">
                    <a:solidFill>
                      <a:srgbClr val="0070C0"/>
                    </a:solidFill>
                    <a:latin typeface="Calibri"/>
                  </a:rPr>
                  <a:t>D</a:t>
                </a:r>
                <a:r>
                  <a:rPr lang="en-US" sz="1700" b="1" baseline="-25000">
                    <a:solidFill>
                      <a:srgbClr val="0070C0"/>
                    </a:solidFill>
                    <a:latin typeface="Calibri"/>
                  </a:rPr>
                  <a:t>A</a:t>
                </a:r>
                <a:r>
                  <a:rPr lang="en-US" sz="1600">
                    <a:solidFill>
                      <a:srgbClr val="0070C0"/>
                    </a:solidFill>
                    <a:latin typeface="Calibri"/>
                  </a:rPr>
                  <a:t> (residual demand):</a:t>
                </a:r>
                <a:endParaRPr lang="en-US"/>
              </a:p>
              <a:p>
                <a:pPr/>
                <a14:m>
                  <m:oMathPara xmlns:m="http://schemas.openxmlformats.org/officeDocument/2006/math">
                    <m:oMath>
                      <m:r>
                        <a:rPr lang="en-US" sz="1400" b="0" i="1">
                          <a:solidFill>
                            <a:srgbClr val="0070C0"/>
                          </a:solidFill>
                          <a:latin typeface="Cambria Math"/>
                          <a:ea typeface="Cambria Math"/>
                        </a:rPr>
                        <m:t>𝑃</m:t>
                      </m:r>
                      <m:r>
                        <a:rPr lang="en-US" sz="1400" b="0" i="0">
                          <a:solidFill>
                            <a:srgbClr val="0070C0"/>
                          </a:solidFill>
                          <a:latin typeface="Cambria Math"/>
                        </a:rPr>
                        <m:t> = 80 − </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oMath>
                  </m:oMathPara>
                </a14:m>
                <a:endParaRPr lang="en-US"/>
              </a:p>
            </p:txBody>
          </p:sp>
        </mc:Choice>
        <mc:Fallback xmlns="">
          <p:sp>
            <p:nvSpPr>
              <p:cNvPr id="17" name="TextBox 16"/>
              <p:cNvSpPr txBox="1">
                <a:spLocks noRot="1" noChangeAspect="1" noMove="1" noResize="1" noEditPoints="1" noAdjustHandles="1" noChangeArrowheads="1" noChangeShapeType="1" noTextEdit="1"/>
              </p:cNvSpPr>
              <p:nvPr/>
            </p:nvSpPr>
            <p:spPr>
              <a:xfrm>
                <a:off x="2739542" y="2350008"/>
                <a:ext cx="1929384" cy="477316"/>
              </a:xfrm>
              <a:prstGeom prst="rect">
                <a:avLst/>
              </a:prstGeom>
              <a:blipFill>
                <a:blip r:embed="rId4"/>
                <a:stretch>
                  <a:fillRect l="-4416" t="-14103" r="-2524" b="-12821"/>
                </a:stretch>
              </a:blipFill>
            </p:spPr>
            <p:txBody>
              <a:bodyPr/>
              <a:lstStyle/>
              <a:p>
                <a:r>
                  <a:rPr lang="en-US">
                    <a:noFill/>
                  </a:rPr>
                  <a:t> </a:t>
                </a:r>
              </a:p>
            </p:txBody>
          </p:sp>
        </mc:Fallback>
      </mc:AlternateContent>
      <p:cxnSp>
        <p:nvCxnSpPr>
          <p:cNvPr id="18" name="Connector 17"/>
          <p:cNvCxnSpPr/>
          <p:nvPr/>
        </p:nvCxnSpPr>
        <p:spPr>
          <a:xfrm>
            <a:off x="1417320" y="2899954"/>
            <a:ext cx="2645228" cy="2906486"/>
          </a:xfrm>
          <a:prstGeom prst="line">
            <a:avLst/>
          </a:prstGeom>
          <a:ln w="28575">
            <a:solidFill>
              <a:srgbClr val="0070C0"/>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p:cNvSpPr txBox="1"/>
              <p:nvPr/>
            </p:nvSpPr>
            <p:spPr>
              <a:xfrm>
                <a:off x="3781044" y="5886907"/>
                <a:ext cx="868680" cy="329184"/>
              </a:xfrm>
              <a:prstGeom prst="rect">
                <a:avLst/>
              </a:prstGeom>
              <a:noFill/>
            </p:spPr>
            <p:txBody>
              <a:bodyPr wrap="square" anchor="ctr">
                <a:spAutoFit/>
              </a:bodyPr>
              <a:lstStyle/>
              <a:p>
                <a:pPr algn="ctr">
                  <a:defRPr sz="1600" b="0" i="1">
                    <a:solidFill>
                      <a:srgbClr val="0070C0"/>
                    </a:solidFill>
                    <a:latin typeface="Cambria Math"/>
                  </a:defRPr>
                </a:pPr>
                <a14:m>
                  <m:oMathPara xmlns:m="http://schemas.openxmlformats.org/officeDocument/2006/math">
                    <m:oMath>
                      <m:sSub>
                        <m:sSubPr>
                          <m:ctrlPr>
                            <a:rPr lang="en-US" sz="1600" b="0" i="0">
                              <a:solidFill>
                                <a:srgbClr val="0070C0"/>
                              </a:solidFill>
                              <a:latin typeface="Cambria Math"/>
                            </a:rPr>
                          </m:ctrlPr>
                        </m:sSubPr>
                        <m:e>
                          <m:r>
                            <m:rPr>
                              <m:sty m:val="p"/>
                            </m:rPr>
                            <a:rPr lang="en-US" sz="1600" b="0" i="0">
                              <a:solidFill>
                                <a:srgbClr val="0070C0"/>
                              </a:solidFill>
                              <a:latin typeface="Cambria Math"/>
                            </a:rPr>
                            <m:t>MR</m:t>
                          </m:r>
                        </m:e>
                        <m:sub>
                          <m:r>
                            <m:rPr>
                              <m:sty m:val="p"/>
                            </m:rPr>
                            <a:rPr lang="en-US" sz="1600" b="0" i="0">
                              <a:solidFill>
                                <a:srgbClr val="0070C0"/>
                              </a:solidFill>
                              <a:latin typeface="Cambria Math"/>
                            </a:rPr>
                            <m:t>A</m:t>
                          </m:r>
                        </m:sub>
                      </m:sSub>
                    </m:oMath>
                  </m:oMathPara>
                </a14:m>
                <a:endParaRPr lang="en-US" sz="1600"/>
              </a:p>
            </p:txBody>
          </p:sp>
        </mc:Choice>
        <mc:Fallback xmlns="">
          <p:sp>
            <p:nvSpPr>
              <p:cNvPr id="19" name="TextBox 18"/>
              <p:cNvSpPr txBox="1">
                <a:spLocks noRot="1" noChangeAspect="1" noMove="1" noResize="1" noEditPoints="1" noAdjustHandles="1" noChangeArrowheads="1" noChangeShapeType="1" noTextEdit="1"/>
              </p:cNvSpPr>
              <p:nvPr/>
            </p:nvSpPr>
            <p:spPr>
              <a:xfrm>
                <a:off x="3781044" y="5886907"/>
                <a:ext cx="868680" cy="329184"/>
              </a:xfrm>
              <a:prstGeom prst="rect">
                <a:avLst/>
              </a:prstGeom>
              <a:blipFill>
                <a:blip r:embed="rId5"/>
                <a:stretch>
                  <a:fillRect/>
                </a:stretch>
              </a:blipFill>
            </p:spPr>
            <p:txBody>
              <a:bodyPr/>
              <a:lstStyle/>
              <a:p>
                <a:r>
                  <a:rPr lang="en-US">
                    <a:noFill/>
                  </a:rPr>
                  <a:t> </a:t>
                </a:r>
              </a:p>
            </p:txBody>
          </p:sp>
        </mc:Fallback>
      </mc:AlternateContent>
      <p:cxnSp>
        <p:nvCxnSpPr>
          <p:cNvPr id="20" name="Connector 19"/>
          <p:cNvCxnSpPr/>
          <p:nvPr/>
        </p:nvCxnSpPr>
        <p:spPr>
          <a:xfrm flipH="1">
            <a:off x="2078431" y="2841281"/>
            <a:ext cx="1013882" cy="418555"/>
          </a:xfrm>
          <a:prstGeom prst="line">
            <a:avLst/>
          </a:prstGeom>
          <a:ln w="12700">
            <a:solidFill>
              <a:srgbClr val="0070C0"/>
            </a:solidFill>
            <a:tailEnd type="triangle" w="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4393202" y="4534852"/>
            <a:ext cx="1322614" cy="0"/>
          </a:xfrm>
          <a:prstGeom prst="line">
            <a:avLst/>
          </a:prstGeom>
          <a:ln w="22225">
            <a:solidFill>
              <a:srgbClr val="007A33"/>
            </a:solidFill>
            <a:tailEnd type="triangle" w="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57203" y="4553712"/>
            <a:ext cx="730377" cy="274320"/>
          </a:xfrm>
          <a:prstGeom prst="rect">
            <a:avLst/>
          </a:prstGeom>
          <a:noFill/>
        </p:spPr>
        <p:txBody>
          <a:bodyPr wrap="square" lIns="0" tIns="0" rIns="0" bIns="0">
            <a:spAutoFit/>
          </a:bodyPr>
          <a:lstStyle/>
          <a:p>
            <a:pPr algn="ctr"/>
            <a:r>
              <a:rPr sz="1600" b="1" i="0" u="none">
                <a:solidFill>
                  <a:srgbClr val="007A33"/>
                </a:solidFill>
                <a:latin typeface="Calibri"/>
              </a:rPr>
              <a:t>20 units</a:t>
            </a:r>
          </a:p>
        </p:txBody>
      </p:sp>
      <p:cxnSp>
        <p:nvCxnSpPr>
          <p:cNvPr id="23" name="Connector 22"/>
          <p:cNvCxnSpPr/>
          <p:nvPr/>
        </p:nvCxnSpPr>
        <p:spPr>
          <a:xfrm flipV="1">
            <a:off x="3731895" y="4171541"/>
            <a:ext cx="0" cy="1634899"/>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681603" y="5392837"/>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5340" y="2045316"/>
            <a:ext cx="492252" cy="274320"/>
          </a:xfrm>
          <a:prstGeom prst="rect">
            <a:avLst/>
          </a:prstGeom>
          <a:noFill/>
        </p:spPr>
        <p:txBody>
          <a:bodyPr wrap="none" lIns="0" tIns="0" rIns="0" bIns="0">
            <a:spAutoFit/>
          </a:bodyPr>
          <a:lstStyle/>
          <a:p>
            <a:pPr algn="r"/>
            <a:r>
              <a:rPr sz="1600" b="0" i="0" u="none">
                <a:solidFill>
                  <a:srgbClr val="0B2B4E"/>
                </a:solidFill>
                <a:latin typeface="Calibri"/>
              </a:rPr>
              <a:t>$100</a:t>
            </a:r>
          </a:p>
        </p:txBody>
      </p:sp>
      <p:sp>
        <p:nvSpPr>
          <p:cNvPr id="26" name="TextBox 25"/>
          <p:cNvSpPr txBox="1"/>
          <p:nvPr/>
        </p:nvSpPr>
        <p:spPr>
          <a:xfrm>
            <a:off x="920115" y="2771938"/>
            <a:ext cx="387477" cy="274320"/>
          </a:xfrm>
          <a:prstGeom prst="rect">
            <a:avLst/>
          </a:prstGeom>
          <a:noFill/>
        </p:spPr>
        <p:txBody>
          <a:bodyPr wrap="none" lIns="0" tIns="0" rIns="0" bIns="0">
            <a:spAutoFit/>
          </a:bodyPr>
          <a:lstStyle/>
          <a:p>
            <a:pPr algn="r"/>
            <a:r>
              <a:rPr sz="1600" b="0" i="0" u="none">
                <a:solidFill>
                  <a:srgbClr val="0070C0"/>
                </a:solidFill>
                <a:latin typeface="Calibri"/>
              </a:rPr>
              <a:t>$80</a:t>
            </a:r>
          </a:p>
        </p:txBody>
      </p:sp>
      <p:sp>
        <p:nvSpPr>
          <p:cNvPr id="27" name="TextBox 26"/>
          <p:cNvSpPr txBox="1"/>
          <p:nvPr/>
        </p:nvSpPr>
        <p:spPr>
          <a:xfrm>
            <a:off x="920115" y="5315113"/>
            <a:ext cx="387477" cy="274320"/>
          </a:xfrm>
          <a:prstGeom prst="rect">
            <a:avLst/>
          </a:prstGeom>
          <a:noFill/>
        </p:spPr>
        <p:txBody>
          <a:bodyPr wrap="none" lIns="0" tIns="0" rIns="0" bIns="0">
            <a:spAutoFit/>
          </a:bodyPr>
          <a:lstStyle/>
          <a:p>
            <a:pPr algn="r"/>
            <a:r>
              <a:rPr sz="1600" b="0" i="0" u="none">
                <a:solidFill>
                  <a:srgbClr val="0B2B4E"/>
                </a:solidFill>
                <a:latin typeface="Calibri"/>
              </a:rPr>
              <a:t>$10</a:t>
            </a:r>
          </a:p>
        </p:txBody>
      </p:sp>
      <p:sp>
        <p:nvSpPr>
          <p:cNvPr id="28" name="TextBox 27"/>
          <p:cNvSpPr txBox="1"/>
          <p:nvPr/>
        </p:nvSpPr>
        <p:spPr>
          <a:xfrm>
            <a:off x="3590544" y="5861303"/>
            <a:ext cx="282702" cy="274320"/>
          </a:xfrm>
          <a:prstGeom prst="rect">
            <a:avLst/>
          </a:prstGeom>
          <a:noFill/>
        </p:spPr>
        <p:txBody>
          <a:bodyPr wrap="none" lIns="0" tIns="0" rIns="0" bIns="0">
            <a:spAutoFit/>
          </a:bodyPr>
          <a:lstStyle/>
          <a:p>
            <a:pPr algn="ctr"/>
            <a:r>
              <a:rPr sz="1600" b="1" i="0" u="none">
                <a:solidFill>
                  <a:srgbClr val="0070C0"/>
                </a:solidFill>
                <a:latin typeface="Calibri"/>
              </a:rPr>
              <a:t>35</a:t>
            </a:r>
          </a:p>
        </p:txBody>
      </p:sp>
      <p:sp>
        <p:nvSpPr>
          <p:cNvPr id="29" name="TextBox 28"/>
          <p:cNvSpPr txBox="1"/>
          <p:nvPr/>
        </p:nvSpPr>
        <p:spPr>
          <a:xfrm>
            <a:off x="6566426" y="5861303"/>
            <a:ext cx="282702" cy="274320"/>
          </a:xfrm>
          <a:prstGeom prst="rect">
            <a:avLst/>
          </a:prstGeom>
          <a:noFill/>
        </p:spPr>
        <p:txBody>
          <a:bodyPr wrap="none" lIns="0" tIns="0" rIns="0" bIns="0">
            <a:spAutoFit/>
          </a:bodyPr>
          <a:lstStyle/>
          <a:p>
            <a:pPr algn="ctr"/>
            <a:r>
              <a:rPr sz="1600" b="0" i="0" u="none">
                <a:solidFill>
                  <a:srgbClr val="0B2B4E"/>
                </a:solidFill>
                <a:latin typeface="Calibri"/>
              </a:rPr>
              <a:t>80</a:t>
            </a:r>
          </a:p>
        </p:txBody>
      </p:sp>
      <p:sp>
        <p:nvSpPr>
          <p:cNvPr id="30" name="TextBox 29"/>
          <p:cNvSpPr txBox="1"/>
          <p:nvPr/>
        </p:nvSpPr>
        <p:spPr>
          <a:xfrm>
            <a:off x="7836653" y="5861303"/>
            <a:ext cx="387477" cy="274320"/>
          </a:xfrm>
          <a:prstGeom prst="rect">
            <a:avLst/>
          </a:prstGeom>
          <a:noFill/>
        </p:spPr>
        <p:txBody>
          <a:bodyPr wrap="none" lIns="0" tIns="0" rIns="0" bIns="0">
            <a:spAutoFit/>
          </a:bodyPr>
          <a:lstStyle/>
          <a:p>
            <a:pPr algn="ctr"/>
            <a:r>
              <a:rPr sz="1600" b="0" i="0" u="none">
                <a:solidFill>
                  <a:srgbClr val="0B2B4E"/>
                </a:solidFill>
                <a:latin typeface="Calibri"/>
              </a:rPr>
              <a:t>100</a:t>
            </a:r>
          </a:p>
        </p:txBody>
      </p:sp>
      <p:grpSp>
        <p:nvGrpSpPr>
          <p:cNvPr id="34" name="MktGuide 34"/>
          <p:cNvGrpSpPr/>
          <p:nvPr/>
        </p:nvGrpSpPr>
        <p:grpSpPr>
          <a:xfrm>
            <a:off x="4913158" y="4121249"/>
            <a:ext cx="282702" cy="2014374"/>
            <a:chOff x="4913158" y="4121249"/>
            <a:chExt cx="282702" cy="2014374"/>
          </a:xfrm>
        </p:grpSpPr>
        <p:cxnSp>
          <p:nvCxnSpPr>
            <p:cNvPr id="31" name="Connector 30"/>
            <p:cNvCxnSpPr/>
            <p:nvPr/>
          </p:nvCxnSpPr>
          <p:spPr>
            <a:xfrm>
              <a:off x="5054509" y="4171541"/>
              <a:ext cx="0" cy="1634899"/>
            </a:xfrm>
            <a:prstGeom prst="line">
              <a:avLst/>
            </a:prstGeom>
            <a:ln w="158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5004217" y="4121249"/>
              <a:ext cx="100584" cy="100584"/>
            </a:xfrm>
            <a:prstGeom prst="ellipse">
              <a:avLst/>
            </a:prstGeom>
            <a:solidFill>
              <a:srgbClr val="C00000"/>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913158" y="5861303"/>
              <a:ext cx="282702" cy="274320"/>
            </a:xfrm>
            <a:prstGeom prst="rect">
              <a:avLst/>
            </a:prstGeom>
            <a:noFill/>
          </p:spPr>
          <p:txBody>
            <a:bodyPr wrap="none" lIns="0" tIns="0" rIns="0" bIns="0">
              <a:spAutoFit/>
            </a:bodyPr>
            <a:lstStyle/>
            <a:p>
              <a:pPr algn="ctr"/>
              <a:r>
                <a:rPr sz="1600" b="0" i="0" u="none">
                  <a:solidFill>
                    <a:srgbClr val="C00000"/>
                  </a:solidFill>
                  <a:latin typeface="Calibri"/>
                </a:rPr>
                <a:t>55</a:t>
              </a:r>
            </a:p>
          </p:txBody>
        </p:sp>
      </p:grpSp>
      <p:grpSp>
        <p:nvGrpSpPr>
          <p:cNvPr id="39" name="PriceGuide 39"/>
          <p:cNvGrpSpPr/>
          <p:nvPr/>
        </p:nvGrpSpPr>
        <p:grpSpPr>
          <a:xfrm>
            <a:off x="920115" y="4023360"/>
            <a:ext cx="9366884" cy="566928"/>
            <a:chOff x="920115" y="4023360"/>
            <a:chExt cx="9366884" cy="566928"/>
          </a:xfrm>
        </p:grpSpPr>
        <p:cxnSp>
          <p:nvCxnSpPr>
            <p:cNvPr id="35" name="Connector 34"/>
            <p:cNvCxnSpPr/>
            <p:nvPr/>
          </p:nvCxnSpPr>
          <p:spPr>
            <a:xfrm>
              <a:off x="1417320" y="4171541"/>
              <a:ext cx="3637189" cy="0"/>
            </a:xfrm>
            <a:prstGeom prst="line">
              <a:avLst/>
            </a:prstGeom>
            <a:ln w="158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20115" y="4043525"/>
              <a:ext cx="387477" cy="274320"/>
            </a:xfrm>
            <a:prstGeom prst="rect">
              <a:avLst/>
            </a:prstGeom>
            <a:noFill/>
          </p:spPr>
          <p:txBody>
            <a:bodyPr wrap="none" lIns="0" tIns="0" rIns="0" bIns="0">
              <a:spAutoFit/>
            </a:bodyPr>
            <a:lstStyle/>
            <a:p>
              <a:pPr algn="r"/>
              <a:r>
                <a:rPr sz="1600" b="1" i="0" u="none">
                  <a:solidFill>
                    <a:srgbClr val="C00000"/>
                  </a:solidFill>
                  <a:latin typeface="Calibri"/>
                </a:rPr>
                <a:t>$45</a:t>
              </a:r>
            </a:p>
          </p:txBody>
        </p:sp>
        <p:sp>
          <p:nvSpPr>
            <p:cNvPr id="37" name="TextBox 36"/>
            <p:cNvSpPr txBox="1"/>
            <p:nvPr/>
          </p:nvSpPr>
          <p:spPr>
            <a:xfrm>
              <a:off x="7498079" y="4023360"/>
              <a:ext cx="2788920" cy="566928"/>
            </a:xfrm>
            <a:prstGeom prst="rect">
              <a:avLst/>
            </a:prstGeom>
            <a:noFill/>
          </p:spPr>
          <p:txBody>
            <a:bodyPr wrap="square" lIns="45720" tIns="0" rIns="45720" bIns="0">
              <a:spAutoFit/>
            </a:bodyPr>
            <a:lstStyle/>
            <a:p>
              <a:r>
                <a:rPr lang="en-US" sz="1700" b="1">
                  <a:solidFill>
                    <a:srgbClr val="C00000"/>
                  </a:solidFill>
                  <a:latin typeface="Calibri"/>
                </a:rPr>
                <a:t>Market price determined by</a:t>
              </a:r>
              <a:endParaRPr lang="en-US"/>
            </a:p>
            <a:p>
              <a:r>
                <a:rPr lang="en-US" sz="1700" b="1">
                  <a:solidFill>
                    <a:srgbClr val="C00000"/>
                  </a:solidFill>
                  <a:latin typeface="Calibri"/>
                </a:rPr>
                <a:t>overall </a:t>
              </a:r>
              <a:r>
                <a:rPr lang="en-US" sz="1700" b="1" i="1">
                  <a:solidFill>
                    <a:srgbClr val="C00000"/>
                  </a:solidFill>
                  <a:latin typeface="Calibri"/>
                </a:rPr>
                <a:t>Q</a:t>
              </a:r>
              <a:r>
                <a:rPr lang="en-US" sz="1700" b="1">
                  <a:solidFill>
                    <a:srgbClr val="C00000"/>
                  </a:solidFill>
                  <a:latin typeface="Calibri"/>
                </a:rPr>
                <a:t> = </a:t>
              </a:r>
              <a:r>
                <a:rPr lang="en-US" sz="1700" b="1" i="1">
                  <a:solidFill>
                    <a:srgbClr val="C00000"/>
                  </a:solidFill>
                  <a:latin typeface="Calibri"/>
                </a:rPr>
                <a:t>Q</a:t>
              </a:r>
              <a:r>
                <a:rPr lang="en-US" sz="1700" b="1" baseline="-25000">
                  <a:solidFill>
                    <a:srgbClr val="C00000"/>
                  </a:solidFill>
                  <a:latin typeface="Calibri"/>
                </a:rPr>
                <a:t>A</a:t>
              </a:r>
              <a:r>
                <a:rPr lang="en-US" sz="1700" b="1">
                  <a:solidFill>
                    <a:srgbClr val="C00000"/>
                  </a:solidFill>
                  <a:latin typeface="Calibri"/>
                </a:rPr>
                <a:t> + </a:t>
              </a:r>
              <a:r>
                <a:rPr lang="en-US" sz="1700" b="1" i="1">
                  <a:solidFill>
                    <a:srgbClr val="C00000"/>
                  </a:solidFill>
                  <a:latin typeface="Calibri"/>
                </a:rPr>
                <a:t>Q</a:t>
              </a:r>
              <a:r>
                <a:rPr lang="en-US" sz="1700" b="1" baseline="-25000">
                  <a:solidFill>
                    <a:srgbClr val="C00000"/>
                  </a:solidFill>
                  <a:latin typeface="Calibri"/>
                </a:rPr>
                <a:t>B</a:t>
              </a:r>
              <a:endParaRPr lang="en-US"/>
            </a:p>
          </p:txBody>
        </p:sp>
        <p:cxnSp>
          <p:nvCxnSpPr>
            <p:cNvPr id="38" name="Connector 37"/>
            <p:cNvCxnSpPr/>
            <p:nvPr/>
          </p:nvCxnSpPr>
          <p:spPr>
            <a:xfrm flipH="1" flipV="1">
              <a:off x="5118517" y="4125821"/>
              <a:ext cx="2343028" cy="112372"/>
            </a:xfrm>
            <a:prstGeom prst="line">
              <a:avLst/>
            </a:prstGeom>
            <a:ln w="1905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grpSp>
      <p:grpSp>
        <p:nvGrpSpPr>
          <p:cNvPr id="146" name="sdpair:box:146"/>
          <p:cNvGrpSpPr/>
          <p:nvPr/>
        </p:nvGrpSpPr>
        <p:grpSpPr>
          <a:xfrm>
            <a:off x="8485632" y="2130552"/>
            <a:ext cx="3172968" cy="914400"/>
            <a:chOff x="8485632" y="2130552"/>
            <a:chExt cx="3172968" cy="914400"/>
          </a:xfrm>
        </p:grpSpPr>
        <p:sp>
          <p:nvSpPr>
            <p:cNvPr id="40" name="Rounded Rectangle 39"/>
            <p:cNvSpPr/>
            <p:nvPr/>
          </p:nvSpPr>
          <p:spPr>
            <a:xfrm>
              <a:off x="8485632" y="2130552"/>
              <a:ext cx="3172968" cy="914400"/>
            </a:xfrm>
            <a:prstGeom prst="roundRect">
              <a:avLst>
                <a:gd name="adj" fmla="val 16000"/>
              </a:avLst>
            </a:prstGeom>
            <a:solidFill>
              <a:srgbClr val="FFFFFF"/>
            </a:solidFill>
            <a:ln w="15875">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8631936" y="2264968"/>
              <a:ext cx="2880360" cy="649224"/>
            </a:xfrm>
            <a:prstGeom prst="rect">
              <a:avLst/>
            </a:prstGeom>
            <a:noFill/>
          </p:spPr>
          <p:txBody>
            <a:bodyPr wrap="square" anchor="ctr">
              <a:spAutoFit/>
            </a:bodyPr>
            <a:lstStyle/>
            <a:p>
              <a:r>
                <a:rPr sz="1800" b="0">
                  <a:solidFill>
                    <a:srgbClr val="0070C0"/>
                  </a:solidFill>
                  <a:latin typeface="Calibri"/>
                </a:rPr>
                <a:t>Now Firm A assumes that B produces 20 units (</a:t>
              </a:r>
              <a:r>
                <a:rPr sz="1800" b="1">
                  <a:solidFill>
                    <a:srgbClr val="007A33"/>
                  </a:solidFill>
                  <a:latin typeface="Calibri"/>
                </a:rPr>
                <a:t>Q</a:t>
              </a:r>
              <a:r>
                <a:rPr sz="1800" b="1" baseline="-25000">
                  <a:solidFill>
                    <a:srgbClr val="007A33"/>
                  </a:solidFill>
                  <a:latin typeface="Calibri"/>
                </a:rPr>
                <a:t>B</a:t>
              </a:r>
              <a:r>
                <a:rPr sz="1800" b="1">
                  <a:solidFill>
                    <a:srgbClr val="007A33"/>
                  </a:solidFill>
                  <a:latin typeface="Calibri"/>
                </a:rPr>
                <a:t> = 20</a:t>
              </a:r>
              <a:r>
                <a:rPr sz="1800" b="0">
                  <a:solidFill>
                    <a:srgbClr val="0070C0"/>
                  </a:solidFill>
                  <a:latin typeface="Calibri"/>
                </a:rPr>
                <a:t>)</a:t>
              </a:r>
            </a:p>
          </p:txBody>
        </p:sp>
      </p:grpSp>
      <p:sp>
        <p:nvSpPr>
          <p:cNvPr id="42" name="TextBox 41"/>
          <p:cNvSpPr txBox="1"/>
          <p:nvPr/>
        </p:nvSpPr>
        <p:spPr>
          <a:xfrm>
            <a:off x="9098280" y="3154680"/>
            <a:ext cx="2130552" cy="822960"/>
          </a:xfrm>
          <a:prstGeom prst="rect">
            <a:avLst/>
          </a:prstGeom>
          <a:noFill/>
        </p:spPr>
        <p:txBody>
          <a:bodyPr wrap="square" lIns="0" tIns="0" rIns="0" bIns="0">
            <a:spAutoFit/>
          </a:bodyPr>
          <a:lstStyle/>
          <a:p>
            <a:pPr algn="l"/>
            <a:r>
              <a:rPr sz="1700" b="1" i="0" u="none">
                <a:solidFill>
                  <a:srgbClr val="0070C0"/>
                </a:solidFill>
                <a:latin typeface="Calibri"/>
              </a:rPr>
              <a:t>→  Firm A's optimal response is 35 units</a:t>
            </a:r>
          </a:p>
        </p:txBody>
      </p:sp>
      <p:sp>
        <p:nvSpPr>
          <p:cNvPr id="43" name="Rectangle 4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46" name="TextBox 45"/>
          <p:cNvSpPr txBox="1"/>
          <p:nvPr/>
        </p:nvSpPr>
        <p:spPr>
          <a:xfrm>
            <a:off x="11475720" y="6583680"/>
            <a:ext cx="502920" cy="292608"/>
          </a:xfrm>
          <a:prstGeom prst="rect">
            <a:avLst/>
          </a:prstGeom>
          <a:noFill/>
        </p:spPr>
        <p:txBody>
          <a:bodyPr wrap="none" lIns="0" tIns="0" rIns="0" bIns="0">
            <a:spAutoFit/>
          </a:bodyPr>
          <a:lstStyle/>
          <a:p>
            <a:pPr algn="r"/>
            <a:fld id="{94BF10E8-5FFA-5D0D-9C77-A9C34730628B}"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500"/>
                                        <p:tgtEl>
                                          <p:spTgt spid="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par>
                                <p:cTn id="19" presetID="10"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par>
                                <p:cTn id="25" presetID="10"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Firm A's Reaction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554480" y="1417320"/>
            <a:ext cx="9177832" cy="4608576"/>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sdaxis:y"/>
          <p:cNvCxnSpPr/>
          <p:nvPr/>
        </p:nvCxnSpPr>
        <p:spPr>
          <a:xfrm flipV="1">
            <a:off x="3063240" y="1709928"/>
            <a:ext cx="0" cy="359359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3063240" y="5303520"/>
            <a:ext cx="65653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rot="16200000">
                <a:off x="944575" y="3031236"/>
                <a:ext cx="3108960" cy="292608"/>
              </a:xfrm>
              <a:prstGeom prst="rect">
                <a:avLst/>
              </a:prstGeom>
              <a:noFill/>
            </p:spPr>
            <p:txBody>
              <a:bodyPr wrap="square" lIns="45720" tIns="0" rIns="45720" bIns="0">
                <a:spAutoFit/>
              </a:bodyPr>
              <a:lstStyle/>
              <a:p>
                <a:r>
                  <a:rPr lang="en-US" sz="1600" b="1" i="1">
                    <a:solidFill>
                      <a:srgbClr val="0070C0"/>
                    </a:solidFill>
                    <a:latin typeface="Calibri"/>
                  </a:rPr>
                  <a:t>Firm A's Reaction (</a:t>
                </a:r>
                <a14:m>
                  <m:oMath xmlns:m="http://schemas.openxmlformats.org/officeDocument/2006/math">
                    <m:sSub>
                      <m:sSubPr>
                        <m:ctrlPr>
                          <a:rPr lang="en-US" sz="1600" b="0" i="1">
                            <a:solidFill>
                              <a:srgbClr val="0070C0"/>
                            </a:solidFill>
                            <a:latin typeface="Cambria Math"/>
                            <a:ea typeface="Cambria Math"/>
                          </a:rPr>
                        </m:ctrlPr>
                      </m:sSubPr>
                      <m:e>
                        <m:r>
                          <a:rPr lang="en-US" sz="1600" b="0" i="1">
                            <a:solidFill>
                              <a:srgbClr val="0070C0"/>
                            </a:solidFill>
                            <a:latin typeface="Cambria Math"/>
                            <a:ea typeface="Cambria Math"/>
                          </a:rPr>
                          <m:t>𝑄</m:t>
                        </m:r>
                      </m:e>
                      <m:sub>
                        <m:r>
                          <m:rPr>
                            <m:sty m:val="p"/>
                          </m:rPr>
                          <a:rPr lang="en-US" sz="1600" b="0" i="0">
                            <a:solidFill>
                              <a:srgbClr val="0070C0"/>
                            </a:solidFill>
                            <a:latin typeface="Cambria Math"/>
                          </a:rPr>
                          <m:t>A</m:t>
                        </m:r>
                      </m:sub>
                    </m:sSub>
                  </m:oMath>
                </a14:m>
                <a:r>
                  <a:rPr lang="en-US" sz="1600" b="1" i="1">
                    <a:solidFill>
                      <a:srgbClr val="0070C0"/>
                    </a:solidFill>
                    <a:latin typeface="Calibri"/>
                  </a:rPr>
                  <a:t>)</a:t>
                </a:r>
                <a:endParaRPr lang="en-US"/>
              </a:p>
            </p:txBody>
          </p:sp>
        </mc:Choice>
        <mc:Fallback xmlns="">
          <p:sp>
            <p:nvSpPr>
              <p:cNvPr id="10" name="TextBox 9"/>
              <p:cNvSpPr txBox="1">
                <a:spLocks noRot="1" noChangeAspect="1" noMove="1" noResize="1" noEditPoints="1" noAdjustHandles="1" noChangeArrowheads="1" noChangeShapeType="1" noTextEdit="1"/>
              </p:cNvSpPr>
              <p:nvPr/>
            </p:nvSpPr>
            <p:spPr>
              <a:xfrm rot="16200000">
                <a:off x="944575" y="3031236"/>
                <a:ext cx="3108960" cy="292608"/>
              </a:xfrm>
              <a:prstGeom prst="rect">
                <a:avLst/>
              </a:prstGeom>
              <a:blipFill>
                <a:blip r:embed="rId3"/>
                <a:stretch>
                  <a:fillRect l="-14583" r="-33333" b="-25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983480" y="5632704"/>
                <a:ext cx="2926080" cy="292608"/>
              </a:xfrm>
              <a:prstGeom prst="rect">
                <a:avLst/>
              </a:prstGeom>
              <a:noFill/>
            </p:spPr>
            <p:txBody>
              <a:bodyPr wrap="square" lIns="45720" tIns="0" rIns="45720" bIns="0">
                <a:spAutoFit/>
              </a:bodyPr>
              <a:lstStyle/>
              <a:p>
                <a:r>
                  <a:rPr lang="en-US" sz="1600" b="1" i="1">
                    <a:solidFill>
                      <a:srgbClr val="007A33"/>
                    </a:solidFill>
                    <a:latin typeface="Calibri"/>
                  </a:rPr>
                  <a:t>Firm B's Output (</a:t>
                </a:r>
                <a14:m>
                  <m:oMath xmlns:m="http://schemas.openxmlformats.org/officeDocument/2006/math">
                    <m:sSub>
                      <m:sSubPr>
                        <m:ctrlPr>
                          <a:rPr lang="en-US" sz="1600" b="0" i="1">
                            <a:solidFill>
                              <a:srgbClr val="007A33"/>
                            </a:solidFill>
                            <a:latin typeface="Cambria Math"/>
                            <a:ea typeface="Cambria Math"/>
                          </a:rPr>
                        </m:ctrlPr>
                      </m:sSubPr>
                      <m:e>
                        <m:r>
                          <a:rPr lang="en-US" sz="1600" b="0" i="1">
                            <a:solidFill>
                              <a:srgbClr val="007A33"/>
                            </a:solidFill>
                            <a:latin typeface="Cambria Math"/>
                            <a:ea typeface="Cambria Math"/>
                          </a:rPr>
                          <m:t>𝑄</m:t>
                        </m:r>
                      </m:e>
                      <m:sub>
                        <m:r>
                          <m:rPr>
                            <m:sty m:val="p"/>
                          </m:rPr>
                          <a:rPr lang="en-US" sz="1600" b="0" i="0">
                            <a:solidFill>
                              <a:srgbClr val="007A33"/>
                            </a:solidFill>
                            <a:latin typeface="Cambria Math"/>
                          </a:rPr>
                          <m:t>B</m:t>
                        </m:r>
                      </m:sub>
                    </m:sSub>
                  </m:oMath>
                </a14:m>
                <a:r>
                  <a:rPr lang="en-US" sz="1600" b="1" i="1">
                    <a:solidFill>
                      <a:srgbClr val="007A33"/>
                    </a:solidFill>
                    <a:latin typeface="Calibri"/>
                  </a:rPr>
                  <a:t>)</a:t>
                </a:r>
                <a:endParaRPr lang="en-US"/>
              </a:p>
            </p:txBody>
          </p:sp>
        </mc:Choice>
        <mc:Fallback xmlns="">
          <p:sp>
            <p:nvSpPr>
              <p:cNvPr id="11" name="TextBox 10"/>
              <p:cNvSpPr txBox="1">
                <a:spLocks noRot="1" noChangeAspect="1" noMove="1" noResize="1" noEditPoints="1" noAdjustHandles="1" noChangeArrowheads="1" noChangeShapeType="1" noTextEdit="1"/>
              </p:cNvSpPr>
              <p:nvPr/>
            </p:nvSpPr>
            <p:spPr>
              <a:xfrm>
                <a:off x="4983480" y="5632704"/>
                <a:ext cx="2926080" cy="292608"/>
              </a:xfrm>
              <a:prstGeom prst="rect">
                <a:avLst/>
              </a:prstGeom>
              <a:blipFill>
                <a:blip r:embed="rId4"/>
                <a:stretch>
                  <a:fillRect l="-2708" t="-12500" b="-33333"/>
                </a:stretch>
              </a:blipFill>
            </p:spPr>
            <p:txBody>
              <a:bodyPr/>
              <a:lstStyle/>
              <a:p>
                <a:r>
                  <a:rPr lang="en-US">
                    <a:noFill/>
                  </a:rPr>
                  <a:t> </a:t>
                </a:r>
              </a:p>
            </p:txBody>
          </p:sp>
        </mc:Fallback>
      </mc:AlternateContent>
      <p:cxnSp>
        <p:nvCxnSpPr>
          <p:cNvPr id="12" name="Connector 11"/>
          <p:cNvCxnSpPr/>
          <p:nvPr/>
        </p:nvCxnSpPr>
        <p:spPr>
          <a:xfrm>
            <a:off x="3063240" y="2497974"/>
            <a:ext cx="5760720" cy="2805546"/>
          </a:xfrm>
          <a:prstGeom prst="line">
            <a:avLst/>
          </a:prstGeom>
          <a:ln w="31750">
            <a:solidFill>
              <a:srgbClr val="0070C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6967728" y="4137660"/>
                <a:ext cx="3017520" cy="548640"/>
              </a:xfrm>
              <a:prstGeom prst="rect">
                <a:avLst/>
              </a:prstGeom>
              <a:noFill/>
            </p:spPr>
            <p:txBody>
              <a:bodyPr wrap="square" lIns="45720" tIns="0" rIns="45720" bIns="0">
                <a:spAutoFit/>
              </a:bodyPr>
              <a:lstStyle/>
              <a:p>
                <a:r>
                  <a:rPr lang="en-US" sz="1600" b="1">
                    <a:solidFill>
                      <a:srgbClr val="0070C0"/>
                    </a:solidFill>
                    <a:latin typeface="Calibri"/>
                  </a:rPr>
                  <a:t>Firm A's reaction function</a:t>
                </a:r>
                <a:endParaRPr lang="en-US"/>
              </a:p>
              <a:p>
                <a:pPr/>
                <a14:m>
                  <m:oMathPara xmlns:m="http://schemas.openxmlformats.org/officeDocument/2006/math">
                    <m:oMath>
                      <m:sSub>
                        <m:sSubPr>
                          <m:ctrlPr>
                            <a:rPr lang="en-US" sz="1600" b="0" i="1">
                              <a:solidFill>
                                <a:srgbClr val="0070C0"/>
                              </a:solidFill>
                              <a:latin typeface="Cambria Math"/>
                              <a:ea typeface="Cambria Math"/>
                            </a:rPr>
                          </m:ctrlPr>
                        </m:sSubPr>
                        <m:e>
                          <m:r>
                            <a:rPr lang="en-US" sz="1600" b="0" i="1">
                              <a:solidFill>
                                <a:srgbClr val="0070C0"/>
                              </a:solidFill>
                              <a:latin typeface="Cambria Math"/>
                              <a:ea typeface="Cambria Math"/>
                            </a:rPr>
                            <m:t>𝑄</m:t>
                          </m:r>
                        </m:e>
                        <m:sub>
                          <m:r>
                            <m:rPr>
                              <m:sty m:val="p"/>
                            </m:rPr>
                            <a:rPr lang="en-US" sz="1600" b="0" i="0">
                              <a:solidFill>
                                <a:srgbClr val="0070C0"/>
                              </a:solidFill>
                              <a:latin typeface="Cambria Math"/>
                            </a:rPr>
                            <m:t>A</m:t>
                          </m:r>
                        </m:sub>
                      </m:sSub>
                      <m:r>
                        <a:rPr lang="en-US" sz="1600" b="0" i="0">
                          <a:solidFill>
                            <a:srgbClr val="0070C0"/>
                          </a:solidFill>
                          <a:latin typeface="Cambria Math"/>
                        </a:rPr>
                        <m:t> = 45 − 0.5·</m:t>
                      </m:r>
                      <m:sSub>
                        <m:sSubPr>
                          <m:ctrlPr>
                            <a:rPr lang="en-US" sz="1600" b="0" i="1">
                              <a:solidFill>
                                <a:srgbClr val="007A33"/>
                              </a:solidFill>
                              <a:latin typeface="Cambria Math"/>
                              <a:ea typeface="Cambria Math"/>
                            </a:rPr>
                          </m:ctrlPr>
                        </m:sSubPr>
                        <m:e>
                          <m:r>
                            <a:rPr lang="en-US" sz="1600" b="0" i="1">
                              <a:solidFill>
                                <a:srgbClr val="007A33"/>
                              </a:solidFill>
                              <a:latin typeface="Cambria Math"/>
                              <a:ea typeface="Cambria Math"/>
                            </a:rPr>
                            <m:t>𝑄</m:t>
                          </m:r>
                        </m:e>
                        <m:sub>
                          <m:r>
                            <m:rPr>
                              <m:sty m:val="p"/>
                            </m:rPr>
                            <a:rPr lang="en-US" sz="1600" b="0" i="0">
                              <a:solidFill>
                                <a:srgbClr val="007A33"/>
                              </a:solidFill>
                              <a:latin typeface="Cambria Math"/>
                            </a:rPr>
                            <m:t>B</m:t>
                          </m:r>
                        </m:sub>
                      </m:sSub>
                    </m:oMath>
                  </m:oMathPara>
                </a14:m>
                <a:endParaRPr lang="en-US"/>
              </a:p>
            </p:txBody>
          </p:sp>
        </mc:Choice>
        <mc:Fallback xmlns="">
          <p:sp>
            <p:nvSpPr>
              <p:cNvPr id="13" name="TextBox 12"/>
              <p:cNvSpPr txBox="1">
                <a:spLocks noRot="1" noChangeAspect="1" noMove="1" noResize="1" noEditPoints="1" noAdjustHandles="1" noChangeArrowheads="1" noChangeShapeType="1" noTextEdit="1"/>
              </p:cNvSpPr>
              <p:nvPr/>
            </p:nvSpPr>
            <p:spPr>
              <a:xfrm>
                <a:off x="6967728" y="4137660"/>
                <a:ext cx="3017520" cy="548640"/>
              </a:xfrm>
              <a:prstGeom prst="rect">
                <a:avLst/>
              </a:prstGeom>
              <a:blipFill>
                <a:blip r:embed="rId5"/>
                <a:stretch>
                  <a:fillRect l="-2626" t="-12222" b="-5556"/>
                </a:stretch>
              </a:blipFill>
            </p:spPr>
            <p:txBody>
              <a:bodyPr/>
              <a:lstStyle/>
              <a:p>
                <a:r>
                  <a:rPr lang="en-US">
                    <a:noFill/>
                  </a:rPr>
                  <a:t> </a:t>
                </a:r>
              </a:p>
            </p:txBody>
          </p:sp>
        </mc:Fallback>
      </mc:AlternateContent>
      <p:cxnSp>
        <p:nvCxnSpPr>
          <p:cNvPr id="14" name="Connector 13"/>
          <p:cNvCxnSpPr/>
          <p:nvPr/>
        </p:nvCxnSpPr>
        <p:spPr>
          <a:xfrm flipV="1">
            <a:off x="6263640" y="4056610"/>
            <a:ext cx="0" cy="1246910"/>
          </a:xfrm>
          <a:prstGeom prst="line">
            <a:avLst/>
          </a:prstGeom>
          <a:ln w="15875">
            <a:solidFill>
              <a:srgbClr val="007A33"/>
            </a:solidFill>
            <a:prstDash val="sysDot"/>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063240" y="4056610"/>
            <a:ext cx="3200400" cy="0"/>
          </a:xfrm>
          <a:prstGeom prst="line">
            <a:avLst/>
          </a:prstGeom>
          <a:ln w="15875">
            <a:solidFill>
              <a:srgbClr val="0070C0"/>
            </a:solidFill>
            <a:prstDash val="sysDot"/>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204204" y="3997174"/>
            <a:ext cx="118872" cy="118872"/>
          </a:xfrm>
          <a:prstGeom prst="ellipse">
            <a:avLst/>
          </a:prstGeom>
          <a:solidFill>
            <a:srgbClr val="0070C0"/>
          </a:solidFill>
          <a:ln w="158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2289" y="5358383"/>
            <a:ext cx="282702" cy="274320"/>
          </a:xfrm>
          <a:prstGeom prst="rect">
            <a:avLst/>
          </a:prstGeom>
          <a:noFill/>
        </p:spPr>
        <p:txBody>
          <a:bodyPr wrap="none" lIns="0" tIns="0" rIns="0" bIns="0">
            <a:spAutoFit/>
          </a:bodyPr>
          <a:lstStyle/>
          <a:p>
            <a:pPr algn="ctr"/>
            <a:r>
              <a:rPr sz="1600" b="1" i="0" u="none">
                <a:solidFill>
                  <a:srgbClr val="007A33"/>
                </a:solidFill>
                <a:latin typeface="Calibri"/>
              </a:rPr>
              <a:t>50</a:t>
            </a:r>
          </a:p>
        </p:txBody>
      </p:sp>
      <p:sp>
        <p:nvSpPr>
          <p:cNvPr id="18" name="TextBox 17"/>
          <p:cNvSpPr txBox="1"/>
          <p:nvPr/>
        </p:nvSpPr>
        <p:spPr>
          <a:xfrm>
            <a:off x="2670810" y="3928594"/>
            <a:ext cx="282702" cy="274320"/>
          </a:xfrm>
          <a:prstGeom prst="rect">
            <a:avLst/>
          </a:prstGeom>
          <a:noFill/>
        </p:spPr>
        <p:txBody>
          <a:bodyPr wrap="none" lIns="0" tIns="0" rIns="0" bIns="0">
            <a:spAutoFit/>
          </a:bodyPr>
          <a:lstStyle/>
          <a:p>
            <a:pPr algn="r"/>
            <a:r>
              <a:rPr sz="1600" b="1" i="0" u="none">
                <a:solidFill>
                  <a:srgbClr val="0070C0"/>
                </a:solidFill>
                <a:latin typeface="Calibri"/>
              </a:rPr>
              <a:t>20</a:t>
            </a:r>
          </a:p>
        </p:txBody>
      </p:sp>
      <p:cxnSp>
        <p:nvCxnSpPr>
          <p:cNvPr id="19" name="Connector 18"/>
          <p:cNvCxnSpPr/>
          <p:nvPr/>
        </p:nvCxnSpPr>
        <p:spPr>
          <a:xfrm flipV="1">
            <a:off x="4343400" y="3121429"/>
            <a:ext cx="0" cy="2182091"/>
          </a:xfrm>
          <a:prstGeom prst="line">
            <a:avLst/>
          </a:prstGeom>
          <a:ln w="15875">
            <a:solidFill>
              <a:srgbClr val="007A33"/>
            </a:solidFill>
            <a:prstDash val="sysDot"/>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063240" y="3121429"/>
            <a:ext cx="1280160" cy="0"/>
          </a:xfrm>
          <a:prstGeom prst="line">
            <a:avLst/>
          </a:prstGeom>
          <a:ln w="15875">
            <a:solidFill>
              <a:srgbClr val="0070C0"/>
            </a:solidFill>
            <a:prstDash val="sysDot"/>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283964" y="3061993"/>
            <a:ext cx="118872" cy="118872"/>
          </a:xfrm>
          <a:prstGeom prst="ellipse">
            <a:avLst/>
          </a:prstGeom>
          <a:solidFill>
            <a:srgbClr val="0070C0"/>
          </a:solidFill>
          <a:ln w="158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02049" y="5358383"/>
            <a:ext cx="282702" cy="274320"/>
          </a:xfrm>
          <a:prstGeom prst="rect">
            <a:avLst/>
          </a:prstGeom>
          <a:noFill/>
        </p:spPr>
        <p:txBody>
          <a:bodyPr wrap="none" lIns="0" tIns="0" rIns="0" bIns="0">
            <a:spAutoFit/>
          </a:bodyPr>
          <a:lstStyle/>
          <a:p>
            <a:pPr algn="ctr"/>
            <a:r>
              <a:rPr sz="1600" b="1" i="0" u="none">
                <a:solidFill>
                  <a:srgbClr val="007A33"/>
                </a:solidFill>
                <a:latin typeface="Calibri"/>
              </a:rPr>
              <a:t>20</a:t>
            </a:r>
          </a:p>
        </p:txBody>
      </p:sp>
      <p:sp>
        <p:nvSpPr>
          <p:cNvPr id="23" name="TextBox 22"/>
          <p:cNvSpPr txBox="1"/>
          <p:nvPr/>
        </p:nvSpPr>
        <p:spPr>
          <a:xfrm>
            <a:off x="2670810" y="2993413"/>
            <a:ext cx="282702" cy="274320"/>
          </a:xfrm>
          <a:prstGeom prst="rect">
            <a:avLst/>
          </a:prstGeom>
          <a:noFill/>
        </p:spPr>
        <p:txBody>
          <a:bodyPr wrap="none" lIns="0" tIns="0" rIns="0" bIns="0">
            <a:spAutoFit/>
          </a:bodyPr>
          <a:lstStyle/>
          <a:p>
            <a:pPr algn="r"/>
            <a:r>
              <a:rPr sz="1600" b="1" i="0" u="none">
                <a:solidFill>
                  <a:srgbClr val="0070C0"/>
                </a:solidFill>
                <a:latin typeface="Calibri"/>
              </a:rPr>
              <a:t>35</a:t>
            </a:r>
          </a:p>
        </p:txBody>
      </p:sp>
      <p:sp>
        <p:nvSpPr>
          <p:cNvPr id="24" name="TextBox 23"/>
          <p:cNvSpPr txBox="1"/>
          <p:nvPr/>
        </p:nvSpPr>
        <p:spPr>
          <a:xfrm>
            <a:off x="4083710" y="2525572"/>
            <a:ext cx="1568577" cy="274320"/>
          </a:xfrm>
          <a:prstGeom prst="rect">
            <a:avLst/>
          </a:prstGeom>
          <a:noFill/>
        </p:spPr>
        <p:txBody>
          <a:bodyPr wrap="square" lIns="0" tIns="0" rIns="0" bIns="0">
            <a:spAutoFit/>
          </a:bodyPr>
          <a:lstStyle/>
          <a:p>
            <a:pPr algn="l"/>
            <a:r>
              <a:rPr sz="1600" b="1" i="1" u="none">
                <a:solidFill>
                  <a:srgbClr val="0070C0"/>
                </a:solidFill>
                <a:latin typeface="Calibri"/>
              </a:rPr>
              <a:t>Reaction point (II)</a:t>
            </a:r>
          </a:p>
        </p:txBody>
      </p:sp>
      <p:cxnSp>
        <p:nvCxnSpPr>
          <p:cNvPr id="25" name="Connector 24"/>
          <p:cNvCxnSpPr/>
          <p:nvPr/>
        </p:nvCxnSpPr>
        <p:spPr>
          <a:xfrm flipH="1">
            <a:off x="4395520" y="2799892"/>
            <a:ext cx="102413" cy="283464"/>
          </a:xfrm>
          <a:prstGeom prst="line">
            <a:avLst/>
          </a:prstGeom>
          <a:ln w="12700">
            <a:solidFill>
              <a:srgbClr val="0070C0"/>
            </a:solidFill>
            <a:tailEnd type="triangle" w="sm"/>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36615" y="3430828"/>
            <a:ext cx="1511427" cy="274320"/>
          </a:xfrm>
          <a:prstGeom prst="rect">
            <a:avLst/>
          </a:prstGeom>
          <a:noFill/>
        </p:spPr>
        <p:txBody>
          <a:bodyPr wrap="square" lIns="0" tIns="0" rIns="0" bIns="0">
            <a:spAutoFit/>
          </a:bodyPr>
          <a:lstStyle/>
          <a:p>
            <a:pPr algn="l"/>
            <a:r>
              <a:rPr sz="1600" b="1" i="1" u="none">
                <a:solidFill>
                  <a:srgbClr val="0070C0"/>
                </a:solidFill>
                <a:latin typeface="Calibri"/>
              </a:rPr>
              <a:t>Reaction point (I)</a:t>
            </a:r>
          </a:p>
        </p:txBody>
      </p:sp>
      <p:cxnSp>
        <p:nvCxnSpPr>
          <p:cNvPr id="27" name="Connector 26"/>
          <p:cNvCxnSpPr/>
          <p:nvPr/>
        </p:nvCxnSpPr>
        <p:spPr>
          <a:xfrm flipH="1">
            <a:off x="6271869" y="3714292"/>
            <a:ext cx="102413" cy="283464"/>
          </a:xfrm>
          <a:prstGeom prst="line">
            <a:avLst/>
          </a:prstGeom>
          <a:ln w="12700">
            <a:solidFill>
              <a:srgbClr val="0070C0"/>
            </a:solidFill>
            <a:tailEnd type="triangle" w="sm"/>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670810" y="2369958"/>
            <a:ext cx="282702" cy="274320"/>
          </a:xfrm>
          <a:prstGeom prst="rect">
            <a:avLst/>
          </a:prstGeom>
          <a:noFill/>
        </p:spPr>
        <p:txBody>
          <a:bodyPr wrap="none" lIns="0" tIns="0" rIns="0" bIns="0">
            <a:spAutoFit/>
          </a:bodyPr>
          <a:lstStyle/>
          <a:p>
            <a:pPr algn="r"/>
            <a:r>
              <a:rPr sz="1600" b="0" i="0" u="none">
                <a:solidFill>
                  <a:srgbClr val="0070C0"/>
                </a:solidFill>
                <a:latin typeface="Calibri"/>
              </a:rPr>
              <a:t>45</a:t>
            </a:r>
          </a:p>
        </p:txBody>
      </p:sp>
      <p:sp>
        <p:nvSpPr>
          <p:cNvPr id="29" name="TextBox 28"/>
          <p:cNvSpPr txBox="1"/>
          <p:nvPr/>
        </p:nvSpPr>
        <p:spPr>
          <a:xfrm>
            <a:off x="8682609" y="5358383"/>
            <a:ext cx="282702" cy="274320"/>
          </a:xfrm>
          <a:prstGeom prst="rect">
            <a:avLst/>
          </a:prstGeom>
          <a:noFill/>
        </p:spPr>
        <p:txBody>
          <a:bodyPr wrap="none" lIns="0" tIns="0" rIns="0" bIns="0">
            <a:spAutoFit/>
          </a:bodyPr>
          <a:lstStyle/>
          <a:p>
            <a:pPr algn="ctr"/>
            <a:r>
              <a:rPr sz="1600" b="0" i="0" u="none">
                <a:solidFill>
                  <a:srgbClr val="007A33"/>
                </a:solidFill>
                <a:latin typeface="Calibri"/>
              </a:rPr>
              <a:t>90</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C0DC02D0-69DE-540E-BA38-63A8E1F7EACF}" type="slidenum">
              <a:rPr lang="en-US" sz="1200" dirty="0">
                <a:solidFill>
                  <a:srgbClr val="555B66"/>
                </a:solidFill>
                <a:latin typeface="Calibri"/>
              </a:rPr>
              <a:t>10</a:t>
            </a:fld>
            <a:endParaRPr lang="en-US" sz="1200" dirty="0">
              <a:solidFill>
                <a:srgbClr val="555B66"/>
              </a:solidFill>
              <a:latin typeface="Calibri"/>
            </a:endParaRPr>
          </a:p>
        </p:txBody>
      </p:sp>
      <p:grpSp>
        <p:nvGrpSpPr>
          <p:cNvPr id="36" name="PracticeVideoBox"/>
          <p:cNvGrpSpPr/>
          <p:nvPr/>
        </p:nvGrpSpPr>
        <p:grpSpPr>
          <a:xfrm>
            <a:off x="6327648" y="6245352"/>
            <a:ext cx="5349240" cy="530352"/>
            <a:chOff x="6327648" y="6245352"/>
            <a:chExt cx="5349240" cy="530352"/>
          </a:xfrm>
        </p:grpSpPr>
        <p:sp>
          <p:nvSpPr>
            <p:cNvPr id="34" name="Rounded Rectangle 33"/>
            <p:cNvSpPr/>
            <p:nvPr/>
          </p:nvSpPr>
          <p:spPr>
            <a:xfrm>
              <a:off x="6327648" y="6245352"/>
              <a:ext cx="5349240" cy="530352"/>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777240" rIns="64008" rtlCol="0" anchor="ctr"/>
            <a:lstStyle/>
            <a:p>
              <a:pPr algn="ctr"/>
              <a:r>
                <a:rPr sz="1600" b="1">
                  <a:solidFill>
                    <a:srgbClr val="0B2B4E"/>
                  </a:solidFill>
                  <a:latin typeface="Calibri"/>
                </a:rPr>
                <a:t>Practice Video “Cournot Competition Math”</a:t>
              </a:r>
            </a:p>
          </p:txBody>
        </p:sp>
        <p:sp>
          <p:nvSpPr>
            <p:cNvPr id="35" name="Action Button: Movie 34"/>
            <p:cNvSpPr/>
            <p:nvPr/>
          </p:nvSpPr>
          <p:spPr>
            <a:xfrm>
              <a:off x="6455664" y="6373368"/>
              <a:ext cx="548640" cy="274320"/>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par>
                                <p:cTn id="54" presetID="10" presetClass="entr" presetSubtype="0" fill="hold"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par>
                                <p:cTn id="57" presetID="10"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10" presetClass="entr" presetSubtype="0" fill="hold"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Cournot Equilibrium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371600"/>
            <a:ext cx="11567160" cy="49834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sdaxis:y"/>
          <p:cNvCxnSpPr/>
          <p:nvPr/>
        </p:nvCxnSpPr>
        <p:spPr>
          <a:xfrm flipV="1">
            <a:off x="3191256" y="1572767"/>
            <a:ext cx="0" cy="41879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3191256" y="5760720"/>
            <a:ext cx="62910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rot="16200000">
                <a:off x="1250899" y="3470148"/>
                <a:ext cx="2743200" cy="292608"/>
              </a:xfrm>
              <a:prstGeom prst="rect">
                <a:avLst/>
              </a:prstGeom>
              <a:noFill/>
            </p:spPr>
            <p:txBody>
              <a:bodyPr wrap="square" lIns="45720" tIns="0" rIns="45720" bIns="0">
                <a:spAutoFit/>
              </a:bodyPr>
              <a:lstStyle/>
              <a:p>
                <a:r>
                  <a:rPr lang="en-US" sz="1600" b="1" i="1">
                    <a:solidFill>
                      <a:srgbClr val="0070C0"/>
                    </a:solidFill>
                    <a:latin typeface="Calibri"/>
                  </a:rPr>
                  <a:t>Firm A's Output (</a:t>
                </a:r>
                <a14:m>
                  <m:oMath xmlns:m="http://schemas.openxmlformats.org/officeDocument/2006/math">
                    <m:sSub>
                      <m:sSubPr>
                        <m:ctrlPr>
                          <a:rPr lang="en-US" sz="1600" b="0" i="1">
                            <a:solidFill>
                              <a:srgbClr val="0070C0"/>
                            </a:solidFill>
                            <a:latin typeface="Cambria Math"/>
                            <a:ea typeface="Cambria Math"/>
                          </a:rPr>
                        </m:ctrlPr>
                      </m:sSubPr>
                      <m:e>
                        <m:r>
                          <a:rPr lang="en-US" sz="1600" b="0" i="1">
                            <a:solidFill>
                              <a:srgbClr val="0070C0"/>
                            </a:solidFill>
                            <a:latin typeface="Cambria Math"/>
                            <a:ea typeface="Cambria Math"/>
                          </a:rPr>
                          <m:t>𝑄</m:t>
                        </m:r>
                      </m:e>
                      <m:sub>
                        <m:r>
                          <m:rPr>
                            <m:sty m:val="p"/>
                          </m:rPr>
                          <a:rPr lang="en-US" sz="1600" b="0" i="0">
                            <a:solidFill>
                              <a:srgbClr val="0070C0"/>
                            </a:solidFill>
                            <a:latin typeface="Cambria Math"/>
                          </a:rPr>
                          <m:t>A</m:t>
                        </m:r>
                      </m:sub>
                    </m:sSub>
                  </m:oMath>
                </a14:m>
                <a:r>
                  <a:rPr lang="en-US" sz="1600" b="1" i="1">
                    <a:solidFill>
                      <a:srgbClr val="0070C0"/>
                    </a:solidFill>
                    <a:latin typeface="Calibri"/>
                  </a:rPr>
                  <a:t>)</a:t>
                </a:r>
                <a:endParaRPr lang="en-US"/>
              </a:p>
            </p:txBody>
          </p:sp>
        </mc:Choice>
        <mc:Fallback xmlns="">
          <p:sp>
            <p:nvSpPr>
              <p:cNvPr id="10" name="TextBox 9"/>
              <p:cNvSpPr txBox="1">
                <a:spLocks noRot="1" noChangeAspect="1" noMove="1" noResize="1" noEditPoints="1" noAdjustHandles="1" noChangeArrowheads="1" noChangeShapeType="1" noTextEdit="1"/>
              </p:cNvSpPr>
              <p:nvPr/>
            </p:nvSpPr>
            <p:spPr>
              <a:xfrm rot="16200000">
                <a:off x="1250899" y="3470148"/>
                <a:ext cx="2743200" cy="292608"/>
              </a:xfrm>
              <a:prstGeom prst="rect">
                <a:avLst/>
              </a:prstGeom>
              <a:blipFill>
                <a:blip r:embed="rId3"/>
                <a:stretch>
                  <a:fillRect l="-12500" r="-35417" b="-2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882896" y="6034125"/>
                <a:ext cx="2743200" cy="292608"/>
              </a:xfrm>
              <a:prstGeom prst="rect">
                <a:avLst/>
              </a:prstGeom>
              <a:noFill/>
            </p:spPr>
            <p:txBody>
              <a:bodyPr wrap="square" lIns="45720" tIns="0" rIns="45720" bIns="0">
                <a:spAutoFit/>
              </a:bodyPr>
              <a:lstStyle/>
              <a:p>
                <a:r>
                  <a:rPr lang="en-US" sz="1600" b="1" i="1">
                    <a:solidFill>
                      <a:srgbClr val="007A33"/>
                    </a:solidFill>
                    <a:latin typeface="Calibri"/>
                  </a:rPr>
                  <a:t>Firm B's Output (</a:t>
                </a:r>
                <a14:m>
                  <m:oMath xmlns:m="http://schemas.openxmlformats.org/officeDocument/2006/math">
                    <m:sSub>
                      <m:sSubPr>
                        <m:ctrlPr>
                          <a:rPr lang="en-US" sz="1600" b="0" i="1">
                            <a:solidFill>
                              <a:srgbClr val="007A33"/>
                            </a:solidFill>
                            <a:latin typeface="Cambria Math"/>
                            <a:ea typeface="Cambria Math"/>
                          </a:rPr>
                        </m:ctrlPr>
                      </m:sSubPr>
                      <m:e>
                        <m:r>
                          <a:rPr lang="en-US" sz="1600" b="0" i="1">
                            <a:solidFill>
                              <a:srgbClr val="007A33"/>
                            </a:solidFill>
                            <a:latin typeface="Cambria Math"/>
                            <a:ea typeface="Cambria Math"/>
                          </a:rPr>
                          <m:t>𝑄</m:t>
                        </m:r>
                      </m:e>
                      <m:sub>
                        <m:r>
                          <m:rPr>
                            <m:sty m:val="p"/>
                          </m:rPr>
                          <a:rPr lang="en-US" sz="1600" b="0" i="0">
                            <a:solidFill>
                              <a:srgbClr val="007A33"/>
                            </a:solidFill>
                            <a:latin typeface="Cambria Math"/>
                          </a:rPr>
                          <m:t>B</m:t>
                        </m:r>
                      </m:sub>
                    </m:sSub>
                  </m:oMath>
                </a14:m>
                <a:r>
                  <a:rPr lang="en-US" sz="1600" b="1" i="1">
                    <a:solidFill>
                      <a:srgbClr val="007A33"/>
                    </a:solidFill>
                    <a:latin typeface="Calibri"/>
                  </a:rPr>
                  <a:t>)</a:t>
                </a:r>
                <a:endParaRPr lang="en-US"/>
              </a:p>
            </p:txBody>
          </p:sp>
        </mc:Choice>
        <mc:Fallback xmlns="">
          <p:sp>
            <p:nvSpPr>
              <p:cNvPr id="11" name="TextBox 10"/>
              <p:cNvSpPr txBox="1">
                <a:spLocks noRot="1" noChangeAspect="1" noMove="1" noResize="1" noEditPoints="1" noAdjustHandles="1" noChangeArrowheads="1" noChangeShapeType="1" noTextEdit="1"/>
              </p:cNvSpPr>
              <p:nvPr/>
            </p:nvSpPr>
            <p:spPr>
              <a:xfrm>
                <a:off x="4882896" y="6034125"/>
                <a:ext cx="2743200" cy="292608"/>
              </a:xfrm>
              <a:prstGeom prst="rect">
                <a:avLst/>
              </a:prstGeom>
              <a:blipFill>
                <a:blip r:embed="rId4"/>
                <a:stretch>
                  <a:fillRect l="-2889" t="-14583" b="-33333"/>
                </a:stretch>
              </a:blipFill>
            </p:spPr>
            <p:txBody>
              <a:bodyPr/>
              <a:lstStyle/>
              <a:p>
                <a:r>
                  <a:rPr lang="en-US">
                    <a:noFill/>
                  </a:rPr>
                  <a:t> </a:t>
                </a:r>
              </a:p>
            </p:txBody>
          </p:sp>
        </mc:Fallback>
      </mc:AlternateContent>
      <p:grpSp>
        <p:nvGrpSpPr>
          <p:cNvPr id="14" name="ReactionA 14"/>
          <p:cNvGrpSpPr/>
          <p:nvPr/>
        </p:nvGrpSpPr>
        <p:grpSpPr>
          <a:xfrm>
            <a:off x="3191256" y="3950207"/>
            <a:ext cx="5928969" cy="1810513"/>
            <a:chOff x="3191256" y="3950207"/>
            <a:chExt cx="5928969" cy="1810513"/>
          </a:xfrm>
        </p:grpSpPr>
        <p:cxnSp>
          <p:nvCxnSpPr>
            <p:cNvPr id="12" name="Connector 11"/>
            <p:cNvCxnSpPr/>
            <p:nvPr/>
          </p:nvCxnSpPr>
          <p:spPr>
            <a:xfrm>
              <a:off x="3191256" y="3950207"/>
              <a:ext cx="5513832" cy="1810513"/>
            </a:xfrm>
            <a:prstGeom prst="line">
              <a:avLst/>
            </a:prstGeom>
            <a:ln w="31750">
              <a:solidFill>
                <a:srgbClr val="0070C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6377025" y="4553712"/>
                  <a:ext cx="2743200" cy="777240"/>
                </a:xfrm>
                <a:prstGeom prst="rect">
                  <a:avLst/>
                </a:prstGeom>
                <a:noFill/>
              </p:spPr>
              <p:txBody>
                <a:bodyPr wrap="square" lIns="45720" tIns="0" rIns="45720" bIns="0">
                  <a:spAutoFit/>
                </a:bodyPr>
                <a:lstStyle/>
                <a:p>
                  <a:r>
                    <a:rPr lang="en-US" sz="1600" b="1">
                      <a:solidFill>
                        <a:srgbClr val="0070C0"/>
                      </a:solidFill>
                      <a:latin typeface="Calibri"/>
                    </a:rPr>
                    <a:t>Firm A's reaction function</a:t>
                  </a:r>
                  <a:endParaRPr lang="en-US"/>
                </a:p>
                <a:p>
                  <a:pPr/>
                  <a14:m>
                    <m:oMathPara xmlns:m="http://schemas.openxmlformats.org/officeDocument/2006/math">
                      <m:oMath>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r>
                          <a:rPr lang="en-US" sz="1400" b="0" i="0">
                            <a:solidFill>
                              <a:srgbClr val="0070C0"/>
                            </a:solidFill>
                            <a:latin typeface="Cambria Math"/>
                          </a:rPr>
                          <m:t> = 45 − 0.5·</m:t>
                        </m:r>
                        <m:sSub>
                          <m:sSubPr>
                            <m:ctrlPr>
                              <a:rPr lang="en-US" sz="1400" b="0" i="1">
                                <a:solidFill>
                                  <a:srgbClr val="007A33"/>
                                </a:solidFill>
                                <a:latin typeface="Cambria Math"/>
                                <a:ea typeface="Cambria Math"/>
                              </a:rPr>
                            </m:ctrlPr>
                          </m:sSubPr>
                          <m:e>
                            <m:r>
                              <a:rPr lang="en-US" sz="1400" b="0" i="1">
                                <a:solidFill>
                                  <a:srgbClr val="007A33"/>
                                </a:solidFill>
                                <a:latin typeface="Cambria Math"/>
                                <a:ea typeface="Cambria Math"/>
                              </a:rPr>
                              <m:t>𝑄</m:t>
                            </m:r>
                          </m:e>
                          <m:sub>
                            <m:r>
                              <m:rPr>
                                <m:sty m:val="p"/>
                              </m:rPr>
                              <a:rPr lang="en-US" sz="1400" b="0" i="0">
                                <a:solidFill>
                                  <a:srgbClr val="007A33"/>
                                </a:solidFill>
                                <a:latin typeface="Cambria Math"/>
                              </a:rPr>
                              <m:t>B</m:t>
                            </m:r>
                          </m:sub>
                        </m:sSub>
                      </m:oMath>
                    </m:oMathPara>
                  </a14:m>
                  <a:endParaRPr lang="en-US"/>
                </a:p>
              </p:txBody>
            </p:sp>
          </mc:Choice>
          <mc:Fallback xmlns="">
            <p:sp>
              <p:nvSpPr>
                <p:cNvPr id="13" name="TextBox 12"/>
                <p:cNvSpPr txBox="1">
                  <a:spLocks noRot="1" noChangeAspect="1" noMove="1" noResize="1" noEditPoints="1" noAdjustHandles="1" noChangeArrowheads="1" noChangeShapeType="1" noTextEdit="1"/>
                </p:cNvSpPr>
                <p:nvPr/>
              </p:nvSpPr>
              <p:spPr>
                <a:xfrm>
                  <a:off x="6377025" y="4553712"/>
                  <a:ext cx="2743200" cy="777240"/>
                </a:xfrm>
                <a:prstGeom prst="rect">
                  <a:avLst/>
                </a:prstGeom>
                <a:blipFill>
                  <a:blip r:embed="rId5"/>
                  <a:stretch>
                    <a:fillRect l="-2889" t="-7813"/>
                  </a:stretch>
                </a:blipFill>
              </p:spPr>
              <p:txBody>
                <a:bodyPr/>
                <a:lstStyle/>
                <a:p>
                  <a:r>
                    <a:rPr lang="en-US">
                      <a:noFill/>
                    </a:rPr>
                    <a:t> </a:t>
                  </a:r>
                </a:p>
              </p:txBody>
            </p:sp>
          </mc:Fallback>
        </mc:AlternateContent>
      </p:grpSp>
      <p:grpSp>
        <p:nvGrpSpPr>
          <p:cNvPr id="18" name="ReactionB 18"/>
          <p:cNvGrpSpPr/>
          <p:nvPr/>
        </p:nvGrpSpPr>
        <p:grpSpPr>
          <a:xfrm>
            <a:off x="3191256" y="2104034"/>
            <a:ext cx="3214116" cy="3656686"/>
            <a:chOff x="3191256" y="2104034"/>
            <a:chExt cx="3214116" cy="3656686"/>
          </a:xfrm>
        </p:grpSpPr>
        <p:cxnSp>
          <p:nvCxnSpPr>
            <p:cNvPr id="15" name="Connector 14"/>
            <p:cNvCxnSpPr/>
            <p:nvPr/>
          </p:nvCxnSpPr>
          <p:spPr>
            <a:xfrm>
              <a:off x="3191256" y="2139695"/>
              <a:ext cx="2756916" cy="3621025"/>
            </a:xfrm>
            <a:prstGeom prst="line">
              <a:avLst/>
            </a:prstGeom>
            <a:ln w="31750">
              <a:solidFill>
                <a:srgbClr val="007A33"/>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3662172" y="2104034"/>
                  <a:ext cx="2743200" cy="548640"/>
                </a:xfrm>
                <a:prstGeom prst="rect">
                  <a:avLst/>
                </a:prstGeom>
                <a:noFill/>
              </p:spPr>
              <p:txBody>
                <a:bodyPr wrap="square" lIns="45720" tIns="0" rIns="45720" bIns="0">
                  <a:spAutoFit/>
                </a:bodyPr>
                <a:lstStyle/>
                <a:p>
                  <a:r>
                    <a:rPr lang="en-US" sz="1600" b="1">
                      <a:solidFill>
                        <a:srgbClr val="007A33"/>
                      </a:solidFill>
                      <a:latin typeface="Calibri"/>
                    </a:rPr>
                    <a:t>Firm B's reaction function</a:t>
                  </a:r>
                  <a:endParaRPr lang="en-US"/>
                </a:p>
                <a:p>
                  <a:pPr/>
                  <a14:m>
                    <m:oMathPara xmlns:m="http://schemas.openxmlformats.org/officeDocument/2006/math">
                      <m:oMath>
                        <m:sSub>
                          <m:sSubPr>
                            <m:ctrlPr>
                              <a:rPr lang="en-US" sz="1400" b="0" i="1">
                                <a:solidFill>
                                  <a:srgbClr val="007A33"/>
                                </a:solidFill>
                                <a:latin typeface="Cambria Math"/>
                                <a:ea typeface="Cambria Math"/>
                              </a:rPr>
                            </m:ctrlPr>
                          </m:sSubPr>
                          <m:e>
                            <m:r>
                              <a:rPr lang="en-US" sz="1400" b="0" i="1">
                                <a:solidFill>
                                  <a:srgbClr val="007A33"/>
                                </a:solidFill>
                                <a:latin typeface="Cambria Math"/>
                                <a:ea typeface="Cambria Math"/>
                              </a:rPr>
                              <m:t>𝑄</m:t>
                            </m:r>
                          </m:e>
                          <m:sub>
                            <m:r>
                              <m:rPr>
                                <m:sty m:val="p"/>
                              </m:rPr>
                              <a:rPr lang="en-US" sz="1400" b="0" i="0">
                                <a:solidFill>
                                  <a:srgbClr val="007A33"/>
                                </a:solidFill>
                                <a:latin typeface="Cambria Math"/>
                              </a:rPr>
                              <m:t>B</m:t>
                            </m:r>
                          </m:sub>
                        </m:sSub>
                        <m:r>
                          <a:rPr lang="en-US" sz="1400" b="0" i="0">
                            <a:solidFill>
                              <a:srgbClr val="007A33"/>
                            </a:solidFill>
                            <a:latin typeface="Cambria Math"/>
                          </a:rPr>
                          <m:t> = 45 − 0.5·</m:t>
                        </m:r>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oMath>
                    </m:oMathPara>
                  </a14:m>
                  <a:endParaRPr lang="en-US"/>
                </a:p>
              </p:txBody>
            </p:sp>
          </mc:Choice>
          <mc:Fallback xmlns="">
            <p:sp>
              <p:nvSpPr>
                <p:cNvPr id="16" name="TextBox 15"/>
                <p:cNvSpPr txBox="1">
                  <a:spLocks noRot="1" noChangeAspect="1" noMove="1" noResize="1" noEditPoints="1" noAdjustHandles="1" noChangeArrowheads="1" noChangeShapeType="1" noTextEdit="1"/>
                </p:cNvSpPr>
                <p:nvPr/>
              </p:nvSpPr>
              <p:spPr>
                <a:xfrm>
                  <a:off x="3662172" y="2104034"/>
                  <a:ext cx="2743200" cy="548640"/>
                </a:xfrm>
                <a:prstGeom prst="rect">
                  <a:avLst/>
                </a:prstGeom>
                <a:blipFill>
                  <a:blip r:embed="rId6"/>
                  <a:stretch>
                    <a:fillRect l="-2889" t="-11111" b="-5556"/>
                  </a:stretch>
                </a:blipFill>
              </p:spPr>
              <p:txBody>
                <a:bodyPr/>
                <a:lstStyle/>
                <a:p>
                  <a:r>
                    <a:rPr lang="en-US">
                      <a:noFill/>
                    </a:rPr>
                    <a:t> </a:t>
                  </a:r>
                </a:p>
              </p:txBody>
            </p:sp>
          </mc:Fallback>
        </mc:AlternateContent>
        <p:cxnSp>
          <p:nvCxnSpPr>
            <p:cNvPr id="17" name="Connector 16"/>
            <p:cNvCxnSpPr/>
            <p:nvPr/>
          </p:nvCxnSpPr>
          <p:spPr>
            <a:xfrm flipH="1">
              <a:off x="3642055" y="2458821"/>
              <a:ext cx="456285" cy="206655"/>
            </a:xfrm>
            <a:prstGeom prst="line">
              <a:avLst/>
            </a:prstGeom>
            <a:ln w="31750">
              <a:solidFill>
                <a:srgbClr val="007A33"/>
              </a:solidFill>
              <a:tailEnd type="arrow" w="med"/>
            </a:ln>
          </p:spPr>
          <p:style>
            <a:lnRef idx="2">
              <a:schemeClr val="accent1"/>
            </a:lnRef>
            <a:fillRef idx="0">
              <a:schemeClr val="accent1"/>
            </a:fillRef>
            <a:effectRef idx="1">
              <a:schemeClr val="accent1"/>
            </a:effectRef>
            <a:fontRef idx="minor">
              <a:schemeClr val="tx1"/>
            </a:fontRef>
          </p:style>
        </p:cxnSp>
      </p:grpSp>
      <p:grpSp>
        <p:nvGrpSpPr>
          <p:cNvPr id="24" name="Fifteen 24"/>
          <p:cNvGrpSpPr/>
          <p:nvPr/>
        </p:nvGrpSpPr>
        <p:grpSpPr>
          <a:xfrm>
            <a:off x="2798826" y="5029200"/>
            <a:ext cx="2689860" cy="274320"/>
            <a:chOff x="2798826" y="5029200"/>
            <a:chExt cx="2689860" cy="274320"/>
          </a:xfrm>
        </p:grpSpPr>
        <p:sp>
          <p:nvSpPr>
            <p:cNvPr id="19" name="TextBox 18"/>
            <p:cNvSpPr txBox="1"/>
            <p:nvPr/>
          </p:nvSpPr>
          <p:spPr>
            <a:xfrm>
              <a:off x="2798826" y="5029200"/>
              <a:ext cx="282702" cy="274320"/>
            </a:xfrm>
            <a:prstGeom prst="rect">
              <a:avLst/>
            </a:prstGeom>
            <a:noFill/>
          </p:spPr>
          <p:txBody>
            <a:bodyPr wrap="none" lIns="0" tIns="0" rIns="0" bIns="0">
              <a:spAutoFit/>
            </a:bodyPr>
            <a:lstStyle/>
            <a:p>
              <a:pPr algn="r"/>
              <a:r>
                <a:rPr sz="1600" b="0" i="0" u="none">
                  <a:solidFill>
                    <a:srgbClr val="0070C0"/>
                  </a:solidFill>
                  <a:latin typeface="Calibri"/>
                </a:rPr>
                <a:t>15</a:t>
              </a:r>
            </a:p>
          </p:txBody>
        </p:sp>
        <p:cxnSp>
          <p:nvCxnSpPr>
            <p:cNvPr id="20" name="Connector 19"/>
            <p:cNvCxnSpPr/>
            <p:nvPr/>
          </p:nvCxnSpPr>
          <p:spPr>
            <a:xfrm>
              <a:off x="3191256" y="5157216"/>
              <a:ext cx="2297430" cy="0"/>
            </a:xfrm>
            <a:prstGeom prst="line">
              <a:avLst/>
            </a:prstGeom>
            <a:ln w="19050">
              <a:solidFill>
                <a:srgbClr val="007A33"/>
              </a:solidFill>
              <a:prstDash val="sysDash"/>
              <a:tailEnd type="triangle" w="med"/>
            </a:ln>
          </p:spPr>
          <p:style>
            <a:lnRef idx="2">
              <a:schemeClr val="accent1"/>
            </a:lnRef>
            <a:fillRef idx="0">
              <a:schemeClr val="accent1"/>
            </a:fillRef>
            <a:effectRef idx="1">
              <a:schemeClr val="accent1"/>
            </a:effectRef>
            <a:fontRef idx="minor">
              <a:schemeClr val="tx1"/>
            </a:fontRef>
          </p:style>
        </p:cxnSp>
      </p:grpSp>
      <p:cxnSp>
        <p:nvCxnSpPr>
          <p:cNvPr id="21" name="Connector 20"/>
          <p:cNvCxnSpPr/>
          <p:nvPr/>
        </p:nvCxnSpPr>
        <p:spPr>
          <a:xfrm flipV="1">
            <a:off x="5488686" y="4704588"/>
            <a:ext cx="0" cy="452628"/>
          </a:xfrm>
          <a:prstGeom prst="line">
            <a:avLst/>
          </a:prstGeom>
          <a:ln w="19050">
            <a:solidFill>
              <a:srgbClr val="0070C0"/>
            </a:solidFill>
            <a:prstDash val="sysDash"/>
            <a:tailEnd type="triangle" w="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145603" y="4704588"/>
            <a:ext cx="343083" cy="0"/>
          </a:xfrm>
          <a:prstGeom prst="line">
            <a:avLst/>
          </a:prstGeom>
          <a:ln w="19050">
            <a:solidFill>
              <a:srgbClr val="007A33"/>
            </a:solidFill>
            <a:prstDash val="sysDash"/>
            <a:tailEnd type="triangle" w="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145603" y="4589922"/>
            <a:ext cx="0" cy="114666"/>
          </a:xfrm>
          <a:prstGeom prst="line">
            <a:avLst/>
          </a:prstGeom>
          <a:ln w="19050">
            <a:solidFill>
              <a:srgbClr val="0070C0"/>
            </a:solidFill>
            <a:prstDash val="sysDash"/>
            <a:tailEnd type="triangle" w="med"/>
          </a:ln>
        </p:spPr>
        <p:style>
          <a:lnRef idx="2">
            <a:schemeClr val="accent1"/>
          </a:lnRef>
          <a:fillRef idx="0">
            <a:schemeClr val="accent1"/>
          </a:fillRef>
          <a:effectRef idx="1">
            <a:schemeClr val="accent1"/>
          </a:effectRef>
          <a:fontRef idx="minor">
            <a:schemeClr val="tx1"/>
          </a:fontRef>
        </p:style>
      </p:cxnSp>
      <p:grpSp>
        <p:nvGrpSpPr>
          <p:cNvPr id="29" name="Thirty 29"/>
          <p:cNvGrpSpPr/>
          <p:nvPr/>
        </p:nvGrpSpPr>
        <p:grpSpPr>
          <a:xfrm>
            <a:off x="2798826" y="4425696"/>
            <a:ext cx="2371725" cy="1664207"/>
            <a:chOff x="2798826" y="4425696"/>
            <a:chExt cx="2371725" cy="1664207"/>
          </a:xfrm>
        </p:grpSpPr>
        <p:cxnSp>
          <p:nvCxnSpPr>
            <p:cNvPr id="25" name="Connector 24"/>
            <p:cNvCxnSpPr/>
            <p:nvPr/>
          </p:nvCxnSpPr>
          <p:spPr>
            <a:xfrm flipV="1">
              <a:off x="5029200" y="4553712"/>
              <a:ext cx="0" cy="1207008"/>
            </a:xfrm>
            <a:prstGeom prst="line">
              <a:avLst/>
            </a:prstGeom>
            <a:ln w="15875">
              <a:solidFill>
                <a:srgbClr val="007A33"/>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191256" y="4553712"/>
              <a:ext cx="1837944" cy="0"/>
            </a:xfrm>
            <a:prstGeom prst="line">
              <a:avLst/>
            </a:prstGeom>
            <a:ln w="15875">
              <a:solidFill>
                <a:srgbClr val="0070C0"/>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887849" y="5815583"/>
              <a:ext cx="282702" cy="274320"/>
            </a:xfrm>
            <a:prstGeom prst="rect">
              <a:avLst/>
            </a:prstGeom>
            <a:noFill/>
          </p:spPr>
          <p:txBody>
            <a:bodyPr wrap="none" lIns="0" tIns="0" rIns="0" bIns="0">
              <a:spAutoFit/>
            </a:bodyPr>
            <a:lstStyle/>
            <a:p>
              <a:pPr algn="ctr"/>
              <a:r>
                <a:rPr sz="1600" b="1" i="0" u="none">
                  <a:solidFill>
                    <a:srgbClr val="007A33"/>
                  </a:solidFill>
                  <a:latin typeface="Calibri"/>
                </a:rPr>
                <a:t>30</a:t>
              </a:r>
            </a:p>
          </p:txBody>
        </p:sp>
        <p:sp>
          <p:nvSpPr>
            <p:cNvPr id="28" name="TextBox 27"/>
            <p:cNvSpPr txBox="1"/>
            <p:nvPr/>
          </p:nvSpPr>
          <p:spPr>
            <a:xfrm>
              <a:off x="2798826" y="4425696"/>
              <a:ext cx="282702" cy="274320"/>
            </a:xfrm>
            <a:prstGeom prst="rect">
              <a:avLst/>
            </a:prstGeom>
            <a:noFill/>
          </p:spPr>
          <p:txBody>
            <a:bodyPr wrap="none" lIns="0" tIns="0" rIns="0" bIns="0">
              <a:spAutoFit/>
            </a:bodyPr>
            <a:lstStyle/>
            <a:p>
              <a:pPr algn="r"/>
              <a:r>
                <a:rPr sz="1600" b="1" i="0" u="none">
                  <a:solidFill>
                    <a:srgbClr val="0070C0"/>
                  </a:solidFill>
                  <a:latin typeface="Calibri"/>
                </a:rPr>
                <a:t>30</a:t>
              </a:r>
            </a:p>
          </p:txBody>
        </p:sp>
      </p:grpSp>
      <p:sp>
        <p:nvSpPr>
          <p:cNvPr id="30" name="TextBox 29"/>
          <p:cNvSpPr txBox="1"/>
          <p:nvPr/>
        </p:nvSpPr>
        <p:spPr>
          <a:xfrm>
            <a:off x="5806821" y="5815583"/>
            <a:ext cx="282702" cy="274320"/>
          </a:xfrm>
          <a:prstGeom prst="rect">
            <a:avLst/>
          </a:prstGeom>
          <a:noFill/>
        </p:spPr>
        <p:txBody>
          <a:bodyPr wrap="none" lIns="0" tIns="0" rIns="0" bIns="0">
            <a:spAutoFit/>
          </a:bodyPr>
          <a:lstStyle/>
          <a:p>
            <a:pPr algn="ctr"/>
            <a:r>
              <a:rPr sz="1600" b="0" i="0" u="none">
                <a:solidFill>
                  <a:srgbClr val="007A33"/>
                </a:solidFill>
                <a:latin typeface="Calibri"/>
              </a:rPr>
              <a:t>45</a:t>
            </a:r>
          </a:p>
        </p:txBody>
      </p:sp>
      <p:sp>
        <p:nvSpPr>
          <p:cNvPr id="31" name="TextBox 30"/>
          <p:cNvSpPr txBox="1"/>
          <p:nvPr/>
        </p:nvSpPr>
        <p:spPr>
          <a:xfrm>
            <a:off x="8563737" y="5815583"/>
            <a:ext cx="282702" cy="274320"/>
          </a:xfrm>
          <a:prstGeom prst="rect">
            <a:avLst/>
          </a:prstGeom>
          <a:noFill/>
        </p:spPr>
        <p:txBody>
          <a:bodyPr wrap="none" lIns="0" tIns="0" rIns="0" bIns="0">
            <a:spAutoFit/>
          </a:bodyPr>
          <a:lstStyle/>
          <a:p>
            <a:pPr algn="ctr"/>
            <a:r>
              <a:rPr sz="1600" b="0" i="0" u="none">
                <a:solidFill>
                  <a:srgbClr val="007A33"/>
                </a:solidFill>
                <a:latin typeface="Calibri"/>
              </a:rPr>
              <a:t>90</a:t>
            </a:r>
          </a:p>
        </p:txBody>
      </p:sp>
      <p:sp>
        <p:nvSpPr>
          <p:cNvPr id="32" name="TextBox 31"/>
          <p:cNvSpPr txBox="1"/>
          <p:nvPr/>
        </p:nvSpPr>
        <p:spPr>
          <a:xfrm>
            <a:off x="2798826" y="3822191"/>
            <a:ext cx="282702" cy="274320"/>
          </a:xfrm>
          <a:prstGeom prst="rect">
            <a:avLst/>
          </a:prstGeom>
          <a:noFill/>
        </p:spPr>
        <p:txBody>
          <a:bodyPr wrap="none" lIns="0" tIns="0" rIns="0" bIns="0">
            <a:spAutoFit/>
          </a:bodyPr>
          <a:lstStyle/>
          <a:p>
            <a:pPr algn="r"/>
            <a:r>
              <a:rPr sz="1600" b="0" i="0" u="none">
                <a:solidFill>
                  <a:srgbClr val="0070C0"/>
                </a:solidFill>
                <a:latin typeface="Calibri"/>
              </a:rPr>
              <a:t>45</a:t>
            </a:r>
          </a:p>
        </p:txBody>
      </p:sp>
      <p:sp>
        <p:nvSpPr>
          <p:cNvPr id="33" name="TextBox 32"/>
          <p:cNvSpPr txBox="1"/>
          <p:nvPr/>
        </p:nvSpPr>
        <p:spPr>
          <a:xfrm>
            <a:off x="2798826" y="2011679"/>
            <a:ext cx="282702" cy="274320"/>
          </a:xfrm>
          <a:prstGeom prst="rect">
            <a:avLst/>
          </a:prstGeom>
          <a:noFill/>
        </p:spPr>
        <p:txBody>
          <a:bodyPr wrap="none" lIns="0" tIns="0" rIns="0" bIns="0">
            <a:spAutoFit/>
          </a:bodyPr>
          <a:lstStyle/>
          <a:p>
            <a:pPr algn="r"/>
            <a:r>
              <a:rPr sz="1600" b="0" i="0" u="none">
                <a:solidFill>
                  <a:srgbClr val="0070C0"/>
                </a:solidFill>
                <a:latin typeface="Calibri"/>
              </a:rPr>
              <a:t>90</a:t>
            </a:r>
          </a:p>
        </p:txBody>
      </p:sp>
      <p:grpSp>
        <p:nvGrpSpPr>
          <p:cNvPr id="38" name="Equilibrium 38"/>
          <p:cNvGrpSpPr/>
          <p:nvPr/>
        </p:nvGrpSpPr>
        <p:grpSpPr>
          <a:xfrm>
            <a:off x="4960620" y="3456432"/>
            <a:ext cx="3270808" cy="1165860"/>
            <a:chOff x="4960620" y="3456432"/>
            <a:chExt cx="3270808" cy="1165860"/>
          </a:xfrm>
        </p:grpSpPr>
        <p:sp>
          <p:nvSpPr>
            <p:cNvPr id="34" name="Oval 33"/>
            <p:cNvSpPr/>
            <p:nvPr/>
          </p:nvSpPr>
          <p:spPr>
            <a:xfrm>
              <a:off x="4960620" y="4485132"/>
              <a:ext cx="137160" cy="137160"/>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5" name="Connector 34"/>
            <p:cNvCxnSpPr/>
            <p:nvPr/>
          </p:nvCxnSpPr>
          <p:spPr>
            <a:xfrm flipH="1">
              <a:off x="5090464" y="3950208"/>
              <a:ext cx="245060" cy="523036"/>
            </a:xfrm>
            <a:prstGeom prst="line">
              <a:avLst/>
            </a:prstGeom>
            <a:ln w="381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303520" y="3456432"/>
              <a:ext cx="2852928" cy="667512"/>
            </a:xfrm>
            <a:prstGeom prst="roundRect">
              <a:avLst>
                <a:gd name="adj" fmla="val 12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mc:AlternateContent xmlns:mc="http://schemas.openxmlformats.org/markup-compatibility/2006" xmlns:a14="http://schemas.microsoft.com/office/drawing/2010/main">
          <mc:Choice Requires="a14">
            <p:sp>
              <p:nvSpPr>
                <p:cNvPr id="37" name="TextBox 36"/>
                <p:cNvSpPr txBox="1"/>
                <p:nvPr/>
              </p:nvSpPr>
              <p:spPr>
                <a:xfrm>
                  <a:off x="5396788" y="3507638"/>
                  <a:ext cx="2834640" cy="594360"/>
                </a:xfrm>
                <a:prstGeom prst="rect">
                  <a:avLst/>
                </a:prstGeom>
                <a:noFill/>
              </p:spPr>
              <p:txBody>
                <a:bodyPr wrap="square" lIns="45720" tIns="0" rIns="45720" bIns="0">
                  <a:spAutoFit/>
                </a:bodyPr>
                <a:lstStyle/>
                <a:p>
                  <a:r>
                    <a:rPr lang="en-US" sz="1800" b="1">
                      <a:solidFill>
                        <a:srgbClr val="0B2B4E"/>
                      </a:solidFill>
                      <a:latin typeface="Calibri"/>
                    </a:rPr>
                    <a:t>Cournot Equilibrium</a:t>
                  </a:r>
                  <a:endParaRPr lang="en-US"/>
                </a:p>
                <a:p>
                  <a:pPr/>
                  <a14:m>
                    <m:oMathPara xmlns:m="http://schemas.openxmlformats.org/officeDocument/2006/math">
                      <m:oMath>
                        <m:sSub>
                          <m:sSubPr>
                            <m:ctrlPr>
                              <a:rPr lang="en-US" sz="1400" b="0" i="1">
                                <a:solidFill>
                                  <a:srgbClr val="0070C0"/>
                                </a:solidFill>
                                <a:latin typeface="Cambria Math"/>
                                <a:ea typeface="Cambria Math"/>
                              </a:rPr>
                            </m:ctrlPr>
                          </m:sSubPr>
                          <m:e>
                            <m:r>
                              <a:rPr lang="en-US" sz="1400" b="0" i="1">
                                <a:solidFill>
                                  <a:srgbClr val="0070C0"/>
                                </a:solidFill>
                                <a:latin typeface="Cambria Math"/>
                                <a:ea typeface="Cambria Math"/>
                              </a:rPr>
                              <m:t>𝑄</m:t>
                            </m:r>
                          </m:e>
                          <m:sub>
                            <m:r>
                              <m:rPr>
                                <m:sty m:val="p"/>
                              </m:rPr>
                              <a:rPr lang="en-US" sz="1400" b="0" i="0">
                                <a:solidFill>
                                  <a:srgbClr val="0070C0"/>
                                </a:solidFill>
                                <a:latin typeface="Cambria Math"/>
                              </a:rPr>
                              <m:t>A</m:t>
                            </m:r>
                          </m:sub>
                        </m:sSub>
                        <m:r>
                          <a:rPr lang="en-US" sz="1400" b="0" i="0">
                            <a:solidFill>
                              <a:srgbClr val="0B2B4E"/>
                            </a:solidFill>
                            <a:latin typeface="Cambria Math"/>
                          </a:rPr>
                          <m:t> = </m:t>
                        </m:r>
                        <m:sSub>
                          <m:sSubPr>
                            <m:ctrlPr>
                              <a:rPr lang="en-US" sz="1400" b="0" i="1">
                                <a:solidFill>
                                  <a:srgbClr val="007A33"/>
                                </a:solidFill>
                                <a:latin typeface="Cambria Math"/>
                                <a:ea typeface="Cambria Math"/>
                              </a:rPr>
                            </m:ctrlPr>
                          </m:sSubPr>
                          <m:e>
                            <m:r>
                              <a:rPr lang="en-US" sz="1400" b="0" i="1">
                                <a:solidFill>
                                  <a:srgbClr val="007A33"/>
                                </a:solidFill>
                                <a:latin typeface="Cambria Math"/>
                                <a:ea typeface="Cambria Math"/>
                              </a:rPr>
                              <m:t>𝑄</m:t>
                            </m:r>
                          </m:e>
                          <m:sub>
                            <m:r>
                              <m:rPr>
                                <m:sty m:val="p"/>
                              </m:rPr>
                              <a:rPr lang="en-US" sz="1400" b="0" i="0">
                                <a:solidFill>
                                  <a:srgbClr val="007A33"/>
                                </a:solidFill>
                                <a:latin typeface="Cambria Math"/>
                              </a:rPr>
                              <m:t>B</m:t>
                            </m:r>
                          </m:sub>
                        </m:sSub>
                        <m:r>
                          <a:rPr lang="en-US" sz="1400" b="0" i="0">
                            <a:solidFill>
                              <a:srgbClr val="0B2B4E"/>
                            </a:solidFill>
                            <a:latin typeface="Cambria Math"/>
                          </a:rPr>
                          <m:t> = 30  </m:t>
                        </m:r>
                        <m:r>
                          <m:rPr>
                            <m:sty m:val="p"/>
                          </m:rPr>
                          <a:rPr lang="en-US" sz="1400" b="0" i="0">
                            <a:solidFill>
                              <a:srgbClr val="0B2B4E"/>
                            </a:solidFill>
                            <a:latin typeface="Cambria Math"/>
                          </a:rPr>
                          <m:t>and</m:t>
                        </m:r>
                        <m:r>
                          <a:rPr lang="en-US" sz="1400" b="0" i="0">
                            <a:solidFill>
                              <a:srgbClr val="0B2B4E"/>
                            </a:solidFill>
                            <a:latin typeface="Cambria Math"/>
                          </a:rPr>
                          <m:t>  </m:t>
                        </m:r>
                        <m:r>
                          <a:rPr lang="en-US" sz="1400" b="0" i="1">
                            <a:solidFill>
                              <a:srgbClr val="0B2B4E"/>
                            </a:solidFill>
                            <a:latin typeface="Cambria Math"/>
                            <a:ea typeface="Cambria Math"/>
                          </a:rPr>
                          <m:t>𝑃</m:t>
                        </m:r>
                        <m:r>
                          <a:rPr lang="en-US" sz="1400" b="0" i="0">
                            <a:solidFill>
                              <a:srgbClr val="0B2B4E"/>
                            </a:solidFill>
                            <a:latin typeface="Cambria Math"/>
                          </a:rPr>
                          <m:t> = 40</m:t>
                        </m:r>
                      </m:oMath>
                    </m:oMathPara>
                  </a14:m>
                  <a:endParaRPr lang="en-US"/>
                </a:p>
              </p:txBody>
            </p:sp>
          </mc:Choice>
          <mc:Fallback xmlns="">
            <p:sp>
              <p:nvSpPr>
                <p:cNvPr id="37" name="TextBox 36"/>
                <p:cNvSpPr txBox="1">
                  <a:spLocks noRot="1" noChangeAspect="1" noMove="1" noResize="1" noEditPoints="1" noAdjustHandles="1" noChangeArrowheads="1" noChangeShapeType="1" noTextEdit="1"/>
                </p:cNvSpPr>
                <p:nvPr/>
              </p:nvSpPr>
              <p:spPr>
                <a:xfrm>
                  <a:off x="5396788" y="3507638"/>
                  <a:ext cx="2834640" cy="594360"/>
                </a:xfrm>
                <a:prstGeom prst="rect">
                  <a:avLst/>
                </a:prstGeom>
                <a:blipFill>
                  <a:blip r:embed="rId7"/>
                  <a:stretch>
                    <a:fillRect l="-3441" t="-13265" b="-2041"/>
                  </a:stretch>
                </a:blipFill>
              </p:spPr>
              <p:txBody>
                <a:bodyPr/>
                <a:lstStyle/>
                <a:p>
                  <a:r>
                    <a:rPr lang="en-US">
                      <a:noFill/>
                    </a:rPr>
                    <a:t> </a:t>
                  </a:r>
                </a:p>
              </p:txBody>
            </p:sp>
          </mc:Fallback>
        </mc:AlternateContent>
      </p:grpSp>
      <p:grpSp>
        <p:nvGrpSpPr>
          <p:cNvPr id="41" name="Callout 41"/>
          <p:cNvGrpSpPr/>
          <p:nvPr/>
        </p:nvGrpSpPr>
        <p:grpSpPr>
          <a:xfrm>
            <a:off x="8823960" y="3083814"/>
            <a:ext cx="3121761" cy="1371600"/>
            <a:chOff x="8823960" y="3083814"/>
            <a:chExt cx="3121761" cy="1371600"/>
          </a:xfrm>
        </p:grpSpPr>
        <p:sp>
          <p:nvSpPr>
            <p:cNvPr id="39" name="Rounded Rectangle 38"/>
            <p:cNvSpPr/>
            <p:nvPr/>
          </p:nvSpPr>
          <p:spPr>
            <a:xfrm>
              <a:off x="8823960" y="3083814"/>
              <a:ext cx="3121761" cy="1371600"/>
            </a:xfrm>
            <a:prstGeom prst="roundRect">
              <a:avLst>
                <a:gd name="adj" fmla="val 12000"/>
              </a:avLst>
            </a:prstGeom>
            <a:solidFill>
              <a:srgbClr val="FFFFFF"/>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59291" y="3193542"/>
              <a:ext cx="2850184" cy="1152144"/>
            </a:xfrm>
            <a:prstGeom prst="rect">
              <a:avLst/>
            </a:prstGeom>
            <a:noFill/>
          </p:spPr>
          <p:txBody>
            <a:bodyPr wrap="square" lIns="45720" tIns="0" rIns="45720" bIns="0" anchor="ctr">
              <a:spAutoFit/>
            </a:bodyPr>
            <a:lstStyle/>
            <a:p>
              <a:pPr algn="l"/>
              <a:r>
                <a:rPr sz="1800" b="0" i="0" u="none">
                  <a:solidFill>
                    <a:srgbClr val="0B2B4E"/>
                  </a:solidFill>
                  <a:latin typeface="Calibri"/>
                </a:rPr>
                <a:t>Cournot equilibrium: neither firm would like to deviate</a:t>
              </a:r>
            </a:p>
            <a:p>
              <a:pPr algn="l"/>
              <a:r>
                <a:rPr sz="1800" b="1" i="0" u="none">
                  <a:solidFill>
                    <a:srgbClr val="0B2B4E"/>
                  </a:solidFill>
                  <a:latin typeface="Calibri"/>
                </a:rPr>
                <a:t>→  Look for intersection of reaction functions</a:t>
              </a:r>
            </a:p>
          </p:txBody>
        </p:sp>
      </p:grpSp>
      <p:grpSp>
        <p:nvGrpSpPr>
          <p:cNvPr id="45" name="Starting 45"/>
          <p:cNvGrpSpPr/>
          <p:nvPr/>
        </p:nvGrpSpPr>
        <p:grpSpPr>
          <a:xfrm>
            <a:off x="455828" y="5157216"/>
            <a:ext cx="2347264" cy="1124712"/>
            <a:chOff x="455828" y="5157216"/>
            <a:chExt cx="2347264" cy="1124712"/>
          </a:xfrm>
        </p:grpSpPr>
        <p:sp>
          <p:nvSpPr>
            <p:cNvPr id="42" name="Rounded Rectangle 41"/>
            <p:cNvSpPr/>
            <p:nvPr/>
          </p:nvSpPr>
          <p:spPr>
            <a:xfrm>
              <a:off x="455828" y="5367528"/>
              <a:ext cx="2347264" cy="914400"/>
            </a:xfrm>
            <a:prstGeom prst="roundRect">
              <a:avLst>
                <a:gd name="adj" fmla="val 12000"/>
              </a:avLst>
            </a:prstGeom>
            <a:solidFill>
              <a:srgbClr val="FFFFFF"/>
            </a:solidFill>
            <a:ln w="12700">
              <a:solidFill>
                <a:srgbClr val="555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6013" y="5477256"/>
              <a:ext cx="2126894" cy="694944"/>
            </a:xfrm>
            <a:prstGeom prst="rect">
              <a:avLst/>
            </a:prstGeom>
            <a:noFill/>
          </p:spPr>
          <p:txBody>
            <a:bodyPr wrap="square" lIns="45720" tIns="0" rIns="45720" bIns="0" anchor="ctr">
              <a:spAutoFit/>
            </a:bodyPr>
            <a:lstStyle/>
            <a:p>
              <a:pPr algn="l"/>
              <a:r>
                <a:rPr sz="1800" i="1">
                  <a:solidFill>
                    <a:srgbClr val="555B66"/>
                  </a:solidFill>
                  <a:latin typeface="Calibri"/>
                </a:rPr>
                <a:t>Starting point: </a:t>
              </a:r>
              <a:r>
                <a:rPr sz="1800" i="1">
                  <a:solidFill>
                    <a:srgbClr val="007A33"/>
                  </a:solidFill>
                  <a:latin typeface="Calibri"/>
                </a:rPr>
                <a:t>Firm B</a:t>
              </a:r>
              <a:r>
                <a:rPr sz="1800" i="1">
                  <a:solidFill>
                    <a:srgbClr val="555B66"/>
                  </a:solidFill>
                  <a:latin typeface="Calibri"/>
                </a:rPr>
                <a:t> contemplates its reaction to </a:t>
              </a:r>
              <a:r>
                <a:rPr sz="1800" i="1">
                  <a:solidFill>
                    <a:srgbClr val="0070C0"/>
                  </a:solidFill>
                  <a:latin typeface="Calibri"/>
                </a:rPr>
                <a:t>Q</a:t>
              </a:r>
              <a:r>
                <a:rPr sz="1800" i="1" baseline="-25000">
                  <a:solidFill>
                    <a:srgbClr val="0070C0"/>
                  </a:solidFill>
                  <a:latin typeface="Calibri"/>
                </a:rPr>
                <a:t>A</a:t>
              </a:r>
              <a:r>
                <a:rPr sz="1800" i="1">
                  <a:solidFill>
                    <a:srgbClr val="0070C0"/>
                  </a:solidFill>
                  <a:latin typeface="Calibri"/>
                </a:rPr>
                <a:t> = 15</a:t>
              </a:r>
            </a:p>
          </p:txBody>
        </p:sp>
        <p:cxnSp>
          <p:nvCxnSpPr>
            <p:cNvPr id="44" name="Connector 43"/>
            <p:cNvCxnSpPr/>
            <p:nvPr/>
          </p:nvCxnSpPr>
          <p:spPr>
            <a:xfrm flipV="1">
              <a:off x="2436328" y="5157216"/>
              <a:ext cx="325160" cy="191733"/>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grpSp>
      <p:sp>
        <p:nvSpPr>
          <p:cNvPr id="46" name="Rectangle 4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49" name="TextBox 48"/>
          <p:cNvSpPr txBox="1"/>
          <p:nvPr/>
        </p:nvSpPr>
        <p:spPr>
          <a:xfrm>
            <a:off x="11475720" y="6583680"/>
            <a:ext cx="502920" cy="292608"/>
          </a:xfrm>
          <a:prstGeom prst="rect">
            <a:avLst/>
          </a:prstGeom>
          <a:noFill/>
        </p:spPr>
        <p:txBody>
          <a:bodyPr wrap="none" lIns="0" tIns="0" rIns="0" bIns="0">
            <a:spAutoFit/>
          </a:bodyPr>
          <a:lstStyle/>
          <a:p>
            <a:pPr algn="r"/>
            <a:fld id="{7AC362A3-4ED0-5A65-836D-39E67ED44BFC}" type="slidenum">
              <a:rPr lang="en-US" sz="1200" dirty="0">
                <a:solidFill>
                  <a:srgbClr val="555B66"/>
                </a:solidFill>
                <a:latin typeface="Calibri"/>
              </a:rPr>
              <a:t>11</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par>
                                <p:cTn id="18" presetID="10" presetClass="entr" presetSubtype="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par>
                                <p:cTn id="41" presetID="10"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7 · Video 3 · Cournot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Cournot: Math</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7  ·  Oligopoly and Game Theory</a:t>
            </a:r>
          </a:p>
        </p:txBody>
      </p:sp>
      <p:sp>
        <p:nvSpPr>
          <p:cNvPr id="10" name="TextBox 9"/>
          <p:cNvSpPr txBox="1"/>
          <p:nvPr/>
        </p:nvSpPr>
        <p:spPr>
          <a:xfrm>
            <a:off x="11475720" y="6583680"/>
            <a:ext cx="502920" cy="292608"/>
          </a:xfrm>
          <a:prstGeom prst="rect">
            <a:avLst/>
          </a:prstGeom>
          <a:noFill/>
        </p:spPr>
        <p:txBody>
          <a:bodyPr wrap="none" lIns="0" tIns="0" rIns="0" bIns="0">
            <a:spAutoFit/>
          </a:bodyPr>
          <a:lstStyle/>
          <a:p>
            <a:pPr algn="r"/>
            <a:fld id="{EF0B26CF-279F-5229-996A-F3A73107C4C1}" type="slidenum">
              <a:rPr lang="en-US" sz="1200" dirty="0">
                <a:solidFill>
                  <a:srgbClr val="555B66"/>
                </a:solidFill>
                <a:latin typeface="Calibri"/>
              </a:rPr>
              <a:t>12</a:t>
            </a:fld>
            <a:endParaRPr lang="en-US" sz="1200" dirty="0">
              <a:solidFill>
                <a:srgbClr val="555B66"/>
              </a:solidFill>
              <a:latin typeface="Calibri"/>
            </a:endParaRPr>
          </a:p>
        </p:txBody>
      </p:sp>
      <p:grpSp>
        <p:nvGrpSpPr>
          <p:cNvPr id="13" name="PracticeVideoBox"/>
          <p:cNvGrpSpPr/>
          <p:nvPr/>
        </p:nvGrpSpPr>
        <p:grpSpPr>
          <a:xfrm>
            <a:off x="2804007" y="2286000"/>
            <a:ext cx="6583680" cy="777240"/>
            <a:chOff x="2804007" y="2286000"/>
            <a:chExt cx="6583680" cy="777240"/>
          </a:xfrm>
        </p:grpSpPr>
        <p:sp>
          <p:nvSpPr>
            <p:cNvPr id="11" name="Rounded Rectangle 10"/>
            <p:cNvSpPr/>
            <p:nvPr/>
          </p:nvSpPr>
          <p:spPr>
            <a:xfrm>
              <a:off x="2804007" y="2286000"/>
              <a:ext cx="6583680" cy="777240"/>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777240" rIns="64008" rtlCol="0" anchor="ctr"/>
            <a:lstStyle/>
            <a:p>
              <a:pPr algn="ctr"/>
              <a:r>
                <a:rPr sz="2000" b="1">
                  <a:solidFill>
                    <a:srgbClr val="0B2B4E"/>
                  </a:solidFill>
                  <a:latin typeface="Calibri"/>
                </a:rPr>
                <a:t>Practice Video “Cournot Competition Math”</a:t>
              </a:r>
            </a:p>
          </p:txBody>
        </p:sp>
        <p:sp>
          <p:nvSpPr>
            <p:cNvPr id="12" name="Action Button: Movie 11"/>
            <p:cNvSpPr/>
            <p:nvPr/>
          </p:nvSpPr>
          <p:spPr>
            <a:xfrm>
              <a:off x="2932023" y="2537460"/>
              <a:ext cx="548640" cy="274320"/>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4" name="TextBox 13"/>
          <p:cNvSpPr txBox="1"/>
          <p:nvPr/>
        </p:nvSpPr>
        <p:spPr>
          <a:xfrm>
            <a:off x="251999" y="3899915"/>
            <a:ext cx="11687697" cy="365760"/>
          </a:xfrm>
          <a:prstGeom prst="rect">
            <a:avLst/>
          </a:prstGeom>
          <a:noFill/>
        </p:spPr>
        <p:txBody>
          <a:bodyPr wrap="square" lIns="0" tIns="0" rIns="0" bIns="0">
            <a:spAutoFit/>
          </a:bodyPr>
          <a:lstStyle/>
          <a:p>
            <a:pPr algn="ctr"/>
            <a:r>
              <a:rPr sz="2400" b="0" i="0" u="none">
                <a:solidFill>
                  <a:srgbClr val="0B2B4E"/>
                </a:solidFill>
                <a:latin typeface="Calibri"/>
              </a:rPr>
              <a:t>More general case with different MC:</a:t>
            </a:r>
          </a:p>
        </p:txBody>
      </p:sp>
      <p:grpSp>
        <p:nvGrpSpPr>
          <p:cNvPr id="17" name="PracticeVideoBox"/>
          <p:cNvGrpSpPr/>
          <p:nvPr/>
        </p:nvGrpSpPr>
        <p:grpSpPr>
          <a:xfrm>
            <a:off x="2804007" y="4343400"/>
            <a:ext cx="6583680" cy="777240"/>
            <a:chOff x="2804007" y="4343400"/>
            <a:chExt cx="6583680" cy="777240"/>
          </a:xfrm>
        </p:grpSpPr>
        <p:sp>
          <p:nvSpPr>
            <p:cNvPr id="15" name="Rounded Rectangle 14"/>
            <p:cNvSpPr/>
            <p:nvPr/>
          </p:nvSpPr>
          <p:spPr>
            <a:xfrm>
              <a:off x="2804007" y="4343400"/>
              <a:ext cx="6583680" cy="777240"/>
            </a:xfrm>
            <a:prstGeom prst="roundRect">
              <a:avLst>
                <a:gd name="adj" fmla="val 28000"/>
              </a:avLst>
            </a:prstGeom>
            <a:gradFill>
              <a:gsLst>
                <a:gs pos="0">
                  <a:schemeClr val="bg1">
                    <a:lumMod val="65000"/>
                  </a:schemeClr>
                </a:gs>
                <a:gs pos="54000">
                  <a:schemeClr val="bg1">
                    <a:lumMod val="95000"/>
                  </a:schemeClr>
                </a:gs>
                <a:gs pos="100000">
                  <a:schemeClr val="bg1">
                    <a:lumMod val="65000"/>
                  </a:schemeClr>
                </a:gs>
              </a:gsLst>
              <a:lin ang="5400000" scaled="1"/>
            </a:gra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777240" rIns="64008" rtlCol="0" anchor="ctr"/>
            <a:lstStyle/>
            <a:p>
              <a:pPr algn="ctr"/>
              <a:r>
                <a:rPr sz="2000" b="1">
                  <a:solidFill>
                    <a:srgbClr val="0B2B4E"/>
                  </a:solidFill>
                  <a:latin typeface="Calibri"/>
                </a:rPr>
                <a:t>Practice Video “Oligopoly with different MC”</a:t>
              </a:r>
            </a:p>
          </p:txBody>
        </p:sp>
        <p:sp>
          <p:nvSpPr>
            <p:cNvPr id="16" name="Action Button: Movie 15"/>
            <p:cNvSpPr/>
            <p:nvPr/>
          </p:nvSpPr>
          <p:spPr>
            <a:xfrm>
              <a:off x="2932023" y="4594860"/>
              <a:ext cx="548640" cy="274320"/>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1777</Words>
  <Application>Microsoft Office PowerPoint</Application>
  <PresentationFormat>Widescreen</PresentationFormat>
  <Paragraphs>196</Paragraphs>
  <Slides>12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7</cp:revision>
  <dcterms:created xsi:type="dcterms:W3CDTF">2013-01-27T09:14:16Z</dcterms:created>
  <dcterms:modified xsi:type="dcterms:W3CDTF">2026-09-28T15:48:37Z</dcterms:modified>
  <cp:category/>
</cp:coreProperties>
</file>