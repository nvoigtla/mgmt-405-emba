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98" r:id="rId2"/>
    <p:sldId id="299" r:id="rId3"/>
    <p:sldId id="300" r:id="rId4"/>
    <p:sldId id="301" r:id="rId5"/>
    <p:sldId id="305" r:id="rId6"/>
    <p:sldId id="310"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63EF34-BBF4-4EE4-A8C7-B7C7750069CA}" type="datetimeFigureOut">
              <a:rPr lang="en-US" smtClean="0"/>
              <a:t>9/23/2026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0BAC09-9370-4EA9-BE24-094450873490}" type="slidenum">
              <a:rPr lang="en-US" smtClean="0"/>
              <a:t>‹#›</a:t>
            </a:fld>
            <a:endParaRPr lang="en-US"/>
          </a:p>
        </p:txBody>
      </p:sp>
    </p:spTree>
    <p:extLst>
      <p:ext uri="{BB962C8B-B14F-4D97-AF65-F5344CB8AC3E}">
        <p14:creationId xmlns:p14="http://schemas.microsoft.com/office/powerpoint/2010/main" val="3091923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case where the firm cannot tell customers apart, so it makes them sort themselves.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Second-degree, or indirect, pricing is what you do when you cannot identify the groups. Instead of pricing the customer, you price versions of the product and let people choose. The firm still needs market power and customers who differ; what it no longer needs is any way of telling who is who.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 example of Second Degree Price Discrimination: Versioning</a:t>
            </a:r>
          </a:p>
          <a:p>
            <a:r>
              <a:t> </a:t>
            </a:r>
          </a:p>
          <a:p>
            <a:r>
              <a:t>We will go in greater depth into one form of second degree price discrimination which is versioning. Versioning is incentive compatible and accomplishes everything that price discrimination accomplishes. Consumers who buy at a high price do so willingly. The key to understand this is that the version priced at a premium has to have features that generate some value to the consumer, but the cost differential to the company is minor relative to the price differential (otherwise there is no real discrimination on price if the surplus captured is the same across segments).</a:t>
            </a:r>
          </a:p>
          <a:p>
            <a:r>
              <a:t> </a:t>
            </a:r>
          </a:p>
          <a:p>
            <a:r>
              <a:t>The perfect example is Microsoft: offers Windows Professional and Windows Home Edition. Windows Pro has more features than Home edition but they are otherwise close substitutes. The marginal cost of producing each is identical (and approximately zero) – in fact it may cost the company something to actually differentiate the products. Sometimes it costs nothing to make something better but you don’t want to do it: why doesn’t Microsoft offer the full version of Windows to all their customers since the MC of doing so is zero? Because they would then join the markets, and forego the benefits of price discrimination. You add features to the price insensitive segment so you can charge them more.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pattern is everywhere once you look: internet speed tiers, ground versus overnight shipping, the three cabins on an aircraft. The design rule is the one at the bottom: the cheap version has to be genuinely worse, or your high-value customers will happily take it. That is what incentive compatibility means here, and it is why airlines make basic economy irritating on purpose.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Checkout stand coupons: Nobody wants to spend money unnecessarily, but it takes time to sort through the coupons. Those who have nothing else to do on a Sunday morning, i.e. those with a low opportunity cost of time, who are price sensitive, will take the time to cut the coupons. This is an ingenious scheme to charge higher price to the low elasticity customers to capture more consumer surplus.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920240"/>
            <a:ext cx="12191695" cy="1005840"/>
          </a:xfrm>
          <a:prstGeom prst="rect">
            <a:avLst/>
          </a:prstGeom>
          <a:noFill/>
        </p:spPr>
        <p:txBody>
          <a:bodyPr wrap="square" lIns="0" tIns="0" rIns="0" bIns="0">
            <a:spAutoFit/>
          </a:bodyPr>
          <a:lstStyle/>
          <a:p>
            <a:pPr algn="ctr"/>
            <a:r>
              <a:rPr sz="6000" b="1" i="0" u="none" dirty="0">
                <a:solidFill>
                  <a:srgbClr val="0B2B4E"/>
                </a:solidFill>
                <a:latin typeface="Calibri"/>
              </a:rPr>
              <a:t>Versioning and Coupons</a:t>
            </a:r>
          </a:p>
        </p:txBody>
      </p:sp>
      <p:sp>
        <p:nvSpPr>
          <p:cNvPr id="3" name="TextBox 2"/>
          <p:cNvSpPr txBox="1"/>
          <p:nvPr/>
        </p:nvSpPr>
        <p:spPr>
          <a:xfrm>
            <a:off x="0" y="2971800"/>
            <a:ext cx="12191695" cy="685800"/>
          </a:xfrm>
          <a:prstGeom prst="rect">
            <a:avLst/>
          </a:prstGeom>
          <a:noFill/>
        </p:spPr>
        <p:txBody>
          <a:bodyPr wrap="square" lIns="0" tIns="0" rIns="0" bIns="0">
            <a:spAutoFit/>
          </a:bodyPr>
          <a:lstStyle/>
          <a:p>
            <a:pPr algn="ctr"/>
            <a:r>
              <a:rPr sz="4000" b="1" i="0" u="none">
                <a:solidFill>
                  <a:srgbClr val="E09F3E"/>
                </a:solidFill>
                <a:latin typeface="Calibri"/>
              </a:rPr>
              <a:t>Module 6  ·  Video 5</a:t>
            </a:r>
          </a:p>
        </p:txBody>
      </p:sp>
      <p:sp>
        <p:nvSpPr>
          <p:cNvPr id="4" name="Rectangle 3"/>
          <p:cNvSpPr/>
          <p:nvPr/>
        </p:nvSpPr>
        <p:spPr>
          <a:xfrm>
            <a:off x="4267047" y="3913632"/>
            <a:ext cx="3657600" cy="54864"/>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0" y="4224528"/>
            <a:ext cx="12191695" cy="502920"/>
          </a:xfrm>
          <a:prstGeom prst="rect">
            <a:avLst/>
          </a:prstGeom>
          <a:noFill/>
        </p:spPr>
        <p:txBody>
          <a:bodyPr wrap="square" lIns="0" tIns="0" rIns="0" bIns="0">
            <a:spAutoFit/>
          </a:bodyPr>
          <a:lstStyle/>
          <a:p>
            <a:pPr algn="ctr"/>
            <a:r>
              <a:rPr sz="2600" b="1" i="0" u="none">
                <a:solidFill>
                  <a:srgbClr val="555B66"/>
                </a:solidFill>
                <a:latin typeface="Calibri"/>
              </a:rPr>
              <a:t>Management 405</a:t>
            </a:r>
          </a:p>
        </p:txBody>
      </p:sp>
      <p:sp>
        <p:nvSpPr>
          <p:cNvPr id="6" name="TextBox 5"/>
          <p:cNvSpPr txBox="1"/>
          <p:nvPr/>
        </p:nvSpPr>
        <p:spPr>
          <a:xfrm>
            <a:off x="0" y="4864608"/>
            <a:ext cx="12191695" cy="457200"/>
          </a:xfrm>
          <a:prstGeom prst="rect">
            <a:avLst/>
          </a:prstGeom>
          <a:noFill/>
        </p:spPr>
        <p:txBody>
          <a:bodyPr wrap="square" lIns="0" tIns="0" rIns="0" bIns="0">
            <a:spAutoFit/>
          </a:bodyPr>
          <a:lstStyle/>
          <a:p>
            <a:pPr algn="ctr"/>
            <a:r>
              <a:rPr sz="2200" b="0" i="0" u="none">
                <a:solidFill>
                  <a:srgbClr val="555B66"/>
                </a:solidFill>
                <a:latin typeface="Calibri"/>
              </a:rPr>
              <a:t>Prof. Nico Voigtländer  ·  UCLA Anderson</a:t>
            </a:r>
          </a:p>
        </p:txBody>
      </p:sp>
      <p:sp>
        <p:nvSpPr>
          <p:cNvPr id="7" name="Rectangle 6"/>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5 · Agenda</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Outline of Module 6</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 y="129842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1</a:t>
            </a:r>
          </a:p>
        </p:txBody>
      </p:sp>
      <p:sp>
        <p:nvSpPr>
          <p:cNvPr id="8" name="Rounded Rectangle 7"/>
          <p:cNvSpPr/>
          <p:nvPr/>
        </p:nvSpPr>
        <p:spPr>
          <a:xfrm>
            <a:off x="10332720" y="1357860"/>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2</a:t>
            </a:r>
          </a:p>
        </p:txBody>
      </p:sp>
      <p:sp>
        <p:nvSpPr>
          <p:cNvPr id="9" name="TextBox 8"/>
          <p:cNvSpPr txBox="1"/>
          <p:nvPr/>
        </p:nvSpPr>
        <p:spPr>
          <a:xfrm>
            <a:off x="1874519" y="1381909"/>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Simple vs. Complex Pricing</a:t>
            </a:r>
          </a:p>
        </p:txBody>
      </p:sp>
      <p:sp>
        <p:nvSpPr>
          <p:cNvPr id="10" name="Oval 9"/>
          <p:cNvSpPr/>
          <p:nvPr/>
        </p:nvSpPr>
        <p:spPr>
          <a:xfrm>
            <a:off x="1051560" y="192021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2</a:t>
            </a:r>
          </a:p>
        </p:txBody>
      </p:sp>
      <p:sp>
        <p:nvSpPr>
          <p:cNvPr id="11" name="Rounded Rectangle 10"/>
          <p:cNvSpPr/>
          <p:nvPr/>
        </p:nvSpPr>
        <p:spPr>
          <a:xfrm>
            <a:off x="10332720" y="190879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3+4</a:t>
            </a:r>
          </a:p>
        </p:txBody>
      </p:sp>
      <p:sp>
        <p:nvSpPr>
          <p:cNvPr id="12" name="TextBox 11"/>
          <p:cNvSpPr txBox="1"/>
          <p:nvPr/>
        </p:nvSpPr>
        <p:spPr>
          <a:xfrm>
            <a:off x="1874519" y="190192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Direct Price Discrimination</a:t>
            </a:r>
          </a:p>
        </p:txBody>
      </p:sp>
      <p:sp>
        <p:nvSpPr>
          <p:cNvPr id="13" name="Oval 12"/>
          <p:cNvSpPr/>
          <p:nvPr/>
        </p:nvSpPr>
        <p:spPr>
          <a:xfrm>
            <a:off x="1481328" y="234543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2a</a:t>
            </a:r>
          </a:p>
        </p:txBody>
      </p:sp>
      <p:sp>
        <p:nvSpPr>
          <p:cNvPr id="14" name="Rounded Rectangle 13"/>
          <p:cNvSpPr/>
          <p:nvPr/>
        </p:nvSpPr>
        <p:spPr>
          <a:xfrm>
            <a:off x="10707625" y="236829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3</a:t>
            </a:r>
          </a:p>
        </p:txBody>
      </p:sp>
      <p:sp>
        <p:nvSpPr>
          <p:cNvPr id="15" name="TextBox 14"/>
          <p:cNvSpPr txBox="1"/>
          <p:nvPr/>
        </p:nvSpPr>
        <p:spPr>
          <a:xfrm>
            <a:off x="2084831" y="239234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Perfect Price Discrimination (First Degree)</a:t>
            </a:r>
          </a:p>
        </p:txBody>
      </p:sp>
      <p:sp>
        <p:nvSpPr>
          <p:cNvPr id="16" name="Oval 15"/>
          <p:cNvSpPr/>
          <p:nvPr/>
        </p:nvSpPr>
        <p:spPr>
          <a:xfrm>
            <a:off x="1481328" y="287578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2b</a:t>
            </a:r>
          </a:p>
        </p:txBody>
      </p:sp>
      <p:sp>
        <p:nvSpPr>
          <p:cNvPr id="17" name="Rounded Rectangle 16"/>
          <p:cNvSpPr/>
          <p:nvPr/>
        </p:nvSpPr>
        <p:spPr>
          <a:xfrm>
            <a:off x="10707625" y="289864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4</a:t>
            </a:r>
          </a:p>
        </p:txBody>
      </p:sp>
      <p:sp>
        <p:nvSpPr>
          <p:cNvPr id="18" name="TextBox 17"/>
          <p:cNvSpPr txBox="1"/>
          <p:nvPr/>
        </p:nvSpPr>
        <p:spPr>
          <a:xfrm>
            <a:off x="2084831" y="292269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Segment Pricing (Third Degree)</a:t>
            </a:r>
          </a:p>
        </p:txBody>
      </p:sp>
      <p:sp>
        <p:nvSpPr>
          <p:cNvPr id="19" name="Rounded Rectangle 18"/>
          <p:cNvSpPr/>
          <p:nvPr/>
        </p:nvSpPr>
        <p:spPr>
          <a:xfrm>
            <a:off x="822960" y="3305556"/>
            <a:ext cx="11109960" cy="589788"/>
          </a:xfrm>
          <a:prstGeom prst="roundRect">
            <a:avLst>
              <a:gd name="adj" fmla="val 35000"/>
            </a:avLst>
          </a:prstGeom>
          <a:solidFill>
            <a:srgbClr val="FDF6E6"/>
          </a:solidFill>
          <a:ln w="12700">
            <a:solidFill>
              <a:srgbClr val="E09F3E"/>
            </a:solid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1051560" y="3369564"/>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0B2B4E"/>
                </a:solidFill>
                <a:latin typeface="Calibri"/>
              </a:rPr>
              <a:t>3</a:t>
            </a:r>
          </a:p>
        </p:txBody>
      </p:sp>
      <p:sp>
        <p:nvSpPr>
          <p:cNvPr id="21" name="Rounded Rectangle 20"/>
          <p:cNvSpPr/>
          <p:nvPr/>
        </p:nvSpPr>
        <p:spPr>
          <a:xfrm>
            <a:off x="10332720" y="3429000"/>
            <a:ext cx="1417320" cy="329184"/>
          </a:xfrm>
          <a:prstGeom prst="roundRect">
            <a:avLst>
              <a:gd name="adj" fmla="val 30000"/>
            </a:avLst>
          </a:prstGeom>
          <a:solidFill>
            <a:srgbClr val="E09F3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0B2B4E"/>
                </a:solidFill>
                <a:latin typeface="Calibri"/>
              </a:rPr>
              <a:t>Video 5</a:t>
            </a:r>
          </a:p>
        </p:txBody>
      </p:sp>
      <p:sp>
        <p:nvSpPr>
          <p:cNvPr id="22" name="TextBox 21"/>
          <p:cNvSpPr txBox="1"/>
          <p:nvPr/>
        </p:nvSpPr>
        <p:spPr>
          <a:xfrm>
            <a:off x="1874519" y="3351276"/>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0B2B4E"/>
                </a:solidFill>
                <a:latin typeface="Calibri"/>
              </a:rPr>
              <a:t>Indirect Price Discrimination (Second Degree)</a:t>
            </a:r>
          </a:p>
          <a:p>
            <a:pPr algn="l">
              <a:spcBef>
                <a:spcPts val="0"/>
              </a:spcBef>
              <a:buNone/>
            </a:pPr>
            <a:r>
              <a:rPr sz="1600">
                <a:solidFill>
                  <a:srgbClr val="555B66"/>
                </a:solidFill>
                <a:latin typeface="Calibri"/>
              </a:rPr>
              <a:t>Versioning and coupons let customers sort themselves</a:t>
            </a:r>
          </a:p>
        </p:txBody>
      </p:sp>
      <p:sp>
        <p:nvSpPr>
          <p:cNvPr id="23" name="Oval 22"/>
          <p:cNvSpPr/>
          <p:nvPr/>
        </p:nvSpPr>
        <p:spPr>
          <a:xfrm>
            <a:off x="1051560" y="39913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4</a:t>
            </a:r>
          </a:p>
        </p:txBody>
      </p:sp>
      <p:sp>
        <p:nvSpPr>
          <p:cNvPr id="24" name="Rounded Rectangle 23"/>
          <p:cNvSpPr/>
          <p:nvPr/>
        </p:nvSpPr>
        <p:spPr>
          <a:xfrm>
            <a:off x="10332720" y="3979938"/>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Videos 6–8</a:t>
            </a:r>
          </a:p>
        </p:txBody>
      </p:sp>
      <p:sp>
        <p:nvSpPr>
          <p:cNvPr id="25" name="TextBox 24"/>
          <p:cNvSpPr txBox="1"/>
          <p:nvPr/>
        </p:nvSpPr>
        <p:spPr>
          <a:xfrm>
            <a:off x="1874519" y="3973068"/>
            <a:ext cx="8293609" cy="342924"/>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Advanced Pricing Strategies</a:t>
            </a:r>
          </a:p>
        </p:txBody>
      </p:sp>
      <p:sp>
        <p:nvSpPr>
          <p:cNvPr id="26" name="Oval 25"/>
          <p:cNvSpPr/>
          <p:nvPr/>
        </p:nvSpPr>
        <p:spPr>
          <a:xfrm>
            <a:off x="1481328" y="4416576"/>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4a</a:t>
            </a:r>
          </a:p>
        </p:txBody>
      </p:sp>
      <p:sp>
        <p:nvSpPr>
          <p:cNvPr id="27" name="Rounded Rectangle 26"/>
          <p:cNvSpPr/>
          <p:nvPr/>
        </p:nvSpPr>
        <p:spPr>
          <a:xfrm>
            <a:off x="10707625" y="4439436"/>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6</a:t>
            </a:r>
          </a:p>
        </p:txBody>
      </p:sp>
      <p:sp>
        <p:nvSpPr>
          <p:cNvPr id="28" name="TextBox 27"/>
          <p:cNvSpPr txBox="1"/>
          <p:nvPr/>
        </p:nvSpPr>
        <p:spPr>
          <a:xfrm>
            <a:off x="2084831" y="4463485"/>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Flat Fee Pricing</a:t>
            </a:r>
          </a:p>
        </p:txBody>
      </p:sp>
      <p:sp>
        <p:nvSpPr>
          <p:cNvPr id="29" name="Oval 28"/>
          <p:cNvSpPr/>
          <p:nvPr/>
        </p:nvSpPr>
        <p:spPr>
          <a:xfrm>
            <a:off x="1481328" y="4946928"/>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4b</a:t>
            </a:r>
          </a:p>
        </p:txBody>
      </p:sp>
      <p:sp>
        <p:nvSpPr>
          <p:cNvPr id="30" name="Rounded Rectangle 29"/>
          <p:cNvSpPr/>
          <p:nvPr/>
        </p:nvSpPr>
        <p:spPr>
          <a:xfrm>
            <a:off x="10707625" y="4969788"/>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7</a:t>
            </a:r>
          </a:p>
        </p:txBody>
      </p:sp>
      <p:sp>
        <p:nvSpPr>
          <p:cNvPr id="31" name="TextBox 30"/>
          <p:cNvSpPr txBox="1"/>
          <p:nvPr/>
        </p:nvSpPr>
        <p:spPr>
          <a:xfrm>
            <a:off x="2084831" y="4993837"/>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Two-Part Tariff</a:t>
            </a:r>
          </a:p>
        </p:txBody>
      </p:sp>
      <p:sp>
        <p:nvSpPr>
          <p:cNvPr id="32" name="Oval 31"/>
          <p:cNvSpPr/>
          <p:nvPr/>
        </p:nvSpPr>
        <p:spPr>
          <a:xfrm>
            <a:off x="1481328" y="5477280"/>
            <a:ext cx="384048" cy="384048"/>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BFBFBF"/>
                </a:solidFill>
                <a:latin typeface="Calibri"/>
              </a:rPr>
              <a:t>4c</a:t>
            </a:r>
          </a:p>
        </p:txBody>
      </p:sp>
      <p:sp>
        <p:nvSpPr>
          <p:cNvPr id="33" name="Rounded Rectangle 32"/>
          <p:cNvSpPr/>
          <p:nvPr/>
        </p:nvSpPr>
        <p:spPr>
          <a:xfrm>
            <a:off x="10707625" y="5500140"/>
            <a:ext cx="1042415"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8</a:t>
            </a:r>
          </a:p>
        </p:txBody>
      </p:sp>
      <p:sp>
        <p:nvSpPr>
          <p:cNvPr id="34" name="TextBox 33"/>
          <p:cNvSpPr txBox="1"/>
          <p:nvPr/>
        </p:nvSpPr>
        <p:spPr>
          <a:xfrm>
            <a:off x="2084831" y="5524189"/>
            <a:ext cx="8458202"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1900" b="0">
                <a:solidFill>
                  <a:srgbClr val="0B2B4E"/>
                </a:solidFill>
                <a:latin typeface="Calibri"/>
              </a:defRPr>
            </a:lvl1pPr>
            <a:lvl2pPr marL="685800" indent="-228600">
              <a:spcBef>
                <a:spcPts val="300"/>
              </a:spcBef>
              <a:buClr>
                <a:srgbClr val="555B66"/>
              </a:buClr>
              <a:buFont typeface="Calibri"/>
              <a:buChar char="–"/>
              <a:defRPr sz="1500" b="0">
                <a:solidFill>
                  <a:srgbClr val="555B66"/>
                </a:solidFill>
                <a:latin typeface="Calibri"/>
              </a:defRPr>
            </a:lvl2pPr>
          </a:lstStyle>
          <a:p>
            <a:pPr algn="l">
              <a:buNone/>
            </a:pPr>
            <a:r>
              <a:rPr sz="1900" b="1">
                <a:solidFill>
                  <a:srgbClr val="BFBFBF"/>
                </a:solidFill>
                <a:latin typeface="Calibri"/>
              </a:rPr>
              <a:t>Block Pricing</a:t>
            </a:r>
          </a:p>
        </p:txBody>
      </p:sp>
      <p:sp>
        <p:nvSpPr>
          <p:cNvPr id="35" name="Oval 34"/>
          <p:cNvSpPr/>
          <p:nvPr/>
        </p:nvSpPr>
        <p:spPr>
          <a:xfrm>
            <a:off x="1051560" y="5971056"/>
            <a:ext cx="466344" cy="466344"/>
          </a:xfrm>
          <a:prstGeom prst="ellipse">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BFBFBF"/>
                </a:solidFill>
                <a:latin typeface="Calibri"/>
              </a:rPr>
              <a:t>5</a:t>
            </a:r>
          </a:p>
        </p:txBody>
      </p:sp>
      <p:sp>
        <p:nvSpPr>
          <p:cNvPr id="36" name="Rounded Rectangle 35"/>
          <p:cNvSpPr/>
          <p:nvPr/>
        </p:nvSpPr>
        <p:spPr>
          <a:xfrm>
            <a:off x="10332720" y="6030492"/>
            <a:ext cx="1417320" cy="329184"/>
          </a:xfrm>
          <a:prstGeom prst="roundRect">
            <a:avLst>
              <a:gd name="adj" fmla="val 30000"/>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Calibri"/>
              </a:rPr>
              <a:t>Video 9</a:t>
            </a:r>
          </a:p>
        </p:txBody>
      </p:sp>
      <p:sp>
        <p:nvSpPr>
          <p:cNvPr id="38" name="Rectangle 37"/>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41" name="TextBox 40"/>
          <p:cNvSpPr txBox="1"/>
          <p:nvPr/>
        </p:nvSpPr>
        <p:spPr>
          <a:xfrm>
            <a:off x="11475720" y="6583680"/>
            <a:ext cx="502920" cy="292608"/>
          </a:xfrm>
          <a:prstGeom prst="rect">
            <a:avLst/>
          </a:prstGeom>
          <a:noFill/>
        </p:spPr>
        <p:txBody>
          <a:bodyPr wrap="none" lIns="0" tIns="0" rIns="0" bIns="0">
            <a:spAutoFit/>
          </a:bodyPr>
          <a:lstStyle/>
          <a:p>
            <a:pPr algn="r"/>
            <a:fld id="{99DE5288-7E28-53A2-BA5C-A68EAE30E11A}" type="slidenum">
              <a:rPr lang="en-US" sz="1200" dirty="0">
                <a:solidFill>
                  <a:srgbClr val="555B66"/>
                </a:solidFill>
                <a:latin typeface="Calibri"/>
              </a:rPr>
              <a:t>2</a:t>
            </a:fld>
            <a:endParaRPr lang="en-US" sz="1200" dirty="0">
              <a:solidFill>
                <a:srgbClr val="555B66"/>
              </a:solidFill>
              <a:latin typeface="Calibri"/>
            </a:endParaRPr>
          </a:p>
        </p:txBody>
      </p:sp>
      <p:sp>
        <p:nvSpPr>
          <p:cNvPr id="37" name="TextBox 36"/>
          <p:cNvSpPr txBox="1"/>
          <p:nvPr/>
        </p:nvSpPr>
        <p:spPr>
          <a:xfrm>
            <a:off x="1874519" y="6054541"/>
            <a:ext cx="8293609" cy="484632"/>
          </a:xfrm>
          <a:prstGeom prst="rect">
            <a:avLst/>
          </a:prstGeom>
          <a:noFill/>
        </p:spPr>
        <p:txBody>
          <a:bodyPr wrap="square" lIns="0" tIns="0" rIns="0" bIns="0">
            <a:noAutofit/>
          </a:bodyPr>
          <a:lstStyle>
            <a:lvl1pPr marL="342900" indent="-342900">
              <a:spcBef>
                <a:spcPts val="0"/>
              </a:spcBef>
              <a:buClr>
                <a:srgbClr val="0B2B4E"/>
              </a:buClr>
              <a:buFont typeface="Calibri"/>
              <a:buChar char="▪"/>
              <a:defRPr sz="2200" b="0">
                <a:solidFill>
                  <a:srgbClr val="0B2B4E"/>
                </a:solidFill>
                <a:latin typeface="Calibri"/>
              </a:defRPr>
            </a:lvl1pPr>
            <a:lvl2pPr marL="685800" indent="-228600">
              <a:spcBef>
                <a:spcPts val="300"/>
              </a:spcBef>
              <a:buClr>
                <a:srgbClr val="555B66"/>
              </a:buClr>
              <a:buFont typeface="Calibri"/>
              <a:buChar char="–"/>
              <a:defRPr sz="1800" b="0">
                <a:solidFill>
                  <a:srgbClr val="555B66"/>
                </a:solidFill>
                <a:latin typeface="Calibri"/>
              </a:defRPr>
            </a:lvl2pPr>
          </a:lstStyle>
          <a:p>
            <a:pPr algn="l">
              <a:buNone/>
            </a:pPr>
            <a:r>
              <a:rPr sz="2200" b="1">
                <a:solidFill>
                  <a:srgbClr val="BFBFBF"/>
                </a:solidFill>
                <a:latin typeface="Calibri"/>
              </a:rPr>
              <a:t>Summary of Pricing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5 · Indirect Price Discrimination (Second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Second Degree Price Discrimination: Versioning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5669280" cy="4892040"/>
          </a:xfrm>
          <a:prstGeom prst="rect">
            <a:avLst/>
          </a:prstGeom>
          <a:noFill/>
        </p:spPr>
        <p:txBody>
          <a:bodyPr wrap="square" lIns="0" tIns="0" rIns="0" bIns="0" anchor="ctr">
            <a:noAutofit/>
          </a:bodyPr>
          <a:lstStyle>
            <a:lvl1pPr marL="342900" indent="-342900">
              <a:spcBef>
                <a:spcPts val="13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Indirect price discrimination</a:t>
            </a:r>
          </a:p>
          <a:p>
            <a:pPr algn="l"/>
            <a:r>
              <a:rPr dirty="0">
                <a:latin typeface="Calibri"/>
              </a:rPr>
              <a:t>Charge a different price for different versions of the product</a:t>
            </a:r>
          </a:p>
          <a:p>
            <a:pPr algn="l"/>
            <a:r>
              <a:rPr dirty="0">
                <a:latin typeface="Calibri"/>
              </a:rPr>
              <a:t>Conditions:</a:t>
            </a:r>
          </a:p>
          <a:p>
            <a:pPr lvl="1" algn="l"/>
            <a:r>
              <a:rPr dirty="0">
                <a:latin typeface="Calibri"/>
              </a:rPr>
              <a:t>Firm has market power</a:t>
            </a:r>
          </a:p>
          <a:p>
            <a:pPr lvl="1" algn="l"/>
            <a:r>
              <a:rPr dirty="0">
                <a:latin typeface="Calibri"/>
              </a:rPr>
              <a:t>Consumer groups with different willingness to pay for the product category (e.g., airplane cabins)</a:t>
            </a:r>
          </a:p>
          <a:p>
            <a:pPr lvl="1" algn="l"/>
            <a:r>
              <a:rPr dirty="0">
                <a:latin typeface="Calibri"/>
              </a:rPr>
              <a:t>Firm cannot directly identify the different groups of consumers</a:t>
            </a:r>
          </a:p>
        </p:txBody>
      </p:sp>
      <p:pic>
        <p:nvPicPr>
          <p:cNvPr id="8" name="Picture 7" descr="NV_s33_versioning.png"/>
          <p:cNvPicPr>
            <a:picLocks noChangeAspect="1"/>
          </p:cNvPicPr>
          <p:nvPr/>
        </p:nvPicPr>
        <p:blipFill>
          <a:blip r:embed="rId3"/>
          <a:stretch>
            <a:fillRect/>
          </a:stretch>
        </p:blipFill>
        <p:spPr>
          <a:xfrm>
            <a:off x="6835140" y="1410004"/>
            <a:ext cx="4892040" cy="4892040"/>
          </a:xfrm>
          <a:prstGeom prst="roundRect">
            <a:avLst>
              <a:gd name="adj" fmla="val 8000"/>
            </a:avLst>
          </a:prstGeom>
          <a:effectLst>
            <a:outerShdw blurRad="50800" dist="38100" dir="2700000" algn="tl" rotWithShape="0">
              <a:srgbClr val="000000">
                <a:alpha val="50000"/>
              </a:srgbClr>
            </a:outerShdw>
          </a:effectLst>
        </p:spPr>
      </p:pic>
      <p:sp>
        <p:nvSpPr>
          <p:cNvPr id="9" name="Rectangle 8"/>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2" name="TextBox 11"/>
          <p:cNvSpPr txBox="1"/>
          <p:nvPr/>
        </p:nvSpPr>
        <p:spPr>
          <a:xfrm>
            <a:off x="11475720" y="6583680"/>
            <a:ext cx="502920" cy="292608"/>
          </a:xfrm>
          <a:prstGeom prst="rect">
            <a:avLst/>
          </a:prstGeom>
          <a:noFill/>
        </p:spPr>
        <p:txBody>
          <a:bodyPr wrap="none" lIns="0" tIns="0" rIns="0" bIns="0">
            <a:spAutoFit/>
          </a:bodyPr>
          <a:lstStyle/>
          <a:p>
            <a:pPr algn="r"/>
            <a:fld id="{A5706A8A-BC76-5991-A5F9-3B2D52CD6AB0}" type="slidenum">
              <a:rPr lang="en-US" sz="1200" dirty="0">
                <a:solidFill>
                  <a:srgbClr val="555B66"/>
                </a:solidFill>
                <a:latin typeface="Calibri"/>
              </a:rPr>
              <a:t>3</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fade">
                                      <p:cBhvr>
                                        <p:cTn id="7" dur="500"/>
                                        <p:tgtEl>
                                          <p:spTgt spid="7">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animEffect transition="in" filter="fade">
                                      <p:cBhvr>
                                        <p:cTn id="15" dur="500"/>
                                        <p:tgtEl>
                                          <p:spTgt spid="7">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xEl>
                                              <p:pRg st="3" end="3"/>
                                            </p:txEl>
                                          </p:spTgt>
                                        </p:tgtEl>
                                        <p:attrNameLst>
                                          <p:attrName>style.visibility</p:attrName>
                                        </p:attrNameLst>
                                      </p:cBhvr>
                                      <p:to>
                                        <p:strVal val="visible"/>
                                      </p:to>
                                    </p:set>
                                    <p:animEffect transition="in" filter="fade">
                                      <p:cBhvr>
                                        <p:cTn id="18" dur="500"/>
                                        <p:tgtEl>
                                          <p:spTgt spid="7">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animEffect transition="in" filter="fade">
                                      <p:cBhvr>
                                        <p:cTn id="23" dur="500"/>
                                        <p:tgtEl>
                                          <p:spTgt spid="7">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5" end="5"/>
                                            </p:txEl>
                                          </p:spTgt>
                                        </p:tgtEl>
                                        <p:attrNameLst>
                                          <p:attrName>style.visibility</p:attrName>
                                        </p:attrNameLst>
                                      </p:cBhvr>
                                      <p:to>
                                        <p:strVal val="visible"/>
                                      </p:to>
                                    </p:set>
                                    <p:animEffect transition="in" filter="fade">
                                      <p:cBhvr>
                                        <p:cTn id="28"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5 · Indirect Price Discrimination (Second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Versioning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sdaxis:y"/>
          <p:cNvCxnSpPr/>
          <p:nvPr/>
        </p:nvCxnSpPr>
        <p:spPr>
          <a:xfrm flipV="1">
            <a:off x="1325880" y="1389888"/>
            <a:ext cx="0" cy="4599432"/>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cxnSp>
        <p:nvCxnSpPr>
          <p:cNvPr id="8" name="sdaxis:x"/>
          <p:cNvCxnSpPr/>
          <p:nvPr/>
        </p:nvCxnSpPr>
        <p:spPr>
          <a:xfrm>
            <a:off x="1325880" y="5989320"/>
            <a:ext cx="5193792" cy="0"/>
          </a:xfrm>
          <a:prstGeom prst="line">
            <a:avLst/>
          </a:prstGeom>
          <a:ln w="25400">
            <a:solidFill>
              <a:srgbClr val="0B2B4E"/>
            </a:solidFill>
            <a:tailEnd type="triangle" w="med"/>
          </a:ln>
        </p:spPr>
        <p:style>
          <a:lnRef idx="2">
            <a:schemeClr val="accent1"/>
          </a:lnRef>
          <a:fillRef idx="0">
            <a:schemeClr val="accent1"/>
          </a:fillRef>
          <a:effectRef idx="1">
            <a:schemeClr val="accent1"/>
          </a:effectRef>
          <a:fontRef idx="minor">
            <a:schemeClr val="tx1"/>
          </a:fontRef>
        </p:style>
      </p:cxnSp>
      <p:sp>
        <p:nvSpPr>
          <p:cNvPr id="9" name="sdaxistitle:y"/>
          <p:cNvSpPr txBox="1"/>
          <p:nvPr/>
        </p:nvSpPr>
        <p:spPr>
          <a:xfrm>
            <a:off x="389000" y="1257300"/>
            <a:ext cx="863727" cy="265176"/>
          </a:xfrm>
          <a:prstGeom prst="rect">
            <a:avLst/>
          </a:prstGeom>
          <a:noFill/>
        </p:spPr>
        <p:txBody>
          <a:bodyPr wrap="square" lIns="0" tIns="0" rIns="0" bIns="0">
            <a:spAutoFit/>
          </a:bodyPr>
          <a:lstStyle/>
          <a:p>
            <a:pPr algn="l"/>
            <a:r>
              <a:rPr sz="1800" b="1" i="1" u="none">
                <a:solidFill>
                  <a:srgbClr val="0B2B4E"/>
                </a:solidFill>
                <a:latin typeface="Calibri"/>
              </a:rPr>
              <a:t>P / MPV</a:t>
            </a:r>
          </a:p>
        </p:txBody>
      </p:sp>
      <p:sp>
        <p:nvSpPr>
          <p:cNvPr id="10" name="sdaxistitle:x"/>
          <p:cNvSpPr txBox="1"/>
          <p:nvPr/>
        </p:nvSpPr>
        <p:spPr>
          <a:xfrm>
            <a:off x="6406896" y="6035040"/>
            <a:ext cx="225551" cy="265176"/>
          </a:xfrm>
          <a:prstGeom prst="rect">
            <a:avLst/>
          </a:prstGeom>
          <a:noFill/>
        </p:spPr>
        <p:txBody>
          <a:bodyPr wrap="square" lIns="0" tIns="0" rIns="0" bIns="0">
            <a:spAutoFit/>
          </a:bodyPr>
          <a:lstStyle/>
          <a:p>
            <a:pPr algn="l"/>
            <a:r>
              <a:rPr sz="1800" b="1" i="1" u="none">
                <a:solidFill>
                  <a:srgbClr val="0B2B4E"/>
                </a:solidFill>
                <a:latin typeface="Calibri"/>
              </a:rPr>
              <a:t>Q</a:t>
            </a:r>
          </a:p>
        </p:txBody>
      </p:sp>
      <p:grpSp>
        <p:nvGrpSpPr>
          <p:cNvPr id="133" name="sdpair:sdreglab:fb4acb26"/>
          <p:cNvGrpSpPr/>
          <p:nvPr/>
        </p:nvGrpSpPr>
        <p:grpSpPr>
          <a:xfrm>
            <a:off x="1325880" y="2794731"/>
            <a:ext cx="639305" cy="3194589"/>
            <a:chOff x="1325880" y="2794731"/>
            <a:chExt cx="639305" cy="3194589"/>
          </a:xfrm>
        </p:grpSpPr>
        <p:sp>
          <p:nvSpPr>
            <p:cNvPr id="11" name="sdregion:fb4acb26"/>
            <p:cNvSpPr/>
            <p:nvPr/>
          </p:nvSpPr>
          <p:spPr>
            <a:xfrm>
              <a:off x="1325880" y="2794731"/>
              <a:ext cx="639305" cy="3194589"/>
            </a:xfrm>
            <a:custGeom>
              <a:avLst/>
              <a:gdLst/>
              <a:ahLst/>
              <a:cxnLst/>
              <a:rect l="0" t="0" r="r" b="b"/>
              <a:pathLst>
                <a:path w="639305" h="3194589">
                  <a:moveTo>
                    <a:pt x="0" y="0"/>
                  </a:moveTo>
                  <a:lnTo>
                    <a:pt x="0" y="3194589"/>
                  </a:lnTo>
                  <a:lnTo>
                    <a:pt x="639305" y="3194589"/>
                  </a:lnTo>
                  <a:lnTo>
                    <a:pt x="639305" y="0"/>
                  </a:lnTo>
                  <a:close/>
                </a:path>
              </a:pathLst>
            </a:custGeom>
            <a:solidFill>
              <a:srgbClr val="E09F3E">
                <a:alpha val="24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dreglab:fb4acb26"/>
            <p:cNvSpPr txBox="1"/>
            <p:nvPr/>
          </p:nvSpPr>
          <p:spPr>
            <a:xfrm>
              <a:off x="1356925" y="2888483"/>
              <a:ext cx="577215" cy="411480"/>
            </a:xfrm>
            <a:prstGeom prst="rect">
              <a:avLst/>
            </a:prstGeom>
            <a:noFill/>
          </p:spPr>
          <p:txBody>
            <a:bodyPr wrap="square" lIns="0" tIns="0" rIns="0" bIns="0">
              <a:spAutoFit/>
            </a:bodyPr>
            <a:lstStyle/>
            <a:p>
              <a:pPr algn="ctr"/>
              <a:r>
                <a:rPr sz="1200" b="1" i="0" u="none">
                  <a:solidFill>
                    <a:srgbClr val="0B2B4E"/>
                  </a:solidFill>
                  <a:latin typeface="Calibri"/>
                </a:rPr>
                <a:t>Version
1</a:t>
              </a:r>
            </a:p>
          </p:txBody>
        </p:sp>
      </p:grpSp>
      <p:sp>
        <p:nvSpPr>
          <p:cNvPr id="13" name="TextBox 12"/>
          <p:cNvSpPr txBox="1"/>
          <p:nvPr/>
        </p:nvSpPr>
        <p:spPr>
          <a:xfrm>
            <a:off x="1008125" y="2657571"/>
            <a:ext cx="244602" cy="274320"/>
          </a:xfrm>
          <a:prstGeom prst="rect">
            <a:avLst/>
          </a:prstGeom>
          <a:noFill/>
        </p:spPr>
        <p:txBody>
          <a:bodyPr wrap="square" lIns="0" tIns="0" rIns="0" bIns="0">
            <a:spAutoFit/>
          </a:bodyPr>
          <a:lstStyle/>
          <a:p>
            <a:pPr algn="r"/>
            <a:r>
              <a:rPr sz="1800" b="0" i="1" u="none">
                <a:solidFill>
                  <a:srgbClr val="0B2B4E"/>
                </a:solidFill>
                <a:latin typeface="Calibri"/>
              </a:rPr>
              <a:t>P₁</a:t>
            </a:r>
          </a:p>
        </p:txBody>
      </p:sp>
      <p:grpSp>
        <p:nvGrpSpPr>
          <p:cNvPr id="134" name="sdpair:sdreglab:49911e6d"/>
          <p:cNvGrpSpPr/>
          <p:nvPr/>
        </p:nvGrpSpPr>
        <p:grpSpPr>
          <a:xfrm>
            <a:off x="1965185" y="3358482"/>
            <a:ext cx="639305" cy="2630838"/>
            <a:chOff x="1965185" y="3358482"/>
            <a:chExt cx="639305" cy="2630838"/>
          </a:xfrm>
        </p:grpSpPr>
        <p:sp>
          <p:nvSpPr>
            <p:cNvPr id="14" name="sdregion:49911e6d"/>
            <p:cNvSpPr/>
            <p:nvPr/>
          </p:nvSpPr>
          <p:spPr>
            <a:xfrm>
              <a:off x="1965185" y="3358482"/>
              <a:ext cx="639305" cy="2630838"/>
            </a:xfrm>
            <a:custGeom>
              <a:avLst/>
              <a:gdLst/>
              <a:ahLst/>
              <a:cxnLst/>
              <a:rect l="0" t="0" r="r" b="b"/>
              <a:pathLst>
                <a:path w="639305" h="2630838">
                  <a:moveTo>
                    <a:pt x="0" y="0"/>
                  </a:moveTo>
                  <a:lnTo>
                    <a:pt x="0" y="2630838"/>
                  </a:lnTo>
                  <a:lnTo>
                    <a:pt x="639305" y="2630838"/>
                  </a:lnTo>
                  <a:lnTo>
                    <a:pt x="639305" y="0"/>
                  </a:lnTo>
                  <a:close/>
                </a:path>
              </a:pathLst>
            </a:custGeom>
            <a:solidFill>
              <a:srgbClr val="0B2B4E">
                <a:alpha val="16000"/>
              </a:srgb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sdreglab:49911e6d"/>
            <p:cNvSpPr txBox="1"/>
            <p:nvPr/>
          </p:nvSpPr>
          <p:spPr>
            <a:xfrm>
              <a:off x="1996230" y="3399383"/>
              <a:ext cx="577215" cy="411480"/>
            </a:xfrm>
            <a:prstGeom prst="rect">
              <a:avLst/>
            </a:prstGeom>
            <a:noFill/>
          </p:spPr>
          <p:txBody>
            <a:bodyPr wrap="square" lIns="0" tIns="0" rIns="0" bIns="0">
              <a:spAutoFit/>
            </a:bodyPr>
            <a:lstStyle/>
            <a:p>
              <a:pPr algn="ctr"/>
              <a:r>
                <a:rPr sz="1200" b="1" i="0" u="none">
                  <a:solidFill>
                    <a:srgbClr val="0B2B4E"/>
                  </a:solidFill>
                  <a:latin typeface="Calibri"/>
                </a:rPr>
                <a:t>Version
2</a:t>
              </a:r>
            </a:p>
          </p:txBody>
        </p:sp>
      </p:grpSp>
      <p:sp>
        <p:nvSpPr>
          <p:cNvPr id="16" name="TextBox 15"/>
          <p:cNvSpPr txBox="1"/>
          <p:nvPr/>
        </p:nvSpPr>
        <p:spPr>
          <a:xfrm>
            <a:off x="989075" y="3221322"/>
            <a:ext cx="263652" cy="274320"/>
          </a:xfrm>
          <a:prstGeom prst="rect">
            <a:avLst/>
          </a:prstGeom>
          <a:noFill/>
        </p:spPr>
        <p:txBody>
          <a:bodyPr wrap="square" lIns="0" tIns="0" rIns="0" bIns="0">
            <a:spAutoFit/>
          </a:bodyPr>
          <a:lstStyle/>
          <a:p>
            <a:pPr algn="r"/>
            <a:r>
              <a:rPr sz="1800" b="0" i="1" u="none">
                <a:solidFill>
                  <a:srgbClr val="0B2B4E"/>
                </a:solidFill>
                <a:latin typeface="Calibri"/>
              </a:rPr>
              <a:t>P₂</a:t>
            </a:r>
          </a:p>
        </p:txBody>
      </p:sp>
      <p:grpSp>
        <p:nvGrpSpPr>
          <p:cNvPr id="135" name="sdpair:sdreglab:2df34670"/>
          <p:cNvGrpSpPr/>
          <p:nvPr/>
        </p:nvGrpSpPr>
        <p:grpSpPr>
          <a:xfrm>
            <a:off x="2604490" y="3922233"/>
            <a:ext cx="639305" cy="2067087"/>
            <a:chOff x="2604490" y="3922233"/>
            <a:chExt cx="639305" cy="2067087"/>
          </a:xfrm>
        </p:grpSpPr>
        <p:sp>
          <p:nvSpPr>
            <p:cNvPr id="17" name="sdregion:2df34670"/>
            <p:cNvSpPr/>
            <p:nvPr/>
          </p:nvSpPr>
          <p:spPr>
            <a:xfrm>
              <a:off x="2604490" y="3922233"/>
              <a:ext cx="639305" cy="2067087"/>
            </a:xfrm>
            <a:custGeom>
              <a:avLst/>
              <a:gdLst/>
              <a:ahLst/>
              <a:cxnLst/>
              <a:rect l="0" t="0" r="r" b="b"/>
              <a:pathLst>
                <a:path w="639305" h="2067087">
                  <a:moveTo>
                    <a:pt x="0" y="0"/>
                  </a:moveTo>
                  <a:lnTo>
                    <a:pt x="0" y="2067087"/>
                  </a:lnTo>
                  <a:lnTo>
                    <a:pt x="639305" y="2067087"/>
                  </a:lnTo>
                  <a:lnTo>
                    <a:pt x="639305" y="0"/>
                  </a:lnTo>
                  <a:close/>
                </a:path>
              </a:pathLst>
            </a:custGeom>
            <a:solidFill>
              <a:srgbClr val="E09F3E">
                <a:alpha val="24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dreglab:2df34670"/>
            <p:cNvSpPr txBox="1"/>
            <p:nvPr/>
          </p:nvSpPr>
          <p:spPr>
            <a:xfrm>
              <a:off x="2635535" y="3974878"/>
              <a:ext cx="577215" cy="411480"/>
            </a:xfrm>
            <a:prstGeom prst="rect">
              <a:avLst/>
            </a:prstGeom>
            <a:noFill/>
          </p:spPr>
          <p:txBody>
            <a:bodyPr wrap="square" lIns="0" tIns="0" rIns="0" bIns="0">
              <a:spAutoFit/>
            </a:bodyPr>
            <a:lstStyle/>
            <a:p>
              <a:pPr algn="ctr"/>
              <a:r>
                <a:rPr sz="1200" b="1" i="0" u="none">
                  <a:solidFill>
                    <a:srgbClr val="0B2B4E"/>
                  </a:solidFill>
                  <a:latin typeface="Calibri"/>
                </a:rPr>
                <a:t>Version
3</a:t>
              </a:r>
            </a:p>
          </p:txBody>
        </p:sp>
      </p:grpSp>
      <p:sp>
        <p:nvSpPr>
          <p:cNvPr id="19" name="TextBox 18"/>
          <p:cNvSpPr txBox="1"/>
          <p:nvPr/>
        </p:nvSpPr>
        <p:spPr>
          <a:xfrm>
            <a:off x="989075" y="3785073"/>
            <a:ext cx="263652" cy="274320"/>
          </a:xfrm>
          <a:prstGeom prst="rect">
            <a:avLst/>
          </a:prstGeom>
          <a:noFill/>
        </p:spPr>
        <p:txBody>
          <a:bodyPr wrap="square" lIns="0" tIns="0" rIns="0" bIns="0">
            <a:spAutoFit/>
          </a:bodyPr>
          <a:lstStyle/>
          <a:p>
            <a:pPr algn="r"/>
            <a:r>
              <a:rPr sz="1800" b="0" i="1" u="none">
                <a:solidFill>
                  <a:srgbClr val="0B2B4E"/>
                </a:solidFill>
                <a:latin typeface="Calibri"/>
              </a:rPr>
              <a:t>P₃</a:t>
            </a:r>
          </a:p>
        </p:txBody>
      </p:sp>
      <p:grpSp>
        <p:nvGrpSpPr>
          <p:cNvPr id="136" name="sdpair:sdreglab:cf933b47"/>
          <p:cNvGrpSpPr/>
          <p:nvPr/>
        </p:nvGrpSpPr>
        <p:grpSpPr>
          <a:xfrm>
            <a:off x="3243795" y="4485984"/>
            <a:ext cx="639305" cy="1503336"/>
            <a:chOff x="3243795" y="4485984"/>
            <a:chExt cx="639305" cy="1503336"/>
          </a:xfrm>
        </p:grpSpPr>
        <p:sp>
          <p:nvSpPr>
            <p:cNvPr id="20" name="sdregion:cf933b47"/>
            <p:cNvSpPr/>
            <p:nvPr/>
          </p:nvSpPr>
          <p:spPr>
            <a:xfrm>
              <a:off x="3243795" y="4485984"/>
              <a:ext cx="639305" cy="1503336"/>
            </a:xfrm>
            <a:custGeom>
              <a:avLst/>
              <a:gdLst/>
              <a:ahLst/>
              <a:cxnLst/>
              <a:rect l="0" t="0" r="r" b="b"/>
              <a:pathLst>
                <a:path w="639305" h="1503336">
                  <a:moveTo>
                    <a:pt x="0" y="0"/>
                  </a:moveTo>
                  <a:lnTo>
                    <a:pt x="0" y="1503336"/>
                  </a:lnTo>
                  <a:lnTo>
                    <a:pt x="639305" y="1503336"/>
                  </a:lnTo>
                  <a:lnTo>
                    <a:pt x="639305" y="0"/>
                  </a:lnTo>
                  <a:close/>
                </a:path>
              </a:pathLst>
            </a:custGeom>
            <a:solidFill>
              <a:srgbClr val="0B2B4E">
                <a:alpha val="16000"/>
              </a:srgbClr>
            </a:solidFill>
            <a:ln w="12700">
              <a:solidFill>
                <a:srgbClr val="0B2B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sdreglab:cf933b47"/>
            <p:cNvSpPr txBox="1"/>
            <p:nvPr/>
          </p:nvSpPr>
          <p:spPr>
            <a:xfrm>
              <a:off x="3274840" y="4515140"/>
              <a:ext cx="577215" cy="411480"/>
            </a:xfrm>
            <a:prstGeom prst="rect">
              <a:avLst/>
            </a:prstGeom>
            <a:noFill/>
          </p:spPr>
          <p:txBody>
            <a:bodyPr wrap="square" lIns="0" tIns="0" rIns="0" bIns="0">
              <a:spAutoFit/>
            </a:bodyPr>
            <a:lstStyle/>
            <a:p>
              <a:pPr algn="ctr"/>
              <a:r>
                <a:rPr sz="1200" b="1" i="0" u="none">
                  <a:solidFill>
                    <a:srgbClr val="0B2B4E"/>
                  </a:solidFill>
                  <a:latin typeface="Calibri"/>
                </a:rPr>
                <a:t>Version
4</a:t>
              </a:r>
            </a:p>
          </p:txBody>
        </p:sp>
      </p:grpSp>
      <p:sp>
        <p:nvSpPr>
          <p:cNvPr id="22" name="TextBox 21"/>
          <p:cNvSpPr txBox="1"/>
          <p:nvPr/>
        </p:nvSpPr>
        <p:spPr>
          <a:xfrm>
            <a:off x="979550" y="4348824"/>
            <a:ext cx="273177" cy="274320"/>
          </a:xfrm>
          <a:prstGeom prst="rect">
            <a:avLst/>
          </a:prstGeom>
          <a:noFill/>
        </p:spPr>
        <p:txBody>
          <a:bodyPr wrap="square" lIns="0" tIns="0" rIns="0" bIns="0">
            <a:spAutoFit/>
          </a:bodyPr>
          <a:lstStyle/>
          <a:p>
            <a:pPr algn="r"/>
            <a:r>
              <a:rPr sz="1800" b="0" i="1" u="none">
                <a:solidFill>
                  <a:srgbClr val="0B2B4E"/>
                </a:solidFill>
                <a:latin typeface="Calibri"/>
              </a:rPr>
              <a:t>P₄</a:t>
            </a:r>
          </a:p>
        </p:txBody>
      </p:sp>
      <p:grpSp>
        <p:nvGrpSpPr>
          <p:cNvPr id="137" name="sdpair:sdreglab:da1b1026"/>
          <p:cNvGrpSpPr/>
          <p:nvPr/>
        </p:nvGrpSpPr>
        <p:grpSpPr>
          <a:xfrm>
            <a:off x="3883100" y="5049735"/>
            <a:ext cx="639305" cy="939585"/>
            <a:chOff x="3883100" y="5049735"/>
            <a:chExt cx="639305" cy="939585"/>
          </a:xfrm>
        </p:grpSpPr>
        <p:sp>
          <p:nvSpPr>
            <p:cNvPr id="23" name="sdregion:da1b1026"/>
            <p:cNvSpPr/>
            <p:nvPr/>
          </p:nvSpPr>
          <p:spPr>
            <a:xfrm>
              <a:off x="3883100" y="5049735"/>
              <a:ext cx="639305" cy="939585"/>
            </a:xfrm>
            <a:custGeom>
              <a:avLst/>
              <a:gdLst/>
              <a:ahLst/>
              <a:cxnLst/>
              <a:rect l="0" t="0" r="r" b="b"/>
              <a:pathLst>
                <a:path w="639305" h="939585">
                  <a:moveTo>
                    <a:pt x="0" y="0"/>
                  </a:moveTo>
                  <a:lnTo>
                    <a:pt x="0" y="939585"/>
                  </a:lnTo>
                  <a:lnTo>
                    <a:pt x="639305" y="939585"/>
                  </a:lnTo>
                  <a:lnTo>
                    <a:pt x="639305" y="0"/>
                  </a:lnTo>
                  <a:close/>
                </a:path>
              </a:pathLst>
            </a:custGeom>
            <a:solidFill>
              <a:srgbClr val="E09F3E">
                <a:alpha val="24000"/>
              </a:srgbClr>
            </a:solidFill>
            <a:ln w="12700">
              <a:solidFill>
                <a:srgbClr val="E09F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sdreglab:da1b1026"/>
            <p:cNvSpPr txBox="1"/>
            <p:nvPr/>
          </p:nvSpPr>
          <p:spPr>
            <a:xfrm>
              <a:off x="3914144" y="5313787"/>
              <a:ext cx="577215" cy="411480"/>
            </a:xfrm>
            <a:prstGeom prst="rect">
              <a:avLst/>
            </a:prstGeom>
            <a:noFill/>
          </p:spPr>
          <p:txBody>
            <a:bodyPr wrap="square" lIns="0" tIns="0" rIns="0" bIns="0">
              <a:spAutoFit/>
            </a:bodyPr>
            <a:lstStyle/>
            <a:p>
              <a:pPr algn="ctr"/>
              <a:r>
                <a:rPr sz="1200" b="1" i="0" u="none">
                  <a:solidFill>
                    <a:srgbClr val="0B2B4E"/>
                  </a:solidFill>
                  <a:latin typeface="Calibri"/>
                </a:rPr>
                <a:t>Version
5</a:t>
              </a:r>
            </a:p>
          </p:txBody>
        </p:sp>
      </p:grpSp>
      <p:sp>
        <p:nvSpPr>
          <p:cNvPr id="25" name="TextBox 24"/>
          <p:cNvSpPr txBox="1"/>
          <p:nvPr/>
        </p:nvSpPr>
        <p:spPr>
          <a:xfrm>
            <a:off x="989075" y="4912575"/>
            <a:ext cx="263652" cy="274320"/>
          </a:xfrm>
          <a:prstGeom prst="rect">
            <a:avLst/>
          </a:prstGeom>
          <a:noFill/>
        </p:spPr>
        <p:txBody>
          <a:bodyPr wrap="square" lIns="0" tIns="0" rIns="0" bIns="0">
            <a:spAutoFit/>
          </a:bodyPr>
          <a:lstStyle/>
          <a:p>
            <a:pPr algn="r"/>
            <a:r>
              <a:rPr sz="1800" b="0" i="1" u="none">
                <a:solidFill>
                  <a:srgbClr val="0B2B4E"/>
                </a:solidFill>
                <a:latin typeface="Calibri"/>
              </a:rPr>
              <a:t>P₅</a:t>
            </a:r>
          </a:p>
        </p:txBody>
      </p:sp>
      <p:grpSp>
        <p:nvGrpSpPr>
          <p:cNvPr id="34" name="Group 33">
            <a:extLst>
              <a:ext uri="{FF2B5EF4-FFF2-40B4-BE49-F238E27FC236}">
                <a16:creationId xmlns:a16="http://schemas.microsoft.com/office/drawing/2014/main" id="{F3B6E133-3FC1-9895-ECE5-0D7618A9ADAF}"/>
              </a:ext>
            </a:extLst>
          </p:cNvPr>
          <p:cNvGrpSpPr/>
          <p:nvPr/>
        </p:nvGrpSpPr>
        <p:grpSpPr>
          <a:xfrm>
            <a:off x="1325880" y="2230981"/>
            <a:ext cx="4363328" cy="3758339"/>
            <a:chOff x="1325880" y="2230981"/>
            <a:chExt cx="4363328" cy="3758339"/>
          </a:xfrm>
        </p:grpSpPr>
        <p:cxnSp>
          <p:nvCxnSpPr>
            <p:cNvPr id="26" name="Connector 25"/>
            <p:cNvCxnSpPr/>
            <p:nvPr/>
          </p:nvCxnSpPr>
          <p:spPr>
            <a:xfrm>
              <a:off x="1325880" y="2230981"/>
              <a:ext cx="4262033" cy="3758339"/>
            </a:xfrm>
            <a:prstGeom prst="line">
              <a:avLst/>
            </a:prstGeom>
            <a:ln w="34925">
              <a:solidFill>
                <a:srgbClr val="A2162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73181" y="5557447"/>
              <a:ext cx="216027" cy="292608"/>
            </a:xfrm>
            <a:prstGeom prst="rect">
              <a:avLst/>
            </a:prstGeom>
            <a:noFill/>
          </p:spPr>
          <p:txBody>
            <a:bodyPr wrap="square" lIns="0" tIns="0" rIns="0" bIns="0">
              <a:spAutoFit/>
            </a:bodyPr>
            <a:lstStyle/>
            <a:p>
              <a:pPr algn="l"/>
              <a:r>
                <a:rPr sz="1700" b="1" i="1" u="none" dirty="0">
                  <a:solidFill>
                    <a:srgbClr val="A2162A"/>
                  </a:solidFill>
                  <a:latin typeface="Calibri"/>
                </a:rPr>
                <a:t>D</a:t>
              </a:r>
            </a:p>
          </p:txBody>
        </p:sp>
      </p:grpSp>
      <p:pic>
        <p:nvPicPr>
          <p:cNvPr id="28" name="Picture 27" descr="NV_s48_new.png"/>
          <p:cNvPicPr>
            <a:picLocks noChangeAspect="1"/>
          </p:cNvPicPr>
          <p:nvPr/>
        </p:nvPicPr>
        <p:blipFill>
          <a:blip r:embed="rId3"/>
          <a:stretch>
            <a:fillRect/>
          </a:stretch>
        </p:blipFill>
        <p:spPr>
          <a:xfrm>
            <a:off x="6135624" y="1271016"/>
            <a:ext cx="5084064" cy="2352819"/>
          </a:xfrm>
          <a:prstGeom prst="roundRect">
            <a:avLst>
              <a:gd name="adj" fmla="val 8000"/>
            </a:avLst>
          </a:prstGeom>
          <a:effectLst>
            <a:outerShdw blurRad="50800" dist="38100" dir="2700000" algn="tl" rotWithShape="0">
              <a:srgbClr val="000000">
                <a:alpha val="50000"/>
              </a:srgbClr>
            </a:outerShdw>
          </a:effectLst>
        </p:spPr>
      </p:pic>
      <p:sp>
        <p:nvSpPr>
          <p:cNvPr id="29" name="TextBox 28"/>
          <p:cNvSpPr txBox="1"/>
          <p:nvPr/>
        </p:nvSpPr>
        <p:spPr>
          <a:xfrm>
            <a:off x="6400800" y="3886200"/>
            <a:ext cx="5394960" cy="2011680"/>
          </a:xfrm>
          <a:prstGeom prst="rect">
            <a:avLst/>
          </a:prstGeom>
          <a:noFill/>
        </p:spPr>
        <p:txBody>
          <a:bodyPr wrap="square" lIns="0" tIns="0" rIns="0" bIns="0">
            <a:noAutofit/>
          </a:bodyPr>
          <a:lstStyle>
            <a:lvl1pPr marL="342900" indent="-342900">
              <a:spcBef>
                <a:spcPts val="18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a:latin typeface="Calibri"/>
              </a:rPr>
              <a:t>Create different “versions” of your product</a:t>
            </a:r>
          </a:p>
          <a:p>
            <a:pPr algn="l"/>
            <a:r>
              <a:rPr>
                <a:latin typeface="Calibri"/>
              </a:rPr>
              <a:t>Design them so that customers with different MPV “self-select” into the version you intend for them</a:t>
            </a:r>
          </a:p>
        </p:txBody>
      </p:sp>
      <p:sp>
        <p:nvSpPr>
          <p:cNvPr id="30" name="Rectangle 2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33" name="TextBox 32"/>
          <p:cNvSpPr txBox="1"/>
          <p:nvPr/>
        </p:nvSpPr>
        <p:spPr>
          <a:xfrm>
            <a:off x="11475720" y="6583680"/>
            <a:ext cx="502920" cy="292608"/>
          </a:xfrm>
          <a:prstGeom prst="rect">
            <a:avLst/>
          </a:prstGeom>
          <a:noFill/>
        </p:spPr>
        <p:txBody>
          <a:bodyPr wrap="none" lIns="0" tIns="0" rIns="0" bIns="0">
            <a:spAutoFit/>
          </a:bodyPr>
          <a:lstStyle/>
          <a:p>
            <a:pPr algn="r"/>
            <a:fld id="{19C17247-4565-5EF9-866A-6E593B231199}" type="slidenum">
              <a:rPr lang="en-US" sz="1200" dirty="0">
                <a:solidFill>
                  <a:srgbClr val="555B66"/>
                </a:solidFill>
                <a:latin typeface="Calibri"/>
              </a:rPr>
              <a:t>4</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fade">
                                      <p:cBhvr>
                                        <p:cTn id="11" dur="500"/>
                                        <p:tgtEl>
                                          <p:spTgt spid="133"/>
                                        </p:tgtEl>
                                      </p:cBhvr>
                                    </p:animEffect>
                                  </p:childTnLst>
                                </p:cTn>
                              </p:par>
                              <p:par>
                                <p:cTn id="12" presetID="10" presetClass="entr" presetSubtype="0"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34"/>
                                        </p:tgtEl>
                                        <p:attrNameLst>
                                          <p:attrName>style.visibility</p:attrName>
                                        </p:attrNameLst>
                                      </p:cBhvr>
                                      <p:to>
                                        <p:strVal val="visible"/>
                                      </p:to>
                                    </p:set>
                                    <p:animEffect transition="in" filter="fade">
                                      <p:cBhvr>
                                        <p:cTn id="19" dur="500"/>
                                        <p:tgtEl>
                                          <p:spTgt spid="134"/>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35"/>
                                        </p:tgtEl>
                                        <p:attrNameLst>
                                          <p:attrName>style.visibility</p:attrName>
                                        </p:attrNameLst>
                                      </p:cBhvr>
                                      <p:to>
                                        <p:strVal val="visible"/>
                                      </p:to>
                                    </p:set>
                                    <p:animEffect transition="in" filter="fade">
                                      <p:cBhvr>
                                        <p:cTn id="27" dur="500"/>
                                        <p:tgtEl>
                                          <p:spTgt spid="135"/>
                                        </p:tgtEl>
                                      </p:cBhvr>
                                    </p:animEffect>
                                  </p:childTnLst>
                                </p:cTn>
                              </p:par>
                              <p:par>
                                <p:cTn id="28" presetID="10" presetClass="entr" presetSubtype="0" fill="hold"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500"/>
                                        <p:tgtEl>
                                          <p:spTgt spid="1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36"/>
                                        </p:tgtEl>
                                        <p:attrNameLst>
                                          <p:attrName>style.visibility</p:attrName>
                                        </p:attrNameLst>
                                      </p:cBhvr>
                                      <p:to>
                                        <p:strVal val="visible"/>
                                      </p:to>
                                    </p:set>
                                    <p:animEffect transition="in" filter="fade">
                                      <p:cBhvr>
                                        <p:cTn id="35" dur="500"/>
                                        <p:tgtEl>
                                          <p:spTgt spid="136"/>
                                        </p:tgtEl>
                                      </p:cBhvr>
                                    </p:animEffect>
                                  </p:childTnLst>
                                </p:cTn>
                              </p:par>
                              <p:par>
                                <p:cTn id="36" presetID="10" presetClass="entr" presetSubtype="0"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7"/>
                                        </p:tgtEl>
                                        <p:attrNameLst>
                                          <p:attrName>style.visibility</p:attrName>
                                        </p:attrNameLst>
                                      </p:cBhvr>
                                      <p:to>
                                        <p:strVal val="visible"/>
                                      </p:to>
                                    </p:set>
                                    <p:animEffect transition="in" filter="fade">
                                      <p:cBhvr>
                                        <p:cTn id="43" dur="500"/>
                                        <p:tgtEl>
                                          <p:spTgt spid="137"/>
                                        </p:tgtEl>
                                      </p:cBhvr>
                                    </p:animEffect>
                                  </p:childTnLst>
                                </p:cTn>
                              </p:par>
                              <p:par>
                                <p:cTn id="44" presetID="10" presetClass="entr" presetSubtype="0" fill="hold"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500"/>
                                        <p:tgtEl>
                                          <p:spTgt spid="2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9">
                                            <p:txEl>
                                              <p:pRg st="1" end="1"/>
                                            </p:txEl>
                                          </p:spTgt>
                                        </p:tgtEl>
                                        <p:attrNameLst>
                                          <p:attrName>style.visibility</p:attrName>
                                        </p:attrNameLst>
                                      </p:cBhvr>
                                      <p:to>
                                        <p:strVal val="visible"/>
                                      </p:to>
                                    </p:set>
                                    <p:animEffect transition="in" filter="fade">
                                      <p:cBhvr>
                                        <p:cTn id="51" dur="500"/>
                                        <p:tgtEl>
                                          <p:spTgt spid="2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5 · Indirect Price Discrimination (Second Degree)</a:t>
            </a:r>
          </a:p>
        </p:txBody>
      </p:sp>
      <p:sp>
        <p:nvSpPr>
          <p:cNvPr id="4" name="TextBox 3"/>
          <p:cNvSpPr txBox="1"/>
          <p:nvPr/>
        </p:nvSpPr>
        <p:spPr>
          <a:xfrm>
            <a:off x="251999" y="502920"/>
            <a:ext cx="11687697" cy="492443"/>
          </a:xfrm>
          <a:prstGeom prst="rect">
            <a:avLst/>
          </a:prstGeom>
          <a:noFill/>
        </p:spPr>
        <p:txBody>
          <a:bodyPr wrap="square" lIns="0" tIns="0" rIns="0" bIns="0">
            <a:spAutoFit/>
          </a:bodyPr>
          <a:lstStyle/>
          <a:p>
            <a:pPr algn="l"/>
            <a:r>
              <a:rPr sz="3200" b="1" i="0" u="none" dirty="0">
                <a:solidFill>
                  <a:srgbClr val="0B2B4E"/>
                </a:solidFill>
                <a:latin typeface="Calibri"/>
              </a:rPr>
              <a:t>Examples for Versioning</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1999" y="1463040"/>
            <a:ext cx="6565392" cy="4892040"/>
          </a:xfrm>
          <a:prstGeom prst="rect">
            <a:avLst/>
          </a:prstGeom>
          <a:noFill/>
        </p:spPr>
        <p:txBody>
          <a:bodyPr wrap="square" lIns="0" tIns="0" rIns="0" bIns="0" anchor="ctr">
            <a:noAutofit/>
          </a:bodyPr>
          <a:lstStyle>
            <a:lvl1pPr marL="342900" indent="-342900">
              <a:spcBef>
                <a:spcPts val="1300"/>
              </a:spcBef>
              <a:buClr>
                <a:srgbClr val="0B2B4E"/>
              </a:buClr>
              <a:buFont typeface="Calibri"/>
              <a:buChar char="▪"/>
              <a:defRPr sz="2500" b="0">
                <a:solidFill>
                  <a:srgbClr val="0B2B4E"/>
                </a:solidFill>
                <a:latin typeface="Calibri"/>
              </a:defRPr>
            </a:lvl1pPr>
            <a:lvl2pPr marL="685800" indent="-228600">
              <a:spcBef>
                <a:spcPts val="300"/>
              </a:spcBef>
              <a:buClr>
                <a:srgbClr val="555B66"/>
              </a:buClr>
              <a:buFont typeface="Calibri"/>
              <a:buChar char="–"/>
              <a:defRPr sz="2300" b="0">
                <a:solidFill>
                  <a:srgbClr val="555B66"/>
                </a:solidFill>
                <a:latin typeface="Calibri"/>
              </a:defRPr>
            </a:lvl2pPr>
          </a:lstStyle>
          <a:p>
            <a:pPr algn="l"/>
            <a:r>
              <a:rPr dirty="0">
                <a:latin typeface="Calibri"/>
              </a:rPr>
              <a:t>Internet service: higher speed at a higher price</a:t>
            </a:r>
          </a:p>
          <a:p>
            <a:pPr algn="l"/>
            <a:r>
              <a:rPr dirty="0">
                <a:latin typeface="Calibri"/>
              </a:rPr>
              <a:t>FedEx/UPS: ground vs. same-day delivery</a:t>
            </a:r>
          </a:p>
          <a:p>
            <a:pPr algn="l"/>
            <a:r>
              <a:rPr dirty="0">
                <a:latin typeface="Calibri"/>
              </a:rPr>
              <a:t>Airlines: business / premium economy / economy</a:t>
            </a:r>
          </a:p>
          <a:p>
            <a:pPr algn="l"/>
            <a:r>
              <a:rPr dirty="0">
                <a:latin typeface="Calibri"/>
              </a:rPr>
              <a:t>Important note on versioning: keep the low-quality option inferior enough to prevent premium customers from being tempted</a:t>
            </a:r>
          </a:p>
          <a:p>
            <a:pPr lvl="1" algn="l"/>
            <a:r>
              <a:rPr dirty="0">
                <a:latin typeface="Calibri"/>
              </a:rPr>
              <a:t>This ensures </a:t>
            </a:r>
            <a:r>
              <a:rPr dirty="0">
                <a:solidFill>
                  <a:srgbClr val="C00000"/>
                </a:solidFill>
                <a:latin typeface="Calibri"/>
              </a:rPr>
              <a:t>“incentive-compatibility”</a:t>
            </a:r>
          </a:p>
          <a:p>
            <a:pPr lvl="1" algn="l"/>
            <a:r>
              <a:rPr dirty="0">
                <a:latin typeface="Calibri"/>
              </a:rPr>
              <a:t>So you don’t need to worry about resales</a:t>
            </a:r>
          </a:p>
        </p:txBody>
      </p:sp>
      <p:pic>
        <p:nvPicPr>
          <p:cNvPr id="8" name="Picture 7" descr="NV_s52_a.png"/>
          <p:cNvPicPr>
            <a:picLocks noChangeAspect="1"/>
          </p:cNvPicPr>
          <p:nvPr/>
        </p:nvPicPr>
        <p:blipFill>
          <a:blip r:embed="rId3"/>
          <a:stretch>
            <a:fillRect/>
          </a:stretch>
        </p:blipFill>
        <p:spPr>
          <a:xfrm>
            <a:off x="6912864" y="1298448"/>
            <a:ext cx="4809744" cy="1472457"/>
          </a:xfrm>
          <a:prstGeom prst="roundRect">
            <a:avLst>
              <a:gd name="adj" fmla="val 8000"/>
            </a:avLst>
          </a:prstGeom>
          <a:effectLst>
            <a:outerShdw blurRad="50800" dist="38100" dir="2700000" algn="tl" rotWithShape="0">
              <a:srgbClr val="000000">
                <a:alpha val="50000"/>
              </a:srgbClr>
            </a:outerShdw>
          </a:effectLst>
        </p:spPr>
      </p:pic>
      <p:pic>
        <p:nvPicPr>
          <p:cNvPr id="9" name="Picture 8" descr="NV_s52_b.png"/>
          <p:cNvPicPr>
            <a:picLocks noChangeAspect="1"/>
          </p:cNvPicPr>
          <p:nvPr/>
        </p:nvPicPr>
        <p:blipFill>
          <a:blip r:embed="rId4"/>
          <a:stretch>
            <a:fillRect/>
          </a:stretch>
        </p:blipFill>
        <p:spPr>
          <a:xfrm>
            <a:off x="8485632" y="3017520"/>
            <a:ext cx="3090672" cy="3345048"/>
          </a:xfrm>
          <a:prstGeom prst="roundRect">
            <a:avLst>
              <a:gd name="adj" fmla="val 8000"/>
            </a:avLst>
          </a:prstGeom>
          <a:effectLst>
            <a:outerShdw blurRad="50800" dist="38100" dir="2700000" algn="tl" rotWithShape="0">
              <a:srgbClr val="000000">
                <a:alpha val="50000"/>
              </a:srgbClr>
            </a:outerShdw>
          </a:effectLst>
        </p:spPr>
      </p:pic>
      <p:sp>
        <p:nvSpPr>
          <p:cNvPr id="10" name="Rectangle 9"/>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3" name="TextBox 12"/>
          <p:cNvSpPr txBox="1"/>
          <p:nvPr/>
        </p:nvSpPr>
        <p:spPr>
          <a:xfrm>
            <a:off x="11475720" y="6583680"/>
            <a:ext cx="502920" cy="292608"/>
          </a:xfrm>
          <a:prstGeom prst="rect">
            <a:avLst/>
          </a:prstGeom>
          <a:noFill/>
        </p:spPr>
        <p:txBody>
          <a:bodyPr wrap="none" lIns="0" tIns="0" rIns="0" bIns="0">
            <a:spAutoFit/>
          </a:bodyPr>
          <a:lstStyle/>
          <a:p>
            <a:pPr algn="r"/>
            <a:fld id="{88267FBA-0D55-5805-AC0F-6C0CD68EDD40}" type="slidenum">
              <a:rPr lang="en-US" sz="1200" dirty="0">
                <a:solidFill>
                  <a:srgbClr val="555B66"/>
                </a:solidFill>
                <a:latin typeface="Calibri"/>
              </a:rPr>
              <a:t>5</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84048"/>
          </a:xfrm>
          <a:prstGeom prst="rect">
            <a:avLst/>
          </a:prstGeom>
          <a:solidFill>
            <a:srgbClr val="0B2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51999" y="0"/>
            <a:ext cx="10972800" cy="384048"/>
          </a:xfrm>
          <a:prstGeom prst="rect">
            <a:avLst/>
          </a:prstGeom>
          <a:noFill/>
        </p:spPr>
        <p:txBody>
          <a:bodyPr wrap="square" lIns="0" tIns="0" rIns="0" bIns="0" anchor="ctr">
            <a:spAutoFit/>
          </a:bodyPr>
          <a:lstStyle/>
          <a:p>
            <a:pPr algn="l"/>
            <a:r>
              <a:rPr sz="1600" b="1" i="0" u="none">
                <a:solidFill>
                  <a:srgbClr val="FFFFFF"/>
                </a:solidFill>
                <a:latin typeface="Calibri"/>
              </a:rPr>
              <a:t>Module 6 · Video 5 · Indirect Price Discrimination (Second Degree)</a:t>
            </a:r>
          </a:p>
        </p:txBody>
      </p:sp>
      <p:sp>
        <p:nvSpPr>
          <p:cNvPr id="4" name="TextBox 3"/>
          <p:cNvSpPr txBox="1"/>
          <p:nvPr/>
        </p:nvSpPr>
        <p:spPr>
          <a:xfrm>
            <a:off x="251999" y="502920"/>
            <a:ext cx="11687697" cy="640080"/>
          </a:xfrm>
          <a:prstGeom prst="rect">
            <a:avLst/>
          </a:prstGeom>
          <a:noFill/>
        </p:spPr>
        <p:txBody>
          <a:bodyPr wrap="square" lIns="0" tIns="0" rIns="0" bIns="0">
            <a:spAutoFit/>
          </a:bodyPr>
          <a:lstStyle/>
          <a:p>
            <a:pPr algn="l"/>
            <a:r>
              <a:rPr sz="3200" b="1" i="0" u="none">
                <a:solidFill>
                  <a:srgbClr val="0B2B4E"/>
                </a:solidFill>
                <a:latin typeface="Calibri"/>
              </a:rPr>
              <a:t>Second-Degree Price Discrimination: Coupons</a:t>
            </a:r>
          </a:p>
        </p:txBody>
      </p:sp>
      <p:sp>
        <p:nvSpPr>
          <p:cNvPr id="5" name="Rectangle 4"/>
          <p:cNvSpPr/>
          <p:nvPr/>
        </p:nvSpPr>
        <p:spPr>
          <a:xfrm>
            <a:off x="251999" y="1143000"/>
            <a:ext cx="11687697"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51999" y="112928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NV_s42_2_9aea62c3.png"/>
          <p:cNvPicPr>
            <a:picLocks noChangeAspect="1"/>
          </p:cNvPicPr>
          <p:nvPr/>
        </p:nvPicPr>
        <p:blipFill>
          <a:blip r:embed="rId3"/>
          <a:stretch>
            <a:fillRect/>
          </a:stretch>
        </p:blipFill>
        <p:spPr>
          <a:xfrm>
            <a:off x="960120" y="1508760"/>
            <a:ext cx="4023360" cy="2287253"/>
          </a:xfrm>
          <a:prstGeom prst="roundRect">
            <a:avLst>
              <a:gd name="adj" fmla="val 8000"/>
            </a:avLst>
          </a:prstGeom>
          <a:effectLst>
            <a:outerShdw blurRad="50800" dist="38100" dir="2700000" algn="tl" rotWithShape="0">
              <a:srgbClr val="000000">
                <a:alpha val="50000"/>
              </a:srgbClr>
            </a:outerShdw>
          </a:effectLst>
        </p:spPr>
      </p:pic>
      <p:pic>
        <p:nvPicPr>
          <p:cNvPr id="8" name="Picture 7" descr="NV_s42_3_93673a62.png"/>
          <p:cNvPicPr>
            <a:picLocks noChangeAspect="1"/>
          </p:cNvPicPr>
          <p:nvPr/>
        </p:nvPicPr>
        <p:blipFill>
          <a:blip r:embed="rId4"/>
          <a:stretch>
            <a:fillRect/>
          </a:stretch>
        </p:blipFill>
        <p:spPr>
          <a:xfrm>
            <a:off x="5806440" y="1508760"/>
            <a:ext cx="2194560" cy="1611824"/>
          </a:xfrm>
          <a:prstGeom prst="roundRect">
            <a:avLst>
              <a:gd name="adj" fmla="val 8000"/>
            </a:avLst>
          </a:prstGeom>
          <a:effectLst>
            <a:outerShdw blurRad="50800" dist="38100" dir="2700000" algn="tl" rotWithShape="0">
              <a:srgbClr val="000000">
                <a:alpha val="50000"/>
              </a:srgbClr>
            </a:outerShdw>
          </a:effectLst>
        </p:spPr>
      </p:pic>
      <p:pic>
        <p:nvPicPr>
          <p:cNvPr id="9" name="Picture 8" descr="NV_s42_4_94c45bea.png"/>
          <p:cNvPicPr>
            <a:picLocks noChangeAspect="1"/>
          </p:cNvPicPr>
          <p:nvPr/>
        </p:nvPicPr>
        <p:blipFill>
          <a:blip r:embed="rId5"/>
          <a:stretch>
            <a:fillRect/>
          </a:stretch>
        </p:blipFill>
        <p:spPr>
          <a:xfrm>
            <a:off x="8549640" y="1508760"/>
            <a:ext cx="2194560" cy="1659636"/>
          </a:xfrm>
          <a:prstGeom prst="roundRect">
            <a:avLst>
              <a:gd name="adj" fmla="val 8000"/>
            </a:avLst>
          </a:prstGeom>
          <a:effectLst>
            <a:outerShdw blurRad="50800" dist="38100" dir="2700000" algn="tl" rotWithShape="0">
              <a:srgbClr val="000000">
                <a:alpha val="50000"/>
              </a:srgbClr>
            </a:outerShdw>
          </a:effectLst>
        </p:spPr>
      </p:pic>
      <p:sp>
        <p:nvSpPr>
          <p:cNvPr id="10" name="TextBox 9"/>
          <p:cNvSpPr txBox="1"/>
          <p:nvPr/>
        </p:nvSpPr>
        <p:spPr>
          <a:xfrm>
            <a:off x="777240" y="4160520"/>
            <a:ext cx="10607040" cy="1371600"/>
          </a:xfrm>
          <a:prstGeom prst="rect">
            <a:avLst/>
          </a:prstGeom>
          <a:noFill/>
        </p:spPr>
        <p:txBody>
          <a:bodyPr wrap="square" lIns="0" tIns="0" rIns="0" bIns="0">
            <a:noAutofit/>
          </a:bodyPr>
          <a:lstStyle>
            <a:lvl1pPr marL="342900" indent="-342900">
              <a:spcBef>
                <a:spcPts val="1600"/>
              </a:spcBef>
              <a:buClr>
                <a:srgbClr val="0B2B4E"/>
              </a:buClr>
              <a:buFont typeface="Calibri"/>
              <a:buChar char="▪"/>
              <a:defRPr sz="2100" b="0">
                <a:solidFill>
                  <a:srgbClr val="0B2B4E"/>
                </a:solidFill>
                <a:latin typeface="Calibri"/>
              </a:defRPr>
            </a:lvl1pPr>
            <a:lvl2pPr marL="685800" indent="-228600">
              <a:spcBef>
                <a:spcPts val="300"/>
              </a:spcBef>
              <a:buClr>
                <a:srgbClr val="555B66"/>
              </a:buClr>
              <a:buFont typeface="Calibri"/>
              <a:buChar char="–"/>
              <a:defRPr sz="1700" b="0">
                <a:solidFill>
                  <a:srgbClr val="555B66"/>
                </a:solidFill>
                <a:latin typeface="Calibri"/>
              </a:defRPr>
            </a:lvl2pPr>
          </a:lstStyle>
          <a:p>
            <a:pPr algn="l"/>
            <a:r>
              <a:rPr dirty="0">
                <a:latin typeface="Calibri"/>
              </a:rPr>
              <a:t>Clipping a coupon costs time, and price-sensitive customers</a:t>
            </a:r>
            <a:r>
              <a:rPr lang="en-US" dirty="0">
                <a:latin typeface="Calibri"/>
              </a:rPr>
              <a:t> care less about time</a:t>
            </a:r>
            <a:endParaRPr dirty="0">
              <a:latin typeface="Calibri"/>
            </a:endParaRPr>
          </a:p>
          <a:p>
            <a:pPr algn="l"/>
            <a:r>
              <a:rPr dirty="0">
                <a:latin typeface="Calibri"/>
              </a:rPr>
              <a:t>So the discount reaches exactly the customers who would not have paid full price</a:t>
            </a:r>
          </a:p>
        </p:txBody>
      </p:sp>
      <p:sp>
        <p:nvSpPr>
          <p:cNvPr id="11" name="Rounded Rectangle 10"/>
          <p:cNvSpPr/>
          <p:nvPr/>
        </p:nvSpPr>
        <p:spPr>
          <a:xfrm>
            <a:off x="3616452" y="5705856"/>
            <a:ext cx="4928616" cy="475488"/>
          </a:xfrm>
          <a:prstGeom prst="roundRect">
            <a:avLst>
              <a:gd name="adj" fmla="val 16000"/>
            </a:avLst>
          </a:prstGeom>
          <a:solidFill>
            <a:srgbClr val="0B2B4E"/>
          </a:solidFill>
          <a:ln>
            <a:noFill/>
          </a:ln>
          <a:effectLst>
            <a:outerShdw blurRad="50800" dist="381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000" b="1">
                <a:solidFill>
                  <a:srgbClr val="FFFFFF"/>
                </a:solidFill>
                <a:latin typeface="Calibri"/>
              </a:rPr>
              <a:t>Coupons ensure incentive-compatibility</a:t>
            </a:r>
          </a:p>
        </p:txBody>
      </p:sp>
      <p:sp>
        <p:nvSpPr>
          <p:cNvPr id="12" name="Rectangle 11"/>
          <p:cNvSpPr/>
          <p:nvPr/>
        </p:nvSpPr>
        <p:spPr>
          <a:xfrm>
            <a:off x="0" y="6537960"/>
            <a:ext cx="12191695" cy="18288"/>
          </a:xfrm>
          <a:prstGeom prst="rect">
            <a:avLst/>
          </a:prstGeom>
          <a:solidFill>
            <a:srgbClr val="C8CD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51999" y="6524244"/>
            <a:ext cx="2011680" cy="45720"/>
          </a:xfrm>
          <a:prstGeom prst="rect">
            <a:avLst/>
          </a:prstGeom>
          <a:solidFill>
            <a:srgbClr val="E09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999" y="6583680"/>
            <a:ext cx="10058400" cy="292608"/>
          </a:xfrm>
          <a:prstGeom prst="rect">
            <a:avLst/>
          </a:prstGeom>
          <a:noFill/>
        </p:spPr>
        <p:txBody>
          <a:bodyPr wrap="square" lIns="0" tIns="0" rIns="0" bIns="0">
            <a:spAutoFit/>
          </a:bodyPr>
          <a:lstStyle/>
          <a:p>
            <a:pPr algn="l"/>
            <a:r>
              <a:rPr sz="1200" b="0" i="0" u="none">
                <a:solidFill>
                  <a:srgbClr val="555B66"/>
                </a:solidFill>
                <a:latin typeface="Calibri"/>
              </a:rPr>
              <a:t>Management 405  ·  Module 6  ·  Complex Pricing and Advanced Pricing Strategies</a:t>
            </a:r>
          </a:p>
        </p:txBody>
      </p:sp>
      <p:sp>
        <p:nvSpPr>
          <p:cNvPr id="15" name="TextBox 14"/>
          <p:cNvSpPr txBox="1"/>
          <p:nvPr/>
        </p:nvSpPr>
        <p:spPr>
          <a:xfrm>
            <a:off x="11475720" y="6583680"/>
            <a:ext cx="502920" cy="292608"/>
          </a:xfrm>
          <a:prstGeom prst="rect">
            <a:avLst/>
          </a:prstGeom>
          <a:noFill/>
        </p:spPr>
        <p:txBody>
          <a:bodyPr wrap="none" lIns="0" tIns="0" rIns="0" bIns="0">
            <a:spAutoFit/>
          </a:bodyPr>
          <a:lstStyle/>
          <a:p>
            <a:pPr algn="r"/>
            <a:fld id="{47E09EE4-0FC8-5620-AA5C-342E46D91750}" type="slidenum">
              <a:rPr lang="en-US" sz="1200" dirty="0">
                <a:solidFill>
                  <a:srgbClr val="555B66"/>
                </a:solidFill>
                <a:latin typeface="Calibri"/>
              </a:rPr>
              <a:t>6</a:t>
            </a:fld>
            <a:endParaRPr lang="en-US" sz="1200" dirty="0">
              <a:solidFill>
                <a:srgbClr val="555B66"/>
              </a:solidFill>
              <a:latin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894</Words>
  <Application>Microsoft Office PowerPoint</Application>
  <PresentationFormat>Widescreen</PresentationFormat>
  <Paragraphs>94</Paragraphs>
  <Slides>6</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Voigtlaender, Nico</cp:lastModifiedBy>
  <cp:revision>15</cp:revision>
  <dcterms:created xsi:type="dcterms:W3CDTF">2013-01-27T09:14:16Z</dcterms:created>
  <dcterms:modified xsi:type="dcterms:W3CDTF">2026-09-24T00:02:53Z</dcterms:modified>
  <cp:category/>
</cp:coreProperties>
</file>