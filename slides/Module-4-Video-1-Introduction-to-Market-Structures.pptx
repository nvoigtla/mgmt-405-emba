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05D57-B5B1-42E8-9F79-99CE7754156E}"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9474-3F6C-4F5A-AEB7-943304FF46E0}" type="slidenum">
              <a:rPr lang="en-US" smtClean="0"/>
              <a:t>‹#›</a:t>
            </a:fld>
            <a:endParaRPr lang="en-US"/>
          </a:p>
        </p:txBody>
      </p:sp>
    </p:spTree>
    <p:extLst>
      <p:ext uri="{BB962C8B-B14F-4D97-AF65-F5344CB8AC3E}">
        <p14:creationId xmlns:p14="http://schemas.microsoft.com/office/powerpoint/2010/main" val="196977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start thinking about a firm’s competitive environment or market structure. We categorize market structure using three characteristics:</a:t>
            </a:r>
          </a:p>
          <a:p>
            <a:endParaRPr/>
          </a:p>
          <a:p>
            <a:r>
              <a:t>1. Number of firms: in general, when there are more companies in the market, the market is more competitive.</a:t>
            </a:r>
          </a:p>
          <a:p>
            <a:r>
              <a:t>2. Whether the consumer cares which company made the good: are the goods identical or can the consumer distinguish who made the good? In general, if goods are closer to identical, the market is more competitive.</a:t>
            </a:r>
          </a:p>
          <a:p>
            <a:r>
              <a:t>3. Barriers to entry: if new firms can enter the market easily, the market is more competitive.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Extent of market power. The spectrum runs from price taker (today’s topic) to price searchers with increasing degrees of market power (subject of subsequent sessions): </a:t>
            </a:r>
          </a:p>
          <a:p>
            <a:r>
              <a:t> </a:t>
            </a:r>
          </a:p>
          <a:p>
            <a:r>
              <a:t>A perfectly competitive firm has no market power; it has such a small percentage of the market that it can exert no effect on price. </a:t>
            </a:r>
          </a:p>
          <a:p>
            <a:r>
              <a:t> </a:t>
            </a:r>
          </a:p>
          <a:p>
            <a:r>
              <a:t>A monopolistically competitive firm, such as gas stations and restaurants, offers a differentiated product and thus faces a downward sloping demand curve – offerings of other firms are not perfect substitutes. There is still intense competition because the products can substitute for each other so the elasticity of demand facing each firm tends to be high. Free entry drives long-run profits to zero.</a:t>
            </a:r>
          </a:p>
          <a:p>
            <a:r>
              <a:t> </a:t>
            </a:r>
          </a:p>
          <a:p>
            <a:r>
              <a:t>Oligopolistic markets are cases of few firms. For example, a duopoly is a special case of an oligopoly with only 2 firms. Interesting strategic issues arise here as you need to think hard about your rivals’ response to your firm’s behavior. Entry may be limited.</a:t>
            </a:r>
          </a:p>
          <a:p>
            <a:r>
              <a:t> </a:t>
            </a:r>
          </a:p>
          <a:p>
            <a:r>
              <a:t>Monopolistic markets are markets with only one seller, such as utilities in most cities (legal monopoly) or Microsoft (quasi-monopoly, due to demand-side economies of scale, i.e. network effects).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1920240"/>
            <a:ext cx="11687697" cy="914400"/>
          </a:xfrm>
          <a:prstGeom prst="rect">
            <a:avLst/>
          </a:prstGeom>
          <a:noFill/>
        </p:spPr>
        <p:txBody>
          <a:bodyPr wrap="square" lIns="0" tIns="0" rIns="0" bIns="0">
            <a:spAutoFit/>
          </a:bodyPr>
          <a:lstStyle/>
          <a:p>
            <a:pPr algn="ctr"/>
            <a:r>
              <a:rPr sz="6000" b="1" i="0" u="none">
                <a:solidFill>
                  <a:srgbClr val="0B2B4E"/>
                </a:solidFill>
                <a:latin typeface="Calibri"/>
              </a:rPr>
              <a:t>Introduction to Market Structures</a:t>
            </a:r>
          </a:p>
        </p:txBody>
      </p:sp>
      <p:sp>
        <p:nvSpPr>
          <p:cNvPr id="3" name="TextBox 2"/>
          <p:cNvSpPr txBox="1"/>
          <p:nvPr/>
        </p:nvSpPr>
        <p:spPr>
          <a:xfrm>
            <a:off x="251999" y="2971800"/>
            <a:ext cx="11687697" cy="640080"/>
          </a:xfrm>
          <a:prstGeom prst="rect">
            <a:avLst/>
          </a:prstGeom>
          <a:noFill/>
        </p:spPr>
        <p:txBody>
          <a:bodyPr wrap="square" lIns="0" tIns="0" rIns="0" bIns="0">
            <a:spAutoFit/>
          </a:bodyPr>
          <a:lstStyle/>
          <a:p>
            <a:pPr algn="ctr"/>
            <a:r>
              <a:rPr sz="4000" b="1" i="0" u="none">
                <a:solidFill>
                  <a:srgbClr val="E09F3E"/>
                </a:solidFill>
                <a:latin typeface="Calibri"/>
              </a:rPr>
              <a:t>Module 4  ·  Video 1</a:t>
            </a:r>
          </a:p>
        </p:txBody>
      </p:sp>
      <p:sp>
        <p:nvSpPr>
          <p:cNvPr id="4" name="Rectangle 3"/>
          <p:cNvSpPr/>
          <p:nvPr/>
        </p:nvSpPr>
        <p:spPr>
          <a:xfrm>
            <a:off x="4267047" y="3913632"/>
            <a:ext cx="365760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4224528"/>
            <a:ext cx="11687697" cy="41148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4864608"/>
            <a:ext cx="11687697" cy="36576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1783080"/>
            <a:ext cx="11687697" cy="1554480"/>
          </a:xfrm>
          <a:prstGeom prst="rect">
            <a:avLst/>
          </a:prstGeom>
          <a:noFill/>
        </p:spPr>
        <p:txBody>
          <a:bodyPr wrap="square" lIns="0" tIns="0" rIns="0" bIns="0">
            <a:spAutoFit/>
          </a:bodyPr>
          <a:lstStyle/>
          <a:p>
            <a:pPr algn="ctr"/>
            <a:r>
              <a:rPr sz="5000" b="1" i="0" u="none">
                <a:solidFill>
                  <a:srgbClr val="0B2B4E"/>
                </a:solidFill>
                <a:latin typeface="Calibri"/>
              </a:rPr>
              <a:t>Competitive Markets and Market Interventions</a:t>
            </a:r>
          </a:p>
        </p:txBody>
      </p:sp>
      <p:sp>
        <p:nvSpPr>
          <p:cNvPr id="3" name="TextBox 2"/>
          <p:cNvSpPr txBox="1"/>
          <p:nvPr/>
        </p:nvSpPr>
        <p:spPr>
          <a:xfrm>
            <a:off x="251999" y="3401568"/>
            <a:ext cx="11687697" cy="731520"/>
          </a:xfrm>
          <a:prstGeom prst="rect">
            <a:avLst/>
          </a:prstGeom>
          <a:noFill/>
        </p:spPr>
        <p:txBody>
          <a:bodyPr wrap="square" lIns="0" tIns="0" rIns="0" bIns="0">
            <a:spAutoFit/>
          </a:bodyPr>
          <a:lstStyle/>
          <a:p>
            <a:pPr algn="ctr"/>
            <a:r>
              <a:rPr sz="4000" b="1" i="0" u="none">
                <a:solidFill>
                  <a:srgbClr val="E09F3E"/>
                </a:solidFill>
                <a:latin typeface="Calibri"/>
              </a:rPr>
              <a:t>Module 4</a:t>
            </a:r>
          </a:p>
        </p:txBody>
      </p:sp>
      <p:sp>
        <p:nvSpPr>
          <p:cNvPr id="4" name="Rectangle 3"/>
          <p:cNvSpPr/>
          <p:nvPr/>
        </p:nvSpPr>
        <p:spPr>
          <a:xfrm>
            <a:off x="4267047" y="4224528"/>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4553712"/>
            <a:ext cx="11687697" cy="41148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5047488"/>
            <a:ext cx="11687697" cy="41148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251999" y="653796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51892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52715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15B941D9-D594-59B7-AD0C-322EB1EE6C39}"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1</a:t>
            </a:r>
          </a:p>
        </p:txBody>
      </p:sp>
      <p:sp>
        <p:nvSpPr>
          <p:cNvPr id="9" name="TextBox 8"/>
          <p:cNvSpPr txBox="1"/>
          <p:nvPr/>
        </p:nvSpPr>
        <p:spPr>
          <a:xfrm>
            <a:off x="1874519" y="137845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Market Structures</a:t>
            </a:r>
          </a:p>
          <a:p>
            <a:pPr algn="l">
              <a:spcBef>
                <a:spcPts val="0"/>
              </a:spcBef>
              <a:buNone/>
            </a:pPr>
            <a:r>
              <a:rPr sz="2200">
                <a:solidFill>
                  <a:srgbClr val="555B66"/>
                </a:solidFill>
                <a:latin typeface="Calibri"/>
              </a:rPr>
              <a:t>Where a firm sits between price taker and price setter</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1" name="Rounded Rectangle 10"/>
          <p:cNvSpPr/>
          <p:nvPr/>
        </p:nvSpPr>
        <p:spPr>
          <a:xfrm>
            <a:off x="10332720" y="226085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2</a:t>
            </a:r>
          </a:p>
        </p:txBody>
      </p:sp>
      <p:sp>
        <p:nvSpPr>
          <p:cNvPr id="12" name="TextBox 11"/>
          <p:cNvSpPr txBox="1"/>
          <p:nvPr/>
        </p:nvSpPr>
        <p:spPr>
          <a:xfrm>
            <a:off x="1874519" y="2096262"/>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Perfect Competition</a:t>
            </a:r>
          </a:p>
          <a:p>
            <a:pPr algn="l">
              <a:spcBef>
                <a:spcPts val="0"/>
              </a:spcBef>
              <a:buNone/>
            </a:pPr>
            <a:r>
              <a:rPr sz="2200">
                <a:solidFill>
                  <a:srgbClr val="555B66"/>
                </a:solidFill>
                <a:latin typeface="Calibri"/>
              </a:rPr>
              <a:t>Many small sellers, an identical product, and free entry</a:t>
            </a:r>
          </a:p>
        </p:txBody>
      </p:sp>
      <p:sp>
        <p:nvSpPr>
          <p:cNvPr id="13" name="Oval 12"/>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2a</a:t>
            </a:r>
          </a:p>
        </p:txBody>
      </p:sp>
      <p:sp>
        <p:nvSpPr>
          <p:cNvPr id="14" name="Rounded Rectangle 13"/>
          <p:cNvSpPr/>
          <p:nvPr/>
        </p:nvSpPr>
        <p:spPr>
          <a:xfrm>
            <a:off x="10707625" y="297865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5" name="TextBox 14"/>
          <p:cNvSpPr txBox="1"/>
          <p:nvPr/>
        </p:nvSpPr>
        <p:spPr>
          <a:xfrm>
            <a:off x="2148840" y="281406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Profit Maximization of a Price Taker in the Short Run</a:t>
            </a:r>
          </a:p>
          <a:p>
            <a:pPr algn="l">
              <a:spcBef>
                <a:spcPts val="0"/>
              </a:spcBef>
              <a:buNone/>
            </a:pPr>
            <a:r>
              <a:rPr sz="2000">
                <a:solidFill>
                  <a:srgbClr val="555B66"/>
                </a:solidFill>
                <a:latin typeface="Calibri"/>
              </a:rPr>
              <a:t>How much to produce, and when to stop production</a:t>
            </a:r>
          </a:p>
        </p:txBody>
      </p:sp>
      <p:sp>
        <p:nvSpPr>
          <p:cNvPr id="16" name="Oval 15"/>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2b</a:t>
            </a:r>
          </a:p>
        </p:txBody>
      </p:sp>
      <p:sp>
        <p:nvSpPr>
          <p:cNvPr id="17" name="Rounded Rectangle 16"/>
          <p:cNvSpPr/>
          <p:nvPr/>
        </p:nvSpPr>
        <p:spPr>
          <a:xfrm>
            <a:off x="10707625" y="3696462"/>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18" name="TextBox 17"/>
          <p:cNvSpPr txBox="1"/>
          <p:nvPr/>
        </p:nvSpPr>
        <p:spPr>
          <a:xfrm>
            <a:off x="2148840" y="353187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Firm-Level and Market Supply</a:t>
            </a:r>
          </a:p>
          <a:p>
            <a:pPr algn="l">
              <a:spcBef>
                <a:spcPts val="0"/>
              </a:spcBef>
              <a:buNone/>
            </a:pPr>
            <a:r>
              <a:rPr sz="2000">
                <a:solidFill>
                  <a:srgbClr val="555B66"/>
                </a:solidFill>
                <a:latin typeface="Calibri"/>
              </a:rPr>
              <a:t>Marginal cost is one firm’s supply curve; market supply sums across firms</a:t>
            </a:r>
          </a:p>
        </p:txBody>
      </p:sp>
      <p:sp>
        <p:nvSpPr>
          <p:cNvPr id="19" name="Oval 18"/>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2c</a:t>
            </a:r>
          </a:p>
        </p:txBody>
      </p:sp>
      <p:sp>
        <p:nvSpPr>
          <p:cNvPr id="20" name="Rounded Rectangle 19"/>
          <p:cNvSpPr/>
          <p:nvPr/>
        </p:nvSpPr>
        <p:spPr>
          <a:xfrm>
            <a:off x="10707625" y="441426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5</a:t>
            </a:r>
          </a:p>
        </p:txBody>
      </p:sp>
      <p:sp>
        <p:nvSpPr>
          <p:cNvPr id="21" name="TextBox 20"/>
          <p:cNvSpPr txBox="1"/>
          <p:nvPr/>
        </p:nvSpPr>
        <p:spPr>
          <a:xfrm>
            <a:off x="2148840" y="4249674"/>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Long-Run Competitive Equilibrium</a:t>
            </a:r>
          </a:p>
          <a:p>
            <a:pPr algn="l">
              <a:spcBef>
                <a:spcPts val="0"/>
              </a:spcBef>
              <a:buNone/>
            </a:pPr>
            <a:r>
              <a:rPr sz="2000">
                <a:solidFill>
                  <a:srgbClr val="555B66"/>
                </a:solidFill>
                <a:latin typeface="Calibri"/>
              </a:rPr>
              <a:t>Entry and exit drive economic profits to zero</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23" name="Rounded Rectangle 22"/>
          <p:cNvSpPr/>
          <p:nvPr/>
        </p:nvSpPr>
        <p:spPr>
          <a:xfrm>
            <a:off x="10332720" y="5132070"/>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4" name="TextBox 23"/>
          <p:cNvSpPr txBox="1"/>
          <p:nvPr/>
        </p:nvSpPr>
        <p:spPr>
          <a:xfrm>
            <a:off x="1874519" y="496747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 Distortions and Regulations</a:t>
            </a:r>
          </a:p>
          <a:p>
            <a:pPr algn="l">
              <a:spcBef>
                <a:spcPts val="0"/>
              </a:spcBef>
              <a:buNone/>
            </a:pPr>
            <a:r>
              <a:rPr sz="2200">
                <a:solidFill>
                  <a:srgbClr val="555B66"/>
                </a:solidFill>
                <a:latin typeface="Calibri"/>
              </a:rPr>
              <a:t>Who wins, who loses, and what is lost outright</a:t>
            </a:r>
          </a:p>
        </p:txBody>
      </p:sp>
      <p:sp>
        <p:nvSpPr>
          <p:cNvPr id="25" name="Oval 24"/>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26" name="Rounded Rectangle 25"/>
          <p:cNvSpPr/>
          <p:nvPr/>
        </p:nvSpPr>
        <p:spPr>
          <a:xfrm>
            <a:off x="10332720" y="5849874"/>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7" name="TextBox 26"/>
          <p:cNvSpPr txBox="1"/>
          <p:nvPr/>
        </p:nvSpPr>
        <p:spPr>
          <a:xfrm>
            <a:off x="1874519" y="5685282"/>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Externalities</a:t>
            </a:r>
          </a:p>
          <a:p>
            <a:pPr algn="l">
              <a:spcBef>
                <a:spcPts val="0"/>
              </a:spcBef>
              <a:buNone/>
            </a:pPr>
            <a:r>
              <a:rPr sz="2200">
                <a:solidFill>
                  <a:srgbClr val="555B66"/>
                </a:solidFill>
                <a:latin typeface="Calibri"/>
              </a:rPr>
              <a:t>Costs and benefits that land on people outside the deal</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93248381-6920-52FA-A239-9A7875F0D053}"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323594"/>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9" name="Rounded Rectangle 8"/>
          <p:cNvSpPr/>
          <p:nvPr/>
        </p:nvSpPr>
        <p:spPr>
          <a:xfrm>
            <a:off x="10332720" y="154305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1</a:t>
            </a:r>
          </a:p>
        </p:txBody>
      </p:sp>
      <p:sp>
        <p:nvSpPr>
          <p:cNvPr id="10" name="TextBox 9"/>
          <p:cNvSpPr txBox="1"/>
          <p:nvPr/>
        </p:nvSpPr>
        <p:spPr>
          <a:xfrm>
            <a:off x="1874519" y="137845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Market Structures</a:t>
            </a:r>
          </a:p>
          <a:p>
            <a:pPr algn="l">
              <a:spcBef>
                <a:spcPts val="0"/>
              </a:spcBef>
              <a:buNone/>
            </a:pPr>
            <a:r>
              <a:rPr sz="2200">
                <a:solidFill>
                  <a:srgbClr val="555B66"/>
                </a:solidFill>
                <a:latin typeface="Calibri"/>
              </a:rPr>
              <a:t>Where a firm sits between price taker and price setter</a:t>
            </a:r>
          </a:p>
        </p:txBody>
      </p:sp>
      <p:sp>
        <p:nvSpPr>
          <p:cNvPr id="11" name="Oval 10"/>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3" name="TextBox 12"/>
          <p:cNvSpPr txBox="1"/>
          <p:nvPr/>
        </p:nvSpPr>
        <p:spPr>
          <a:xfrm>
            <a:off x="1874519" y="226999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4" name="Oval 13"/>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2a</a:t>
            </a:r>
          </a:p>
        </p:txBody>
      </p:sp>
      <p:sp>
        <p:nvSpPr>
          <p:cNvPr id="15" name="Rounded Rectangle 14"/>
          <p:cNvSpPr/>
          <p:nvPr/>
        </p:nvSpPr>
        <p:spPr>
          <a:xfrm>
            <a:off x="10707625" y="297865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6" name="TextBox 15"/>
          <p:cNvSpPr txBox="1"/>
          <p:nvPr/>
        </p:nvSpPr>
        <p:spPr>
          <a:xfrm>
            <a:off x="2148840" y="2987802"/>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7" name="Oval 16"/>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2b</a:t>
            </a:r>
          </a:p>
        </p:txBody>
      </p:sp>
      <p:sp>
        <p:nvSpPr>
          <p:cNvPr id="18" name="Rounded Rectangle 17"/>
          <p:cNvSpPr/>
          <p:nvPr/>
        </p:nvSpPr>
        <p:spPr>
          <a:xfrm>
            <a:off x="10707625" y="3696462"/>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9" name="TextBox 18"/>
          <p:cNvSpPr txBox="1"/>
          <p:nvPr/>
        </p:nvSpPr>
        <p:spPr>
          <a:xfrm>
            <a:off x="2148840" y="370560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20" name="Oval 19"/>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2c</a:t>
            </a:r>
          </a:p>
        </p:txBody>
      </p:sp>
      <p:sp>
        <p:nvSpPr>
          <p:cNvPr id="21" name="Rounded Rectangle 20"/>
          <p:cNvSpPr/>
          <p:nvPr/>
        </p:nvSpPr>
        <p:spPr>
          <a:xfrm>
            <a:off x="10707625" y="441426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2148840" y="442341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24" name="Rounded Rectangle 23"/>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514121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7" name="Rounded Rectangle 26"/>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1874519" y="585901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9AF6752B-E42B-5771-9B4C-30619DDD446A}"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Introduction to Market Structures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Four Basic Market Structures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4" name="Group pair 114"/>
          <p:cNvGrpSpPr/>
          <p:nvPr/>
        </p:nvGrpSpPr>
        <p:grpSpPr>
          <a:xfrm>
            <a:off x="380847" y="1783080"/>
            <a:ext cx="11430000" cy="3383280"/>
            <a:chOff x="380847" y="1783080"/>
            <a:chExt cx="11430000" cy="3383280"/>
          </a:xfrm>
        </p:grpSpPr>
        <p:sp>
          <p:nvSpPr>
            <p:cNvPr id="7" name="Rectangle 6"/>
            <p:cNvSpPr/>
            <p:nvPr/>
          </p:nvSpPr>
          <p:spPr>
            <a:xfrm>
              <a:off x="380847" y="1783080"/>
              <a:ext cx="11430000"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18007" y="1920240"/>
            <a:ext cx="11155680" cy="3108960"/>
          </p:xfrm>
          <a:graphic>
            <a:graphicData uri="http://schemas.openxmlformats.org/drawingml/2006/table">
              <a:tbl>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914400">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Perfect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Monopolistic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Oligopoly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Monopoly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31520">
                  <a:tc>
                    <a:txBody>
                      <a:bodyPr/>
                      <a:lstStyle/>
                      <a:p>
                        <a:pPr algn="l"/>
                        <a:r>
                          <a:rPr sz="2000" b="1">
                            <a:solidFill>
                              <a:srgbClr val="0B2B4E"/>
                            </a:solidFill>
                            <a:latin typeface="Calibri"/>
                          </a:rPr>
                          <a:t>Number of firms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dirty="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Few</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31520">
                  <a:tc>
                    <a:txBody>
                      <a:bodyPr/>
                      <a:lstStyle/>
                      <a:p>
                        <a:pPr algn="l"/>
                        <a:r>
                          <a:rPr sz="2000" b="1">
                            <a:solidFill>
                              <a:srgbClr val="0B2B4E"/>
                            </a:solidFill>
                            <a:latin typeface="Calibri"/>
                          </a:rPr>
                          <a:t>Type of products sold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Identical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Differentiated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Identical or
Differentiated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“Unique”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731520">
                  <a:tc>
                    <a:txBody>
                      <a:bodyPr/>
                      <a:lstStyle/>
                      <a:p>
                        <a:pPr algn="l"/>
                        <a:r>
                          <a:rPr sz="2000" b="1">
                            <a:solidFill>
                              <a:srgbClr val="0B2B4E"/>
                            </a:solidFill>
                            <a:latin typeface="Calibri"/>
                          </a:rPr>
                          <a:t>Barriers to entry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Some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dirty="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bl>
            </a:graphicData>
          </a:graphic>
        </p:graphicFrame>
      </p:grpSp>
      <p:sp>
        <p:nvSpPr>
          <p:cNvPr id="9" name="Rounded Rectangle 8"/>
          <p:cNvSpPr/>
          <p:nvPr/>
        </p:nvSpPr>
        <p:spPr>
          <a:xfrm>
            <a:off x="3867911" y="5303520"/>
            <a:ext cx="7531455" cy="932688"/>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bIns="109728" rtlCol="0" anchor="b"/>
          <a:lstStyle/>
          <a:p>
            <a:pPr algn="ctr"/>
            <a:r>
              <a:rPr sz="1900" b="1" dirty="0">
                <a:solidFill>
                  <a:srgbClr val="0B2B4E"/>
                </a:solidFill>
                <a:latin typeface="Calibri"/>
              </a:rPr>
              <a:t>More firms, more similar products, easier entry → more competition</a:t>
            </a:r>
          </a:p>
        </p:txBody>
      </p:sp>
      <p:cxnSp>
        <p:nvCxnSpPr>
          <p:cNvPr id="10" name="Connector 9"/>
          <p:cNvCxnSpPr>
            <a:cxnSpLocks/>
          </p:cNvCxnSpPr>
          <p:nvPr/>
        </p:nvCxnSpPr>
        <p:spPr>
          <a:xfrm flipH="1">
            <a:off x="4626864" y="5596128"/>
            <a:ext cx="6144768" cy="0"/>
          </a:xfrm>
          <a:prstGeom prst="line">
            <a:avLst/>
          </a:prstGeom>
          <a:ln w="63500">
            <a:solidFill>
              <a:srgbClr val="0B2B4E"/>
            </a:solidFill>
            <a:tailEnd type="triangle" w="lg"/>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Introduction to Market Structures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Extent of Market Power: Price Takers vs. Price Searchers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61872"/>
            <a:ext cx="3657600" cy="457200"/>
          </a:xfrm>
          <a:prstGeom prst="rect">
            <a:avLst/>
          </a:prstGeom>
          <a:noFill/>
        </p:spPr>
        <p:txBody>
          <a:bodyPr wrap="square" lIns="0" tIns="0" rIns="0" bIns="0">
            <a:spAutoFit/>
          </a:bodyPr>
          <a:lstStyle/>
          <a:p>
            <a:pPr algn="l"/>
            <a:r>
              <a:rPr sz="2800" b="1" i="0" u="none">
                <a:solidFill>
                  <a:srgbClr val="0B2B4E"/>
                </a:solidFill>
                <a:latin typeface="Calibri"/>
              </a:rPr>
              <a:t>Least Market Power</a:t>
            </a:r>
          </a:p>
        </p:txBody>
      </p:sp>
      <p:sp>
        <p:nvSpPr>
          <p:cNvPr id="8" name="TextBox 7"/>
          <p:cNvSpPr txBox="1"/>
          <p:nvPr/>
        </p:nvSpPr>
        <p:spPr>
          <a:xfrm>
            <a:off x="8028431" y="1261872"/>
            <a:ext cx="3657600" cy="457200"/>
          </a:xfrm>
          <a:prstGeom prst="rect">
            <a:avLst/>
          </a:prstGeom>
          <a:noFill/>
        </p:spPr>
        <p:txBody>
          <a:bodyPr wrap="square" lIns="0" tIns="0" r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1847088"/>
            <a:ext cx="11274552" cy="0"/>
          </a:xfrm>
          <a:prstGeom prst="line">
            <a:avLst/>
          </a:prstGeom>
          <a:ln w="44450">
            <a:solidFill>
              <a:srgbClr val="0B2B4E"/>
            </a:solidFill>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Perfect
Competition</a:t>
            </a:r>
          </a:p>
        </p:txBody>
      </p:sp>
      <p:sp>
        <p:nvSpPr>
          <p:cNvPr id="11" name="TextBox 10"/>
          <p:cNvSpPr txBox="1"/>
          <p:nvPr/>
        </p:nvSpPr>
        <p:spPr>
          <a:xfrm>
            <a:off x="329184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Monopolistic
Competition</a:t>
            </a:r>
          </a:p>
        </p:txBody>
      </p:sp>
      <p:sp>
        <p:nvSpPr>
          <p:cNvPr id="12" name="TextBox 11"/>
          <p:cNvSpPr txBox="1"/>
          <p:nvPr/>
        </p:nvSpPr>
        <p:spPr>
          <a:xfrm>
            <a:off x="612648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Oligopoly</a:t>
            </a:r>
          </a:p>
        </p:txBody>
      </p:sp>
      <p:sp>
        <p:nvSpPr>
          <p:cNvPr id="13" name="TextBox 12"/>
          <p:cNvSpPr txBox="1"/>
          <p:nvPr/>
        </p:nvSpPr>
        <p:spPr>
          <a:xfrm>
            <a:off x="891540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Monopoly</a:t>
            </a:r>
          </a:p>
        </p:txBody>
      </p:sp>
      <p:sp>
        <p:nvSpPr>
          <p:cNvPr id="14" name="Rectangle 13"/>
          <p:cNvSpPr/>
          <p:nvPr/>
        </p:nvSpPr>
        <p:spPr>
          <a:xfrm>
            <a:off x="315468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7824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2852928"/>
            <a:ext cx="205740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Takers)</a:t>
            </a:r>
          </a:p>
        </p:txBody>
      </p:sp>
      <p:sp>
        <p:nvSpPr>
          <p:cNvPr id="18" name="Rounded Rectangle 17"/>
          <p:cNvSpPr/>
          <p:nvPr/>
        </p:nvSpPr>
        <p:spPr>
          <a:xfrm>
            <a:off x="3566160" y="2852928"/>
            <a:ext cx="790956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Searchers)</a:t>
            </a:r>
          </a:p>
        </p:txBody>
      </p:sp>
      <p:sp>
        <p:nvSpPr>
          <p:cNvPr id="19" name="Rounded Rectangle 18"/>
          <p:cNvSpPr/>
          <p:nvPr/>
        </p:nvSpPr>
        <p:spPr>
          <a:xfrm>
            <a:off x="448056" y="1956816"/>
            <a:ext cx="2724912" cy="4251960"/>
          </a:xfrm>
          <a:prstGeom prst="roundRect">
            <a:avLst>
              <a:gd name="adj" fmla="val 4000"/>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5" name="Group pair 135"/>
          <p:cNvGrpSpPr/>
          <p:nvPr/>
        </p:nvGrpSpPr>
        <p:grpSpPr>
          <a:xfrm>
            <a:off x="502920" y="3401568"/>
            <a:ext cx="2697480" cy="2560320"/>
            <a:chOff x="502920" y="3401568"/>
            <a:chExt cx="2697480" cy="2560320"/>
          </a:xfrm>
        </p:grpSpPr>
        <p:pic>
          <p:nvPicPr>
            <p:cNvPr id="20" name="Picture 19" descr="NV_s07_10_f9f010a8.jpg"/>
            <p:cNvPicPr>
              <a:picLocks noChangeAspect="1"/>
            </p:cNvPicPr>
            <p:nvPr/>
          </p:nvPicPr>
          <p:blipFill>
            <a:blip r:embed="rId3"/>
            <a:stretch>
              <a:fillRect/>
            </a:stretch>
          </p:blipFill>
          <p:spPr>
            <a:xfrm>
              <a:off x="713232" y="3401568"/>
              <a:ext cx="2273881" cy="2194560"/>
            </a:xfrm>
            <a:prstGeom prst="roundRect">
              <a:avLst>
                <a:gd name="adj" fmla="val 8000"/>
              </a:avLst>
            </a:prstGeom>
            <a:effectLst>
              <a:outerShdw blurRad="50800" dist="38100" dir="2700000" algn="tl" rotWithShape="0">
                <a:srgbClr val="000000">
                  <a:alpha val="50000"/>
                </a:srgbClr>
              </a:outerShdw>
            </a:effectLst>
          </p:spPr>
        </p:pic>
        <p:sp>
          <p:nvSpPr>
            <p:cNvPr id="25" name="TextBox 24"/>
            <p:cNvSpPr txBox="1"/>
            <p:nvPr/>
          </p:nvSpPr>
          <p:spPr>
            <a:xfrm>
              <a:off x="50292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Commodity markets</a:t>
              </a:r>
            </a:p>
          </p:txBody>
        </p:sp>
      </p:grpSp>
      <p:grpSp>
        <p:nvGrpSpPr>
          <p:cNvPr id="136" name="Group pair 136"/>
          <p:cNvGrpSpPr/>
          <p:nvPr/>
        </p:nvGrpSpPr>
        <p:grpSpPr>
          <a:xfrm>
            <a:off x="3291840" y="3401568"/>
            <a:ext cx="2697480" cy="2560320"/>
            <a:chOff x="3291840" y="3401568"/>
            <a:chExt cx="2697480" cy="2560320"/>
          </a:xfrm>
        </p:grpSpPr>
        <p:pic>
          <p:nvPicPr>
            <p:cNvPr id="21" name="Picture 20" descr="NV_s07_g1.1_1f7061fb.png"/>
            <p:cNvPicPr>
              <a:picLocks noChangeAspect="1"/>
            </p:cNvPicPr>
            <p:nvPr/>
          </p:nvPicPr>
          <p:blipFill>
            <a:blip r:embed="rId4"/>
            <a:stretch>
              <a:fillRect/>
            </a:stretch>
          </p:blipFill>
          <p:spPr>
            <a:xfrm>
              <a:off x="3465576" y="3401568"/>
              <a:ext cx="2348495" cy="2194560"/>
            </a:xfrm>
            <a:prstGeom prst="roundRect">
              <a:avLst>
                <a:gd name="adj" fmla="val 8000"/>
              </a:avLst>
            </a:prstGeom>
            <a:effectLst>
              <a:outerShdw blurRad="50800" dist="38100" dir="2700000" algn="tl" rotWithShape="0">
                <a:srgbClr val="000000">
                  <a:alpha val="50000"/>
                </a:srgbClr>
              </a:outerShdw>
            </a:effectLst>
          </p:spPr>
        </p:pic>
        <p:sp>
          <p:nvSpPr>
            <p:cNvPr id="26" name="TextBox 25"/>
            <p:cNvSpPr txBox="1"/>
            <p:nvPr/>
          </p:nvSpPr>
          <p:spPr>
            <a:xfrm>
              <a:off x="329184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Restaurants in WeHo</a:t>
              </a:r>
            </a:p>
          </p:txBody>
        </p:sp>
      </p:grpSp>
      <p:pic>
        <p:nvPicPr>
          <p:cNvPr id="22" name="Picture 21" descr="NV_s07_g12.1_a0b89503.jpg"/>
          <p:cNvPicPr>
            <a:picLocks noChangeAspect="1"/>
          </p:cNvPicPr>
          <p:nvPr/>
        </p:nvPicPr>
        <p:blipFill>
          <a:blip r:embed="rId5"/>
          <a:stretch>
            <a:fillRect/>
          </a:stretch>
        </p:blipFill>
        <p:spPr>
          <a:xfrm>
            <a:off x="6746443" y="3401568"/>
            <a:ext cx="1457553" cy="969326"/>
          </a:xfrm>
          <a:prstGeom prst="rect">
            <a:avLst/>
          </a:prstGeom>
        </p:spPr>
      </p:pic>
      <p:grpSp>
        <p:nvGrpSpPr>
          <p:cNvPr id="137" name="Group pair 137"/>
          <p:cNvGrpSpPr/>
          <p:nvPr/>
        </p:nvGrpSpPr>
        <p:grpSpPr>
          <a:xfrm>
            <a:off x="6126480" y="4443984"/>
            <a:ext cx="2697480" cy="1517904"/>
            <a:chOff x="6126480" y="4443984"/>
            <a:chExt cx="2697480" cy="1517904"/>
          </a:xfrm>
        </p:grpSpPr>
        <p:pic>
          <p:nvPicPr>
            <p:cNvPr id="23" name="Picture 22" descr="NV_s07_g12.2_3444df7e.png"/>
            <p:cNvPicPr>
              <a:picLocks noChangeAspect="1"/>
            </p:cNvPicPr>
            <p:nvPr/>
          </p:nvPicPr>
          <p:blipFill>
            <a:blip r:embed="rId6"/>
            <a:stretch>
              <a:fillRect/>
            </a:stretch>
          </p:blipFill>
          <p:spPr>
            <a:xfrm>
              <a:off x="6746443" y="4443984"/>
              <a:ext cx="1457553" cy="1151467"/>
            </a:xfrm>
            <a:prstGeom prst="rect">
              <a:avLst/>
            </a:prstGeom>
          </p:spPr>
        </p:pic>
        <p:sp>
          <p:nvSpPr>
            <p:cNvPr id="27" name="TextBox 26"/>
            <p:cNvSpPr txBox="1"/>
            <p:nvPr/>
          </p:nvSpPr>
          <p:spPr>
            <a:xfrm>
              <a:off x="612648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Wide-body aircraft</a:t>
              </a:r>
            </a:p>
          </p:txBody>
        </p:sp>
      </p:grpSp>
      <p:grpSp>
        <p:nvGrpSpPr>
          <p:cNvPr id="138" name="Group pair 138"/>
          <p:cNvGrpSpPr/>
          <p:nvPr/>
        </p:nvGrpSpPr>
        <p:grpSpPr>
          <a:xfrm>
            <a:off x="8915400" y="3401568"/>
            <a:ext cx="2697480" cy="2560320"/>
            <a:chOff x="8915400" y="3401568"/>
            <a:chExt cx="2697480" cy="2560320"/>
          </a:xfrm>
        </p:grpSpPr>
        <p:pic>
          <p:nvPicPr>
            <p:cNvPr id="24" name="Picture 23" descr="NV_s07_13_4dc4c7c4.jpg"/>
            <p:cNvPicPr>
              <a:picLocks noChangeAspect="1"/>
            </p:cNvPicPr>
            <p:nvPr/>
          </p:nvPicPr>
          <p:blipFill>
            <a:blip r:embed="rId7"/>
            <a:stretch>
              <a:fillRect/>
            </a:stretch>
          </p:blipFill>
          <p:spPr>
            <a:xfrm>
              <a:off x="9226296" y="3401568"/>
              <a:ext cx="2073700" cy="2194560"/>
            </a:xfrm>
            <a:prstGeom prst="rect">
              <a:avLst/>
            </a:prstGeom>
          </p:spPr>
        </p:pic>
        <p:sp>
          <p:nvSpPr>
            <p:cNvPr id="28" name="TextBox 27"/>
            <p:cNvSpPr txBox="1"/>
            <p:nvPr/>
          </p:nvSpPr>
          <p:spPr>
            <a:xfrm>
              <a:off x="891540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Municipal utilities</a:t>
              </a:r>
            </a:p>
          </p:txBody>
        </p:sp>
      </p:grpSp>
      <p:grpSp>
        <p:nvGrpSpPr>
          <p:cNvPr id="134" name="Group pair 134"/>
          <p:cNvGrpSpPr/>
          <p:nvPr/>
        </p:nvGrpSpPr>
        <p:grpSpPr>
          <a:xfrm>
            <a:off x="1033271" y="5998464"/>
            <a:ext cx="1554480" cy="420624"/>
            <a:chOff x="1033271" y="5998464"/>
            <a:chExt cx="1554480" cy="420624"/>
          </a:xfrm>
        </p:grpSpPr>
        <p:sp>
          <p:nvSpPr>
            <p:cNvPr id="29" name="Rounded Rectangle 28"/>
            <p:cNvSpPr/>
            <p:nvPr/>
          </p:nvSpPr>
          <p:spPr>
            <a:xfrm>
              <a:off x="1033271" y="5998464"/>
              <a:ext cx="1554480" cy="420624"/>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1033271" y="5998464"/>
              <a:ext cx="1554480" cy="420624"/>
            </a:xfrm>
            <a:prstGeom prst="roundRect">
              <a:avLst>
                <a:gd name="adj" fmla="val 30000"/>
              </a:avLst>
            </a:prstGeom>
            <a:solidFill>
              <a:srgbClr val="C00000">
                <a:alpha val="30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TODAY</a:t>
              </a: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5"/>
                                        </p:tgtEl>
                                        <p:attrNameLst>
                                          <p:attrName>style.visibility</p:attrName>
                                        </p:attrNameLst>
                                      </p:cBhvr>
                                      <p:to>
                                        <p:strVal val="visible"/>
                                      </p:to>
                                    </p:set>
                                    <p:animEffect transition="in" filter="fade">
                                      <p:cBhvr>
                                        <p:cTn id="17" dur="500"/>
                                        <p:tgtEl>
                                          <p:spTgt spid="1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6"/>
                                        </p:tgtEl>
                                        <p:attrNameLst>
                                          <p:attrName>style.visibility</p:attrName>
                                        </p:attrNameLst>
                                      </p:cBhvr>
                                      <p:to>
                                        <p:strVal val="visible"/>
                                      </p:to>
                                    </p:set>
                                    <p:animEffect transition="in" filter="fade">
                                      <p:cBhvr>
                                        <p:cTn id="22" dur="500"/>
                                        <p:tgtEl>
                                          <p:spTgt spid="1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137"/>
                                        </p:tgtEl>
                                        <p:attrNameLst>
                                          <p:attrName>style.visibility</p:attrName>
                                        </p:attrNameLst>
                                      </p:cBhvr>
                                      <p:to>
                                        <p:strVal val="visible"/>
                                      </p:to>
                                    </p:set>
                                    <p:animEffect transition="in" filter="fade">
                                      <p:cBhvr>
                                        <p:cTn id="30" dur="500"/>
                                        <p:tgtEl>
                                          <p:spTgt spid="13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8"/>
                                        </p:tgtEl>
                                        <p:attrNameLst>
                                          <p:attrName>style.visibility</p:attrName>
                                        </p:attrNameLst>
                                      </p:cBhvr>
                                      <p:to>
                                        <p:strVal val="visible"/>
                                      </p:to>
                                    </p:set>
                                    <p:animEffect transition="in" filter="fade">
                                      <p:cBhvr>
                                        <p:cTn id="35" dur="500"/>
                                        <p:tgtEl>
                                          <p:spTgt spid="1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134"/>
                                        </p:tgtEl>
                                        <p:attrNameLst>
                                          <p:attrName>style.visibility</p:attrName>
                                        </p:attrNameLst>
                                      </p:cBhvr>
                                      <p:to>
                                        <p:strVal val="visible"/>
                                      </p:to>
                                    </p:set>
                                    <p:animEffect transition="in" filter="fade">
                                      <p:cBhvr>
                                        <p:cTn id="43"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780</Words>
  <Application>Microsoft Office PowerPoint</Application>
  <PresentationFormat>Widescreen</PresentationFormat>
  <Paragraphs>130</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7</cp:revision>
  <dcterms:created xsi:type="dcterms:W3CDTF">2013-01-27T09:14:16Z</dcterms:created>
  <dcterms:modified xsi:type="dcterms:W3CDTF">2026-08-31T05:24:48Z</dcterms:modified>
  <cp:category/>
</cp:coreProperties>
</file>