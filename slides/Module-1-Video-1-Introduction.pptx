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22" r:id="rId2"/>
    <p:sldId id="257" r:id="rId3"/>
    <p:sldId id="264" r:id="rId4"/>
    <p:sldId id="265" r:id="rId5"/>
    <p:sldId id="266" r:id="rId6"/>
    <p:sldId id="268" r:id="rId7"/>
    <p:sldId id="272" r:id="rId8"/>
    <p:sldId id="256" r:id="rId9"/>
    <p:sldId id="324" r:id="rId10"/>
    <p:sldId id="348" r:id="rId11"/>
    <p:sldId id="35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87167" autoAdjust="0"/>
  </p:normalViewPr>
  <p:slideViewPr>
    <p:cSldViewPr snapToGrid="0" snapToObjects="1">
      <p:cViewPr varScale="1">
        <p:scale>
          <a:sx n="96" d="100"/>
          <a:sy n="96" d="100"/>
        </p:scale>
        <p:origin x="10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3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first of four short videos for Module 1. In this one I introduce the module and show how the pieces fit together.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6430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little about me. I trained as an environmental engineer before moving into economics, and my research asks why some countries are rich and others poor. That question is really about incentives and institutions, which is the same machinery we will use on business decisions in this course. My email is on the slide, and it is the right address for anything conceptual.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should be excited about this course. I think that studying economics can be useful in a number of respects.</a:t>
            </a:r>
          </a:p>
          <a:p>
            <a:r>
              <a:t>I hope that my class will help you make better decisions in your professional life as well as your personal life.</a:t>
            </a:r>
          </a:p>
          <a:p>
            <a:r>
              <a:t>This is a foundational class for the rest of the MBA program. Many of the other courses that you will take have their foundations in economics: just to mention a few, strategy, marketing, human resources, finance and supply chain management. A solid understanding of economics will help you make the most of those courses.</a:t>
            </a:r>
          </a:p>
          <a:p>
            <a:r>
              <a:t>Last, you will learn how to speak the language of economics. There are lots of economists in the world, in firms, the government and the media. It is helpful to understand them, and to speak their language to communicate with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Architects need their rulers. Doctors need their stethoscopes. Economists need their models.</a:t>
            </a:r>
          </a:p>
          <a:p>
            <a:r>
              <a:t>What are economic models? They are theoretical frameworks that help us understand the world around us. You state some assumptions, and through a series of logical steps you reach some conclusions. Sometimes these models are mathematical. Sometimes they come in the form of charts.</a:t>
            </a:r>
          </a:p>
          <a:p>
            <a:r>
              <a:t>Models are always wrong, but sometimes they are useful.</a:t>
            </a:r>
          </a:p>
          <a:p>
            <a:r>
              <a:t>In a sense, economic models are like maps. Maps provide a simplified version of the real world to help us navigate it.</a:t>
            </a:r>
          </a:p>
          <a:p>
            <a:r>
              <a:t>You may want to use a simple map, or a more complicated map, depending on your needs.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example, let’s say you need to drive from Los Angeles to San Francisco, you probably should use a map that only shows the major routes. You do not need more detail than that, right? A more detailed map would be more accurate, but less helpful.</a:t>
            </a:r>
          </a:p>
          <a:p>
            <a:r>
              <a:t>If you need to get around Los Angeles, you will probably need a map that shows every street.</a:t>
            </a:r>
          </a:p>
          <a:p>
            <a:r>
              <a:t>And if you need to deliver packages around Los Angeles, you will need even more detail. For example, you would need to know the divisions between houses – you do not want to leave the package in the wrong home.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answer is simple: economists are like hedgehogs. Let me explain. Someone once said:</a:t>
            </a:r>
          </a:p>
          <a:p>
            <a:r>
              <a:rPr dirty="0"/>
              <a:t>“The fox knows many things, but the hedgehog knows one big thing.” If you think these are the lyrics of a new Lady Gaga song, that’s not it. These words were attributed to the Ancient Greek poet Archilochus, and popularized by the philosopher Isaiah Berlin. This allegory suggests that there are two types of people in the world: the foxes, and the hedgehogs.</a:t>
            </a:r>
          </a:p>
          <a:p>
            <a:r>
              <a:rPr dirty="0"/>
              <a:t>On the one hand, foxes have different strategies for different problems. They love nuance, and want to spend all the time in the world to navigate the nitty-gritty of the problem at hand.</a:t>
            </a:r>
          </a:p>
          <a:p>
            <a:r>
              <a:rPr dirty="0"/>
              <a:t>Hedgehogs, on the other hand, want to reduce every problem to one organizing principle. They have one universal tool that they will attempt to use no matter what the problem is. This has a clear disadvantage: if you don’t pay attention to nuance, you will make mistakes. However, being a Hedgehog has its advantages too: you can make decisions quickly and with little effort, almost instinctively.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shape of the whole course. We are in part one, the basic principles and the economic way of thinking, and it feeds everything that follows: value and demand, then supply and cost, then markets, pricing and strategy. Keep this map in mind, because I will come back to it at each transition.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1. This module lays the foundation for the whole course: what a market is, how supply and demand set prices, and the three principles I want you to carry into every business decision. Let me start with a few words about myself and about how the class will run.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4921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six topics of Module 1 with a one-line description of each. The first three are covered in the videos, so you can watch them at your own pace. The last three are what we work through together in class.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from here is backup material: slides I keep for questions that come up in class, and the targets of the links earlier in the deck. Nothing after this point is part of the main flow.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picture provides an excellent example on how to think like an economist. Do you notice anything strange? Some of the windows are missing, right? What could be going on? You may think that this is an error – maybe a terrible architect designed this building and skipped some windows. No, that’s not it. You may guess that this is a weird architectural style you had not heard about. Maybe the missing windows are a symbol for something, right? No, that’s not it either.</a:t>
            </a:r>
          </a:p>
          <a:p>
            <a:endParaRPr/>
          </a:p>
          <a:p>
            <a:r>
              <a:t>So, what is it? Taxes, of course.</a:t>
            </a:r>
          </a:p>
          <a:p>
            <a:endParaRPr/>
          </a:p>
          <a:p>
            <a:r>
              <a:t>In 1696, England introduced a property tax that was based on the number of windows. If your home has more than 10 windows, you have to pay more in taxes. The more windows, the higher the tax bill. This tax was intended to be a progressive tax: richer would pay more in taxes, because they tend to live in bigger houses, with more windows. This tax was also practical: a government employee could just walk to the front of your house, count the number of windows, and that is all of the information needed. No need to find out the number of bedrooms or bathrooms, or to figure out how much your home is worth.</a:t>
            </a:r>
          </a:p>
          <a:p>
            <a:endParaRPr/>
          </a:p>
          <a:p>
            <a:r>
              <a:t>This tax had a terrible drawback though: it was easy to avoid. If you keep the number of windows below 10, you do not need to pay as much in taxes. This is the reason why many homes constructed in England during this period did not have as many windows. And homeowners would go as far as boarding up some of the existing windows to avoid the tax.</a:t>
            </a:r>
          </a:p>
          <a:p>
            <a:endParaRPr/>
          </a:p>
          <a:p>
            <a:r>
              <a:t>Whoever came up with the idea for the windows tax did not think like an economist. By the end of this course, I hope you will not make the same mistake.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nico.v@ucla.edu"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874519"/>
            <a:ext cx="10545775" cy="1005840"/>
          </a:xfrm>
          <a:prstGeom prst="rect">
            <a:avLst/>
          </a:prstGeom>
          <a:noFill/>
        </p:spPr>
        <p:txBody>
          <a:bodyPr wrap="square" lIns="0" tIns="0" rIns="0" bIns="0">
            <a:spAutoFit/>
          </a:bodyPr>
          <a:lstStyle/>
          <a:p>
            <a:pPr algn="ctr"/>
            <a:r>
              <a:rPr sz="5400" b="1" i="0" u="none" dirty="0">
                <a:solidFill>
                  <a:srgbClr val="0B2B4E"/>
                </a:solidFill>
                <a:latin typeface="Calibri"/>
              </a:rPr>
              <a:t>Introduction</a:t>
            </a:r>
          </a:p>
        </p:txBody>
      </p:sp>
      <p:sp>
        <p:nvSpPr>
          <p:cNvPr id="3" name="TextBox 2"/>
          <p:cNvSpPr txBox="1"/>
          <p:nvPr/>
        </p:nvSpPr>
        <p:spPr>
          <a:xfrm>
            <a:off x="0" y="315468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1 – Video 1</a:t>
            </a:r>
          </a:p>
        </p:txBody>
      </p:sp>
      <p:sp>
        <p:nvSpPr>
          <p:cNvPr id="4" name="Rectangle 3"/>
          <p:cNvSpPr/>
          <p:nvPr/>
        </p:nvSpPr>
        <p:spPr>
          <a:xfrm>
            <a:off x="4267047" y="40965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43484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029200"/>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0420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Introduction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335552"/>
            <a:ext cx="11687697" cy="3147015"/>
          </a:xfrm>
          <a:prstGeom prst="rect">
            <a:avLst/>
          </a:prstGeom>
          <a:noFill/>
        </p:spPr>
        <p:txBody>
          <a:bodyPr wrap="square" lIns="0" tIns="0" rIns="0" bIns="0" anchor="ctr">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dirty="0">
                <a:latin typeface="Calibri"/>
              </a:rPr>
              <a:t>About the instructor</a:t>
            </a:r>
          </a:p>
          <a:p>
            <a:pPr lvl="1" algn="l"/>
            <a:r>
              <a:rPr dirty="0">
                <a:latin typeface="Calibri"/>
              </a:rPr>
              <a:t>BA in Economics and Environmental Engineering in Berlin/Germany</a:t>
            </a:r>
          </a:p>
          <a:p>
            <a:pPr lvl="1" algn="l"/>
            <a:r>
              <a:rPr dirty="0">
                <a:latin typeface="Calibri"/>
              </a:rPr>
              <a:t>MSc in Environmental Engineering and Technology Policy from MIT</a:t>
            </a:r>
          </a:p>
          <a:p>
            <a:pPr lvl="1" algn="l"/>
            <a:r>
              <a:rPr dirty="0">
                <a:latin typeface="Calibri"/>
              </a:rPr>
              <a:t>PhD in Economics in Barcelona</a:t>
            </a:r>
            <a:endParaRPr lang="en-US" dirty="0">
              <a:latin typeface="Calibri"/>
            </a:endParaRPr>
          </a:p>
          <a:p>
            <a:pPr lvl="1" algn="l"/>
            <a:r>
              <a:rPr lang="en-US" dirty="0"/>
              <a:t>Visiting positions at Harvard, University College London</a:t>
            </a:r>
            <a:endParaRPr dirty="0">
              <a:latin typeface="Calibri"/>
            </a:endParaRPr>
          </a:p>
          <a:p>
            <a:pPr algn="l"/>
            <a:r>
              <a:rPr dirty="0">
                <a:latin typeface="Calibri"/>
              </a:rPr>
              <a:t>My research: Why are some countries so rich and others so poor?</a:t>
            </a:r>
          </a:p>
          <a:p>
            <a:pPr algn="l"/>
            <a:r>
              <a:rPr dirty="0">
                <a:latin typeface="Calibri"/>
              </a:rPr>
              <a:t>Contact information</a:t>
            </a:r>
          </a:p>
          <a:p>
            <a:pPr lvl="1" algn="l"/>
            <a:r>
              <a:rPr dirty="0">
                <a:latin typeface="Calibri"/>
              </a:rPr>
              <a:t>Email: </a:t>
            </a:r>
            <a:r>
              <a:rPr u="sng" dirty="0">
                <a:latin typeface="Calibri"/>
                <a:hlinkClick r:id="rId3"/>
              </a:rPr>
              <a:t>nico.v@ucla.edu</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2</a:t>
            </a:fld>
            <a:endParaRPr lang="en-US" sz="1200" dirty="0">
              <a:solidFill>
                <a:srgbClr val="555B66"/>
              </a:solidFill>
              <a:latin typeface="Calibri"/>
            </a:endParaRPr>
          </a:p>
        </p:txBody>
      </p:sp>
      <p:sp>
        <p:nvSpPr>
          <p:cNvPr id="12" name="Action Button: End 11">
            <a:hlinkClick r:id="" action="ppaction://noaction"/>
          </p:cNvPr>
          <p:cNvSpPr/>
          <p:nvPr/>
        </p:nvSpPr>
        <p:spPr>
          <a:xfrm>
            <a:off x="8961120" y="4357115"/>
            <a:ext cx="396849" cy="192024"/>
          </a:xfrm>
          <a:prstGeom prst="actionButtonEnd">
            <a:avLst/>
          </a:prstGeom>
          <a:solidFill>
            <a:srgbClr val="0B2B4E"/>
          </a:solidFill>
          <a:ln w="12700">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Effect transition="in" filter="fade">
                                      <p:cBhvr>
                                        <p:cTn id="15" dur="500"/>
                                        <p:tgtEl>
                                          <p:spTgt spid="7">
                                            <p:txEl>
                                              <p:pRg st="6" end="6"/>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7" end="7"/>
                                            </p:txEl>
                                          </p:spTgt>
                                        </p:tgtEl>
                                        <p:attrNameLst>
                                          <p:attrName>style.visibility</p:attrName>
                                        </p:attrNameLst>
                                      </p:cBhvr>
                                      <p:to>
                                        <p:strVal val="visible"/>
                                      </p:to>
                                    </p:set>
                                    <p:animEffect transition="in" filter="fade">
                                      <p:cBhvr>
                                        <p:cTn id="18"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Study Economics?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816453"/>
            <a:ext cx="11687697" cy="2185214"/>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Make better decisions as managers (and as consumers, </a:t>
            </a:r>
            <a:r>
              <a:rPr lang="en-US" dirty="0">
                <a:latin typeface="Calibri"/>
              </a:rPr>
              <a:t>partners</a:t>
            </a:r>
            <a:r>
              <a:rPr dirty="0">
                <a:latin typeface="Calibri"/>
              </a:rPr>
              <a:t>, etc.)</a:t>
            </a:r>
          </a:p>
          <a:p>
            <a:pPr algn="l"/>
            <a:r>
              <a:rPr dirty="0">
                <a:latin typeface="Calibri"/>
              </a:rPr>
              <a:t>To understand, anticipate, contest, and make economic arguments</a:t>
            </a:r>
          </a:p>
          <a:p>
            <a:pPr algn="l"/>
            <a:r>
              <a:rPr dirty="0">
                <a:latin typeface="Calibri"/>
              </a:rPr>
              <a:t>Provides the foundation for most of the MBA program (e.g., finance, marketing, strategy)</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3</a:t>
            </a:fld>
            <a:endParaRPr lang="en-US" sz="1200" dirty="0">
              <a:solidFill>
                <a:srgbClr val="555B66"/>
              </a:solidFill>
              <a:latin typeface="Calibri"/>
            </a:endParaRPr>
          </a:p>
        </p:txBody>
      </p:sp>
      <p:sp>
        <p:nvSpPr>
          <p:cNvPr id="12" name="Action Button: End 11">
            <a:hlinkClick r:id="rId3" action="ppaction://hlinksldjump"/>
          </p:cNvPr>
          <p:cNvSpPr/>
          <p:nvPr/>
        </p:nvSpPr>
        <p:spPr>
          <a:xfrm>
            <a:off x="10314432" y="3603650"/>
            <a:ext cx="448056" cy="217627"/>
          </a:xfrm>
          <a:prstGeom prst="actionButtonEnd">
            <a:avLst/>
          </a:prstGeom>
          <a:solidFill>
            <a:srgbClr val="0B2B4E"/>
          </a:solidFill>
          <a:ln w="12700">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Economic Models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Economic Models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2000" y="2054706"/>
            <a:ext cx="11118366" cy="3708708"/>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Models are </a:t>
            </a:r>
            <a:r>
              <a:rPr b="1" dirty="0">
                <a:latin typeface="Calibri"/>
              </a:rPr>
              <a:t>theoretical frameworks </a:t>
            </a:r>
            <a:r>
              <a:rPr dirty="0">
                <a:latin typeface="Calibri"/>
              </a:rPr>
              <a:t>that help us understand the world around us.</a:t>
            </a:r>
          </a:p>
          <a:p>
            <a:pPr algn="l"/>
            <a:r>
              <a:rPr dirty="0">
                <a:latin typeface="Calibri"/>
              </a:rPr>
              <a:t>“</a:t>
            </a:r>
            <a:r>
              <a:rPr b="1" dirty="0">
                <a:latin typeface="Calibri"/>
              </a:rPr>
              <a:t>All models are wrong</a:t>
            </a:r>
            <a:r>
              <a:rPr dirty="0">
                <a:latin typeface="Calibri"/>
              </a:rPr>
              <a:t>, but </a:t>
            </a:r>
            <a:r>
              <a:rPr b="1" dirty="0">
                <a:latin typeface="Calibri"/>
              </a:rPr>
              <a:t>some are useful</a:t>
            </a:r>
            <a:r>
              <a:rPr dirty="0">
                <a:latin typeface="Calibri"/>
              </a:rPr>
              <a:t>” (George Box – Famous Statistician).</a:t>
            </a:r>
          </a:p>
          <a:p>
            <a:pPr algn="l"/>
            <a:r>
              <a:rPr dirty="0">
                <a:latin typeface="Calibri"/>
              </a:rPr>
              <a:t>Models are </a:t>
            </a:r>
            <a:r>
              <a:rPr b="1" dirty="0">
                <a:latin typeface="Calibri"/>
              </a:rPr>
              <a:t>like maps</a:t>
            </a:r>
            <a:r>
              <a:rPr dirty="0">
                <a:latin typeface="Calibri"/>
              </a:rPr>
              <a:t>: they </a:t>
            </a:r>
            <a:r>
              <a:rPr b="1" dirty="0">
                <a:latin typeface="Calibri"/>
              </a:rPr>
              <a:t>simplify the complex world</a:t>
            </a:r>
            <a:r>
              <a:rPr dirty="0">
                <a:latin typeface="Calibri"/>
              </a:rPr>
              <a:t> to help you navigate it.</a:t>
            </a:r>
          </a:p>
          <a:p>
            <a:pPr algn="l"/>
            <a:r>
              <a:rPr dirty="0">
                <a:latin typeface="Calibri"/>
              </a:rPr>
              <a:t>Find a model that </a:t>
            </a:r>
            <a:r>
              <a:rPr b="1" dirty="0">
                <a:latin typeface="Calibri"/>
              </a:rPr>
              <a:t>matches your needs.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Economic Models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Find a Model That Matches Your Needs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766560" cy="4892040"/>
          </a:xfrm>
          <a:prstGeom prst="rect">
            <a:avLst/>
          </a:prstGeom>
          <a:noFill/>
        </p:spPr>
        <p:txBody>
          <a:bodyPr wrap="square" lIns="0" tIns="0" rIns="0" bIns="0" anchor="ctr">
            <a:sp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Do you need to drive from LA to SF?</a:t>
            </a:r>
          </a:p>
          <a:p>
            <a:pPr lvl="1" algn="l"/>
            <a:r>
              <a:rPr>
                <a:latin typeface="Calibri"/>
              </a:rPr>
              <a:t>Major routes map</a:t>
            </a:r>
          </a:p>
          <a:p>
            <a:pPr algn="l"/>
            <a:r>
              <a:rPr>
                <a:latin typeface="Calibri"/>
              </a:rPr>
              <a:t>Do you need to get around LA?</a:t>
            </a:r>
          </a:p>
          <a:p>
            <a:pPr lvl="1" algn="l"/>
            <a:r>
              <a:rPr>
                <a:latin typeface="Calibri"/>
              </a:rPr>
              <a:t>LA city map</a:t>
            </a:r>
          </a:p>
          <a:p>
            <a:pPr algn="l"/>
            <a:r>
              <a:rPr>
                <a:latin typeface="Calibri"/>
              </a:rPr>
              <a:t>Do you need to deliver packages in Westwood?</a:t>
            </a:r>
          </a:p>
          <a:p>
            <a:pPr lvl="1" algn="l"/>
            <a:r>
              <a:rPr>
                <a:latin typeface="Calibri"/>
              </a:rPr>
              <a:t>Neighborhood map</a:t>
            </a:r>
          </a:p>
        </p:txBody>
      </p:sp>
      <p:pic>
        <p:nvPicPr>
          <p:cNvPr id="8" name="Picture 7" descr="ic_s09_rId3.png"/>
          <p:cNvPicPr>
            <a:picLocks noChangeAspect="1"/>
          </p:cNvPicPr>
          <p:nvPr/>
        </p:nvPicPr>
        <p:blipFill>
          <a:blip r:embed="rId3"/>
          <a:stretch>
            <a:fillRect/>
          </a:stretch>
        </p:blipFill>
        <p:spPr>
          <a:xfrm>
            <a:off x="7589520" y="1920240"/>
            <a:ext cx="3840480" cy="3945830"/>
          </a:xfrm>
          <a:prstGeom prst="roundRect">
            <a:avLst>
              <a:gd name="adj" fmla="val 8000"/>
            </a:avLst>
          </a:prstGeom>
          <a:effectLst>
            <a:outerShdw blurRad="50800" dist="38100" dir="2700000" algn="tl" rotWithShape="0">
              <a:srgbClr val="000000">
                <a:alpha val="50000"/>
              </a:srgbClr>
            </a:outerShdw>
          </a:effectLst>
        </p:spPr>
      </p:pic>
      <p:pic>
        <p:nvPicPr>
          <p:cNvPr id="9" name="Picture 8" descr="ic_s09_rId4.png"/>
          <p:cNvPicPr>
            <a:picLocks noChangeAspect="1"/>
          </p:cNvPicPr>
          <p:nvPr/>
        </p:nvPicPr>
        <p:blipFill>
          <a:blip r:embed="rId4"/>
          <a:stretch>
            <a:fillRect/>
          </a:stretch>
        </p:blipFill>
        <p:spPr>
          <a:xfrm>
            <a:off x="7360920" y="1828800"/>
            <a:ext cx="4206240" cy="3687348"/>
          </a:xfrm>
          <a:prstGeom prst="roundRect">
            <a:avLst>
              <a:gd name="adj" fmla="val 8000"/>
            </a:avLst>
          </a:prstGeom>
          <a:effectLst>
            <a:outerShdw blurRad="50800" dist="38100" dir="2700000" algn="tl" rotWithShape="0">
              <a:srgbClr val="000000">
                <a:alpha val="50000"/>
              </a:srgbClr>
            </a:outerShdw>
          </a:effectLst>
        </p:spPr>
      </p:pic>
      <p:pic>
        <p:nvPicPr>
          <p:cNvPr id="10" name="Picture 9" descr="ic_s09_rId5.png"/>
          <p:cNvPicPr>
            <a:picLocks noChangeAspect="1"/>
          </p:cNvPicPr>
          <p:nvPr/>
        </p:nvPicPr>
        <p:blipFill>
          <a:blip r:embed="rId5"/>
          <a:stretch>
            <a:fillRect/>
          </a:stretch>
        </p:blipFill>
        <p:spPr>
          <a:xfrm>
            <a:off x="7018559" y="1783080"/>
            <a:ext cx="4566889" cy="4126959"/>
          </a:xfrm>
          <a:prstGeom prst="roundRect">
            <a:avLst>
              <a:gd name="adj" fmla="val 8000"/>
            </a:avLst>
          </a:prstGeom>
          <a:effectLst>
            <a:outerShdw blurRad="50800" dist="38100" dir="2700000" algn="tl" rotWithShape="0">
              <a:srgbClr val="000000">
                <a:alpha val="50000"/>
              </a:srgbClr>
            </a:outerShdw>
          </a:effectLst>
        </p:spPr>
      </p:pic>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1D9370A3-FA17-5659-A86A-2BA5B8731561}"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Economists as Hedgehogs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675120" cy="489204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“The fox knows many things, but the hedgehog knows one big thing” (Greek aphorism).</a:t>
            </a:r>
          </a:p>
          <a:p>
            <a:pPr algn="l"/>
            <a:r>
              <a:rPr b="1" dirty="0">
                <a:latin typeface="Calibri"/>
              </a:rPr>
              <a:t>Foxes</a:t>
            </a:r>
            <a:r>
              <a:rPr dirty="0">
                <a:latin typeface="Calibri"/>
              </a:rPr>
              <a:t> have </a:t>
            </a:r>
            <a:r>
              <a:rPr b="1" dirty="0">
                <a:latin typeface="Calibri"/>
              </a:rPr>
              <a:t>different strategies</a:t>
            </a:r>
            <a:r>
              <a:rPr dirty="0">
                <a:latin typeface="Calibri"/>
              </a:rPr>
              <a:t> for different problems. They are comfortable with nuance.</a:t>
            </a:r>
          </a:p>
          <a:p>
            <a:pPr algn="l"/>
            <a:r>
              <a:rPr b="1" dirty="0">
                <a:latin typeface="Calibri"/>
              </a:rPr>
              <a:t>Hedgehogs</a:t>
            </a:r>
            <a:r>
              <a:rPr dirty="0">
                <a:latin typeface="Calibri"/>
              </a:rPr>
              <a:t>, on the other hand, focus on the big picture. They reduce every problem to </a:t>
            </a:r>
            <a:r>
              <a:rPr b="1" dirty="0">
                <a:latin typeface="Calibri"/>
              </a:rPr>
              <a:t>one organizing principle</a:t>
            </a:r>
            <a:r>
              <a:rPr dirty="0">
                <a:latin typeface="Calibri"/>
              </a:rPr>
              <a:t>.</a:t>
            </a:r>
          </a:p>
        </p:txBody>
      </p:sp>
      <p:pic>
        <p:nvPicPr>
          <p:cNvPr id="8" name="Picture 7" descr="ic_s11_rId3.png"/>
          <p:cNvPicPr>
            <a:picLocks noChangeAspect="1"/>
          </p:cNvPicPr>
          <p:nvPr/>
        </p:nvPicPr>
        <p:blipFill>
          <a:blip r:embed="rId3"/>
          <a:stretch>
            <a:fillRect/>
          </a:stretch>
        </p:blipFill>
        <p:spPr>
          <a:xfrm>
            <a:off x="7269480" y="1417320"/>
            <a:ext cx="2565636" cy="2565636"/>
          </a:xfrm>
          <a:prstGeom prst="rect">
            <a:avLst/>
          </a:prstGeom>
        </p:spPr>
      </p:pic>
      <p:pic>
        <p:nvPicPr>
          <p:cNvPr id="9" name="Picture 8" descr="ic_s11_rId4.png"/>
          <p:cNvPicPr>
            <a:picLocks noChangeAspect="1"/>
          </p:cNvPicPr>
          <p:nvPr/>
        </p:nvPicPr>
        <p:blipFill>
          <a:blip r:embed="rId4"/>
          <a:stretch>
            <a:fillRect/>
          </a:stretch>
        </p:blipFill>
        <p:spPr>
          <a:xfrm>
            <a:off x="7109999" y="3698004"/>
            <a:ext cx="2725117" cy="2725117"/>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19888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20711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61BE8715-22EA-5792-B9AF-FD5475CC3481}"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_s01_rId3.png"/>
          <p:cNvPicPr>
            <a:picLocks noChangeAspect="1"/>
          </p:cNvPicPr>
          <p:nvPr/>
        </p:nvPicPr>
        <p:blipFill>
          <a:blip r:embed="rId3"/>
          <a:stretch>
            <a:fillRect/>
          </a:stretch>
        </p:blipFill>
        <p:spPr>
          <a:xfrm>
            <a:off x="2029968" y="162547"/>
            <a:ext cx="8138160" cy="2580653"/>
          </a:xfrm>
          <a:prstGeom prst="rect">
            <a:avLst/>
          </a:prstGeom>
          <a:effectLst>
            <a:outerShdw blurRad="50800" dist="38100" dir="2700000" algn="tl" rotWithShape="0">
              <a:srgbClr val="000000">
                <a:alpha val="45000"/>
              </a:srgbClr>
            </a:outerShdw>
          </a:effectLst>
        </p:spPr>
      </p:pic>
      <p:sp>
        <p:nvSpPr>
          <p:cNvPr id="3" name="TextBox 2"/>
          <p:cNvSpPr txBox="1"/>
          <p:nvPr/>
        </p:nvSpPr>
        <p:spPr>
          <a:xfrm>
            <a:off x="822960" y="2907792"/>
            <a:ext cx="10545775" cy="1234440"/>
          </a:xfrm>
          <a:prstGeom prst="rect">
            <a:avLst/>
          </a:prstGeom>
          <a:noFill/>
        </p:spPr>
        <p:txBody>
          <a:bodyPr wrap="square" lIns="0" tIns="0" rIns="0" bIns="0">
            <a:spAutoFit/>
          </a:bodyPr>
          <a:lstStyle/>
          <a:p>
            <a:pPr algn="ctr"/>
            <a:r>
              <a:rPr sz="4400" b="1" i="0" u="none">
                <a:solidFill>
                  <a:srgbClr val="0B2B4E"/>
                </a:solidFill>
                <a:latin typeface="Calibri"/>
              </a:rPr>
              <a:t>Basic Concepts and Economic Principles for Decision Making</a:t>
            </a:r>
          </a:p>
        </p:txBody>
      </p:sp>
      <p:sp>
        <p:nvSpPr>
          <p:cNvPr id="4" name="TextBox 3"/>
          <p:cNvSpPr txBox="1"/>
          <p:nvPr/>
        </p:nvSpPr>
        <p:spPr>
          <a:xfrm>
            <a:off x="0" y="4187952"/>
            <a:ext cx="12191695" cy="548640"/>
          </a:xfrm>
          <a:prstGeom prst="rect">
            <a:avLst/>
          </a:prstGeom>
          <a:noFill/>
        </p:spPr>
        <p:txBody>
          <a:bodyPr wrap="square" lIns="0" tIns="0" rIns="0" bIns="0">
            <a:spAutoFit/>
          </a:bodyPr>
          <a:lstStyle/>
          <a:p>
            <a:pPr algn="ctr"/>
            <a:r>
              <a:rPr sz="3200" b="1" i="0" u="none">
                <a:solidFill>
                  <a:srgbClr val="E09F3E"/>
                </a:solidFill>
                <a:latin typeface="Calibri"/>
              </a:rPr>
              <a:t>Module 1</a:t>
            </a:r>
          </a:p>
        </p:txBody>
      </p:sp>
      <p:sp>
        <p:nvSpPr>
          <p:cNvPr id="5" name="Rectangle 4"/>
          <p:cNvSpPr/>
          <p:nvPr/>
        </p:nvSpPr>
        <p:spPr>
          <a:xfrm>
            <a:off x="4267047" y="4901184"/>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5138928"/>
            <a:ext cx="12191695" cy="457200"/>
          </a:xfrm>
          <a:prstGeom prst="rect">
            <a:avLst/>
          </a:prstGeom>
          <a:noFill/>
        </p:spPr>
        <p:txBody>
          <a:bodyPr wrap="square" lIns="0" tIns="0" rIns="0" bIns="0">
            <a:spAutoFit/>
          </a:bodyPr>
          <a:lstStyle/>
          <a:p>
            <a:pPr algn="ctr"/>
            <a:r>
              <a:rPr sz="2200" b="1" i="0" u="none">
                <a:solidFill>
                  <a:srgbClr val="555B66"/>
                </a:solidFill>
                <a:latin typeface="Calibri"/>
              </a:rPr>
              <a:t>Management 405</a:t>
            </a:r>
          </a:p>
        </p:txBody>
      </p:sp>
      <p:sp>
        <p:nvSpPr>
          <p:cNvPr id="7" name="TextBox 6"/>
          <p:cNvSpPr txBox="1"/>
          <p:nvPr/>
        </p:nvSpPr>
        <p:spPr>
          <a:xfrm>
            <a:off x="0" y="5632704"/>
            <a:ext cx="12191695" cy="411480"/>
          </a:xfrm>
          <a:prstGeom prst="rect">
            <a:avLst/>
          </a:prstGeom>
          <a:noFill/>
        </p:spPr>
        <p:txBody>
          <a:bodyPr wrap="square" lIns="0" tIns="0" rIns="0" bIns="0">
            <a:spAutoFit/>
          </a:bodyPr>
          <a:lstStyle/>
          <a:p>
            <a:pPr algn="ctr"/>
            <a:r>
              <a:rPr sz="1800" b="0" i="0" u="none">
                <a:solidFill>
                  <a:srgbClr val="555B66"/>
                </a:solidFill>
                <a:latin typeface="Calibri"/>
              </a:rPr>
              <a:t>Prof. Nico Voigtländer  ·  UCLA Anderson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6406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Markets</a:t>
            </a:r>
          </a:p>
          <a:p>
            <a:pPr algn="l">
              <a:spcBef>
                <a:spcPts val="0"/>
              </a:spcBef>
              <a:buNone/>
            </a:pPr>
            <a:r>
              <a:rPr sz="2200">
                <a:solidFill>
                  <a:srgbClr val="555B66"/>
                </a:solidFill>
                <a:latin typeface="Calibri"/>
              </a:rPr>
              <a:t>Video 2: what a market is, and how far it extends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and supply</a:t>
            </a:r>
          </a:p>
          <a:p>
            <a:pPr algn="l">
              <a:spcBef>
                <a:spcPts val="0"/>
              </a:spcBef>
              <a:buNone/>
            </a:pPr>
            <a:r>
              <a:rPr sz="2200">
                <a:solidFill>
                  <a:srgbClr val="555B66"/>
                </a:solidFill>
                <a:latin typeface="Calibri"/>
              </a:rPr>
              <a:t>Video 3: how buyers and sellers each respond to price</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Equilibrium</a:t>
            </a:r>
          </a:p>
          <a:p>
            <a:pPr algn="l">
              <a:spcBef>
                <a:spcPts val="0"/>
              </a:spcBef>
              <a:buNone/>
            </a:pPr>
            <a:r>
              <a:rPr sz="2200">
                <a:solidFill>
                  <a:srgbClr val="555B66"/>
                </a:solidFill>
                <a:latin typeface="Calibri"/>
              </a:rPr>
              <a:t>Video 4: where demand meets supply, and what moves it</a:t>
            </a:r>
          </a:p>
        </p:txBody>
      </p:sp>
      <p:sp>
        <p:nvSpPr>
          <p:cNvPr id="13" name="Oval 12"/>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4" name="TextBox 13"/>
          <p:cNvSpPr txBox="1"/>
          <p:nvPr/>
        </p:nvSpPr>
        <p:spPr>
          <a:xfrm>
            <a:off x="1874519" y="3991356"/>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Economic costs include opportunity costs</a:t>
            </a:r>
          </a:p>
          <a:p>
            <a:pPr algn="l">
              <a:spcBef>
                <a:spcPts val="0"/>
              </a:spcBef>
              <a:buNone/>
            </a:pPr>
            <a:r>
              <a:rPr sz="2200" dirty="0">
                <a:solidFill>
                  <a:srgbClr val="555B66"/>
                </a:solidFill>
                <a:latin typeface="Calibri"/>
              </a:rPr>
              <a:t>In class: the value of the </a:t>
            </a:r>
            <a:r>
              <a:rPr lang="en-US" sz="2200" dirty="0">
                <a:solidFill>
                  <a:srgbClr val="555B66"/>
                </a:solidFill>
                <a:latin typeface="Calibri"/>
              </a:rPr>
              <a:t>next-</a:t>
            </a:r>
            <a:r>
              <a:rPr sz="2200" dirty="0">
                <a:solidFill>
                  <a:srgbClr val="555B66"/>
                </a:solidFill>
                <a:latin typeface="Calibri"/>
              </a:rPr>
              <a:t>best alternative you gave up</a:t>
            </a:r>
          </a:p>
        </p:txBody>
      </p:sp>
      <p:sp>
        <p:nvSpPr>
          <p:cNvPr id="15" name="Oval 14"/>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16" name="TextBox 15"/>
          <p:cNvSpPr txBox="1"/>
          <p:nvPr/>
        </p:nvSpPr>
        <p:spPr>
          <a:xfrm>
            <a:off x="1874519" y="4823460"/>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Ignore sunk costs</a:t>
            </a:r>
          </a:p>
          <a:p>
            <a:pPr algn="l">
              <a:spcBef>
                <a:spcPts val="0"/>
              </a:spcBef>
              <a:buNone/>
            </a:pPr>
            <a:r>
              <a:rPr sz="2200">
                <a:solidFill>
                  <a:srgbClr val="555B66"/>
                </a:solidFill>
                <a:latin typeface="Calibri"/>
              </a:rPr>
              <a:t>In class: money already spent should not drive the next decision</a:t>
            </a:r>
          </a:p>
        </p:txBody>
      </p:sp>
      <p:sp>
        <p:nvSpPr>
          <p:cNvPr id="17" name="Oval 16"/>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6</a:t>
            </a:r>
          </a:p>
        </p:txBody>
      </p:sp>
      <p:sp>
        <p:nvSpPr>
          <p:cNvPr id="18" name="TextBox 17"/>
          <p:cNvSpPr txBox="1"/>
          <p:nvPr/>
        </p:nvSpPr>
        <p:spPr>
          <a:xfrm>
            <a:off x="1874519" y="565556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Use cost-benefit and marginal analysis</a:t>
            </a:r>
          </a:p>
          <a:p>
            <a:pPr algn="l">
              <a:spcBef>
                <a:spcPts val="0"/>
              </a:spcBef>
              <a:buNone/>
            </a:pPr>
            <a:r>
              <a:rPr sz="2200">
                <a:solidFill>
                  <a:srgbClr val="555B66"/>
                </a:solidFill>
                <a:latin typeface="Calibri"/>
              </a:rPr>
              <a:t>In class: compare the benefit of the next unit with its cost</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2" name="TextBox 21"/>
          <p:cNvSpPr txBox="1"/>
          <p:nvPr/>
        </p:nvSpPr>
        <p:spPr>
          <a:xfrm>
            <a:off x="11475720" y="6583680"/>
            <a:ext cx="502920" cy="292608"/>
          </a:xfrm>
          <a:prstGeom prst="rect">
            <a:avLst/>
          </a:prstGeom>
          <a:noFill/>
        </p:spPr>
        <p:txBody>
          <a:bodyPr wrap="none" lIns="0" tIns="0" rIns="0" bIns="0">
            <a:spAutoFit/>
          </a:bodyPr>
          <a:lstStyle/>
          <a:p>
            <a:pPr algn="r"/>
            <a:fld id="{CE89B108-9381-5E04-A273-4FE9F535F17B}"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43200"/>
            <a:ext cx="12191695" cy="1005840"/>
          </a:xfrm>
          <a:prstGeom prst="rect">
            <a:avLst/>
          </a:prstGeom>
          <a:noFill/>
        </p:spPr>
        <p:txBody>
          <a:bodyPr wrap="square" lIns="0" tIns="0" rIns="0" bIns="0">
            <a:spAutoFit/>
          </a:bodyPr>
          <a:lstStyle/>
          <a:p>
            <a:pPr algn="ctr"/>
            <a:r>
              <a:rPr sz="5400" b="1" i="0" u="none">
                <a:solidFill>
                  <a:srgbClr val="0B2B4E"/>
                </a:solidFill>
                <a:latin typeface="Calibri"/>
              </a:rPr>
              <a:t>BACKUP</a:t>
            </a:r>
          </a:p>
        </p:txBody>
      </p:sp>
      <p:sp>
        <p:nvSpPr>
          <p:cNvPr id="3" name="Rectangle 2"/>
          <p:cNvSpPr/>
          <p:nvPr/>
        </p:nvSpPr>
        <p:spPr>
          <a:xfrm>
            <a:off x="4267047" y="3886200"/>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Backup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People Respond to Incentives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ws67_image62.png"/>
          <p:cNvPicPr>
            <a:picLocks noChangeAspect="1"/>
          </p:cNvPicPr>
          <p:nvPr/>
        </p:nvPicPr>
        <p:blipFill>
          <a:blip r:embed="rId3"/>
          <a:stretch>
            <a:fillRect/>
          </a:stretch>
        </p:blipFill>
        <p:spPr>
          <a:xfrm>
            <a:off x="822960" y="1481328"/>
            <a:ext cx="4297680" cy="3024492"/>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822960" y="4626864"/>
            <a:ext cx="4297680" cy="274320"/>
          </a:xfrm>
          <a:prstGeom prst="rect">
            <a:avLst/>
          </a:prstGeom>
          <a:noFill/>
        </p:spPr>
        <p:txBody>
          <a:bodyPr wrap="square" lIns="0" tIns="0" rIns="0" bIns="0">
            <a:spAutoFit/>
          </a:bodyPr>
          <a:lstStyle/>
          <a:p>
            <a:pPr algn="ctr"/>
            <a:r>
              <a:rPr sz="1200" b="0" i="1" u="none" dirty="0">
                <a:solidFill>
                  <a:srgbClr val="555B66"/>
                </a:solidFill>
                <a:latin typeface="Calibri"/>
              </a:rPr>
              <a:t>Portland Street, Southampton, UK</a:t>
            </a:r>
          </a:p>
        </p:txBody>
      </p:sp>
      <p:sp>
        <p:nvSpPr>
          <p:cNvPr id="9" name="TextBox 8"/>
          <p:cNvSpPr txBox="1"/>
          <p:nvPr/>
        </p:nvSpPr>
        <p:spPr>
          <a:xfrm>
            <a:off x="5486400" y="1737360"/>
            <a:ext cx="6400800" cy="1828800"/>
          </a:xfrm>
          <a:prstGeom prst="rect">
            <a:avLst/>
          </a:prstGeom>
          <a:noFill/>
        </p:spPr>
        <p:txBody>
          <a:bodyPr wrap="square" lIns="0" tIns="0" rIns="0" bIns="0" anchor="ctr">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b="1" dirty="0">
                <a:latin typeface="Calibri"/>
              </a:rPr>
              <a:t>Property tax:</a:t>
            </a:r>
          </a:p>
          <a:p>
            <a:pPr lvl="1" algn="l"/>
            <a:r>
              <a:rPr dirty="0">
                <a:latin typeface="Calibri"/>
              </a:rPr>
              <a:t>Based on </a:t>
            </a:r>
            <a:r>
              <a:rPr b="1" dirty="0">
                <a:latin typeface="Calibri"/>
              </a:rPr>
              <a:t>the number of windows</a:t>
            </a:r>
          </a:p>
          <a:p>
            <a:pPr lvl="1" algn="l"/>
            <a:r>
              <a:rPr dirty="0">
                <a:latin typeface="Calibri"/>
              </a:rPr>
              <a:t>England and Wales (1696 – 1851)</a:t>
            </a:r>
          </a:p>
        </p:txBody>
      </p:sp>
      <p:pic>
        <p:nvPicPr>
          <p:cNvPr id="10" name="Picture 9" descr="ws67_image63.png"/>
          <p:cNvPicPr>
            <a:picLocks noChangeAspect="1"/>
          </p:cNvPicPr>
          <p:nvPr/>
        </p:nvPicPr>
        <p:blipFill>
          <a:blip r:embed="rId4"/>
          <a:stretch>
            <a:fillRect/>
          </a:stretch>
        </p:blipFill>
        <p:spPr>
          <a:xfrm>
            <a:off x="6675120" y="3703320"/>
            <a:ext cx="3840480" cy="2560320"/>
          </a:xfrm>
          <a:prstGeom prst="rect">
            <a:avLst/>
          </a:prstGeom>
          <a:effectLst>
            <a:outerShdw blurRad="50800" dist="38100" dir="2700000" algn="tl" rotWithShape="0">
              <a:srgbClr val="000000">
                <a:alpha val="45000"/>
              </a:srgbClr>
            </a:outerShdw>
          </a:effectLst>
        </p:spPr>
      </p:pic>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4" name="Rounded Rectangle 13">
            <a:hlinkClick r:id="rId5" action="ppaction://hlinksldjump"/>
          </p:cNvPr>
          <p:cNvSpPr/>
          <p:nvPr/>
        </p:nvSpPr>
        <p:spPr>
          <a:xfrm>
            <a:off x="10716768" y="6035040"/>
            <a:ext cx="1417320" cy="420624"/>
          </a:xfrm>
          <a:prstGeom prst="roundRect">
            <a:avLst>
              <a:gd name="adj" fmla="val 5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 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1850</Words>
  <Application>Microsoft Office PowerPoint</Application>
  <PresentationFormat>Widescreen</PresentationFormat>
  <Paragraphs>123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18</cp:revision>
  <dcterms:created xsi:type="dcterms:W3CDTF">2013-01-27T09:14:16Z</dcterms:created>
  <dcterms:modified xsi:type="dcterms:W3CDTF">2026-08-31T19:53:03Z</dcterms:modified>
  <cp:category/>
</cp:coreProperties>
</file>