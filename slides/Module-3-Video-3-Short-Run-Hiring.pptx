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48" r:id="rId2"/>
    <p:sldId id="268" r:id="rId3"/>
    <p:sldId id="269" r:id="rId4"/>
    <p:sldId id="270" r:id="rId5"/>
    <p:sldId id="271" r:id="rId6"/>
    <p:sldId id="267" r:id="rId7"/>
    <p:sldId id="272" r:id="rId8"/>
    <p:sldId id="273" r:id="rId9"/>
    <p:sldId id="274" r:id="rId10"/>
    <p:sldId id="275" r:id="rId11"/>
    <p:sldId id="277" r:id="rId12"/>
    <p:sldId id="278" r:id="rId13"/>
    <p:sldId id="279" r:id="rId14"/>
    <p:sldId id="329" r:id="rId15"/>
    <p:sldId id="330" r:id="rId16"/>
    <p:sldId id="33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5"/>
          <c:y val="0.04"/>
          <c:w val="0.8"/>
          <c:h val="0.78"/>
        </c:manualLayout>
      </c:layout>
      <c:lineChart>
        <c:grouping val="standard"/>
        <c:varyColors val="0"/>
        <c:ser>
          <c:idx val="0"/>
          <c:order val="0"/>
          <c:tx>
            <c:strRef>
              <c:f>Sheet1!$B$1</c:f>
              <c:strCache>
                <c:ptCount val="1"/>
                <c:pt idx="0">
                  <c:v>Y</c:v>
                </c:pt>
              </c:strCache>
            </c:strRef>
          </c:tx>
          <c:spPr>
            <a:ln w="31750">
              <a:solidFill>
                <a:srgbClr val="2E75B6"/>
              </a:solidFill>
            </a:ln>
          </c:spPr>
          <c:marker>
            <c:symbol val="circle"/>
            <c:size val="7"/>
            <c:spPr>
              <a:solidFill>
                <a:srgbClr val="2E75B6"/>
              </a:solidFill>
              <a:ln>
                <a:solidFill>
                  <a:srgbClr val="2E75B6"/>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Sheet1!$B$2:$B$13</c:f>
              <c:numCache>
                <c:formatCode>General</c:formatCode>
                <c:ptCount val="12"/>
                <c:pt idx="0">
                  <c:v>0</c:v>
                </c:pt>
                <c:pt idx="1">
                  <c:v>165</c:v>
                </c:pt>
                <c:pt idx="2">
                  <c:v>204</c:v>
                </c:pt>
                <c:pt idx="3">
                  <c:v>251</c:v>
                </c:pt>
                <c:pt idx="4">
                  <c:v>283</c:v>
                </c:pt>
                <c:pt idx="5">
                  <c:v>309</c:v>
                </c:pt>
                <c:pt idx="6">
                  <c:v>330</c:v>
                </c:pt>
                <c:pt idx="7">
                  <c:v>348</c:v>
                </c:pt>
                <c:pt idx="8">
                  <c:v>365</c:v>
                </c:pt>
                <c:pt idx="9">
                  <c:v>380</c:v>
                </c:pt>
                <c:pt idx="10">
                  <c:v>394</c:v>
                </c:pt>
                <c:pt idx="11">
                  <c:v>406</c:v>
                </c:pt>
              </c:numCache>
            </c:numRef>
          </c:val>
          <c:smooth val="1"/>
          <c:extLst>
            <c:ext xmlns:c16="http://schemas.microsoft.com/office/drawing/2014/chart" uri="{C3380CC4-5D6E-409C-BE32-E72D297353CC}">
              <c16:uniqueId val="{00000000-9416-48BC-80F5-8CA95C7DDC7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lang="en-US" sz="1200" b="1" i="1">
                    <a:solidFill>
                      <a:srgbClr val="0B2B4E"/>
                    </a:solidFill>
                    <a:latin typeface="Calibri"/>
                  </a:rPr>
                  <a:t>Workers (L)</a:t>
                </a:r>
              </a:p>
            </c:rich>
          </c:tx>
          <c:overlay val="0"/>
        </c:title>
        <c:numFmt formatCode="General" sourceLinked="0"/>
        <c:majorTickMark val="out"/>
        <c:minorTickMark val="none"/>
        <c:tickLblPos val="nextTo"/>
        <c:txPr>
          <a:bodyPr/>
          <a:lstStyle/>
          <a:p>
            <a:pPr>
              <a:defRPr sz="1000">
                <a:solidFill>
                  <a:srgbClr val="0B2B4E"/>
                </a:solidFill>
                <a:latin typeface="Calibri"/>
              </a:defRPr>
            </a:pPr>
            <a:endParaRPr lang="en-US"/>
          </a:p>
        </c:txPr>
        <c:crossAx val="2140495176"/>
        <c:crosses val="autoZero"/>
        <c:auto val="1"/>
        <c:lblAlgn val="ctr"/>
        <c:lblOffset val="100"/>
        <c:noMultiLvlLbl val="0"/>
      </c:catAx>
      <c:valAx>
        <c:axId val="2140495176"/>
        <c:scaling>
          <c:orientation val="minMax"/>
          <c:max val="450"/>
          <c:min val="0"/>
        </c:scaling>
        <c:delete val="0"/>
        <c:axPos val="l"/>
        <c:majorGridlines>
          <c:spPr>
            <a:ln w="9525" cap="flat" cmpd="sng" algn="ctr">
              <a:solidFill>
                <a:srgbClr val="C8CDD3"/>
              </a:solidFill>
              <a:prstDash val="dash"/>
            </a:ln>
          </c:spPr>
        </c:majorGridlines>
        <c:title>
          <c:tx>
            <c:rich>
              <a:bodyPr/>
              <a:lstStyle/>
              <a:p>
                <a:r>
                  <a:rPr lang="en-US" sz="1200" b="1" i="1">
                    <a:solidFill>
                      <a:srgbClr val="0B2B4E"/>
                    </a:solidFill>
                    <a:latin typeface="Calibri"/>
                  </a:rPr>
                  <a:t>Output (Q)</a:t>
                </a:r>
              </a:p>
            </c:rich>
          </c:tx>
          <c:overlay val="0"/>
        </c:title>
        <c:numFmt formatCode="General" sourceLinked="1"/>
        <c:majorTickMark val="out"/>
        <c:minorTickMark val="none"/>
        <c:tickLblPos val="nextTo"/>
        <c:txPr>
          <a:bodyPr/>
          <a:lstStyle/>
          <a:p>
            <a:pPr>
              <a:defRPr sz="1000">
                <a:solidFill>
                  <a:srgbClr val="0B2B4E"/>
                </a:solidFill>
                <a:latin typeface="Calibri"/>
              </a:defRPr>
            </a:pPr>
            <a:endParaRPr lang="en-US"/>
          </a:p>
        </c:txPr>
        <c:crossAx val="2118791784"/>
        <c:crosses val="autoZero"/>
        <c:crossBetween val="midCat"/>
        <c:majorUnit val="5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5"/>
          <c:y val="0.04"/>
          <c:w val="0.8"/>
          <c:h val="0.78"/>
        </c:manualLayout>
      </c:layout>
      <c:scatterChart>
        <c:scatterStyle val="smoothMarker"/>
        <c:varyColors val="0"/>
        <c:ser>
          <c:idx val="0"/>
          <c:order val="0"/>
          <c:tx>
            <c:strRef>
              <c:f>Sheet1!$B$1</c:f>
              <c:strCache>
                <c:ptCount val="1"/>
                <c:pt idx="0">
                  <c:v>MPL</c:v>
                </c:pt>
              </c:strCache>
            </c:strRef>
          </c:tx>
          <c:spPr>
            <a:ln w="31750">
              <a:solidFill>
                <a:srgbClr val="E09F3E"/>
              </a:solidFill>
            </a:ln>
          </c:spPr>
          <c:marker>
            <c:symbol val="circle"/>
            <c:size val="7"/>
            <c:spPr>
              <a:solidFill>
                <a:srgbClr val="E09F3E"/>
              </a:solidFill>
              <a:ln>
                <a:solidFill>
                  <a:srgbClr val="E09F3E"/>
                </a:solidFill>
              </a:ln>
            </c:spPr>
          </c:marker>
          <c:xVal>
            <c:numRef>
              <c:f>Sheet1!$A$2:$A$12</c:f>
              <c:numCache>
                <c:formatCode>General</c:formatCode>
                <c:ptCount val="11"/>
                <c:pt idx="0">
                  <c:v>125</c:v>
                </c:pt>
                <c:pt idx="1">
                  <c:v>375</c:v>
                </c:pt>
                <c:pt idx="2">
                  <c:v>750</c:v>
                </c:pt>
                <c:pt idx="3">
                  <c:v>1250</c:v>
                </c:pt>
                <c:pt idx="4">
                  <c:v>1750</c:v>
                </c:pt>
                <c:pt idx="5">
                  <c:v>2250</c:v>
                </c:pt>
                <c:pt idx="6">
                  <c:v>2750</c:v>
                </c:pt>
                <c:pt idx="7">
                  <c:v>3250</c:v>
                </c:pt>
                <c:pt idx="8">
                  <c:v>3750</c:v>
                </c:pt>
                <c:pt idx="9">
                  <c:v>4250</c:v>
                </c:pt>
                <c:pt idx="10">
                  <c:v>4750</c:v>
                </c:pt>
              </c:numCache>
            </c:numRef>
          </c:xVal>
          <c:yVal>
            <c:numRef>
              <c:f>Sheet1!$B$2:$B$12</c:f>
              <c:numCache>
                <c:formatCode>General</c:formatCode>
                <c:ptCount val="11"/>
                <c:pt idx="0">
                  <c:v>0.66</c:v>
                </c:pt>
                <c:pt idx="1">
                  <c:v>0.156</c:v>
                </c:pt>
                <c:pt idx="2">
                  <c:v>9.4E-2</c:v>
                </c:pt>
                <c:pt idx="3">
                  <c:v>6.4000000000000001E-2</c:v>
                </c:pt>
                <c:pt idx="4">
                  <c:v>5.1999999999999998E-2</c:v>
                </c:pt>
                <c:pt idx="5">
                  <c:v>4.2000000000000003E-2</c:v>
                </c:pt>
                <c:pt idx="6">
                  <c:v>3.5999999999999997E-2</c:v>
                </c:pt>
                <c:pt idx="7">
                  <c:v>3.4000000000000002E-2</c:v>
                </c:pt>
                <c:pt idx="8">
                  <c:v>0.03</c:v>
                </c:pt>
                <c:pt idx="9">
                  <c:v>2.8000000000000001E-2</c:v>
                </c:pt>
                <c:pt idx="10">
                  <c:v>2.4E-2</c:v>
                </c:pt>
              </c:numCache>
            </c:numRef>
          </c:yVal>
          <c:smooth val="1"/>
          <c:extLst>
            <c:ext xmlns:c16="http://schemas.microsoft.com/office/drawing/2014/chart" uri="{C3380CC4-5D6E-409C-BE32-E72D297353CC}">
              <c16:uniqueId val="{00000000-5048-402A-AB7A-61B917934107}"/>
            </c:ext>
          </c:extLst>
        </c:ser>
        <c:dLbls>
          <c:showLegendKey val="0"/>
          <c:showVal val="0"/>
          <c:showCatName val="0"/>
          <c:showSerName val="0"/>
          <c:showPercent val="0"/>
          <c:showBubbleSize val="0"/>
        </c:dLbls>
        <c:axId val="-2128940872"/>
        <c:axId val="-2129643912"/>
      </c:scatterChart>
      <c:valAx>
        <c:axId val="-2128940872"/>
        <c:scaling>
          <c:orientation val="minMax"/>
          <c:max val="5000"/>
          <c:min val="0"/>
        </c:scaling>
        <c:delete val="0"/>
        <c:axPos val="b"/>
        <c:majorGridlines>
          <c:spPr>
            <a:ln w="9525" cap="flat" cmpd="sng" algn="ctr">
              <a:solidFill>
                <a:srgbClr val="C8CDD3"/>
              </a:solidFill>
              <a:prstDash val="dash"/>
            </a:ln>
          </c:spPr>
        </c:majorGridlines>
        <c:title>
          <c:tx>
            <c:rich>
              <a:bodyPr/>
              <a:lstStyle/>
              <a:p>
                <a:r>
                  <a:rPr lang="en-US" sz="1200" b="1" i="1">
                    <a:solidFill>
                      <a:srgbClr val="0B2B4E"/>
                    </a:solidFill>
                    <a:latin typeface="Calibri"/>
                  </a:rPr>
                  <a:t>Workers (L)</a:t>
                </a:r>
              </a:p>
            </c:rich>
          </c:tx>
          <c:overlay val="0"/>
        </c:title>
        <c:numFmt formatCode="General" sourceLinked="1"/>
        <c:majorTickMark val="out"/>
        <c:minorTickMark val="none"/>
        <c:tickLblPos val="nextTo"/>
        <c:txPr>
          <a:bodyPr/>
          <a:lstStyle/>
          <a:p>
            <a:pPr>
              <a:defRPr sz="1000">
                <a:solidFill>
                  <a:srgbClr val="0B2B4E"/>
                </a:solidFill>
                <a:latin typeface="Calibri"/>
              </a:defRPr>
            </a:pPr>
            <a:endParaRPr lang="en-US"/>
          </a:p>
        </c:txPr>
        <c:crossAx val="-2129643912"/>
        <c:crosses val="autoZero"/>
        <c:crossBetween val="midCat"/>
        <c:majorUnit val="500"/>
      </c:valAx>
      <c:valAx>
        <c:axId val="-2129643912"/>
        <c:scaling>
          <c:orientation val="minMax"/>
          <c:max val="0.45"/>
          <c:min val="0"/>
        </c:scaling>
        <c:delete val="0"/>
        <c:axPos val="l"/>
        <c:majorGridlines>
          <c:spPr>
            <a:ln w="9525" cap="flat" cmpd="sng" algn="ctr">
              <a:solidFill>
                <a:srgbClr val="C8CDD3"/>
              </a:solidFill>
              <a:prstDash val="dash"/>
            </a:ln>
          </c:spPr>
        </c:majorGridlines>
        <c:title>
          <c:tx>
            <c:rich>
              <a:bodyPr/>
              <a:lstStyle/>
              <a:p>
                <a:r>
                  <a:rPr lang="en-US" sz="1200" b="1" i="1">
                    <a:solidFill>
                      <a:srgbClr val="0B2B4E"/>
                    </a:solidFill>
                    <a:latin typeface="Calibri"/>
                  </a:rPr>
                  <a:t>MPL  (cars per worker)</a:t>
                </a:r>
              </a:p>
            </c:rich>
          </c:tx>
          <c:overlay val="0"/>
        </c:title>
        <c:numFmt formatCode="General" sourceLinked="1"/>
        <c:majorTickMark val="out"/>
        <c:minorTickMark val="none"/>
        <c:tickLblPos val="nextTo"/>
        <c:txPr>
          <a:bodyPr/>
          <a:lstStyle/>
          <a:p>
            <a:pPr>
              <a:defRPr sz="1000">
                <a:solidFill>
                  <a:srgbClr val="0B2B4E"/>
                </a:solidFill>
                <a:latin typeface="Calibri"/>
              </a:defRPr>
            </a:pPr>
            <a:endParaRPr lang="en-US"/>
          </a:p>
        </c:txPr>
        <c:crossAx val="-2128940872"/>
        <c:crosses val="autoZero"/>
        <c:crossBetween val="midCat"/>
        <c:majorUnit val="0.05"/>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
          <c:y val="0.03"/>
          <c:w val="0.88"/>
          <c:h val="0.82"/>
        </c:manualLayout>
      </c:layout>
      <c:lineChart>
        <c:grouping val="standard"/>
        <c:varyColors val="0"/>
        <c:ser>
          <c:idx val="0"/>
          <c:order val="0"/>
          <c:tx>
            <c:strRef>
              <c:f>Sheet1!$B$1</c:f>
              <c:strCache>
                <c:ptCount val="1"/>
                <c:pt idx="0">
                  <c:v>K = 100</c:v>
                </c:pt>
              </c:strCache>
            </c:strRef>
          </c:tx>
          <c:spPr>
            <a:ln w="25400">
              <a:solidFill>
                <a:srgbClr val="2E75B6"/>
              </a:solidFill>
            </a:ln>
          </c:spPr>
          <c:marker>
            <c:symbol val="circle"/>
            <c:size val="7"/>
            <c:spPr>
              <a:solidFill>
                <a:srgbClr val="2E75B6"/>
              </a:solidFill>
              <a:ln>
                <a:solidFill>
                  <a:srgbClr val="2E75B6"/>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Sheet1!$B$2:$B$13</c:f>
              <c:numCache>
                <c:formatCode>General</c:formatCode>
                <c:ptCount val="12"/>
                <c:pt idx="0">
                  <c:v>0</c:v>
                </c:pt>
                <c:pt idx="1">
                  <c:v>165</c:v>
                </c:pt>
                <c:pt idx="2">
                  <c:v>204</c:v>
                </c:pt>
                <c:pt idx="3">
                  <c:v>251</c:v>
                </c:pt>
                <c:pt idx="4">
                  <c:v>283</c:v>
                </c:pt>
                <c:pt idx="5">
                  <c:v>309</c:v>
                </c:pt>
                <c:pt idx="6">
                  <c:v>330</c:v>
                </c:pt>
                <c:pt idx="7">
                  <c:v>348</c:v>
                </c:pt>
                <c:pt idx="8">
                  <c:v>365</c:v>
                </c:pt>
                <c:pt idx="9">
                  <c:v>380</c:v>
                </c:pt>
                <c:pt idx="10">
                  <c:v>394</c:v>
                </c:pt>
                <c:pt idx="11">
                  <c:v>406</c:v>
                </c:pt>
              </c:numCache>
            </c:numRef>
          </c:val>
          <c:smooth val="0"/>
          <c:extLst>
            <c:ext xmlns:c16="http://schemas.microsoft.com/office/drawing/2014/chart" uri="{C3380CC4-5D6E-409C-BE32-E72D297353CC}">
              <c16:uniqueId val="{00000000-F957-4C09-85DE-B5B23B0425C2}"/>
            </c:ext>
          </c:extLst>
        </c:ser>
        <c:ser>
          <c:idx val="1"/>
          <c:order val="1"/>
          <c:tx>
            <c:strRef>
              <c:f>Sheet1!$C$1</c:f>
              <c:strCache>
                <c:ptCount val="1"/>
                <c:pt idx="0">
                  <c:v>K = 200</c:v>
                </c:pt>
              </c:strCache>
            </c:strRef>
          </c:tx>
          <c:spPr>
            <a:ln w="25400">
              <a:solidFill>
                <a:srgbClr val="C0504D"/>
              </a:solidFill>
            </a:ln>
          </c:spPr>
          <c:marker>
            <c:symbol val="triangle"/>
            <c:size val="7"/>
            <c:spPr>
              <a:solidFill>
                <a:srgbClr val="C0504D"/>
              </a:solidFill>
              <a:ln>
                <a:solidFill>
                  <a:srgbClr val="C0504D"/>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Sheet1!$C$2:$C$13</c:f>
              <c:numCache>
                <c:formatCode>General</c:formatCode>
                <c:ptCount val="12"/>
                <c:pt idx="0">
                  <c:v>0</c:v>
                </c:pt>
                <c:pt idx="1">
                  <c:v>234</c:v>
                </c:pt>
                <c:pt idx="2">
                  <c:v>288</c:v>
                </c:pt>
                <c:pt idx="3">
                  <c:v>354</c:v>
                </c:pt>
                <c:pt idx="4">
                  <c:v>400</c:v>
                </c:pt>
                <c:pt idx="5">
                  <c:v>436</c:v>
                </c:pt>
                <c:pt idx="6">
                  <c:v>467</c:v>
                </c:pt>
                <c:pt idx="7">
                  <c:v>493</c:v>
                </c:pt>
                <c:pt idx="8">
                  <c:v>516</c:v>
                </c:pt>
                <c:pt idx="9">
                  <c:v>537</c:v>
                </c:pt>
                <c:pt idx="10">
                  <c:v>557</c:v>
                </c:pt>
                <c:pt idx="11">
                  <c:v>574</c:v>
                </c:pt>
              </c:numCache>
            </c:numRef>
          </c:val>
          <c:smooth val="0"/>
          <c:extLst>
            <c:ext xmlns:c16="http://schemas.microsoft.com/office/drawing/2014/chart" uri="{C3380CC4-5D6E-409C-BE32-E72D297353CC}">
              <c16:uniqueId val="{00000001-F957-4C09-85DE-B5B23B0425C2}"/>
            </c:ext>
          </c:extLst>
        </c:ser>
        <c:ser>
          <c:idx val="2"/>
          <c:order val="2"/>
          <c:tx>
            <c:strRef>
              <c:f>Sheet1!$D$1</c:f>
              <c:strCache>
                <c:ptCount val="1"/>
                <c:pt idx="0">
                  <c:v>K = 300</c:v>
                </c:pt>
              </c:strCache>
            </c:strRef>
          </c:tx>
          <c:spPr>
            <a:ln w="25400">
              <a:solidFill>
                <a:srgbClr val="808080"/>
              </a:solidFill>
            </a:ln>
          </c:spPr>
          <c:marker>
            <c:symbol val="square"/>
            <c:size val="7"/>
            <c:spPr>
              <a:solidFill>
                <a:srgbClr val="808080"/>
              </a:solidFill>
              <a:ln>
                <a:solidFill>
                  <a:srgbClr val="808080"/>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Sheet1!$D$2:$D$13</c:f>
              <c:numCache>
                <c:formatCode>General</c:formatCode>
                <c:ptCount val="12"/>
                <c:pt idx="0">
                  <c:v>0</c:v>
                </c:pt>
                <c:pt idx="1">
                  <c:v>286</c:v>
                </c:pt>
                <c:pt idx="2">
                  <c:v>353</c:v>
                </c:pt>
                <c:pt idx="3">
                  <c:v>434</c:v>
                </c:pt>
                <c:pt idx="4">
                  <c:v>490</c:v>
                </c:pt>
                <c:pt idx="5">
                  <c:v>534</c:v>
                </c:pt>
                <c:pt idx="6">
                  <c:v>571</c:v>
                </c:pt>
                <c:pt idx="7">
                  <c:v>604</c:v>
                </c:pt>
                <c:pt idx="8">
                  <c:v>632</c:v>
                </c:pt>
                <c:pt idx="9">
                  <c:v>658</c:v>
                </c:pt>
                <c:pt idx="10">
                  <c:v>682</c:v>
                </c:pt>
                <c:pt idx="11">
                  <c:v>703</c:v>
                </c:pt>
              </c:numCache>
            </c:numRef>
          </c:val>
          <c:smooth val="0"/>
          <c:extLst>
            <c:ext xmlns:c16="http://schemas.microsoft.com/office/drawing/2014/chart" uri="{C3380CC4-5D6E-409C-BE32-E72D297353CC}">
              <c16:uniqueId val="{00000002-F957-4C09-85DE-B5B23B0425C2}"/>
            </c:ext>
          </c:extLst>
        </c:ser>
        <c:ser>
          <c:idx val="3"/>
          <c:order val="3"/>
          <c:tx>
            <c:strRef>
              <c:f>Sheet1!$E$1</c:f>
              <c:strCache>
                <c:ptCount val="1"/>
                <c:pt idx="0">
                  <c:v>K = 400</c:v>
                </c:pt>
              </c:strCache>
            </c:strRef>
          </c:tx>
          <c:spPr>
            <a:ln w="25400">
              <a:solidFill>
                <a:srgbClr val="E6B800"/>
              </a:solidFill>
            </a:ln>
          </c:spPr>
          <c:marker>
            <c:symbol val="diamond"/>
            <c:size val="7"/>
            <c:spPr>
              <a:solidFill>
                <a:srgbClr val="E6B800"/>
              </a:solidFill>
              <a:ln>
                <a:solidFill>
                  <a:srgbClr val="E6B800"/>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Sheet1!$E$2:$E$13</c:f>
              <c:numCache>
                <c:formatCode>General</c:formatCode>
                <c:ptCount val="12"/>
                <c:pt idx="0">
                  <c:v>0</c:v>
                </c:pt>
                <c:pt idx="1">
                  <c:v>331</c:v>
                </c:pt>
                <c:pt idx="2">
                  <c:v>407</c:v>
                </c:pt>
                <c:pt idx="3">
                  <c:v>501</c:v>
                </c:pt>
                <c:pt idx="4">
                  <c:v>566</c:v>
                </c:pt>
                <c:pt idx="5">
                  <c:v>617</c:v>
                </c:pt>
                <c:pt idx="6">
                  <c:v>660</c:v>
                </c:pt>
                <c:pt idx="7">
                  <c:v>697</c:v>
                </c:pt>
                <c:pt idx="8">
                  <c:v>730</c:v>
                </c:pt>
                <c:pt idx="9">
                  <c:v>760</c:v>
                </c:pt>
                <c:pt idx="10">
                  <c:v>787</c:v>
                </c:pt>
                <c:pt idx="11">
                  <c:v>812</c:v>
                </c:pt>
              </c:numCache>
            </c:numRef>
          </c:val>
          <c:smooth val="0"/>
          <c:extLst>
            <c:ext xmlns:c16="http://schemas.microsoft.com/office/drawing/2014/chart" uri="{C3380CC4-5D6E-409C-BE32-E72D297353CC}">
              <c16:uniqueId val="{00000003-F957-4C09-85DE-B5B23B0425C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lang="en-US" sz="1400" b="1" i="1" dirty="0">
                    <a:solidFill>
                      <a:srgbClr val="0B2B4E"/>
                    </a:solidFill>
                    <a:latin typeface="Calibri"/>
                  </a:rPr>
                  <a:t>Number of Workers (L)</a:t>
                </a:r>
              </a:p>
            </c:rich>
          </c:tx>
          <c:overlay val="0"/>
        </c:title>
        <c:numFmt formatCode="General" sourceLinked="0"/>
        <c:majorTickMark val="out"/>
        <c:minorTickMark val="none"/>
        <c:tickLblPos val="nextTo"/>
        <c:txPr>
          <a:bodyPr/>
          <a:lstStyle/>
          <a:p>
            <a:pPr>
              <a:defRPr sz="1100">
                <a:solidFill>
                  <a:srgbClr val="0B2B4E"/>
                </a:solidFill>
                <a:latin typeface="Calibri"/>
              </a:defRPr>
            </a:pPr>
            <a:endParaRPr lang="en-US"/>
          </a:p>
        </c:txPr>
        <c:crossAx val="2140495176"/>
        <c:crosses val="autoZero"/>
        <c:auto val="1"/>
        <c:lblAlgn val="ctr"/>
        <c:lblOffset val="100"/>
        <c:noMultiLvlLbl val="0"/>
      </c:catAx>
      <c:valAx>
        <c:axId val="2140495176"/>
        <c:scaling>
          <c:orientation val="minMax"/>
          <c:max val="800"/>
          <c:min val="0"/>
        </c:scaling>
        <c:delete val="0"/>
        <c:axPos val="l"/>
        <c:majorGridlines>
          <c:spPr>
            <a:ln w="9525" cap="flat" cmpd="sng" algn="ctr">
              <a:solidFill>
                <a:srgbClr val="C8CDD3"/>
              </a:solidFill>
              <a:prstDash val="dash"/>
            </a:ln>
          </c:spPr>
        </c:majorGridlines>
        <c:title>
          <c:tx>
            <c:rich>
              <a:bodyPr/>
              <a:lstStyle/>
              <a:p>
                <a:r>
                  <a:rPr lang="en-US" sz="1400" b="1" i="1">
                    <a:solidFill>
                      <a:srgbClr val="0B2B4E"/>
                    </a:solidFill>
                    <a:latin typeface="Calibri"/>
                  </a:rPr>
                  <a:t>Cars per Week (Q)</a:t>
                </a:r>
              </a:p>
            </c:rich>
          </c:tx>
          <c:overlay val="0"/>
        </c:title>
        <c:numFmt formatCode="General" sourceLinked="1"/>
        <c:majorTickMark val="out"/>
        <c:minorTickMark val="none"/>
        <c:tickLblPos val="nextTo"/>
        <c:txPr>
          <a:bodyPr/>
          <a:lstStyle/>
          <a:p>
            <a:pPr>
              <a:defRPr sz="1100">
                <a:solidFill>
                  <a:srgbClr val="0B2B4E"/>
                </a:solidFill>
                <a:latin typeface="Calibri"/>
              </a:defRPr>
            </a:pPr>
            <a:endParaRPr lang="en-US"/>
          </a:p>
        </c:txPr>
        <c:crossAx val="2118791784"/>
        <c:crosses val="autoZero"/>
        <c:crossBetween val="midCat"/>
        <c:majorUnit val="100"/>
      </c:valAx>
    </c:plotArea>
    <c:legend>
      <c:legendPos val="tr"/>
      <c:layout>
        <c:manualLayout>
          <c:xMode val="edge"/>
          <c:yMode val="edge"/>
          <c:x val="0.18"/>
          <c:y val="0.05"/>
          <c:w val="0.17"/>
          <c:h val="0.32"/>
        </c:manualLayout>
      </c:layout>
      <c:overlay val="0"/>
      <c:spPr>
        <a:solidFill>
          <a:srgbClr val="FFFFFF"/>
        </a:solidFill>
        <a:ln w="6350">
          <a:solidFill>
            <a:srgbClr val="0B2B4E"/>
          </a:solidFill>
        </a:ln>
      </c:spPr>
      <c:txPr>
        <a:bodyPr/>
        <a:lstStyle/>
        <a:p>
          <a:pPr>
            <a:lnSpc>
              <a:spcPct val="70000"/>
            </a:lnSpc>
            <a:defRPr sz="1800">
              <a:solidFill>
                <a:srgbClr val="0B2B4E"/>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2330000000000001"/>
          <c:y val="5.79E-2"/>
          <c:w val="0.82640000000000002"/>
          <c:h val="0.80089999999999995"/>
        </c:manualLayout>
      </c:layout>
      <c:scatterChart>
        <c:scatterStyle val="smoothMarker"/>
        <c:varyColors val="0"/>
        <c:ser>
          <c:idx val="0"/>
          <c:order val="0"/>
          <c:tx>
            <c:strRef>
              <c:f>Sheet1!$B$1</c:f>
              <c:strCache>
                <c:ptCount val="1"/>
                <c:pt idx="0">
                  <c:v>MRPL</c:v>
                </c:pt>
              </c:strCache>
            </c:strRef>
          </c:tx>
          <c:spPr>
            <a:ln w="31750">
              <a:solidFill>
                <a:srgbClr val="0B2B4E"/>
              </a:solidFill>
            </a:ln>
          </c:spPr>
          <c:marker>
            <c:symbol val="circle"/>
            <c:size val="7"/>
            <c:spPr>
              <a:solidFill>
                <a:srgbClr val="0B2B4E"/>
              </a:solidFill>
              <a:ln>
                <a:solidFill>
                  <a:srgbClr val="0B2B4E"/>
                </a:solidFill>
              </a:ln>
            </c:spPr>
          </c:marker>
          <c:xVal>
            <c:numRef>
              <c:f>Sheet1!$A$2:$A$10</c:f>
              <c:numCache>
                <c:formatCode>General</c:formatCode>
                <c:ptCount val="9"/>
                <c:pt idx="0">
                  <c:v>750</c:v>
                </c:pt>
                <c:pt idx="1">
                  <c:v>1250</c:v>
                </c:pt>
                <c:pt idx="2">
                  <c:v>1750</c:v>
                </c:pt>
                <c:pt idx="3">
                  <c:v>2250</c:v>
                </c:pt>
                <c:pt idx="4">
                  <c:v>2750</c:v>
                </c:pt>
                <c:pt idx="5">
                  <c:v>3250</c:v>
                </c:pt>
                <c:pt idx="6">
                  <c:v>3750</c:v>
                </c:pt>
                <c:pt idx="7">
                  <c:v>4250</c:v>
                </c:pt>
                <c:pt idx="8">
                  <c:v>4750</c:v>
                </c:pt>
              </c:numCache>
            </c:numRef>
          </c:xVal>
          <c:yVal>
            <c:numRef>
              <c:f>Sheet1!$B$2:$B$10</c:f>
              <c:numCache>
                <c:formatCode>General</c:formatCode>
                <c:ptCount val="9"/>
                <c:pt idx="0">
                  <c:v>4230</c:v>
                </c:pt>
                <c:pt idx="1">
                  <c:v>2880</c:v>
                </c:pt>
                <c:pt idx="2">
                  <c:v>2340</c:v>
                </c:pt>
                <c:pt idx="3">
                  <c:v>1890</c:v>
                </c:pt>
                <c:pt idx="4">
                  <c:v>1620</c:v>
                </c:pt>
                <c:pt idx="5">
                  <c:v>1530</c:v>
                </c:pt>
                <c:pt idx="6">
                  <c:v>1350</c:v>
                </c:pt>
                <c:pt idx="7">
                  <c:v>1260</c:v>
                </c:pt>
                <c:pt idx="8">
                  <c:v>1080</c:v>
                </c:pt>
              </c:numCache>
            </c:numRef>
          </c:yVal>
          <c:smooth val="0"/>
          <c:extLst>
            <c:ext xmlns:c16="http://schemas.microsoft.com/office/drawing/2014/chart" uri="{C3380CC4-5D6E-409C-BE32-E72D297353CC}">
              <c16:uniqueId val="{00000000-9313-471B-A501-9217922BB3D1}"/>
            </c:ext>
          </c:extLst>
        </c:ser>
        <c:ser>
          <c:idx val="1"/>
          <c:order val="1"/>
          <c:tx>
            <c:strRef>
              <c:f>Sheet1!$B$12</c:f>
              <c:strCache>
                <c:ptCount val="1"/>
                <c:pt idx="0">
                  <c:v>Wage (w)</c:v>
                </c:pt>
              </c:strCache>
            </c:strRef>
          </c:tx>
          <c:spPr>
            <a:ln w="31750">
              <a:solidFill>
                <a:srgbClr val="E09F3E"/>
              </a:solidFill>
            </a:ln>
          </c:spPr>
          <c:marker>
            <c:symbol val="square"/>
            <c:size val="7"/>
            <c:spPr>
              <a:solidFill>
                <a:srgbClr val="E09F3E"/>
              </a:solidFill>
              <a:ln>
                <a:solidFill>
                  <a:srgbClr val="E09F3E"/>
                </a:solidFill>
              </a:ln>
            </c:spPr>
          </c:marker>
          <c:xVal>
            <c:numRef>
              <c:f>Sheet1!$A$13:$A$14</c:f>
              <c:numCache>
                <c:formatCode>General</c:formatCode>
                <c:ptCount val="2"/>
                <c:pt idx="0">
                  <c:v>0</c:v>
                </c:pt>
                <c:pt idx="1">
                  <c:v>5000</c:v>
                </c:pt>
              </c:numCache>
            </c:numRef>
          </c:xVal>
          <c:yVal>
            <c:numRef>
              <c:f>Sheet1!$B$13:$B$14</c:f>
              <c:numCache>
                <c:formatCode>General</c:formatCode>
                <c:ptCount val="2"/>
                <c:pt idx="0">
                  <c:v>1500</c:v>
                </c:pt>
                <c:pt idx="1">
                  <c:v>1500</c:v>
                </c:pt>
              </c:numCache>
            </c:numRef>
          </c:yVal>
          <c:smooth val="0"/>
          <c:extLst>
            <c:ext xmlns:c16="http://schemas.microsoft.com/office/drawing/2014/chart" uri="{C3380CC4-5D6E-409C-BE32-E72D297353CC}">
              <c16:uniqueId val="{00000001-9313-471B-A501-9217922BB3D1}"/>
            </c:ext>
          </c:extLst>
        </c:ser>
        <c:dLbls>
          <c:showLegendKey val="0"/>
          <c:showVal val="0"/>
          <c:showCatName val="0"/>
          <c:showSerName val="0"/>
          <c:showPercent val="0"/>
          <c:showBubbleSize val="0"/>
        </c:dLbls>
        <c:axId val="-2128940872"/>
        <c:axId val="-2129643912"/>
      </c:scatterChart>
      <c:valAx>
        <c:axId val="-2128940872"/>
        <c:scaling>
          <c:orientation val="minMax"/>
          <c:max val="5000"/>
          <c:min val="0"/>
        </c:scaling>
        <c:delete val="0"/>
        <c:axPos val="b"/>
        <c:majorGridlines>
          <c:spPr>
            <a:ln w="9525" cap="flat" cmpd="sng" algn="ctr">
              <a:solidFill>
                <a:srgbClr val="C8CDD3"/>
              </a:solidFill>
              <a:prstDash val="dash"/>
            </a:ln>
          </c:spPr>
        </c:majorGridlines>
        <c:title>
          <c:tx>
            <c:rich>
              <a:bodyPr/>
              <a:lstStyle/>
              <a:p>
                <a:r>
                  <a:rPr lang="en-US" sz="1200" b="1" i="1">
                    <a:solidFill>
                      <a:srgbClr val="0B2B4E"/>
                    </a:solidFill>
                    <a:latin typeface="Calibri"/>
                  </a:rPr>
                  <a:t>L   (workers, midpoint of interval)</a:t>
                </a:r>
              </a:p>
            </c:rich>
          </c:tx>
          <c:overlay val="0"/>
        </c:title>
        <c:numFmt formatCode="General" sourceLinked="1"/>
        <c:majorTickMark val="out"/>
        <c:minorTickMark val="none"/>
        <c:tickLblPos val="nextTo"/>
        <c:txPr>
          <a:bodyPr/>
          <a:lstStyle/>
          <a:p>
            <a:pPr>
              <a:defRPr sz="1000">
                <a:solidFill>
                  <a:srgbClr val="0B2B4E"/>
                </a:solidFill>
                <a:latin typeface="Calibri"/>
              </a:defRPr>
            </a:pPr>
            <a:endParaRPr lang="en-US"/>
          </a:p>
        </c:txPr>
        <c:crossAx val="-2129643912"/>
        <c:crosses val="autoZero"/>
        <c:crossBetween val="midCat"/>
        <c:majorUnit val="500"/>
      </c:valAx>
      <c:valAx>
        <c:axId val="-2129643912"/>
        <c:scaling>
          <c:orientation val="minMax"/>
          <c:max val="5000"/>
          <c:min val="0"/>
        </c:scaling>
        <c:delete val="0"/>
        <c:axPos val="l"/>
        <c:majorGridlines>
          <c:spPr>
            <a:ln w="9525" cap="flat" cmpd="sng" algn="ctr">
              <a:solidFill>
                <a:srgbClr val="C8CDD3"/>
              </a:solidFill>
              <a:prstDash val="dash"/>
            </a:ln>
          </c:spPr>
        </c:majorGridlines>
        <c:title>
          <c:tx>
            <c:rich>
              <a:bodyPr/>
              <a:lstStyle/>
              <a:p>
                <a:r>
                  <a:rPr lang="en-US" sz="1200" b="1" i="1">
                    <a:solidFill>
                      <a:srgbClr val="0B2B4E"/>
                    </a:solidFill>
                    <a:latin typeface="Calibri"/>
                  </a:rPr>
                  <a:t>$ per worker per week</a:t>
                </a:r>
              </a:p>
            </c:rich>
          </c:tx>
          <c:overlay val="0"/>
        </c:title>
        <c:numFmt formatCode="General" sourceLinked="1"/>
        <c:majorTickMark val="out"/>
        <c:minorTickMark val="none"/>
        <c:tickLblPos val="nextTo"/>
        <c:txPr>
          <a:bodyPr/>
          <a:lstStyle/>
          <a:p>
            <a:pPr>
              <a:defRPr sz="1000">
                <a:solidFill>
                  <a:srgbClr val="0B2B4E"/>
                </a:solidFill>
                <a:latin typeface="Calibri"/>
              </a:defRPr>
            </a:pPr>
            <a:endParaRPr lang="en-US"/>
          </a:p>
        </c:txPr>
        <c:crossAx val="-2128940872"/>
        <c:crosses val="autoZero"/>
        <c:crossBetween val="midCat"/>
        <c:majorUnit val="500"/>
      </c:valAx>
    </c:plotArea>
    <c:legend>
      <c:legendPos val="tr"/>
      <c:layout>
        <c:manualLayout>
          <c:xMode val="edge"/>
          <c:yMode val="edge"/>
          <c:x val="0.31701340272236517"/>
          <c:y val="0.20780149877098697"/>
          <c:w val="0.24029109769500609"/>
          <c:h val="0.11732810742407197"/>
        </c:manualLayout>
      </c:layout>
      <c:overlay val="0"/>
      <c:spPr>
        <a:solidFill>
          <a:srgbClr val="FFFFFF"/>
        </a:solidFill>
        <a:ln w="6350">
          <a:solidFill>
            <a:srgbClr val="0B2B4E"/>
          </a:solidFill>
        </a:ln>
      </c:spPr>
      <c:txPr>
        <a:bodyPr/>
        <a:lstStyle/>
        <a:p>
          <a:pPr>
            <a:defRPr sz="1800">
              <a:solidFill>
                <a:srgbClr val="0B2B4E"/>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orientation before we go on. We have now defined what a production function is and seen how it behaves. From here we move into the short run, where capital is fixed and labor is the lever we can actually pull. The question becomes very concrete and very operational. How many workers should the firm hire? The next few slides build the simple tool we need to answer that.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set up the short run carefully. In the short run capital is fixed, and we put a little bar over the K to remind ourselves it is held constant. In contrast, labor is the input that can still be adjusted. Here is the key idea for this section, the marginal product of labor. In plain words, it is the extra output you get from one more unit of labor. We write it as the change in output, delta Q, divided by the change in labor, delta L. That ratio is really just answering the question every plant manager asks every shift. If I add one more worker, how many more cars do I get? On the next slide we put real Rivian numbers into that formula and watch the marginal product shrink.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actually compute the marginal product of labor, step by step, with Rivian's numbers. We fix capital at 100 robots and walk the workforce up in stages. Take the very first step, from zero to 250 workers. Output rises from zero to 165 cars. So the change in output is 165, over a change in labor of 250 workers, and dividing one by the other gives a marginal product of about 0.66 cars per worker. That is the number in the box. Notice the convention we are using. We always measure each change against the previous row, not all the way back to zero. Now keep your eye on the marginal product column as we keep hiring. It falls from 0.66 to about 0.156 on the next step, then 0.094, then 0.064, and on down to roughly 0.042 cars per worker by the last group. Each additional worker is contributing less than the one before. That steadily falling column is diminishing marginal product of labor, in real numbers rather than as a theory.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step back and see why that happens, and put it in a picture. When we hold capital fixed and keep adding more of a variable input like labor, total output still goes up. But it goes up by less and less each time. And less and less extra output is exactly what a falling marginal product means. On the left you can see total output rising and then flattening. The marginal product is really just the slope of that curve, how steep it is at each point. And that slope clearly gets gentler as we move to the right. On the right we plot the slope on its own, and it slides downward. The intuition is simple. Each new worker has to share the same fixed capital, the same machines and the same floor space. So each one adds a little less than the person before. This is not special to Rivian. It is the normal story in almost any short-run operation.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those same numbers as a picture, which makes the pattern much easier to see. Each curve is total output as we add workers, and there is one curve for each level of robots, from 100 at the bottom up to 400 at the top. Look at any one curve on its own. It climbs quickly at first and then flattens out. That flattening is diminishing marginal product of labor, each extra worker adding less than the one before. Now look at the spacing between the curves. As we move from 100 robots to 200 to 300 to 400, the curves bunch closer together. So adding more robots also buys less and less extra output. That is diminishing marginal product of capital. This shape turns up everywhere, from a factory floor to a consulting team, so it is worth getting comfortable with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striking historical example of diminishing marginal product, running in reverse. Before about 1800, most economies were agricultural. Land was the fixed factor, labor was the variable one, and there was essentially no capital. Now think about what diminishing returns implies. If each extra worker on a fixed amount of land adds less than the one before, then taking workers away should do the opposite. The workers who remain become more productive at the margin. That is exactly what happened after 1348, when the Black Death killed roughly half the population in just a few years. With far fewer people working the same land, the marginal product of each surviving worker jumped. And the chart shows the consequence. As population collapsed, the wages of the survivors rose sharply. This is real-world proof of marginal-product reasoning, about 600 years before economists gave it a name.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set up the hiring problem with a concrete scenario. Rivian has plenty of orders for the R1, and each one sells for about 80,000 dollars. Out of that price, roughly 35,000 dollars goes to materials. So the net revenue Rivian keeps from building one more car is about 45,000 dollars. Hold onto that 45,000 number, because we use it in a moment. We are in the short run, so the factory and the robots are fixed. The only lever Rivian can pull to build more cars is to hire more workers. So the question in front of us is simple to state. How many workers should Rivian hire? The next few slides build the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decide how many workers to hire, we need one new tool, the marginal revenue product of labor, or MRPL. In plain terms, it is the extra revenue the firm earns from one more worker. It breaks into two pieces multiplied together. The first is the marginal product of labor, the extra cars one more worker produces, which we just studied. The second is the marginal revenue, the money the firm gets from selling one more car. For a firm that is small relative to the market, selling one more car does not move the price, so marginal revenue is just the price, and MRPL is simply the price times the marginal product. Here is what follows. We already know the marginal product falls as we add workers, so MRPL falls too. And that gives us the decision rule. Keep hiring as long as the extra revenue from a worker, the MRPL, is bigger than the wage you pay them, and stop when they are equal. If you step back, this is really the same marginal-benefit-equals-marginal-cost logic we keep coming back to, now applied to hiring.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put real numbers on it. Rivian is currently running the R1 line with 100 robots and about 2,300 workers. We keep the net revenue per car at roughly 45,000 dollars, and we treat that as constant here. The question is, what is the marginal revenue product of labor at this point? Here is how to approach it. First, find where 2,300 workers falls in our table. It sits inside the 2,000 to 2,500 interval, so that is the step we use for the marginal product. Then multiply that marginal product by the 45,000 dollars of net revenue per car. That gives MRPL in dollars per worker per week. On the next slide I'll ask you to actually compute it, so get ready to do that.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answer worked through. We are in the 2,000 to 2,500 worker interval. From the production table at 100 robots, output goes from 309 cars at 2,000 workers to 330 cars at 2,500 workers. So the change in output is 21 cars over 500 extra workers, which is a marginal product of about 0.042 cars per worker per week. Now turn that into money. Each car brings in about 45,000 dollars of net revenue, so the marginal revenue product is 0.042 times 45,000, which comes to about 1,890 dollars per worker per week. So the twenty-three-hundredth worker adds roughly 1,890 dollars of revenue each week. Keep that number in mind, because on the next slide we compare it to the wage.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can state the rule cleanly. Suppose the weekly wage, including benefits, is about 1,500 dollars per worker. Think about hiring one more person. Revenue goes up by that worker's marginal revenue product, and costs go up by the wage. So profit rises as long as the marginal revenue product is bigger than the wage. You keep hiring until the two are equal. That point, where MRPL equals the wage, is the optimal number of workers, which we call L-star. And once again, this is the marginal-benefit-equals-marginal-cost idea, now for the hiring decision. The benefit of one more worker is the revenue they bring in, the cost is their wage, and you push to the point where those two balance.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do the whole calculation as a table. For every step in the workforce, we take the marginal product and multiply it by the 45,000 dollars of net revenue to get the marginal revenue product, shown in the MRPL column. Look at the first interval. The marginal product there is 0.66 cars per worker, so the marginal revenue product is a large 29,700 dollars per worker. That is far above the 1,500 dollar wage, so of course we hire. But watch the MRPL column fall as we add workers, 7,020, then 4,230, and on down through the thousands. On the right we line up the wage, a flat 1,500 dollars for every worker. The rule says keep hiring while MRPL is above the wage, and stop when it drops below. Tracing down the column, that crossover happens in the interval between 3,000 and 3,500 workers. So the optimal workforce is right around there. That is L-star, the point where the marginal revenue product has fallen to meet the wage, which is our marginal-benefit-equals-marginal-cost condition in numbers.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backup slide, showing what a very high marginal product of labor looks like in practice. It is the very start of Rivian's hiring ramp, where the plant has plenty of idle capital and only a few workers. In that situation each additional worker adds a lot of output, because there is so much equipment for them to work with. It is the steep part at the left of the production curve. The button in the corner takes us back.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companion backup slide, showing the opposite case, a very low or even negative marginal product of labor. Here the plant is already saturated with workers, all sharing the same fixed capital, so one more person adds almost nothing, and can even get in the way. It is the flat tail at the right of the production curve. Again, the button in the corner returns us to where we were.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slide" Target="slide16.xml"/><Relationship Id="rId5" Type="http://schemas.openxmlformats.org/officeDocument/2006/relationships/slide" Target="slide15.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slide" Target="slide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slide" Target="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Short Run: Hiring Decisions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3</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Rounded Rectangle 12"/>
          <p:cNvSpPr/>
          <p:nvPr/>
        </p:nvSpPr>
        <p:spPr>
          <a:xfrm>
            <a:off x="822960" y="2759202"/>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5" name="TextBox 14"/>
          <p:cNvSpPr txBox="1"/>
          <p:nvPr/>
        </p:nvSpPr>
        <p:spPr>
          <a:xfrm>
            <a:off x="1874519" y="281406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Short Run: Hiring Decisions</a:t>
            </a:r>
          </a:p>
          <a:p>
            <a:pPr algn="l">
              <a:spcBef>
                <a:spcPts val="0"/>
              </a:spcBef>
              <a:buNone/>
            </a:pPr>
            <a:r>
              <a:rPr sz="2200">
                <a:solidFill>
                  <a:srgbClr val="555B66"/>
                </a:solidFill>
                <a:latin typeface="Calibri"/>
              </a:rPr>
              <a:t>How many workers to hire when capital is fixed</a:t>
            </a:r>
          </a:p>
        </p:txBody>
      </p:sp>
      <p:sp>
        <p:nvSpPr>
          <p:cNvPr id="16" name="Rounded Rectangle 15"/>
          <p:cNvSpPr/>
          <p:nvPr/>
        </p:nvSpPr>
        <p:spPr>
          <a:xfrm>
            <a:off x="10332720" y="297865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3</a:t>
            </a:r>
          </a:p>
        </p:txBody>
      </p:sp>
      <p:sp>
        <p:nvSpPr>
          <p:cNvPr id="17" name="Oval 16"/>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8" name="TextBox 17"/>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9" name="Rounded Rectangle 18"/>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20" name="Oval 19"/>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1" name="TextBox 20"/>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2" name="Rounded Rectangle 21"/>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TextBox 23"/>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5" name="Rounded Rectangle 24"/>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D11E3725-2B2B-5068-95F8-EA42C5BEA37A}"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Short Run:  Marginal Product of Labor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11480"/>
          </a:xfrm>
          <a:prstGeom prst="rect">
            <a:avLst/>
          </a:prstGeom>
          <a:noFill/>
        </p:spPr>
        <p:txBody>
          <a:bodyPr wrap="square" lIns="45720" tIns="0" rIns="45720" bIns="0">
            <a:spAutoFit/>
          </a:bodyPr>
          <a:lstStyle/>
          <a:p>
            <a:pPr algn="l"/>
            <a:r>
              <a:rPr sz="2800" b="1" i="0">
                <a:solidFill>
                  <a:srgbClr val="0B2B4E"/>
                </a:solidFill>
                <a:latin typeface="Calibri"/>
              </a:rPr>
              <a:t>▪  Typically in the short run:</a:t>
            </a:r>
          </a:p>
        </p:txBody>
      </p:sp>
      <mc:AlternateContent xmlns:mc="http://schemas.openxmlformats.org/markup-compatibility/2006" xmlns:a14="http://schemas.microsoft.com/office/drawing/2010/main">
        <mc:Choice Requires="a14">
          <p:sp>
            <p:nvSpPr>
              <p:cNvPr id="8" name="TextBox 7"/>
              <p:cNvSpPr txBox="1"/>
              <p:nvPr/>
            </p:nvSpPr>
            <p:spPr>
              <a:xfrm>
                <a:off x="663479" y="2240280"/>
                <a:ext cx="11276217" cy="1097280"/>
              </a:xfrm>
              <a:prstGeom prst="rect">
                <a:avLst/>
              </a:prstGeom>
              <a:noFill/>
            </p:spPr>
            <p:txBody>
              <a:bodyPr wrap="square" lIns="45720" tIns="0" rIns="45720" bIns="0">
                <a:spAutoFit/>
              </a:bodyPr>
              <a:lstStyle/>
              <a:p>
                <a:r>
                  <a:rPr lang="en-US" sz="2600">
                    <a:solidFill>
                      <a:srgbClr val="0B2B4E"/>
                    </a:solidFill>
                    <a:latin typeface="Calibri"/>
                  </a:rPr>
                  <a:t>–  Capital is </a:t>
                </a:r>
                <a:r>
                  <a:rPr lang="en-US" sz="2600" b="1">
                    <a:solidFill>
                      <a:srgbClr val="0B2B4E"/>
                    </a:solidFill>
                    <a:latin typeface="Calibri"/>
                  </a:rPr>
                  <a:t>fixed</a:t>
                </a:r>
                <a:r>
                  <a:rPr lang="en-US" sz="2600">
                    <a:solidFill>
                      <a:srgbClr val="0B2B4E"/>
                    </a:solidFill>
                    <a:latin typeface="Calibri"/>
                  </a:rPr>
                  <a:t>  (</a:t>
                </a:r>
                <a14:m>
                  <m:oMath xmlns:m="http://schemas.openxmlformats.org/officeDocument/2006/math">
                    <m:acc>
                      <m:accPr>
                        <m:chr m:val="̅"/>
                        <m:ctrlPr>
                          <a:rPr lang="en-US" sz="2600" b="0" i="1">
                            <a:latin typeface="Cambria Math"/>
                          </a:rPr>
                        </m:ctrlPr>
                      </m:accPr>
                      <m:e>
                        <m:r>
                          <a:rPr lang="en-US" sz="2600" b="0" i="1">
                            <a:latin typeface="Cambria Math"/>
                          </a:rPr>
                          <m:t>𝐾</m:t>
                        </m:r>
                      </m:e>
                    </m:acc>
                  </m:oMath>
                </a14:m>
                <a:r>
                  <a:rPr lang="en-US" sz="2600">
                    <a:solidFill>
                      <a:srgbClr val="0B2B4E"/>
                    </a:solidFill>
                    <a:latin typeface="Calibri"/>
                  </a:rPr>
                  <a:t>)</a:t>
                </a:r>
                <a:endParaRPr lang="en-US"/>
              </a:p>
              <a:p>
                <a:r>
                  <a:rPr lang="en-US" sz="2600">
                    <a:solidFill>
                      <a:srgbClr val="0B2B4E"/>
                    </a:solidFill>
                    <a:latin typeface="Calibri"/>
                  </a:rPr>
                  <a:t>–  Labor is flexible  (</a:t>
                </a:r>
                <a14:m>
                  <m:oMath xmlns:m="http://schemas.openxmlformats.org/officeDocument/2006/math">
                    <m:r>
                      <a:rPr lang="en-US" sz="2600" b="0" i="1">
                        <a:latin typeface="Cambria Math"/>
                        <a:ea typeface="Cambria Math"/>
                      </a:rPr>
                      <m:t>𝐿</m:t>
                    </m:r>
                  </m:oMath>
                </a14:m>
                <a:r>
                  <a:rPr lang="en-US" sz="2600">
                    <a:solidFill>
                      <a:srgbClr val="0B2B4E"/>
                    </a:solidFill>
                    <a:latin typeface="Calibri"/>
                  </a:rPr>
                  <a:t>)</a:t>
                </a:r>
                <a:endParaRPr lang="en-US"/>
              </a:p>
            </p:txBody>
          </p:sp>
        </mc:Choice>
        <mc:Fallback xmlns="">
          <p:sp>
            <p:nvSpPr>
              <p:cNvPr id="8" name="TextBox 7"/>
              <p:cNvSpPr txBox="1">
                <a:spLocks noRot="1" noChangeAspect="1" noMove="1" noResize="1" noEditPoints="1" noAdjustHandles="1" noChangeArrowheads="1" noChangeShapeType="1" noTextEdit="1"/>
              </p:cNvSpPr>
              <p:nvPr/>
            </p:nvSpPr>
            <p:spPr>
              <a:xfrm>
                <a:off x="663479" y="2240280"/>
                <a:ext cx="11276217" cy="1097280"/>
              </a:xfrm>
              <a:prstGeom prst="rect">
                <a:avLst/>
              </a:prstGeom>
              <a:blipFill>
                <a:blip r:embed="rId3"/>
                <a:stretch>
                  <a:fillRect l="-1405" t="-8889"/>
                </a:stretch>
              </a:blipFill>
            </p:spPr>
            <p:txBody>
              <a:bodyPr/>
              <a:lstStyle/>
              <a:p>
                <a:r>
                  <a:rPr lang="en-US">
                    <a:noFill/>
                  </a:rPr>
                  <a:t> </a:t>
                </a:r>
              </a:p>
            </p:txBody>
          </p:sp>
        </mc:Fallback>
      </mc:AlternateContent>
      <p:sp>
        <p:nvSpPr>
          <p:cNvPr id="9" name="TextBox 8"/>
          <p:cNvSpPr txBox="1"/>
          <p:nvPr/>
        </p:nvSpPr>
        <p:spPr>
          <a:xfrm>
            <a:off x="251999" y="3657600"/>
            <a:ext cx="11687697" cy="411480"/>
          </a:xfrm>
          <a:prstGeom prst="rect">
            <a:avLst/>
          </a:prstGeom>
          <a:noFill/>
        </p:spPr>
        <p:txBody>
          <a:bodyPr wrap="square" lIns="45720" tIns="0" rIns="45720" bIns="0">
            <a:spAutoFit/>
          </a:bodyPr>
          <a:lstStyle/>
          <a:p>
            <a:pPr algn="l"/>
            <a:r>
              <a:rPr sz="2800" b="1" i="0">
                <a:solidFill>
                  <a:srgbClr val="0B2B4E"/>
                </a:solidFill>
                <a:latin typeface="Calibri"/>
              </a:rPr>
              <a:t>▪  Important Concept:  </a:t>
            </a:r>
            <a:r>
              <a:rPr sz="2800" b="1" i="0">
                <a:solidFill>
                  <a:srgbClr val="0070C0"/>
                </a:solidFill>
                <a:latin typeface="Calibri"/>
              </a:rPr>
              <a:t>Marginal Product of Labor</a:t>
            </a:r>
          </a:p>
        </p:txBody>
      </p:sp>
      <p:sp>
        <p:nvSpPr>
          <p:cNvPr id="10" name="TextBox 9"/>
          <p:cNvSpPr txBox="1"/>
          <p:nvPr/>
        </p:nvSpPr>
        <p:spPr>
          <a:xfrm>
            <a:off x="663479" y="4206240"/>
            <a:ext cx="11276217" cy="685800"/>
          </a:xfrm>
          <a:prstGeom prst="rect">
            <a:avLst/>
          </a:prstGeom>
          <a:noFill/>
        </p:spPr>
        <p:txBody>
          <a:bodyPr wrap="square" lIns="45720" tIns="0" rIns="45720" bIns="0">
            <a:spAutoFit/>
          </a:bodyPr>
          <a:lstStyle/>
          <a:p>
            <a:r>
              <a:rPr sz="2600" b="0" i="0">
                <a:solidFill>
                  <a:srgbClr val="0B2B4E"/>
                </a:solidFill>
                <a:latin typeface="Calibri"/>
              </a:rPr>
              <a:t>–  The </a:t>
            </a:r>
            <a:r>
              <a:rPr sz="2600" b="0" i="0">
                <a:solidFill>
                  <a:srgbClr val="0070C0"/>
                </a:solidFill>
                <a:latin typeface="Calibri"/>
              </a:rPr>
              <a:t>marginal product of labor </a:t>
            </a:r>
            <a:r>
              <a:rPr sz="2600" b="0" i="0">
                <a:solidFill>
                  <a:srgbClr val="0B2B4E"/>
                </a:solidFill>
                <a:latin typeface="Calibri"/>
              </a:rPr>
              <a:t>is the </a:t>
            </a:r>
            <a:r>
              <a:rPr sz="2600" b="0" i="1">
                <a:solidFill>
                  <a:srgbClr val="B8860B"/>
                </a:solidFill>
                <a:latin typeface="Calibri"/>
              </a:rPr>
              <a:t>change</a:t>
            </a:r>
            <a:r>
              <a:rPr sz="2600" b="0" i="0">
                <a:solidFill>
                  <a:srgbClr val="0B2B4E"/>
                </a:solidFill>
                <a:latin typeface="Calibri"/>
              </a:rPr>
              <a:t> in output due to a </a:t>
            </a:r>
            <a:r>
              <a:rPr sz="2600" b="0" i="1">
                <a:solidFill>
                  <a:srgbClr val="B8860B"/>
                </a:solidFill>
                <a:latin typeface="Calibri"/>
              </a:rPr>
              <a:t>change</a:t>
            </a:r>
            <a:r>
              <a:rPr sz="2600" b="0" i="0">
                <a:solidFill>
                  <a:srgbClr val="0B2B4E"/>
                </a:solidFill>
                <a:latin typeface="Calibri"/>
              </a:rPr>
              <a:t> in labor input:</a:t>
            </a:r>
          </a:p>
        </p:txBody>
      </p:sp>
      <mc:AlternateContent xmlns:mc="http://schemas.openxmlformats.org/markup-compatibility/2006" xmlns:a14="http://schemas.microsoft.com/office/drawing/2010/main">
        <mc:Choice Requires="a14">
          <p:sp>
            <p:nvSpPr>
              <p:cNvPr id="11" name="TextBox 10"/>
              <p:cNvSpPr txBox="1"/>
              <p:nvPr/>
            </p:nvSpPr>
            <p:spPr>
              <a:xfrm>
                <a:off x="4297680" y="5074920"/>
                <a:ext cx="3657600" cy="1143000"/>
              </a:xfrm>
              <a:prstGeom prst="rect">
                <a:avLst/>
              </a:prstGeom>
              <a:noFill/>
            </p:spPr>
            <p:txBody>
              <a:bodyPr wrap="square" anchor="ctr">
                <a:spAutoFit/>
              </a:bodyPr>
              <a:lstStyle/>
              <a:p>
                <a:pPr algn="ctr">
                  <a:defRPr sz="3600" b="0" i="1">
                    <a:solidFill>
                      <a:srgbClr val="0070C0"/>
                    </a:solidFill>
                    <a:latin typeface="Cambria Math"/>
                  </a:defRPr>
                </a:pPr>
                <a14:m>
                  <m:oMathPara xmlns:m="http://schemas.openxmlformats.org/officeDocument/2006/math">
                    <m:oMath>
                      <m:sSub>
                        <m:sSubPr>
                          <m:ctrlPr>
                            <a:rPr lang="en-US" sz="3600" b="0" i="1">
                              <a:latin typeface="Cambria Math"/>
                              <a:ea typeface="Cambria Math"/>
                            </a:rPr>
                          </m:ctrlPr>
                        </m:sSubPr>
                        <m:e>
                          <m:r>
                            <a:rPr lang="en-US" sz="3600" b="0" i="1">
                              <a:latin typeface="Cambria Math"/>
                              <a:ea typeface="Cambria Math"/>
                            </a:rPr>
                            <m:t>𝑀𝑃</m:t>
                          </m:r>
                        </m:e>
                        <m:sub>
                          <m:r>
                            <a:rPr lang="en-US" sz="3600" b="0" i="1">
                              <a:latin typeface="Cambria Math"/>
                              <a:ea typeface="Cambria Math"/>
                            </a:rPr>
                            <m:t>𝐿</m:t>
                          </m:r>
                        </m:sub>
                      </m:sSub>
                      <m:r>
                        <a:rPr lang="en-US" sz="3600" b="0" i="0">
                          <a:latin typeface="Cambria Math"/>
                        </a:rPr>
                        <m:t> = </m:t>
                      </m:r>
                      <m:f>
                        <m:fPr>
                          <m:ctrlPr>
                            <a:rPr lang="en-US" sz="3600" b="0" i="0">
                              <a:latin typeface="Cambria Math"/>
                            </a:rPr>
                          </m:ctrlPr>
                        </m:fPr>
                        <m:num>
                          <m:r>
                            <m:rPr>
                              <m:sty m:val="p"/>
                            </m:rPr>
                            <a:rPr lang="en-US" sz="3600" b="0" i="0">
                              <a:latin typeface="Cambria Math"/>
                            </a:rPr>
                            <m:t>Δ</m:t>
                          </m:r>
                          <m:r>
                            <a:rPr lang="en-US" sz="3600" b="0" i="1">
                              <a:latin typeface="Cambria Math"/>
                              <a:ea typeface="Cambria Math"/>
                            </a:rPr>
                            <m:t>𝑄</m:t>
                          </m:r>
                        </m:num>
                        <m:den>
                          <m:r>
                            <m:rPr>
                              <m:sty m:val="p"/>
                            </m:rPr>
                            <a:rPr lang="en-US" sz="3600" b="0" i="0">
                              <a:latin typeface="Cambria Math"/>
                            </a:rPr>
                            <m:t>Δ</m:t>
                          </m:r>
                          <m:r>
                            <a:rPr lang="en-US" sz="3600" b="0" i="1">
                              <a:latin typeface="Cambria Math"/>
                              <a:ea typeface="Cambria Math"/>
                            </a:rPr>
                            <m:t>𝐿</m:t>
                          </m:r>
                        </m:den>
                      </m:f>
                    </m:oMath>
                  </m:oMathPara>
                </a14:m>
                <a:endParaRPr lang="en-US" sz="3600"/>
              </a:p>
            </p:txBody>
          </p:sp>
        </mc:Choice>
        <mc:Fallback xmlns="">
          <p:sp>
            <p:nvSpPr>
              <p:cNvPr id="11" name="TextBox 10"/>
              <p:cNvSpPr txBox="1">
                <a:spLocks noRot="1" noChangeAspect="1" noMove="1" noResize="1" noEditPoints="1" noAdjustHandles="1" noChangeArrowheads="1" noChangeShapeType="1" noTextEdit="1"/>
              </p:cNvSpPr>
              <p:nvPr/>
            </p:nvSpPr>
            <p:spPr>
              <a:xfrm>
                <a:off x="4297680" y="5074920"/>
                <a:ext cx="3657600" cy="1143000"/>
              </a:xfrm>
              <a:prstGeom prst="rect">
                <a:avLst/>
              </a:prstGeom>
              <a:blipFill>
                <a:blip r:embed="rId4"/>
                <a:stretch>
                  <a:fillRect/>
                </a:stretch>
              </a:blipFill>
            </p:spPr>
            <p:txBody>
              <a:bodyPr/>
              <a:lstStyle/>
              <a:p>
                <a:r>
                  <a:rPr lang="en-US">
                    <a:noFill/>
                  </a:rPr>
                  <a:t> </a:t>
                </a:r>
              </a:p>
            </p:txBody>
          </p:sp>
        </mc:Fallback>
      </mc:AlternateContent>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5" name="TextBox 14"/>
          <p:cNvSpPr txBox="1"/>
          <p:nvPr/>
        </p:nvSpPr>
        <p:spPr>
          <a:xfrm>
            <a:off x="11430000" y="6583680"/>
            <a:ext cx="548640" cy="292608"/>
          </a:xfrm>
          <a:prstGeom prst="rect">
            <a:avLst/>
          </a:prstGeom>
          <a:noFill/>
        </p:spPr>
        <p:txBody>
          <a:bodyPr wrap="square" lIns="0" tIns="0" rIns="0" bIns="0">
            <a:spAutoFit/>
          </a:bodyPr>
          <a:lstStyle/>
          <a:p>
            <a:pPr algn="r"/>
            <a:fld id="{D087576A-27C0-4B7A-A12B-06EED320962A}"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Marginal Product of Labor (MPL):  Calculation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11480"/>
          </a:xfrm>
          <a:prstGeom prst="rect">
            <a:avLst/>
          </a:prstGeom>
          <a:noFill/>
        </p:spPr>
        <p:txBody>
          <a:bodyPr wrap="square" lIns="45720" tIns="0" rIns="45720" bIns="0">
            <a:spAutoFit/>
          </a:bodyPr>
          <a:lstStyle/>
          <a:p>
            <a:r>
              <a:rPr lang="en-US" sz="2400" b="1">
                <a:solidFill>
                  <a:srgbClr val="0B2B4E"/>
                </a:solidFill>
                <a:latin typeface="Calibri"/>
              </a:rPr>
              <a:t>▪  Example:  MPL from Rivian Production function</a:t>
            </a:r>
            <a:endParaRPr lang="en-US"/>
          </a:p>
        </p:txBody>
      </p:sp>
      <mc:AlternateContent xmlns:mc="http://schemas.openxmlformats.org/markup-compatibility/2006" xmlns:a14="http://schemas.microsoft.com/office/drawing/2010/main">
        <mc:Choice Requires="a14">
          <p:sp>
            <p:nvSpPr>
              <p:cNvPr id="8" name="TextBox 7"/>
              <p:cNvSpPr txBox="1"/>
              <p:nvPr/>
            </p:nvSpPr>
            <p:spPr>
              <a:xfrm>
                <a:off x="663479" y="2148840"/>
                <a:ext cx="11276217" cy="365760"/>
              </a:xfrm>
              <a:prstGeom prst="rect">
                <a:avLst/>
              </a:prstGeom>
              <a:noFill/>
            </p:spPr>
            <p:txBody>
              <a:bodyPr wrap="square" lIns="45720" tIns="0" rIns="45720" bIns="0">
                <a:spAutoFit/>
              </a:bodyPr>
              <a:lstStyle/>
              <a:p>
                <a:r>
                  <a:rPr lang="en-US" sz="2200">
                    <a:solidFill>
                      <a:srgbClr val="0B2B4E"/>
                    </a:solidFill>
                    <a:latin typeface="Calibri"/>
                  </a:rPr>
                  <a:t>–  Fix capital at  </a:t>
                </a:r>
                <a14:m>
                  <m:oMath xmlns:m="http://schemas.openxmlformats.org/officeDocument/2006/math">
                    <m:acc>
                      <m:accPr>
                        <m:chr m:val="̅"/>
                        <m:ctrlPr>
                          <a:rPr lang="en-US" sz="2200" b="0" i="1">
                            <a:latin typeface="Cambria Math"/>
                          </a:rPr>
                        </m:ctrlPr>
                      </m:accPr>
                      <m:e>
                        <m:r>
                          <a:rPr lang="en-US" sz="2200" b="0" i="1">
                            <a:latin typeface="Cambria Math"/>
                          </a:rPr>
                          <m:t>𝐾</m:t>
                        </m:r>
                      </m:e>
                    </m:acc>
                  </m:oMath>
                </a14:m>
                <a:r>
                  <a:rPr lang="en-US" sz="2200" b="1">
                    <a:solidFill>
                      <a:srgbClr val="0B2B4E"/>
                    </a:solidFill>
                    <a:latin typeface="Calibri"/>
                  </a:rPr>
                  <a:t>  =  100</a:t>
                </a:r>
                <a:endParaRPr lang="en-US"/>
              </a:p>
            </p:txBody>
          </p:sp>
        </mc:Choice>
        <mc:Fallback xmlns="">
          <p:sp>
            <p:nvSpPr>
              <p:cNvPr id="8" name="TextBox 7"/>
              <p:cNvSpPr txBox="1">
                <a:spLocks noRot="1" noChangeAspect="1" noMove="1" noResize="1" noEditPoints="1" noAdjustHandles="1" noChangeArrowheads="1" noChangeShapeType="1" noTextEdit="1"/>
              </p:cNvSpPr>
              <p:nvPr/>
            </p:nvSpPr>
            <p:spPr>
              <a:xfrm>
                <a:off x="663479" y="2148840"/>
                <a:ext cx="11276217" cy="365760"/>
              </a:xfrm>
              <a:prstGeom prst="rect">
                <a:avLst/>
              </a:prstGeom>
              <a:blipFill>
                <a:blip r:embed="rId3"/>
                <a:stretch>
                  <a:fillRect l="-1135" t="-25000" b="-36667"/>
                </a:stretch>
              </a:blipFill>
            </p:spPr>
            <p:txBody>
              <a:bodyPr/>
              <a:lstStyle/>
              <a:p>
                <a:r>
                  <a:rPr lang="en-US">
                    <a:noFill/>
                  </a:rPr>
                  <a:t> </a:t>
                </a:r>
              </a:p>
            </p:txBody>
          </p:sp>
        </mc:Fallback>
      </mc:AlternateContent>
      <p:sp>
        <p:nvSpPr>
          <p:cNvPr id="9" name="Rectangle 8"/>
          <p:cNvSpPr/>
          <p:nvPr/>
        </p:nvSpPr>
        <p:spPr>
          <a:xfrm>
            <a:off x="731520" y="2606040"/>
            <a:ext cx="4389120" cy="2612898"/>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731520" y="2606040"/>
          <a:ext cx="4389120" cy="26309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326612">
                <a:tc>
                  <a:txBody>
                    <a:bodyPr/>
                    <a:lstStyle/>
                    <a:p>
                      <a:pPr algn="ctr"/>
                      <a:r>
                        <a:rPr sz="1600" b="1">
                          <a:solidFill>
                            <a:srgbClr val="FFFFFF"/>
                          </a:solidFill>
                          <a:latin typeface="Calibri"/>
                        </a:rPr>
                        <a:t>L</a:t>
                      </a:r>
                    </a:p>
                  </a:txBody>
                  <a:tcPr marT="27432" marB="27432" anchor="ctr">
                    <a:solidFill>
                      <a:srgbClr val="0B2B4E"/>
                    </a:solidFill>
                  </a:tcPr>
                </a:tc>
                <a:tc>
                  <a:txBody>
                    <a:bodyPr/>
                    <a:lstStyle/>
                    <a:p>
                      <a:pPr algn="ctr"/>
                      <a:r>
                        <a:rPr sz="1600" b="1">
                          <a:solidFill>
                            <a:srgbClr val="FFFFFF"/>
                          </a:solidFill>
                          <a:latin typeface="Calibri"/>
                        </a:rPr>
                        <a:t>K</a:t>
                      </a:r>
                    </a:p>
                  </a:txBody>
                  <a:tcPr marT="27432" marB="27432" anchor="ctr">
                    <a:solidFill>
                      <a:srgbClr val="0B2B4E"/>
                    </a:solidFill>
                  </a:tcPr>
                </a:tc>
                <a:tc>
                  <a:txBody>
                    <a:bodyPr/>
                    <a:lstStyle/>
                    <a:p>
                      <a:pPr algn="ctr"/>
                      <a:r>
                        <a:rPr sz="1600" b="1">
                          <a:solidFill>
                            <a:srgbClr val="FFFFFF"/>
                          </a:solidFill>
                          <a:latin typeface="Calibri"/>
                        </a:rPr>
                        <a:t>Q</a:t>
                      </a:r>
                    </a:p>
                  </a:txBody>
                  <a:tcPr marT="27432" marB="27432" anchor="ctr">
                    <a:solidFill>
                      <a:srgbClr val="0B2B4E"/>
                    </a:solidFill>
                  </a:tcPr>
                </a:tc>
                <a:tc>
                  <a:txBody>
                    <a:bodyPr/>
                    <a:lstStyle/>
                    <a:p>
                      <a:pPr algn="ctr"/>
                      <a:r>
                        <a:rPr sz="1600" b="1">
                          <a:solidFill>
                            <a:srgbClr val="FFFFFF"/>
                          </a:solidFill>
                          <a:latin typeface="Calibri"/>
                        </a:rPr>
                        <a:t>ΔQ</a:t>
                      </a:r>
                    </a:p>
                  </a:txBody>
                  <a:tcPr marT="27432" marB="27432" anchor="ctr">
                    <a:solidFill>
                      <a:srgbClr val="0B2B4E"/>
                    </a:solidFill>
                  </a:tcPr>
                </a:tc>
                <a:tc>
                  <a:txBody>
                    <a:bodyPr/>
                    <a:lstStyle/>
                    <a:p>
                      <a:pPr algn="ctr"/>
                      <a:r>
                        <a:rPr sz="1600" b="1">
                          <a:solidFill>
                            <a:srgbClr val="FFFFFF"/>
                          </a:solidFill>
                          <a:latin typeface="Calibri"/>
                        </a:rPr>
                        <a:t>ΔL</a:t>
                      </a:r>
                    </a:p>
                  </a:txBody>
                  <a:tcPr marT="27432" marB="27432" anchor="ctr">
                    <a:solidFill>
                      <a:srgbClr val="0B2B4E"/>
                    </a:solidFill>
                  </a:tcPr>
                </a:tc>
                <a:tc>
                  <a:txBody>
                    <a:bodyPr/>
                    <a:lstStyle/>
                    <a:p>
                      <a:pPr algn="ctr"/>
                      <a:r>
                        <a:rPr sz="1600" b="1">
                          <a:solidFill>
                            <a:srgbClr val="FFFFFF"/>
                          </a:solidFill>
                          <a:latin typeface="Calibri"/>
                        </a:rPr>
                        <a:t>MPL</a:t>
                      </a:r>
                    </a:p>
                  </a:txBody>
                  <a:tcPr marT="27432" marB="27432" anchor="ctr">
                    <a:solidFill>
                      <a:srgbClr val="0B2B4E"/>
                    </a:solidFill>
                  </a:tcPr>
                </a:tc>
                <a:extLst>
                  <a:ext uri="{0D108BD9-81ED-4DB2-BD59-A6C34878D82A}">
                    <a16:rowId xmlns:a16="http://schemas.microsoft.com/office/drawing/2014/main" val="10000"/>
                  </a:ext>
                </a:extLst>
              </a:tr>
              <a:tr h="326612">
                <a:tc>
                  <a:txBody>
                    <a:bodyPr/>
                    <a:lstStyle/>
                    <a:p>
                      <a:pPr algn="ctr"/>
                      <a:r>
                        <a:rPr sz="1600">
                          <a:solidFill>
                            <a:srgbClr val="000000"/>
                          </a:solidFill>
                          <a:latin typeface="Calibri"/>
                        </a:rPr>
                        <a:t>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0</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1"/>
                  </a:ext>
                </a:extLst>
              </a:tr>
              <a:tr h="326612">
                <a:tc>
                  <a:txBody>
                    <a:bodyPr/>
                    <a:lstStyle/>
                    <a:p>
                      <a:pPr algn="ctr"/>
                      <a:r>
                        <a:rPr sz="1600">
                          <a:solidFill>
                            <a:srgbClr val="000000"/>
                          </a:solidFill>
                          <a:latin typeface="Calibri"/>
                        </a:rPr>
                        <a:t>250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165</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2"/>
                  </a:ext>
                </a:extLst>
              </a:tr>
              <a:tr h="326612">
                <a:tc>
                  <a:txBody>
                    <a:bodyPr/>
                    <a:lstStyle/>
                    <a:p>
                      <a:pPr algn="ctr"/>
                      <a:r>
                        <a:rPr sz="1600">
                          <a:solidFill>
                            <a:srgbClr val="000000"/>
                          </a:solidFill>
                          <a:latin typeface="Calibri"/>
                        </a:rPr>
                        <a:t>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204</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3"/>
                  </a:ext>
                </a:extLst>
              </a:tr>
              <a:tr h="326612">
                <a:tc>
                  <a:txBody>
                    <a:bodyPr/>
                    <a:lstStyle/>
                    <a:p>
                      <a:pPr algn="ctr"/>
                      <a:r>
                        <a:rPr sz="1600">
                          <a:solidFill>
                            <a:srgbClr val="000000"/>
                          </a:solidFill>
                          <a:latin typeface="Calibri"/>
                        </a:rPr>
                        <a:t>1,000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251</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4"/>
                  </a:ext>
                </a:extLst>
              </a:tr>
              <a:tr h="326612">
                <a:tc>
                  <a:txBody>
                    <a:bodyPr/>
                    <a:lstStyle/>
                    <a:p>
                      <a:pPr algn="ctr"/>
                      <a:r>
                        <a:rPr sz="1600">
                          <a:solidFill>
                            <a:srgbClr val="000000"/>
                          </a:solidFill>
                          <a:latin typeface="Calibri"/>
                        </a:rPr>
                        <a:t>1,500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283</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5"/>
                  </a:ext>
                </a:extLst>
              </a:tr>
              <a:tr h="326612">
                <a:tc>
                  <a:txBody>
                    <a:bodyPr/>
                    <a:lstStyle/>
                    <a:p>
                      <a:pPr algn="ctr"/>
                      <a:r>
                        <a:rPr sz="1600">
                          <a:solidFill>
                            <a:srgbClr val="000000"/>
                          </a:solidFill>
                          <a:latin typeface="Calibri"/>
                        </a:rPr>
                        <a:t>2,000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309</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6"/>
                  </a:ext>
                </a:extLst>
              </a:tr>
              <a:tr h="326614">
                <a:tc>
                  <a:txBody>
                    <a:bodyPr/>
                    <a:lstStyle/>
                    <a:p>
                      <a:pPr algn="ctr"/>
                      <a:r>
                        <a:rPr sz="1600">
                          <a:solidFill>
                            <a:srgbClr val="000000"/>
                          </a:solidFill>
                          <a:latin typeface="Calibri"/>
                        </a:rPr>
                        <a:t>2,500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330</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2788920" y="3067812"/>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165</a:t>
            </a:r>
          </a:p>
        </p:txBody>
      </p:sp>
      <p:sp>
        <p:nvSpPr>
          <p:cNvPr id="12" name="TextBox 11"/>
          <p:cNvSpPr txBox="1"/>
          <p:nvPr/>
        </p:nvSpPr>
        <p:spPr>
          <a:xfrm>
            <a:off x="3566160" y="3067812"/>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250</a:t>
            </a:r>
          </a:p>
        </p:txBody>
      </p:sp>
      <p:sp>
        <p:nvSpPr>
          <p:cNvPr id="13" name="Rounded Rectangle 12"/>
          <p:cNvSpPr/>
          <p:nvPr/>
        </p:nvSpPr>
        <p:spPr>
          <a:xfrm>
            <a:off x="4288536" y="3067812"/>
            <a:ext cx="79552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51960" y="3067812"/>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0.660</a:t>
            </a:r>
          </a:p>
        </p:txBody>
      </p:sp>
      <p:sp>
        <p:nvSpPr>
          <p:cNvPr id="15" name="TextBox 14"/>
          <p:cNvSpPr txBox="1"/>
          <p:nvPr/>
        </p:nvSpPr>
        <p:spPr>
          <a:xfrm>
            <a:off x="2788920" y="3404311"/>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39</a:t>
            </a:r>
          </a:p>
        </p:txBody>
      </p:sp>
      <p:sp>
        <p:nvSpPr>
          <p:cNvPr id="16" name="TextBox 15"/>
          <p:cNvSpPr txBox="1"/>
          <p:nvPr/>
        </p:nvSpPr>
        <p:spPr>
          <a:xfrm>
            <a:off x="3566160" y="3404311"/>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250</a:t>
            </a:r>
          </a:p>
        </p:txBody>
      </p:sp>
      <p:sp>
        <p:nvSpPr>
          <p:cNvPr id="17" name="Rounded Rectangle 16"/>
          <p:cNvSpPr/>
          <p:nvPr/>
        </p:nvSpPr>
        <p:spPr>
          <a:xfrm>
            <a:off x="4288536" y="3404311"/>
            <a:ext cx="79552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3404311"/>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0.156</a:t>
            </a:r>
          </a:p>
        </p:txBody>
      </p:sp>
      <p:sp>
        <p:nvSpPr>
          <p:cNvPr id="19" name="TextBox 18"/>
          <p:cNvSpPr txBox="1"/>
          <p:nvPr/>
        </p:nvSpPr>
        <p:spPr>
          <a:xfrm>
            <a:off x="2788920" y="3730752"/>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47</a:t>
            </a:r>
          </a:p>
        </p:txBody>
      </p:sp>
      <p:sp>
        <p:nvSpPr>
          <p:cNvPr id="20" name="TextBox 19"/>
          <p:cNvSpPr txBox="1"/>
          <p:nvPr/>
        </p:nvSpPr>
        <p:spPr>
          <a:xfrm>
            <a:off x="3566160" y="3730752"/>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21" name="Rounded Rectangle 20"/>
          <p:cNvSpPr/>
          <p:nvPr/>
        </p:nvSpPr>
        <p:spPr>
          <a:xfrm>
            <a:off x="4288536" y="3730752"/>
            <a:ext cx="79552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51960" y="3730752"/>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0.094</a:t>
            </a:r>
          </a:p>
        </p:txBody>
      </p:sp>
      <p:sp>
        <p:nvSpPr>
          <p:cNvPr id="23" name="TextBox 22"/>
          <p:cNvSpPr txBox="1"/>
          <p:nvPr/>
        </p:nvSpPr>
        <p:spPr>
          <a:xfrm>
            <a:off x="2788920" y="4048963"/>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32</a:t>
            </a:r>
          </a:p>
        </p:txBody>
      </p:sp>
      <p:sp>
        <p:nvSpPr>
          <p:cNvPr id="24" name="TextBox 23"/>
          <p:cNvSpPr txBox="1"/>
          <p:nvPr/>
        </p:nvSpPr>
        <p:spPr>
          <a:xfrm>
            <a:off x="3566160" y="4048963"/>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25" name="Rounded Rectangle 24"/>
          <p:cNvSpPr/>
          <p:nvPr/>
        </p:nvSpPr>
        <p:spPr>
          <a:xfrm>
            <a:off x="4288536" y="4048963"/>
            <a:ext cx="79552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60" y="4048963"/>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0.064</a:t>
            </a:r>
          </a:p>
        </p:txBody>
      </p:sp>
      <p:sp>
        <p:nvSpPr>
          <p:cNvPr id="27" name="TextBox 26"/>
          <p:cNvSpPr txBox="1"/>
          <p:nvPr/>
        </p:nvSpPr>
        <p:spPr>
          <a:xfrm>
            <a:off x="2788920" y="4384548"/>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26</a:t>
            </a:r>
          </a:p>
        </p:txBody>
      </p:sp>
      <p:sp>
        <p:nvSpPr>
          <p:cNvPr id="28" name="TextBox 27"/>
          <p:cNvSpPr txBox="1"/>
          <p:nvPr/>
        </p:nvSpPr>
        <p:spPr>
          <a:xfrm>
            <a:off x="3566160" y="4384548"/>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29" name="Rounded Rectangle 28"/>
          <p:cNvSpPr/>
          <p:nvPr/>
        </p:nvSpPr>
        <p:spPr>
          <a:xfrm>
            <a:off x="4288536" y="4384548"/>
            <a:ext cx="79552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1960" y="4384548"/>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0.052</a:t>
            </a:r>
          </a:p>
        </p:txBody>
      </p:sp>
      <p:sp>
        <p:nvSpPr>
          <p:cNvPr id="31" name="TextBox 30"/>
          <p:cNvSpPr txBox="1"/>
          <p:nvPr/>
        </p:nvSpPr>
        <p:spPr>
          <a:xfrm>
            <a:off x="2788920" y="4720132"/>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21</a:t>
            </a:r>
          </a:p>
        </p:txBody>
      </p:sp>
      <p:sp>
        <p:nvSpPr>
          <p:cNvPr id="32" name="TextBox 31"/>
          <p:cNvSpPr txBox="1"/>
          <p:nvPr/>
        </p:nvSpPr>
        <p:spPr>
          <a:xfrm>
            <a:off x="3566160" y="4720132"/>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33" name="Rounded Rectangle 32"/>
          <p:cNvSpPr/>
          <p:nvPr/>
        </p:nvSpPr>
        <p:spPr>
          <a:xfrm>
            <a:off x="4288536" y="4720132"/>
            <a:ext cx="79552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51960" y="4720132"/>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0.042</a:t>
            </a:r>
          </a:p>
        </p:txBody>
      </p:sp>
      <p:cxnSp>
        <p:nvCxnSpPr>
          <p:cNvPr id="35" name="Connector 34"/>
          <p:cNvCxnSpPr/>
          <p:nvPr/>
        </p:nvCxnSpPr>
        <p:spPr>
          <a:xfrm>
            <a:off x="2657246" y="3058668"/>
            <a:ext cx="0" cy="329184"/>
          </a:xfrm>
          <a:prstGeom prst="line">
            <a:avLst/>
          </a:prstGeom>
          <a:ln w="38100">
            <a:solidFill>
              <a:srgbClr val="1B5E20"/>
            </a:solidFill>
            <a:tailEnd type="triangle" w="med"/>
          </a:ln>
        </p:spPr>
        <p:style>
          <a:lnRef idx="2">
            <a:schemeClr val="accent1"/>
          </a:lnRef>
          <a:fillRef idx="0">
            <a:schemeClr val="accent1"/>
          </a:fillRef>
          <a:effectRef idx="1">
            <a:schemeClr val="accent1"/>
          </a:effectRef>
          <a:fontRef idx="minor">
            <a:schemeClr val="tx1"/>
          </a:fontRef>
        </p:style>
      </p:cxnSp>
      <p:sp>
        <p:nvSpPr>
          <p:cNvPr id="53" name="WavyLine"/>
          <p:cNvSpPr/>
          <p:nvPr/>
        </p:nvSpPr>
        <p:spPr>
          <a:xfrm>
            <a:off x="2657246" y="3204972"/>
            <a:ext cx="351130"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txBody>
          <a:bodyPr/>
          <a:lstStyle/>
          <a:p>
            <a:endParaRPr lang="en-US"/>
          </a:p>
        </p:txBody>
      </p:sp>
      <p:cxnSp>
        <p:nvCxnSpPr>
          <p:cNvPr id="36" name="Connector 35"/>
          <p:cNvCxnSpPr/>
          <p:nvPr/>
        </p:nvCxnSpPr>
        <p:spPr>
          <a:xfrm>
            <a:off x="2657246" y="3395167"/>
            <a:ext cx="0" cy="329184"/>
          </a:xfrm>
          <a:prstGeom prst="line">
            <a:avLst/>
          </a:prstGeom>
          <a:ln w="38100">
            <a:solidFill>
              <a:srgbClr val="1B5E20"/>
            </a:solidFill>
            <a:tailEnd type="triangle" w="med"/>
          </a:ln>
        </p:spPr>
        <p:style>
          <a:lnRef idx="2">
            <a:schemeClr val="accent1"/>
          </a:lnRef>
          <a:fillRef idx="0">
            <a:schemeClr val="accent1"/>
          </a:fillRef>
          <a:effectRef idx="1">
            <a:schemeClr val="accent1"/>
          </a:effectRef>
          <a:fontRef idx="minor">
            <a:schemeClr val="tx1"/>
          </a:fontRef>
        </p:style>
      </p:cxnSp>
      <p:sp>
        <p:nvSpPr>
          <p:cNvPr id="54" name="WavyLine"/>
          <p:cNvSpPr/>
          <p:nvPr/>
        </p:nvSpPr>
        <p:spPr>
          <a:xfrm>
            <a:off x="2657246" y="3541471"/>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txBody>
          <a:bodyPr/>
          <a:lstStyle/>
          <a:p>
            <a:endParaRPr lang="en-US"/>
          </a:p>
        </p:txBody>
      </p:sp>
      <p:cxnSp>
        <p:nvCxnSpPr>
          <p:cNvPr id="37" name="Connector 36"/>
          <p:cNvCxnSpPr/>
          <p:nvPr/>
        </p:nvCxnSpPr>
        <p:spPr>
          <a:xfrm>
            <a:off x="2657246" y="3721608"/>
            <a:ext cx="0" cy="329184"/>
          </a:xfrm>
          <a:prstGeom prst="line">
            <a:avLst/>
          </a:prstGeom>
          <a:ln w="38100">
            <a:solidFill>
              <a:srgbClr val="1B5E20"/>
            </a:solidFill>
            <a:tailEnd type="triangle" w="med"/>
          </a:ln>
        </p:spPr>
        <p:style>
          <a:lnRef idx="2">
            <a:schemeClr val="accent1"/>
          </a:lnRef>
          <a:fillRef idx="0">
            <a:schemeClr val="accent1"/>
          </a:fillRef>
          <a:effectRef idx="1">
            <a:schemeClr val="accent1"/>
          </a:effectRef>
          <a:fontRef idx="minor">
            <a:schemeClr val="tx1"/>
          </a:fontRef>
        </p:style>
      </p:cxnSp>
      <p:sp>
        <p:nvSpPr>
          <p:cNvPr id="55" name="WavyLine"/>
          <p:cNvSpPr/>
          <p:nvPr/>
        </p:nvSpPr>
        <p:spPr>
          <a:xfrm>
            <a:off x="2657246" y="3867912"/>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txBody>
          <a:bodyPr/>
          <a:lstStyle/>
          <a:p>
            <a:endParaRPr lang="en-US"/>
          </a:p>
        </p:txBody>
      </p:sp>
      <p:cxnSp>
        <p:nvCxnSpPr>
          <p:cNvPr id="38" name="Connector 37"/>
          <p:cNvCxnSpPr/>
          <p:nvPr/>
        </p:nvCxnSpPr>
        <p:spPr>
          <a:xfrm>
            <a:off x="2657246" y="4039819"/>
            <a:ext cx="0" cy="329184"/>
          </a:xfrm>
          <a:prstGeom prst="line">
            <a:avLst/>
          </a:prstGeom>
          <a:ln w="38100">
            <a:solidFill>
              <a:srgbClr val="1B5E20"/>
            </a:solidFill>
            <a:tailEnd type="triangle" w="med"/>
          </a:ln>
        </p:spPr>
        <p:style>
          <a:lnRef idx="2">
            <a:schemeClr val="accent1"/>
          </a:lnRef>
          <a:fillRef idx="0">
            <a:schemeClr val="accent1"/>
          </a:fillRef>
          <a:effectRef idx="1">
            <a:schemeClr val="accent1"/>
          </a:effectRef>
          <a:fontRef idx="minor">
            <a:schemeClr val="tx1"/>
          </a:fontRef>
        </p:style>
      </p:cxnSp>
      <p:sp>
        <p:nvSpPr>
          <p:cNvPr id="56" name="WavyLine"/>
          <p:cNvSpPr/>
          <p:nvPr/>
        </p:nvSpPr>
        <p:spPr>
          <a:xfrm>
            <a:off x="2657246" y="4186123"/>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txBody>
          <a:bodyPr/>
          <a:lstStyle/>
          <a:p>
            <a:endParaRPr lang="en-US"/>
          </a:p>
        </p:txBody>
      </p:sp>
      <p:cxnSp>
        <p:nvCxnSpPr>
          <p:cNvPr id="39" name="Connector 38"/>
          <p:cNvCxnSpPr/>
          <p:nvPr/>
        </p:nvCxnSpPr>
        <p:spPr>
          <a:xfrm>
            <a:off x="2657246" y="4375404"/>
            <a:ext cx="0" cy="329184"/>
          </a:xfrm>
          <a:prstGeom prst="line">
            <a:avLst/>
          </a:prstGeom>
          <a:ln w="38100">
            <a:solidFill>
              <a:srgbClr val="1B5E20"/>
            </a:solidFill>
            <a:tailEnd type="triangle" w="med"/>
          </a:ln>
        </p:spPr>
        <p:style>
          <a:lnRef idx="2">
            <a:schemeClr val="accent1"/>
          </a:lnRef>
          <a:fillRef idx="0">
            <a:schemeClr val="accent1"/>
          </a:fillRef>
          <a:effectRef idx="1">
            <a:schemeClr val="accent1"/>
          </a:effectRef>
          <a:fontRef idx="minor">
            <a:schemeClr val="tx1"/>
          </a:fontRef>
        </p:style>
      </p:cxnSp>
      <p:sp>
        <p:nvSpPr>
          <p:cNvPr id="57" name="WavyLine"/>
          <p:cNvSpPr/>
          <p:nvPr/>
        </p:nvSpPr>
        <p:spPr>
          <a:xfrm>
            <a:off x="2657246" y="4521708"/>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txBody>
          <a:bodyPr/>
          <a:lstStyle/>
          <a:p>
            <a:endParaRPr lang="en-US"/>
          </a:p>
        </p:txBody>
      </p:sp>
      <p:cxnSp>
        <p:nvCxnSpPr>
          <p:cNvPr id="40" name="Connector 39"/>
          <p:cNvCxnSpPr/>
          <p:nvPr/>
        </p:nvCxnSpPr>
        <p:spPr>
          <a:xfrm>
            <a:off x="2657246" y="4710988"/>
            <a:ext cx="0" cy="329184"/>
          </a:xfrm>
          <a:prstGeom prst="line">
            <a:avLst/>
          </a:prstGeom>
          <a:ln w="38100">
            <a:solidFill>
              <a:srgbClr val="1B5E20"/>
            </a:solidFill>
            <a:tailEnd type="triangle" w="med"/>
          </a:ln>
        </p:spPr>
        <p:style>
          <a:lnRef idx="2">
            <a:schemeClr val="accent1"/>
          </a:lnRef>
          <a:fillRef idx="0">
            <a:schemeClr val="accent1"/>
          </a:fillRef>
          <a:effectRef idx="1">
            <a:schemeClr val="accent1"/>
          </a:effectRef>
          <a:fontRef idx="minor">
            <a:schemeClr val="tx1"/>
          </a:fontRef>
        </p:style>
      </p:cxnSp>
      <p:sp>
        <p:nvSpPr>
          <p:cNvPr id="58" name="WavyLine"/>
          <p:cNvSpPr/>
          <p:nvPr/>
        </p:nvSpPr>
        <p:spPr>
          <a:xfrm>
            <a:off x="2657246" y="4857292"/>
            <a:ext cx="399136" cy="36576"/>
          </a:xfrm>
          <a:custGeom>
            <a:avLst/>
            <a:gdLst/>
            <a:ahLst/>
            <a:cxnLst/>
            <a:rect l="0" t="0" r="0" b="0"/>
            <a:pathLst>
              <a:path w="100000" h="100000" fill="none">
                <a:moveTo>
                  <a:pt x="0" y="50000"/>
                </a:moveTo>
                <a:lnTo>
                  <a:pt x="2778" y="34965"/>
                </a:lnTo>
                <a:lnTo>
                  <a:pt x="5556" y="21321"/>
                </a:lnTo>
                <a:lnTo>
                  <a:pt x="8333" y="10332"/>
                </a:lnTo>
                <a:lnTo>
                  <a:pt x="11111" y="3015"/>
                </a:lnTo>
                <a:lnTo>
                  <a:pt x="13889" y="48"/>
                </a:lnTo>
                <a:lnTo>
                  <a:pt x="16667" y="1704"/>
                </a:lnTo>
                <a:lnTo>
                  <a:pt x="19444" y="7830"/>
                </a:lnTo>
                <a:lnTo>
                  <a:pt x="22222" y="17861"/>
                </a:lnTo>
                <a:lnTo>
                  <a:pt x="25000" y="30866"/>
                </a:lnTo>
                <a:lnTo>
                  <a:pt x="27778" y="45642"/>
                </a:lnTo>
                <a:lnTo>
                  <a:pt x="30556" y="60822"/>
                </a:lnTo>
                <a:lnTo>
                  <a:pt x="33333" y="75000"/>
                </a:lnTo>
                <a:lnTo>
                  <a:pt x="36111" y="86864"/>
                </a:lnTo>
                <a:lnTo>
                  <a:pt x="38889" y="95315"/>
                </a:lnTo>
                <a:lnTo>
                  <a:pt x="41667" y="99572"/>
                </a:lnTo>
                <a:lnTo>
                  <a:pt x="44444" y="99240"/>
                </a:lnTo>
                <a:lnTo>
                  <a:pt x="47222" y="94351"/>
                </a:lnTo>
                <a:lnTo>
                  <a:pt x="50000" y="85355"/>
                </a:lnTo>
                <a:lnTo>
                  <a:pt x="52778" y="73087"/>
                </a:lnTo>
                <a:lnTo>
                  <a:pt x="55556" y="58682"/>
                </a:lnTo>
                <a:lnTo>
                  <a:pt x="58333" y="43474"/>
                </a:lnTo>
                <a:lnTo>
                  <a:pt x="61111" y="28869"/>
                </a:lnTo>
                <a:lnTo>
                  <a:pt x="63889" y="16220"/>
                </a:lnTo>
                <a:lnTo>
                  <a:pt x="66667" y="6699"/>
                </a:lnTo>
                <a:lnTo>
                  <a:pt x="69444" y="1185"/>
                </a:lnTo>
                <a:lnTo>
                  <a:pt x="72222" y="190"/>
                </a:lnTo>
                <a:lnTo>
                  <a:pt x="75000" y="3806"/>
                </a:lnTo>
                <a:lnTo>
                  <a:pt x="77778" y="11698"/>
                </a:lnTo>
                <a:lnTo>
                  <a:pt x="80556" y="23135"/>
                </a:lnTo>
                <a:lnTo>
                  <a:pt x="83333" y="37059"/>
                </a:lnTo>
                <a:lnTo>
                  <a:pt x="86111" y="52181"/>
                </a:lnTo>
                <a:lnTo>
                  <a:pt x="88889" y="67101"/>
                </a:lnTo>
                <a:lnTo>
                  <a:pt x="91667" y="80438"/>
                </a:lnTo>
                <a:lnTo>
                  <a:pt x="94444" y="90958"/>
                </a:lnTo>
                <a:lnTo>
                  <a:pt x="97222" y="97686"/>
                </a:lnTo>
                <a:lnTo>
                  <a:pt x="100000" y="100000"/>
                </a:lnTo>
              </a:path>
            </a:pathLst>
          </a:custGeom>
          <a:noFill/>
          <a:ln w="19050" cap="rnd">
            <a:solidFill>
              <a:srgbClr val="1B5E20"/>
            </a:solidFill>
          </a:ln>
        </p:spPr>
        <p:txBody>
          <a:bodyPr/>
          <a:lstStyle/>
          <a:p>
            <a:endParaRPr lang="en-US"/>
          </a:p>
        </p:txBody>
      </p:sp>
      <p:sp>
        <p:nvSpPr>
          <p:cNvPr id="59" name="HalfCircleArc"/>
          <p:cNvSpPr/>
          <p:nvPr/>
        </p:nvSpPr>
        <p:spPr>
          <a:xfrm>
            <a:off x="2657246" y="3063240"/>
            <a:ext cx="2920594" cy="160020"/>
          </a:xfrm>
          <a:custGeom>
            <a:avLst/>
            <a:gdLst/>
            <a:ahLst/>
            <a:cxnLst/>
            <a:rect l="0" t="0" r="0" b="0"/>
            <a:pathLst>
              <a:path w="100000" h="100000" fill="none">
                <a:moveTo>
                  <a:pt x="0" y="100000"/>
                </a:moveTo>
                <a:cubicBezTo>
                  <a:pt x="8000" y="0"/>
                  <a:pt x="92000" y="0"/>
                  <a:pt x="100000" y="85714"/>
                </a:cubicBezTo>
              </a:path>
            </a:pathLst>
          </a:custGeom>
          <a:noFill/>
          <a:ln w="19050" cap="rnd">
            <a:solidFill>
              <a:srgbClr val="1B5E20"/>
            </a:solidFill>
          </a:ln>
        </p:spPr>
        <p:txBody>
          <a:bodyPr/>
          <a:lstStyle/>
          <a:p>
            <a:endParaRPr lang="en-US"/>
          </a:p>
        </p:txBody>
      </p:sp>
      <p:cxnSp>
        <p:nvCxnSpPr>
          <p:cNvPr id="41" name="Connector 40"/>
          <p:cNvCxnSpPr/>
          <p:nvPr/>
        </p:nvCxnSpPr>
        <p:spPr>
          <a:xfrm>
            <a:off x="4686300" y="5310378"/>
            <a:ext cx="0" cy="221742"/>
          </a:xfrm>
          <a:prstGeom prst="line">
            <a:avLst/>
          </a:prstGeom>
          <a:ln w="3810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623560" y="3180969"/>
            <a:ext cx="5303520" cy="14630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3" name="TextBox 42"/>
              <p:cNvSpPr txBox="1"/>
              <p:nvPr/>
            </p:nvSpPr>
            <p:spPr>
              <a:xfrm>
                <a:off x="5788152" y="3272409"/>
                <a:ext cx="4974336" cy="1280160"/>
              </a:xfrm>
              <a:prstGeom prst="rect">
                <a:avLst/>
              </a:prstGeom>
              <a:noFill/>
            </p:spPr>
            <p:txBody>
              <a:bodyPr wrap="square" lIns="45720" tIns="0" rIns="45720" bIns="0">
                <a:spAutoFit/>
              </a:bodyPr>
              <a:lstStyle/>
              <a:p>
                <a:r>
                  <a:rPr lang="en-US" sz="1900" b="1">
                    <a:solidFill>
                      <a:srgbClr val="0B2B4E"/>
                    </a:solidFill>
                    <a:latin typeface="Calibri"/>
                  </a:rPr>
                  <a:t>Convention:  </a:t>
                </a:r>
                <a:r>
                  <a:rPr lang="en-US" sz="1900">
                    <a:solidFill>
                      <a:srgbClr val="0B2B4E"/>
                    </a:solidFill>
                    <a:latin typeface="Calibri"/>
                  </a:rPr>
                  <a:t>Compute  </a:t>
                </a:r>
                <a14:m>
                  <m:oMath xmlns:m="http://schemas.openxmlformats.org/officeDocument/2006/math">
                    <m:r>
                      <m:rPr>
                        <m:sty m:val="p"/>
                      </m:rPr>
                      <a:rPr lang="en-US" sz="1900" b="0" i="0">
                        <a:solidFill>
                          <a:srgbClr val="1B5E20"/>
                        </a:solidFill>
                        <a:latin typeface="Cambria Math"/>
                      </a:rPr>
                      <m:t>Δ</m:t>
                    </m:r>
                    <m:r>
                      <a:rPr lang="en-US" sz="1900" b="0" i="1">
                        <a:solidFill>
                          <a:srgbClr val="1B5E20"/>
                        </a:solidFill>
                        <a:latin typeface="Cambria Math"/>
                        <a:ea typeface="Cambria Math"/>
                      </a:rPr>
                      <m:t>𝐿</m:t>
                    </m:r>
                  </m:oMath>
                </a14:m>
                <a:r>
                  <a:rPr lang="en-US" sz="1900">
                    <a:solidFill>
                      <a:srgbClr val="0B2B4E"/>
                    </a:solidFill>
                    <a:latin typeface="Calibri"/>
                  </a:rPr>
                  <a:t>  and  </a:t>
                </a:r>
                <a14:m>
                  <m:oMath xmlns:m="http://schemas.openxmlformats.org/officeDocument/2006/math">
                    <m:r>
                      <m:rPr>
                        <m:sty m:val="p"/>
                      </m:rPr>
                      <a:rPr lang="en-US" sz="1900" b="0" i="0">
                        <a:solidFill>
                          <a:srgbClr val="1B5E20"/>
                        </a:solidFill>
                        <a:latin typeface="Cambria Math"/>
                      </a:rPr>
                      <m:t>Δ</m:t>
                    </m:r>
                    <m:r>
                      <a:rPr lang="en-US" sz="1900" b="0" i="1">
                        <a:solidFill>
                          <a:srgbClr val="1B5E20"/>
                        </a:solidFill>
                        <a:latin typeface="Cambria Math"/>
                        <a:ea typeface="Cambria Math"/>
                      </a:rPr>
                      <m:t>𝑄</m:t>
                    </m:r>
                  </m:oMath>
                </a14:m>
                <a:r>
                  <a:rPr lang="en-US" sz="1900">
                    <a:solidFill>
                      <a:srgbClr val="0B2B4E"/>
                    </a:solidFill>
                    <a:latin typeface="Calibri"/>
                  </a:rPr>
                  <a:t>  for each interval</a:t>
                </a:r>
                <a:endParaRPr lang="en-US"/>
              </a:p>
              <a:p>
                <a:r>
                  <a:rPr lang="en-US" sz="1900" b="1">
                    <a:solidFill>
                      <a:srgbClr val="0B2B4E"/>
                    </a:solidFill>
                    <a:latin typeface="Calibri"/>
                  </a:rPr>
                  <a:t>Interpretation:  </a:t>
                </a:r>
                <a:r>
                  <a:rPr lang="en-US" sz="1900">
                    <a:solidFill>
                      <a:srgbClr val="0B2B4E"/>
                    </a:solidFill>
                    <a:latin typeface="Calibri"/>
                  </a:rPr>
                  <a:t>Between 0 and 250 workers, MPL is approximately 0.660</a:t>
                </a:r>
                <a:endParaRPr lang="en-US"/>
              </a:p>
            </p:txBody>
          </p:sp>
        </mc:Choice>
        <mc:Fallback xmlns="">
          <p:sp>
            <p:nvSpPr>
              <p:cNvPr id="43" name="TextBox 42"/>
              <p:cNvSpPr txBox="1">
                <a:spLocks noRot="1" noChangeAspect="1" noMove="1" noResize="1" noEditPoints="1" noAdjustHandles="1" noChangeArrowheads="1" noChangeShapeType="1" noTextEdit="1"/>
              </p:cNvSpPr>
              <p:nvPr/>
            </p:nvSpPr>
            <p:spPr>
              <a:xfrm>
                <a:off x="5788152" y="3272409"/>
                <a:ext cx="4974336" cy="1280160"/>
              </a:xfrm>
              <a:prstGeom prst="rect">
                <a:avLst/>
              </a:prstGeom>
              <a:blipFill>
                <a:blip r:embed="rId4"/>
                <a:stretch>
                  <a:fillRect l="-2083" t="-6190" r="-2696" b="-2381"/>
                </a:stretch>
              </a:blipFill>
            </p:spPr>
            <p:txBody>
              <a:bodyPr/>
              <a:lstStyle/>
              <a:p>
                <a:r>
                  <a:rPr lang="en-US">
                    <a:noFill/>
                  </a:rPr>
                  <a:t> </a:t>
                </a:r>
              </a:p>
            </p:txBody>
          </p:sp>
        </mc:Fallback>
      </mc:AlternateContent>
      <p:sp>
        <p:nvSpPr>
          <p:cNvPr id="44" name="Rounded Rectangle 43"/>
          <p:cNvSpPr/>
          <p:nvPr/>
        </p:nvSpPr>
        <p:spPr>
          <a:xfrm>
            <a:off x="5605272" y="2142439"/>
            <a:ext cx="2143353" cy="8750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5" name="TextBox 44"/>
              <p:cNvSpPr txBox="1"/>
              <p:nvPr/>
            </p:nvSpPr>
            <p:spPr>
              <a:xfrm>
                <a:off x="5696712" y="2188159"/>
                <a:ext cx="1960473" cy="783640"/>
              </a:xfrm>
              <a:prstGeom prst="rect">
                <a:avLst/>
              </a:prstGeom>
              <a:noFill/>
            </p:spPr>
            <p:txBody>
              <a:bodyPr wrap="square" anchor="ctr">
                <a:spAutoFit/>
              </a:bodyPr>
              <a:lstStyle/>
              <a:p>
                <a:pPr algn="ctr">
                  <a:defRPr sz="2400" b="0" i="1">
                    <a:solidFill>
                      <a:srgbClr val="0070C0"/>
                    </a:solidFill>
                    <a:latin typeface="Cambria Math"/>
                  </a:defRPr>
                </a:pPr>
                <a14:m>
                  <m:oMathPara xmlns:m="http://schemas.openxmlformats.org/officeDocument/2006/math">
                    <m:oMath>
                      <m:sSub>
                        <m:sSubPr>
                          <m:ctrlPr>
                            <a:rPr lang="en-US" sz="2400" b="0" i="1">
                              <a:latin typeface="Cambria Math"/>
                              <a:ea typeface="Cambria Math"/>
                            </a:rPr>
                          </m:ctrlPr>
                        </m:sSubPr>
                        <m:e>
                          <m:r>
                            <a:rPr lang="en-US" sz="2400" b="0" i="1">
                              <a:latin typeface="Cambria Math"/>
                              <a:ea typeface="Cambria Math"/>
                            </a:rPr>
                            <m:t>𝑀𝑃</m:t>
                          </m:r>
                        </m:e>
                        <m:sub>
                          <m:r>
                            <a:rPr lang="en-US" sz="2400" b="0" i="1">
                              <a:latin typeface="Cambria Math"/>
                              <a:ea typeface="Cambria Math"/>
                            </a:rPr>
                            <m:t>𝐿</m:t>
                          </m:r>
                        </m:sub>
                      </m:sSub>
                      <m:r>
                        <a:rPr lang="en-US" sz="2400" b="0" i="0">
                          <a:latin typeface="Cambria Math"/>
                        </a:rPr>
                        <m:t> = </m:t>
                      </m:r>
                      <m:f>
                        <m:fPr>
                          <m:ctrlPr>
                            <a:rPr lang="en-US" sz="2400" b="0" i="0">
                              <a:latin typeface="Cambria Math"/>
                            </a:rPr>
                          </m:ctrlPr>
                        </m:fPr>
                        <m:num>
                          <m:r>
                            <m:rPr>
                              <m:sty m:val="p"/>
                            </m:rPr>
                            <a:rPr lang="en-US" sz="2400" b="0" i="0">
                              <a:latin typeface="Cambria Math"/>
                            </a:rPr>
                            <m:t>Δ</m:t>
                          </m:r>
                          <m:r>
                            <a:rPr lang="en-US" sz="2400" b="0" i="1">
                              <a:latin typeface="Cambria Math"/>
                              <a:ea typeface="Cambria Math"/>
                            </a:rPr>
                            <m:t>𝑄</m:t>
                          </m:r>
                        </m:num>
                        <m:den>
                          <m:r>
                            <m:rPr>
                              <m:sty m:val="p"/>
                            </m:rPr>
                            <a:rPr lang="en-US" sz="2400" b="0" i="0">
                              <a:latin typeface="Cambria Math"/>
                            </a:rPr>
                            <m:t>Δ</m:t>
                          </m:r>
                          <m:r>
                            <a:rPr lang="en-US" sz="2400" b="0" i="1">
                              <a:latin typeface="Cambria Math"/>
                              <a:ea typeface="Cambria Math"/>
                            </a:rPr>
                            <m:t>𝐿</m:t>
                          </m:r>
                        </m:den>
                      </m:f>
                    </m:oMath>
                  </m:oMathPara>
                </a14:m>
                <a:endParaRPr lang="en-US" sz="2400"/>
              </a:p>
            </p:txBody>
          </p:sp>
        </mc:Choice>
        <mc:Fallback xmlns="">
          <p:sp>
            <p:nvSpPr>
              <p:cNvPr id="45" name="TextBox 44"/>
              <p:cNvSpPr txBox="1">
                <a:spLocks noRot="1" noChangeAspect="1" noMove="1" noResize="1" noEditPoints="1" noAdjustHandles="1" noChangeArrowheads="1" noChangeShapeType="1" noTextEdit="1"/>
              </p:cNvSpPr>
              <p:nvPr/>
            </p:nvSpPr>
            <p:spPr>
              <a:xfrm>
                <a:off x="5696712" y="2188159"/>
                <a:ext cx="1960473" cy="783640"/>
              </a:xfrm>
              <a:prstGeom prst="rect">
                <a:avLst/>
              </a:prstGeom>
              <a:blipFill>
                <a:blip r:embed="rId5"/>
                <a:stretch>
                  <a:fillRect/>
                </a:stretch>
              </a:blipFill>
            </p:spPr>
            <p:txBody>
              <a:bodyPr/>
              <a:lstStyle/>
              <a:p>
                <a:r>
                  <a:rPr lang="en-US">
                    <a:noFill/>
                  </a:rPr>
                  <a:t> </a:t>
                </a:r>
              </a:p>
            </p:txBody>
          </p:sp>
        </mc:Fallback>
      </mc:AlternateContent>
      <p:cxnSp>
        <p:nvCxnSpPr>
          <p:cNvPr id="46" name="Connector 45"/>
          <p:cNvCxnSpPr/>
          <p:nvPr/>
        </p:nvCxnSpPr>
        <p:spPr>
          <a:xfrm flipV="1">
            <a:off x="5001768" y="2724912"/>
            <a:ext cx="786384" cy="498348"/>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2346808" y="5577840"/>
            <a:ext cx="7498079" cy="6858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29688" y="5687568"/>
            <a:ext cx="7132319" cy="466344"/>
          </a:xfrm>
          <a:prstGeom prst="rect">
            <a:avLst/>
          </a:prstGeom>
          <a:noFill/>
        </p:spPr>
        <p:txBody>
          <a:bodyPr wrap="square" lIns="45720" tIns="0" rIns="45720" bIns="0" anchor="ctr">
            <a:spAutoFit/>
          </a:bodyPr>
          <a:lstStyle/>
          <a:p>
            <a:pPr algn="ctr"/>
            <a:r>
              <a:rPr sz="2200" b="1" i="0">
                <a:solidFill>
                  <a:srgbClr val="0B2B4E"/>
                </a:solidFill>
                <a:latin typeface="Calibri"/>
              </a:rPr>
              <a:t>Note:  </a:t>
            </a:r>
            <a:r>
              <a:rPr sz="2200" b="1" i="1">
                <a:solidFill>
                  <a:srgbClr val="0070C0"/>
                </a:solidFill>
                <a:latin typeface="Calibri"/>
              </a:rPr>
              <a:t>MPL </a:t>
            </a:r>
            <a:r>
              <a:rPr sz="2200" b="1" i="0">
                <a:solidFill>
                  <a:srgbClr val="0B2B4E"/>
                </a:solidFill>
                <a:latin typeface="Calibri"/>
              </a:rPr>
              <a:t>is </a:t>
            </a:r>
            <a:r>
              <a:rPr sz="2200" b="1" i="1">
                <a:solidFill>
                  <a:srgbClr val="0070C0"/>
                </a:solidFill>
                <a:latin typeface="Calibri"/>
              </a:rPr>
              <a:t>declining</a:t>
            </a:r>
            <a:r>
              <a:rPr sz="2200" b="1" i="0">
                <a:solidFill>
                  <a:srgbClr val="0B2B4E"/>
                </a:solidFill>
                <a:latin typeface="Calibri"/>
              </a:rPr>
              <a:t> as we add workers</a:t>
            </a:r>
          </a:p>
        </p:txBody>
      </p:sp>
      <p:sp>
        <p:nvSpPr>
          <p:cNvPr id="49" name="Rectangle 4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52" name="TextBox 51"/>
          <p:cNvSpPr txBox="1"/>
          <p:nvPr/>
        </p:nvSpPr>
        <p:spPr>
          <a:xfrm>
            <a:off x="11430000" y="6583680"/>
            <a:ext cx="548640" cy="292608"/>
          </a:xfrm>
          <a:prstGeom prst="rect">
            <a:avLst/>
          </a:prstGeom>
          <a:noFill/>
        </p:spPr>
        <p:txBody>
          <a:bodyPr wrap="square" lIns="0" tIns="0" rIns="0" bIns="0">
            <a:spAutoFit/>
          </a:bodyPr>
          <a:lstStyle/>
          <a:p>
            <a:pPr algn="r"/>
            <a:fld id="{23A834ED-F1D1-413D-BFD4-D325E05906BB}" type="slidenum">
              <a:rPr sz="1200" b="0" i="0">
                <a:solidFill>
                  <a:srgbClr val="555B66"/>
                </a:solidFill>
                <a:latin typeface="Calibri"/>
              </a:rPr>
              <a:t>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500"/>
                                        <p:tgtEl>
                                          <p:spTgt spid="53"/>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fade">
                                      <p:cBhvr>
                                        <p:cTn id="18" dur="500"/>
                                        <p:tgtEl>
                                          <p:spTgt spid="59"/>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par>
                                <p:cTn id="41" presetID="10" presetClass="entr" presetSubtype="0" fill="hold"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par>
                                <p:cTn id="50" presetID="10" presetClass="entr" presetSubtype="0" fill="hold"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500"/>
                                        <p:tgtEl>
                                          <p:spTgt spid="56"/>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500"/>
                                        <p:tgtEl>
                                          <p:spTgt spid="39"/>
                                        </p:tgtEl>
                                      </p:cBhvr>
                                    </p:animEffect>
                                  </p:childTnLst>
                                </p:cTn>
                              </p:par>
                              <p:par>
                                <p:cTn id="59" presetID="10" presetClass="entr" presetSubtype="0" fill="hold"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500"/>
                                        <p:tgtEl>
                                          <p:spTgt spid="40"/>
                                        </p:tgtEl>
                                      </p:cBhvr>
                                    </p:animEffect>
                                  </p:childTnLst>
                                </p:cTn>
                              </p:par>
                              <p:par>
                                <p:cTn id="68" presetID="10" presetClass="entr" presetSubtype="0" fill="hold" nodeType="with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500"/>
                                        <p:tgtEl>
                                          <p:spTgt spid="58"/>
                                        </p:tgtEl>
                                      </p:cBhvr>
                                    </p:animEffect>
                                  </p:childTnLst>
                                </p:cTn>
                              </p:par>
                              <p:par>
                                <p:cTn id="71" presetID="10" presetClass="entr" presetSubtype="0" fill="hold"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par>
                                <p:cTn id="79" presetID="10" presetClass="entr" presetSubtype="0" fill="hold"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10" presetClass="entr" presetSubtype="0"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par>
                                <p:cTn id="88" presetID="10" presetClass="entr" presetSubtype="0" fill="hold"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13"/>
                                        </p:tgtEl>
                                        <p:attrNameLst>
                                          <p:attrName>style.visibility</p:attrName>
                                        </p:attrNameLst>
                                      </p:cBhvr>
                                      <p:to>
                                        <p:strVal val="visible"/>
                                      </p:to>
                                    </p:set>
                                    <p:animEffect transition="in" filter="fade">
                                      <p:cBhvr>
                                        <p:cTn id="98" dur="500"/>
                                        <p:tgtEl>
                                          <p:spTgt spid="13"/>
                                        </p:tgtEl>
                                      </p:cBhvr>
                                    </p:animEffect>
                                  </p:childTnLst>
                                </p:cTn>
                              </p:par>
                              <p:par>
                                <p:cTn id="99" presetID="10" presetClass="entr" presetSubtype="0" fill="hold" nodeType="with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fade">
                                      <p:cBhvr>
                                        <p:cTn id="101" dur="500"/>
                                        <p:tgtEl>
                                          <p:spTgt spid="14"/>
                                        </p:tgtEl>
                                      </p:cBhvr>
                                    </p:animEffect>
                                  </p:childTnLst>
                                </p:cTn>
                              </p:par>
                              <p:par>
                                <p:cTn id="102" presetID="10" presetClass="entr" presetSubtype="0" fill="hold"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500"/>
                                        <p:tgtEl>
                                          <p:spTgt spid="46"/>
                                        </p:tgtEl>
                                      </p:cBhvr>
                                    </p:animEffect>
                                  </p:childTnLst>
                                </p:cTn>
                              </p:par>
                              <p:par>
                                <p:cTn id="105" presetID="10" presetClass="entr" presetSubtype="0" fill="hold" nodeType="withEffect">
                                  <p:stCondLst>
                                    <p:cond delay="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7" dur="500"/>
                                        <p:tgtEl>
                                          <p:spTgt spid="44"/>
                                        </p:tgtEl>
                                      </p:cBhvr>
                                    </p:animEffect>
                                  </p:childTnLst>
                                </p:cTn>
                              </p:par>
                              <p:par>
                                <p:cTn id="108" presetID="10" presetClass="entr" presetSubtype="0" fill="hold" nodeType="withEffect">
                                  <p:stCondLst>
                                    <p:cond delay="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500"/>
                                        <p:tgtEl>
                                          <p:spTgt spid="45"/>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fade">
                                      <p:cBhvr>
                                        <p:cTn id="115" dur="500"/>
                                        <p:tgtEl>
                                          <p:spTgt spid="17"/>
                                        </p:tgtEl>
                                      </p:cBhvr>
                                    </p:animEffect>
                                  </p:childTnLst>
                                </p:cTn>
                              </p:par>
                              <p:par>
                                <p:cTn id="116" presetID="10" presetClass="entr" presetSubtype="0" fill="hold" nodeType="withEffect">
                                  <p:stCondLst>
                                    <p:cond delay="0"/>
                                  </p:stCondLst>
                                  <p:childTnLst>
                                    <p:set>
                                      <p:cBhvr>
                                        <p:cTn id="117" dur="1" fill="hold">
                                          <p:stCondLst>
                                            <p:cond delay="0"/>
                                          </p:stCondLst>
                                        </p:cTn>
                                        <p:tgtEl>
                                          <p:spTgt spid="18"/>
                                        </p:tgtEl>
                                        <p:attrNameLst>
                                          <p:attrName>style.visibility</p:attrName>
                                        </p:attrNameLst>
                                      </p:cBhvr>
                                      <p:to>
                                        <p:strVal val="visible"/>
                                      </p:to>
                                    </p:set>
                                    <p:animEffect transition="in" filter="fade">
                                      <p:cBhvr>
                                        <p:cTn id="118" dur="500"/>
                                        <p:tgtEl>
                                          <p:spTgt spid="18"/>
                                        </p:tgtEl>
                                      </p:cBhvr>
                                    </p:animEffect>
                                  </p:childTnLst>
                                </p:cTn>
                              </p:par>
                              <p:par>
                                <p:cTn id="119" presetID="10" presetClass="entr" presetSubtype="0" fill="hold" nodeType="with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fade">
                                      <p:cBhvr>
                                        <p:cTn id="121" dur="500"/>
                                        <p:tgtEl>
                                          <p:spTgt spid="21"/>
                                        </p:tgtEl>
                                      </p:cBhvr>
                                    </p:animEffect>
                                  </p:childTnLst>
                                </p:cTn>
                              </p:par>
                              <p:par>
                                <p:cTn id="122" presetID="10" presetClass="entr" presetSubtype="0" fill="hold" nodeType="withEffect">
                                  <p:stCondLst>
                                    <p:cond delay="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500"/>
                                        <p:tgtEl>
                                          <p:spTgt spid="22"/>
                                        </p:tgtEl>
                                      </p:cBhvr>
                                    </p:animEffect>
                                  </p:childTnLst>
                                </p:cTn>
                              </p:par>
                              <p:par>
                                <p:cTn id="125" presetID="10" presetClass="entr" presetSubtype="0" fill="hold"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500"/>
                                        <p:tgtEl>
                                          <p:spTgt spid="25"/>
                                        </p:tgtEl>
                                      </p:cBhvr>
                                    </p:animEffect>
                                  </p:childTnLst>
                                </p:cTn>
                              </p:par>
                              <p:par>
                                <p:cTn id="128" presetID="10" presetClass="entr" presetSubtype="0" fill="hold" nodeType="with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fade">
                                      <p:cBhvr>
                                        <p:cTn id="130" dur="500"/>
                                        <p:tgtEl>
                                          <p:spTgt spid="26"/>
                                        </p:tgtEl>
                                      </p:cBhvr>
                                    </p:animEffect>
                                  </p:childTnLst>
                                </p:cTn>
                              </p:par>
                              <p:par>
                                <p:cTn id="131" presetID="10" presetClass="entr" presetSubtype="0" fill="hold" nodeType="with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500"/>
                                        <p:tgtEl>
                                          <p:spTgt spid="29"/>
                                        </p:tgtEl>
                                      </p:cBhvr>
                                    </p:animEffect>
                                  </p:childTnLst>
                                </p:cTn>
                              </p:par>
                              <p:par>
                                <p:cTn id="134" presetID="10" presetClass="entr" presetSubtype="0" fill="hold" nodeType="withEffect">
                                  <p:stCondLst>
                                    <p:cond delay="0"/>
                                  </p:stCondLst>
                                  <p:childTnLst>
                                    <p:set>
                                      <p:cBhvr>
                                        <p:cTn id="135" dur="1" fill="hold">
                                          <p:stCondLst>
                                            <p:cond delay="0"/>
                                          </p:stCondLst>
                                        </p:cTn>
                                        <p:tgtEl>
                                          <p:spTgt spid="30"/>
                                        </p:tgtEl>
                                        <p:attrNameLst>
                                          <p:attrName>style.visibility</p:attrName>
                                        </p:attrNameLst>
                                      </p:cBhvr>
                                      <p:to>
                                        <p:strVal val="visible"/>
                                      </p:to>
                                    </p:set>
                                    <p:animEffect transition="in" filter="fade">
                                      <p:cBhvr>
                                        <p:cTn id="136" dur="500"/>
                                        <p:tgtEl>
                                          <p:spTgt spid="30"/>
                                        </p:tgtEl>
                                      </p:cBhvr>
                                    </p:animEffect>
                                  </p:childTnLst>
                                </p:cTn>
                              </p:par>
                              <p:par>
                                <p:cTn id="137" presetID="10" presetClass="entr" presetSubtype="0" fill="hold" nodeType="withEffect">
                                  <p:stCondLst>
                                    <p:cond delay="0"/>
                                  </p:stCondLst>
                                  <p:childTnLst>
                                    <p:set>
                                      <p:cBhvr>
                                        <p:cTn id="138" dur="1" fill="hold">
                                          <p:stCondLst>
                                            <p:cond delay="0"/>
                                          </p:stCondLst>
                                        </p:cTn>
                                        <p:tgtEl>
                                          <p:spTgt spid="33"/>
                                        </p:tgtEl>
                                        <p:attrNameLst>
                                          <p:attrName>style.visibility</p:attrName>
                                        </p:attrNameLst>
                                      </p:cBhvr>
                                      <p:to>
                                        <p:strVal val="visible"/>
                                      </p:to>
                                    </p:set>
                                    <p:animEffect transition="in" filter="fade">
                                      <p:cBhvr>
                                        <p:cTn id="139" dur="500"/>
                                        <p:tgtEl>
                                          <p:spTgt spid="33"/>
                                        </p:tgtEl>
                                      </p:cBhvr>
                                    </p:animEffect>
                                  </p:childTnLst>
                                </p:cTn>
                              </p:par>
                              <p:par>
                                <p:cTn id="140" presetID="10" presetClass="entr" presetSubtype="0" fill="hold" nodeType="withEffect">
                                  <p:stCondLst>
                                    <p:cond delay="0"/>
                                  </p:stCondLst>
                                  <p:childTnLst>
                                    <p:set>
                                      <p:cBhvr>
                                        <p:cTn id="141" dur="1" fill="hold">
                                          <p:stCondLst>
                                            <p:cond delay="0"/>
                                          </p:stCondLst>
                                        </p:cTn>
                                        <p:tgtEl>
                                          <p:spTgt spid="34"/>
                                        </p:tgtEl>
                                        <p:attrNameLst>
                                          <p:attrName>style.visibility</p:attrName>
                                        </p:attrNameLst>
                                      </p:cBhvr>
                                      <p:to>
                                        <p:strVal val="visible"/>
                                      </p:to>
                                    </p:set>
                                    <p:animEffect transition="in" filter="fade">
                                      <p:cBhvr>
                                        <p:cTn id="142" dur="500"/>
                                        <p:tgtEl>
                                          <p:spTgt spid="34"/>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41"/>
                                        </p:tgtEl>
                                        <p:attrNameLst>
                                          <p:attrName>style.visibility</p:attrName>
                                        </p:attrNameLst>
                                      </p:cBhvr>
                                      <p:to>
                                        <p:strVal val="visible"/>
                                      </p:to>
                                    </p:set>
                                    <p:animEffect transition="in" filter="fade">
                                      <p:cBhvr>
                                        <p:cTn id="147" dur="500"/>
                                        <p:tgtEl>
                                          <p:spTgt spid="41"/>
                                        </p:tgtEl>
                                      </p:cBhvr>
                                    </p:animEffect>
                                  </p:childTnLst>
                                </p:cTn>
                              </p:par>
                              <p:par>
                                <p:cTn id="148" presetID="10" presetClass="entr" presetSubtype="0" fill="hold" nodeType="withEffect">
                                  <p:stCondLst>
                                    <p:cond delay="0"/>
                                  </p:stCondLst>
                                  <p:childTnLst>
                                    <p:set>
                                      <p:cBhvr>
                                        <p:cTn id="149" dur="1" fill="hold">
                                          <p:stCondLst>
                                            <p:cond delay="0"/>
                                          </p:stCondLst>
                                        </p:cTn>
                                        <p:tgtEl>
                                          <p:spTgt spid="47"/>
                                        </p:tgtEl>
                                        <p:attrNameLst>
                                          <p:attrName>style.visibility</p:attrName>
                                        </p:attrNameLst>
                                      </p:cBhvr>
                                      <p:to>
                                        <p:strVal val="visible"/>
                                      </p:to>
                                    </p:set>
                                    <p:animEffect transition="in" filter="fade">
                                      <p:cBhvr>
                                        <p:cTn id="150" dur="500"/>
                                        <p:tgtEl>
                                          <p:spTgt spid="47"/>
                                        </p:tgtEl>
                                      </p:cBhvr>
                                    </p:animEffect>
                                  </p:childTnLst>
                                </p:cTn>
                              </p:par>
                              <p:par>
                                <p:cTn id="151" presetID="10" presetClass="entr" presetSubtype="0" fill="hold" nodeType="withEffect">
                                  <p:stCondLst>
                                    <p:cond delay="0"/>
                                  </p:stCondLst>
                                  <p:childTnLst>
                                    <p:set>
                                      <p:cBhvr>
                                        <p:cTn id="152" dur="1" fill="hold">
                                          <p:stCondLst>
                                            <p:cond delay="0"/>
                                          </p:stCondLst>
                                        </p:cTn>
                                        <p:tgtEl>
                                          <p:spTgt spid="48"/>
                                        </p:tgtEl>
                                        <p:attrNameLst>
                                          <p:attrName>style.visibility</p:attrName>
                                        </p:attrNameLst>
                                      </p:cBhvr>
                                      <p:to>
                                        <p:strVal val="visible"/>
                                      </p:to>
                                    </p:set>
                                    <p:animEffect transition="in" filter="fade">
                                      <p:cBhvr>
                                        <p:cTn id="15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Diminishing Marginal Product of Labor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99032"/>
            <a:ext cx="11687697" cy="4572000"/>
          </a:xfrm>
          <a:prstGeom prst="rect">
            <a:avLst/>
          </a:prstGeom>
          <a:noFill/>
        </p:spPr>
        <p:txBody>
          <a:bodyPr wrap="square" lIns="0" tIns="0" rIns="0" bIns="0">
            <a:spAutoFit/>
          </a:bodyPr>
          <a:lstStyle>
            <a:lvl1pPr marL="342900" indent="-342900">
              <a:spcBef>
                <a:spcPts val="200"/>
              </a:spcBef>
              <a:buClr>
                <a:srgbClr val="0B2B4E"/>
              </a:buClr>
              <a:buFont typeface="Calibri"/>
              <a:buChar char="▪"/>
              <a:defRPr sz="2200" b="0">
                <a:solidFill>
                  <a:srgbClr val="0B2B4E"/>
                </a:solidFill>
                <a:latin typeface="Calibri"/>
              </a:defRPr>
            </a:lvl1pPr>
            <a:lvl2pPr marL="685800" indent="-228600">
              <a:spcBef>
                <a:spcPts val="0"/>
              </a:spcBef>
              <a:buClr>
                <a:srgbClr val="555B66"/>
              </a:buClr>
              <a:buFont typeface="Calibri"/>
              <a:buChar char="–"/>
              <a:defRPr sz="2000" b="0">
                <a:solidFill>
                  <a:srgbClr val="555B66"/>
                </a:solidFill>
                <a:latin typeface="Calibri"/>
              </a:defRPr>
            </a:lvl2pPr>
          </a:lstStyle>
          <a:p>
            <a:pPr algn="l"/>
            <a:r>
              <a:rPr>
                <a:latin typeface="Calibri"/>
              </a:rPr>
              <a:t>We hold one input fixed (capital) and…</a:t>
            </a:r>
          </a:p>
          <a:p>
            <a:pPr algn="l"/>
            <a:r>
              <a:rPr>
                <a:latin typeface="Calibri"/>
              </a:rPr>
              <a:t>Use more and more of a variable input (labor)</a:t>
            </a:r>
          </a:p>
          <a:p>
            <a:pPr lvl="1" algn="l"/>
            <a:r>
              <a:rPr>
                <a:latin typeface="Calibri"/>
              </a:rPr>
              <a:t>Then total output will increase by less and less</a:t>
            </a:r>
          </a:p>
          <a:p>
            <a:pPr lvl="1" algn="l"/>
            <a:r>
              <a:rPr>
                <a:latin typeface="Calibri"/>
              </a:rPr>
              <a:t>i.e., the Marginal Product of Labor (MPL) goes down</a:t>
            </a:r>
          </a:p>
        </p:txBody>
      </p:sp>
      <p:sp>
        <p:nvSpPr>
          <p:cNvPr id="8" name="Rectangle 7"/>
          <p:cNvSpPr/>
          <p:nvPr/>
        </p:nvSpPr>
        <p:spPr>
          <a:xfrm>
            <a:off x="365760" y="3273552"/>
            <a:ext cx="5394960" cy="26060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365760" y="3273552"/>
          <a:ext cx="539496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6400800" y="3273552"/>
            <a:ext cx="5394960" cy="26060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Chart 10"/>
          <p:cNvGraphicFramePr>
            <a:graphicFrameLocks noGrp="1"/>
          </p:cNvGraphicFramePr>
          <p:nvPr/>
        </p:nvGraphicFramePr>
        <p:xfrm>
          <a:off x="6400800" y="3273552"/>
          <a:ext cx="5394960" cy="2606040"/>
        </p:xfrm>
        <a:graphic>
          <a:graphicData uri="http://schemas.openxmlformats.org/drawingml/2006/chart">
            <c:chart xmlns:c="http://schemas.openxmlformats.org/drawingml/2006/chart" xmlns:r="http://schemas.openxmlformats.org/officeDocument/2006/relationships" r:id="rId4"/>
          </a:graphicData>
        </a:graphic>
      </p:graphicFrame>
      <p:cxnSp>
        <p:nvCxnSpPr>
          <p:cNvPr id="12" name="Connector 11"/>
          <p:cNvCxnSpPr/>
          <p:nvPr/>
        </p:nvCxnSpPr>
        <p:spPr>
          <a:xfrm flipV="1">
            <a:off x="1165860" y="3653942"/>
            <a:ext cx="928116" cy="1634033"/>
          </a:xfrm>
          <a:prstGeom prst="line">
            <a:avLst/>
          </a:prstGeom>
          <a:ln w="25400">
            <a:solidFill>
              <a:srgbClr val="E09F3E"/>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019702" y="3538728"/>
            <a:ext cx="1371600" cy="230428"/>
          </a:xfrm>
          <a:prstGeom prst="line">
            <a:avLst/>
          </a:prstGeom>
          <a:ln w="25400">
            <a:solidFill>
              <a:srgbClr val="E09F3E"/>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2971800"/>
            <a:ext cx="5394960" cy="274320"/>
          </a:xfrm>
          <a:prstGeom prst="rect">
            <a:avLst/>
          </a:prstGeom>
          <a:noFill/>
        </p:spPr>
        <p:txBody>
          <a:bodyPr wrap="square" lIns="0" tIns="0" rIns="0" bIns="0">
            <a:spAutoFit/>
          </a:bodyPr>
          <a:lstStyle/>
          <a:p>
            <a:pPr algn="ctr"/>
            <a:r>
              <a:rPr sz="1300" b="1" i="0">
                <a:solidFill>
                  <a:srgbClr val="0B2B4E"/>
                </a:solidFill>
                <a:latin typeface="Calibri"/>
              </a:rPr>
              <a:t>Total output  (rising, flattening)</a:t>
            </a:r>
          </a:p>
        </p:txBody>
      </p:sp>
      <p:sp>
        <p:nvSpPr>
          <p:cNvPr id="15" name="TextBox 14"/>
          <p:cNvSpPr txBox="1"/>
          <p:nvPr/>
        </p:nvSpPr>
        <p:spPr>
          <a:xfrm>
            <a:off x="7941564" y="3108961"/>
            <a:ext cx="2885847" cy="200055"/>
          </a:xfrm>
          <a:prstGeom prst="rect">
            <a:avLst/>
          </a:prstGeom>
          <a:solidFill>
            <a:srgbClr val="FFFFFF"/>
          </a:solidFill>
        </p:spPr>
        <p:txBody>
          <a:bodyPr wrap="square" lIns="0" tIns="0" rIns="0" bIns="0">
            <a:spAutoFit/>
          </a:bodyPr>
          <a:lstStyle/>
          <a:p>
            <a:pPr algn="ctr"/>
            <a:r>
              <a:rPr sz="1300" b="1" i="0" dirty="0">
                <a:solidFill>
                  <a:srgbClr val="0B2B4E"/>
                </a:solidFill>
                <a:latin typeface="Calibri"/>
              </a:rPr>
              <a:t>Marginal Product of Labor  (declining)</a:t>
            </a:r>
          </a:p>
        </p:txBody>
      </p:sp>
      <p:grpSp>
        <p:nvGrpSpPr>
          <p:cNvPr id="42" name="Group 42"/>
          <p:cNvGrpSpPr/>
          <p:nvPr/>
        </p:nvGrpSpPr>
        <p:grpSpPr>
          <a:xfrm>
            <a:off x="8226856" y="3713378"/>
            <a:ext cx="2547518" cy="502920"/>
            <a:chOff x="8226856" y="3713378"/>
            <a:chExt cx="2547518" cy="502920"/>
          </a:xfrm>
        </p:grpSpPr>
        <p:sp>
          <p:nvSpPr>
            <p:cNvPr id="16" name="Rounded Rectangle 15"/>
            <p:cNvSpPr/>
            <p:nvPr/>
          </p:nvSpPr>
          <p:spPr>
            <a:xfrm>
              <a:off x="8226856" y="3713378"/>
              <a:ext cx="2547518" cy="50292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09736" y="3749954"/>
              <a:ext cx="2181758" cy="429768"/>
            </a:xfrm>
            <a:prstGeom prst="rect">
              <a:avLst/>
            </a:prstGeom>
            <a:noFill/>
          </p:spPr>
          <p:txBody>
            <a:bodyPr wrap="square" lIns="45720" tIns="0" rIns="45720" bIns="0" anchor="ctr">
              <a:spAutoFit/>
            </a:bodyPr>
            <a:lstStyle/>
            <a:p>
              <a:pPr algn="ctr">
                <a:lnSpc>
                  <a:spcPct val="80000"/>
                </a:lnSpc>
              </a:pPr>
              <a:r>
                <a:rPr sz="1200" b="1" i="0">
                  <a:solidFill>
                    <a:srgbClr val="0B2B4E"/>
                  </a:solidFill>
                  <a:latin typeface="Calibri"/>
                </a:rPr>
                <a:t>Note:  </a:t>
              </a:r>
              <a:r>
                <a:rPr sz="1200" b="0" i="0">
                  <a:solidFill>
                    <a:srgbClr val="0B2B4E"/>
                  </a:solidFill>
                  <a:latin typeface="Calibri"/>
                </a:rPr>
                <a:t>MPL is plotted at the middle of each interval  (per our convention)</a:t>
              </a:r>
            </a:p>
          </p:txBody>
        </p:sp>
      </p:grpSp>
      <p:cxnSp>
        <p:nvCxnSpPr>
          <p:cNvPr id="18" name="Connector 17"/>
          <p:cNvCxnSpPr/>
          <p:nvPr/>
        </p:nvCxnSpPr>
        <p:spPr>
          <a:xfrm flipH="1">
            <a:off x="7941564" y="4219956"/>
            <a:ext cx="345643" cy="658368"/>
          </a:xfrm>
          <a:prstGeom prst="line">
            <a:avLst/>
          </a:prstGeom>
          <a:ln w="1905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83480" y="4247388"/>
            <a:ext cx="950976" cy="658368"/>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0B2B4E"/>
                </a:solidFill>
                <a:latin typeface="Calibri"/>
              </a:rPr>
              <a:t>plot the slope</a:t>
            </a:r>
          </a:p>
        </p:txBody>
      </p:sp>
      <p:sp>
        <p:nvSpPr>
          <p:cNvPr id="20" name="Right Arrow 19"/>
          <p:cNvSpPr/>
          <p:nvPr/>
        </p:nvSpPr>
        <p:spPr>
          <a:xfrm>
            <a:off x="5934456" y="4398264"/>
            <a:ext cx="658368" cy="356616"/>
          </a:xfrm>
          <a:prstGeom prst="rightArrow">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H="1">
            <a:off x="1408176" y="4609490"/>
            <a:ext cx="3575304" cy="323698"/>
          </a:xfrm>
          <a:prstGeom prst="line">
            <a:avLst/>
          </a:prstGeom>
          <a:ln w="127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910328" y="3653942"/>
            <a:ext cx="691286" cy="593446"/>
          </a:xfrm>
          <a:prstGeom prst="line">
            <a:avLst/>
          </a:prstGeom>
          <a:ln w="12700">
            <a:solidFill>
              <a:srgbClr val="E09F3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058400" y="1417320"/>
            <a:ext cx="2130552" cy="822960"/>
          </a:xfrm>
          <a:prstGeom prst="roundRect">
            <a:avLst>
              <a:gd name="adj" fmla="val 15000"/>
            </a:avLst>
          </a:prstGeom>
          <a:no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31552" y="1499616"/>
            <a:ext cx="2066543" cy="215444"/>
          </a:xfrm>
          <a:prstGeom prst="rect">
            <a:avLst/>
          </a:prstGeom>
          <a:noFill/>
        </p:spPr>
        <p:txBody>
          <a:bodyPr wrap="square" lIns="0" tIns="0" rIns="0" bIns="0">
            <a:spAutoFit/>
          </a:bodyPr>
          <a:lstStyle/>
          <a:p>
            <a:pPr algn="l"/>
            <a:r>
              <a:rPr sz="1400" dirty="0">
                <a:solidFill>
                  <a:srgbClr val="0B2B4E"/>
                </a:solidFill>
                <a:latin typeface="Calibri"/>
              </a:rPr>
              <a:t>➤  </a:t>
            </a:r>
            <a:r>
              <a:rPr sz="1400" u="sng" dirty="0">
                <a:solidFill>
                  <a:srgbClr val="0B2B4E"/>
                </a:solidFill>
                <a:latin typeface="Calibri"/>
                <a:hlinkClick r:id="rId5" action="ppaction://hlinksldjump">
                  <a:extLst>
                    <a:ext uri="{A12FA001-AC4F-418D-AE19-62706E023703}">
                      <ahyp:hlinkClr xmlns:ahyp="http://schemas.microsoft.com/office/drawing/2018/hyperlinkcolor" val="tx"/>
                    </a:ext>
                  </a:extLst>
                </a:hlinkClick>
              </a:rPr>
              <a:t>Very high MPL image</a:t>
            </a:r>
            <a:endParaRPr sz="1400" u="sng" dirty="0">
              <a:solidFill>
                <a:srgbClr val="0B2B4E"/>
              </a:solidFill>
              <a:latin typeface="Calibri"/>
              <a:hlinkClick r:id="" action="ppaction://noaction">
                <a:extLst>
                  <a:ext uri="{A12FA001-AC4F-418D-AE19-62706E023703}">
                    <ahyp:hlinkClr xmlns:ahyp="http://schemas.microsoft.com/office/drawing/2018/hyperlinkcolor" val="tx"/>
                  </a:ext>
                </a:extLst>
              </a:hlinkClick>
            </a:endParaRPr>
          </a:p>
        </p:txBody>
      </p:sp>
      <p:sp>
        <p:nvSpPr>
          <p:cNvPr id="25" name="TextBox 24"/>
          <p:cNvSpPr txBox="1"/>
          <p:nvPr/>
        </p:nvSpPr>
        <p:spPr>
          <a:xfrm>
            <a:off x="10131552" y="1828800"/>
            <a:ext cx="2066543" cy="215444"/>
          </a:xfrm>
          <a:prstGeom prst="rect">
            <a:avLst/>
          </a:prstGeom>
          <a:noFill/>
        </p:spPr>
        <p:txBody>
          <a:bodyPr wrap="square" lIns="0" tIns="0" rIns="0" bIns="0">
            <a:spAutoFit/>
          </a:bodyPr>
          <a:lstStyle/>
          <a:p>
            <a:pPr algn="l"/>
            <a:r>
              <a:rPr sz="1400" dirty="0">
                <a:solidFill>
                  <a:srgbClr val="0B2B4E"/>
                </a:solidFill>
                <a:latin typeface="Calibri"/>
              </a:rPr>
              <a:t>➤  </a:t>
            </a:r>
            <a:r>
              <a:rPr sz="1400" u="sng" dirty="0">
                <a:solidFill>
                  <a:srgbClr val="0B2B4E"/>
                </a:solidFill>
                <a:latin typeface="Calibri"/>
                <a:hlinkClick r:id="rId6" action="ppaction://hlinksldjump">
                  <a:extLst>
                    <a:ext uri="{A12FA001-AC4F-418D-AE19-62706E023703}">
                      <ahyp:hlinkClr xmlns:ahyp="http://schemas.microsoft.com/office/drawing/2018/hyperlinkcolor" val="tx"/>
                    </a:ext>
                  </a:extLst>
                </a:hlinkClick>
              </a:rPr>
              <a:t>Very low MPL image</a:t>
            </a:r>
            <a:endParaRPr sz="1400" u="sng" dirty="0">
              <a:solidFill>
                <a:srgbClr val="0B2B4E"/>
              </a:solidFill>
              <a:latin typeface="Calibri"/>
              <a:hlinkClick r:id="" action="ppaction://noaction">
                <a:extLst>
                  <a:ext uri="{A12FA001-AC4F-418D-AE19-62706E023703}">
                    <ahyp:hlinkClr xmlns:ahyp="http://schemas.microsoft.com/office/drawing/2018/hyperlinkcolor" val="tx"/>
                  </a:ext>
                </a:extLst>
              </a:hlinkClick>
            </a:endParaRPr>
          </a:p>
        </p:txBody>
      </p:sp>
      <p:cxnSp>
        <p:nvCxnSpPr>
          <p:cNvPr id="26" name="Connector 25"/>
          <p:cNvCxnSpPr/>
          <p:nvPr/>
        </p:nvCxnSpPr>
        <p:spPr>
          <a:xfrm flipH="1">
            <a:off x="7424927" y="1709928"/>
            <a:ext cx="2885847" cy="1728216"/>
          </a:xfrm>
          <a:prstGeom prst="line">
            <a:avLst/>
          </a:prstGeom>
          <a:ln w="19050">
            <a:solidFill>
              <a:srgbClr val="0B2B4E"/>
            </a:solidFill>
            <a:prstDash val="dash"/>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338560" y="2093976"/>
            <a:ext cx="0" cy="3099816"/>
          </a:xfrm>
          <a:prstGeom prst="line">
            <a:avLst/>
          </a:prstGeom>
          <a:ln w="19050">
            <a:solidFill>
              <a:srgbClr val="0B2B4E"/>
            </a:solidFill>
            <a:prstDash val="dash"/>
            <a:tailEnd type="triangle" w="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752447" y="5989320"/>
            <a:ext cx="868680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Note:  MPL is the slope  (dQ / dL)  of the output curve</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32" name="TextBox 31"/>
          <p:cNvSpPr txBox="1"/>
          <p:nvPr/>
        </p:nvSpPr>
        <p:spPr>
          <a:xfrm>
            <a:off x="11430000" y="6583680"/>
            <a:ext cx="548640" cy="292608"/>
          </a:xfrm>
          <a:prstGeom prst="rect">
            <a:avLst/>
          </a:prstGeom>
          <a:noFill/>
        </p:spPr>
        <p:txBody>
          <a:bodyPr wrap="square" lIns="0" tIns="0" rIns="0" bIns="0">
            <a:spAutoFit/>
          </a:bodyPr>
          <a:lstStyle/>
          <a:p>
            <a:pPr algn="r"/>
            <a:fld id="{89559C95-6406-4267-85B0-BD8A2EA14FEE}" type="slidenum">
              <a:rPr sz="1200" b="0" i="0">
                <a:solidFill>
                  <a:srgbClr val="555B66"/>
                </a:solidFill>
                <a:latin typeface="Calibri"/>
              </a:rPr>
              <a:t>5</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10" presetClass="entr" presetSubtype="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dirty="0">
                <a:solidFill>
                  <a:srgbClr val="FFFFFF"/>
                </a:solidFill>
                <a:latin typeface="Calibri"/>
              </a:rPr>
              <a:t>Module 3 · The Production Function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dirty="0">
                <a:solidFill>
                  <a:srgbClr val="0B2B4E"/>
                </a:solidFill>
                <a:latin typeface="Calibri"/>
              </a:rPr>
              <a:t>Do You See Diminishing </a:t>
            </a:r>
            <a:r>
              <a:rPr lang="en-US" sz="3200" b="1" dirty="0" err="1">
                <a:solidFill>
                  <a:srgbClr val="0B2B4E"/>
                </a:solidFill>
                <a:latin typeface="Calibri"/>
              </a:rPr>
              <a:t>MPL</a:t>
            </a:r>
            <a:r>
              <a:rPr lang="en-US" sz="3200" b="1" dirty="0">
                <a:solidFill>
                  <a:srgbClr val="0B2B4E"/>
                </a:solidFill>
                <a:latin typeface="Calibri"/>
              </a:rPr>
              <a:t>… and </a:t>
            </a:r>
            <a:r>
              <a:rPr lang="en-US" sz="3200" b="1" dirty="0" err="1">
                <a:solidFill>
                  <a:srgbClr val="0B2B4E"/>
                </a:solidFill>
                <a:latin typeface="Calibri"/>
              </a:rPr>
              <a:t>MPK</a:t>
            </a:r>
            <a:r>
              <a:rPr lang="en-US" sz="3200" b="1" dirty="0">
                <a:solidFill>
                  <a:srgbClr val="0B2B4E"/>
                </a:solidFill>
                <a:latin typeface="Calibri"/>
              </a:rPr>
              <a:t>?  </a:t>
            </a:r>
            <a:endParaRPr sz="3200" b="1" i="0"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410358" y="1188720"/>
            <a:ext cx="7680960" cy="43891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extLst>
              <p:ext uri="{D42A27DB-BD31-4B8C-83A1-F6EECF244321}">
                <p14:modId xmlns:p14="http://schemas.microsoft.com/office/powerpoint/2010/main" val="3894780823"/>
              </p:ext>
            </p:extLst>
          </p:nvPr>
        </p:nvGraphicFramePr>
        <p:xfrm>
          <a:off x="2410358" y="1188720"/>
          <a:ext cx="7680960" cy="4389120"/>
        </p:xfrm>
        <a:graphic>
          <a:graphicData uri="http://schemas.openxmlformats.org/drawingml/2006/chart">
            <c:chart xmlns:c="http://schemas.openxmlformats.org/drawingml/2006/chart" xmlns:r="http://schemas.openxmlformats.org/officeDocument/2006/relationships" r:id="rId3"/>
          </a:graphicData>
        </a:graphic>
      </p:graphicFrame>
      <p:grpSp>
        <p:nvGrpSpPr>
          <p:cNvPr id="24" name="Group 24"/>
          <p:cNvGrpSpPr/>
          <p:nvPr/>
        </p:nvGrpSpPr>
        <p:grpSpPr>
          <a:xfrm>
            <a:off x="2410358" y="5701284"/>
            <a:ext cx="7576718" cy="713232"/>
            <a:chOff x="2410358" y="5701284"/>
            <a:chExt cx="7576718" cy="713232"/>
          </a:xfrm>
        </p:grpSpPr>
        <p:sp>
          <p:nvSpPr>
            <p:cNvPr id="9" name="Rounded Rectangle 8"/>
            <p:cNvSpPr/>
            <p:nvPr/>
          </p:nvSpPr>
          <p:spPr>
            <a:xfrm>
              <a:off x="2410358" y="5701284"/>
              <a:ext cx="7576718" cy="713232"/>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47518" y="5737860"/>
              <a:ext cx="7302398" cy="640080"/>
            </a:xfrm>
            <a:prstGeom prst="rect">
              <a:avLst/>
            </a:prstGeom>
            <a:noFill/>
          </p:spPr>
          <p:txBody>
            <a:bodyPr wrap="square" lIns="45720" tIns="0" rIns="45720" bIns="0" anchor="ctr">
              <a:spAutoFit/>
            </a:bodyPr>
            <a:lstStyle/>
            <a:p>
              <a:pPr algn="ctr"/>
              <a:r>
                <a:rPr sz="1700" b="1" i="0" dirty="0">
                  <a:solidFill>
                    <a:srgbClr val="0B2B4E"/>
                  </a:solidFill>
                  <a:latin typeface="Calibri"/>
                </a:rPr>
                <a:t>Each curve flattens as L rises  (diminishing </a:t>
              </a:r>
              <a:r>
                <a:rPr sz="1700" b="1" i="0" dirty="0" err="1">
                  <a:solidFill>
                    <a:srgbClr val="0B2B4E"/>
                  </a:solidFill>
                  <a:latin typeface="Calibri"/>
                </a:rPr>
                <a:t>MPL</a:t>
              </a:r>
              <a:r>
                <a:rPr sz="1700" b="1" i="0" dirty="0">
                  <a:solidFill>
                    <a:srgbClr val="0B2B4E"/>
                  </a:solidFill>
                  <a:latin typeface="Calibri"/>
                </a:rPr>
                <a:t>)</a:t>
              </a:r>
            </a:p>
            <a:p>
              <a:pPr algn="ctr"/>
              <a:r>
                <a:rPr sz="1700" b="1" i="0" dirty="0">
                  <a:solidFill>
                    <a:srgbClr val="0B2B4E"/>
                  </a:solidFill>
                  <a:latin typeface="Calibri"/>
                </a:rPr>
                <a:t>The vertical distance between curves narrows as K rises  (diminishing </a:t>
              </a:r>
              <a:r>
                <a:rPr sz="1700" b="1" i="0" dirty="0" err="1">
                  <a:solidFill>
                    <a:srgbClr val="0B2B4E"/>
                  </a:solidFill>
                  <a:latin typeface="Calibri"/>
                </a:rPr>
                <a:t>MPK</a:t>
              </a:r>
              <a:r>
                <a:rPr sz="1700" b="1" i="0" dirty="0">
                  <a:solidFill>
                    <a:srgbClr val="0B2B4E"/>
                  </a:solidFill>
                  <a:latin typeface="Calibri"/>
                </a:rPr>
                <a:t>)</a:t>
              </a: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4414083D-4111-4E6E-A5E9-392F3116D54D}" type="slidenum">
              <a:rPr sz="1200" b="0" i="0">
                <a:solidFill>
                  <a:srgbClr val="555B66"/>
                </a:solidFill>
                <a:latin typeface="Calibri"/>
              </a:rPr>
              <a:t>6</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Famous Example for Diminishing Marginal Returns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0779" y="1525219"/>
            <a:ext cx="11687697" cy="141732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The (agriculture-based) economy before 1800:</a:t>
            </a:r>
          </a:p>
          <a:p>
            <a:pPr lvl="1" algn="l"/>
            <a:r>
              <a:rPr>
                <a:latin typeface="Calibri"/>
              </a:rPr>
              <a:t>Land was the fixed factor; labor was variable</a:t>
            </a:r>
          </a:p>
          <a:p>
            <a:pPr lvl="1" algn="l"/>
            <a:r>
              <a:rPr>
                <a:latin typeface="Calibri"/>
              </a:rPr>
              <a:t>Q = f (labor, land);  no capital</a:t>
            </a:r>
          </a:p>
        </p:txBody>
      </p:sp>
      <p:sp>
        <p:nvSpPr>
          <p:cNvPr id="8" name="Rounded Rectangle 7"/>
          <p:cNvSpPr/>
          <p:nvPr/>
        </p:nvSpPr>
        <p:spPr>
          <a:xfrm>
            <a:off x="251999" y="3291840"/>
            <a:ext cx="5303520" cy="2200960"/>
          </a:xfrm>
          <a:prstGeom prst="roundRect">
            <a:avLst>
              <a:gd name="adj" fmla="val 8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l"/>
            <a:r>
              <a:rPr sz="2400">
                <a:solidFill>
                  <a:srgbClr val="0B2B4E"/>
                </a:solidFill>
                <a:latin typeface="Calibri"/>
              </a:rPr>
              <a:t>In 1348, the Black Death killed almost half the population (labor).</a:t>
            </a:r>
          </a:p>
          <a:p>
            <a:endParaRPr sz="2400">
              <a:solidFill>
                <a:srgbClr val="0B2B4E"/>
              </a:solidFill>
              <a:latin typeface="Calibri"/>
            </a:endParaRPr>
          </a:p>
          <a:p>
            <a:pPr algn="l"/>
            <a:r>
              <a:rPr sz="2600" b="1">
                <a:solidFill>
                  <a:srgbClr val="0B2B4E"/>
                </a:solidFill>
                <a:latin typeface="Calibri"/>
              </a:rPr>
              <a:t>→  What happened to the return to labor?</a:t>
            </a:r>
          </a:p>
        </p:txBody>
      </p:sp>
      <p:pic>
        <p:nvPicPr>
          <p:cNvPr id="9" name="Picture 8" descr="slide14_rId3.png"/>
          <p:cNvPicPr>
            <a:picLocks noChangeAspect="1"/>
          </p:cNvPicPr>
          <p:nvPr/>
        </p:nvPicPr>
        <p:blipFill>
          <a:blip r:embed="rId3"/>
          <a:stretch>
            <a:fillRect/>
          </a:stretch>
        </p:blipFill>
        <p:spPr>
          <a:xfrm>
            <a:off x="6083503" y="2668219"/>
            <a:ext cx="5760720" cy="3710066"/>
          </a:xfrm>
          <a:prstGeom prst="rect">
            <a:avLst/>
          </a:prstGeom>
          <a:effectLst>
            <a:outerShdw blurRad="50800" dist="38100" dir="2700000" algn="tl" rotWithShape="0">
              <a:srgbClr val="000000">
                <a:alpha val="45000"/>
              </a:srgbClr>
            </a:outerShdw>
          </a:effectLst>
        </p:spPr>
      </p:pic>
      <p:sp>
        <p:nvSpPr>
          <p:cNvPr id="10" name="TextBox 9"/>
          <p:cNvSpPr txBox="1"/>
          <p:nvPr/>
        </p:nvSpPr>
        <p:spPr>
          <a:xfrm>
            <a:off x="6126480" y="2697480"/>
            <a:ext cx="5760720" cy="228600"/>
          </a:xfrm>
          <a:prstGeom prst="rect">
            <a:avLst/>
          </a:prstGeom>
          <a:noFill/>
        </p:spPr>
        <p:txBody>
          <a:bodyPr wrap="square" lIns="0" tIns="0" rIns="0" bIns="0">
            <a:spAutoFit/>
          </a:bodyPr>
          <a:lstStyle/>
          <a:p>
            <a:pPr algn="ctr"/>
            <a:r>
              <a:rPr sz="1300" b="1" i="1">
                <a:solidFill>
                  <a:srgbClr val="0B2B4E"/>
                </a:solidFill>
                <a:latin typeface="Calibri"/>
              </a:rPr>
              <a:t>Wages and population, England 1300-1500</a:t>
            </a:r>
          </a:p>
        </p:txBody>
      </p:sp>
      <p:sp>
        <p:nvSpPr>
          <p:cNvPr id="11" name="TextBox 10"/>
          <p:cNvSpPr txBox="1"/>
          <p:nvPr/>
        </p:nvSpPr>
        <p:spPr>
          <a:xfrm>
            <a:off x="8963863" y="4903012"/>
            <a:ext cx="868680" cy="274320"/>
          </a:xfrm>
          <a:prstGeom prst="rect">
            <a:avLst/>
          </a:prstGeom>
          <a:noFill/>
        </p:spPr>
        <p:txBody>
          <a:bodyPr wrap="square" lIns="0" tIns="0" rIns="0" bIns="0">
            <a:spAutoFit/>
          </a:bodyPr>
          <a:lstStyle/>
          <a:p>
            <a:pPr algn="ctr"/>
            <a:r>
              <a:rPr sz="1200" b="1" i="1">
                <a:solidFill>
                  <a:srgbClr val="555B66"/>
                </a:solidFill>
                <a:latin typeface="Calibri"/>
              </a:rPr>
              <a:t>Population</a:t>
            </a:r>
          </a:p>
        </p:txBody>
      </p:sp>
      <p:cxnSp>
        <p:nvCxnSpPr>
          <p:cNvPr id="12" name="Connector 11"/>
          <p:cNvCxnSpPr/>
          <p:nvPr/>
        </p:nvCxnSpPr>
        <p:spPr>
          <a:xfrm flipH="1" flipV="1">
            <a:off x="8652967" y="4590288"/>
            <a:ext cx="353873" cy="370332"/>
          </a:xfrm>
          <a:prstGeom prst="line">
            <a:avLst/>
          </a:prstGeom>
          <a:ln w="25400">
            <a:solidFill>
              <a:srgbClr val="555B66"/>
            </a:solidFill>
            <a:tailEnd type="triangle" w="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09483" y="5218480"/>
            <a:ext cx="1188720" cy="274320"/>
          </a:xfrm>
          <a:prstGeom prst="rect">
            <a:avLst/>
          </a:prstGeom>
          <a:noFill/>
        </p:spPr>
        <p:txBody>
          <a:bodyPr wrap="square" lIns="0" tIns="0" rIns="0" bIns="0">
            <a:spAutoFit/>
          </a:bodyPr>
          <a:lstStyle/>
          <a:p>
            <a:pPr algn="ctr"/>
            <a:r>
              <a:rPr sz="1200" b="1" i="1">
                <a:solidFill>
                  <a:srgbClr val="000000"/>
                </a:solidFill>
                <a:latin typeface="Calibri"/>
              </a:rPr>
              <a:t>Return to labor</a:t>
            </a:r>
          </a:p>
        </p:txBody>
      </p:sp>
      <p:cxnSp>
        <p:nvCxnSpPr>
          <p:cNvPr id="14" name="Connector 13"/>
          <p:cNvCxnSpPr/>
          <p:nvPr/>
        </p:nvCxnSpPr>
        <p:spPr>
          <a:xfrm flipH="1" flipV="1">
            <a:off x="7882127" y="4775911"/>
            <a:ext cx="347473" cy="500177"/>
          </a:xfrm>
          <a:prstGeom prst="line">
            <a:avLst/>
          </a:prstGeom>
          <a:ln w="25400">
            <a:solidFill>
              <a:srgbClr val="000000"/>
            </a:solidFill>
            <a:tailEnd type="triangle" w="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tIns="0" rIns="0" bIns="0">
            <a:spAutoFit/>
          </a:bodyPr>
          <a:lstStyle/>
          <a:p>
            <a:pPr algn="r"/>
            <a:fld id="{705A422E-EE0D-4E62-A263-4BB511BEEAB7}" type="slidenum">
              <a:rPr sz="1200" b="0" i="0">
                <a:solidFill>
                  <a:srgbClr val="555B66"/>
                </a:solidFill>
                <a:latin typeface="Calibri"/>
              </a:rPr>
              <a:t>7</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Hiring Decisions in the Short Run —  Context &amp; Scenario</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7315200" cy="402336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Demand and output price are given</a:t>
            </a:r>
          </a:p>
          <a:p>
            <a:pPr lvl="1" algn="l"/>
            <a:r>
              <a:rPr>
                <a:latin typeface="Calibri"/>
              </a:rPr>
              <a:t>Large number of R1 ordered at price of ~$80k</a:t>
            </a:r>
          </a:p>
          <a:p>
            <a:pPr lvl="1" algn="l"/>
            <a:r>
              <a:rPr>
                <a:latin typeface="Calibri"/>
              </a:rPr>
              <a:t>Out of this, ~$35k is material cost → (Net) Revenue per car ~$45k</a:t>
            </a:r>
          </a:p>
          <a:p>
            <a:pPr algn="l"/>
            <a:r>
              <a:rPr>
                <a:latin typeface="Calibri"/>
              </a:rPr>
              <a:t>Short run:  capital (factory size, robots) is fixed</a:t>
            </a:r>
          </a:p>
          <a:p>
            <a:pPr algn="l"/>
            <a:r>
              <a:rPr>
                <a:latin typeface="Calibri"/>
              </a:rPr>
              <a:t>The only way to expand production is to hire more workers</a:t>
            </a:r>
          </a:p>
        </p:txBody>
      </p:sp>
      <p:pic>
        <p:nvPicPr>
          <p:cNvPr id="8" name="Picture 7" descr="_rivian.jpg"/>
          <p:cNvPicPr>
            <a:picLocks noChangeAspect="1"/>
          </p:cNvPicPr>
          <p:nvPr/>
        </p:nvPicPr>
        <p:blipFill>
          <a:blip r:embed="rId3"/>
          <a:stretch>
            <a:fillRect/>
          </a:stretch>
        </p:blipFill>
        <p:spPr>
          <a:xfrm>
            <a:off x="7818120" y="1783080"/>
            <a:ext cx="3931920" cy="274320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7818120" y="4617720"/>
            <a:ext cx="3931920" cy="182880"/>
          </a:xfrm>
          <a:prstGeom prst="rect">
            <a:avLst/>
          </a:prstGeom>
          <a:noFill/>
        </p:spPr>
        <p:txBody>
          <a:bodyPr wrap="square" lIns="0" tIns="0" rIns="0" bIns="0">
            <a:spAutoFit/>
          </a:bodyPr>
          <a:lstStyle/>
          <a:p>
            <a:pPr algn="ctr"/>
            <a:r>
              <a:rPr sz="900" b="0" i="1">
                <a:solidFill>
                  <a:srgbClr val="555B66"/>
                </a:solidFill>
                <a:latin typeface="Calibri"/>
              </a:rPr>
              <a:t>Rivian R1  (CC BY-SA, Wikimedia)</a:t>
            </a:r>
          </a:p>
        </p:txBody>
      </p:sp>
      <p:sp>
        <p:nvSpPr>
          <p:cNvPr id="10" name="Rounded Rectangle 9"/>
          <p:cNvSpPr/>
          <p:nvPr/>
        </p:nvSpPr>
        <p:spPr>
          <a:xfrm>
            <a:off x="3144621" y="5481828"/>
            <a:ext cx="6376111" cy="553212"/>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  How many workers should Rivian optimally hire?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F101DC99-7559-471E-91DC-9F832856A536}" type="slidenum">
              <a:rPr sz="1200" b="0" i="0">
                <a:solidFill>
                  <a:srgbClr val="555B66"/>
                </a:solidFill>
                <a:latin typeface="Calibri"/>
              </a:rPr>
              <a:t>8</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Hiring Decisions in the Short Run —  Core Concept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43837"/>
            <a:ext cx="11687697" cy="320040"/>
          </a:xfrm>
          <a:prstGeom prst="rect">
            <a:avLst/>
          </a:prstGeom>
          <a:noFill/>
        </p:spPr>
        <p:txBody>
          <a:bodyPr wrap="square" lIns="0" tIns="0" rIns="0" bIns="0">
            <a:spAutoFit/>
          </a:bodyPr>
          <a:lstStyle/>
          <a:p>
            <a:pPr algn="ctr"/>
            <a:r>
              <a:rPr sz="1800" b="1" i="1">
                <a:solidFill>
                  <a:srgbClr val="0B2B4E"/>
                </a:solidFill>
                <a:latin typeface="Calibri"/>
              </a:rPr>
              <a:t>In the short run  (capital K fixed):</a:t>
            </a:r>
          </a:p>
        </p:txBody>
      </p:sp>
      <p:sp>
        <p:nvSpPr>
          <p:cNvPr id="8" name="Rounded Rectangle 7"/>
          <p:cNvSpPr/>
          <p:nvPr/>
        </p:nvSpPr>
        <p:spPr>
          <a:xfrm>
            <a:off x="892454" y="1819656"/>
            <a:ext cx="10332720" cy="1014984"/>
          </a:xfrm>
          <a:prstGeom prst="roundRect">
            <a:avLst>
              <a:gd name="adj" fmla="val 6000"/>
            </a:avLst>
          </a:prstGeom>
          <a:solidFill>
            <a:srgbClr val="0B2B4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800" b="1">
                <a:solidFill>
                  <a:srgbClr val="FFFFFF"/>
                </a:solidFill>
                <a:latin typeface="Calibri"/>
              </a:rPr>
              <a:t>MRPL  =  </a:t>
            </a:r>
            <a:r>
              <a:rPr sz="2800" b="1">
                <a:solidFill>
                  <a:srgbClr val="9EC5F7"/>
                </a:solidFill>
                <a:latin typeface="Calibri"/>
              </a:rPr>
              <a:t>Marginal Revenue Product of Labor</a:t>
            </a:r>
          </a:p>
          <a:p>
            <a:pPr algn="ctr">
              <a:spcBef>
                <a:spcPts val="400"/>
              </a:spcBef>
            </a:pPr>
            <a:r>
              <a:rPr sz="1700" b="0" i="1">
                <a:solidFill>
                  <a:srgbClr val="FFFFFF"/>
                </a:solidFill>
                <a:latin typeface="Calibri"/>
              </a:rPr>
              <a:t>the extra revenue from one more worker</a:t>
            </a:r>
          </a:p>
        </p:txBody>
      </p:sp>
      <p:sp>
        <p:nvSpPr>
          <p:cNvPr id="9" name="Rounded Rectangle 8"/>
          <p:cNvSpPr/>
          <p:nvPr/>
        </p:nvSpPr>
        <p:spPr>
          <a:xfrm>
            <a:off x="914400" y="3007461"/>
            <a:ext cx="10241280" cy="2286000"/>
          </a:xfrm>
          <a:prstGeom prst="roundRect">
            <a:avLst>
              <a:gd name="adj" fmla="val 6000"/>
            </a:avLst>
          </a:prstGeom>
          <a:solidFill>
            <a:srgbClr val="FDF6E6"/>
          </a:solidFill>
          <a:ln w="9525">
            <a:solidFill>
              <a:srgbClr val="0B2B4E"/>
            </a:solid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wrap="square" lIns="274320" tIns="109728" rIns="274320" bIns="73152" rtlCol="0" anchor="t"/>
          <a:lstStyle/>
          <a:p>
            <a:pPr algn="ctr"/>
            <a:r>
              <a:rPr sz="1800" b="1">
                <a:solidFill>
                  <a:srgbClr val="0B2B4E"/>
                </a:solidFill>
                <a:latin typeface="Calibri"/>
              </a:rPr>
              <a:t>Decomposition:   MRPL  =  MR × MPL</a:t>
            </a:r>
          </a:p>
          <a:p>
            <a:pPr algn="ctr">
              <a:spcBef>
                <a:spcPts val="400"/>
              </a:spcBef>
            </a:pPr>
            <a:r>
              <a:rPr sz="1400" i="1">
                <a:solidFill>
                  <a:srgbClr val="0B2B4E"/>
                </a:solidFill>
                <a:latin typeface="Calibri"/>
              </a:rPr>
              <a:t>MR:  marginal revenue from selling an extra item</a:t>
            </a:r>
          </a:p>
          <a:p>
            <a:pPr algn="ctr">
              <a:spcBef>
                <a:spcPts val="0"/>
              </a:spcBef>
            </a:pPr>
            <a:r>
              <a:rPr sz="1400" i="1">
                <a:solidFill>
                  <a:srgbClr val="0B2B4E"/>
                </a:solidFill>
                <a:latin typeface="Calibri"/>
              </a:rPr>
              <a:t>MPL:  extra output (marginal product) from hiring one more worker</a:t>
            </a:r>
          </a:p>
          <a:p>
            <a:pPr algn="l">
              <a:spcBef>
                <a:spcPts val="1000"/>
              </a:spcBef>
            </a:pPr>
            <a:r>
              <a:rPr sz="1600" b="1">
                <a:solidFill>
                  <a:srgbClr val="0B2B4E"/>
                </a:solidFill>
                <a:latin typeface="Calibri"/>
              </a:rPr>
              <a:t>•  When MPL falls, MRPL falls</a:t>
            </a:r>
          </a:p>
          <a:p>
            <a:pPr algn="l">
              <a:spcBef>
                <a:spcPts val="800"/>
              </a:spcBef>
            </a:pPr>
            <a:r>
              <a:rPr sz="1600" b="1">
                <a:solidFill>
                  <a:srgbClr val="0B2B4E"/>
                </a:solidFill>
                <a:latin typeface="Calibri"/>
              </a:rPr>
              <a:t>•  Decreasing MPL  ⇒ marginal (additional) hires produce less and less additional output</a:t>
            </a:r>
          </a:p>
          <a:p>
            <a:pPr algn="l">
              <a:spcBef>
                <a:spcPts val="800"/>
              </a:spcBef>
            </a:pPr>
            <a:r>
              <a:rPr sz="1600" b="1">
                <a:solidFill>
                  <a:srgbClr val="0B2B4E"/>
                </a:solidFill>
                <a:latin typeface="Calibri"/>
              </a:rPr>
              <a:t>•  Price-taker case:  MR = P,  so  MRPL = P × MPL</a:t>
            </a:r>
          </a:p>
          <a:p>
            <a:pPr algn="l">
              <a:spcBef>
                <a:spcPts val="400"/>
              </a:spcBef>
            </a:pPr>
            <a:r>
              <a:rPr sz="1600" i="1">
                <a:solidFill>
                  <a:srgbClr val="0B2B4E"/>
                </a:solidFill>
                <a:latin typeface="Calibri"/>
              </a:rPr>
              <a:t>     →  Even when holding MR (or price) constant, MRPL falls when labor is added, as a result of falling MPL</a:t>
            </a:r>
          </a:p>
        </p:txBody>
      </p:sp>
      <p:sp>
        <p:nvSpPr>
          <p:cNvPr id="10" name="12-Point Star 9"/>
          <p:cNvSpPr/>
          <p:nvPr/>
        </p:nvSpPr>
        <p:spPr>
          <a:xfrm>
            <a:off x="9930384" y="5307177"/>
            <a:ext cx="1691640" cy="1198778"/>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26421" y="5576902"/>
            <a:ext cx="1099566" cy="659327"/>
          </a:xfrm>
          <a:prstGeom prst="rect">
            <a:avLst/>
          </a:prstGeom>
          <a:noFill/>
        </p:spPr>
        <p:txBody>
          <a:bodyPr wrap="square" lIns="0" tIns="0" rIns="0" bIns="0" anchor="ctr">
            <a:spAutoFit/>
          </a:bodyPr>
          <a:lstStyle/>
          <a:p>
            <a:pPr algn="ctr"/>
            <a:r>
              <a:rPr sz="1400" b="1">
                <a:solidFill>
                  <a:srgbClr val="0B2B4E"/>
                </a:solidFill>
                <a:latin typeface="Calibri"/>
              </a:rPr>
              <a:t>MB &gt; MC</a:t>
            </a:r>
          </a:p>
          <a:p>
            <a:pPr algn="ctr"/>
            <a:r>
              <a:rPr sz="1100" b="1" i="1">
                <a:solidFill>
                  <a:srgbClr val="0B2B4E"/>
                </a:solidFill>
                <a:latin typeface="Calibri"/>
              </a:rPr>
              <a:t>(of labor)</a:t>
            </a:r>
          </a:p>
          <a:p>
            <a:pPr algn="ctr"/>
            <a:r>
              <a:rPr sz="1100" b="1" i="1">
                <a:solidFill>
                  <a:srgbClr val="0B2B4E"/>
                </a:solidFill>
                <a:latin typeface="Calibri"/>
              </a:rPr>
              <a:t>→  Hire more</a:t>
            </a:r>
          </a:p>
        </p:txBody>
      </p:sp>
      <p:sp>
        <p:nvSpPr>
          <p:cNvPr id="12" name="Rounded Rectangle 11"/>
          <p:cNvSpPr/>
          <p:nvPr/>
        </p:nvSpPr>
        <p:spPr>
          <a:xfrm>
            <a:off x="2759659" y="5747004"/>
            <a:ext cx="6598310" cy="502920"/>
          </a:xfrm>
          <a:prstGeom prst="roundRect">
            <a:avLst>
              <a:gd name="adj" fmla="val 6000"/>
            </a:avLst>
          </a:pr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0B2B4E"/>
                </a:solidFill>
                <a:latin typeface="Calibri"/>
              </a:rPr>
              <a:t>Decision rule:   If  MRPL &gt; w (wage),   hire more workers</a:t>
            </a:r>
          </a:p>
        </p:txBody>
      </p:sp>
      <p:cxnSp>
        <p:nvCxnSpPr>
          <p:cNvPr id="13" name="Connector 12"/>
          <p:cNvCxnSpPr/>
          <p:nvPr/>
        </p:nvCxnSpPr>
        <p:spPr>
          <a:xfrm flipH="1">
            <a:off x="9357055" y="5911596"/>
            <a:ext cx="725119" cy="86868"/>
          </a:xfrm>
          <a:prstGeom prst="line">
            <a:avLst/>
          </a:prstGeom>
          <a:ln w="254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tIns="0" rIns="0" bIns="0">
            <a:spAutoFit/>
          </a:bodyPr>
          <a:lstStyle/>
          <a:p>
            <a:pPr algn="r"/>
            <a:fld id="{EA0271D2-F4C7-41C0-A6C0-AA22BC2656C8}" type="slidenum">
              <a:rPr sz="1200" b="0" i="0">
                <a:solidFill>
                  <a:srgbClr val="555B66"/>
                </a:solidFill>
                <a:latin typeface="Calibri"/>
              </a:rPr>
              <a:t>9</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Example:  Calculate MRPL at 2,300 Employees and 100 Robots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7132320" cy="402336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Currently 100 robots and 2,300 employees on the R1 line</a:t>
            </a:r>
          </a:p>
          <a:p>
            <a:pPr algn="l"/>
            <a:r>
              <a:rPr>
                <a:latin typeface="Calibri"/>
              </a:rPr>
              <a:t>(Net) Revenue per car ~$45k</a:t>
            </a:r>
          </a:p>
          <a:p>
            <a:pPr lvl="1" algn="l"/>
            <a:r>
              <a:rPr>
                <a:latin typeface="Calibri"/>
              </a:rPr>
              <a:t>Assume that this is approx. constant</a:t>
            </a:r>
          </a:p>
          <a:p>
            <a:pPr algn="l">
              <a:buNone/>
            </a:pPr>
            <a:endParaRPr>
              <a:latin typeface="Calibri"/>
            </a:endParaRPr>
          </a:p>
          <a:p>
            <a:pPr algn="l"/>
            <a:r>
              <a:rPr sz="3200">
                <a:latin typeface="Calibri"/>
              </a:rPr>
              <a:t>What is MRPL?  (in $ per worker, per week)</a:t>
            </a:r>
          </a:p>
        </p:txBody>
      </p:sp>
      <p:sp>
        <p:nvSpPr>
          <p:cNvPr id="8" name="Rectangle 7"/>
          <p:cNvSpPr/>
          <p:nvPr/>
        </p:nvSpPr>
        <p:spPr>
          <a:xfrm>
            <a:off x="8732520" y="1840687"/>
            <a:ext cx="2670048"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8732520" y="1840687"/>
          <a:ext cx="2670048" cy="3415636"/>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260252">
                <a:tc>
                  <a:txBody>
                    <a:bodyPr/>
                    <a:lstStyle/>
                    <a:p>
                      <a:pPr algn="ctr"/>
                      <a:endParaRPr/>
                    </a:p>
                  </a:txBody>
                  <a:tcPr marL="54864" marR="54864" marT="9144" marB="9144">
                    <a:solidFill>
                      <a:srgbClr val="0B2B4E"/>
                    </a:solidFill>
                  </a:tcPr>
                </a:tc>
                <a:tc>
                  <a:txBody>
                    <a:bodyPr/>
                    <a:lstStyle/>
                    <a:p>
                      <a:pPr algn="ctr"/>
                      <a:r>
                        <a:rPr sz="1100" b="1">
                          <a:solidFill>
                            <a:srgbClr val="FFFFFF"/>
                          </a:solidFill>
                          <a:latin typeface="Calibri"/>
                        </a:rPr>
                        <a:t>100</a:t>
                      </a:r>
                    </a:p>
                  </a:txBody>
                  <a:tcPr marL="54864" marR="54864" marT="9144" marB="9144">
                    <a:solidFill>
                      <a:srgbClr val="0B2B4E"/>
                    </a:solidFill>
                  </a:tcPr>
                </a:tc>
                <a:tc>
                  <a:txBody>
                    <a:bodyPr/>
                    <a:lstStyle/>
                    <a:p>
                      <a:pPr algn="ctr"/>
                      <a:r>
                        <a:rPr sz="1100" b="1">
                          <a:solidFill>
                            <a:srgbClr val="FFFFFF"/>
                          </a:solidFill>
                          <a:latin typeface="Calibri"/>
                        </a:rPr>
                        <a:t>200</a:t>
                      </a:r>
                    </a:p>
                  </a:txBody>
                  <a:tcPr marL="54864" marR="54864" marT="9144" marB="9144">
                    <a:solidFill>
                      <a:srgbClr val="0B2B4E"/>
                    </a:solidFill>
                  </a:tcPr>
                </a:tc>
                <a:tc>
                  <a:txBody>
                    <a:bodyPr/>
                    <a:lstStyle/>
                    <a:p>
                      <a:pPr algn="ctr"/>
                      <a:r>
                        <a:rPr sz="1100" b="1">
                          <a:solidFill>
                            <a:srgbClr val="FFFFFF"/>
                          </a:solidFill>
                          <a:latin typeface="Calibri"/>
                        </a:rPr>
                        <a:t>300</a:t>
                      </a:r>
                    </a:p>
                  </a:txBody>
                  <a:tcPr marL="54864" marR="54864" marT="9144" marB="9144">
                    <a:solidFill>
                      <a:srgbClr val="0B2B4E"/>
                    </a:solidFill>
                  </a:tcPr>
                </a:tc>
                <a:tc>
                  <a:txBody>
                    <a:bodyPr/>
                    <a:lstStyle/>
                    <a:p>
                      <a:pPr algn="ctr"/>
                      <a:r>
                        <a:rPr sz="1100" b="1">
                          <a:solidFill>
                            <a:srgbClr val="FFFFFF"/>
                          </a:solidFill>
                          <a:latin typeface="Calibri"/>
                        </a:rPr>
                        <a:t>400</a:t>
                      </a:r>
                    </a:p>
                  </a:txBody>
                  <a:tcPr marL="54864" marR="54864" marT="9144" marB="9144">
                    <a:solidFill>
                      <a:srgbClr val="0B2B4E"/>
                    </a:solidFill>
                  </a:tcPr>
                </a:tc>
                <a:extLst>
                  <a:ext uri="{0D108BD9-81ED-4DB2-BD59-A6C34878D82A}">
                    <a16:rowId xmlns:a16="http://schemas.microsoft.com/office/drawing/2014/main" val="10000"/>
                  </a:ext>
                </a:extLst>
              </a:tr>
              <a:tr h="260252">
                <a:tc>
                  <a:txBody>
                    <a:bodyPr/>
                    <a:lstStyle/>
                    <a:p>
                      <a:pPr algn="ctr"/>
                      <a:r>
                        <a:rPr sz="1100" b="1">
                          <a:solidFill>
                            <a:srgbClr val="FFFFFF"/>
                          </a:solidFill>
                          <a:latin typeface="Calibri"/>
                        </a:rPr>
                        <a:t>0</a:t>
                      </a:r>
                    </a:p>
                  </a:txBody>
                  <a:tcPr marL="54864" marR="54864" marT="9144" marB="9144">
                    <a:solidFill>
                      <a:srgbClr val="0B2B4E"/>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extLst>
                  <a:ext uri="{0D108BD9-81ED-4DB2-BD59-A6C34878D82A}">
                    <a16:rowId xmlns:a16="http://schemas.microsoft.com/office/drawing/2014/main" val="10001"/>
                  </a:ext>
                </a:extLst>
              </a:tr>
              <a:tr h="260252">
                <a:tc>
                  <a:txBody>
                    <a:bodyPr/>
                    <a:lstStyle/>
                    <a:p>
                      <a:pPr algn="ctr"/>
                      <a:r>
                        <a:rPr sz="1100" b="1">
                          <a:solidFill>
                            <a:srgbClr val="FFFFFF"/>
                          </a:solidFill>
                          <a:latin typeface="Calibri"/>
                        </a:rPr>
                        <a:t>250</a:t>
                      </a:r>
                    </a:p>
                  </a:txBody>
                  <a:tcPr marL="54864" marR="54864" marT="9144" marB="9144">
                    <a:solidFill>
                      <a:srgbClr val="0B2B4E"/>
                    </a:solidFill>
                  </a:tcPr>
                </a:tc>
                <a:tc>
                  <a:txBody>
                    <a:bodyPr/>
                    <a:lstStyle/>
                    <a:p>
                      <a:pPr algn="ctr"/>
                      <a:r>
                        <a:rPr sz="1100">
                          <a:solidFill>
                            <a:srgbClr val="0B2B4E"/>
                          </a:solidFill>
                          <a:latin typeface="Calibri"/>
                        </a:rPr>
                        <a:t>165</a:t>
                      </a:r>
                    </a:p>
                  </a:txBody>
                  <a:tcPr marL="54864" marR="54864" marT="9144" marB="9144">
                    <a:solidFill>
                      <a:srgbClr val="FFFFFF"/>
                    </a:solidFill>
                  </a:tcPr>
                </a:tc>
                <a:tc>
                  <a:txBody>
                    <a:bodyPr/>
                    <a:lstStyle/>
                    <a:p>
                      <a:pPr algn="ctr"/>
                      <a:r>
                        <a:rPr sz="1100">
                          <a:solidFill>
                            <a:srgbClr val="0B2B4E"/>
                          </a:solidFill>
                          <a:latin typeface="Calibri"/>
                        </a:rPr>
                        <a:t>234</a:t>
                      </a:r>
                    </a:p>
                  </a:txBody>
                  <a:tcPr marL="54864" marR="54864" marT="9144" marB="9144">
                    <a:solidFill>
                      <a:srgbClr val="FFFFFF"/>
                    </a:solidFill>
                  </a:tcPr>
                </a:tc>
                <a:tc>
                  <a:txBody>
                    <a:bodyPr/>
                    <a:lstStyle/>
                    <a:p>
                      <a:pPr algn="ctr"/>
                      <a:r>
                        <a:rPr sz="1100">
                          <a:solidFill>
                            <a:srgbClr val="0B2B4E"/>
                          </a:solidFill>
                          <a:latin typeface="Calibri"/>
                        </a:rPr>
                        <a:t>286</a:t>
                      </a:r>
                    </a:p>
                  </a:txBody>
                  <a:tcPr marL="54864" marR="54864" marT="9144" marB="9144">
                    <a:solidFill>
                      <a:srgbClr val="FFFFFF"/>
                    </a:solidFill>
                  </a:tcPr>
                </a:tc>
                <a:tc>
                  <a:txBody>
                    <a:bodyPr/>
                    <a:lstStyle/>
                    <a:p>
                      <a:pPr algn="ctr"/>
                      <a:r>
                        <a:rPr sz="1100">
                          <a:solidFill>
                            <a:srgbClr val="0B2B4E"/>
                          </a:solidFill>
                          <a:latin typeface="Calibri"/>
                        </a:rPr>
                        <a:t>331</a:t>
                      </a:r>
                    </a:p>
                  </a:txBody>
                  <a:tcPr marL="54864" marR="54864" marT="9144" marB="9144">
                    <a:solidFill>
                      <a:srgbClr val="FFFFFF"/>
                    </a:solidFill>
                  </a:tcPr>
                </a:tc>
                <a:extLst>
                  <a:ext uri="{0D108BD9-81ED-4DB2-BD59-A6C34878D82A}">
                    <a16:rowId xmlns:a16="http://schemas.microsoft.com/office/drawing/2014/main" val="10002"/>
                  </a:ext>
                </a:extLst>
              </a:tr>
              <a:tr h="260252">
                <a:tc>
                  <a:txBody>
                    <a:bodyPr/>
                    <a:lstStyle/>
                    <a:p>
                      <a:pPr algn="ctr"/>
                      <a:r>
                        <a:rPr sz="1100" b="1">
                          <a:solidFill>
                            <a:srgbClr val="FFFFFF"/>
                          </a:solidFill>
                          <a:latin typeface="Calibri"/>
                        </a:rPr>
                        <a:t>500</a:t>
                      </a:r>
                    </a:p>
                  </a:txBody>
                  <a:tcPr marL="54864" marR="54864" marT="9144" marB="9144">
                    <a:solidFill>
                      <a:srgbClr val="0B2B4E"/>
                    </a:solidFill>
                  </a:tcPr>
                </a:tc>
                <a:tc>
                  <a:txBody>
                    <a:bodyPr/>
                    <a:lstStyle/>
                    <a:p>
                      <a:pPr algn="ctr"/>
                      <a:r>
                        <a:rPr sz="1100">
                          <a:solidFill>
                            <a:srgbClr val="0B2B4E"/>
                          </a:solidFill>
                          <a:latin typeface="Calibri"/>
                        </a:rPr>
                        <a:t>204</a:t>
                      </a:r>
                    </a:p>
                  </a:txBody>
                  <a:tcPr marL="54864" marR="54864" marT="9144" marB="9144">
                    <a:solidFill>
                      <a:srgbClr val="FFFFFF"/>
                    </a:solidFill>
                  </a:tcPr>
                </a:tc>
                <a:tc>
                  <a:txBody>
                    <a:bodyPr/>
                    <a:lstStyle/>
                    <a:p>
                      <a:pPr algn="ctr"/>
                      <a:r>
                        <a:rPr sz="1100">
                          <a:solidFill>
                            <a:srgbClr val="0B2B4E"/>
                          </a:solidFill>
                          <a:latin typeface="Calibri"/>
                        </a:rPr>
                        <a:t>288</a:t>
                      </a:r>
                    </a:p>
                  </a:txBody>
                  <a:tcPr marL="54864" marR="54864" marT="9144" marB="9144">
                    <a:solidFill>
                      <a:srgbClr val="FFFFFF"/>
                    </a:solidFill>
                  </a:tcPr>
                </a:tc>
                <a:tc>
                  <a:txBody>
                    <a:bodyPr/>
                    <a:lstStyle/>
                    <a:p>
                      <a:pPr algn="ctr"/>
                      <a:r>
                        <a:rPr sz="1100">
                          <a:solidFill>
                            <a:srgbClr val="0B2B4E"/>
                          </a:solidFill>
                          <a:latin typeface="Calibri"/>
                        </a:rPr>
                        <a:t>353</a:t>
                      </a:r>
                    </a:p>
                  </a:txBody>
                  <a:tcPr marL="54864" marR="54864" marT="9144" marB="9144">
                    <a:solidFill>
                      <a:srgbClr val="FFFFFF"/>
                    </a:solidFill>
                  </a:tcPr>
                </a:tc>
                <a:tc>
                  <a:txBody>
                    <a:bodyPr/>
                    <a:lstStyle/>
                    <a:p>
                      <a:pPr algn="ctr"/>
                      <a:r>
                        <a:rPr sz="1100">
                          <a:solidFill>
                            <a:srgbClr val="0B2B4E"/>
                          </a:solidFill>
                          <a:latin typeface="Calibri"/>
                        </a:rPr>
                        <a:t>407</a:t>
                      </a:r>
                    </a:p>
                  </a:txBody>
                  <a:tcPr marL="54864" marR="54864" marT="9144" marB="9144">
                    <a:solidFill>
                      <a:srgbClr val="FFFFFF"/>
                    </a:solidFill>
                  </a:tcPr>
                </a:tc>
                <a:extLst>
                  <a:ext uri="{0D108BD9-81ED-4DB2-BD59-A6C34878D82A}">
                    <a16:rowId xmlns:a16="http://schemas.microsoft.com/office/drawing/2014/main" val="10003"/>
                  </a:ext>
                </a:extLst>
              </a:tr>
              <a:tr h="260252">
                <a:tc>
                  <a:txBody>
                    <a:bodyPr/>
                    <a:lstStyle/>
                    <a:p>
                      <a:pPr algn="ctr"/>
                      <a:r>
                        <a:rPr sz="1100" b="1">
                          <a:solidFill>
                            <a:srgbClr val="FFFFFF"/>
                          </a:solidFill>
                          <a:latin typeface="Calibri"/>
                        </a:rPr>
                        <a:t>1,000</a:t>
                      </a:r>
                    </a:p>
                  </a:txBody>
                  <a:tcPr marL="54864" marR="54864" marT="9144" marB="9144">
                    <a:solidFill>
                      <a:srgbClr val="0B2B4E"/>
                    </a:solidFill>
                  </a:tcPr>
                </a:tc>
                <a:tc>
                  <a:txBody>
                    <a:bodyPr/>
                    <a:lstStyle/>
                    <a:p>
                      <a:pPr algn="ctr"/>
                      <a:r>
                        <a:rPr sz="1100">
                          <a:solidFill>
                            <a:srgbClr val="0B2B4E"/>
                          </a:solidFill>
                          <a:latin typeface="Calibri"/>
                        </a:rPr>
                        <a:t>251</a:t>
                      </a:r>
                    </a:p>
                  </a:txBody>
                  <a:tcPr marL="54864" marR="54864" marT="9144" marB="9144">
                    <a:solidFill>
                      <a:srgbClr val="FFFFFF"/>
                    </a:solidFill>
                  </a:tcPr>
                </a:tc>
                <a:tc>
                  <a:txBody>
                    <a:bodyPr/>
                    <a:lstStyle/>
                    <a:p>
                      <a:pPr algn="ctr"/>
                      <a:r>
                        <a:rPr sz="1100">
                          <a:solidFill>
                            <a:srgbClr val="0B2B4E"/>
                          </a:solidFill>
                          <a:latin typeface="Calibri"/>
                        </a:rPr>
                        <a:t>354</a:t>
                      </a:r>
                    </a:p>
                  </a:txBody>
                  <a:tcPr marL="54864" marR="54864" marT="9144" marB="9144">
                    <a:solidFill>
                      <a:srgbClr val="FFFFFF"/>
                    </a:solidFill>
                  </a:tcPr>
                </a:tc>
                <a:tc>
                  <a:txBody>
                    <a:bodyPr/>
                    <a:lstStyle/>
                    <a:p>
                      <a:pPr algn="ctr"/>
                      <a:r>
                        <a:rPr sz="1100">
                          <a:solidFill>
                            <a:srgbClr val="0B2B4E"/>
                          </a:solidFill>
                          <a:latin typeface="Calibri"/>
                        </a:rPr>
                        <a:t>434</a:t>
                      </a:r>
                    </a:p>
                  </a:txBody>
                  <a:tcPr marL="54864" marR="54864" marT="9144" marB="9144">
                    <a:solidFill>
                      <a:srgbClr val="FFFFFF"/>
                    </a:solidFill>
                  </a:tcPr>
                </a:tc>
                <a:tc>
                  <a:txBody>
                    <a:bodyPr/>
                    <a:lstStyle/>
                    <a:p>
                      <a:pPr algn="ctr"/>
                      <a:r>
                        <a:rPr sz="1100">
                          <a:solidFill>
                            <a:srgbClr val="0B2B4E"/>
                          </a:solidFill>
                          <a:latin typeface="Calibri"/>
                        </a:rPr>
                        <a:t>501</a:t>
                      </a:r>
                    </a:p>
                  </a:txBody>
                  <a:tcPr marL="54864" marR="54864" marT="9144" marB="9144">
                    <a:solidFill>
                      <a:srgbClr val="FFFFFF"/>
                    </a:solidFill>
                  </a:tcPr>
                </a:tc>
                <a:extLst>
                  <a:ext uri="{0D108BD9-81ED-4DB2-BD59-A6C34878D82A}">
                    <a16:rowId xmlns:a16="http://schemas.microsoft.com/office/drawing/2014/main" val="10004"/>
                  </a:ext>
                </a:extLst>
              </a:tr>
              <a:tr h="260252">
                <a:tc>
                  <a:txBody>
                    <a:bodyPr/>
                    <a:lstStyle/>
                    <a:p>
                      <a:pPr algn="ctr"/>
                      <a:r>
                        <a:rPr sz="1100" b="1">
                          <a:solidFill>
                            <a:srgbClr val="FFFFFF"/>
                          </a:solidFill>
                          <a:latin typeface="Calibri"/>
                        </a:rPr>
                        <a:t>1,500</a:t>
                      </a:r>
                    </a:p>
                  </a:txBody>
                  <a:tcPr marL="54864" marR="54864" marT="9144" marB="9144">
                    <a:solidFill>
                      <a:srgbClr val="0B2B4E"/>
                    </a:solidFill>
                  </a:tcPr>
                </a:tc>
                <a:tc>
                  <a:txBody>
                    <a:bodyPr/>
                    <a:lstStyle/>
                    <a:p>
                      <a:pPr algn="ctr"/>
                      <a:r>
                        <a:rPr sz="1100">
                          <a:solidFill>
                            <a:srgbClr val="0B2B4E"/>
                          </a:solidFill>
                          <a:latin typeface="Calibri"/>
                        </a:rPr>
                        <a:t>283</a:t>
                      </a:r>
                    </a:p>
                  </a:txBody>
                  <a:tcPr marL="54864" marR="54864" marT="9144" marB="9144">
                    <a:solidFill>
                      <a:srgbClr val="FFFFFF"/>
                    </a:solidFill>
                  </a:tcPr>
                </a:tc>
                <a:tc>
                  <a:txBody>
                    <a:bodyPr/>
                    <a:lstStyle/>
                    <a:p>
                      <a:pPr algn="ctr"/>
                      <a:r>
                        <a:rPr sz="1100">
                          <a:solidFill>
                            <a:srgbClr val="0B2B4E"/>
                          </a:solidFill>
                          <a:latin typeface="Calibri"/>
                        </a:rPr>
                        <a:t>400</a:t>
                      </a:r>
                    </a:p>
                  </a:txBody>
                  <a:tcPr marL="54864" marR="54864" marT="9144" marB="9144">
                    <a:solidFill>
                      <a:srgbClr val="FFFFFF"/>
                    </a:solidFill>
                  </a:tcPr>
                </a:tc>
                <a:tc>
                  <a:txBody>
                    <a:bodyPr/>
                    <a:lstStyle/>
                    <a:p>
                      <a:pPr algn="ctr"/>
                      <a:r>
                        <a:rPr sz="1100">
                          <a:solidFill>
                            <a:srgbClr val="0B2B4E"/>
                          </a:solidFill>
                          <a:latin typeface="Calibri"/>
                        </a:rPr>
                        <a:t>490</a:t>
                      </a:r>
                    </a:p>
                  </a:txBody>
                  <a:tcPr marL="54864" marR="54864" marT="9144" marB="9144">
                    <a:solidFill>
                      <a:srgbClr val="FFFFFF"/>
                    </a:solidFill>
                  </a:tcPr>
                </a:tc>
                <a:tc>
                  <a:txBody>
                    <a:bodyPr/>
                    <a:lstStyle/>
                    <a:p>
                      <a:pPr algn="ctr"/>
                      <a:r>
                        <a:rPr sz="1100">
                          <a:solidFill>
                            <a:srgbClr val="0B2B4E"/>
                          </a:solidFill>
                          <a:latin typeface="Calibri"/>
                        </a:rPr>
                        <a:t>566</a:t>
                      </a:r>
                    </a:p>
                  </a:txBody>
                  <a:tcPr marL="54864" marR="54864" marT="9144" marB="9144">
                    <a:solidFill>
                      <a:srgbClr val="FFFFFF"/>
                    </a:solidFill>
                  </a:tcPr>
                </a:tc>
                <a:extLst>
                  <a:ext uri="{0D108BD9-81ED-4DB2-BD59-A6C34878D82A}">
                    <a16:rowId xmlns:a16="http://schemas.microsoft.com/office/drawing/2014/main" val="10005"/>
                  </a:ext>
                </a:extLst>
              </a:tr>
              <a:tr h="260252">
                <a:tc>
                  <a:txBody>
                    <a:bodyPr/>
                    <a:lstStyle/>
                    <a:p>
                      <a:pPr algn="ctr"/>
                      <a:r>
                        <a:rPr sz="1100" b="1">
                          <a:solidFill>
                            <a:srgbClr val="FFFFFF"/>
                          </a:solidFill>
                          <a:latin typeface="Calibri"/>
                        </a:rPr>
                        <a:t>2,000</a:t>
                      </a:r>
                    </a:p>
                  </a:txBody>
                  <a:tcPr marL="54864" marR="54864" marT="9144" marB="9144">
                    <a:solidFill>
                      <a:srgbClr val="0B2B4E"/>
                    </a:solidFill>
                  </a:tcPr>
                </a:tc>
                <a:tc>
                  <a:txBody>
                    <a:bodyPr/>
                    <a:lstStyle/>
                    <a:p>
                      <a:pPr algn="ctr"/>
                      <a:r>
                        <a:rPr sz="1100">
                          <a:solidFill>
                            <a:srgbClr val="0B2B4E"/>
                          </a:solidFill>
                          <a:latin typeface="Calibri"/>
                        </a:rPr>
                        <a:t>309</a:t>
                      </a:r>
                    </a:p>
                  </a:txBody>
                  <a:tcPr marL="54864" marR="54864" marT="9144" marB="9144">
                    <a:solidFill>
                      <a:srgbClr val="FFFFFF"/>
                    </a:solidFill>
                  </a:tcPr>
                </a:tc>
                <a:tc>
                  <a:txBody>
                    <a:bodyPr/>
                    <a:lstStyle/>
                    <a:p>
                      <a:pPr algn="ctr"/>
                      <a:r>
                        <a:rPr sz="1100">
                          <a:solidFill>
                            <a:srgbClr val="0B2B4E"/>
                          </a:solidFill>
                          <a:latin typeface="Calibri"/>
                        </a:rPr>
                        <a:t>436</a:t>
                      </a:r>
                    </a:p>
                  </a:txBody>
                  <a:tcPr marL="54864" marR="54864" marT="9144" marB="9144">
                    <a:solidFill>
                      <a:srgbClr val="FFFFFF"/>
                    </a:solidFill>
                  </a:tcPr>
                </a:tc>
                <a:tc>
                  <a:txBody>
                    <a:bodyPr/>
                    <a:lstStyle/>
                    <a:p>
                      <a:pPr algn="ctr"/>
                      <a:r>
                        <a:rPr sz="1100">
                          <a:solidFill>
                            <a:srgbClr val="0B2B4E"/>
                          </a:solidFill>
                          <a:latin typeface="Calibri"/>
                        </a:rPr>
                        <a:t>534</a:t>
                      </a:r>
                    </a:p>
                  </a:txBody>
                  <a:tcPr marL="54864" marR="54864" marT="9144" marB="9144">
                    <a:solidFill>
                      <a:srgbClr val="FFFFFF"/>
                    </a:solidFill>
                  </a:tcPr>
                </a:tc>
                <a:tc>
                  <a:txBody>
                    <a:bodyPr/>
                    <a:lstStyle/>
                    <a:p>
                      <a:pPr algn="ctr"/>
                      <a:r>
                        <a:rPr sz="1100">
                          <a:solidFill>
                            <a:srgbClr val="0B2B4E"/>
                          </a:solidFill>
                          <a:latin typeface="Calibri"/>
                        </a:rPr>
                        <a:t>617</a:t>
                      </a:r>
                    </a:p>
                  </a:txBody>
                  <a:tcPr marL="54864" marR="54864" marT="9144" marB="9144">
                    <a:solidFill>
                      <a:srgbClr val="FFFFFF"/>
                    </a:solidFill>
                  </a:tcPr>
                </a:tc>
                <a:extLst>
                  <a:ext uri="{0D108BD9-81ED-4DB2-BD59-A6C34878D82A}">
                    <a16:rowId xmlns:a16="http://schemas.microsoft.com/office/drawing/2014/main" val="10006"/>
                  </a:ext>
                </a:extLst>
              </a:tr>
              <a:tr h="260252">
                <a:tc>
                  <a:txBody>
                    <a:bodyPr/>
                    <a:lstStyle/>
                    <a:p>
                      <a:pPr algn="ctr"/>
                      <a:r>
                        <a:rPr sz="1100" b="1">
                          <a:solidFill>
                            <a:srgbClr val="FFFFFF"/>
                          </a:solidFill>
                          <a:latin typeface="Calibri"/>
                        </a:rPr>
                        <a:t>2,500</a:t>
                      </a:r>
                    </a:p>
                  </a:txBody>
                  <a:tcPr marL="54864" marR="54864" marT="9144" marB="9144">
                    <a:solidFill>
                      <a:srgbClr val="0B2B4E"/>
                    </a:solidFill>
                  </a:tcPr>
                </a:tc>
                <a:tc>
                  <a:txBody>
                    <a:bodyPr/>
                    <a:lstStyle/>
                    <a:p>
                      <a:pPr algn="ctr"/>
                      <a:r>
                        <a:rPr sz="1100">
                          <a:solidFill>
                            <a:srgbClr val="0B2B4E"/>
                          </a:solidFill>
                          <a:latin typeface="Calibri"/>
                        </a:rPr>
                        <a:t>330</a:t>
                      </a:r>
                    </a:p>
                  </a:txBody>
                  <a:tcPr marL="54864" marR="54864" marT="9144" marB="9144">
                    <a:solidFill>
                      <a:srgbClr val="FFFFFF"/>
                    </a:solidFill>
                  </a:tcPr>
                </a:tc>
                <a:tc>
                  <a:txBody>
                    <a:bodyPr/>
                    <a:lstStyle/>
                    <a:p>
                      <a:pPr algn="ctr"/>
                      <a:r>
                        <a:rPr sz="1100">
                          <a:solidFill>
                            <a:srgbClr val="0B2B4E"/>
                          </a:solidFill>
                          <a:latin typeface="Calibri"/>
                        </a:rPr>
                        <a:t>467</a:t>
                      </a:r>
                    </a:p>
                  </a:txBody>
                  <a:tcPr marL="54864" marR="54864" marT="9144" marB="9144">
                    <a:solidFill>
                      <a:srgbClr val="FFFFFF"/>
                    </a:solidFill>
                  </a:tcPr>
                </a:tc>
                <a:tc>
                  <a:txBody>
                    <a:bodyPr/>
                    <a:lstStyle/>
                    <a:p>
                      <a:pPr algn="ctr"/>
                      <a:r>
                        <a:rPr sz="1100">
                          <a:solidFill>
                            <a:srgbClr val="0B2B4E"/>
                          </a:solidFill>
                          <a:latin typeface="Calibri"/>
                        </a:rPr>
                        <a:t>571</a:t>
                      </a:r>
                    </a:p>
                  </a:txBody>
                  <a:tcPr marL="54864" marR="54864" marT="9144" marB="9144">
                    <a:solidFill>
                      <a:srgbClr val="FFFFFF"/>
                    </a:solidFill>
                  </a:tcPr>
                </a:tc>
                <a:tc>
                  <a:txBody>
                    <a:bodyPr/>
                    <a:lstStyle/>
                    <a:p>
                      <a:pPr algn="ctr"/>
                      <a:r>
                        <a:rPr sz="1100">
                          <a:solidFill>
                            <a:srgbClr val="0B2B4E"/>
                          </a:solidFill>
                          <a:latin typeface="Calibri"/>
                        </a:rPr>
                        <a:t>660</a:t>
                      </a:r>
                    </a:p>
                  </a:txBody>
                  <a:tcPr marL="54864" marR="54864" marT="9144" marB="9144">
                    <a:solidFill>
                      <a:srgbClr val="FFFFFF"/>
                    </a:solidFill>
                  </a:tcPr>
                </a:tc>
                <a:extLst>
                  <a:ext uri="{0D108BD9-81ED-4DB2-BD59-A6C34878D82A}">
                    <a16:rowId xmlns:a16="http://schemas.microsoft.com/office/drawing/2014/main" val="10007"/>
                  </a:ext>
                </a:extLst>
              </a:tr>
              <a:tr h="260252">
                <a:tc>
                  <a:txBody>
                    <a:bodyPr/>
                    <a:lstStyle/>
                    <a:p>
                      <a:pPr algn="ctr"/>
                      <a:r>
                        <a:rPr sz="1100" b="1">
                          <a:solidFill>
                            <a:srgbClr val="FFFFFF"/>
                          </a:solidFill>
                          <a:latin typeface="Calibri"/>
                        </a:rPr>
                        <a:t>3,000</a:t>
                      </a:r>
                    </a:p>
                  </a:txBody>
                  <a:tcPr marL="54864" marR="54864" marT="9144" marB="9144">
                    <a:solidFill>
                      <a:srgbClr val="0B2B4E"/>
                    </a:solidFill>
                  </a:tcPr>
                </a:tc>
                <a:tc>
                  <a:txBody>
                    <a:bodyPr/>
                    <a:lstStyle/>
                    <a:p>
                      <a:pPr algn="ctr"/>
                      <a:r>
                        <a:rPr sz="1100">
                          <a:solidFill>
                            <a:srgbClr val="0B2B4E"/>
                          </a:solidFill>
                          <a:latin typeface="Calibri"/>
                        </a:rPr>
                        <a:t>348</a:t>
                      </a:r>
                    </a:p>
                  </a:txBody>
                  <a:tcPr marL="54864" marR="54864" marT="9144" marB="9144">
                    <a:solidFill>
                      <a:srgbClr val="FFFFFF"/>
                    </a:solidFill>
                  </a:tcPr>
                </a:tc>
                <a:tc>
                  <a:txBody>
                    <a:bodyPr/>
                    <a:lstStyle/>
                    <a:p>
                      <a:pPr algn="ctr"/>
                      <a:r>
                        <a:rPr sz="1100">
                          <a:solidFill>
                            <a:srgbClr val="0B2B4E"/>
                          </a:solidFill>
                          <a:latin typeface="Calibri"/>
                        </a:rPr>
                        <a:t>493</a:t>
                      </a:r>
                    </a:p>
                  </a:txBody>
                  <a:tcPr marL="54864" marR="54864" marT="9144" marB="9144">
                    <a:solidFill>
                      <a:srgbClr val="FFFFFF"/>
                    </a:solidFill>
                  </a:tcPr>
                </a:tc>
                <a:tc>
                  <a:txBody>
                    <a:bodyPr/>
                    <a:lstStyle/>
                    <a:p>
                      <a:pPr algn="ctr"/>
                      <a:r>
                        <a:rPr sz="1100">
                          <a:solidFill>
                            <a:srgbClr val="0B2B4E"/>
                          </a:solidFill>
                          <a:latin typeface="Calibri"/>
                        </a:rPr>
                        <a:t>604</a:t>
                      </a:r>
                    </a:p>
                  </a:txBody>
                  <a:tcPr marL="54864" marR="54864" marT="9144" marB="9144">
                    <a:solidFill>
                      <a:srgbClr val="FFFFFF"/>
                    </a:solidFill>
                  </a:tcPr>
                </a:tc>
                <a:tc>
                  <a:txBody>
                    <a:bodyPr/>
                    <a:lstStyle/>
                    <a:p>
                      <a:pPr algn="ctr"/>
                      <a:r>
                        <a:rPr sz="1100">
                          <a:solidFill>
                            <a:srgbClr val="0B2B4E"/>
                          </a:solidFill>
                          <a:latin typeface="Calibri"/>
                        </a:rPr>
                        <a:t>697</a:t>
                      </a:r>
                    </a:p>
                  </a:txBody>
                  <a:tcPr marL="54864" marR="54864" marT="9144" marB="9144">
                    <a:solidFill>
                      <a:srgbClr val="FFFFFF"/>
                    </a:solidFill>
                  </a:tcPr>
                </a:tc>
                <a:extLst>
                  <a:ext uri="{0D108BD9-81ED-4DB2-BD59-A6C34878D82A}">
                    <a16:rowId xmlns:a16="http://schemas.microsoft.com/office/drawing/2014/main" val="10008"/>
                  </a:ext>
                </a:extLst>
              </a:tr>
              <a:tr h="260252">
                <a:tc>
                  <a:txBody>
                    <a:bodyPr/>
                    <a:lstStyle/>
                    <a:p>
                      <a:pPr algn="ctr"/>
                      <a:r>
                        <a:rPr sz="1100" b="1">
                          <a:solidFill>
                            <a:srgbClr val="FFFFFF"/>
                          </a:solidFill>
                          <a:latin typeface="Calibri"/>
                        </a:rPr>
                        <a:t>3,500</a:t>
                      </a:r>
                    </a:p>
                  </a:txBody>
                  <a:tcPr marL="54864" marR="54864" marT="9144" marB="9144">
                    <a:solidFill>
                      <a:srgbClr val="0B2B4E"/>
                    </a:solidFill>
                  </a:tcPr>
                </a:tc>
                <a:tc>
                  <a:txBody>
                    <a:bodyPr/>
                    <a:lstStyle/>
                    <a:p>
                      <a:pPr algn="ctr"/>
                      <a:r>
                        <a:rPr sz="1100">
                          <a:solidFill>
                            <a:srgbClr val="0B2B4E"/>
                          </a:solidFill>
                          <a:latin typeface="Calibri"/>
                        </a:rPr>
                        <a:t>365</a:t>
                      </a:r>
                    </a:p>
                  </a:txBody>
                  <a:tcPr marL="54864" marR="54864" marT="9144" marB="9144">
                    <a:solidFill>
                      <a:srgbClr val="FFFFFF"/>
                    </a:solidFill>
                  </a:tcPr>
                </a:tc>
                <a:tc>
                  <a:txBody>
                    <a:bodyPr/>
                    <a:lstStyle/>
                    <a:p>
                      <a:pPr algn="ctr"/>
                      <a:r>
                        <a:rPr sz="1100">
                          <a:solidFill>
                            <a:srgbClr val="0B2B4E"/>
                          </a:solidFill>
                          <a:latin typeface="Calibri"/>
                        </a:rPr>
                        <a:t>516</a:t>
                      </a:r>
                    </a:p>
                  </a:txBody>
                  <a:tcPr marL="54864" marR="54864" marT="9144" marB="9144">
                    <a:solidFill>
                      <a:srgbClr val="FFFFFF"/>
                    </a:solidFill>
                  </a:tcPr>
                </a:tc>
                <a:tc>
                  <a:txBody>
                    <a:bodyPr/>
                    <a:lstStyle/>
                    <a:p>
                      <a:pPr algn="ctr"/>
                      <a:r>
                        <a:rPr sz="1100">
                          <a:solidFill>
                            <a:srgbClr val="0B2B4E"/>
                          </a:solidFill>
                          <a:latin typeface="Calibri"/>
                        </a:rPr>
                        <a:t>632</a:t>
                      </a:r>
                    </a:p>
                  </a:txBody>
                  <a:tcPr marL="54864" marR="54864" marT="9144" marB="9144">
                    <a:solidFill>
                      <a:srgbClr val="FFFFFF"/>
                    </a:solidFill>
                  </a:tcPr>
                </a:tc>
                <a:tc>
                  <a:txBody>
                    <a:bodyPr/>
                    <a:lstStyle/>
                    <a:p>
                      <a:pPr algn="ctr"/>
                      <a:r>
                        <a:rPr sz="1100">
                          <a:solidFill>
                            <a:srgbClr val="0B2B4E"/>
                          </a:solidFill>
                          <a:latin typeface="Calibri"/>
                        </a:rPr>
                        <a:t>730</a:t>
                      </a:r>
                    </a:p>
                  </a:txBody>
                  <a:tcPr marL="54864" marR="54864" marT="9144" marB="9144">
                    <a:solidFill>
                      <a:srgbClr val="FFFFFF"/>
                    </a:solidFill>
                  </a:tcPr>
                </a:tc>
                <a:extLst>
                  <a:ext uri="{0D108BD9-81ED-4DB2-BD59-A6C34878D82A}">
                    <a16:rowId xmlns:a16="http://schemas.microsoft.com/office/drawing/2014/main" val="10009"/>
                  </a:ext>
                </a:extLst>
              </a:tr>
              <a:tr h="260252">
                <a:tc>
                  <a:txBody>
                    <a:bodyPr/>
                    <a:lstStyle/>
                    <a:p>
                      <a:pPr algn="ctr"/>
                      <a:r>
                        <a:rPr sz="1100" b="1">
                          <a:solidFill>
                            <a:srgbClr val="FFFFFF"/>
                          </a:solidFill>
                          <a:latin typeface="Calibri"/>
                        </a:rPr>
                        <a:t>4,000</a:t>
                      </a:r>
                    </a:p>
                  </a:txBody>
                  <a:tcPr marL="54864" marR="54864" marT="9144" marB="9144">
                    <a:solidFill>
                      <a:srgbClr val="0B2B4E"/>
                    </a:solidFill>
                  </a:tcPr>
                </a:tc>
                <a:tc>
                  <a:txBody>
                    <a:bodyPr/>
                    <a:lstStyle/>
                    <a:p>
                      <a:pPr algn="ctr"/>
                      <a:r>
                        <a:rPr sz="1100">
                          <a:solidFill>
                            <a:srgbClr val="0B2B4E"/>
                          </a:solidFill>
                          <a:latin typeface="Calibri"/>
                        </a:rPr>
                        <a:t>380</a:t>
                      </a:r>
                    </a:p>
                  </a:txBody>
                  <a:tcPr marL="54864" marR="54864" marT="9144" marB="9144">
                    <a:solidFill>
                      <a:srgbClr val="FFFFFF"/>
                    </a:solidFill>
                  </a:tcPr>
                </a:tc>
                <a:tc>
                  <a:txBody>
                    <a:bodyPr/>
                    <a:lstStyle/>
                    <a:p>
                      <a:pPr algn="ctr"/>
                      <a:r>
                        <a:rPr sz="1100">
                          <a:solidFill>
                            <a:srgbClr val="0B2B4E"/>
                          </a:solidFill>
                          <a:latin typeface="Calibri"/>
                        </a:rPr>
                        <a:t>537</a:t>
                      </a:r>
                    </a:p>
                  </a:txBody>
                  <a:tcPr marL="54864" marR="54864" marT="9144" marB="9144">
                    <a:solidFill>
                      <a:srgbClr val="FFFFFF"/>
                    </a:solidFill>
                  </a:tcPr>
                </a:tc>
                <a:tc>
                  <a:txBody>
                    <a:bodyPr/>
                    <a:lstStyle/>
                    <a:p>
                      <a:pPr algn="ctr"/>
                      <a:r>
                        <a:rPr sz="1100">
                          <a:solidFill>
                            <a:srgbClr val="0B2B4E"/>
                          </a:solidFill>
                          <a:latin typeface="Calibri"/>
                        </a:rPr>
                        <a:t>658</a:t>
                      </a:r>
                    </a:p>
                  </a:txBody>
                  <a:tcPr marL="54864" marR="54864" marT="9144" marB="9144">
                    <a:solidFill>
                      <a:srgbClr val="FFFFFF"/>
                    </a:solidFill>
                  </a:tcPr>
                </a:tc>
                <a:tc>
                  <a:txBody>
                    <a:bodyPr/>
                    <a:lstStyle/>
                    <a:p>
                      <a:pPr algn="ctr"/>
                      <a:r>
                        <a:rPr sz="1100">
                          <a:solidFill>
                            <a:srgbClr val="0B2B4E"/>
                          </a:solidFill>
                          <a:latin typeface="Calibri"/>
                        </a:rPr>
                        <a:t>760</a:t>
                      </a:r>
                    </a:p>
                  </a:txBody>
                  <a:tcPr marL="54864" marR="54864" marT="9144" marB="9144">
                    <a:solidFill>
                      <a:srgbClr val="FFFFFF"/>
                    </a:solidFill>
                  </a:tcPr>
                </a:tc>
                <a:extLst>
                  <a:ext uri="{0D108BD9-81ED-4DB2-BD59-A6C34878D82A}">
                    <a16:rowId xmlns:a16="http://schemas.microsoft.com/office/drawing/2014/main" val="10010"/>
                  </a:ext>
                </a:extLst>
              </a:tr>
              <a:tr h="260252">
                <a:tc>
                  <a:txBody>
                    <a:bodyPr/>
                    <a:lstStyle/>
                    <a:p>
                      <a:pPr algn="ctr"/>
                      <a:r>
                        <a:rPr sz="1100" b="1">
                          <a:solidFill>
                            <a:srgbClr val="FFFFFF"/>
                          </a:solidFill>
                          <a:latin typeface="Calibri"/>
                        </a:rPr>
                        <a:t>4,500</a:t>
                      </a:r>
                    </a:p>
                  </a:txBody>
                  <a:tcPr marL="54864" marR="54864" marT="9144" marB="9144">
                    <a:solidFill>
                      <a:srgbClr val="0B2B4E"/>
                    </a:solidFill>
                  </a:tcPr>
                </a:tc>
                <a:tc>
                  <a:txBody>
                    <a:bodyPr/>
                    <a:lstStyle/>
                    <a:p>
                      <a:pPr algn="ctr"/>
                      <a:r>
                        <a:rPr sz="1100">
                          <a:solidFill>
                            <a:srgbClr val="0B2B4E"/>
                          </a:solidFill>
                          <a:latin typeface="Calibri"/>
                        </a:rPr>
                        <a:t>394</a:t>
                      </a:r>
                    </a:p>
                  </a:txBody>
                  <a:tcPr marL="54864" marR="54864" marT="9144" marB="9144">
                    <a:solidFill>
                      <a:srgbClr val="FFFFFF"/>
                    </a:solidFill>
                  </a:tcPr>
                </a:tc>
                <a:tc>
                  <a:txBody>
                    <a:bodyPr/>
                    <a:lstStyle/>
                    <a:p>
                      <a:pPr algn="ctr"/>
                      <a:r>
                        <a:rPr sz="1100">
                          <a:solidFill>
                            <a:srgbClr val="0B2B4E"/>
                          </a:solidFill>
                          <a:latin typeface="Calibri"/>
                        </a:rPr>
                        <a:t>557</a:t>
                      </a:r>
                    </a:p>
                  </a:txBody>
                  <a:tcPr marL="54864" marR="54864" marT="9144" marB="9144">
                    <a:solidFill>
                      <a:srgbClr val="FFFFFF"/>
                    </a:solidFill>
                  </a:tcPr>
                </a:tc>
                <a:tc>
                  <a:txBody>
                    <a:bodyPr/>
                    <a:lstStyle/>
                    <a:p>
                      <a:pPr algn="ctr"/>
                      <a:r>
                        <a:rPr sz="1100">
                          <a:solidFill>
                            <a:srgbClr val="0B2B4E"/>
                          </a:solidFill>
                          <a:latin typeface="Calibri"/>
                        </a:rPr>
                        <a:t>682</a:t>
                      </a:r>
                    </a:p>
                  </a:txBody>
                  <a:tcPr marL="54864" marR="54864" marT="9144" marB="9144">
                    <a:solidFill>
                      <a:srgbClr val="FFFFFF"/>
                    </a:solidFill>
                  </a:tcPr>
                </a:tc>
                <a:tc>
                  <a:txBody>
                    <a:bodyPr/>
                    <a:lstStyle/>
                    <a:p>
                      <a:pPr algn="ctr"/>
                      <a:r>
                        <a:rPr sz="1100">
                          <a:solidFill>
                            <a:srgbClr val="0B2B4E"/>
                          </a:solidFill>
                          <a:latin typeface="Calibri"/>
                        </a:rPr>
                        <a:t>787</a:t>
                      </a:r>
                    </a:p>
                  </a:txBody>
                  <a:tcPr marL="54864" marR="54864" marT="9144" marB="9144">
                    <a:solidFill>
                      <a:srgbClr val="FFFFFF"/>
                    </a:solidFill>
                  </a:tcPr>
                </a:tc>
                <a:extLst>
                  <a:ext uri="{0D108BD9-81ED-4DB2-BD59-A6C34878D82A}">
                    <a16:rowId xmlns:a16="http://schemas.microsoft.com/office/drawing/2014/main" val="10011"/>
                  </a:ext>
                </a:extLst>
              </a:tr>
              <a:tr h="260256">
                <a:tc>
                  <a:txBody>
                    <a:bodyPr/>
                    <a:lstStyle/>
                    <a:p>
                      <a:pPr algn="ctr"/>
                      <a:r>
                        <a:rPr sz="1100" b="1">
                          <a:solidFill>
                            <a:srgbClr val="FFFFFF"/>
                          </a:solidFill>
                          <a:latin typeface="Calibri"/>
                        </a:rPr>
                        <a:t>5,000</a:t>
                      </a:r>
                    </a:p>
                  </a:txBody>
                  <a:tcPr marL="54864" marR="54864" marT="9144" marB="9144">
                    <a:solidFill>
                      <a:srgbClr val="0B2B4E"/>
                    </a:solidFill>
                  </a:tcPr>
                </a:tc>
                <a:tc>
                  <a:txBody>
                    <a:bodyPr/>
                    <a:lstStyle/>
                    <a:p>
                      <a:pPr algn="ctr"/>
                      <a:r>
                        <a:rPr sz="1100">
                          <a:solidFill>
                            <a:srgbClr val="0B2B4E"/>
                          </a:solidFill>
                          <a:latin typeface="Calibri"/>
                        </a:rPr>
                        <a:t>406</a:t>
                      </a:r>
                    </a:p>
                  </a:txBody>
                  <a:tcPr marL="54864" marR="54864" marT="9144" marB="9144">
                    <a:solidFill>
                      <a:srgbClr val="FFFFFF"/>
                    </a:solidFill>
                  </a:tcPr>
                </a:tc>
                <a:tc>
                  <a:txBody>
                    <a:bodyPr/>
                    <a:lstStyle/>
                    <a:p>
                      <a:pPr algn="ctr"/>
                      <a:r>
                        <a:rPr sz="1100">
                          <a:solidFill>
                            <a:srgbClr val="0B2B4E"/>
                          </a:solidFill>
                          <a:latin typeface="Calibri"/>
                        </a:rPr>
                        <a:t>574</a:t>
                      </a:r>
                    </a:p>
                  </a:txBody>
                  <a:tcPr marL="54864" marR="54864" marT="9144" marB="9144">
                    <a:solidFill>
                      <a:srgbClr val="FFFFFF"/>
                    </a:solidFill>
                  </a:tcPr>
                </a:tc>
                <a:tc>
                  <a:txBody>
                    <a:bodyPr/>
                    <a:lstStyle/>
                    <a:p>
                      <a:pPr algn="ctr"/>
                      <a:r>
                        <a:rPr sz="1100">
                          <a:solidFill>
                            <a:srgbClr val="0B2B4E"/>
                          </a:solidFill>
                          <a:latin typeface="Calibri"/>
                        </a:rPr>
                        <a:t>703</a:t>
                      </a:r>
                    </a:p>
                  </a:txBody>
                  <a:tcPr marL="54864" marR="54864" marT="9144" marB="9144">
                    <a:solidFill>
                      <a:srgbClr val="FFFFFF"/>
                    </a:solidFill>
                  </a:tcPr>
                </a:tc>
                <a:tc>
                  <a:txBody>
                    <a:bodyPr/>
                    <a:lstStyle/>
                    <a:p>
                      <a:pPr algn="ctr"/>
                      <a:r>
                        <a:rPr sz="1100">
                          <a:solidFill>
                            <a:srgbClr val="0B2B4E"/>
                          </a:solidFill>
                          <a:latin typeface="Calibri"/>
                        </a:rPr>
                        <a:t>812</a:t>
                      </a:r>
                    </a:p>
                  </a:txBody>
                  <a:tcPr marL="54864" marR="54864" marT="9144" marB="9144">
                    <a:solidFill>
                      <a:srgbClr val="FFFFFF"/>
                    </a:solidFill>
                  </a:tcPr>
                </a:tc>
                <a:extLst>
                  <a:ext uri="{0D108BD9-81ED-4DB2-BD59-A6C34878D82A}">
                    <a16:rowId xmlns:a16="http://schemas.microsoft.com/office/drawing/2014/main" val="10012"/>
                  </a:ext>
                </a:extLst>
              </a:tr>
            </a:tbl>
          </a:graphicData>
        </a:graphic>
      </p:graphicFrame>
      <p:sp>
        <p:nvSpPr>
          <p:cNvPr id="10" name="TextBox 9"/>
          <p:cNvSpPr txBox="1"/>
          <p:nvPr/>
        </p:nvSpPr>
        <p:spPr>
          <a:xfrm>
            <a:off x="8732520" y="5297119"/>
            <a:ext cx="2670048" cy="228600"/>
          </a:xfrm>
          <a:prstGeom prst="rect">
            <a:avLst/>
          </a:prstGeom>
          <a:noFill/>
        </p:spPr>
        <p:txBody>
          <a:bodyPr wrap="square" lIns="0" tIns="0" rIns="0" bIns="0">
            <a:spAutoFit/>
          </a:bodyPr>
          <a:lstStyle/>
          <a:p>
            <a:pPr algn="ctr"/>
            <a:r>
              <a:rPr sz="1100" b="0" i="1">
                <a:solidFill>
                  <a:srgbClr val="555B66"/>
                </a:solidFill>
                <a:latin typeface="Calibri"/>
              </a:rPr>
              <a:t>Production-function table  (</a:t>
            </a:r>
            <a:r>
              <a:rPr sz="1100" b="0" i="1" u="sng">
                <a:latin typeface="Calibri"/>
                <a:hlinkClick r:id="" action="ppaction://noaction"/>
              </a:rPr>
              <a:t>link</a:t>
            </a:r>
            <a:r>
              <a:rPr sz="1100" b="0" i="1">
                <a:solidFill>
                  <a:srgbClr val="555B66"/>
                </a:solidFill>
                <a:latin typeface="Calibri"/>
              </a:rPr>
              <a:t>)</a:t>
            </a:r>
          </a:p>
        </p:txBody>
      </p:sp>
      <p:sp>
        <p:nvSpPr>
          <p:cNvPr id="11" name="TextBox 10"/>
          <p:cNvSpPr txBox="1"/>
          <p:nvPr/>
        </p:nvSpPr>
        <p:spPr>
          <a:xfrm>
            <a:off x="8571585" y="1544421"/>
            <a:ext cx="3132734" cy="245973"/>
          </a:xfrm>
          <a:prstGeom prst="rect">
            <a:avLst/>
          </a:prstGeom>
          <a:noFill/>
        </p:spPr>
        <p:txBody>
          <a:bodyPr wrap="square" lIns="0" tIns="0" rIns="0" bIns="0">
            <a:spAutoFit/>
          </a:bodyPr>
          <a:lstStyle/>
          <a:p>
            <a:pPr algn="ctr"/>
            <a:r>
              <a:rPr sz="1600" b="0" i="1">
                <a:solidFill>
                  <a:srgbClr val="0B2B4E"/>
                </a:solidFill>
                <a:latin typeface="Calibri"/>
              </a:rPr>
              <a:t>K  (robots)</a:t>
            </a:r>
          </a:p>
        </p:txBody>
      </p:sp>
      <p:sp>
        <p:nvSpPr>
          <p:cNvPr id="12" name="TextBox 11"/>
          <p:cNvSpPr txBox="1"/>
          <p:nvPr/>
        </p:nvSpPr>
        <p:spPr>
          <a:xfrm rot="16200000">
            <a:off x="7973568" y="3408883"/>
            <a:ext cx="996696" cy="245973"/>
          </a:xfrm>
          <a:prstGeom prst="rect">
            <a:avLst/>
          </a:prstGeom>
          <a:noFill/>
        </p:spPr>
        <p:txBody>
          <a:bodyPr wrap="square" lIns="0" tIns="0" rIns="0" bIns="0">
            <a:spAutoFit/>
          </a:bodyPr>
          <a:lstStyle/>
          <a:p>
            <a:pPr algn="ctr"/>
            <a:r>
              <a:rPr sz="1600" b="0" i="1">
                <a:solidFill>
                  <a:srgbClr val="0B2B4E"/>
                </a:solidFill>
                <a:latin typeface="Calibri"/>
              </a:rPr>
              <a:t>L  (workers)</a:t>
            </a:r>
          </a:p>
        </p:txBody>
      </p:sp>
      <p:sp>
        <p:nvSpPr>
          <p:cNvPr id="13" name="Rectangle 12"/>
          <p:cNvSpPr/>
          <p:nvPr/>
        </p:nvSpPr>
        <p:spPr>
          <a:xfrm>
            <a:off x="9245284" y="5715000"/>
            <a:ext cx="2694412"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49445" y="5715000"/>
            <a:ext cx="1886089" cy="658368"/>
          </a:xfrm>
          <a:prstGeom prst="rect">
            <a:avLst/>
          </a:prstGeom>
          <a:noFill/>
        </p:spPr>
        <p:txBody>
          <a:bodyPr wrap="none" lIns="45720" tIns="18288" rIns="45720" bIns="18288" anchor="ctr">
            <a:spAutoFit/>
          </a:bodyPr>
          <a:lstStyle/>
          <a:p>
            <a:pPr algn="ctr"/>
            <a:r>
              <a:rPr sz="2800" b="1" dirty="0">
                <a:solidFill>
                  <a:srgbClr val="0B2B4E"/>
                </a:solidFill>
                <a:latin typeface="Calibri"/>
              </a:rPr>
              <a:t>Poll Break</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tIns="0" rIns="0" bIns="0">
            <a:spAutoFit/>
          </a:bodyPr>
          <a:lstStyle/>
          <a:p>
            <a:pPr algn="r"/>
            <a:fld id="{220F3974-E4EB-4A8C-9CD9-063E4F429D83}" type="slidenum">
              <a:rPr sz="1200" b="0" i="0">
                <a:solidFill>
                  <a:srgbClr val="555B66"/>
                </a:solidFill>
                <a:latin typeface="Calibri"/>
              </a:rPr>
              <a:t>10</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Solution:  MRPL of Rivian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13190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Check which interval contains the current workforce  (L = 2,300)</a:t>
            </a:r>
          </a:p>
          <a:p>
            <a:pPr marL="457200" lvl="1" algn="l">
              <a:spcBef>
                <a:spcPts val="300"/>
              </a:spcBef>
              <a:buNone/>
            </a:pPr>
            <a:r>
              <a:rPr sz="2200" dirty="0">
                <a:solidFill>
                  <a:srgbClr val="555B66"/>
                </a:solidFill>
                <a:latin typeface="Calibri"/>
              </a:rPr>
              <a:t>→  use the 2,000 → 2,500 step</a:t>
            </a:r>
          </a:p>
          <a:p>
            <a:pPr algn="l"/>
            <a:r>
              <a:rPr dirty="0">
                <a:latin typeface="Calibri"/>
              </a:rPr>
              <a:t>From the production-function table</a:t>
            </a:r>
            <a:r>
              <a:rPr lang="en-US" dirty="0">
                <a:latin typeface="Calibri"/>
              </a:rPr>
              <a:t>, at K=100</a:t>
            </a:r>
            <a:r>
              <a:rPr dirty="0">
                <a:latin typeface="Calibri"/>
              </a:rPr>
              <a:t>:</a:t>
            </a:r>
          </a:p>
          <a:p>
            <a:pPr lvl="1" algn="l"/>
            <a:r>
              <a:rPr dirty="0">
                <a:latin typeface="Calibri"/>
              </a:rPr>
              <a:t>Q (2,000)  =  309 </a:t>
            </a:r>
            <a:r>
              <a:rPr lang="en-US" dirty="0">
                <a:latin typeface="Calibri"/>
              </a:rPr>
              <a:t>cars</a:t>
            </a:r>
            <a:r>
              <a:rPr dirty="0">
                <a:latin typeface="Calibri"/>
              </a:rPr>
              <a:t> per week</a:t>
            </a:r>
          </a:p>
          <a:p>
            <a:pPr lvl="1" algn="l"/>
            <a:r>
              <a:rPr dirty="0">
                <a:latin typeface="Calibri"/>
              </a:rPr>
              <a:t>Q (2,500)  =  330 </a:t>
            </a:r>
            <a:r>
              <a:rPr lang="en-US" dirty="0">
                <a:latin typeface="Calibri"/>
              </a:rPr>
              <a:t>cars</a:t>
            </a:r>
            <a:r>
              <a:rPr dirty="0">
                <a:latin typeface="Calibri"/>
              </a:rPr>
              <a:t> per week</a:t>
            </a:r>
          </a:p>
          <a:p>
            <a:pPr algn="l"/>
            <a:r>
              <a:rPr dirty="0">
                <a:latin typeface="Calibri"/>
              </a:rPr>
              <a:t>Compute MPL  =  ΔQ / ΔL</a:t>
            </a:r>
          </a:p>
          <a:p>
            <a:pPr lvl="1" algn="l"/>
            <a:r>
              <a:rPr dirty="0">
                <a:latin typeface="Calibri"/>
              </a:rPr>
              <a:t>MPL  =  (330 − 309) / 500  =  0.042 cars per worker per week</a:t>
            </a:r>
          </a:p>
          <a:p>
            <a:pPr algn="l"/>
            <a:r>
              <a:rPr dirty="0">
                <a:latin typeface="Calibri"/>
              </a:rPr>
              <a:t>MRPL  =  MPL × MR</a:t>
            </a:r>
          </a:p>
          <a:p>
            <a:pPr lvl="1" algn="l"/>
            <a:r>
              <a:rPr dirty="0">
                <a:latin typeface="Calibri"/>
              </a:rPr>
              <a:t>MR per car (net of material costs) is ≈ $45,000 </a:t>
            </a:r>
          </a:p>
          <a:p>
            <a:pPr marL="457200" lvl="1" algn="l">
              <a:spcBef>
                <a:spcPts val="1200"/>
              </a:spcBef>
              <a:buNone/>
            </a:pPr>
            <a:r>
              <a:rPr sz="2000" b="0" i="0" dirty="0">
                <a:solidFill>
                  <a:srgbClr val="C00000"/>
                </a:solidFill>
                <a:latin typeface="Calibri"/>
                <a:sym typeface="Wingdings"/>
              </a:rPr>
              <a:t></a:t>
            </a:r>
            <a:r>
              <a:rPr sz="2000" b="0" i="0" dirty="0">
                <a:solidFill>
                  <a:srgbClr val="C00000"/>
                </a:solidFill>
                <a:latin typeface="Calibri"/>
              </a:rPr>
              <a:t>  </a:t>
            </a:r>
            <a:r>
              <a:rPr sz="2000" b="1" i="0" u="sng" dirty="0">
                <a:solidFill>
                  <a:srgbClr val="C00000"/>
                </a:solidFill>
                <a:latin typeface="Calibri"/>
              </a:rPr>
              <a:t>Solution</a:t>
            </a:r>
            <a:r>
              <a:rPr sz="2000" b="0" i="0" dirty="0">
                <a:solidFill>
                  <a:srgbClr val="555B66"/>
                </a:solidFill>
                <a:latin typeface="Calibri"/>
              </a:rPr>
              <a:t>: </a:t>
            </a:r>
            <a:r>
              <a:rPr sz="2000" b="1" i="0" dirty="0">
                <a:solidFill>
                  <a:srgbClr val="C00000"/>
                </a:solidFill>
                <a:latin typeface="Calibri"/>
              </a:rPr>
              <a:t>MRPL</a:t>
            </a:r>
            <a:r>
              <a:rPr sz="2000" b="1" i="0" dirty="0">
                <a:solidFill>
                  <a:srgbClr val="555B66"/>
                </a:solidFill>
                <a:latin typeface="Calibri"/>
              </a:rPr>
              <a:t>  </a:t>
            </a:r>
            <a:r>
              <a:rPr sz="2000" b="1" i="0" dirty="0">
                <a:solidFill>
                  <a:srgbClr val="C00000"/>
                </a:solidFill>
                <a:latin typeface="Calibri"/>
              </a:rPr>
              <a:t>=  </a:t>
            </a:r>
            <a:r>
              <a:rPr sz="2000" b="0" i="0" dirty="0">
                <a:solidFill>
                  <a:srgbClr val="C00000"/>
                </a:solidFill>
                <a:latin typeface="Calibri"/>
              </a:rPr>
              <a:t>0.042 × $45,000  =  </a:t>
            </a:r>
            <a:r>
              <a:rPr sz="2000" b="1" i="0" u="sng" dirty="0">
                <a:solidFill>
                  <a:srgbClr val="C00000"/>
                </a:solidFill>
                <a:latin typeface="Calibri"/>
              </a:rPr>
              <a:t>$1,890</a:t>
            </a:r>
            <a:r>
              <a:rPr sz="2000" b="0" i="0" dirty="0">
                <a:solidFill>
                  <a:srgbClr val="C00000"/>
                </a:solidFill>
                <a:latin typeface="Calibri"/>
              </a:rPr>
              <a:t> per worker per week</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tIns="0" rIns="0" bIns="0">
            <a:spAutoFit/>
          </a:bodyPr>
          <a:lstStyle/>
          <a:p>
            <a:pPr algn="r"/>
            <a:fld id="{CB899F0B-A62C-48E6-BD73-6EDC83491B40}" type="slidenum">
              <a:rPr sz="1200" b="0" i="0">
                <a:solidFill>
                  <a:srgbClr val="555B66"/>
                </a:solidFill>
                <a:latin typeface="Calibri"/>
              </a:rPr>
              <a:t>11</a:t>
            </a:fld>
            <a:endParaRPr sz="1200" b="0" i="0">
              <a:solidFill>
                <a:srgbClr val="555B66"/>
              </a:solidFill>
              <a:latin typeface="Calibri"/>
            </a:endParaRPr>
          </a:p>
        </p:txBody>
      </p:sp>
      <p:grpSp>
        <p:nvGrpSpPr>
          <p:cNvPr id="12" name="Group 11">
            <a:extLst>
              <a:ext uri="{FF2B5EF4-FFF2-40B4-BE49-F238E27FC236}">
                <a16:creationId xmlns:a16="http://schemas.microsoft.com/office/drawing/2014/main" id="{8F0E4281-81FF-D511-E0D8-A1E4D76618C2}"/>
              </a:ext>
            </a:extLst>
          </p:cNvPr>
          <p:cNvGrpSpPr/>
          <p:nvPr/>
        </p:nvGrpSpPr>
        <p:grpSpPr>
          <a:xfrm>
            <a:off x="9576078" y="5924574"/>
            <a:ext cx="2363617" cy="467820"/>
            <a:chOff x="9576078" y="5924574"/>
            <a:chExt cx="2363617" cy="467820"/>
          </a:xfrm>
        </p:grpSpPr>
        <p:sp>
          <p:nvSpPr>
            <p:cNvPr id="13" name="Rectangle 8">
              <a:extLst>
                <a:ext uri="{FF2B5EF4-FFF2-40B4-BE49-F238E27FC236}">
                  <a16:creationId xmlns:a16="http://schemas.microsoft.com/office/drawing/2014/main" id="{6AE4C29F-0D8B-8E72-E7CE-4DF315BEFA91}"/>
                </a:ext>
              </a:extLst>
            </p:cNvPr>
            <p:cNvSpPr/>
            <p:nvPr/>
          </p:nvSpPr>
          <p:spPr>
            <a:xfrm>
              <a:off x="9576078" y="5943600"/>
              <a:ext cx="2363617" cy="4297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0711C4A-26B7-0A4A-3DBC-57A376EA5B75}"/>
                </a:ext>
              </a:extLst>
            </p:cNvPr>
            <p:cNvSpPr txBox="1"/>
            <p:nvPr/>
          </p:nvSpPr>
          <p:spPr>
            <a:xfrm>
              <a:off x="9881002" y="5924574"/>
              <a:ext cx="1654532" cy="467820"/>
            </a:xfrm>
            <a:prstGeom prst="rect">
              <a:avLst/>
            </a:prstGeom>
            <a:noFill/>
          </p:spPr>
          <p:txBody>
            <a:bodyPr wrap="square" lIns="45720" tIns="18288" rIns="45720" bIns="18288" anchor="ctr">
              <a:spAutoFit/>
            </a:bodyPr>
            <a:lstStyle/>
            <a:p>
              <a:pPr algn="ctr"/>
              <a:r>
                <a:rPr sz="2800" b="1" dirty="0">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4"/>
                                            </p:txEl>
                                          </p:spTgt>
                                        </p:tgtEl>
                                        <p:attrNameLst>
                                          <p:attrName>style.visibility</p:attrName>
                                        </p:attrNameLst>
                                      </p:cBhvr>
                                      <p:to>
                                        <p:strVal val="visible"/>
                                      </p:to>
                                    </p:set>
                                    <p:animEffect transition="in" filter="fade">
                                      <p:cBhvr>
                                        <p:cTn id="7" dur="500"/>
                                        <p:tgtEl>
                                          <p:spTgt spid="7">
                                            <p:txEl>
                                              <p:pRg st="2"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5" end="6"/>
                                            </p:txEl>
                                          </p:spTgt>
                                        </p:tgtEl>
                                        <p:attrNameLst>
                                          <p:attrName>style.visibility</p:attrName>
                                        </p:attrNameLst>
                                      </p:cBhvr>
                                      <p:to>
                                        <p:strVal val="visible"/>
                                      </p:to>
                                    </p:set>
                                    <p:animEffect transition="in" filter="fade">
                                      <p:cBhvr>
                                        <p:cTn id="12" dur="500"/>
                                        <p:tgtEl>
                                          <p:spTgt spid="7">
                                            <p:txEl>
                                              <p:pRg st="5"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7" end="9"/>
                                            </p:txEl>
                                          </p:spTgt>
                                        </p:tgtEl>
                                        <p:attrNameLst>
                                          <p:attrName>style.visibility</p:attrName>
                                        </p:attrNameLst>
                                      </p:cBhvr>
                                      <p:to>
                                        <p:strVal val="visible"/>
                                      </p:to>
                                    </p:set>
                                    <p:animEffect transition="in" filter="fade">
                                      <p:cBhvr>
                                        <p:cTn id="17" dur="500"/>
                                        <p:tgtEl>
                                          <p:spTgt spid="7">
                                            <p:txEl>
                                              <p:pRg st="7"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The Optimal Hiring Rule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5486400" cy="3159839"/>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Should Rivian hire more workers?</a:t>
            </a:r>
          </a:p>
          <a:p>
            <a:pPr lvl="1" algn="l"/>
            <a:r>
              <a:rPr dirty="0">
                <a:latin typeface="Calibri"/>
              </a:rPr>
              <a:t>Suppose the </a:t>
            </a:r>
            <a:r>
              <a:rPr b="1" dirty="0">
                <a:latin typeface="Calibri"/>
              </a:rPr>
              <a:t>weekly wage  </a:t>
            </a:r>
            <a:r>
              <a:rPr dirty="0">
                <a:latin typeface="Calibri"/>
              </a:rPr>
              <a:t>(incl. benefits)  is </a:t>
            </a:r>
            <a:r>
              <a:rPr b="1" dirty="0">
                <a:latin typeface="Calibri"/>
              </a:rPr>
              <a:t>$1,500 </a:t>
            </a:r>
            <a:r>
              <a:rPr dirty="0">
                <a:latin typeface="Calibri"/>
              </a:rPr>
              <a:t>per worker</a:t>
            </a:r>
          </a:p>
          <a:p>
            <a:pPr algn="l"/>
            <a:r>
              <a:rPr dirty="0">
                <a:latin typeface="Calibri"/>
              </a:rPr>
              <a:t>Hiring one more worker:</a:t>
            </a:r>
          </a:p>
          <a:p>
            <a:pPr lvl="1" algn="l"/>
            <a:r>
              <a:rPr dirty="0">
                <a:latin typeface="Calibri"/>
              </a:rPr>
              <a:t>Revenue rises by MRPL</a:t>
            </a:r>
            <a:r>
              <a:rPr lang="en-US" dirty="0">
                <a:latin typeface="Calibri"/>
              </a:rPr>
              <a:t>   (=$1,890)</a:t>
            </a:r>
            <a:endParaRPr dirty="0">
              <a:latin typeface="Calibri"/>
            </a:endParaRPr>
          </a:p>
          <a:p>
            <a:pPr lvl="1"/>
            <a:r>
              <a:rPr dirty="0">
                <a:latin typeface="Calibri"/>
              </a:rPr>
              <a:t>Wage bill rises by w</a:t>
            </a:r>
            <a:r>
              <a:rPr lang="en-US" dirty="0"/>
              <a:t>  (=$1,500)</a:t>
            </a:r>
            <a:endParaRPr dirty="0">
              <a:latin typeface="Calibri"/>
            </a:endParaRPr>
          </a:p>
          <a:p>
            <a:pPr lvl="1" algn="l"/>
            <a:r>
              <a:rPr dirty="0">
                <a:latin typeface="Calibri"/>
              </a:rPr>
              <a:t>Profit rises whenever MRPL &gt; w</a:t>
            </a:r>
          </a:p>
          <a:p>
            <a:pPr algn="l"/>
            <a:r>
              <a:rPr dirty="0">
                <a:latin typeface="Calibri"/>
              </a:rPr>
              <a:t>Optimum:  hire L*  where  MRPL = w</a:t>
            </a:r>
          </a:p>
        </p:txBody>
      </p:sp>
      <p:sp>
        <p:nvSpPr>
          <p:cNvPr id="8" name="Rectangle 7"/>
          <p:cNvSpPr/>
          <p:nvPr/>
        </p:nvSpPr>
        <p:spPr>
          <a:xfrm>
            <a:off x="6854342" y="1783080"/>
            <a:ext cx="4782312" cy="3072384"/>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extLst>
              <p:ext uri="{D42A27DB-BD31-4B8C-83A1-F6EECF244321}">
                <p14:modId xmlns:p14="http://schemas.microsoft.com/office/powerpoint/2010/main" val="3590289649"/>
              </p:ext>
            </p:extLst>
          </p:nvPr>
        </p:nvGraphicFramePr>
        <p:xfrm>
          <a:off x="6854342" y="1783080"/>
          <a:ext cx="4782312" cy="3072384"/>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Connector 9"/>
          <p:cNvCxnSpPr/>
          <p:nvPr/>
        </p:nvCxnSpPr>
        <p:spPr>
          <a:xfrm>
            <a:off x="10012867" y="3683441"/>
            <a:ext cx="0" cy="738202"/>
          </a:xfrm>
          <a:prstGeom prst="line">
            <a:avLst/>
          </a:prstGeom>
          <a:ln w="19050">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990734" y="4147718"/>
            <a:ext cx="350215" cy="245973"/>
          </a:xfrm>
          <a:prstGeom prst="rect">
            <a:avLst/>
          </a:prstGeom>
          <a:noFill/>
        </p:spPr>
        <p:txBody>
          <a:bodyPr wrap="none" lIns="0" tIns="0" rIns="0" bIns="0">
            <a:spAutoFit/>
          </a:bodyPr>
          <a:lstStyle/>
          <a:p>
            <a:pPr algn="ctr"/>
            <a:r>
              <a:rPr sz="1600" b="1" i="1">
                <a:solidFill>
                  <a:srgbClr val="0B2B4E"/>
                </a:solidFill>
                <a:latin typeface="Calibri"/>
              </a:rPr>
              <a:t>L*</a:t>
            </a:r>
          </a:p>
        </p:txBody>
      </p:sp>
      <p:sp>
        <p:nvSpPr>
          <p:cNvPr id="12" name="12-Point Star 11"/>
          <p:cNvSpPr/>
          <p:nvPr/>
        </p:nvSpPr>
        <p:spPr>
          <a:xfrm>
            <a:off x="1447495" y="5293461"/>
            <a:ext cx="1463040" cy="9601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703527" y="5509488"/>
            <a:ext cx="950976" cy="528066"/>
          </a:xfrm>
          <a:prstGeom prst="rect">
            <a:avLst/>
          </a:prstGeom>
          <a:noFill/>
        </p:spPr>
        <p:txBody>
          <a:bodyPr wrap="square" lIns="0" tIns="0" rIns="0" bIns="0" anchor="ctr">
            <a:spAutoFit/>
          </a:bodyPr>
          <a:lstStyle/>
          <a:p>
            <a:pPr algn="ctr"/>
            <a:r>
              <a:rPr sz="1400" b="1">
                <a:solidFill>
                  <a:srgbClr val="0B2B4E"/>
                </a:solidFill>
                <a:latin typeface="Calibri"/>
              </a:rPr>
              <a:t>MB = MC</a:t>
            </a:r>
          </a:p>
          <a:p>
            <a:pPr algn="ctr"/>
            <a:r>
              <a:rPr sz="1100" b="1" i="1">
                <a:solidFill>
                  <a:srgbClr val="0B2B4E"/>
                </a:solidFill>
                <a:latin typeface="Calibri"/>
              </a:rPr>
              <a:t>(of labor)</a:t>
            </a:r>
          </a:p>
        </p:txBody>
      </p:sp>
      <p:sp>
        <p:nvSpPr>
          <p:cNvPr id="14" name="Rounded Rectangle 13"/>
          <p:cNvSpPr/>
          <p:nvPr/>
        </p:nvSpPr>
        <p:spPr>
          <a:xfrm>
            <a:off x="3139135" y="5463540"/>
            <a:ext cx="7171639"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Optimal Number of Workers:  L*  where:  </a:t>
            </a:r>
            <a:r>
              <a:rPr sz="2400" b="1">
                <a:solidFill>
                  <a:srgbClr val="FFFFFF"/>
                </a:solidFill>
                <a:latin typeface="Calibri"/>
              </a:rPr>
              <a:t>MRPL  =  w</a:t>
            </a:r>
          </a:p>
        </p:txBody>
      </p:sp>
      <p:cxnSp>
        <p:nvCxnSpPr>
          <p:cNvPr id="15" name="Connector 14"/>
          <p:cNvCxnSpPr/>
          <p:nvPr/>
        </p:nvCxnSpPr>
        <p:spPr>
          <a:xfrm flipV="1">
            <a:off x="2910535" y="5715000"/>
            <a:ext cx="228600" cy="58521"/>
          </a:xfrm>
          <a:prstGeom prst="line">
            <a:avLst/>
          </a:prstGeom>
          <a:ln w="254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tIns="0" rIns="0" bIns="0">
            <a:spAutoFit/>
          </a:bodyPr>
          <a:lstStyle/>
          <a:p>
            <a:pPr algn="r"/>
            <a:fld id="{AB6B5B34-C885-431F-97A7-AFFD7475CC31}" type="slidenum">
              <a:rPr sz="1200" b="0" i="0">
                <a:solidFill>
                  <a:srgbClr val="555B66"/>
                </a:solidFill>
                <a:latin typeface="Calibri"/>
              </a:rPr>
              <a:t>12</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Short Run: Hiring Decisions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Optimal Hiring Rule in the Short Run:  Numerical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31366"/>
            <a:ext cx="11687697" cy="369332"/>
          </a:xfrm>
          <a:prstGeom prst="rect">
            <a:avLst/>
          </a:prstGeom>
          <a:noFill/>
        </p:spPr>
        <p:txBody>
          <a:bodyPr wrap="square" lIns="45720" tIns="0" rIns="45720" bIns="0">
            <a:spAutoFit/>
          </a:bodyPr>
          <a:lstStyle/>
          <a:p>
            <a:r>
              <a:rPr lang="en-US" sz="2400" b="1" dirty="0">
                <a:solidFill>
                  <a:srgbClr val="0B2B4E"/>
                </a:solidFill>
                <a:latin typeface="Calibri"/>
              </a:rPr>
              <a:t>▪  Compute MRPL for each L-interval at K=100</a:t>
            </a:r>
            <a:r>
              <a:rPr lang="en-US" sz="2200" dirty="0">
                <a:solidFill>
                  <a:srgbClr val="0B2B4E"/>
                </a:solidFill>
                <a:latin typeface="Calibri"/>
              </a:rPr>
              <a:t>  (0-250, 250-500, 500-1,000…)</a:t>
            </a:r>
            <a:endParaRPr lang="en-US" dirty="0"/>
          </a:p>
        </p:txBody>
      </p:sp>
      <p:sp>
        <p:nvSpPr>
          <p:cNvPr id="8" name="Rectangle 7"/>
          <p:cNvSpPr/>
          <p:nvPr/>
        </p:nvSpPr>
        <p:spPr>
          <a:xfrm>
            <a:off x="694944" y="1826971"/>
            <a:ext cx="5349240" cy="424373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694944" y="1826971"/>
          <a:ext cx="5349240" cy="427664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tblGrid>
              <a:tr h="326440">
                <a:tc>
                  <a:txBody>
                    <a:bodyPr/>
                    <a:lstStyle/>
                    <a:p>
                      <a:pPr algn="ctr"/>
                      <a:r>
                        <a:rPr sz="1600" b="1">
                          <a:solidFill>
                            <a:srgbClr val="FFFFFF"/>
                          </a:solidFill>
                          <a:latin typeface="Calibri"/>
                        </a:rPr>
                        <a:t>L</a:t>
                      </a:r>
                    </a:p>
                  </a:txBody>
                  <a:tcPr marT="27432" marB="27432" anchor="ctr">
                    <a:solidFill>
                      <a:srgbClr val="0B2B4E"/>
                    </a:solidFill>
                  </a:tcPr>
                </a:tc>
                <a:tc>
                  <a:txBody>
                    <a:bodyPr/>
                    <a:lstStyle/>
                    <a:p>
                      <a:pPr algn="ctr"/>
                      <a:r>
                        <a:rPr sz="1600" b="1">
                          <a:solidFill>
                            <a:srgbClr val="FFFFFF"/>
                          </a:solidFill>
                          <a:latin typeface="Calibri"/>
                        </a:rPr>
                        <a:t>K</a:t>
                      </a:r>
                    </a:p>
                  </a:txBody>
                  <a:tcPr marT="27432" marB="27432" anchor="ctr">
                    <a:solidFill>
                      <a:srgbClr val="0B2B4E"/>
                    </a:solidFill>
                  </a:tcPr>
                </a:tc>
                <a:tc>
                  <a:txBody>
                    <a:bodyPr/>
                    <a:lstStyle/>
                    <a:p>
                      <a:pPr algn="ctr"/>
                      <a:r>
                        <a:rPr sz="1600" b="1">
                          <a:solidFill>
                            <a:srgbClr val="FFFFFF"/>
                          </a:solidFill>
                          <a:latin typeface="Calibri"/>
                        </a:rPr>
                        <a:t>Q</a:t>
                      </a:r>
                    </a:p>
                  </a:txBody>
                  <a:tcPr marT="27432" marB="27432" anchor="ctr">
                    <a:solidFill>
                      <a:srgbClr val="0B2B4E"/>
                    </a:solidFill>
                  </a:tcPr>
                </a:tc>
                <a:tc>
                  <a:txBody>
                    <a:bodyPr/>
                    <a:lstStyle/>
                    <a:p>
                      <a:pPr algn="ctr"/>
                      <a:r>
                        <a:rPr sz="1600" b="1">
                          <a:solidFill>
                            <a:srgbClr val="FFFFFF"/>
                          </a:solidFill>
                          <a:latin typeface="Calibri"/>
                        </a:rPr>
                        <a:t>ΔQ</a:t>
                      </a:r>
                    </a:p>
                  </a:txBody>
                  <a:tcPr marT="27432" marB="27432" anchor="ctr">
                    <a:solidFill>
                      <a:srgbClr val="0B2B4E"/>
                    </a:solidFill>
                  </a:tcPr>
                </a:tc>
                <a:tc>
                  <a:txBody>
                    <a:bodyPr/>
                    <a:lstStyle/>
                    <a:p>
                      <a:pPr algn="ctr"/>
                      <a:r>
                        <a:rPr sz="1600" b="1">
                          <a:solidFill>
                            <a:srgbClr val="FFFFFF"/>
                          </a:solidFill>
                          <a:latin typeface="Calibri"/>
                        </a:rPr>
                        <a:t>ΔL</a:t>
                      </a:r>
                    </a:p>
                  </a:txBody>
                  <a:tcPr marT="27432" marB="27432" anchor="ctr">
                    <a:solidFill>
                      <a:srgbClr val="0B2B4E"/>
                    </a:solidFill>
                  </a:tcPr>
                </a:tc>
                <a:tc>
                  <a:txBody>
                    <a:bodyPr/>
                    <a:lstStyle/>
                    <a:p>
                      <a:pPr algn="ctr"/>
                      <a:r>
                        <a:rPr sz="1600" b="1">
                          <a:solidFill>
                            <a:srgbClr val="FFFFFF"/>
                          </a:solidFill>
                          <a:latin typeface="Calibri"/>
                        </a:rPr>
                        <a:t>MPL</a:t>
                      </a:r>
                    </a:p>
                  </a:txBody>
                  <a:tcPr marT="27432" marB="27432" anchor="ctr">
                    <a:solidFill>
                      <a:srgbClr val="0B2B4E"/>
                    </a:solidFill>
                  </a:tcPr>
                </a:tc>
                <a:tc>
                  <a:txBody>
                    <a:bodyPr/>
                    <a:lstStyle/>
                    <a:p>
                      <a:pPr algn="ctr"/>
                      <a:r>
                        <a:rPr sz="1600" b="1">
                          <a:solidFill>
                            <a:srgbClr val="FFFFFF"/>
                          </a:solidFill>
                          <a:latin typeface="Calibri"/>
                        </a:rPr>
                        <a:t>MRPL</a:t>
                      </a:r>
                    </a:p>
                  </a:txBody>
                  <a:tcPr marT="27432" marB="27432" anchor="ctr">
                    <a:solidFill>
                      <a:srgbClr val="0B2B4E"/>
                    </a:solidFill>
                  </a:tcPr>
                </a:tc>
                <a:extLst>
                  <a:ext uri="{0D108BD9-81ED-4DB2-BD59-A6C34878D82A}">
                    <a16:rowId xmlns:a16="http://schemas.microsoft.com/office/drawing/2014/main" val="10000"/>
                  </a:ext>
                </a:extLst>
              </a:tr>
              <a:tr h="326440">
                <a:tc>
                  <a:txBody>
                    <a:bodyPr/>
                    <a:lstStyle/>
                    <a:p>
                      <a:pPr algn="ctr"/>
                      <a:r>
                        <a:rPr sz="1600">
                          <a:solidFill>
                            <a:srgbClr val="000000"/>
                          </a:solidFill>
                          <a:latin typeface="Calibri"/>
                        </a:rPr>
                        <a:t>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0</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1"/>
                  </a:ext>
                </a:extLst>
              </a:tr>
              <a:tr h="326440">
                <a:tc>
                  <a:txBody>
                    <a:bodyPr/>
                    <a:lstStyle/>
                    <a:p>
                      <a:pPr algn="ctr"/>
                      <a:r>
                        <a:rPr sz="1600">
                          <a:solidFill>
                            <a:srgbClr val="000000"/>
                          </a:solidFill>
                          <a:latin typeface="Calibri"/>
                        </a:rPr>
                        <a:t>250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165</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2"/>
                  </a:ext>
                </a:extLst>
              </a:tr>
              <a:tr h="326440">
                <a:tc>
                  <a:txBody>
                    <a:bodyPr/>
                    <a:lstStyle/>
                    <a:p>
                      <a:pPr algn="ctr"/>
                      <a:r>
                        <a:rPr sz="1600">
                          <a:solidFill>
                            <a:srgbClr val="000000"/>
                          </a:solidFill>
                          <a:latin typeface="Calibri"/>
                        </a:rPr>
                        <a:t>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204</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3"/>
                  </a:ext>
                </a:extLst>
              </a:tr>
              <a:tr h="326440">
                <a:tc>
                  <a:txBody>
                    <a:bodyPr/>
                    <a:lstStyle/>
                    <a:p>
                      <a:pPr algn="ctr"/>
                      <a:r>
                        <a:rPr sz="1600">
                          <a:solidFill>
                            <a:srgbClr val="000000"/>
                          </a:solidFill>
                          <a:latin typeface="Calibri"/>
                        </a:rPr>
                        <a:t>1,000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251</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4"/>
                  </a:ext>
                </a:extLst>
              </a:tr>
              <a:tr h="326440">
                <a:tc>
                  <a:txBody>
                    <a:bodyPr/>
                    <a:lstStyle/>
                    <a:p>
                      <a:pPr algn="ctr"/>
                      <a:r>
                        <a:rPr sz="1600">
                          <a:solidFill>
                            <a:srgbClr val="000000"/>
                          </a:solidFill>
                          <a:latin typeface="Calibri"/>
                        </a:rPr>
                        <a:t>1,500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283</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5"/>
                  </a:ext>
                </a:extLst>
              </a:tr>
              <a:tr h="326440">
                <a:tc>
                  <a:txBody>
                    <a:bodyPr/>
                    <a:lstStyle/>
                    <a:p>
                      <a:pPr algn="ctr"/>
                      <a:r>
                        <a:rPr sz="1600">
                          <a:solidFill>
                            <a:srgbClr val="000000"/>
                          </a:solidFill>
                          <a:latin typeface="Calibri"/>
                        </a:rPr>
                        <a:t>2,000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309</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6"/>
                  </a:ext>
                </a:extLst>
              </a:tr>
              <a:tr h="326440">
                <a:tc>
                  <a:txBody>
                    <a:bodyPr/>
                    <a:lstStyle/>
                    <a:p>
                      <a:pPr algn="ctr"/>
                      <a:r>
                        <a:rPr sz="1600">
                          <a:solidFill>
                            <a:srgbClr val="000000"/>
                          </a:solidFill>
                          <a:latin typeface="Calibri"/>
                        </a:rPr>
                        <a:t>2,500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330</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7"/>
                  </a:ext>
                </a:extLst>
              </a:tr>
              <a:tr h="326440">
                <a:tc>
                  <a:txBody>
                    <a:bodyPr/>
                    <a:lstStyle/>
                    <a:p>
                      <a:pPr algn="ctr"/>
                      <a:r>
                        <a:rPr sz="1600">
                          <a:solidFill>
                            <a:srgbClr val="000000"/>
                          </a:solidFill>
                          <a:latin typeface="Calibri"/>
                        </a:rPr>
                        <a:t>3,000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348</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8"/>
                  </a:ext>
                </a:extLst>
              </a:tr>
              <a:tr h="326440">
                <a:tc>
                  <a:txBody>
                    <a:bodyPr/>
                    <a:lstStyle/>
                    <a:p>
                      <a:pPr algn="ctr"/>
                      <a:r>
                        <a:rPr sz="1600">
                          <a:solidFill>
                            <a:srgbClr val="000000"/>
                          </a:solidFill>
                          <a:latin typeface="Calibri"/>
                        </a:rPr>
                        <a:t>3,500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365</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09"/>
                  </a:ext>
                </a:extLst>
              </a:tr>
              <a:tr h="326440">
                <a:tc>
                  <a:txBody>
                    <a:bodyPr/>
                    <a:lstStyle/>
                    <a:p>
                      <a:pPr algn="ctr"/>
                      <a:r>
                        <a:rPr sz="1600">
                          <a:solidFill>
                            <a:srgbClr val="000000"/>
                          </a:solidFill>
                          <a:latin typeface="Calibri"/>
                        </a:rPr>
                        <a:t>4,000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380</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10"/>
                  </a:ext>
                </a:extLst>
              </a:tr>
              <a:tr h="326440">
                <a:tc>
                  <a:txBody>
                    <a:bodyPr/>
                    <a:lstStyle/>
                    <a:p>
                      <a:pPr algn="ctr"/>
                      <a:r>
                        <a:rPr sz="1600">
                          <a:solidFill>
                            <a:srgbClr val="000000"/>
                          </a:solidFill>
                          <a:latin typeface="Calibri"/>
                        </a:rPr>
                        <a:t>4,500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394</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extLst>
                  <a:ext uri="{0D108BD9-81ED-4DB2-BD59-A6C34878D82A}">
                    <a16:rowId xmlns:a16="http://schemas.microsoft.com/office/drawing/2014/main" val="10011"/>
                  </a:ext>
                </a:extLst>
              </a:tr>
              <a:tr h="326450">
                <a:tc>
                  <a:txBody>
                    <a:bodyPr/>
                    <a:lstStyle/>
                    <a:p>
                      <a:pPr algn="ctr"/>
                      <a:r>
                        <a:rPr sz="1600">
                          <a:solidFill>
                            <a:srgbClr val="000000"/>
                          </a:solidFill>
                          <a:latin typeface="Calibri"/>
                        </a:rPr>
                        <a:t>5,000</a:t>
                      </a:r>
                    </a:p>
                  </a:txBody>
                  <a:tcPr marT="27432" marB="27432" anchor="ctr">
                    <a:solidFill>
                      <a:srgbClr val="FFFFFF"/>
                    </a:solidFill>
                  </a:tcPr>
                </a:tc>
                <a:tc>
                  <a:txBody>
                    <a:bodyPr/>
                    <a:lstStyle/>
                    <a:p>
                      <a:pPr algn="ctr"/>
                      <a:r>
                        <a:rPr sz="1600">
                          <a:solidFill>
                            <a:srgbClr val="C00000"/>
                          </a:solidFill>
                          <a:latin typeface="Calibri"/>
                        </a:rPr>
                        <a:t>100</a:t>
                      </a:r>
                    </a:p>
                  </a:txBody>
                  <a:tcPr marT="27432" marB="27432" anchor="ctr">
                    <a:solidFill>
                      <a:srgbClr val="FFFFFF"/>
                    </a:solidFill>
                  </a:tcPr>
                </a:tc>
                <a:tc>
                  <a:txBody>
                    <a:bodyPr/>
                    <a:lstStyle/>
                    <a:p>
                      <a:pPr algn="ctr"/>
                      <a:r>
                        <a:rPr sz="1600">
                          <a:solidFill>
                            <a:srgbClr val="000000"/>
                          </a:solidFill>
                          <a:latin typeface="Calibri"/>
                        </a:rPr>
                        <a:t>406</a:t>
                      </a: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a:p>
                  </a:txBody>
                  <a:tcPr marT="27432" marB="27432" anchor="ctr">
                    <a:solidFill>
                      <a:srgbClr val="FFFFFF"/>
                    </a:solidFill>
                  </a:tcPr>
                </a:tc>
                <a:tc>
                  <a:txBody>
                    <a:bodyPr/>
                    <a:lstStyle/>
                    <a:p>
                      <a:pPr algn="ctr"/>
                      <a:endParaRPr dirty="0"/>
                    </a:p>
                  </a:txBody>
                  <a:tcPr marT="27432" marB="27432" anchor="ctr">
                    <a:solidFill>
                      <a:srgbClr val="FFFFFF"/>
                    </a:solidFill>
                  </a:tcPr>
                </a:tc>
                <a:extLst>
                  <a:ext uri="{0D108BD9-81ED-4DB2-BD59-A6C34878D82A}">
                    <a16:rowId xmlns:a16="http://schemas.microsoft.com/office/drawing/2014/main" val="10012"/>
                  </a:ext>
                </a:extLst>
              </a:tr>
            </a:tbl>
          </a:graphicData>
        </a:graphic>
      </p:graphicFrame>
      <p:sp>
        <p:nvSpPr>
          <p:cNvPr id="10" name="TextBox 9"/>
          <p:cNvSpPr txBox="1"/>
          <p:nvPr/>
        </p:nvSpPr>
        <p:spPr>
          <a:xfrm>
            <a:off x="2752344" y="2324404"/>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165</a:t>
            </a:r>
          </a:p>
        </p:txBody>
      </p:sp>
      <p:sp>
        <p:nvSpPr>
          <p:cNvPr id="11" name="TextBox 10"/>
          <p:cNvSpPr txBox="1"/>
          <p:nvPr/>
        </p:nvSpPr>
        <p:spPr>
          <a:xfrm>
            <a:off x="3529584" y="2324404"/>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250</a:t>
            </a:r>
          </a:p>
        </p:txBody>
      </p:sp>
      <p:sp>
        <p:nvSpPr>
          <p:cNvPr id="12" name="TextBox 11"/>
          <p:cNvSpPr txBox="1"/>
          <p:nvPr/>
        </p:nvSpPr>
        <p:spPr>
          <a:xfrm>
            <a:off x="4215384" y="2324404"/>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0.660</a:t>
            </a:r>
          </a:p>
        </p:txBody>
      </p:sp>
      <p:sp>
        <p:nvSpPr>
          <p:cNvPr id="13" name="Rounded Rectangle 12"/>
          <p:cNvSpPr/>
          <p:nvPr/>
        </p:nvSpPr>
        <p:spPr>
          <a:xfrm>
            <a:off x="5120640" y="2324404"/>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84064" y="2324404"/>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$29,700</a:t>
            </a:r>
          </a:p>
        </p:txBody>
      </p:sp>
      <p:sp>
        <p:nvSpPr>
          <p:cNvPr id="15" name="TextBox 14"/>
          <p:cNvSpPr txBox="1"/>
          <p:nvPr/>
        </p:nvSpPr>
        <p:spPr>
          <a:xfrm>
            <a:off x="2752344" y="2650845"/>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39</a:t>
            </a:r>
          </a:p>
        </p:txBody>
      </p:sp>
      <p:sp>
        <p:nvSpPr>
          <p:cNvPr id="16" name="TextBox 15"/>
          <p:cNvSpPr txBox="1"/>
          <p:nvPr/>
        </p:nvSpPr>
        <p:spPr>
          <a:xfrm>
            <a:off x="3529584" y="2650845"/>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250</a:t>
            </a:r>
          </a:p>
        </p:txBody>
      </p:sp>
      <p:sp>
        <p:nvSpPr>
          <p:cNvPr id="17" name="TextBox 16"/>
          <p:cNvSpPr txBox="1"/>
          <p:nvPr/>
        </p:nvSpPr>
        <p:spPr>
          <a:xfrm>
            <a:off x="4215384" y="2650845"/>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0.156</a:t>
            </a:r>
          </a:p>
        </p:txBody>
      </p:sp>
      <p:sp>
        <p:nvSpPr>
          <p:cNvPr id="18" name="Rounded Rectangle 17"/>
          <p:cNvSpPr/>
          <p:nvPr/>
        </p:nvSpPr>
        <p:spPr>
          <a:xfrm>
            <a:off x="5120640" y="2650845"/>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84064" y="2650845"/>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$7,020</a:t>
            </a:r>
          </a:p>
        </p:txBody>
      </p:sp>
      <p:sp>
        <p:nvSpPr>
          <p:cNvPr id="20" name="TextBox 19"/>
          <p:cNvSpPr txBox="1"/>
          <p:nvPr/>
        </p:nvSpPr>
        <p:spPr>
          <a:xfrm>
            <a:off x="2752344" y="2977286"/>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47</a:t>
            </a:r>
          </a:p>
        </p:txBody>
      </p:sp>
      <p:sp>
        <p:nvSpPr>
          <p:cNvPr id="21" name="TextBox 20"/>
          <p:cNvSpPr txBox="1"/>
          <p:nvPr/>
        </p:nvSpPr>
        <p:spPr>
          <a:xfrm>
            <a:off x="3529584" y="2977286"/>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22" name="TextBox 21"/>
          <p:cNvSpPr txBox="1"/>
          <p:nvPr/>
        </p:nvSpPr>
        <p:spPr>
          <a:xfrm>
            <a:off x="4215384" y="2977286"/>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0.094</a:t>
            </a:r>
          </a:p>
        </p:txBody>
      </p:sp>
      <p:sp>
        <p:nvSpPr>
          <p:cNvPr id="23" name="Rounded Rectangle 22"/>
          <p:cNvSpPr/>
          <p:nvPr/>
        </p:nvSpPr>
        <p:spPr>
          <a:xfrm>
            <a:off x="5120640" y="2977286"/>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84064" y="2977286"/>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$4,230</a:t>
            </a:r>
          </a:p>
        </p:txBody>
      </p:sp>
      <p:sp>
        <p:nvSpPr>
          <p:cNvPr id="25" name="TextBox 24"/>
          <p:cNvSpPr txBox="1"/>
          <p:nvPr/>
        </p:nvSpPr>
        <p:spPr>
          <a:xfrm>
            <a:off x="2752344" y="3303727"/>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32</a:t>
            </a:r>
          </a:p>
        </p:txBody>
      </p:sp>
      <p:sp>
        <p:nvSpPr>
          <p:cNvPr id="26" name="TextBox 25"/>
          <p:cNvSpPr txBox="1"/>
          <p:nvPr/>
        </p:nvSpPr>
        <p:spPr>
          <a:xfrm>
            <a:off x="3529584" y="3303727"/>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27" name="TextBox 26"/>
          <p:cNvSpPr txBox="1"/>
          <p:nvPr/>
        </p:nvSpPr>
        <p:spPr>
          <a:xfrm>
            <a:off x="4215384" y="3303727"/>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0.064</a:t>
            </a:r>
          </a:p>
        </p:txBody>
      </p:sp>
      <p:sp>
        <p:nvSpPr>
          <p:cNvPr id="28" name="Rounded Rectangle 27"/>
          <p:cNvSpPr/>
          <p:nvPr/>
        </p:nvSpPr>
        <p:spPr>
          <a:xfrm>
            <a:off x="5120640" y="3303727"/>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84064" y="3303727"/>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$2,880</a:t>
            </a:r>
          </a:p>
        </p:txBody>
      </p:sp>
      <p:sp>
        <p:nvSpPr>
          <p:cNvPr id="30" name="TextBox 29"/>
          <p:cNvSpPr txBox="1"/>
          <p:nvPr/>
        </p:nvSpPr>
        <p:spPr>
          <a:xfrm>
            <a:off x="2752344" y="3630167"/>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26</a:t>
            </a:r>
          </a:p>
        </p:txBody>
      </p:sp>
      <p:sp>
        <p:nvSpPr>
          <p:cNvPr id="31" name="TextBox 30"/>
          <p:cNvSpPr txBox="1"/>
          <p:nvPr/>
        </p:nvSpPr>
        <p:spPr>
          <a:xfrm>
            <a:off x="3529584" y="3630167"/>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32" name="TextBox 31"/>
          <p:cNvSpPr txBox="1"/>
          <p:nvPr/>
        </p:nvSpPr>
        <p:spPr>
          <a:xfrm>
            <a:off x="4215384" y="3630167"/>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0.052</a:t>
            </a:r>
          </a:p>
        </p:txBody>
      </p:sp>
      <p:sp>
        <p:nvSpPr>
          <p:cNvPr id="33" name="Rounded Rectangle 32"/>
          <p:cNvSpPr/>
          <p:nvPr/>
        </p:nvSpPr>
        <p:spPr>
          <a:xfrm>
            <a:off x="5120640" y="3630167"/>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84064" y="3630167"/>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$2,340</a:t>
            </a:r>
          </a:p>
        </p:txBody>
      </p:sp>
      <p:sp>
        <p:nvSpPr>
          <p:cNvPr id="35" name="TextBox 34"/>
          <p:cNvSpPr txBox="1"/>
          <p:nvPr/>
        </p:nvSpPr>
        <p:spPr>
          <a:xfrm>
            <a:off x="2752344" y="3956608"/>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21</a:t>
            </a:r>
          </a:p>
        </p:txBody>
      </p:sp>
      <p:sp>
        <p:nvSpPr>
          <p:cNvPr id="36" name="TextBox 35"/>
          <p:cNvSpPr txBox="1"/>
          <p:nvPr/>
        </p:nvSpPr>
        <p:spPr>
          <a:xfrm>
            <a:off x="3529584" y="3956608"/>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37" name="TextBox 36"/>
          <p:cNvSpPr txBox="1"/>
          <p:nvPr/>
        </p:nvSpPr>
        <p:spPr>
          <a:xfrm>
            <a:off x="4215384" y="3956608"/>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0.042</a:t>
            </a:r>
          </a:p>
        </p:txBody>
      </p:sp>
      <p:sp>
        <p:nvSpPr>
          <p:cNvPr id="38" name="Rounded Rectangle 37"/>
          <p:cNvSpPr/>
          <p:nvPr/>
        </p:nvSpPr>
        <p:spPr>
          <a:xfrm>
            <a:off x="5120640" y="3956608"/>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84064" y="3956608"/>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$1,890</a:t>
            </a:r>
          </a:p>
        </p:txBody>
      </p:sp>
      <p:sp>
        <p:nvSpPr>
          <p:cNvPr id="40" name="TextBox 39"/>
          <p:cNvSpPr txBox="1"/>
          <p:nvPr/>
        </p:nvSpPr>
        <p:spPr>
          <a:xfrm>
            <a:off x="2752344" y="4283049"/>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18</a:t>
            </a:r>
          </a:p>
        </p:txBody>
      </p:sp>
      <p:sp>
        <p:nvSpPr>
          <p:cNvPr id="41" name="TextBox 40"/>
          <p:cNvSpPr txBox="1"/>
          <p:nvPr/>
        </p:nvSpPr>
        <p:spPr>
          <a:xfrm>
            <a:off x="3529584" y="4283049"/>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42" name="TextBox 41"/>
          <p:cNvSpPr txBox="1"/>
          <p:nvPr/>
        </p:nvSpPr>
        <p:spPr>
          <a:xfrm>
            <a:off x="4215384" y="4283049"/>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0.036</a:t>
            </a:r>
          </a:p>
        </p:txBody>
      </p:sp>
      <p:sp>
        <p:nvSpPr>
          <p:cNvPr id="43" name="Rounded Rectangle 42"/>
          <p:cNvSpPr/>
          <p:nvPr/>
        </p:nvSpPr>
        <p:spPr>
          <a:xfrm>
            <a:off x="5120640" y="4283049"/>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84064" y="4283049"/>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$1,620</a:t>
            </a:r>
          </a:p>
        </p:txBody>
      </p:sp>
      <p:sp>
        <p:nvSpPr>
          <p:cNvPr id="45" name="TextBox 44"/>
          <p:cNvSpPr txBox="1"/>
          <p:nvPr/>
        </p:nvSpPr>
        <p:spPr>
          <a:xfrm>
            <a:off x="2752344" y="4609490"/>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17</a:t>
            </a:r>
          </a:p>
        </p:txBody>
      </p:sp>
      <p:sp>
        <p:nvSpPr>
          <p:cNvPr id="46" name="TextBox 45"/>
          <p:cNvSpPr txBox="1"/>
          <p:nvPr/>
        </p:nvSpPr>
        <p:spPr>
          <a:xfrm>
            <a:off x="3529584" y="4609490"/>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47" name="TextBox 46"/>
          <p:cNvSpPr txBox="1"/>
          <p:nvPr/>
        </p:nvSpPr>
        <p:spPr>
          <a:xfrm>
            <a:off x="4215384" y="4609490"/>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0.034</a:t>
            </a:r>
          </a:p>
        </p:txBody>
      </p:sp>
      <p:sp>
        <p:nvSpPr>
          <p:cNvPr id="48" name="Rounded Rectangle 47"/>
          <p:cNvSpPr/>
          <p:nvPr/>
        </p:nvSpPr>
        <p:spPr>
          <a:xfrm>
            <a:off x="5120640" y="4609490"/>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84064" y="4609490"/>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$1,530</a:t>
            </a:r>
          </a:p>
        </p:txBody>
      </p:sp>
      <p:sp>
        <p:nvSpPr>
          <p:cNvPr id="50" name="TextBox 49"/>
          <p:cNvSpPr txBox="1"/>
          <p:nvPr/>
        </p:nvSpPr>
        <p:spPr>
          <a:xfrm>
            <a:off x="2752344" y="4935931"/>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15</a:t>
            </a:r>
          </a:p>
        </p:txBody>
      </p:sp>
      <p:sp>
        <p:nvSpPr>
          <p:cNvPr id="51" name="TextBox 50"/>
          <p:cNvSpPr txBox="1"/>
          <p:nvPr/>
        </p:nvSpPr>
        <p:spPr>
          <a:xfrm>
            <a:off x="3529584" y="4935931"/>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52" name="TextBox 51"/>
          <p:cNvSpPr txBox="1"/>
          <p:nvPr/>
        </p:nvSpPr>
        <p:spPr>
          <a:xfrm>
            <a:off x="4215384" y="4935931"/>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0.030</a:t>
            </a:r>
          </a:p>
        </p:txBody>
      </p:sp>
      <p:sp>
        <p:nvSpPr>
          <p:cNvPr id="53" name="Rounded Rectangle 52"/>
          <p:cNvSpPr/>
          <p:nvPr/>
        </p:nvSpPr>
        <p:spPr>
          <a:xfrm>
            <a:off x="5120640" y="4935931"/>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084064" y="4935931"/>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$1,350</a:t>
            </a:r>
          </a:p>
        </p:txBody>
      </p:sp>
      <p:sp>
        <p:nvSpPr>
          <p:cNvPr id="55" name="TextBox 54"/>
          <p:cNvSpPr txBox="1"/>
          <p:nvPr/>
        </p:nvSpPr>
        <p:spPr>
          <a:xfrm>
            <a:off x="2752344" y="5262372"/>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14</a:t>
            </a:r>
          </a:p>
        </p:txBody>
      </p:sp>
      <p:sp>
        <p:nvSpPr>
          <p:cNvPr id="56" name="TextBox 55"/>
          <p:cNvSpPr txBox="1"/>
          <p:nvPr/>
        </p:nvSpPr>
        <p:spPr>
          <a:xfrm>
            <a:off x="3529584" y="5262372"/>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57" name="TextBox 56"/>
          <p:cNvSpPr txBox="1"/>
          <p:nvPr/>
        </p:nvSpPr>
        <p:spPr>
          <a:xfrm>
            <a:off x="4215384" y="5262372"/>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0.028</a:t>
            </a:r>
          </a:p>
        </p:txBody>
      </p:sp>
      <p:sp>
        <p:nvSpPr>
          <p:cNvPr id="58" name="Rounded Rectangle 57"/>
          <p:cNvSpPr/>
          <p:nvPr/>
        </p:nvSpPr>
        <p:spPr>
          <a:xfrm>
            <a:off x="5120640" y="5262372"/>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84064" y="5262372"/>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$1,260</a:t>
            </a:r>
          </a:p>
        </p:txBody>
      </p:sp>
      <p:sp>
        <p:nvSpPr>
          <p:cNvPr id="60" name="TextBox 59"/>
          <p:cNvSpPr txBox="1"/>
          <p:nvPr/>
        </p:nvSpPr>
        <p:spPr>
          <a:xfrm>
            <a:off x="2752344" y="5588812"/>
            <a:ext cx="777240" cy="310896"/>
          </a:xfrm>
          <a:prstGeom prst="rect">
            <a:avLst/>
          </a:prstGeom>
          <a:noFill/>
        </p:spPr>
        <p:txBody>
          <a:bodyPr wrap="square" lIns="18288" tIns="0" rIns="18288" bIns="0" anchor="ctr">
            <a:noAutofit/>
          </a:bodyPr>
          <a:lstStyle/>
          <a:p>
            <a:pPr algn="ctr"/>
            <a:r>
              <a:rPr sz="1600" b="0">
                <a:solidFill>
                  <a:srgbClr val="1B5E20"/>
                </a:solidFill>
                <a:latin typeface="Calibri"/>
              </a:rPr>
              <a:t>12</a:t>
            </a:r>
          </a:p>
        </p:txBody>
      </p:sp>
      <p:sp>
        <p:nvSpPr>
          <p:cNvPr id="61" name="TextBox 60"/>
          <p:cNvSpPr txBox="1"/>
          <p:nvPr/>
        </p:nvSpPr>
        <p:spPr>
          <a:xfrm>
            <a:off x="3529584" y="5588812"/>
            <a:ext cx="685800" cy="310896"/>
          </a:xfrm>
          <a:prstGeom prst="rect">
            <a:avLst/>
          </a:prstGeom>
          <a:noFill/>
        </p:spPr>
        <p:txBody>
          <a:bodyPr wrap="square" lIns="18288" tIns="0" rIns="18288" bIns="0" anchor="ctr">
            <a:noAutofit/>
          </a:bodyPr>
          <a:lstStyle/>
          <a:p>
            <a:pPr algn="ctr"/>
            <a:r>
              <a:rPr sz="1600" b="0">
                <a:solidFill>
                  <a:srgbClr val="1B5E20"/>
                </a:solidFill>
                <a:latin typeface="Calibri"/>
              </a:rPr>
              <a:t>500</a:t>
            </a:r>
          </a:p>
        </p:txBody>
      </p:sp>
      <p:sp>
        <p:nvSpPr>
          <p:cNvPr id="62" name="TextBox 61"/>
          <p:cNvSpPr txBox="1"/>
          <p:nvPr/>
        </p:nvSpPr>
        <p:spPr>
          <a:xfrm>
            <a:off x="4215384" y="5588812"/>
            <a:ext cx="868680" cy="310896"/>
          </a:xfrm>
          <a:prstGeom prst="rect">
            <a:avLst/>
          </a:prstGeom>
          <a:noFill/>
        </p:spPr>
        <p:txBody>
          <a:bodyPr wrap="square" lIns="18288" tIns="0" rIns="18288" bIns="0" anchor="ctr">
            <a:noAutofit/>
          </a:bodyPr>
          <a:lstStyle/>
          <a:p>
            <a:pPr algn="ctr"/>
            <a:r>
              <a:rPr sz="1600" b="1">
                <a:solidFill>
                  <a:srgbClr val="0070C0"/>
                </a:solidFill>
                <a:latin typeface="Calibri"/>
              </a:rPr>
              <a:t>0.024</a:t>
            </a:r>
          </a:p>
        </p:txBody>
      </p:sp>
      <p:sp>
        <p:nvSpPr>
          <p:cNvPr id="63" name="Rounded Rectangle 62"/>
          <p:cNvSpPr/>
          <p:nvPr/>
        </p:nvSpPr>
        <p:spPr>
          <a:xfrm>
            <a:off x="5120640" y="5588812"/>
            <a:ext cx="886968" cy="310896"/>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84064" y="5588812"/>
            <a:ext cx="960120" cy="310896"/>
          </a:xfrm>
          <a:prstGeom prst="rect">
            <a:avLst/>
          </a:prstGeom>
          <a:noFill/>
        </p:spPr>
        <p:txBody>
          <a:bodyPr wrap="square" lIns="18288" tIns="0" rIns="18288" bIns="0" anchor="ctr">
            <a:noAutofit/>
          </a:bodyPr>
          <a:lstStyle/>
          <a:p>
            <a:pPr algn="ctr"/>
            <a:r>
              <a:rPr sz="1600" b="1">
                <a:solidFill>
                  <a:srgbClr val="0070C0"/>
                </a:solidFill>
                <a:latin typeface="Calibri"/>
              </a:rPr>
              <a:t>$1,080</a:t>
            </a:r>
          </a:p>
        </p:txBody>
      </p:sp>
      <p:sp>
        <p:nvSpPr>
          <p:cNvPr id="65" name="Rectangle 64"/>
          <p:cNvSpPr/>
          <p:nvPr/>
        </p:nvSpPr>
        <p:spPr>
          <a:xfrm>
            <a:off x="6764731" y="1826971"/>
            <a:ext cx="960120" cy="4080509"/>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764731" y="1826971"/>
            <a:ext cx="960120" cy="32644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lIns="45720" tIns="27432" rIns="45720" bIns="27432" rtlCol="0" anchor="ctr"/>
          <a:lstStyle/>
          <a:p>
            <a:pPr algn="ctr"/>
            <a:r>
              <a:rPr sz="1600" b="1">
                <a:solidFill>
                  <a:srgbClr val="FFFFFF"/>
                </a:solidFill>
                <a:latin typeface="Calibri"/>
              </a:rPr>
              <a:t>Wage</a:t>
            </a:r>
          </a:p>
        </p:txBody>
      </p:sp>
      <p:sp>
        <p:nvSpPr>
          <p:cNvPr id="67" name="Rounded Rectangle 66"/>
          <p:cNvSpPr/>
          <p:nvPr/>
        </p:nvSpPr>
        <p:spPr>
          <a:xfrm>
            <a:off x="6801307" y="2316632"/>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68" name="Rounded Rectangle 67"/>
          <p:cNvSpPr/>
          <p:nvPr/>
        </p:nvSpPr>
        <p:spPr>
          <a:xfrm>
            <a:off x="6801307" y="2643073"/>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69" name="Rounded Rectangle 68"/>
          <p:cNvSpPr/>
          <p:nvPr/>
        </p:nvSpPr>
        <p:spPr>
          <a:xfrm>
            <a:off x="6801307" y="2969514"/>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0" name="Rounded Rectangle 69"/>
          <p:cNvSpPr/>
          <p:nvPr/>
        </p:nvSpPr>
        <p:spPr>
          <a:xfrm>
            <a:off x="6801307" y="3295955"/>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1" name="Rounded Rectangle 70"/>
          <p:cNvSpPr/>
          <p:nvPr/>
        </p:nvSpPr>
        <p:spPr>
          <a:xfrm>
            <a:off x="6801307" y="3622395"/>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2" name="Rounded Rectangle 71"/>
          <p:cNvSpPr/>
          <p:nvPr/>
        </p:nvSpPr>
        <p:spPr>
          <a:xfrm>
            <a:off x="6801307" y="3948836"/>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3" name="Rounded Rectangle 72"/>
          <p:cNvSpPr/>
          <p:nvPr/>
        </p:nvSpPr>
        <p:spPr>
          <a:xfrm>
            <a:off x="6801307" y="4275277"/>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4" name="Rounded Rectangle 73"/>
          <p:cNvSpPr/>
          <p:nvPr/>
        </p:nvSpPr>
        <p:spPr>
          <a:xfrm>
            <a:off x="6801307" y="4601718"/>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5" name="Rounded Rectangle 74"/>
          <p:cNvSpPr/>
          <p:nvPr/>
        </p:nvSpPr>
        <p:spPr>
          <a:xfrm>
            <a:off x="6801307" y="4928159"/>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6" name="Rounded Rectangle 75"/>
          <p:cNvSpPr/>
          <p:nvPr/>
        </p:nvSpPr>
        <p:spPr>
          <a:xfrm>
            <a:off x="6801307" y="5254600"/>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sp>
        <p:nvSpPr>
          <p:cNvPr id="77" name="Rounded Rectangle 76"/>
          <p:cNvSpPr/>
          <p:nvPr/>
        </p:nvSpPr>
        <p:spPr>
          <a:xfrm>
            <a:off x="6801307" y="5581040"/>
            <a:ext cx="886968" cy="326440"/>
          </a:xfrm>
          <a:prstGeom prst="roundRect">
            <a:avLst>
              <a:gd name="adj" fmla="val 18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600" b="1">
                <a:solidFill>
                  <a:srgbClr val="0070C0"/>
                </a:solidFill>
                <a:latin typeface="Calibri"/>
              </a:rPr>
              <a:t>$1,500</a:t>
            </a:r>
          </a:p>
        </p:txBody>
      </p:sp>
      <p:cxnSp>
        <p:nvCxnSpPr>
          <p:cNvPr id="78" name="Connector 77"/>
          <p:cNvCxnSpPr/>
          <p:nvPr/>
        </p:nvCxnSpPr>
        <p:spPr>
          <a:xfrm>
            <a:off x="6404457" y="2635300"/>
            <a:ext cx="0" cy="1891894"/>
          </a:xfrm>
          <a:prstGeom prst="line">
            <a:avLst/>
          </a:prstGeom>
          <a:ln w="44450">
            <a:solidFill>
              <a:srgbClr val="0B2B4E"/>
            </a:solidFill>
            <a:tailEnd type="triangle" w="med"/>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404457" y="5002682"/>
            <a:ext cx="0" cy="586130"/>
          </a:xfrm>
          <a:prstGeom prst="line">
            <a:avLst/>
          </a:prstGeom>
          <a:ln w="44450">
            <a:solidFill>
              <a:srgbClr val="0B2B4E"/>
            </a:solidFill>
            <a:tailEnd type="triangle" w="med"/>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221577" y="4582058"/>
            <a:ext cx="365760" cy="365760"/>
          </a:xfrm>
          <a:prstGeom prst="rect">
            <a:avLst/>
          </a:prstGeom>
          <a:noFill/>
          <a:effectLst>
            <a:outerShdw blurRad="50800" dist="38100" dir="2700000" algn="tl" rotWithShape="0">
              <a:srgbClr val="000000">
                <a:alpha val="45000"/>
              </a:srgbClr>
            </a:outerShdw>
          </a:effectLst>
        </p:spPr>
        <p:txBody>
          <a:bodyPr wrap="none" lIns="0" tIns="0" rIns="0" bIns="0" anchor="ctr">
            <a:noAutofit/>
          </a:bodyPr>
          <a:lstStyle/>
          <a:p>
            <a:pPr algn="ctr"/>
            <a:r>
              <a:rPr sz="2800" b="1">
                <a:solidFill>
                  <a:srgbClr val="0B2B4E"/>
                </a:solidFill>
                <a:latin typeface="Calibri"/>
              </a:rPr>
              <a:t>≈</a:t>
            </a:r>
          </a:p>
        </p:txBody>
      </p:sp>
      <p:grpSp>
        <p:nvGrpSpPr>
          <p:cNvPr id="103" name="Group 103"/>
          <p:cNvGrpSpPr/>
          <p:nvPr/>
        </p:nvGrpSpPr>
        <p:grpSpPr>
          <a:xfrm>
            <a:off x="7999171" y="4488789"/>
            <a:ext cx="4107484" cy="615391"/>
            <a:chOff x="7999171" y="4488789"/>
            <a:chExt cx="4107484" cy="615391"/>
          </a:xfrm>
        </p:grpSpPr>
        <p:sp>
          <p:nvSpPr>
            <p:cNvPr id="81" name="Rounded Rectangle 80"/>
            <p:cNvSpPr/>
            <p:nvPr/>
          </p:nvSpPr>
          <p:spPr>
            <a:xfrm>
              <a:off x="7999171" y="4488789"/>
              <a:ext cx="4107484" cy="615391"/>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182051" y="4598517"/>
              <a:ext cx="3741724" cy="395935"/>
            </a:xfrm>
            <a:prstGeom prst="rect">
              <a:avLst/>
            </a:prstGeom>
            <a:noFill/>
          </p:spPr>
          <p:txBody>
            <a:bodyPr wrap="square" lIns="45720" tIns="0" rIns="45720" bIns="0" anchor="ctr">
              <a:spAutoFit/>
            </a:bodyPr>
            <a:lstStyle/>
            <a:p>
              <a:pPr algn="ctr"/>
              <a:r>
                <a:rPr sz="1900" b="1" i="0">
                  <a:solidFill>
                    <a:srgbClr val="0B2B4E"/>
                  </a:solidFill>
                  <a:latin typeface="Calibri"/>
                </a:rPr>
                <a:t>Optimal hiring</a:t>
              </a:r>
              <a:r>
                <a:rPr sz="1900" b="0" i="0">
                  <a:solidFill>
                    <a:srgbClr val="0B2B4E"/>
                  </a:solidFill>
                  <a:latin typeface="Calibri"/>
                </a:rPr>
                <a:t> falls into the interval between </a:t>
              </a:r>
              <a:r>
                <a:rPr sz="1900" b="1" i="0">
                  <a:solidFill>
                    <a:srgbClr val="0B2B4E"/>
                  </a:solidFill>
                  <a:latin typeface="Calibri"/>
                </a:rPr>
                <a:t>3,000</a:t>
              </a:r>
              <a:r>
                <a:rPr sz="1900" b="0" i="0">
                  <a:solidFill>
                    <a:srgbClr val="0B2B4E"/>
                  </a:solidFill>
                  <a:latin typeface="Calibri"/>
                </a:rPr>
                <a:t> and </a:t>
              </a:r>
              <a:r>
                <a:rPr sz="1900" b="1" i="0">
                  <a:solidFill>
                    <a:srgbClr val="0B2B4E"/>
                  </a:solidFill>
                  <a:latin typeface="Calibri"/>
                </a:rPr>
                <a:t>3,500</a:t>
              </a:r>
              <a:r>
                <a:rPr sz="1900" b="0" i="0">
                  <a:solidFill>
                    <a:srgbClr val="0B2B4E"/>
                  </a:solidFill>
                  <a:latin typeface="Calibri"/>
                </a:rPr>
                <a:t> workers</a:t>
              </a:r>
            </a:p>
          </p:txBody>
        </p:sp>
      </p:grpSp>
      <p:cxnSp>
        <p:nvCxnSpPr>
          <p:cNvPr id="83" name="Connector 82"/>
          <p:cNvCxnSpPr/>
          <p:nvPr/>
        </p:nvCxnSpPr>
        <p:spPr>
          <a:xfrm>
            <a:off x="7688275" y="4764938"/>
            <a:ext cx="310896" cy="31546"/>
          </a:xfrm>
          <a:prstGeom prst="line">
            <a:avLst/>
          </a:prstGeom>
          <a:ln w="44450">
            <a:solidFill>
              <a:srgbClr val="0B2B4E"/>
            </a:solidFill>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grpSp>
        <p:nvGrpSpPr>
          <p:cNvPr id="94" name="Group 93">
            <a:extLst>
              <a:ext uri="{FF2B5EF4-FFF2-40B4-BE49-F238E27FC236}">
                <a16:creationId xmlns:a16="http://schemas.microsoft.com/office/drawing/2014/main" id="{CE51B7F8-125F-9C87-61C8-E64E310FA0AF}"/>
              </a:ext>
            </a:extLst>
          </p:cNvPr>
          <p:cNvGrpSpPr/>
          <p:nvPr/>
        </p:nvGrpSpPr>
        <p:grpSpPr>
          <a:xfrm>
            <a:off x="5236311" y="5899708"/>
            <a:ext cx="2702052" cy="618500"/>
            <a:chOff x="5236311" y="5899708"/>
            <a:chExt cx="2702052" cy="618500"/>
          </a:xfrm>
        </p:grpSpPr>
        <p:sp>
          <p:nvSpPr>
            <p:cNvPr id="84" name="Rounded Rectangle 83"/>
            <p:cNvSpPr/>
            <p:nvPr/>
          </p:nvSpPr>
          <p:spPr>
            <a:xfrm>
              <a:off x="5236311" y="6088440"/>
              <a:ext cx="2702052" cy="429768"/>
            </a:xfrm>
            <a:prstGeom prst="roundRect">
              <a:avLst>
                <a:gd name="adj" fmla="val 15000"/>
              </a:avLst>
            </a:prstGeom>
            <a:no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5" name="TextBox 84"/>
                <p:cNvSpPr txBox="1"/>
                <p:nvPr/>
              </p:nvSpPr>
              <p:spPr>
                <a:xfrm>
                  <a:off x="5282031" y="6134160"/>
                  <a:ext cx="2610612" cy="338328"/>
                </a:xfrm>
                <a:prstGeom prst="rect">
                  <a:avLst/>
                </a:prstGeom>
                <a:noFill/>
              </p:spPr>
              <p:txBody>
                <a:bodyPr wrap="square" anchor="ctr">
                  <a:spAutoFit/>
                </a:bodyPr>
                <a:lstStyle/>
                <a:p>
                  <a:pPr algn="ctr">
                    <a:defRPr sz="1600" b="0" i="1">
                      <a:solidFill>
                        <a:srgbClr val="0B2B4E"/>
                      </a:solidFill>
                      <a:latin typeface="Cambria Math"/>
                    </a:defRPr>
                  </a:pPr>
                  <a14:m>
                    <m:oMathPara xmlns:m="http://schemas.openxmlformats.org/officeDocument/2006/math">
                      <m:oMath>
                        <m:r>
                          <m:rPr>
                            <m:sty m:val="p"/>
                          </m:rPr>
                          <a:rPr lang="en-US" sz="1600" b="0" i="0">
                            <a:latin typeface="Cambria Math"/>
                          </a:rPr>
                          <m:t>MRPL</m:t>
                        </m:r>
                        <m:r>
                          <a:rPr lang="en-US" sz="1600" b="0" i="0">
                            <a:latin typeface="Cambria Math"/>
                          </a:rPr>
                          <m:t> = $45,000 × </m:t>
                        </m:r>
                        <m:r>
                          <m:rPr>
                            <m:sty m:val="p"/>
                          </m:rPr>
                          <a:rPr lang="en-US" sz="1600" b="0" i="0">
                            <a:latin typeface="Cambria Math"/>
                          </a:rPr>
                          <m:t>MPL</m:t>
                        </m:r>
                      </m:oMath>
                    </m:oMathPara>
                  </a14:m>
                  <a:endParaRPr lang="en-US" sz="1600"/>
                </a:p>
              </p:txBody>
            </p:sp>
          </mc:Choice>
          <mc:Fallback xmlns="">
            <p:sp>
              <p:nvSpPr>
                <p:cNvPr id="85" name="TextBox 84"/>
                <p:cNvSpPr txBox="1">
                  <a:spLocks noRot="1" noChangeAspect="1" noMove="1" noResize="1" noEditPoints="1" noAdjustHandles="1" noChangeArrowheads="1" noChangeShapeType="1" noTextEdit="1"/>
                </p:cNvSpPr>
                <p:nvPr/>
              </p:nvSpPr>
              <p:spPr>
                <a:xfrm>
                  <a:off x="5282031" y="6134160"/>
                  <a:ext cx="2610612" cy="338328"/>
                </a:xfrm>
                <a:prstGeom prst="rect">
                  <a:avLst/>
                </a:prstGeom>
                <a:blipFill>
                  <a:blip r:embed="rId3"/>
                  <a:stretch>
                    <a:fillRect b="-3571"/>
                  </a:stretch>
                </a:blipFill>
              </p:spPr>
              <p:txBody>
                <a:bodyPr/>
                <a:lstStyle/>
                <a:p>
                  <a:r>
                    <a:rPr lang="en-US">
                      <a:noFill/>
                    </a:rPr>
                    <a:t> </a:t>
                  </a:r>
                </a:p>
              </p:txBody>
            </p:sp>
          </mc:Fallback>
        </mc:AlternateContent>
        <p:cxnSp>
          <p:nvCxnSpPr>
            <p:cNvPr id="86" name="Connector 85"/>
            <p:cNvCxnSpPr/>
            <p:nvPr/>
          </p:nvCxnSpPr>
          <p:spPr>
            <a:xfrm>
              <a:off x="5564124" y="5899708"/>
              <a:ext cx="0" cy="188732"/>
            </a:xfrm>
            <a:prstGeom prst="line">
              <a:avLst/>
            </a:prstGeom>
            <a:ln w="44450">
              <a:solidFill>
                <a:srgbClr val="0B2B4E"/>
              </a:solidFill>
            </a:ln>
          </p:spPr>
          <p:style>
            <a:lnRef idx="2">
              <a:schemeClr val="accent1"/>
            </a:lnRef>
            <a:fillRef idx="0">
              <a:schemeClr val="accent1"/>
            </a:fillRef>
            <a:effectRef idx="1">
              <a:schemeClr val="accent1"/>
            </a:effectRef>
            <a:fontRef idx="minor">
              <a:schemeClr val="tx1"/>
            </a:fontRef>
          </p:style>
        </p:cxnSp>
      </p:grpSp>
      <p:sp>
        <p:nvSpPr>
          <p:cNvPr id="87" name="12-Point Star 86"/>
          <p:cNvSpPr/>
          <p:nvPr/>
        </p:nvSpPr>
        <p:spPr>
          <a:xfrm>
            <a:off x="8962948" y="5426049"/>
            <a:ext cx="1463040" cy="9601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Box 87"/>
          <p:cNvSpPr txBox="1"/>
          <p:nvPr/>
        </p:nvSpPr>
        <p:spPr>
          <a:xfrm>
            <a:off x="9218980" y="5642076"/>
            <a:ext cx="950976" cy="528066"/>
          </a:xfrm>
          <a:prstGeom prst="rect">
            <a:avLst/>
          </a:prstGeom>
          <a:noFill/>
        </p:spPr>
        <p:txBody>
          <a:bodyPr wrap="square" lIns="0" tIns="0" rIns="0" bIns="0" anchor="ctr">
            <a:spAutoFit/>
          </a:bodyPr>
          <a:lstStyle/>
          <a:p>
            <a:pPr algn="ctr"/>
            <a:r>
              <a:rPr sz="1400" b="1">
                <a:solidFill>
                  <a:srgbClr val="0B2B4E"/>
                </a:solidFill>
                <a:latin typeface="Calibri"/>
              </a:rPr>
              <a:t>MB ≈ MC</a:t>
            </a:r>
          </a:p>
          <a:p>
            <a:pPr algn="ctr"/>
            <a:r>
              <a:rPr sz="1100" b="1" i="1">
                <a:solidFill>
                  <a:srgbClr val="0B2B4E"/>
                </a:solidFill>
                <a:latin typeface="Calibri"/>
              </a:rPr>
              <a:t>(of labor)</a:t>
            </a:r>
          </a:p>
        </p:txBody>
      </p:sp>
      <p:cxnSp>
        <p:nvCxnSpPr>
          <p:cNvPr id="89" name="Connector 88"/>
          <p:cNvCxnSpPr/>
          <p:nvPr/>
        </p:nvCxnSpPr>
        <p:spPr>
          <a:xfrm flipH="1" flipV="1">
            <a:off x="7724851" y="4920386"/>
            <a:ext cx="1410005" cy="914400"/>
          </a:xfrm>
          <a:prstGeom prst="line">
            <a:avLst/>
          </a:prstGeom>
          <a:ln w="254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93" name="TextBox 92"/>
          <p:cNvSpPr txBox="1"/>
          <p:nvPr/>
        </p:nvSpPr>
        <p:spPr>
          <a:xfrm>
            <a:off x="11430000" y="6583680"/>
            <a:ext cx="548640" cy="292608"/>
          </a:xfrm>
          <a:prstGeom prst="rect">
            <a:avLst/>
          </a:prstGeom>
          <a:noFill/>
        </p:spPr>
        <p:txBody>
          <a:bodyPr wrap="square" lIns="0" tIns="0" rIns="0" bIns="0">
            <a:spAutoFit/>
          </a:bodyPr>
          <a:lstStyle/>
          <a:p>
            <a:pPr algn="r"/>
            <a:fld id="{2A542476-960C-4D17-BFB3-B6B5760EAC4C}" type="slidenum">
              <a:rPr sz="1200" b="0" i="0">
                <a:solidFill>
                  <a:srgbClr val="555B66"/>
                </a:solidFill>
                <a:latin typeface="Calibri"/>
              </a:rPr>
              <a:t>13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500"/>
                                        <p:tgtEl>
                                          <p:spTgt spid="37"/>
                                        </p:tgtEl>
                                      </p:cBhvr>
                                    </p:animEffect>
                                  </p:childTnLst>
                                </p:cTn>
                              </p:par>
                              <p:par>
                                <p:cTn id="95" presetID="10" presetClass="entr" presetSubtype="0" fill="hold"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50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500"/>
                                        <p:tgtEl>
                                          <p:spTgt spid="39"/>
                                        </p:tgtEl>
                                      </p:cBhvr>
                                    </p:animEffect>
                                  </p:childTnLst>
                                </p:cTn>
                              </p:par>
                              <p:par>
                                <p:cTn id="101" presetID="10" presetClass="entr" presetSubtype="0" fill="hold" nodeType="with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0"/>
                                        <p:tgtEl>
                                          <p:spTgt spid="40"/>
                                        </p:tgtEl>
                                      </p:cBhvr>
                                    </p:animEffect>
                                  </p:childTnLst>
                                </p:cTn>
                              </p:par>
                              <p:par>
                                <p:cTn id="104" presetID="10" presetClass="entr" presetSubtype="0" fill="hold" nodeType="with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500"/>
                                        <p:tgtEl>
                                          <p:spTgt spid="41"/>
                                        </p:tgtEl>
                                      </p:cBhvr>
                                    </p:animEffect>
                                  </p:childTnLst>
                                </p:cTn>
                              </p:par>
                              <p:par>
                                <p:cTn id="107" presetID="10" presetClass="entr" presetSubtype="0" fill="hold" nodeType="with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500"/>
                                        <p:tgtEl>
                                          <p:spTgt spid="42"/>
                                        </p:tgtEl>
                                      </p:cBhvr>
                                    </p:animEffect>
                                  </p:childTnLst>
                                </p:cTn>
                              </p:par>
                              <p:par>
                                <p:cTn id="110" presetID="10" presetClass="entr" presetSubtype="0" fill="hold" nodeType="with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500"/>
                                        <p:tgtEl>
                                          <p:spTgt spid="43"/>
                                        </p:tgtEl>
                                      </p:cBhvr>
                                    </p:animEffect>
                                  </p:childTnLst>
                                </p:cTn>
                              </p:par>
                              <p:par>
                                <p:cTn id="113" presetID="10" presetClass="entr" presetSubtype="0" fill="hold" nodeType="with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500"/>
                                        <p:tgtEl>
                                          <p:spTgt spid="44"/>
                                        </p:tgtEl>
                                      </p:cBhvr>
                                    </p:animEffect>
                                  </p:childTnLst>
                                </p:cTn>
                              </p:par>
                              <p:par>
                                <p:cTn id="116" presetID="10" presetClass="entr" presetSubtype="0" fill="hold" nodeType="with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8" dur="500"/>
                                        <p:tgtEl>
                                          <p:spTgt spid="45"/>
                                        </p:tgtEl>
                                      </p:cBhvr>
                                    </p:animEffect>
                                  </p:childTnLst>
                                </p:cTn>
                              </p:par>
                              <p:par>
                                <p:cTn id="119" presetID="10" presetClass="entr" presetSubtype="0" fill="hold" nodeType="with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21" dur="500"/>
                                        <p:tgtEl>
                                          <p:spTgt spid="46"/>
                                        </p:tgtEl>
                                      </p:cBhvr>
                                    </p:animEffect>
                                  </p:childTnLst>
                                </p:cTn>
                              </p:par>
                              <p:par>
                                <p:cTn id="122" presetID="10" presetClass="entr" presetSubtype="0" fill="hold" nodeType="withEffect">
                                  <p:stCondLst>
                                    <p:cond delay="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4" dur="500"/>
                                        <p:tgtEl>
                                          <p:spTgt spid="47"/>
                                        </p:tgtEl>
                                      </p:cBhvr>
                                    </p:animEffect>
                                  </p:childTnLst>
                                </p:cTn>
                              </p:par>
                              <p:par>
                                <p:cTn id="125" presetID="10" presetClass="entr" presetSubtype="0" fill="hold" nodeType="with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7" dur="500"/>
                                        <p:tgtEl>
                                          <p:spTgt spid="48"/>
                                        </p:tgtEl>
                                      </p:cBhvr>
                                    </p:animEffect>
                                  </p:childTnLst>
                                </p:cTn>
                              </p:par>
                              <p:par>
                                <p:cTn id="128" presetID="10" presetClass="entr" presetSubtype="0" fill="hold" nodeType="with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30" dur="500"/>
                                        <p:tgtEl>
                                          <p:spTgt spid="49"/>
                                        </p:tgtEl>
                                      </p:cBhvr>
                                    </p:animEffect>
                                  </p:childTnLst>
                                </p:cTn>
                              </p:par>
                              <p:par>
                                <p:cTn id="131" presetID="10" presetClass="entr" presetSubtype="0" fill="hold" nodeType="with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500"/>
                                        <p:tgtEl>
                                          <p:spTgt spid="50"/>
                                        </p:tgtEl>
                                      </p:cBhvr>
                                    </p:animEffect>
                                  </p:childTnLst>
                                </p:cTn>
                              </p:par>
                              <p:par>
                                <p:cTn id="134" presetID="10" presetClass="entr" presetSubtype="0" fill="hold"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500"/>
                                        <p:tgtEl>
                                          <p:spTgt spid="51"/>
                                        </p:tgtEl>
                                      </p:cBhvr>
                                    </p:animEffect>
                                  </p:childTnLst>
                                </p:cTn>
                              </p:par>
                              <p:par>
                                <p:cTn id="137" presetID="10" presetClass="entr" presetSubtype="0" fill="hold"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50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500"/>
                                        <p:tgtEl>
                                          <p:spTgt spid="53"/>
                                        </p:tgtEl>
                                      </p:cBhvr>
                                    </p:animEffect>
                                  </p:childTnLst>
                                </p:cTn>
                              </p:par>
                              <p:par>
                                <p:cTn id="143" presetID="10" presetClass="entr" presetSubtype="0" fill="hold"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5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500"/>
                                        <p:tgtEl>
                                          <p:spTgt spid="55"/>
                                        </p:tgtEl>
                                      </p:cBhvr>
                                    </p:animEffect>
                                  </p:childTnLst>
                                </p:cTn>
                              </p:par>
                              <p:par>
                                <p:cTn id="149" presetID="10" presetClass="entr" presetSubtype="0" fill="hold"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500"/>
                                        <p:tgtEl>
                                          <p:spTgt spid="56"/>
                                        </p:tgtEl>
                                      </p:cBhvr>
                                    </p:animEffect>
                                  </p:childTnLst>
                                </p:cTn>
                              </p:par>
                              <p:par>
                                <p:cTn id="152" presetID="10" presetClass="entr" presetSubtype="0" fill="hold"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500"/>
                                        <p:tgtEl>
                                          <p:spTgt spid="57"/>
                                        </p:tgtEl>
                                      </p:cBhvr>
                                    </p:animEffect>
                                  </p:childTnLst>
                                </p:cTn>
                              </p:par>
                              <p:par>
                                <p:cTn id="155" presetID="10" presetClass="entr" presetSubtype="0" fill="hold"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5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500"/>
                                        <p:tgtEl>
                                          <p:spTgt spid="59"/>
                                        </p:tgtEl>
                                      </p:cBhvr>
                                    </p:animEffect>
                                  </p:childTnLst>
                                </p:cTn>
                              </p:par>
                              <p:par>
                                <p:cTn id="161" presetID="10" presetClass="entr" presetSubtype="0" fill="hold"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5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500"/>
                                        <p:tgtEl>
                                          <p:spTgt spid="61"/>
                                        </p:tgtEl>
                                      </p:cBhvr>
                                    </p:animEffect>
                                  </p:childTnLst>
                                </p:cTn>
                              </p:par>
                              <p:par>
                                <p:cTn id="167" presetID="10" presetClass="entr" presetSubtype="0" fill="hold"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5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500"/>
                                        <p:tgtEl>
                                          <p:spTgt spid="63"/>
                                        </p:tgtEl>
                                      </p:cBhvr>
                                    </p:animEffect>
                                  </p:childTnLst>
                                </p:cTn>
                              </p:par>
                              <p:par>
                                <p:cTn id="173" presetID="10" presetClass="entr" presetSubtype="0" fill="hold"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500"/>
                                        <p:tgtEl>
                                          <p:spTgt spid="64"/>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nodeType="clickEffect">
                                  <p:stCondLst>
                                    <p:cond delay="0"/>
                                  </p:stCondLst>
                                  <p:childTnLst>
                                    <p:set>
                                      <p:cBhvr>
                                        <p:cTn id="179" dur="1" fill="hold">
                                          <p:stCondLst>
                                            <p:cond delay="0"/>
                                          </p:stCondLst>
                                        </p:cTn>
                                        <p:tgtEl>
                                          <p:spTgt spid="94"/>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0" presetClass="entr" presetSubtype="0" fill="hold" nodeType="clickEffect">
                                  <p:stCondLst>
                                    <p:cond delay="0"/>
                                  </p:stCondLst>
                                  <p:childTnLst>
                                    <p:set>
                                      <p:cBhvr>
                                        <p:cTn id="183" dur="1" fill="hold">
                                          <p:stCondLst>
                                            <p:cond delay="0"/>
                                          </p:stCondLst>
                                        </p:cTn>
                                        <p:tgtEl>
                                          <p:spTgt spid="65"/>
                                        </p:tgtEl>
                                        <p:attrNameLst>
                                          <p:attrName>style.visibility</p:attrName>
                                        </p:attrNameLst>
                                      </p:cBhvr>
                                      <p:to>
                                        <p:strVal val="visible"/>
                                      </p:to>
                                    </p:set>
                                    <p:animEffect transition="in" filter="fade">
                                      <p:cBhvr>
                                        <p:cTn id="184" dur="500"/>
                                        <p:tgtEl>
                                          <p:spTgt spid="65"/>
                                        </p:tgtEl>
                                      </p:cBhvr>
                                    </p:animEffect>
                                  </p:childTnLst>
                                </p:cTn>
                              </p:par>
                              <p:par>
                                <p:cTn id="185" presetID="10" presetClass="entr" presetSubtype="0" fill="hold" nodeType="withEffect">
                                  <p:stCondLst>
                                    <p:cond delay="0"/>
                                  </p:stCondLst>
                                  <p:childTnLst>
                                    <p:set>
                                      <p:cBhvr>
                                        <p:cTn id="186" dur="1" fill="hold">
                                          <p:stCondLst>
                                            <p:cond delay="0"/>
                                          </p:stCondLst>
                                        </p:cTn>
                                        <p:tgtEl>
                                          <p:spTgt spid="66"/>
                                        </p:tgtEl>
                                        <p:attrNameLst>
                                          <p:attrName>style.visibility</p:attrName>
                                        </p:attrNameLst>
                                      </p:cBhvr>
                                      <p:to>
                                        <p:strVal val="visible"/>
                                      </p:to>
                                    </p:set>
                                    <p:animEffect transition="in" filter="fade">
                                      <p:cBhvr>
                                        <p:cTn id="187" dur="500"/>
                                        <p:tgtEl>
                                          <p:spTgt spid="66"/>
                                        </p:tgtEl>
                                      </p:cBhvr>
                                    </p:animEffect>
                                  </p:childTnLst>
                                </p:cTn>
                              </p:par>
                              <p:par>
                                <p:cTn id="188" presetID="10" presetClass="entr" presetSubtype="0" fill="hold" nodeType="withEffect">
                                  <p:stCondLst>
                                    <p:cond delay="0"/>
                                  </p:stCondLst>
                                  <p:childTnLst>
                                    <p:set>
                                      <p:cBhvr>
                                        <p:cTn id="189" dur="1" fill="hold">
                                          <p:stCondLst>
                                            <p:cond delay="0"/>
                                          </p:stCondLst>
                                        </p:cTn>
                                        <p:tgtEl>
                                          <p:spTgt spid="67"/>
                                        </p:tgtEl>
                                        <p:attrNameLst>
                                          <p:attrName>style.visibility</p:attrName>
                                        </p:attrNameLst>
                                      </p:cBhvr>
                                      <p:to>
                                        <p:strVal val="visible"/>
                                      </p:to>
                                    </p:set>
                                    <p:animEffect transition="in" filter="fade">
                                      <p:cBhvr>
                                        <p:cTn id="190" dur="500"/>
                                        <p:tgtEl>
                                          <p:spTgt spid="67"/>
                                        </p:tgtEl>
                                      </p:cBhvr>
                                    </p:animEffect>
                                  </p:childTnLst>
                                </p:cTn>
                              </p:par>
                              <p:par>
                                <p:cTn id="191" presetID="10" presetClass="entr" presetSubtype="0" fill="hold" nodeType="withEffect">
                                  <p:stCondLst>
                                    <p:cond delay="0"/>
                                  </p:stCondLst>
                                  <p:childTnLst>
                                    <p:set>
                                      <p:cBhvr>
                                        <p:cTn id="192" dur="1" fill="hold">
                                          <p:stCondLst>
                                            <p:cond delay="0"/>
                                          </p:stCondLst>
                                        </p:cTn>
                                        <p:tgtEl>
                                          <p:spTgt spid="68"/>
                                        </p:tgtEl>
                                        <p:attrNameLst>
                                          <p:attrName>style.visibility</p:attrName>
                                        </p:attrNameLst>
                                      </p:cBhvr>
                                      <p:to>
                                        <p:strVal val="visible"/>
                                      </p:to>
                                    </p:set>
                                    <p:animEffect transition="in" filter="fade">
                                      <p:cBhvr>
                                        <p:cTn id="193" dur="500"/>
                                        <p:tgtEl>
                                          <p:spTgt spid="68"/>
                                        </p:tgtEl>
                                      </p:cBhvr>
                                    </p:animEffect>
                                  </p:childTnLst>
                                </p:cTn>
                              </p:par>
                              <p:par>
                                <p:cTn id="194" presetID="10" presetClass="entr" presetSubtype="0" fill="hold" nodeType="withEffect">
                                  <p:stCondLst>
                                    <p:cond delay="0"/>
                                  </p:stCondLst>
                                  <p:childTnLst>
                                    <p:set>
                                      <p:cBhvr>
                                        <p:cTn id="195" dur="1" fill="hold">
                                          <p:stCondLst>
                                            <p:cond delay="0"/>
                                          </p:stCondLst>
                                        </p:cTn>
                                        <p:tgtEl>
                                          <p:spTgt spid="69"/>
                                        </p:tgtEl>
                                        <p:attrNameLst>
                                          <p:attrName>style.visibility</p:attrName>
                                        </p:attrNameLst>
                                      </p:cBhvr>
                                      <p:to>
                                        <p:strVal val="visible"/>
                                      </p:to>
                                    </p:set>
                                    <p:animEffect transition="in" filter="fade">
                                      <p:cBhvr>
                                        <p:cTn id="196" dur="500"/>
                                        <p:tgtEl>
                                          <p:spTgt spid="69"/>
                                        </p:tgtEl>
                                      </p:cBhvr>
                                    </p:animEffect>
                                  </p:childTnLst>
                                </p:cTn>
                              </p:par>
                              <p:par>
                                <p:cTn id="197" presetID="10" presetClass="entr" presetSubtype="0" fill="hold" nodeType="withEffect">
                                  <p:stCondLst>
                                    <p:cond delay="0"/>
                                  </p:stCondLst>
                                  <p:childTnLst>
                                    <p:set>
                                      <p:cBhvr>
                                        <p:cTn id="198" dur="1" fill="hold">
                                          <p:stCondLst>
                                            <p:cond delay="0"/>
                                          </p:stCondLst>
                                        </p:cTn>
                                        <p:tgtEl>
                                          <p:spTgt spid="70"/>
                                        </p:tgtEl>
                                        <p:attrNameLst>
                                          <p:attrName>style.visibility</p:attrName>
                                        </p:attrNameLst>
                                      </p:cBhvr>
                                      <p:to>
                                        <p:strVal val="visible"/>
                                      </p:to>
                                    </p:set>
                                    <p:animEffect transition="in" filter="fade">
                                      <p:cBhvr>
                                        <p:cTn id="199" dur="500"/>
                                        <p:tgtEl>
                                          <p:spTgt spid="70"/>
                                        </p:tgtEl>
                                      </p:cBhvr>
                                    </p:animEffect>
                                  </p:childTnLst>
                                </p:cTn>
                              </p:par>
                              <p:par>
                                <p:cTn id="200" presetID="10" presetClass="entr" presetSubtype="0" fill="hold" nodeType="withEffect">
                                  <p:stCondLst>
                                    <p:cond delay="0"/>
                                  </p:stCondLst>
                                  <p:childTnLst>
                                    <p:set>
                                      <p:cBhvr>
                                        <p:cTn id="201" dur="1" fill="hold">
                                          <p:stCondLst>
                                            <p:cond delay="0"/>
                                          </p:stCondLst>
                                        </p:cTn>
                                        <p:tgtEl>
                                          <p:spTgt spid="71"/>
                                        </p:tgtEl>
                                        <p:attrNameLst>
                                          <p:attrName>style.visibility</p:attrName>
                                        </p:attrNameLst>
                                      </p:cBhvr>
                                      <p:to>
                                        <p:strVal val="visible"/>
                                      </p:to>
                                    </p:set>
                                    <p:animEffect transition="in" filter="fade">
                                      <p:cBhvr>
                                        <p:cTn id="202" dur="500"/>
                                        <p:tgtEl>
                                          <p:spTgt spid="71"/>
                                        </p:tgtEl>
                                      </p:cBhvr>
                                    </p:animEffect>
                                  </p:childTnLst>
                                </p:cTn>
                              </p:par>
                              <p:par>
                                <p:cTn id="203" presetID="10" presetClass="entr" presetSubtype="0" fill="hold" nodeType="withEffect">
                                  <p:stCondLst>
                                    <p:cond delay="0"/>
                                  </p:stCondLst>
                                  <p:childTnLst>
                                    <p:set>
                                      <p:cBhvr>
                                        <p:cTn id="204" dur="1" fill="hold">
                                          <p:stCondLst>
                                            <p:cond delay="0"/>
                                          </p:stCondLst>
                                        </p:cTn>
                                        <p:tgtEl>
                                          <p:spTgt spid="72"/>
                                        </p:tgtEl>
                                        <p:attrNameLst>
                                          <p:attrName>style.visibility</p:attrName>
                                        </p:attrNameLst>
                                      </p:cBhvr>
                                      <p:to>
                                        <p:strVal val="visible"/>
                                      </p:to>
                                    </p:set>
                                    <p:animEffect transition="in" filter="fade">
                                      <p:cBhvr>
                                        <p:cTn id="205" dur="500"/>
                                        <p:tgtEl>
                                          <p:spTgt spid="72"/>
                                        </p:tgtEl>
                                      </p:cBhvr>
                                    </p:animEffect>
                                  </p:childTnLst>
                                </p:cTn>
                              </p:par>
                              <p:par>
                                <p:cTn id="206" presetID="10" presetClass="entr" presetSubtype="0" fill="hold" nodeType="withEffect">
                                  <p:stCondLst>
                                    <p:cond delay="0"/>
                                  </p:stCondLst>
                                  <p:childTnLst>
                                    <p:set>
                                      <p:cBhvr>
                                        <p:cTn id="207" dur="1" fill="hold">
                                          <p:stCondLst>
                                            <p:cond delay="0"/>
                                          </p:stCondLst>
                                        </p:cTn>
                                        <p:tgtEl>
                                          <p:spTgt spid="73"/>
                                        </p:tgtEl>
                                        <p:attrNameLst>
                                          <p:attrName>style.visibility</p:attrName>
                                        </p:attrNameLst>
                                      </p:cBhvr>
                                      <p:to>
                                        <p:strVal val="visible"/>
                                      </p:to>
                                    </p:set>
                                    <p:animEffect transition="in" filter="fade">
                                      <p:cBhvr>
                                        <p:cTn id="208" dur="500"/>
                                        <p:tgtEl>
                                          <p:spTgt spid="73"/>
                                        </p:tgtEl>
                                      </p:cBhvr>
                                    </p:animEffect>
                                  </p:childTnLst>
                                </p:cTn>
                              </p:par>
                              <p:par>
                                <p:cTn id="209" presetID="10" presetClass="entr" presetSubtype="0" fill="hold" nodeType="withEffect">
                                  <p:stCondLst>
                                    <p:cond delay="0"/>
                                  </p:stCondLst>
                                  <p:childTnLst>
                                    <p:set>
                                      <p:cBhvr>
                                        <p:cTn id="210" dur="1" fill="hold">
                                          <p:stCondLst>
                                            <p:cond delay="0"/>
                                          </p:stCondLst>
                                        </p:cTn>
                                        <p:tgtEl>
                                          <p:spTgt spid="74"/>
                                        </p:tgtEl>
                                        <p:attrNameLst>
                                          <p:attrName>style.visibility</p:attrName>
                                        </p:attrNameLst>
                                      </p:cBhvr>
                                      <p:to>
                                        <p:strVal val="visible"/>
                                      </p:to>
                                    </p:set>
                                    <p:animEffect transition="in" filter="fade">
                                      <p:cBhvr>
                                        <p:cTn id="211" dur="500"/>
                                        <p:tgtEl>
                                          <p:spTgt spid="74"/>
                                        </p:tgtEl>
                                      </p:cBhvr>
                                    </p:animEffect>
                                  </p:childTnLst>
                                </p:cTn>
                              </p:par>
                              <p:par>
                                <p:cTn id="212" presetID="10" presetClass="entr" presetSubtype="0" fill="hold" nodeType="withEffect">
                                  <p:stCondLst>
                                    <p:cond delay="0"/>
                                  </p:stCondLst>
                                  <p:childTnLst>
                                    <p:set>
                                      <p:cBhvr>
                                        <p:cTn id="213" dur="1" fill="hold">
                                          <p:stCondLst>
                                            <p:cond delay="0"/>
                                          </p:stCondLst>
                                        </p:cTn>
                                        <p:tgtEl>
                                          <p:spTgt spid="75"/>
                                        </p:tgtEl>
                                        <p:attrNameLst>
                                          <p:attrName>style.visibility</p:attrName>
                                        </p:attrNameLst>
                                      </p:cBhvr>
                                      <p:to>
                                        <p:strVal val="visible"/>
                                      </p:to>
                                    </p:set>
                                    <p:animEffect transition="in" filter="fade">
                                      <p:cBhvr>
                                        <p:cTn id="214" dur="500"/>
                                        <p:tgtEl>
                                          <p:spTgt spid="75"/>
                                        </p:tgtEl>
                                      </p:cBhvr>
                                    </p:animEffect>
                                  </p:childTnLst>
                                </p:cTn>
                              </p:par>
                              <p:par>
                                <p:cTn id="215" presetID="10" presetClass="entr" presetSubtype="0" fill="hold" nodeType="withEffect">
                                  <p:stCondLst>
                                    <p:cond delay="0"/>
                                  </p:stCondLst>
                                  <p:childTnLst>
                                    <p:set>
                                      <p:cBhvr>
                                        <p:cTn id="216" dur="1" fill="hold">
                                          <p:stCondLst>
                                            <p:cond delay="0"/>
                                          </p:stCondLst>
                                        </p:cTn>
                                        <p:tgtEl>
                                          <p:spTgt spid="76"/>
                                        </p:tgtEl>
                                        <p:attrNameLst>
                                          <p:attrName>style.visibility</p:attrName>
                                        </p:attrNameLst>
                                      </p:cBhvr>
                                      <p:to>
                                        <p:strVal val="visible"/>
                                      </p:to>
                                    </p:set>
                                    <p:animEffect transition="in" filter="fade">
                                      <p:cBhvr>
                                        <p:cTn id="217" dur="500"/>
                                        <p:tgtEl>
                                          <p:spTgt spid="76"/>
                                        </p:tgtEl>
                                      </p:cBhvr>
                                    </p:animEffect>
                                  </p:childTnLst>
                                </p:cTn>
                              </p:par>
                              <p:par>
                                <p:cTn id="218" presetID="10" presetClass="entr" presetSubtype="0" fill="hold" nodeType="withEffect">
                                  <p:stCondLst>
                                    <p:cond delay="0"/>
                                  </p:stCondLst>
                                  <p:childTnLst>
                                    <p:set>
                                      <p:cBhvr>
                                        <p:cTn id="219" dur="1" fill="hold">
                                          <p:stCondLst>
                                            <p:cond delay="0"/>
                                          </p:stCondLst>
                                        </p:cTn>
                                        <p:tgtEl>
                                          <p:spTgt spid="77"/>
                                        </p:tgtEl>
                                        <p:attrNameLst>
                                          <p:attrName>style.visibility</p:attrName>
                                        </p:attrNameLst>
                                      </p:cBhvr>
                                      <p:to>
                                        <p:strVal val="visible"/>
                                      </p:to>
                                    </p:set>
                                    <p:animEffect transition="in" filter="fade">
                                      <p:cBhvr>
                                        <p:cTn id="220" dur="500"/>
                                        <p:tgtEl>
                                          <p:spTgt spid="77"/>
                                        </p:tgtEl>
                                      </p:cBhvr>
                                    </p:animEffect>
                                  </p:childTnLst>
                                </p:cTn>
                              </p:par>
                              <p:par>
                                <p:cTn id="221" presetID="10" presetClass="entr" presetSubtype="0" fill="hold" nodeType="withEffect">
                                  <p:stCondLst>
                                    <p:cond delay="0"/>
                                  </p:stCondLst>
                                  <p:childTnLst>
                                    <p:set>
                                      <p:cBhvr>
                                        <p:cTn id="222" dur="1" fill="hold">
                                          <p:stCondLst>
                                            <p:cond delay="0"/>
                                          </p:stCondLst>
                                        </p:cTn>
                                        <p:tgtEl>
                                          <p:spTgt spid="78"/>
                                        </p:tgtEl>
                                        <p:attrNameLst>
                                          <p:attrName>style.visibility</p:attrName>
                                        </p:attrNameLst>
                                      </p:cBhvr>
                                      <p:to>
                                        <p:strVal val="visible"/>
                                      </p:to>
                                    </p:set>
                                    <p:animEffect transition="in" filter="fade">
                                      <p:cBhvr>
                                        <p:cTn id="223" dur="500"/>
                                        <p:tgtEl>
                                          <p:spTgt spid="78"/>
                                        </p:tgtEl>
                                      </p:cBhvr>
                                    </p:animEffect>
                                  </p:childTnLst>
                                </p:cTn>
                              </p:par>
                              <p:par>
                                <p:cTn id="224" presetID="10" presetClass="entr" presetSubtype="0" fill="hold" nodeType="withEffect">
                                  <p:stCondLst>
                                    <p:cond delay="0"/>
                                  </p:stCondLst>
                                  <p:childTnLst>
                                    <p:set>
                                      <p:cBhvr>
                                        <p:cTn id="225" dur="1" fill="hold">
                                          <p:stCondLst>
                                            <p:cond delay="0"/>
                                          </p:stCondLst>
                                        </p:cTn>
                                        <p:tgtEl>
                                          <p:spTgt spid="79"/>
                                        </p:tgtEl>
                                        <p:attrNameLst>
                                          <p:attrName>style.visibility</p:attrName>
                                        </p:attrNameLst>
                                      </p:cBhvr>
                                      <p:to>
                                        <p:strVal val="visible"/>
                                      </p:to>
                                    </p:set>
                                    <p:animEffect transition="in" filter="fade">
                                      <p:cBhvr>
                                        <p:cTn id="226" dur="500"/>
                                        <p:tgtEl>
                                          <p:spTgt spid="79"/>
                                        </p:tgtEl>
                                      </p:cBhvr>
                                    </p:animEffect>
                                  </p:childTnLst>
                                </p:cTn>
                              </p:par>
                              <p:par>
                                <p:cTn id="227" presetID="10" presetClass="entr" presetSubtype="0" fill="hold" nodeType="withEffect">
                                  <p:stCondLst>
                                    <p:cond delay="0"/>
                                  </p:stCondLst>
                                  <p:childTnLst>
                                    <p:set>
                                      <p:cBhvr>
                                        <p:cTn id="228" dur="1" fill="hold">
                                          <p:stCondLst>
                                            <p:cond delay="0"/>
                                          </p:stCondLst>
                                        </p:cTn>
                                        <p:tgtEl>
                                          <p:spTgt spid="80"/>
                                        </p:tgtEl>
                                        <p:attrNameLst>
                                          <p:attrName>style.visibility</p:attrName>
                                        </p:attrNameLst>
                                      </p:cBhvr>
                                      <p:to>
                                        <p:strVal val="visible"/>
                                      </p:to>
                                    </p:set>
                                    <p:animEffect transition="in" filter="fade">
                                      <p:cBhvr>
                                        <p:cTn id="229" dur="500"/>
                                        <p:tgtEl>
                                          <p:spTgt spid="80"/>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nodeType="clickEffect">
                                  <p:stCondLst>
                                    <p:cond delay="0"/>
                                  </p:stCondLst>
                                  <p:childTnLst>
                                    <p:set>
                                      <p:cBhvr>
                                        <p:cTn id="233" dur="1" fill="hold">
                                          <p:stCondLst>
                                            <p:cond delay="0"/>
                                          </p:stCondLst>
                                        </p:cTn>
                                        <p:tgtEl>
                                          <p:spTgt spid="103"/>
                                        </p:tgtEl>
                                        <p:attrNameLst>
                                          <p:attrName>style.visibility</p:attrName>
                                        </p:attrNameLst>
                                      </p:cBhvr>
                                      <p:to>
                                        <p:strVal val="visible"/>
                                      </p:to>
                                    </p:set>
                                    <p:animEffect transition="in" filter="fade">
                                      <p:cBhvr>
                                        <p:cTn id="234" dur="500"/>
                                        <p:tgtEl>
                                          <p:spTgt spid="103"/>
                                        </p:tgtEl>
                                      </p:cBhvr>
                                    </p:animEffect>
                                  </p:childTnLst>
                                </p:cTn>
                              </p:par>
                              <p:par>
                                <p:cTn id="235" presetID="10" presetClass="entr" presetSubtype="0" fill="hold" nodeType="withEffect">
                                  <p:stCondLst>
                                    <p:cond delay="0"/>
                                  </p:stCondLst>
                                  <p:childTnLst>
                                    <p:set>
                                      <p:cBhvr>
                                        <p:cTn id="236" dur="1" fill="hold">
                                          <p:stCondLst>
                                            <p:cond delay="0"/>
                                          </p:stCondLst>
                                        </p:cTn>
                                        <p:tgtEl>
                                          <p:spTgt spid="83"/>
                                        </p:tgtEl>
                                        <p:attrNameLst>
                                          <p:attrName>style.visibility</p:attrName>
                                        </p:attrNameLst>
                                      </p:cBhvr>
                                      <p:to>
                                        <p:strVal val="visible"/>
                                      </p:to>
                                    </p:set>
                                    <p:animEffect transition="in" filter="fade">
                                      <p:cBhvr>
                                        <p:cTn id="237" dur="500"/>
                                        <p:tgtEl>
                                          <p:spTgt spid="83"/>
                                        </p:tgtEl>
                                      </p:cBhvr>
                                    </p:animEffect>
                                  </p:childTnLst>
                                </p:cTn>
                              </p:par>
                            </p:childTnLst>
                          </p:cTn>
                        </p:par>
                      </p:childTnLst>
                    </p:cTn>
                  </p:par>
                  <p:par>
                    <p:cTn id="238" fill="hold">
                      <p:stCondLst>
                        <p:cond delay="indefinite"/>
                      </p:stCondLst>
                      <p:childTnLst>
                        <p:par>
                          <p:cTn id="239" fill="hold">
                            <p:stCondLst>
                              <p:cond delay="0"/>
                            </p:stCondLst>
                            <p:childTnLst>
                              <p:par>
                                <p:cTn id="240" presetID="10" presetClass="entr" presetSubtype="0" fill="hold" nodeType="clickEffect">
                                  <p:stCondLst>
                                    <p:cond delay="0"/>
                                  </p:stCondLst>
                                  <p:childTnLst>
                                    <p:set>
                                      <p:cBhvr>
                                        <p:cTn id="241" dur="1" fill="hold">
                                          <p:stCondLst>
                                            <p:cond delay="0"/>
                                          </p:stCondLst>
                                        </p:cTn>
                                        <p:tgtEl>
                                          <p:spTgt spid="87"/>
                                        </p:tgtEl>
                                        <p:attrNameLst>
                                          <p:attrName>style.visibility</p:attrName>
                                        </p:attrNameLst>
                                      </p:cBhvr>
                                      <p:to>
                                        <p:strVal val="visible"/>
                                      </p:to>
                                    </p:set>
                                    <p:animEffect transition="in" filter="fade">
                                      <p:cBhvr>
                                        <p:cTn id="242" dur="500"/>
                                        <p:tgtEl>
                                          <p:spTgt spid="87"/>
                                        </p:tgtEl>
                                      </p:cBhvr>
                                    </p:animEffect>
                                  </p:childTnLst>
                                </p:cTn>
                              </p:par>
                              <p:par>
                                <p:cTn id="243" presetID="10" presetClass="entr" presetSubtype="0" fill="hold" nodeType="withEffect">
                                  <p:stCondLst>
                                    <p:cond delay="0"/>
                                  </p:stCondLst>
                                  <p:childTnLst>
                                    <p:set>
                                      <p:cBhvr>
                                        <p:cTn id="244" dur="1" fill="hold">
                                          <p:stCondLst>
                                            <p:cond delay="0"/>
                                          </p:stCondLst>
                                        </p:cTn>
                                        <p:tgtEl>
                                          <p:spTgt spid="88"/>
                                        </p:tgtEl>
                                        <p:attrNameLst>
                                          <p:attrName>style.visibility</p:attrName>
                                        </p:attrNameLst>
                                      </p:cBhvr>
                                      <p:to>
                                        <p:strVal val="visible"/>
                                      </p:to>
                                    </p:set>
                                    <p:animEffect transition="in" filter="fade">
                                      <p:cBhvr>
                                        <p:cTn id="245" dur="500"/>
                                        <p:tgtEl>
                                          <p:spTgt spid="88"/>
                                        </p:tgtEl>
                                      </p:cBhvr>
                                    </p:animEffect>
                                  </p:childTnLst>
                                </p:cTn>
                              </p:par>
                              <p:par>
                                <p:cTn id="246" presetID="10" presetClass="entr" presetSubtype="0" fill="hold" nodeType="withEffect">
                                  <p:stCondLst>
                                    <p:cond delay="0"/>
                                  </p:stCondLst>
                                  <p:childTnLst>
                                    <p:set>
                                      <p:cBhvr>
                                        <p:cTn id="247" dur="1" fill="hold">
                                          <p:stCondLst>
                                            <p:cond delay="0"/>
                                          </p:stCondLst>
                                        </p:cTn>
                                        <p:tgtEl>
                                          <p:spTgt spid="89"/>
                                        </p:tgtEl>
                                        <p:attrNameLst>
                                          <p:attrName>style.visibility</p:attrName>
                                        </p:attrNameLst>
                                      </p:cBhvr>
                                      <p:to>
                                        <p:strVal val="visible"/>
                                      </p:to>
                                    </p:set>
                                    <p:animEffect transition="in" filter="fade">
                                      <p:cBhvr>
                                        <p:cTn id="248"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2468880"/>
            <a:ext cx="11687697" cy="1828800"/>
          </a:xfrm>
          <a:prstGeom prst="rect">
            <a:avLst/>
          </a:prstGeom>
          <a:noFill/>
        </p:spPr>
        <p:txBody>
          <a:bodyPr wrap="square" lIns="0" tIns="0" rIns="0" bIns="0">
            <a:spAutoFit/>
          </a:bodyPr>
          <a:lstStyle/>
          <a:p>
            <a:pPr algn="ctr"/>
            <a:r>
              <a:rPr sz="14000" b="1" i="0">
                <a:solidFill>
                  <a:srgbClr val="0B2B4E"/>
                </a:solidFill>
                <a:latin typeface="Calibri"/>
              </a:rPr>
              <a:t>BACKUP</a:t>
            </a:r>
          </a:p>
        </p:txBody>
      </p:sp>
      <p:sp>
        <p:nvSpPr>
          <p:cNvPr id="3" name="Rectangle 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6" name="TextBox 5"/>
          <p:cNvSpPr txBox="1"/>
          <p:nvPr/>
        </p:nvSpPr>
        <p:spPr>
          <a:xfrm>
            <a:off x="11430000" y="6583680"/>
            <a:ext cx="548640" cy="292608"/>
          </a:xfrm>
          <a:prstGeom prst="rect">
            <a:avLst/>
          </a:prstGeom>
          <a:noFill/>
        </p:spPr>
        <p:txBody>
          <a:bodyPr wrap="square" lIns="0" tIns="0" rIns="0" bIns="0">
            <a:spAutoFit/>
          </a:bodyPr>
          <a:lstStyle/>
          <a:p>
            <a:pPr algn="r"/>
            <a:fld id="{9EA1C751-267D-452E-A0D6-F28FF7E42C3E}" type="slidenum">
              <a:rPr sz="1200" b="0" i="0">
                <a:solidFill>
                  <a:srgbClr val="555B66"/>
                </a:solidFill>
                <a:latin typeface="Calibri"/>
              </a:rPr>
              <a:t>14</a:t>
            </a:fld>
            <a:endParaRPr sz="1200" b="0" i="0">
              <a:solidFill>
                <a:srgbClr val="555B66"/>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ule 3 - Rivian Plant -- Empty.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6281928" y="164592"/>
            <a:ext cx="5763463" cy="492861"/>
          </a:xfrm>
          <a:prstGeom prst="rect">
            <a:avLst/>
          </a:prstGeom>
          <a:solidFill>
            <a:srgbClr val="FDF6E6"/>
          </a:solidFill>
        </p:spPr>
        <p:txBody>
          <a:bodyPr wrap="square" lIns="0" tIns="0" rIns="0" bIns="0">
            <a:spAutoFit/>
          </a:bodyPr>
          <a:lstStyle/>
          <a:p>
            <a:pPr algn="l"/>
            <a:r>
              <a:rPr sz="3200" b="1" i="0">
                <a:solidFill>
                  <a:srgbClr val="0B2B4E"/>
                </a:solidFill>
                <a:latin typeface="Calibri"/>
              </a:rPr>
              <a:t>Very High MPL in the Rivian Plant</a:t>
            </a:r>
          </a:p>
        </p:txBody>
      </p:sp>
      <p:sp>
        <p:nvSpPr>
          <p:cNvPr id="4" name="BackButton">
            <a:hlinkClick r:id="rId4" action="ppaction://hlinksldjump"/>
          </p:cNvPr>
          <p:cNvSpPr/>
          <p:nvPr/>
        </p:nvSpPr>
        <p:spPr>
          <a:xfrm>
            <a:off x="10716768" y="6035040"/>
            <a:ext cx="1417320" cy="420624"/>
          </a:xfrm>
          <a:prstGeom prst="roundRect">
            <a:avLst>
              <a:gd name="adj" fmla="val 2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dirty="0">
                <a:solidFill>
                  <a:srgbClr val="FFFFFF"/>
                </a:solidFill>
                <a:latin typeface="Calibri"/>
              </a:rPr>
              <a:t>←  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ule 3 - Rivian Plant -- Crowde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488936" y="0"/>
            <a:ext cx="4702759" cy="984808"/>
          </a:xfrm>
          <a:prstGeom prst="rect">
            <a:avLst/>
          </a:prstGeom>
          <a:solidFill>
            <a:srgbClr val="FDF6E6"/>
          </a:solidFill>
        </p:spPr>
        <p:txBody>
          <a:bodyPr wrap="square" lIns="0" tIns="0" rIns="0" bIns="0">
            <a:spAutoFit/>
          </a:bodyPr>
          <a:lstStyle/>
          <a:p>
            <a:pPr algn="l"/>
            <a:r>
              <a:rPr sz="3200" b="1" i="0">
                <a:solidFill>
                  <a:srgbClr val="0B2B4E"/>
                </a:solidFill>
                <a:latin typeface="Calibri"/>
              </a:rPr>
              <a:t>Very Low (or negative) MPL in the Rivian Plant</a:t>
            </a:r>
          </a:p>
        </p:txBody>
      </p:sp>
      <p:sp>
        <p:nvSpPr>
          <p:cNvPr id="4" name="BackButton">
            <a:hlinkClick r:id="rId4" action="ppaction://hlinksldjump"/>
          </p:cNvPr>
          <p:cNvSpPr/>
          <p:nvPr/>
        </p:nvSpPr>
        <p:spPr>
          <a:xfrm>
            <a:off x="10716768" y="6035040"/>
            <a:ext cx="1417320" cy="420624"/>
          </a:xfrm>
          <a:prstGeom prst="roundRect">
            <a:avLst>
              <a:gd name="adj" fmla="val 2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500" b="1" dirty="0">
                <a:solidFill>
                  <a:srgbClr val="FFFFFF"/>
                </a:solidFill>
                <a:latin typeface="Calibri"/>
              </a:rPr>
              <a:t>←  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TotalTime>
  <Words>3521</Words>
  <Application>Microsoft Office PowerPoint</Application>
  <PresentationFormat>Widescreen</PresentationFormat>
  <Paragraphs>403</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58</cp:revision>
  <dcterms:created xsi:type="dcterms:W3CDTF">2013-01-27T09:14:16Z</dcterms:created>
  <dcterms:modified xsi:type="dcterms:W3CDTF">2026-08-27T21:34:57Z</dcterms:modified>
  <cp:category/>
</cp:coreProperties>
</file>