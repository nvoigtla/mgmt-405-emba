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350" r:id="rId2"/>
    <p:sldId id="256" r:id="rId3"/>
    <p:sldId id="260" r:id="rId4"/>
    <p:sldId id="261" r:id="rId5"/>
    <p:sldId id="33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Module 3 of Management 405, on Production and Costs. In the last module we looked at the demand side of the business, and we saw how customers respond to price and what that means for revenue. In this module we move to the supply side. We'll keep it to two questions. The first is how a firm turns its inputs into output. By inputs I just mean the things a firm uses: its people, its machines, and its materials. The second question is what that output costs to produce. Once we've answered both, we'll have everything we need for Module 4, where we combine demand and cost to find the choices that make the most profit. Let's get going.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show you where this module sits in the course. We started with the basic principles, the economic way of thinking. Module 2 was value and demand, which is the customer's side. Module 3, which we're on now, is supply and cost, the firm's side. And Module 4 brings it all together into pricing and strategy. So on this map, we're filling in the supply box.</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set up the big picture before we get into any details. A lot of the decisions you make as an executive come down to production and cost, whether you're setting a price, hiring, adding capacity, or choosing a supplier. In this module we build the left side of the diagram on the slide. Production functions describe how inputs become output, and costs turn those inputs into dollars. Put those together with demand from Module 2, and you get the pricing and output decisions in Module 4. So the flow to keep in mind is simple: inputs give you output, output has a cost, and cost drives the decision.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717A-DD36-767A-D263-B0ECFAF6B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2A6ED-C017-47B6-192A-FF9E929FF19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C993895-B12E-1753-59AD-9E778C43EE64}"/>
              </a:ext>
            </a:extLst>
          </p:cNvPr>
          <p:cNvSpPr>
            <a:spLocks noGrp="1"/>
          </p:cNvSpPr>
          <p:nvPr>
            <p:ph type="body" sz="quarter" idx="3"/>
          </p:nvPr>
        </p:nvSpPr>
        <p:spPr/>
        <p:txBody>
          <a:bodyPr/>
          <a:lstStyle/>
          <a:p>
            <a:r>
              <a:t>Here is the plan for the whole module, and everything we do today sits somewhere on this list. Part 1 is production: what a production function is, then hiring in the short run when the plant is fixed, then the long run, where we choose the mix of capital and labor. Part 2 is costs: the cost concepts that should drive a decision and the ones that should not, and then what happens to cost per unit as a firm gets bigger or broader. We come back to this list at each transition.</a:t>
            </a:r>
          </a:p>
        </p:txBody>
      </p:sp>
      <p:sp>
        <p:nvSpPr>
          <p:cNvPr id="4" name="Slide Number Placeholder 3">
            <a:extLst>
              <a:ext uri="{FF2B5EF4-FFF2-40B4-BE49-F238E27FC236}">
                <a16:creationId xmlns:a16="http://schemas.microsoft.com/office/drawing/2014/main" id="{4F36DD80-F91E-782F-4DF9-2F5D447D76C4}"/>
              </a:ext>
            </a:extLst>
          </p:cNvPr>
          <p:cNvSpPr>
            <a:spLocks noGrp="1"/>
          </p:cNvSpPr>
          <p:nvPr>
            <p:ph type="sldNum" sz="quarter" idx="5"/>
          </p:nvPr>
        </p:nvSpPr>
        <p:spPr/>
      </p:sp>
    </p:spTree>
    <p:extLst>
      <p:ext uri="{BB962C8B-B14F-4D97-AF65-F5344CB8AC3E}">
        <p14:creationId xmlns:p14="http://schemas.microsoft.com/office/powerpoint/2010/main" val="3521992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Introduction to Module 3</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3  ·  Video 1</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93988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0871" y="3255264"/>
            <a:ext cx="11687697" cy="1188720"/>
          </a:xfrm>
          <a:prstGeom prst="rect">
            <a:avLst/>
          </a:prstGeom>
          <a:noFill/>
        </p:spPr>
        <p:txBody>
          <a:bodyPr wrap="square" lIns="0" tIns="0" rIns="0" bIns="0">
            <a:spAutoFit/>
          </a:bodyPr>
          <a:lstStyle/>
          <a:p>
            <a:pPr algn="ctr"/>
            <a:r>
              <a:rPr sz="6000" b="1" i="0" dirty="0">
                <a:solidFill>
                  <a:srgbClr val="0B2B4E"/>
                </a:solidFill>
                <a:latin typeface="Calibri"/>
              </a:rPr>
              <a:t>Production and Costs</a:t>
            </a:r>
          </a:p>
        </p:txBody>
      </p:sp>
      <p:sp>
        <p:nvSpPr>
          <p:cNvPr id="3" name="TextBox 2"/>
          <p:cNvSpPr txBox="1"/>
          <p:nvPr/>
        </p:nvSpPr>
        <p:spPr>
          <a:xfrm>
            <a:off x="286710" y="4224528"/>
            <a:ext cx="11687697" cy="685800"/>
          </a:xfrm>
          <a:prstGeom prst="rect">
            <a:avLst/>
          </a:prstGeom>
          <a:noFill/>
        </p:spPr>
        <p:txBody>
          <a:bodyPr wrap="square" lIns="0" tIns="0" rIns="0" bIns="0">
            <a:spAutoFit/>
          </a:bodyPr>
          <a:lstStyle/>
          <a:p>
            <a:pPr algn="ctr"/>
            <a:r>
              <a:rPr sz="4000" b="1" i="0" dirty="0">
                <a:solidFill>
                  <a:srgbClr val="E09F3E"/>
                </a:solidFill>
                <a:latin typeface="Calibri"/>
              </a:rPr>
              <a:t>Module 3</a:t>
            </a:r>
          </a:p>
        </p:txBody>
      </p:sp>
      <p:sp>
        <p:nvSpPr>
          <p:cNvPr id="4" name="Rectangle 3"/>
          <p:cNvSpPr/>
          <p:nvPr/>
        </p:nvSpPr>
        <p:spPr>
          <a:xfrm>
            <a:off x="4301758" y="501091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8" y="5166360"/>
            <a:ext cx="11687697" cy="502920"/>
          </a:xfrm>
          <a:prstGeom prst="rect">
            <a:avLst/>
          </a:prstGeom>
          <a:noFill/>
        </p:spPr>
        <p:txBody>
          <a:bodyPr wrap="square" lIns="0" tIns="0" rIns="0" bIns="0">
            <a:spAutoFit/>
          </a:bodyPr>
          <a:lstStyle/>
          <a:p>
            <a:pPr algn="ctr"/>
            <a:r>
              <a:rPr sz="2600" b="1" i="0">
                <a:solidFill>
                  <a:srgbClr val="555B66"/>
                </a:solidFill>
                <a:latin typeface="Calibri"/>
              </a:rPr>
              <a:t>Management 405  ·  EMBA</a:t>
            </a:r>
          </a:p>
        </p:txBody>
      </p:sp>
      <p:sp>
        <p:nvSpPr>
          <p:cNvPr id="6" name="TextBox 5"/>
          <p:cNvSpPr txBox="1"/>
          <p:nvPr/>
        </p:nvSpPr>
        <p:spPr>
          <a:xfrm>
            <a:off x="251998" y="5806440"/>
            <a:ext cx="11687697" cy="457200"/>
          </a:xfrm>
          <a:prstGeom prst="rect">
            <a:avLst/>
          </a:prstGeom>
          <a:noFill/>
        </p:spPr>
        <p:txBody>
          <a:bodyPr wrap="square" lIns="0" tIns="0" rIns="0" bIns="0">
            <a:spAutoFit/>
          </a:bodyPr>
          <a:lstStyle/>
          <a:p>
            <a:pPr algn="ctr"/>
            <a:r>
              <a:rPr sz="2200" b="0" i="0">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43F1FAFA-6974-A732-E9A6-2E78064D9D27}"/>
              </a:ext>
            </a:extLst>
          </p:cNvPr>
          <p:cNvPicPr>
            <a:picLocks noChangeAspect="1"/>
          </p:cNvPicPr>
          <p:nvPr/>
        </p:nvPicPr>
        <p:blipFill>
          <a:blip r:embed="rId3"/>
          <a:stretch>
            <a:fillRect/>
          </a:stretch>
        </p:blipFill>
        <p:spPr>
          <a:xfrm>
            <a:off x="1254744" y="213295"/>
            <a:ext cx="9682511" cy="2941385"/>
          </a:xfrm>
          <a:prstGeom prst="roundRect">
            <a:avLst>
              <a:gd name="adj" fmla="val 8000"/>
            </a:avLst>
          </a:prstGeom>
          <a:effectLst>
            <a:outerShdw blurRad="50800" dist="38100" dir="2700000"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444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Up Arrow 14"/>
          <p:cNvSpPr/>
          <p:nvPr/>
        </p:nvSpPr>
        <p:spPr>
          <a:xfrm>
            <a:off x="8587587" y="4160520"/>
            <a:ext cx="502920" cy="502920"/>
          </a:xfrm>
          <a:prstGeom prst="up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5927" y="4681728"/>
            <a:ext cx="4206240" cy="292608"/>
          </a:xfrm>
          <a:prstGeom prst="rect">
            <a:avLst/>
          </a:prstGeom>
          <a:noFill/>
        </p:spPr>
        <p:txBody>
          <a:bodyPr wrap="square" lIns="0" tIns="0" rIns="0" bIns="0">
            <a:spAutoFit/>
          </a:bodyPr>
          <a:lstStyle/>
          <a:p>
            <a:pPr algn="ctr"/>
            <a:r>
              <a:rPr sz="1600" b="1" i="1">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97235400-292D-4FC9-9BB9-ADEEF583F56A}"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Big Picture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Big Picture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874519"/>
            <a:ext cx="4389120" cy="96012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Production Functions</a:t>
            </a:r>
          </a:p>
        </p:txBody>
      </p:sp>
      <p:sp>
        <p:nvSpPr>
          <p:cNvPr id="8" name="Rounded Rectangle 7"/>
          <p:cNvSpPr/>
          <p:nvPr/>
        </p:nvSpPr>
        <p:spPr>
          <a:xfrm>
            <a:off x="457200" y="3520440"/>
            <a:ext cx="4389120" cy="96012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Costs</a:t>
            </a:r>
          </a:p>
        </p:txBody>
      </p:sp>
      <p:sp>
        <p:nvSpPr>
          <p:cNvPr id="9" name="Rounded Rectangle 8"/>
          <p:cNvSpPr/>
          <p:nvPr/>
        </p:nvSpPr>
        <p:spPr>
          <a:xfrm>
            <a:off x="7863840" y="1874519"/>
            <a:ext cx="3840480" cy="9601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Demand</a:t>
            </a:r>
          </a:p>
        </p:txBody>
      </p:sp>
      <p:sp>
        <p:nvSpPr>
          <p:cNvPr id="10" name="Rounded Rectangle 9"/>
          <p:cNvSpPr/>
          <p:nvPr/>
        </p:nvSpPr>
        <p:spPr>
          <a:xfrm>
            <a:off x="2895447" y="5303520"/>
            <a:ext cx="6400800" cy="960120"/>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latin typeface="Calibri"/>
              </a:rPr>
              <a:t>Output Decisions</a:t>
            </a:r>
          </a:p>
        </p:txBody>
      </p:sp>
      <p:cxnSp>
        <p:nvCxnSpPr>
          <p:cNvPr id="11" name="Connector 10"/>
          <p:cNvCxnSpPr/>
          <p:nvPr/>
        </p:nvCxnSpPr>
        <p:spPr>
          <a:xfrm>
            <a:off x="2651760" y="2834639"/>
            <a:ext cx="0" cy="685801"/>
          </a:xfrm>
          <a:prstGeom prst="line">
            <a:avLst/>
          </a:prstGeom>
          <a:ln w="444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4480560"/>
            <a:ext cx="2163927" cy="822960"/>
          </a:xfrm>
          <a:prstGeom prst="line">
            <a:avLst/>
          </a:prstGeom>
          <a:ln w="444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376007" y="2834639"/>
            <a:ext cx="2408073" cy="2468881"/>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tIns="0" rIns="0" bIns="0">
            <a:spAutoFit/>
          </a:bodyPr>
          <a:lstStyle/>
          <a:p>
            <a:pPr algn="r"/>
            <a:fld id="{7418FD46-F01B-401C-A478-CFB64C0663C8}" type="slidenum">
              <a:rPr sz="1200" b="0" i="0">
                <a:solidFill>
                  <a:srgbClr val="555B66"/>
                </a:solidFill>
                <a:latin typeface="Calibri"/>
              </a:rPr>
              <a:t>4</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TextBox 7"/>
          <p:cNvSpPr txBox="1"/>
          <p:nvPr/>
        </p:nvSpPr>
        <p:spPr>
          <a:xfrm>
            <a:off x="1874519" y="137845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Module 3</a:t>
            </a:r>
          </a:p>
          <a:p>
            <a:pPr algn="l">
              <a:spcBef>
                <a:spcPts val="0"/>
              </a:spcBef>
              <a:buNone/>
            </a:pPr>
            <a:r>
              <a:rPr sz="2200">
                <a:solidFill>
                  <a:srgbClr val="555B66"/>
                </a:solidFill>
                <a:latin typeface="Calibri"/>
              </a:rPr>
              <a:t>A brief overview of what we cover in Module 3</a:t>
            </a:r>
          </a:p>
        </p:txBody>
      </p:sp>
      <p:sp>
        <p:nvSpPr>
          <p:cNvPr id="9" name="Rounded Rectangle 8"/>
          <p:cNvSpPr/>
          <p:nvPr/>
        </p:nvSpPr>
        <p:spPr>
          <a:xfrm>
            <a:off x="10332720" y="154305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2</a:t>
            </a:r>
          </a:p>
        </p:txBody>
      </p:sp>
      <p:sp>
        <p:nvSpPr>
          <p:cNvPr id="11" name="TextBox 10"/>
          <p:cNvSpPr txBox="1"/>
          <p:nvPr/>
        </p:nvSpPr>
        <p:spPr>
          <a:xfrm>
            <a:off x="1874519" y="209626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The Production Function</a:t>
            </a:r>
          </a:p>
          <a:p>
            <a:pPr algn="l">
              <a:spcBef>
                <a:spcPts val="0"/>
              </a:spcBef>
              <a:buNone/>
            </a:pPr>
            <a:r>
              <a:rPr sz="2200">
                <a:solidFill>
                  <a:srgbClr val="555B66"/>
                </a:solidFill>
                <a:latin typeface="Calibri"/>
              </a:rPr>
              <a:t>How inputs (capital and labor) are turned into output</a:t>
            </a:r>
          </a:p>
        </p:txBody>
      </p:sp>
      <p:sp>
        <p:nvSpPr>
          <p:cNvPr id="12" name="Rounded Rectangle 11"/>
          <p:cNvSpPr/>
          <p:nvPr/>
        </p:nvSpPr>
        <p:spPr>
          <a:xfrm>
            <a:off x="10332720" y="226085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3</a:t>
            </a:r>
          </a:p>
        </p:txBody>
      </p:sp>
      <p:sp>
        <p:nvSpPr>
          <p:cNvPr id="14" name="TextBox 13"/>
          <p:cNvSpPr txBox="1"/>
          <p:nvPr/>
        </p:nvSpPr>
        <p:spPr>
          <a:xfrm>
            <a:off x="1874519" y="281406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Short Run: Hiring Decisions</a:t>
            </a:r>
          </a:p>
          <a:p>
            <a:pPr algn="l">
              <a:spcBef>
                <a:spcPts val="0"/>
              </a:spcBef>
              <a:buNone/>
            </a:pPr>
            <a:r>
              <a:rPr sz="2200">
                <a:solidFill>
                  <a:srgbClr val="555B66"/>
                </a:solidFill>
                <a:latin typeface="Calibri"/>
              </a:rPr>
              <a:t>How many workers to hire when capital is fixed</a:t>
            </a:r>
          </a:p>
        </p:txBody>
      </p:sp>
      <p:sp>
        <p:nvSpPr>
          <p:cNvPr id="15" name="Rounded Rectangle 14"/>
          <p:cNvSpPr/>
          <p:nvPr/>
        </p:nvSpPr>
        <p:spPr>
          <a:xfrm>
            <a:off x="10332720" y="297865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4</a:t>
            </a:r>
          </a:p>
        </p:txBody>
      </p:sp>
      <p:sp>
        <p:nvSpPr>
          <p:cNvPr id="17" name="TextBox 16"/>
          <p:cNvSpPr txBox="1"/>
          <p:nvPr/>
        </p:nvSpPr>
        <p:spPr>
          <a:xfrm>
            <a:off x="1874519" y="353187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Wage Searchers</a:t>
            </a:r>
          </a:p>
          <a:p>
            <a:pPr algn="l">
              <a:spcBef>
                <a:spcPts val="0"/>
              </a:spcBef>
              <a:buNone/>
            </a:pPr>
            <a:r>
              <a:rPr sz="2200">
                <a:solidFill>
                  <a:srgbClr val="555B66"/>
                </a:solidFill>
                <a:latin typeface="Calibri"/>
              </a:rPr>
              <a:t>When hiring one more worker bids up the wage for everyone</a:t>
            </a:r>
          </a:p>
        </p:txBody>
      </p:sp>
      <p:sp>
        <p:nvSpPr>
          <p:cNvPr id="18" name="Rounded Rectangle 17"/>
          <p:cNvSpPr/>
          <p:nvPr/>
        </p:nvSpPr>
        <p:spPr>
          <a:xfrm>
            <a:off x="10332720" y="369646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4</a:t>
            </a:r>
          </a:p>
        </p:txBody>
      </p:sp>
      <p:sp>
        <p:nvSpPr>
          <p:cNvPr id="19" name="Oval 18"/>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5</a:t>
            </a:r>
          </a:p>
        </p:txBody>
      </p:sp>
      <p:sp>
        <p:nvSpPr>
          <p:cNvPr id="20" name="TextBox 19"/>
          <p:cNvSpPr txBox="1"/>
          <p:nvPr/>
        </p:nvSpPr>
        <p:spPr>
          <a:xfrm>
            <a:off x="1874519" y="424967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Long Run: The Optimal Input Mix</a:t>
            </a:r>
          </a:p>
          <a:p>
            <a:pPr algn="l">
              <a:spcBef>
                <a:spcPts val="0"/>
              </a:spcBef>
              <a:buNone/>
            </a:pPr>
            <a:r>
              <a:rPr sz="2200">
                <a:solidFill>
                  <a:srgbClr val="555B66"/>
                </a:solidFill>
                <a:latin typeface="Calibri"/>
              </a:rPr>
              <a:t>Choosing between capital and labor when both can be adjusted</a:t>
            </a:r>
          </a:p>
        </p:txBody>
      </p:sp>
      <p:sp>
        <p:nvSpPr>
          <p:cNvPr id="21" name="Rounded Rectangle 20"/>
          <p:cNvSpPr/>
          <p:nvPr/>
        </p:nvSpPr>
        <p:spPr>
          <a:xfrm>
            <a:off x="10332720" y="4414266"/>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5</a:t>
            </a:r>
          </a:p>
        </p:txBody>
      </p:sp>
      <p:sp>
        <p:nvSpPr>
          <p:cNvPr id="22" name="Oval 21"/>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6</a:t>
            </a:r>
          </a:p>
        </p:txBody>
      </p:sp>
      <p:sp>
        <p:nvSpPr>
          <p:cNvPr id="23" name="TextBox 22"/>
          <p:cNvSpPr txBox="1"/>
          <p:nvPr/>
        </p:nvSpPr>
        <p:spPr>
          <a:xfrm>
            <a:off x="1874519" y="496747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Cost Concepts</a:t>
            </a:r>
          </a:p>
          <a:p>
            <a:pPr algn="l">
              <a:spcBef>
                <a:spcPts val="0"/>
              </a:spcBef>
              <a:buNone/>
            </a:pPr>
            <a:r>
              <a:rPr sz="2200">
                <a:solidFill>
                  <a:srgbClr val="555B66"/>
                </a:solidFill>
                <a:latin typeface="Calibri"/>
              </a:rPr>
              <a:t>Fixed, variable, marginal, and sunk costs, and which ones matter</a:t>
            </a:r>
          </a:p>
        </p:txBody>
      </p:sp>
      <p:sp>
        <p:nvSpPr>
          <p:cNvPr id="24" name="Rounded Rectangle 23"/>
          <p:cNvSpPr/>
          <p:nvPr/>
        </p:nvSpPr>
        <p:spPr>
          <a:xfrm>
            <a:off x="10332720" y="513207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6</a:t>
            </a:r>
          </a:p>
        </p:txBody>
      </p:sp>
      <p:sp>
        <p:nvSpPr>
          <p:cNvPr id="25" name="Oval 24"/>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7</a:t>
            </a:r>
          </a:p>
        </p:txBody>
      </p:sp>
      <p:sp>
        <p:nvSpPr>
          <p:cNvPr id="26" name="TextBox 25"/>
          <p:cNvSpPr txBox="1"/>
          <p:nvPr/>
        </p:nvSpPr>
        <p:spPr>
          <a:xfrm>
            <a:off x="1874519" y="568528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Economies of Scale and Scope</a:t>
            </a:r>
          </a:p>
          <a:p>
            <a:pPr algn="l">
              <a:spcBef>
                <a:spcPts val="0"/>
              </a:spcBef>
              <a:buNone/>
            </a:pPr>
            <a:r>
              <a:rPr sz="2200">
                <a:solidFill>
                  <a:srgbClr val="555B66"/>
                </a:solidFill>
                <a:latin typeface="Calibri"/>
              </a:rPr>
              <a:t>When bigger or broader production lowers cost per unit</a:t>
            </a:r>
          </a:p>
        </p:txBody>
      </p:sp>
      <p:sp>
        <p:nvSpPr>
          <p:cNvPr id="27" name="Rounded Rectangle 26"/>
          <p:cNvSpPr/>
          <p:nvPr/>
        </p:nvSpPr>
        <p:spPr>
          <a:xfrm>
            <a:off x="10332720" y="584987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7</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C7268266-B9CE-510E-8DAE-CCAC4EF4FAAA}" type="slidenum">
              <a:rPr lang="en-US" sz="1200" dirty="0">
                <a:solidFill>
                  <a:srgbClr val="555B66"/>
                </a:solidFill>
                <a:latin typeface="Calibri"/>
              </a:rPr>
              <a:t>5</a:t>
            </a:fld>
            <a:endParaRPr lang="en-US" sz="1200" dirty="0">
              <a:solidFill>
                <a:srgbClr val="555B66"/>
              </a:solidFill>
              <a:latin typeface="Calibri"/>
            </a:endParaRPr>
          </a:p>
        </p:txBody>
      </p:sp>
    </p:spTree>
    <p:extLst>
      <p:ext uri="{BB962C8B-B14F-4D97-AF65-F5344CB8AC3E}">
        <p14:creationId xmlns:p14="http://schemas.microsoft.com/office/powerpoint/2010/main" val="233829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animBg="1"/>
      <p:bldP spid="14" grpId="0"/>
      <p:bldP spid="15" grpId="0" animBg="1"/>
      <p:bldP spid="16" grpId="0" animBg="1"/>
      <p:bldP spid="17" grpId="0"/>
      <p:bldP spid="18" grpId="0" animBg="1"/>
      <p:bldP spid="19" grpId="0" animBg="1"/>
      <p:bldP spid="20" grpId="0"/>
      <p:bldP spid="21" grpId="0" animBg="1"/>
      <p:bldP spid="22" grpId="0" animBg="1"/>
      <p:bldP spid="23" grpId="0"/>
      <p:bldP spid="24" grpId="0" animBg="1"/>
      <p:bldP spid="25" grpId="0" animBg="1"/>
      <p:bldP spid="26" grpId="0"/>
      <p:bldP spid="2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695</Words>
  <Application>Microsoft Office PowerPoint</Application>
  <PresentationFormat>Widescreen</PresentationFormat>
  <Paragraphs>61</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47</cp:revision>
  <dcterms:created xsi:type="dcterms:W3CDTF">2013-01-27T09:14:16Z</dcterms:created>
  <dcterms:modified xsi:type="dcterms:W3CDTF">2026-08-27T05:31:56Z</dcterms:modified>
  <cp:category/>
</cp:coreProperties>
</file>