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1" r:id="rId2"/>
    <p:sldId id="262" r:id="rId3"/>
    <p:sldId id="263" r:id="rId4"/>
    <p:sldId id="265" r:id="rId5"/>
    <p:sldId id="266" r:id="rId6"/>
    <p:sldId id="269" r:id="rId7"/>
    <p:sldId id="270" r:id="rId8"/>
    <p:sldId id="27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535" autoAdjust="0"/>
  </p:normalViewPr>
  <p:slideViewPr>
    <p:cSldViewPr snapToGrid="0" snapToObjects="1">
      <p:cViewPr varScale="1">
        <p:scale>
          <a:sx n="92" d="100"/>
          <a:sy n="92" d="100"/>
        </p:scale>
        <p:origin x="127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rporate.walmart.com/about/samsclub/company-and-leadership"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begin with the pricing dilemma itself: what exactly goes wrong when a firm with market power charges everybody the same price.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trap. Charge a high price and you capture a lot from each buyer, but you lose everyone whose willingness to pay sits below it. Charge a low price and you sell to almost everyone, but you hand a large surplus to the customers who would happily have paid far more. One price cannot do both jobs, and that is the problem the rest of the module solves.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put numbers on it. Demand is P equals 4 minus Q over 3, and marginal cost is zero, so profit maximization means setting marginal revenue to zero. That happens at 6 movies and a price of two dollars, which brings in twelve dollars a month. Hold on to that twelve dollars, because we will beat it several times before the module is over.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look at what that twelve dollars leaves behind. The red triangle above the price is consumer surplus, value the customer keeps. The grey triangle to the right is the unexploited market, viewers who would have watched at some positive price and were shut out. Neither of those is a cost of doing business; both are money the one-price strategy simply fails to reach.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Consumers are better off under resale: low-price consumers can resell their purchases at a profit; high-price consumers can buy product at a lower price than the firm would charge</a:t>
            </a:r>
          </a:p>
          <a:p>
            <a:r>
              <a:t>Firms are not better off, since only selling at one price, the lower price!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Spangler Candy is a family business, and it makes Dum-Dums. Bloomberg's story is the clipping on the slide: rogue sellers buy Dum-Dums at Sam's Club, list them on Amazon at a markup, and undercut Spangler's own price while doing it. The headline puts what that costs the company in the millions.</a:t>
            </a:r>
            <a:br>
              <a:rPr lang="en-US" dirty="0"/>
            </a:br>
            <a:r>
              <a:rPr lang="en-US" dirty="0"/>
              <a:t>Note: </a:t>
            </a:r>
            <a:r>
              <a:rPr lang="en-US" sz="1200" b="1" u="none" strike="noStrike" kern="1200" dirty="0">
                <a:solidFill>
                  <a:schemeClr val="tx1"/>
                </a:solidFill>
                <a:effectLst/>
                <a:latin typeface="+mn-lt"/>
                <a:ea typeface="+mn-ea"/>
                <a:cs typeface="+mn-cs"/>
              </a:rPr>
              <a:t>Sam's Club</a:t>
            </a:r>
            <a:r>
              <a:rPr lang="en-US" dirty="0"/>
              <a:t> is an American chain of </a:t>
            </a:r>
            <a:r>
              <a:rPr lang="en-US" sz="1200" b="0" u="none" strike="noStrike" kern="1200" dirty="0">
                <a:solidFill>
                  <a:schemeClr val="tx1"/>
                </a:solidFill>
                <a:effectLst/>
                <a:latin typeface="+mn-lt"/>
                <a:ea typeface="+mn-ea"/>
                <a:cs typeface="+mn-cs"/>
              </a:rPr>
              <a:t>membership-only retail warehouse clubs</a:t>
            </a:r>
            <a:r>
              <a:rPr lang="en-US" dirty="0"/>
              <a:t> owned and operated by </a:t>
            </a:r>
            <a:r>
              <a:rPr lang="en-US" sz="1200" b="0" u="none" strike="noStrike" kern="1200" dirty="0">
                <a:solidFill>
                  <a:schemeClr val="tx1"/>
                </a:solidFill>
                <a:effectLst/>
                <a:latin typeface="+mn-lt"/>
                <a:ea typeface="+mn-ea"/>
                <a:cs typeface="+mn-cs"/>
                <a:hlinkClick r:id="rId3"/>
              </a:rPr>
              <a:t>Walmart Inc.</a:t>
            </a:r>
            <a:r>
              <a:rPr lang="en-US" dirty="0"/>
              <a:t>. Founded in 1983 by Walmart creator Sam Walton, it sells groceries, electronics, and household goods in bulk quantities at deeply discounted prices.</a:t>
            </a:r>
          </a:p>
          <a:p>
            <a:r>
              <a:rPr lang="en-US" sz="1200" b="0" i="0" kern="1200" dirty="0">
                <a:solidFill>
                  <a:schemeClr val="tx1"/>
                </a:solidFill>
                <a:effectLst/>
                <a:latin typeface="+mn-lt"/>
                <a:ea typeface="+mn-ea"/>
                <a:cs typeface="+mn-cs"/>
              </a:rPr>
              <a:t>The resellers never held any stock. They listed Dum-Dums on Amazon, waited for an order, then bought one 500-pack at Sam's Club and had Sam's Club ship it straight to the Amazon buyer. The source is Bloomberg's story by Spencer Soper (August 2, 2022). It is paywalled, so everything below comes from syndicated and secondary write-ups of it, and I have not read the original.</a:t>
            </a:r>
            <a:endParaRPr dirty="0"/>
          </a:p>
          <a:p>
            <a:r>
              <a:rPr dirty="0"/>
              <a:t>Notice what those sellers are adding: nothing. They are not manufacturing, branding or improving anything. They are moving the same candy out of a cheap channel into an expensive one and keeping the spread. That is arbitrage, and it exists only because the identical product is available at two prices.</a:t>
            </a:r>
          </a:p>
          <a:p>
            <a:r>
              <a:rPr dirty="0"/>
              <a:t>Two things make it hard to stop. Listing on Amazon costs a seller essentially nothing, so one person who spots the gap can scale to a thousand listings with no fixed cost to recover, and the arbitrage does not stay small. And Bloomberg notes that the sellers are violating Amazon's policy, which is the part worth dwelling on: an explicit contractual ban did not stop it, because policing thousands of third-party listings is much harder than writing the rule.</a:t>
            </a:r>
          </a:p>
          <a:p>
            <a:r>
              <a:rPr dirty="0"/>
              <a:t>The general lesson is the one in the blue bar. A firm can have all the market power in the world, but if the customer who is offered the low price can turn round and sell to the customer who was offered the high one, the two prices collapse into one. Ask the class what Spangler could actually do about it: different pack sizes or different products for different channels, contracts with distributors, tighter allocation to the clubs, or simply a smaller gap between the two prices. Every one of those is a way of making resale hard, which is the condition this slide is here to establish.</a:t>
            </a:r>
          </a:p>
          <a:p>
            <a:r>
              <a:rPr dirty="0"/>
              <a:t>Source: Bloomberg.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degrees are really three answers to one question: how much does the firm know about who is standing in front of it? First degree, it knows each customer's willingness to pay. Third degree, it can sort people into groups. Second degree, it knows nothing and has to design choices that make customers sort themselves. Everything in this module is one of those three.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Simple vs. Complex Pricing</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2</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1234416"/>
            <a:ext cx="11109960"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1</a:t>
            </a:r>
          </a:p>
        </p:txBody>
      </p:sp>
      <p:sp>
        <p:nvSpPr>
          <p:cNvPr id="9" name="Rounded Rectangle 8"/>
          <p:cNvSpPr/>
          <p:nvPr/>
        </p:nvSpPr>
        <p:spPr>
          <a:xfrm>
            <a:off x="10332720" y="135786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2</a:t>
            </a:r>
          </a:p>
        </p:txBody>
      </p:sp>
      <p:sp>
        <p:nvSpPr>
          <p:cNvPr id="10" name="TextBox 9"/>
          <p:cNvSpPr txBox="1"/>
          <p:nvPr/>
        </p:nvSpPr>
        <p:spPr>
          <a:xfrm>
            <a:off x="1874519" y="1280136"/>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Simple vs. Complex Pricing</a:t>
            </a:r>
          </a:p>
          <a:p>
            <a:pPr algn="l">
              <a:spcBef>
                <a:spcPts val="0"/>
              </a:spcBef>
              <a:buNone/>
            </a:pPr>
            <a:r>
              <a:rPr sz="1600">
                <a:solidFill>
                  <a:srgbClr val="555B66"/>
                </a:solidFill>
                <a:latin typeface="Calibri"/>
              </a:rPr>
              <a:t>The pricing dilemma and why complex pricing pays</a:t>
            </a:r>
          </a:p>
        </p:txBody>
      </p:sp>
      <p:sp>
        <p:nvSpPr>
          <p:cNvPr id="11" name="Oval 10"/>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2" name="Rounded Rectangle 11"/>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3" name="TextBox 12"/>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4" name="Oval 13"/>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5" name="Rounded Rectangle 14"/>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6" name="TextBox 15"/>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7" name="Oval 16"/>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8" name="Rounded Rectangle 17"/>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9" name="TextBox 18"/>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20" name="Oval 19"/>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3</a:t>
            </a:r>
          </a:p>
        </p:txBody>
      </p:sp>
      <p:sp>
        <p:nvSpPr>
          <p:cNvPr id="21" name="Rounded Rectangle 20"/>
          <p:cNvSpPr/>
          <p:nvPr/>
        </p:nvSpPr>
        <p:spPr>
          <a:xfrm>
            <a:off x="10332720" y="342900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5</a:t>
            </a:r>
          </a:p>
        </p:txBody>
      </p:sp>
      <p:sp>
        <p:nvSpPr>
          <p:cNvPr id="22" name="TextBox 21"/>
          <p:cNvSpPr txBox="1"/>
          <p:nvPr/>
        </p:nvSpPr>
        <p:spPr>
          <a:xfrm>
            <a:off x="1874519" y="345304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Indirect Price Discrimination (Second Degree)</a:t>
            </a:r>
          </a:p>
        </p:txBody>
      </p:sp>
      <p:sp>
        <p:nvSpPr>
          <p:cNvPr id="23" name="Oval 22"/>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4</a:t>
            </a:r>
          </a:p>
        </p:txBody>
      </p:sp>
      <p:sp>
        <p:nvSpPr>
          <p:cNvPr id="24" name="Rounded Rectangle 23"/>
          <p:cNvSpPr/>
          <p:nvPr/>
        </p:nvSpPr>
        <p:spPr>
          <a:xfrm>
            <a:off x="10332720" y="397993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6–8</a:t>
            </a:r>
          </a:p>
        </p:txBody>
      </p:sp>
      <p:sp>
        <p:nvSpPr>
          <p:cNvPr id="25" name="TextBox 24"/>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Advanced Pricing Strategies</a:t>
            </a:r>
          </a:p>
        </p:txBody>
      </p:sp>
      <p:sp>
        <p:nvSpPr>
          <p:cNvPr id="26" name="Oval 25"/>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7" name="Rounded Rectangle 26"/>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8" name="TextBox 27"/>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1" name="TextBox 30"/>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7D93220A-BEE9-5825-A0F6-F5D6DED4371C}"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Dilemma of Simple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362456"/>
            <a:ext cx="5248656" cy="4631436"/>
          </a:xfrm>
          <a:prstGeom prst="rect">
            <a:avLst/>
          </a:prstGeom>
          <a:noFill/>
        </p:spPr>
        <p:txBody>
          <a:bodyPr wrap="square" lIns="0" tIns="0" rIns="0" bIns="0" anchor="ctr">
            <a:noAutofit/>
          </a:bodyPr>
          <a:lstStyle>
            <a:lvl1pPr marL="342900" indent="-342900">
              <a:spcBef>
                <a:spcPts val="1400"/>
              </a:spcBef>
              <a:buClr>
                <a:srgbClr val="0B2B4E"/>
              </a:buClr>
              <a:buFont typeface="Calibri"/>
              <a:buChar char="▪"/>
              <a:defRPr sz="2600" b="0">
                <a:solidFill>
                  <a:srgbClr val="0B2B4E"/>
                </a:solidFill>
                <a:latin typeface="Calibri"/>
              </a:defRPr>
            </a:lvl1pPr>
            <a:lvl2pPr marL="685800" indent="-228600">
              <a:spcBef>
                <a:spcPts val="300"/>
              </a:spcBef>
              <a:buClr>
                <a:srgbClr val="555B66"/>
              </a:buClr>
              <a:buFont typeface="Calibri"/>
              <a:buChar char="–"/>
              <a:defRPr sz="2400" b="0">
                <a:solidFill>
                  <a:srgbClr val="555B66"/>
                </a:solidFill>
                <a:latin typeface="Calibri"/>
              </a:defRPr>
            </a:lvl2pPr>
          </a:lstStyle>
          <a:p>
            <a:pPr algn="l"/>
            <a:r>
              <a:rPr dirty="0">
                <a:latin typeface="Calibri"/>
              </a:rPr>
              <a:t>Simple pricing: same price for all customers</a:t>
            </a:r>
          </a:p>
          <a:p>
            <a:pPr algn="l"/>
            <a:r>
              <a:rPr dirty="0">
                <a:latin typeface="Calibri"/>
              </a:rPr>
              <a:t>Limitations of simple pricing:</a:t>
            </a:r>
          </a:p>
          <a:p>
            <a:pPr lvl="1"/>
            <a:r>
              <a:rPr lang="en-US" sz="2300" dirty="0"/>
              <a:t>If you charge a </a:t>
            </a:r>
            <a:r>
              <a:rPr lang="en-US" sz="2300" b="1" dirty="0"/>
              <a:t>low price</a:t>
            </a:r>
            <a:r>
              <a:rPr lang="en-US" sz="2300" dirty="0"/>
              <a:t>, you are too “generous” to those with high willingness to pay</a:t>
            </a:r>
          </a:p>
          <a:p>
            <a:pPr lvl="1" algn="l"/>
            <a:r>
              <a:rPr sz="2300" dirty="0"/>
              <a:t>If you charge a </a:t>
            </a:r>
            <a:r>
              <a:rPr sz="2300" b="1" dirty="0"/>
              <a:t>high price</a:t>
            </a:r>
            <a:r>
              <a:rPr sz="2300" dirty="0"/>
              <a:t>, you prevent customers with relatively low willingness to pay (marginal personal value) from purchasing your product</a:t>
            </a:r>
          </a:p>
        </p:txBody>
      </p:sp>
      <p:pic>
        <p:nvPicPr>
          <p:cNvPr id="8" name="Picture 7" descr="NV_s07_wtp_segments.png"/>
          <p:cNvPicPr>
            <a:picLocks noChangeAspect="1"/>
          </p:cNvPicPr>
          <p:nvPr/>
        </p:nvPicPr>
        <p:blipFill>
          <a:blip r:embed="rId3"/>
          <a:stretch>
            <a:fillRect/>
          </a:stretch>
        </p:blipFill>
        <p:spPr>
          <a:xfrm>
            <a:off x="5576011" y="2220666"/>
            <a:ext cx="6259982" cy="3307817"/>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FDE0808A-C7B3-55BB-BE33-D789A22A62C4}" type="slidenum">
              <a:rPr lang="en-US" sz="1200" dirty="0">
                <a:solidFill>
                  <a:srgbClr val="555B66"/>
                </a:solidFill>
                <a:latin typeface="Calibri"/>
              </a:rPr>
              <a:t>3</a:t>
            </a:fld>
            <a:endParaRPr lang="en-US" sz="1200" dirty="0">
              <a:solidFill>
                <a:srgbClr val="555B66"/>
              </a:solidFill>
              <a:latin typeface="Calibri"/>
            </a:endParaRPr>
          </a:p>
        </p:txBody>
      </p:sp>
      <p:sp>
        <p:nvSpPr>
          <p:cNvPr id="13" name="Rounded Rectangle 8">
            <a:extLst>
              <a:ext uri="{FF2B5EF4-FFF2-40B4-BE49-F238E27FC236}">
                <a16:creationId xmlns:a16="http://schemas.microsoft.com/office/drawing/2014/main" id="{6B7EF8F9-DCEE-0DC9-8F10-4EDF32F037C7}"/>
              </a:ext>
            </a:extLst>
          </p:cNvPr>
          <p:cNvSpPr/>
          <p:nvPr/>
        </p:nvSpPr>
        <p:spPr>
          <a:xfrm>
            <a:off x="1889607" y="5929884"/>
            <a:ext cx="8778240"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900" b="1" dirty="0">
                <a:solidFill>
                  <a:srgbClr val="FFFFFF"/>
                </a:solidFill>
                <a:latin typeface="Calibri"/>
              </a:rPr>
              <a:t>Under Simple Pricing, your price is ‘too low’ for some, and ‘too high’ for others</a:t>
            </a:r>
            <a:endParaRPr sz="1900" b="1" dirty="0">
              <a:solidFill>
                <a:srgbClr val="FFFFFF"/>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What if Netflix Used Simple Pricing per Movie? (Assume MC = 0)</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886968" y="1572768"/>
            <a:ext cx="0" cy="4087368"/>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886968" y="5660136"/>
            <a:ext cx="57424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607314" y="1440180"/>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5730811" y="5705856"/>
            <a:ext cx="1797177" cy="265176"/>
          </a:xfrm>
          <a:prstGeom prst="rect">
            <a:avLst/>
          </a:prstGeom>
          <a:noFill/>
        </p:spPr>
        <p:txBody>
          <a:bodyPr wrap="square" lIns="0" tIns="0" rIns="0" bIns="0">
            <a:spAutoFit/>
          </a:bodyPr>
          <a:lstStyle/>
          <a:p>
            <a:pPr algn="l"/>
            <a:r>
              <a:rPr sz="1800" b="1" i="1" u="none">
                <a:solidFill>
                  <a:srgbClr val="0B2B4E"/>
                </a:solidFill>
                <a:latin typeface="Calibri"/>
              </a:rPr>
              <a:t>Movies per month</a:t>
            </a:r>
          </a:p>
        </p:txBody>
      </p:sp>
      <p:grpSp>
        <p:nvGrpSpPr>
          <p:cNvPr id="135" name="sdpair:curve:D"/>
          <p:cNvGrpSpPr/>
          <p:nvPr/>
        </p:nvGrpSpPr>
        <p:grpSpPr>
          <a:xfrm>
            <a:off x="886968" y="1929488"/>
            <a:ext cx="4462271" cy="3730648"/>
            <a:chOff x="886968" y="1929488"/>
            <a:chExt cx="4462271" cy="3730648"/>
          </a:xfrm>
        </p:grpSpPr>
        <p:cxnSp>
          <p:nvCxnSpPr>
            <p:cNvPr id="11" name="sdcurve:D"/>
            <p:cNvCxnSpPr/>
            <p:nvPr/>
          </p:nvCxnSpPr>
          <p:spPr>
            <a:xfrm>
              <a:off x="886968" y="1929488"/>
              <a:ext cx="4462271" cy="3730648"/>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4" name="sdcurvelab:D"/>
            <p:cNvSpPr txBox="1"/>
            <p:nvPr/>
          </p:nvSpPr>
          <p:spPr>
            <a:xfrm>
              <a:off x="4955072" y="4956100"/>
              <a:ext cx="235077" cy="292608"/>
            </a:xfrm>
            <a:prstGeom prst="rect">
              <a:avLst/>
            </a:prstGeom>
            <a:noFill/>
          </p:spPr>
          <p:txBody>
            <a:bodyPr wrap="square" lIns="0" tIns="0" rIns="0" bIns="0">
              <a:spAutoFit/>
            </a:bodyPr>
            <a:lstStyle/>
            <a:p>
              <a:pPr algn="l"/>
              <a:r>
                <a:rPr sz="2000" b="1" i="1" u="none">
                  <a:solidFill>
                    <a:srgbClr val="A2162A"/>
                  </a:solidFill>
                  <a:latin typeface="Calibri"/>
                </a:rPr>
                <a:t>D</a:t>
              </a:r>
            </a:p>
          </p:txBody>
        </p:sp>
      </p:grpSp>
      <p:grpSp>
        <p:nvGrpSpPr>
          <p:cNvPr id="136" name="sdpair:curve:MR"/>
          <p:cNvGrpSpPr/>
          <p:nvPr/>
        </p:nvGrpSpPr>
        <p:grpSpPr>
          <a:xfrm>
            <a:off x="886968" y="1929488"/>
            <a:ext cx="2939780" cy="4215508"/>
            <a:chOff x="886968" y="1929488"/>
            <a:chExt cx="2939780" cy="4215508"/>
          </a:xfrm>
        </p:grpSpPr>
        <p:cxnSp>
          <p:nvCxnSpPr>
            <p:cNvPr id="12" name="sdcurve:MR"/>
            <p:cNvCxnSpPr/>
            <p:nvPr/>
          </p:nvCxnSpPr>
          <p:spPr>
            <a:xfrm>
              <a:off x="886968" y="1929488"/>
              <a:ext cx="2431938" cy="4066406"/>
            </a:xfrm>
            <a:prstGeom prst="line">
              <a:avLst/>
            </a:prstGeom>
            <a:ln w="28575">
              <a:solidFill>
                <a:srgbClr val="A2162A"/>
              </a:solidFill>
              <a:prstDash val="dash"/>
            </a:ln>
          </p:spPr>
          <p:style>
            <a:lnRef idx="2">
              <a:schemeClr val="accent1"/>
            </a:lnRef>
            <a:fillRef idx="0">
              <a:schemeClr val="accent1"/>
            </a:fillRef>
            <a:effectRef idx="1">
              <a:schemeClr val="accent1"/>
            </a:effectRef>
            <a:fontRef idx="minor">
              <a:schemeClr val="tx1"/>
            </a:fontRef>
          </p:style>
        </p:cxnSp>
        <p:sp>
          <p:nvSpPr>
            <p:cNvPr id="15" name="sdcurvelab:MR"/>
            <p:cNvSpPr txBox="1"/>
            <p:nvPr/>
          </p:nvSpPr>
          <p:spPr>
            <a:xfrm>
              <a:off x="3382121" y="5852388"/>
              <a:ext cx="444627" cy="292608"/>
            </a:xfrm>
            <a:prstGeom prst="rect">
              <a:avLst/>
            </a:prstGeom>
            <a:noFill/>
          </p:spPr>
          <p:txBody>
            <a:bodyPr wrap="square" lIns="0" tIns="0" rIns="0" bIns="0">
              <a:spAutoFit/>
            </a:bodyPr>
            <a:lstStyle/>
            <a:p>
              <a:pPr algn="l"/>
              <a:r>
                <a:rPr sz="2000" b="1" i="1" u="none">
                  <a:solidFill>
                    <a:srgbClr val="A2162A"/>
                  </a:solidFill>
                  <a:latin typeface="Calibri"/>
                </a:rPr>
                <a:t>MR</a:t>
              </a:r>
            </a:p>
          </p:txBody>
        </p:sp>
      </p:grpSp>
      <p:grpSp>
        <p:nvGrpSpPr>
          <p:cNvPr id="137" name="sdpair:curve:MC"/>
          <p:cNvGrpSpPr/>
          <p:nvPr/>
        </p:nvGrpSpPr>
        <p:grpSpPr>
          <a:xfrm>
            <a:off x="886968" y="5349683"/>
            <a:ext cx="5381381" cy="292608"/>
            <a:chOff x="886968" y="5349683"/>
            <a:chExt cx="5381381" cy="292608"/>
          </a:xfrm>
        </p:grpSpPr>
        <p:cxnSp>
          <p:nvCxnSpPr>
            <p:cNvPr id="13" name="sdcurve:MC"/>
            <p:cNvCxnSpPr/>
            <p:nvPr/>
          </p:nvCxnSpPr>
          <p:spPr>
            <a:xfrm>
              <a:off x="886968" y="5604176"/>
              <a:ext cx="4908499" cy="0"/>
            </a:xfrm>
            <a:prstGeom prst="line">
              <a:avLst/>
            </a:prstGeom>
            <a:ln w="28575">
              <a:solidFill>
                <a:srgbClr val="0070C0"/>
              </a:solidFill>
            </a:ln>
          </p:spPr>
          <p:style>
            <a:lnRef idx="2">
              <a:schemeClr val="accent1"/>
            </a:lnRef>
            <a:fillRef idx="0">
              <a:schemeClr val="accent1"/>
            </a:fillRef>
            <a:effectRef idx="1">
              <a:schemeClr val="accent1"/>
            </a:effectRef>
            <a:fontRef idx="minor">
              <a:schemeClr val="tx1"/>
            </a:fontRef>
          </p:style>
        </p:cxnSp>
        <p:sp>
          <p:nvSpPr>
            <p:cNvPr id="16" name="sdcurvelab:MC"/>
            <p:cNvSpPr txBox="1"/>
            <p:nvPr/>
          </p:nvSpPr>
          <p:spPr>
            <a:xfrm>
              <a:off x="5576072" y="5349683"/>
              <a:ext cx="692277" cy="292608"/>
            </a:xfrm>
            <a:prstGeom prst="rect">
              <a:avLst/>
            </a:prstGeom>
            <a:noFill/>
          </p:spPr>
          <p:txBody>
            <a:bodyPr wrap="square" lIns="0" tIns="0" rIns="0" bIns="0">
              <a:spAutoFit/>
            </a:bodyPr>
            <a:lstStyle/>
            <a:p>
              <a:pPr algn="l"/>
              <a:r>
                <a:rPr sz="1700" b="0" i="1" u="none">
                  <a:solidFill>
                    <a:srgbClr val="0070C0"/>
                  </a:solidFill>
                  <a:latin typeface="Calibri"/>
                </a:rPr>
                <a:t>MC = 0</a:t>
              </a:r>
            </a:p>
          </p:txBody>
        </p:sp>
      </p:grpSp>
      <p:sp>
        <p:nvSpPr>
          <p:cNvPr id="17" name="Rectangle 16"/>
          <p:cNvSpPr/>
          <p:nvPr/>
        </p:nvSpPr>
        <p:spPr>
          <a:xfrm>
            <a:off x="886968" y="3794812"/>
            <a:ext cx="2231135" cy="1865324"/>
          </a:xfrm>
          <a:prstGeom prst="rect">
            <a:avLst/>
          </a:prstGeom>
          <a:solidFill>
            <a:srgbClr val="E09F3E">
              <a:alpha val="24000"/>
            </a:srgbClr>
          </a:solidFill>
          <a:ln w="15875">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8" y="3931920"/>
            <a:ext cx="2048256" cy="1280160"/>
          </a:xfrm>
          <a:prstGeom prst="rect">
            <a:avLst/>
          </a:prstGeom>
          <a:noFill/>
        </p:spPr>
        <p:txBody>
          <a:bodyPr wrap="square" lIns="0" tIns="0" rIns="0" bIns="0" anchor="ctr">
            <a:spAutoFit/>
          </a:bodyPr>
          <a:lstStyle/>
          <a:p>
            <a:pPr algn="ctr"/>
            <a:r>
              <a:rPr sz="1600" b="1" i="0" u="none">
                <a:solidFill>
                  <a:srgbClr val="0B2B4E"/>
                </a:solidFill>
                <a:latin typeface="Calibri"/>
              </a:rPr>
              <a:t>Max. possible TR under simple pricing = $12</a:t>
            </a:r>
          </a:p>
        </p:txBody>
      </p:sp>
      <p:cxnSp>
        <p:nvCxnSpPr>
          <p:cNvPr id="19" name="Connector 18"/>
          <p:cNvCxnSpPr/>
          <p:nvPr/>
        </p:nvCxnSpPr>
        <p:spPr>
          <a:xfrm>
            <a:off x="886968" y="3794812"/>
            <a:ext cx="2231135" cy="0"/>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18103" y="3794812"/>
            <a:ext cx="0" cy="1865324"/>
          </a:xfrm>
          <a:prstGeom prst="line">
            <a:avLst/>
          </a:prstGeom>
          <a:ln w="15875">
            <a:solidFill>
              <a:srgbClr val="555B66"/>
            </a:solidFill>
            <a:prstDash val="dash"/>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2063" y="1792328"/>
            <a:ext cx="301752" cy="274320"/>
          </a:xfrm>
          <a:prstGeom prst="rect">
            <a:avLst/>
          </a:prstGeom>
          <a:noFill/>
        </p:spPr>
        <p:txBody>
          <a:bodyPr wrap="square" lIns="0" tIns="0" rIns="0" bIns="0">
            <a:spAutoFit/>
          </a:bodyPr>
          <a:lstStyle/>
          <a:p>
            <a:pPr algn="r"/>
            <a:r>
              <a:rPr sz="1800" b="0" i="1" u="none">
                <a:solidFill>
                  <a:srgbClr val="0B2B4E"/>
                </a:solidFill>
                <a:latin typeface="Calibri"/>
              </a:rPr>
              <a:t>$4</a:t>
            </a:r>
          </a:p>
        </p:txBody>
      </p:sp>
      <p:sp>
        <p:nvSpPr>
          <p:cNvPr id="22" name="TextBox 21"/>
          <p:cNvSpPr txBox="1"/>
          <p:nvPr/>
        </p:nvSpPr>
        <p:spPr>
          <a:xfrm>
            <a:off x="512063" y="3657652"/>
            <a:ext cx="301752" cy="274320"/>
          </a:xfrm>
          <a:prstGeom prst="rect">
            <a:avLst/>
          </a:prstGeom>
          <a:noFill/>
        </p:spPr>
        <p:txBody>
          <a:bodyPr wrap="square" lIns="0" tIns="0" rIns="0" bIns="0">
            <a:spAutoFit/>
          </a:bodyPr>
          <a:lstStyle/>
          <a:p>
            <a:pPr algn="r"/>
            <a:r>
              <a:rPr sz="1800" b="0" i="1" u="none">
                <a:solidFill>
                  <a:srgbClr val="0B2B4E"/>
                </a:solidFill>
                <a:latin typeface="Calibri"/>
              </a:rPr>
              <a:t>$2</a:t>
            </a:r>
          </a:p>
        </p:txBody>
      </p:sp>
      <p:sp>
        <p:nvSpPr>
          <p:cNvPr id="23" name="TextBox 22"/>
          <p:cNvSpPr txBox="1"/>
          <p:nvPr/>
        </p:nvSpPr>
        <p:spPr>
          <a:xfrm>
            <a:off x="3019615" y="5715000"/>
            <a:ext cx="196976" cy="274320"/>
          </a:xfrm>
          <a:prstGeom prst="rect">
            <a:avLst/>
          </a:prstGeom>
          <a:noFill/>
        </p:spPr>
        <p:txBody>
          <a:bodyPr wrap="square" lIns="0" tIns="0" rIns="0" bIns="0">
            <a:spAutoFit/>
          </a:bodyPr>
          <a:lstStyle/>
          <a:p>
            <a:pPr algn="ctr"/>
            <a:r>
              <a:rPr sz="1800" b="0" i="1" u="none">
                <a:solidFill>
                  <a:srgbClr val="0B2B4E"/>
                </a:solidFill>
                <a:latin typeface="Calibri"/>
              </a:rPr>
              <a:t>6</a:t>
            </a:r>
          </a:p>
        </p:txBody>
      </p:sp>
      <p:sp>
        <p:nvSpPr>
          <p:cNvPr id="24" name="TextBox 23"/>
          <p:cNvSpPr txBox="1"/>
          <p:nvPr/>
        </p:nvSpPr>
        <p:spPr>
          <a:xfrm>
            <a:off x="5198363" y="5715000"/>
            <a:ext cx="301752" cy="274320"/>
          </a:xfrm>
          <a:prstGeom prst="rect">
            <a:avLst/>
          </a:prstGeom>
          <a:noFill/>
        </p:spPr>
        <p:txBody>
          <a:bodyPr wrap="square" lIns="0" tIns="0" rIns="0" bIns="0">
            <a:spAutoFit/>
          </a:bodyPr>
          <a:lstStyle/>
          <a:p>
            <a:pPr algn="ctr"/>
            <a:r>
              <a:rPr sz="1800" b="0" i="1" u="none">
                <a:solidFill>
                  <a:srgbClr val="0B2B4E"/>
                </a:solidFill>
                <a:latin typeface="Calibri"/>
              </a:rPr>
              <a:t>12</a:t>
            </a:r>
          </a:p>
        </p:txBody>
      </p:sp>
      <p:pic>
        <p:nvPicPr>
          <p:cNvPr id="25" name="Picture 24" descr="NV_s08_netflix_tv.png"/>
          <p:cNvPicPr>
            <a:picLocks noChangeAspect="1"/>
          </p:cNvPicPr>
          <p:nvPr/>
        </p:nvPicPr>
        <p:blipFill>
          <a:blip r:embed="rId3"/>
          <a:stretch>
            <a:fillRect/>
          </a:stretch>
        </p:blipFill>
        <p:spPr>
          <a:xfrm>
            <a:off x="6537960" y="1609344"/>
            <a:ext cx="3773728" cy="2608312"/>
          </a:xfrm>
          <a:prstGeom prst="roundRect">
            <a:avLst>
              <a:gd name="adj" fmla="val 8000"/>
            </a:avLst>
          </a:prstGeom>
          <a:effectLst>
            <a:outerShdw blurRad="50800" dist="38100" dir="2700000" algn="tl" rotWithShape="0">
              <a:srgbClr val="000000">
                <a:alpha val="50000"/>
              </a:srgbClr>
            </a:outerShdw>
          </a:effectLst>
        </p:spPr>
      </p:pic>
      <p:grpSp>
        <p:nvGrpSpPr>
          <p:cNvPr id="133" name="Group pair 133"/>
          <p:cNvGrpSpPr/>
          <p:nvPr/>
        </p:nvGrpSpPr>
        <p:grpSpPr>
          <a:xfrm>
            <a:off x="2176272" y="2185416"/>
            <a:ext cx="2286000" cy="777240"/>
            <a:chOff x="2176272" y="2185416"/>
            <a:chExt cx="2286000" cy="777240"/>
          </a:xfrm>
        </p:grpSpPr>
        <p:sp>
          <p:nvSpPr>
            <p:cNvPr id="26" name="Rounded Rectangle 25"/>
            <p:cNvSpPr/>
            <p:nvPr/>
          </p:nvSpPr>
          <p:spPr>
            <a:xfrm>
              <a:off x="2176272" y="2185416"/>
              <a:ext cx="2286000" cy="777240"/>
            </a:xfrm>
            <a:prstGeom prst="roundRect">
              <a:avLst>
                <a:gd name="adj" fmla="val 14000"/>
              </a:avLst>
            </a:prstGeom>
            <a:solidFill>
              <a:srgbClr val="FFFFFF"/>
            </a:solidFill>
            <a:ln w="22225">
              <a:solidFill>
                <a:srgbClr val="A2162A"/>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27" name="TextBox 26"/>
                <p:cNvSpPr txBox="1"/>
                <p:nvPr/>
              </p:nvSpPr>
              <p:spPr>
                <a:xfrm>
                  <a:off x="2267712" y="2299670"/>
                  <a:ext cx="2103120" cy="45720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a:solidFill>
                              <a:srgbClr val="0B2B4E"/>
                            </a:solidFill>
                            <a:latin typeface="Cambria Math"/>
                            <a:ea typeface="Cambria Math"/>
                          </a:rPr>
                          <m:t>𝑃</m:t>
                        </m:r>
                        <m:r>
                          <a:rPr lang="en-US" sz="2200" b="0" i="0">
                            <a:solidFill>
                              <a:srgbClr val="0B2B4E"/>
                            </a:solidFill>
                            <a:latin typeface="Cambria Math"/>
                          </a:rPr>
                          <m:t> = 4 − </m:t>
                        </m:r>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𝑄</m:t>
                            </m:r>
                          </m:num>
                          <m:den>
                            <m:r>
                              <a:rPr lang="en-US" sz="2200" b="0" i="0">
                                <a:solidFill>
                                  <a:srgbClr val="0B2B4E"/>
                                </a:solidFill>
                                <a:latin typeface="Cambria Math"/>
                              </a:rPr>
                              <m:t>3</m:t>
                            </m:r>
                          </m:den>
                        </m:f>
                      </m:oMath>
                    </m:oMathPara>
                  </a14:m>
                  <a:endParaRPr lang="en-US" sz="2200"/>
                </a:p>
              </p:txBody>
            </p:sp>
          </mc:Choice>
          <mc:Fallback xmlns="">
            <p:sp>
              <p:nvSpPr>
                <p:cNvPr id="27" name="TextBox 26"/>
                <p:cNvSpPr txBox="1">
                  <a:spLocks noRot="1" noChangeAspect="1" noMove="1" noResize="1" noEditPoints="1" noAdjustHandles="1" noChangeArrowheads="1" noChangeShapeType="1" noTextEdit="1"/>
                </p:cNvSpPr>
                <p:nvPr/>
              </p:nvSpPr>
              <p:spPr>
                <a:xfrm>
                  <a:off x="2267712" y="2299670"/>
                  <a:ext cx="2103120" cy="457200"/>
                </a:xfrm>
                <a:prstGeom prst="rect">
                  <a:avLst/>
                </a:prstGeom>
                <a:blipFill>
                  <a:blip r:embed="rId4"/>
                  <a:stretch>
                    <a:fillRect t="-10667" b="-20000"/>
                  </a:stretch>
                </a:blipFill>
              </p:spPr>
              <p:txBody>
                <a:bodyPr/>
                <a:lstStyle/>
                <a:p>
                  <a:r>
                    <a:rPr lang="en-US">
                      <a:noFill/>
                    </a:rPr>
                    <a:t> </a:t>
                  </a:r>
                </a:p>
              </p:txBody>
            </p:sp>
          </mc:Fallback>
        </mc:AlternateContent>
      </p:grpSp>
      <p:grpSp>
        <p:nvGrpSpPr>
          <p:cNvPr id="134" name="Group pair 134"/>
          <p:cNvGrpSpPr/>
          <p:nvPr/>
        </p:nvGrpSpPr>
        <p:grpSpPr>
          <a:xfrm>
            <a:off x="8211312" y="4992624"/>
            <a:ext cx="3813048" cy="1042415"/>
            <a:chOff x="8211312" y="4992624"/>
            <a:chExt cx="3813048" cy="1042415"/>
          </a:xfrm>
        </p:grpSpPr>
        <p:sp>
          <p:nvSpPr>
            <p:cNvPr id="28" name="Rounded Rectangle 27"/>
            <p:cNvSpPr/>
            <p:nvPr/>
          </p:nvSpPr>
          <p:spPr>
            <a:xfrm>
              <a:off x="8211312" y="4992624"/>
              <a:ext cx="3813048" cy="1042415"/>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94192" y="5102352"/>
              <a:ext cx="3447288" cy="822959"/>
            </a:xfrm>
            <a:prstGeom prst="rect">
              <a:avLst/>
            </a:prstGeom>
            <a:noFill/>
          </p:spPr>
          <p:txBody>
            <a:bodyPr wrap="square" lIns="45720" tIns="0" rIns="45720" bIns="0" anchor="ctr">
              <a:spAutoFit/>
            </a:bodyPr>
            <a:lstStyle/>
            <a:p>
              <a:pPr algn="l"/>
              <a:r>
                <a:rPr sz="1800" b="1" i="0" u="none">
                  <a:solidFill>
                    <a:srgbClr val="0B2B4E"/>
                  </a:solidFill>
                  <a:latin typeface="Calibri"/>
                </a:rPr>
                <a:t>Since MC = 0:  </a:t>
              </a:r>
              <a:r>
                <a:rPr sz="1800" b="0" i="0" u="none">
                  <a:solidFill>
                    <a:srgbClr val="0B2B4E"/>
                  </a:solidFill>
                  <a:latin typeface="Calibri"/>
                </a:rPr>
                <a:t>profit maximization implies MR = MC = 0, so Netflix charges $2 per movie.</a:t>
              </a:r>
            </a:p>
          </p:txBody>
        </p:sp>
      </p:gr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26EFB99A-B290-50B4-9E80-1277B2FA641F}"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fade">
                                      <p:cBhvr>
                                        <p:cTn id="7" dur="500"/>
                                        <p:tgtEl>
                                          <p:spTgt spid="133"/>
                                        </p:tgtEl>
                                      </p:cBhvr>
                                    </p:animEffect>
                                  </p:childTnLst>
                                </p:cTn>
                              </p:par>
                              <p:par>
                                <p:cTn id="8" presetID="10" presetClass="entr" presetSubtype="0" fill="hold" nodeType="withEffect">
                                  <p:stCondLst>
                                    <p:cond delay="0"/>
                                  </p:stCondLst>
                                  <p:childTnLst>
                                    <p:set>
                                      <p:cBhvr>
                                        <p:cTn id="9" dur="1" fill="hold">
                                          <p:stCondLst>
                                            <p:cond delay="0"/>
                                          </p:stCondLst>
                                        </p:cTn>
                                        <p:tgtEl>
                                          <p:spTgt spid="135"/>
                                        </p:tgtEl>
                                        <p:attrNameLst>
                                          <p:attrName>style.visibility</p:attrName>
                                        </p:attrNameLst>
                                      </p:cBhvr>
                                      <p:to>
                                        <p:strVal val="visible"/>
                                      </p:to>
                                    </p:set>
                                    <p:animEffect transition="in" filter="fade">
                                      <p:cBhvr>
                                        <p:cTn id="10" dur="500"/>
                                        <p:tgtEl>
                                          <p:spTgt spid="135"/>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7"/>
                                        </p:tgtEl>
                                        <p:attrNameLst>
                                          <p:attrName>style.visibility</p:attrName>
                                        </p:attrNameLst>
                                      </p:cBhvr>
                                      <p:to>
                                        <p:strVal val="visible"/>
                                      </p:to>
                                    </p:set>
                                    <p:animEffect transition="in" filter="fade">
                                      <p:cBhvr>
                                        <p:cTn id="21" dur="500"/>
                                        <p:tgtEl>
                                          <p:spTgt spid="13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6"/>
                                        </p:tgtEl>
                                        <p:attrNameLst>
                                          <p:attrName>style.visibility</p:attrName>
                                        </p:attrNameLst>
                                      </p:cBhvr>
                                      <p:to>
                                        <p:strVal val="visible"/>
                                      </p:to>
                                    </p:set>
                                    <p:animEffect transition="in" filter="fade">
                                      <p:cBhvr>
                                        <p:cTn id="26" dur="500"/>
                                        <p:tgtEl>
                                          <p:spTgt spid="13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34"/>
                                        </p:tgtEl>
                                        <p:attrNameLst>
                                          <p:attrName>style.visibility</p:attrName>
                                        </p:attrNameLst>
                                      </p:cBhvr>
                                      <p:to>
                                        <p:strVal val="visible"/>
                                      </p:to>
                                    </p:set>
                                    <p:animEffect transition="in" filter="fade">
                                      <p:cBhvr>
                                        <p:cTn id="45" dur="500"/>
                                        <p:tgtEl>
                                          <p:spTgt spid="13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One Price Leaves Two Kinds of Money on the Table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960120" y="1344167"/>
            <a:ext cx="0" cy="4645153"/>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960120" y="5989320"/>
            <a:ext cx="5285231"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680466" y="1211579"/>
            <a:ext cx="206502" cy="265176"/>
          </a:xfrm>
          <a:prstGeom prst="rect">
            <a:avLst/>
          </a:prstGeom>
          <a:noFill/>
        </p:spPr>
        <p:txBody>
          <a:bodyPr wrap="square" lIns="0" tIns="0" rIns="0" bIns="0">
            <a:spAutoFit/>
          </a:bodyPr>
          <a:lstStyle/>
          <a:p>
            <a:pPr algn="l"/>
            <a:r>
              <a:rPr sz="1800" b="1" i="1" u="none">
                <a:solidFill>
                  <a:srgbClr val="0B2B4E"/>
                </a:solidFill>
                <a:latin typeface="Calibri"/>
              </a:rPr>
              <a:t>P</a:t>
            </a:r>
          </a:p>
        </p:txBody>
      </p:sp>
      <p:sp>
        <p:nvSpPr>
          <p:cNvPr id="10" name="sdaxistitle:x"/>
          <p:cNvSpPr txBox="1"/>
          <p:nvPr/>
        </p:nvSpPr>
        <p:spPr>
          <a:xfrm>
            <a:off x="5346763" y="6035040"/>
            <a:ext cx="1797177" cy="265176"/>
          </a:xfrm>
          <a:prstGeom prst="rect">
            <a:avLst/>
          </a:prstGeom>
          <a:noFill/>
        </p:spPr>
        <p:txBody>
          <a:bodyPr wrap="square" lIns="0" tIns="0" rIns="0" bIns="0">
            <a:spAutoFit/>
          </a:bodyPr>
          <a:lstStyle/>
          <a:p>
            <a:pPr algn="l"/>
            <a:r>
              <a:rPr sz="1800" b="1" i="1" u="none">
                <a:solidFill>
                  <a:srgbClr val="0B2B4E"/>
                </a:solidFill>
                <a:latin typeface="Calibri"/>
              </a:rPr>
              <a:t>Movies per month</a:t>
            </a:r>
          </a:p>
        </p:txBody>
      </p:sp>
      <p:grpSp>
        <p:nvGrpSpPr>
          <p:cNvPr id="141" name="sdpair:sdreglab:32d7f2f0"/>
          <p:cNvGrpSpPr/>
          <p:nvPr/>
        </p:nvGrpSpPr>
        <p:grpSpPr>
          <a:xfrm>
            <a:off x="960120" y="2255519"/>
            <a:ext cx="2048256" cy="1866900"/>
            <a:chOff x="960120" y="2255519"/>
            <a:chExt cx="2048256" cy="1866900"/>
          </a:xfrm>
        </p:grpSpPr>
        <p:sp>
          <p:nvSpPr>
            <p:cNvPr id="11" name="sdregion:32d7f2f0"/>
            <p:cNvSpPr/>
            <p:nvPr/>
          </p:nvSpPr>
          <p:spPr>
            <a:xfrm>
              <a:off x="960120" y="2255519"/>
              <a:ext cx="2048256" cy="1866900"/>
            </a:xfrm>
            <a:custGeom>
              <a:avLst/>
              <a:gdLst/>
              <a:ahLst/>
              <a:cxnLst/>
              <a:rect l="0" t="0" r="r" b="b"/>
              <a:pathLst>
                <a:path w="2048256" h="1866900">
                  <a:moveTo>
                    <a:pt x="0" y="0"/>
                  </a:moveTo>
                  <a:lnTo>
                    <a:pt x="0" y="1866900"/>
                  </a:lnTo>
                  <a:lnTo>
                    <a:pt x="2048256" y="1866900"/>
                  </a:lnTo>
                  <a:close/>
                </a:path>
              </a:pathLst>
            </a:custGeom>
            <a:solidFill>
              <a:srgbClr val="C0201B">
                <a:alpha val="26000"/>
              </a:srgbClr>
            </a:solidFill>
            <a:ln w="12700">
              <a:solidFill>
                <a:srgbClr val="C020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dreglab:32d7f2f0"/>
            <p:cNvSpPr txBox="1"/>
            <p:nvPr/>
          </p:nvSpPr>
          <p:spPr>
            <a:xfrm>
              <a:off x="1017841" y="3810237"/>
              <a:ext cx="1548765" cy="274320"/>
            </a:xfrm>
            <a:prstGeom prst="rect">
              <a:avLst/>
            </a:prstGeom>
            <a:noFill/>
          </p:spPr>
          <p:txBody>
            <a:bodyPr wrap="square" lIns="0" tIns="0" rIns="0" bIns="0">
              <a:spAutoFit/>
            </a:bodyPr>
            <a:lstStyle/>
            <a:p>
              <a:pPr algn="ctr"/>
              <a:r>
                <a:rPr sz="1600" b="1" i="0" u="none">
                  <a:solidFill>
                    <a:srgbClr val="0B2B4E"/>
                  </a:solidFill>
                  <a:latin typeface="Calibri"/>
                </a:rPr>
                <a:t>Consumer surplus</a:t>
              </a:r>
            </a:p>
          </p:txBody>
        </p:sp>
      </p:grpSp>
      <p:grpSp>
        <p:nvGrpSpPr>
          <p:cNvPr id="142" name="sdpair:sdreglab:fbcb649c"/>
          <p:cNvGrpSpPr/>
          <p:nvPr/>
        </p:nvGrpSpPr>
        <p:grpSpPr>
          <a:xfrm>
            <a:off x="960120" y="4122419"/>
            <a:ext cx="2048256" cy="1866901"/>
            <a:chOff x="960120" y="4122419"/>
            <a:chExt cx="2048256" cy="1866901"/>
          </a:xfrm>
        </p:grpSpPr>
        <p:sp>
          <p:nvSpPr>
            <p:cNvPr id="12" name="sdregion:fbcb649c"/>
            <p:cNvSpPr/>
            <p:nvPr/>
          </p:nvSpPr>
          <p:spPr>
            <a:xfrm>
              <a:off x="960120" y="4122419"/>
              <a:ext cx="2048256" cy="1866901"/>
            </a:xfrm>
            <a:custGeom>
              <a:avLst/>
              <a:gdLst/>
              <a:ahLst/>
              <a:cxnLst/>
              <a:rect l="0" t="0" r="r" b="b"/>
              <a:pathLst>
                <a:path w="2048256" h="1866901">
                  <a:moveTo>
                    <a:pt x="0" y="0"/>
                  </a:moveTo>
                  <a:lnTo>
                    <a:pt x="0" y="1866901"/>
                  </a:lnTo>
                  <a:lnTo>
                    <a:pt x="2048256" y="1866901"/>
                  </a:lnTo>
                  <a:lnTo>
                    <a:pt x="2048256" y="0"/>
                  </a:lnTo>
                  <a:close/>
                </a:path>
              </a:pathLst>
            </a:custGeom>
            <a:solidFill>
              <a:srgbClr val="E09F3E">
                <a:alpha val="24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sdreglab:fbcb649c"/>
            <p:cNvSpPr txBox="1"/>
            <p:nvPr/>
          </p:nvSpPr>
          <p:spPr>
            <a:xfrm>
              <a:off x="1495615" y="4910137"/>
              <a:ext cx="977265" cy="291465"/>
            </a:xfrm>
            <a:prstGeom prst="rect">
              <a:avLst/>
            </a:prstGeom>
            <a:noFill/>
          </p:spPr>
          <p:txBody>
            <a:bodyPr wrap="square" lIns="0" tIns="0" rIns="0" bIns="0">
              <a:spAutoFit/>
            </a:bodyPr>
            <a:lstStyle/>
            <a:p>
              <a:pPr algn="ctr"/>
              <a:r>
                <a:rPr sz="1700" b="1" i="0" u="none">
                  <a:solidFill>
                    <a:srgbClr val="0B2B4E"/>
                  </a:solidFill>
                  <a:latin typeface="Calibri"/>
                </a:rPr>
                <a:t>Revenues</a:t>
              </a:r>
            </a:p>
          </p:txBody>
        </p:sp>
      </p:grpSp>
      <p:grpSp>
        <p:nvGrpSpPr>
          <p:cNvPr id="143" name="sdpair:sdreglab:402c9b95"/>
          <p:cNvGrpSpPr/>
          <p:nvPr/>
        </p:nvGrpSpPr>
        <p:grpSpPr>
          <a:xfrm>
            <a:off x="3008376" y="4122419"/>
            <a:ext cx="2048255" cy="1866901"/>
            <a:chOff x="3008376" y="4122419"/>
            <a:chExt cx="2048255" cy="1866901"/>
          </a:xfrm>
        </p:grpSpPr>
        <p:sp>
          <p:nvSpPr>
            <p:cNvPr id="13" name="sdregion:402c9b95"/>
            <p:cNvSpPr/>
            <p:nvPr/>
          </p:nvSpPr>
          <p:spPr>
            <a:xfrm>
              <a:off x="3008376" y="4122419"/>
              <a:ext cx="2048255" cy="1866901"/>
            </a:xfrm>
            <a:custGeom>
              <a:avLst/>
              <a:gdLst/>
              <a:ahLst/>
              <a:cxnLst/>
              <a:rect l="0" t="0" r="r" b="b"/>
              <a:pathLst>
                <a:path w="2048255" h="1866901">
                  <a:moveTo>
                    <a:pt x="0" y="0"/>
                  </a:moveTo>
                  <a:lnTo>
                    <a:pt x="0" y="1866901"/>
                  </a:lnTo>
                  <a:lnTo>
                    <a:pt x="2048255" y="1866901"/>
                  </a:lnTo>
                  <a:close/>
                </a:path>
              </a:pathLst>
            </a:custGeom>
            <a:solidFill>
              <a:srgbClr val="555B66">
                <a:alpha val="26000"/>
              </a:srgbClr>
            </a:solidFill>
            <a:ln w="12700">
              <a:solidFill>
                <a:srgbClr val="555B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sdreglab:402c9b95"/>
            <p:cNvSpPr txBox="1"/>
            <p:nvPr/>
          </p:nvSpPr>
          <p:spPr>
            <a:xfrm>
              <a:off x="3040760" y="5347811"/>
              <a:ext cx="1215390" cy="582930"/>
            </a:xfrm>
            <a:prstGeom prst="rect">
              <a:avLst/>
            </a:prstGeom>
            <a:noFill/>
          </p:spPr>
          <p:txBody>
            <a:bodyPr wrap="square" lIns="0" tIns="0" rIns="0" bIns="0">
              <a:spAutoFit/>
            </a:bodyPr>
            <a:lstStyle/>
            <a:p>
              <a:pPr algn="ctr"/>
              <a:r>
                <a:rPr sz="1700" b="1" i="0" u="none">
                  <a:solidFill>
                    <a:srgbClr val="0B2B4E"/>
                  </a:solidFill>
                  <a:latin typeface="Calibri"/>
                </a:rPr>
                <a:t>Unexploited
markets</a:t>
              </a:r>
            </a:p>
          </p:txBody>
        </p:sp>
      </p:grpSp>
      <p:grpSp>
        <p:nvGrpSpPr>
          <p:cNvPr id="140" name="sdpair:curve:D"/>
          <p:cNvGrpSpPr/>
          <p:nvPr/>
        </p:nvGrpSpPr>
        <p:grpSpPr>
          <a:xfrm>
            <a:off x="960120" y="2255519"/>
            <a:ext cx="4096511" cy="3733801"/>
            <a:chOff x="960120" y="2255519"/>
            <a:chExt cx="4096511" cy="3733801"/>
          </a:xfrm>
        </p:grpSpPr>
        <p:cxnSp>
          <p:nvCxnSpPr>
            <p:cNvPr id="14" name="sdcurve:D"/>
            <p:cNvCxnSpPr/>
            <p:nvPr/>
          </p:nvCxnSpPr>
          <p:spPr>
            <a:xfrm>
              <a:off x="960120" y="2255519"/>
              <a:ext cx="4096511" cy="3733801"/>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15" name="sdcurvelab:D"/>
            <p:cNvSpPr txBox="1"/>
            <p:nvPr/>
          </p:nvSpPr>
          <p:spPr>
            <a:xfrm>
              <a:off x="4698187" y="5320283"/>
              <a:ext cx="235077" cy="292608"/>
            </a:xfrm>
            <a:prstGeom prst="rect">
              <a:avLst/>
            </a:prstGeom>
            <a:noFill/>
          </p:spPr>
          <p:txBody>
            <a:bodyPr wrap="square" lIns="0" tIns="0" rIns="0" bIns="0">
              <a:spAutoFit/>
            </a:bodyPr>
            <a:lstStyle/>
            <a:p>
              <a:pPr algn="l"/>
              <a:r>
                <a:rPr sz="2000" b="1" i="1" u="none">
                  <a:solidFill>
                    <a:srgbClr val="A2162A"/>
                  </a:solidFill>
                  <a:latin typeface="Calibri"/>
                </a:rPr>
                <a:t>D</a:t>
              </a:r>
            </a:p>
          </p:txBody>
        </p:sp>
      </p:grpSp>
      <p:grpSp>
        <p:nvGrpSpPr>
          <p:cNvPr id="139" name="Group pair 139"/>
          <p:cNvGrpSpPr/>
          <p:nvPr/>
        </p:nvGrpSpPr>
        <p:grpSpPr>
          <a:xfrm>
            <a:off x="1947672" y="2066543"/>
            <a:ext cx="2468880" cy="841248"/>
            <a:chOff x="1947672" y="2066543"/>
            <a:chExt cx="2468880" cy="841248"/>
          </a:xfrm>
        </p:grpSpPr>
        <p:sp>
          <p:nvSpPr>
            <p:cNvPr id="16" name="Rounded Rectangle 15"/>
            <p:cNvSpPr/>
            <p:nvPr/>
          </p:nvSpPr>
          <p:spPr>
            <a:xfrm>
              <a:off x="1947672" y="2066543"/>
              <a:ext cx="2468880" cy="841248"/>
            </a:xfrm>
            <a:prstGeom prst="roundRect">
              <a:avLst>
                <a:gd name="adj" fmla="val 14000"/>
              </a:avLst>
            </a:prstGeom>
            <a:solidFill>
              <a:srgbClr val="FFFFFF"/>
            </a:solidFill>
            <a:ln w="22225">
              <a:solidFill>
                <a:srgbClr val="A2162A"/>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mc:AlternateContent xmlns:mc="http://schemas.openxmlformats.org/markup-compatibility/2006" xmlns:a14="http://schemas.microsoft.com/office/drawing/2010/main">
          <mc:Choice Requires="a14">
            <p:sp>
              <p:nvSpPr>
                <p:cNvPr id="17" name="TextBox 16"/>
                <p:cNvSpPr txBox="1"/>
                <p:nvPr/>
              </p:nvSpPr>
              <p:spPr>
                <a:xfrm>
                  <a:off x="2130552" y="2203704"/>
                  <a:ext cx="2103120" cy="457200"/>
                </a:xfrm>
                <a:prstGeom prst="rect">
                  <a:avLst/>
                </a:prstGeom>
                <a:noFill/>
              </p:spPr>
              <p:txBody>
                <a:bodyPr wrap="square" anchor="ctr">
                  <a:spAutoFit/>
                </a:bodyPr>
                <a:lstStyle/>
                <a:p>
                  <a:pPr algn="ctr">
                    <a:defRPr sz="2200" b="0" i="1">
                      <a:solidFill>
                        <a:srgbClr val="0B2B4E"/>
                      </a:solidFill>
                      <a:latin typeface="Cambria Math"/>
                    </a:defRPr>
                  </a:pPr>
                  <a14:m>
                    <m:oMathPara xmlns:m="http://schemas.openxmlformats.org/officeDocument/2006/math">
                      <m:oMath>
                        <m:r>
                          <a:rPr lang="en-US" sz="2200" b="0" i="1">
                            <a:solidFill>
                              <a:srgbClr val="0B2B4E"/>
                            </a:solidFill>
                            <a:latin typeface="Cambria Math"/>
                            <a:ea typeface="Cambria Math"/>
                          </a:rPr>
                          <m:t>𝑃</m:t>
                        </m:r>
                        <m:r>
                          <a:rPr lang="en-US" sz="2200" b="0" i="0">
                            <a:solidFill>
                              <a:srgbClr val="0B2B4E"/>
                            </a:solidFill>
                            <a:latin typeface="Cambria Math"/>
                          </a:rPr>
                          <m:t> = 4 − </m:t>
                        </m:r>
                        <m:f>
                          <m:fPr>
                            <m:ctrlPr>
                              <a:rPr lang="en-US" sz="2200" b="0" i="1">
                                <a:solidFill>
                                  <a:srgbClr val="0B2B4E"/>
                                </a:solidFill>
                                <a:latin typeface="Cambria Math"/>
                                <a:ea typeface="Cambria Math"/>
                              </a:rPr>
                            </m:ctrlPr>
                          </m:fPr>
                          <m:num>
                            <m:r>
                              <a:rPr lang="en-US" sz="2200" b="0" i="1">
                                <a:solidFill>
                                  <a:srgbClr val="0B2B4E"/>
                                </a:solidFill>
                                <a:latin typeface="Cambria Math"/>
                                <a:ea typeface="Cambria Math"/>
                              </a:rPr>
                              <m:t>𝑄</m:t>
                            </m:r>
                          </m:num>
                          <m:den>
                            <m:r>
                              <a:rPr lang="en-US" sz="2200" b="0" i="0">
                                <a:solidFill>
                                  <a:srgbClr val="0B2B4E"/>
                                </a:solidFill>
                                <a:latin typeface="Cambria Math"/>
                              </a:rPr>
                              <m:t>3</m:t>
                            </m:r>
                          </m:den>
                        </m:f>
                      </m:oMath>
                    </m:oMathPara>
                  </a14:m>
                  <a:endParaRPr lang="en-US" sz="2200"/>
                </a:p>
              </p:txBody>
            </p:sp>
          </mc:Choice>
          <mc:Fallback xmlns="">
            <p:sp>
              <p:nvSpPr>
                <p:cNvPr id="17" name="TextBox 16"/>
                <p:cNvSpPr txBox="1">
                  <a:spLocks noRot="1" noChangeAspect="1" noMove="1" noResize="1" noEditPoints="1" noAdjustHandles="1" noChangeArrowheads="1" noChangeShapeType="1" noTextEdit="1"/>
                </p:cNvSpPr>
                <p:nvPr/>
              </p:nvSpPr>
              <p:spPr>
                <a:xfrm>
                  <a:off x="2130552" y="2203704"/>
                  <a:ext cx="2103120" cy="457200"/>
                </a:xfrm>
                <a:prstGeom prst="rect">
                  <a:avLst/>
                </a:prstGeom>
                <a:blipFill>
                  <a:blip r:embed="rId3"/>
                  <a:stretch>
                    <a:fillRect t="-12000" b="-18667"/>
                  </a:stretch>
                </a:blipFill>
              </p:spPr>
              <p:txBody>
                <a:bodyPr/>
                <a:lstStyle/>
                <a:p>
                  <a:r>
                    <a:rPr lang="en-US">
                      <a:noFill/>
                    </a:rPr>
                    <a:t> </a:t>
                  </a:r>
                </a:p>
              </p:txBody>
            </p:sp>
          </mc:Fallback>
        </mc:AlternateContent>
      </p:grpSp>
      <p:sp>
        <p:nvSpPr>
          <p:cNvPr id="21" name="TextBox 20"/>
          <p:cNvSpPr txBox="1"/>
          <p:nvPr/>
        </p:nvSpPr>
        <p:spPr>
          <a:xfrm>
            <a:off x="585216" y="2118359"/>
            <a:ext cx="301752" cy="274320"/>
          </a:xfrm>
          <a:prstGeom prst="rect">
            <a:avLst/>
          </a:prstGeom>
          <a:noFill/>
        </p:spPr>
        <p:txBody>
          <a:bodyPr wrap="square" lIns="0" tIns="0" rIns="0" bIns="0">
            <a:spAutoFit/>
          </a:bodyPr>
          <a:lstStyle/>
          <a:p>
            <a:pPr algn="r"/>
            <a:r>
              <a:rPr sz="1800" b="0" i="1" u="none">
                <a:solidFill>
                  <a:srgbClr val="0B2B4E"/>
                </a:solidFill>
                <a:latin typeface="Calibri"/>
              </a:rPr>
              <a:t>$4</a:t>
            </a:r>
          </a:p>
        </p:txBody>
      </p:sp>
      <p:sp>
        <p:nvSpPr>
          <p:cNvPr id="22" name="TextBox 21"/>
          <p:cNvSpPr txBox="1"/>
          <p:nvPr/>
        </p:nvSpPr>
        <p:spPr>
          <a:xfrm>
            <a:off x="585216" y="3985259"/>
            <a:ext cx="301752" cy="274320"/>
          </a:xfrm>
          <a:prstGeom prst="rect">
            <a:avLst/>
          </a:prstGeom>
          <a:noFill/>
        </p:spPr>
        <p:txBody>
          <a:bodyPr wrap="square" lIns="0" tIns="0" rIns="0" bIns="0">
            <a:spAutoFit/>
          </a:bodyPr>
          <a:lstStyle/>
          <a:p>
            <a:pPr algn="r"/>
            <a:r>
              <a:rPr sz="1800" b="0" i="1" u="none">
                <a:solidFill>
                  <a:srgbClr val="0B2B4E"/>
                </a:solidFill>
                <a:latin typeface="Calibri"/>
              </a:rPr>
              <a:t>$2</a:t>
            </a:r>
          </a:p>
        </p:txBody>
      </p:sp>
      <p:sp>
        <p:nvSpPr>
          <p:cNvPr id="23" name="TextBox 22"/>
          <p:cNvSpPr txBox="1"/>
          <p:nvPr/>
        </p:nvSpPr>
        <p:spPr>
          <a:xfrm>
            <a:off x="2909888" y="6044183"/>
            <a:ext cx="196976" cy="274320"/>
          </a:xfrm>
          <a:prstGeom prst="rect">
            <a:avLst/>
          </a:prstGeom>
          <a:noFill/>
        </p:spPr>
        <p:txBody>
          <a:bodyPr wrap="square" lIns="0" tIns="0" rIns="0" bIns="0">
            <a:spAutoFit/>
          </a:bodyPr>
          <a:lstStyle/>
          <a:p>
            <a:pPr algn="ctr"/>
            <a:r>
              <a:rPr sz="1800" b="0" i="1" u="none">
                <a:solidFill>
                  <a:srgbClr val="0B2B4E"/>
                </a:solidFill>
                <a:latin typeface="Calibri"/>
              </a:rPr>
              <a:t>6</a:t>
            </a:r>
          </a:p>
        </p:txBody>
      </p:sp>
      <p:sp>
        <p:nvSpPr>
          <p:cNvPr id="24" name="TextBox 23"/>
          <p:cNvSpPr txBox="1"/>
          <p:nvPr/>
        </p:nvSpPr>
        <p:spPr>
          <a:xfrm>
            <a:off x="4905755" y="6044183"/>
            <a:ext cx="301752" cy="274320"/>
          </a:xfrm>
          <a:prstGeom prst="rect">
            <a:avLst/>
          </a:prstGeom>
          <a:noFill/>
        </p:spPr>
        <p:txBody>
          <a:bodyPr wrap="square" lIns="0" tIns="0" rIns="0" bIns="0">
            <a:spAutoFit/>
          </a:bodyPr>
          <a:lstStyle/>
          <a:p>
            <a:pPr algn="ctr"/>
            <a:r>
              <a:rPr sz="1800" b="0" i="1" u="none">
                <a:solidFill>
                  <a:srgbClr val="0B2B4E"/>
                </a:solidFill>
                <a:latin typeface="Calibri"/>
              </a:rPr>
              <a:t>12</a:t>
            </a:r>
          </a:p>
        </p:txBody>
      </p:sp>
      <p:sp>
        <p:nvSpPr>
          <p:cNvPr id="25" name="sdbullmark:0:dot"/>
          <p:cNvSpPr/>
          <p:nvPr/>
        </p:nvSpPr>
        <p:spPr>
          <a:xfrm>
            <a:off x="5788152" y="2231771"/>
            <a:ext cx="137160" cy="137160"/>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556248" y="2083435"/>
            <a:ext cx="5285232" cy="488695"/>
          </a:xfrm>
          <a:prstGeom prst="rect">
            <a:avLst/>
          </a:prstGeom>
          <a:noFill/>
        </p:spPr>
        <p:txBody>
          <a:bodyPr wrap="square" lIns="0" tIns="0" rIns="0" bIns="0">
            <a:spAutoFit/>
          </a:bodyPr>
          <a:lstStyle/>
          <a:p>
            <a:pPr algn="l"/>
            <a:r>
              <a:rPr sz="2800" b="0" i="0" u="none">
                <a:solidFill>
                  <a:srgbClr val="0B2B4E"/>
                </a:solidFill>
                <a:latin typeface="Calibri"/>
              </a:rPr>
              <a:t>Simplifying assumption: MC = 0</a:t>
            </a:r>
          </a:p>
        </p:txBody>
      </p:sp>
      <p:sp>
        <p:nvSpPr>
          <p:cNvPr id="27" name="sdbullmark:1:rev"/>
          <p:cNvSpPr/>
          <p:nvPr/>
        </p:nvSpPr>
        <p:spPr>
          <a:xfrm>
            <a:off x="5769864" y="2854833"/>
            <a:ext cx="228600" cy="228600"/>
          </a:xfrm>
          <a:prstGeom prst="rect">
            <a:avLst/>
          </a:prstGeom>
          <a:solidFill>
            <a:srgbClr val="E09F3E">
              <a:alpha val="24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556248" y="2752217"/>
            <a:ext cx="5285232" cy="488695"/>
          </a:xfrm>
          <a:prstGeom prst="rect">
            <a:avLst/>
          </a:prstGeom>
          <a:noFill/>
        </p:spPr>
        <p:txBody>
          <a:bodyPr wrap="square" lIns="0" tIns="0" rIns="0" bIns="0">
            <a:spAutoFit/>
          </a:bodyPr>
          <a:lstStyle/>
          <a:p>
            <a:pPr algn="l"/>
            <a:r>
              <a:rPr sz="2800" b="0" i="0" u="none">
                <a:solidFill>
                  <a:srgbClr val="0B2B4E"/>
                </a:solidFill>
                <a:latin typeface="Calibri"/>
              </a:rPr>
              <a:t>Revenues under Simple Pricing</a:t>
            </a:r>
          </a:p>
        </p:txBody>
      </p:sp>
      <p:sp>
        <p:nvSpPr>
          <p:cNvPr id="29" name="sdbullmark:2:cs"/>
          <p:cNvSpPr/>
          <p:nvPr/>
        </p:nvSpPr>
        <p:spPr>
          <a:xfrm>
            <a:off x="5769864" y="3409314"/>
            <a:ext cx="320040" cy="228600"/>
          </a:xfrm>
          <a:prstGeom prst="rtTriangle">
            <a:avLst/>
          </a:prstGeom>
          <a:solidFill>
            <a:srgbClr val="C0201B">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sdbullmark:2:unx"/>
          <p:cNvSpPr/>
          <p:nvPr/>
        </p:nvSpPr>
        <p:spPr>
          <a:xfrm>
            <a:off x="6089904" y="3637914"/>
            <a:ext cx="320040" cy="228600"/>
          </a:xfrm>
          <a:prstGeom prst="rtTriangle">
            <a:avLst/>
          </a:prstGeom>
          <a:solidFill>
            <a:srgbClr val="555B66">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56248" y="3420999"/>
            <a:ext cx="5285232" cy="922527"/>
          </a:xfrm>
          <a:prstGeom prst="rect">
            <a:avLst/>
          </a:prstGeom>
          <a:noFill/>
        </p:spPr>
        <p:txBody>
          <a:bodyPr wrap="square" lIns="0" tIns="0" rIns="0" bIns="0">
            <a:spAutoFit/>
          </a:bodyPr>
          <a:lstStyle/>
          <a:p>
            <a:pPr algn="l"/>
            <a:r>
              <a:rPr sz="2800" b="0" i="0" u="none">
                <a:solidFill>
                  <a:srgbClr val="0B2B4E"/>
                </a:solidFill>
                <a:latin typeface="Calibri"/>
              </a:rPr>
              <a:t>“Wasted profits”: consumer surplus + unexploited markets</a:t>
            </a:r>
          </a:p>
        </p:txBody>
      </p:sp>
      <p:sp>
        <p:nvSpPr>
          <p:cNvPr id="32" name="sdbullmark:3:cs"/>
          <p:cNvSpPr/>
          <p:nvPr/>
        </p:nvSpPr>
        <p:spPr>
          <a:xfrm>
            <a:off x="5769864" y="4511929"/>
            <a:ext cx="320040" cy="228600"/>
          </a:xfrm>
          <a:prstGeom prst="rtTriangle">
            <a:avLst/>
          </a:prstGeom>
          <a:solidFill>
            <a:srgbClr val="C0201B">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sdbullmark:3:rev"/>
          <p:cNvSpPr/>
          <p:nvPr/>
        </p:nvSpPr>
        <p:spPr>
          <a:xfrm>
            <a:off x="5769864" y="4740529"/>
            <a:ext cx="320040" cy="228600"/>
          </a:xfrm>
          <a:prstGeom prst="rect">
            <a:avLst/>
          </a:prstGeom>
          <a:solidFill>
            <a:srgbClr val="E09F3E">
              <a:alpha val="24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dbullmark:3:unx"/>
          <p:cNvSpPr/>
          <p:nvPr/>
        </p:nvSpPr>
        <p:spPr>
          <a:xfrm>
            <a:off x="6089904" y="4740529"/>
            <a:ext cx="320040" cy="228600"/>
          </a:xfrm>
          <a:prstGeom prst="rtTriangle">
            <a:avLst/>
          </a:prstGeom>
          <a:solidFill>
            <a:srgbClr val="555B66">
              <a:alpha val="26000"/>
            </a:srgbClr>
          </a:solidFill>
          <a:ln w="9525">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556248" y="4523613"/>
            <a:ext cx="5285232" cy="861774"/>
          </a:xfrm>
          <a:prstGeom prst="rect">
            <a:avLst/>
          </a:prstGeom>
          <a:noFill/>
        </p:spPr>
        <p:txBody>
          <a:bodyPr wrap="square" lIns="0" tIns="0" rIns="0" bIns="0">
            <a:spAutoFit/>
          </a:bodyPr>
          <a:lstStyle/>
          <a:p>
            <a:pPr algn="l"/>
            <a:r>
              <a:rPr lang="en-US" sz="2800" b="0" i="0" u="none" dirty="0">
                <a:solidFill>
                  <a:srgbClr val="0B2B4E"/>
                </a:solidFill>
                <a:latin typeface="Calibri"/>
              </a:rPr>
              <a:t>Potential </a:t>
            </a:r>
            <a:r>
              <a:rPr lang="en-US" sz="2800" dirty="0">
                <a:solidFill>
                  <a:srgbClr val="0B2B4E"/>
                </a:solidFill>
                <a:latin typeface="Calibri"/>
              </a:rPr>
              <a:t>profits under </a:t>
            </a:r>
            <a:r>
              <a:rPr sz="2800" b="0" i="0" u="none" dirty="0">
                <a:solidFill>
                  <a:srgbClr val="0B2B4E"/>
                </a:solidFill>
                <a:latin typeface="Calibri"/>
              </a:rPr>
              <a:t>complex pricing</a:t>
            </a:r>
          </a:p>
        </p:txBody>
      </p:sp>
      <p:sp>
        <p:nvSpPr>
          <p:cNvPr id="36" name="Rectangle 35"/>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9" name="TextBox 38"/>
          <p:cNvSpPr txBox="1"/>
          <p:nvPr/>
        </p:nvSpPr>
        <p:spPr>
          <a:xfrm>
            <a:off x="11475720" y="6583680"/>
            <a:ext cx="502920" cy="292608"/>
          </a:xfrm>
          <a:prstGeom prst="rect">
            <a:avLst/>
          </a:prstGeom>
          <a:noFill/>
        </p:spPr>
        <p:txBody>
          <a:bodyPr wrap="none" lIns="0" tIns="0" rIns="0" bIns="0">
            <a:spAutoFit/>
          </a:bodyPr>
          <a:lstStyle/>
          <a:p>
            <a:pPr algn="r"/>
            <a:fld id="{DD9ABE14-3AE8-5115-8866-7D6C21C4E047}"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
                                        </p:tgtEl>
                                        <p:attrNameLst>
                                          <p:attrName>style.visibility</p:attrName>
                                        </p:attrNameLst>
                                      </p:cBhvr>
                                      <p:to>
                                        <p:strVal val="visible"/>
                                      </p:to>
                                    </p:set>
                                    <p:animEffect transition="in" filter="fade">
                                      <p:cBhvr>
                                        <p:cTn id="7" dur="500"/>
                                        <p:tgtEl>
                                          <p:spTgt spid="139"/>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500"/>
                                        <p:tgtEl>
                                          <p:spTgt spid="140"/>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5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2"/>
                                        </p:tgtEl>
                                        <p:attrNameLst>
                                          <p:attrName>style.visibility</p:attrName>
                                        </p:attrNameLst>
                                      </p:cBhvr>
                                      <p:to>
                                        <p:strVal val="visible"/>
                                      </p:to>
                                    </p:set>
                                    <p:animEffect transition="in" filter="fade">
                                      <p:cBhvr>
                                        <p:cTn id="29" dur="500"/>
                                        <p:tgtEl>
                                          <p:spTgt spid="142"/>
                                        </p:tgtEl>
                                      </p:cBhvr>
                                    </p:animEffect>
                                  </p:childTnLst>
                                </p:cTn>
                              </p:par>
                              <p:par>
                                <p:cTn id="30" presetID="10" presetClass="entr" presetSubtype="0" fill="hold" nodeType="with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par>
                                <p:cTn id="33" presetID="10" presetClass="entr" presetSubtype="0" fill="hold"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00"/>
                                        <p:tgtEl>
                                          <p:spTgt spid="2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41"/>
                                        </p:tgtEl>
                                        <p:attrNameLst>
                                          <p:attrName>style.visibility</p:attrName>
                                        </p:attrNameLst>
                                      </p:cBhvr>
                                      <p:to>
                                        <p:strVal val="visible"/>
                                      </p:to>
                                    </p:set>
                                    <p:animEffect transition="in" filter="fade">
                                      <p:cBhvr>
                                        <p:cTn id="46" dur="500"/>
                                        <p:tgtEl>
                                          <p:spTgt spid="14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43"/>
                                        </p:tgtEl>
                                        <p:attrNameLst>
                                          <p:attrName>style.visibility</p:attrName>
                                        </p:attrNameLst>
                                      </p:cBhvr>
                                      <p:to>
                                        <p:strVal val="visible"/>
                                      </p:to>
                                    </p:set>
                                    <p:animEffect transition="in" filter="fade">
                                      <p:cBhvr>
                                        <p:cTn id="51" dur="500"/>
                                        <p:tgtEl>
                                          <p:spTgt spid="143"/>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fade">
                                      <p:cBhvr>
                                        <p:cTn id="56" dur="500"/>
                                        <p:tgtEl>
                                          <p:spTgt spid="31"/>
                                        </p:tgtEl>
                                      </p:cBhvr>
                                    </p:animEffect>
                                  </p:childTnLst>
                                </p:cTn>
                              </p:par>
                              <p:par>
                                <p:cTn id="57" presetID="10" presetClass="entr" presetSubtype="0" fill="hold"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00"/>
                                        <p:tgtEl>
                                          <p:spTgt spid="29"/>
                                        </p:tgtEl>
                                      </p:cBhvr>
                                    </p:animEffect>
                                  </p:childTnLst>
                                </p:cTn>
                              </p:par>
                              <p:par>
                                <p:cTn id="60" presetID="10" presetClass="entr" presetSubtype="0" fill="hold"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500"/>
                                        <p:tgtEl>
                                          <p:spTgt spid="30"/>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500"/>
                                        <p:tgtEl>
                                          <p:spTgt spid="35"/>
                                        </p:tgtEl>
                                      </p:cBhvr>
                                    </p:animEffect>
                                  </p:childTnLst>
                                </p:cTn>
                              </p:par>
                              <p:par>
                                <p:cTn id="68" presetID="10" presetClass="entr" presetSubtype="0" fill="hold"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500"/>
                                        <p:tgtEl>
                                          <p:spTgt spid="33"/>
                                        </p:tgtEl>
                                      </p:cBhvr>
                                    </p:animEffect>
                                  </p:childTnLst>
                                </p:cTn>
                              </p:par>
                              <p:par>
                                <p:cTn id="74" presetID="10" presetClass="entr" presetSubtype="0" fill="hold"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Complex (Non-Uniform) Pricing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556248" cy="4892040"/>
          </a:xfrm>
          <a:prstGeom prst="rect">
            <a:avLst/>
          </a:prstGeom>
          <a:noFill/>
        </p:spPr>
        <p:txBody>
          <a:bodyPr wrap="square" lIns="0" tIns="0" rIns="0" bIns="0" anchor="ctr">
            <a:noAutofit/>
          </a:bodyPr>
          <a:lstStyle>
            <a:lvl1pPr marL="342900" indent="-342900">
              <a:spcBef>
                <a:spcPts val="1100"/>
              </a:spcBef>
              <a:buClr>
                <a:srgbClr val="0B2B4E"/>
              </a:buClr>
              <a:buFont typeface="Calibri"/>
              <a:buChar char="▪"/>
              <a:defRPr sz="2400" b="0">
                <a:solidFill>
                  <a:srgbClr val="0B2B4E"/>
                </a:solidFill>
                <a:latin typeface="Calibri"/>
              </a:defRPr>
            </a:lvl1pPr>
            <a:lvl2pPr marL="685800" indent="-228600">
              <a:spcBef>
                <a:spcPts val="300"/>
              </a:spcBef>
              <a:buClr>
                <a:srgbClr val="555B66"/>
              </a:buClr>
              <a:buFont typeface="Calibri"/>
              <a:buChar char="–"/>
              <a:defRPr sz="2200" b="0">
                <a:solidFill>
                  <a:srgbClr val="555B66"/>
                </a:solidFill>
                <a:latin typeface="Calibri"/>
              </a:defRPr>
            </a:lvl2pPr>
          </a:lstStyle>
          <a:p>
            <a:pPr algn="l"/>
            <a:r>
              <a:rPr dirty="0">
                <a:latin typeface="Calibri"/>
              </a:rPr>
              <a:t>Requirements for complex pricing:</a:t>
            </a:r>
          </a:p>
          <a:p>
            <a:pPr lvl="1" algn="l"/>
            <a:r>
              <a:rPr dirty="0">
                <a:latin typeface="Calibri"/>
              </a:rPr>
              <a:t>Market power</a:t>
            </a:r>
          </a:p>
          <a:p>
            <a:pPr marL="1028700" lvl="2" indent="-228600" algn="l">
              <a:spcBef>
                <a:spcPts val="300"/>
              </a:spcBef>
              <a:buClr>
                <a:srgbClr val="555B66"/>
              </a:buClr>
              <a:buFont typeface="Calibri"/>
              <a:buChar char="–"/>
            </a:pPr>
            <a:r>
              <a:rPr sz="2200" dirty="0">
                <a:solidFill>
                  <a:srgbClr val="555B66"/>
                </a:solidFill>
                <a:latin typeface="Calibri"/>
              </a:rPr>
              <a:t>Downward-sloping demand (i.e., price searcher)</a:t>
            </a:r>
          </a:p>
          <a:p>
            <a:pPr marL="1028700" lvl="2" indent="-228600" algn="l">
              <a:spcBef>
                <a:spcPts val="300"/>
              </a:spcBef>
              <a:buClr>
                <a:srgbClr val="555B66"/>
              </a:buClr>
              <a:buFont typeface="Calibri"/>
              <a:buChar char="–"/>
            </a:pPr>
            <a:r>
              <a:rPr sz="2200" dirty="0">
                <a:solidFill>
                  <a:srgbClr val="555B66"/>
                </a:solidFill>
                <a:latin typeface="Calibri"/>
              </a:rPr>
              <a:t>Market power → price searchers have pricing power</a:t>
            </a:r>
          </a:p>
          <a:p>
            <a:pPr lvl="1" algn="l"/>
            <a:r>
              <a:rPr dirty="0">
                <a:latin typeface="Calibri"/>
              </a:rPr>
              <a:t>Capacity to prevent resale and arbitrage</a:t>
            </a:r>
          </a:p>
          <a:p>
            <a:pPr lvl="1" algn="l"/>
            <a:r>
              <a:rPr dirty="0">
                <a:latin typeface="Calibri"/>
              </a:rPr>
              <a:t>Enables sellers to charge different prices for different volumes/packages, or to different customers</a:t>
            </a:r>
          </a:p>
          <a:p>
            <a:pPr algn="l"/>
            <a:r>
              <a:rPr dirty="0">
                <a:latin typeface="Calibri"/>
              </a:rPr>
              <a:t>Complex pricing is usually more profitable than simple pricing</a:t>
            </a:r>
          </a:p>
        </p:txBody>
      </p:sp>
      <p:pic>
        <p:nvPicPr>
          <p:cNvPr id="8" name="Picture 7" descr="NV_s10_segments_3d.png"/>
          <p:cNvPicPr>
            <a:picLocks noChangeAspect="1"/>
          </p:cNvPicPr>
          <p:nvPr/>
        </p:nvPicPr>
        <p:blipFill>
          <a:blip r:embed="rId3"/>
          <a:stretch>
            <a:fillRect/>
          </a:stretch>
        </p:blipFill>
        <p:spPr>
          <a:xfrm>
            <a:off x="7045452" y="1572768"/>
            <a:ext cx="4672584" cy="4672584"/>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F1F879C-4422-5B2F-9ACB-B5B0A26AFC20}"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6" end="6"/>
                                            </p:txEl>
                                          </p:spTgt>
                                        </p:tgtEl>
                                        <p:attrNameLst>
                                          <p:attrName>style.visibility</p:attrName>
                                        </p:attrNameLst>
                                      </p:cBhvr>
                                      <p:to>
                                        <p:strVal val="visible"/>
                                      </p:to>
                                    </p:set>
                                    <p:animEffect transition="in" filter="fade">
                                      <p:cBhvr>
                                        <p:cTn id="15"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Preventing Resale: The Dum-Dums Case</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PG1_s20_rId3.png"/>
          <p:cNvPicPr>
            <a:picLocks noChangeAspect="1"/>
          </p:cNvPicPr>
          <p:nvPr/>
        </p:nvPicPr>
        <p:blipFill>
          <a:blip r:embed="rId3"/>
          <a:stretch>
            <a:fillRect/>
          </a:stretch>
        </p:blipFill>
        <p:spPr>
          <a:xfrm>
            <a:off x="1417320" y="1463040"/>
            <a:ext cx="6035040" cy="3794049"/>
          </a:xfrm>
          <a:prstGeom prst="rect">
            <a:avLst/>
          </a:prstGeom>
          <a:effectLst>
            <a:outerShdw blurRad="50800" dist="38100" dir="2700000" algn="tl" rotWithShape="0">
              <a:srgbClr val="000000">
                <a:alpha val="45000"/>
              </a:srgbClr>
            </a:outerShdw>
          </a:effectLst>
        </p:spPr>
      </p:pic>
      <p:sp>
        <p:nvSpPr>
          <p:cNvPr id="8" name="TextBox 7"/>
          <p:cNvSpPr txBox="1"/>
          <p:nvPr/>
        </p:nvSpPr>
        <p:spPr>
          <a:xfrm>
            <a:off x="7818120" y="1965960"/>
            <a:ext cx="4023360" cy="3291840"/>
          </a:xfrm>
          <a:prstGeom prst="rect">
            <a:avLst/>
          </a:prstGeom>
          <a:noFill/>
        </p:spPr>
        <p:txBody>
          <a:bodyPr wrap="square" lIns="0" tIns="0" rIns="0" bIns="0">
            <a:noAutofit/>
          </a:bodyPr>
          <a:lstStyle>
            <a:lvl1pPr marL="342900" indent="-342900">
              <a:spcBef>
                <a:spcPts val="17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lang="en-US" dirty="0"/>
              <a:t>Dum Dums sold in bulk at half the price on Sam’s Club</a:t>
            </a:r>
          </a:p>
          <a:p>
            <a:pPr algn="l"/>
            <a:r>
              <a:rPr lang="en-US" dirty="0"/>
              <a:t>R</a:t>
            </a:r>
            <a:r>
              <a:rPr lang="en-US" dirty="0">
                <a:latin typeface="Calibri"/>
              </a:rPr>
              <a:t>esellers never held any stock</a:t>
            </a:r>
          </a:p>
          <a:p>
            <a:pPr algn="l"/>
            <a:r>
              <a:rPr lang="en-US" dirty="0">
                <a:latin typeface="Calibri"/>
              </a:rPr>
              <a:t>They listed Dum-Dums on Amazon, waited for an order, then had Sam's Club ship it straight to the Amazon buyer</a:t>
            </a:r>
            <a:endParaRPr dirty="0">
              <a:latin typeface="Calibri"/>
            </a:endParaRPr>
          </a:p>
        </p:txBody>
      </p:sp>
      <p:sp>
        <p:nvSpPr>
          <p:cNvPr id="9" name="Rounded Rectangle 8"/>
          <p:cNvSpPr/>
          <p:nvPr/>
        </p:nvSpPr>
        <p:spPr>
          <a:xfrm>
            <a:off x="3078326" y="5769864"/>
            <a:ext cx="6035041" cy="502920"/>
          </a:xfrm>
          <a:prstGeom prst="roundRect">
            <a:avLst>
              <a:gd name="adj" fmla="val 30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Calibri"/>
              </a:rPr>
              <a:t>If buyers can resell, complex pricing is ineffective</a:t>
            </a:r>
          </a:p>
        </p:txBody>
      </p:sp>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53793BDB-F8E4-5A87-9208-0FE1942BB6AD}" type="slidenum">
              <a:rPr lang="en-US" sz="1200" dirty="0">
                <a:solidFill>
                  <a:srgbClr val="555B66"/>
                </a:solidFill>
                <a:latin typeface="Calibri"/>
              </a:rPr>
              <a:t>7</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2 · Simple vs. Complex Pricing</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Three Degrees of Price Discrimination</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16" name="Group pair 116"/>
          <p:cNvGrpSpPr/>
          <p:nvPr/>
        </p:nvGrpSpPr>
        <p:grpSpPr>
          <a:xfrm>
            <a:off x="777240" y="1554480"/>
            <a:ext cx="10652760" cy="1024128"/>
            <a:chOff x="777240" y="1554480"/>
            <a:chExt cx="10652760" cy="1024128"/>
          </a:xfrm>
        </p:grpSpPr>
        <p:sp>
          <p:nvSpPr>
            <p:cNvPr id="7" name="Rounded Rectangle 6"/>
            <p:cNvSpPr/>
            <p:nvPr/>
          </p:nvSpPr>
          <p:spPr>
            <a:xfrm>
              <a:off x="777240" y="1554480"/>
              <a:ext cx="10652760" cy="1024128"/>
            </a:xfrm>
            <a:prstGeom prst="roundRect">
              <a:avLst>
                <a:gd name="adj" fmla="val 12000"/>
              </a:avLst>
            </a:prstGeom>
            <a:solidFill>
              <a:srgbClr val="A2162A"/>
            </a:solidFill>
            <a:ln w="12700">
              <a:solidFill>
                <a:srgbClr val="A216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64208"/>
              <a:ext cx="10287000" cy="804672"/>
            </a:xfrm>
            <a:prstGeom prst="rect">
              <a:avLst/>
            </a:prstGeom>
            <a:noFill/>
          </p:spPr>
          <p:txBody>
            <a:bodyPr wrap="square" lIns="45720" tIns="0" rIns="45720" bIns="0" anchor="ctr">
              <a:spAutoFit/>
            </a:bodyPr>
            <a:lstStyle/>
            <a:p>
              <a:pPr algn="l"/>
              <a:r>
                <a:rPr sz="2000" b="1" i="0" u="none">
                  <a:solidFill>
                    <a:srgbClr val="FFFFFF"/>
                  </a:solidFill>
                  <a:latin typeface="Calibri"/>
                </a:rPr>
                <a:t>First degree (direct):  </a:t>
              </a:r>
              <a:r>
                <a:rPr sz="2000" b="0" i="0" u="none">
                  <a:solidFill>
                    <a:srgbClr val="FFFFFF"/>
                  </a:solidFill>
                  <a:latin typeface="Calibri"/>
                </a:rPr>
                <a:t>“Dream world”: the firm knows each customer’s willingness to pay (marginal personal value – MPV)</a:t>
              </a:r>
            </a:p>
          </p:txBody>
        </p:sp>
      </p:grpSp>
      <p:grpSp>
        <p:nvGrpSpPr>
          <p:cNvPr id="117" name="Group pair 117"/>
          <p:cNvGrpSpPr/>
          <p:nvPr/>
        </p:nvGrpSpPr>
        <p:grpSpPr>
          <a:xfrm>
            <a:off x="777240" y="3218688"/>
            <a:ext cx="10652760" cy="923544"/>
            <a:chOff x="777240" y="3218688"/>
            <a:chExt cx="10652760" cy="923544"/>
          </a:xfrm>
        </p:grpSpPr>
        <p:sp>
          <p:nvSpPr>
            <p:cNvPr id="9" name="Rounded Rectangle 8"/>
            <p:cNvSpPr/>
            <p:nvPr/>
          </p:nvSpPr>
          <p:spPr>
            <a:xfrm>
              <a:off x="777240" y="3218688"/>
              <a:ext cx="10652760" cy="923544"/>
            </a:xfrm>
            <a:prstGeom prst="roundRect">
              <a:avLst>
                <a:gd name="adj" fmla="val 12000"/>
              </a:avLst>
            </a:prstGeom>
            <a:solidFill>
              <a:srgbClr val="0B2B4E"/>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3328416"/>
              <a:ext cx="10287000" cy="704088"/>
            </a:xfrm>
            <a:prstGeom prst="rect">
              <a:avLst/>
            </a:prstGeom>
            <a:noFill/>
          </p:spPr>
          <p:txBody>
            <a:bodyPr wrap="square" lIns="45720" tIns="0" rIns="45720" bIns="0" anchor="ctr">
              <a:spAutoFit/>
            </a:bodyPr>
            <a:lstStyle/>
            <a:p>
              <a:pPr algn="l"/>
              <a:r>
                <a:rPr sz="2000" b="1" i="0" u="none">
                  <a:solidFill>
                    <a:srgbClr val="FFFFFF"/>
                  </a:solidFill>
                  <a:latin typeface="Calibri"/>
                </a:rPr>
                <a:t>Third degree (direct):  </a:t>
              </a:r>
              <a:r>
                <a:rPr sz="2000" b="0" i="0" u="none">
                  <a:solidFill>
                    <a:srgbClr val="FFFFFF"/>
                  </a:solidFill>
                  <a:latin typeface="Calibri"/>
                </a:rPr>
                <a:t>The firm can identify specific groups of customers with different MPV (students, seniors, tourists)</a:t>
              </a:r>
            </a:p>
          </p:txBody>
        </p:sp>
      </p:grpSp>
      <p:grpSp>
        <p:nvGrpSpPr>
          <p:cNvPr id="118" name="Group pair 118"/>
          <p:cNvGrpSpPr/>
          <p:nvPr/>
        </p:nvGrpSpPr>
        <p:grpSpPr>
          <a:xfrm>
            <a:off x="777240" y="4882896"/>
            <a:ext cx="10652760" cy="896112"/>
            <a:chOff x="777240" y="4882896"/>
            <a:chExt cx="10652760" cy="896112"/>
          </a:xfrm>
        </p:grpSpPr>
        <p:sp>
          <p:nvSpPr>
            <p:cNvPr id="11" name="Rounded Rectangle 10"/>
            <p:cNvSpPr/>
            <p:nvPr/>
          </p:nvSpPr>
          <p:spPr>
            <a:xfrm>
              <a:off x="777240" y="4882896"/>
              <a:ext cx="10652760" cy="896112"/>
            </a:xfrm>
            <a:prstGeom prst="roundRect">
              <a:avLst>
                <a:gd name="adj" fmla="val 12000"/>
              </a:avLst>
            </a:prstGeom>
            <a:solidFill>
              <a:srgbClr val="FDF6E6"/>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4992624"/>
              <a:ext cx="10287000" cy="676656"/>
            </a:xfrm>
            <a:prstGeom prst="rect">
              <a:avLst/>
            </a:prstGeom>
            <a:noFill/>
          </p:spPr>
          <p:txBody>
            <a:bodyPr wrap="square" lIns="45720" tIns="0" rIns="45720" bIns="0" anchor="ctr">
              <a:spAutoFit/>
            </a:bodyPr>
            <a:lstStyle/>
            <a:p>
              <a:pPr algn="l"/>
              <a:r>
                <a:rPr sz="2000" b="1" i="0" u="none">
                  <a:solidFill>
                    <a:srgbClr val="0B2B4E"/>
                  </a:solidFill>
                  <a:latin typeface="Calibri"/>
                </a:rPr>
                <a:t>Second degree (“indirect”):  </a:t>
              </a:r>
              <a:r>
                <a:rPr sz="2000" b="0" i="0" u="none">
                  <a:solidFill>
                    <a:srgbClr val="0B2B4E"/>
                  </a:solidFill>
                  <a:latin typeface="Calibri"/>
                </a:rPr>
                <a:t>The firm cannot identify customers’ MPV, so it uses different purchase options to infer willingness to pay: versioning, quantity discounts, coupons</a:t>
              </a:r>
            </a:p>
          </p:txBody>
        </p:sp>
      </p:grpSp>
      <p:sp>
        <p:nvSpPr>
          <p:cNvPr id="13" name="Rectangle 12"/>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6" name="TextBox 15"/>
          <p:cNvSpPr txBox="1"/>
          <p:nvPr/>
        </p:nvSpPr>
        <p:spPr>
          <a:xfrm>
            <a:off x="11475720" y="6583680"/>
            <a:ext cx="502920" cy="292608"/>
          </a:xfrm>
          <a:prstGeom prst="rect">
            <a:avLst/>
          </a:prstGeom>
          <a:noFill/>
        </p:spPr>
        <p:txBody>
          <a:bodyPr wrap="none" lIns="0" tIns="0" rIns="0" bIns="0">
            <a:spAutoFit/>
          </a:bodyPr>
          <a:lstStyle/>
          <a:p>
            <a:pPr algn="r"/>
            <a:fld id="{889F1E5C-E4B8-512C-94F0-E88E46A52CE2}" type="slidenum">
              <a:rPr lang="en-US" sz="1200" dirty="0">
                <a:solidFill>
                  <a:srgbClr val="555B66"/>
                </a:solidFill>
                <a:latin typeface="Calibri"/>
              </a:rPr>
              <a:t>8</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500"/>
                                        <p:tgtEl>
                                          <p:spTgt spid="1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7"/>
                                        </p:tgtEl>
                                        <p:attrNameLst>
                                          <p:attrName>style.visibility</p:attrName>
                                        </p:attrNameLst>
                                      </p:cBhvr>
                                      <p:to>
                                        <p:strVal val="visible"/>
                                      </p:to>
                                    </p:set>
                                    <p:animEffect transition="in" filter="fade">
                                      <p:cBhvr>
                                        <p:cTn id="12" dur="500"/>
                                        <p:tgtEl>
                                          <p:spTgt spid="1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8"/>
                                        </p:tgtEl>
                                        <p:attrNameLst>
                                          <p:attrName>style.visibility</p:attrName>
                                        </p:attrNameLst>
                                      </p:cBhvr>
                                      <p:to>
                                        <p:strVal val="visible"/>
                                      </p:to>
                                    </p:set>
                                    <p:animEffect transition="in" filter="fade">
                                      <p:cBhvr>
                                        <p:cTn id="17"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1485</Words>
  <Application>Microsoft Office PowerPoint</Application>
  <PresentationFormat>Widescreen</PresentationFormat>
  <Paragraphs>122</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18</cp:revision>
  <dcterms:created xsi:type="dcterms:W3CDTF">2013-01-27T09:14:16Z</dcterms:created>
  <dcterms:modified xsi:type="dcterms:W3CDTF">2026-09-23T19:29:58Z</dcterms:modified>
  <cp:category/>
</cp:coreProperties>
</file>