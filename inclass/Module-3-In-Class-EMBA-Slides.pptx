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2.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399" r:id="rId3"/>
    <p:sldId id="258" r:id="rId4"/>
    <p:sldId id="398" r:id="rId5"/>
    <p:sldId id="397" r:id="rId6"/>
    <p:sldId id="260" r:id="rId7"/>
    <p:sldId id="261" r:id="rId8"/>
    <p:sldId id="333" r:id="rId9"/>
    <p:sldId id="262" r:id="rId10"/>
    <p:sldId id="278" r:id="rId11"/>
    <p:sldId id="352" r:id="rId12"/>
    <p:sldId id="343" r:id="rId13"/>
    <p:sldId id="332" r:id="rId14"/>
    <p:sldId id="369" r:id="rId15"/>
    <p:sldId id="351" r:id="rId16"/>
    <p:sldId id="286" r:id="rId17"/>
    <p:sldId id="288" r:id="rId18"/>
    <p:sldId id="295" r:id="rId19"/>
    <p:sldId id="289" r:id="rId20"/>
    <p:sldId id="296" r:id="rId21"/>
    <p:sldId id="297" r:id="rId22"/>
    <p:sldId id="400" r:id="rId23"/>
    <p:sldId id="401" r:id="rId24"/>
    <p:sldId id="304" r:id="rId25"/>
    <p:sldId id="299" r:id="rId26"/>
    <p:sldId id="300" r:id="rId27"/>
    <p:sldId id="305" r:id="rId28"/>
    <p:sldId id="339" r:id="rId29"/>
    <p:sldId id="307" r:id="rId30"/>
    <p:sldId id="308" r:id="rId31"/>
    <p:sldId id="318" r:id="rId32"/>
    <p:sldId id="334" r:id="rId33"/>
    <p:sldId id="326"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C140E3-F876-B46A-0CF5-0EE4E8EFCE02}" name="Voigtlaender, Nico" initials="NV" userId="S::mrnico@ucla.edu::de02af66-eed0-4290-a37c-4568be2a7a8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31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Module 3 of Management 405, on Production and Costs. In the last module we looked at the demand side of the business, and we saw how customers respond to price and what that means for revenue. In this module we move to the supply side. We'll keep it to two questions. The first is how a firm turns its inputs into output. By inputs I just mean the things a firm uses: its people, its machines, and its materials. The second question is what that output costs to produce. Once we've answered both, we'll have everything we need for Module 4, where we combine demand and cost to find the choices that make the most profit. Let's get going.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9858B-3378-824E-E9C1-2360DEA83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03FED-7343-CC46-DC23-FB9234EB64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0A0F5AE-17E7-A784-7CA6-1FADA14DB50A}"/>
              </a:ext>
            </a:extLst>
          </p:cNvPr>
          <p:cNvSpPr>
            <a:spLocks noGrp="1"/>
          </p:cNvSpPr>
          <p:nvPr>
            <p:ph type="body" sz="quarter" idx="3"/>
          </p:nvPr>
        </p:nvSpPr>
        <p:spPr/>
        <p:txBody>
          <a:bodyPr/>
          <a:lstStyle/>
          <a:p>
            <a:r>
              <a:rPr lang="en-US" dirty="0"/>
              <a:t>One logistics note before we get into the material. The next Coffee and Econ session is on Sunday, November 8, at 9 am, on Zoom. You find the Zoom link in the class calendar on the course website. Please send me your questions or suggestions for topics ahead of time, so that we can make the most of the hour.</a:t>
            </a:r>
          </a:p>
        </p:txBody>
      </p:sp>
      <p:sp>
        <p:nvSpPr>
          <p:cNvPr id="4" name="Slide Number Placeholder 3">
            <a:extLst>
              <a:ext uri="{FF2B5EF4-FFF2-40B4-BE49-F238E27FC236}">
                <a16:creationId xmlns:a16="http://schemas.microsoft.com/office/drawing/2014/main" id="{73A96435-E1E6-D1AC-8894-ED7930DCCD96}"/>
              </a:ext>
            </a:extLst>
          </p:cNvPr>
          <p:cNvSpPr>
            <a:spLocks noGrp="1"/>
          </p:cNvSpPr>
          <p:nvPr>
            <p:ph type="sldNum" sz="quarter" idx="5"/>
          </p:nvPr>
        </p:nvSpPr>
        <p:spPr/>
      </p:sp>
    </p:spTree>
    <p:extLst>
      <p:ext uri="{BB962C8B-B14F-4D97-AF65-F5344CB8AC3E}">
        <p14:creationId xmlns:p14="http://schemas.microsoft.com/office/powerpoint/2010/main" val="1709458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 are the key facts about the midterm. The exam is open from Friday, October 30, at 12:01 am until Saturday, October 31, at 11:59 pm, and you have 3 hours from the moment you first open it. The clock keeps running once you start, so the latest time to start a full-length exam is 8:59 pm on Saturday. On Saturday the TA is available on Zoom from 9 am to noon and from 1 to 4 pm. If you take the exam during one of those windows, join the call from your phone before you begin. If you have a question, pick up the phone, show its screen to the webcam, and raise your hand in Zoom. The TA then opens a breakout room for you. Stay visible on camera while you hold the phone, and put it out of reach again afterwards. The timer does not stop during the call. The exam covers Modules 1 to 3, and the problem-solving part looks like the exercises in Problem Sets 1 and 2. To prepare, take the practice exam on the class website, under Week 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exam runs in Respondus LockDown Browser with webcam proctoring, so install it and go through the Lockdown Browser Practice beforehand. Write down your BruinLearn login, because the browser has no auto-fill. When you start, you show your workspace by lifting the webcam or the laptop, and you repeat that whenever you come back after leaving the camera's view. Anything on paper is allowed: slides, notes, books and your own summary sheets. Phones, calculators, other devices, the internet and AI tools are not. The browser has a built-in calculator. In the multiple-choice part you only pick the answer, and there is no partial credit there. In Part II you type your final numbers and text answers into the boxes, and you do your calculations and drawings on paper so we can give partial credit. If you think a question needs an extra assumption, write it down and email the TA after the exam. Leave the last 5 to 15 minutes for webcam photos of all your pages. After you close the browser, you have 15 minutes to upload one combined PDF of your Part II work in the separate upload assignment. A scanning app such as TurboScan combines the pages for you. Only pages that also appear in the webcam photos are graded. If something goes wrong technically, email the TA and copy its@anderson.ucla.edu. If the upload fails, email your PDF to the TA before the window closes. After you submit, BruinLearn shows that the answers are hidden and that the quiz is muted until grades are released.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here on we are in the classroom. The videos have covered markets, demand and supply, and equilibrium; the in-class part takes on opportunity costs, sunk costs, and cost-benefit and marginal analysis.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20834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show you where this module sits in the course. We started with the basic principles, the economic way of thinking. Module 2 was value and demand, which is the customer's side. Module 3, which we're on now, is supply and cost, the firm's side. And Module 4 brings it all together into pricing and strategy. So on this map, we're filling in the supply box.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set up the big picture before we get into any details. A lot of the decisions you make as an executive come down to production and cost, whether you're setting a price, hiring, adding capacity, or choosing a supplier. In this module we build the left side of the diagram on the slide. Production functions describe how inputs become output, and costs turn those inputs into dollars. Put those together with demand from Module 2, and you get the pricing and output decisions in Module 4. So the flow to keep in mind is simple: inputs give you output, output has a cost, and cost drives the decision.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4717A-DD36-767A-D263-B0ECFAF6B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2A6ED-C017-47B6-192A-FF9E929FF19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C993895-B12E-1753-59AD-9E778C43EE64}"/>
              </a:ext>
            </a:extLst>
          </p:cNvPr>
          <p:cNvSpPr>
            <a:spLocks noGrp="1"/>
          </p:cNvSpPr>
          <p:nvPr>
            <p:ph type="body" sz="quarter" idx="3"/>
          </p:nvPr>
        </p:nvSpPr>
        <p:spPr/>
        <p:txBody>
          <a:bodyPr/>
          <a:lstStyle/>
          <a:p>
            <a:r>
              <a:t>Here is the plan for the whole module, and everything we do today sits somewhere on this list. Part 1 is production: what a production function is, then hiring in the short run when the plant is fixed, then the long run, where we choose the mix of capital and labor. Part 2 is costs: the cost concepts that should drive a decision and the ones that should not, and then what happens to cost per unit as a firm gets bigger or broader. We come back to this list at each transition.</a:t>
            </a:r>
          </a:p>
        </p:txBody>
      </p:sp>
      <p:sp>
        <p:nvSpPr>
          <p:cNvPr id="4" name="Slide Number Placeholder 3">
            <a:extLst>
              <a:ext uri="{FF2B5EF4-FFF2-40B4-BE49-F238E27FC236}">
                <a16:creationId xmlns:a16="http://schemas.microsoft.com/office/drawing/2014/main" id="{4F36DD80-F91E-782F-4DF9-2F5D447D76C4}"/>
              </a:ext>
            </a:extLst>
          </p:cNvPr>
          <p:cNvSpPr>
            <a:spLocks noGrp="1"/>
          </p:cNvSpPr>
          <p:nvPr>
            <p:ph type="sldNum" sz="quarter" idx="5"/>
          </p:nvPr>
        </p:nvSpPr>
        <p:spPr/>
      </p:sp>
    </p:spTree>
    <p:extLst>
      <p:ext uri="{BB962C8B-B14F-4D97-AF65-F5344CB8AC3E}">
        <p14:creationId xmlns:p14="http://schemas.microsoft.com/office/powerpoint/2010/main" val="3521992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whole module in one picture, and I'll come back to it each time we start a new section. There are two branches. On the left is production. The production function splits into two time frames. In the short run, capital is fixed and you adjust labor. In the long run, you can adjust both. Each case has its own rule for what to do, and both rules come down to the same idea: keep going as long as the benefit of one more is worth its cost. On the right is cost, where we'll cover fixed, marginal, and average cost. The box at the bottom connects the two sides: when you follow the production rules, you're producing any given amount at the lowest possible cost. So production and cost are two views of the same problem. You don't need to memorize this slide; just keep it in mind as the map for where we're going.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can state the rule cleanly. Suppose the weekly wage, including benefits, is about 1,500 dollars per worker. Think about hiring one more person. Revenue goes up by that worker's marginal revenue product, and costs go up by the wage. So profit rises as long as the marginal revenue product is bigger than the wage. You keep hiring until the two are equal. That point, where MRPL equals the wage, is the optimal number of workers, which we call L-star. And once again, this is the marginal-benefit-equals-marginal-cost idea, now for the hiring decision. The benefit of one more worker is the revenue they bring in, the cost is their wage, and you push to the point where those two balance.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Let's close this section with the obvious empirical question. In the real world, do wages actually line up with the marginal revenue product of labor? You can check for yourself. The University of California publishes every employee's salary, and the tool linked here lets you look people up. Broadly, the answer is yes. Better-paid roles tend to be the ones that add more revenue. But there are persistent gaps that economists still argue about, so treat the theory as a strong first approximation rather than the whole story.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27583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more wrinkle before we leave the short run. Everything so far assumed the firm can hire as many people as it wants at the going wage. That is fine for a small employer. It is not fine for a firm that is large in its local labor market, or that is bidding for very scarce talent. There the next hire raises the wage for everyone, and the true cost of that hire is well above the wage on the offer letter. That is what a wage searcher faces, and it is what the next few slides work out.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that idea in a very current setting, the AI talent wars. Suppose Anthropic wants to poach a star researcher from Google DeepMind. She will come for a salary of 5 million dollars a year. But Anthropic already employs two star researchers, each earning 3.5 million. The moment the new hire arrives on 5 million, the existing two are going to want the same. So the real question is, what is the full marginal cost of adding that third researcher? It is clearly more than her own salary, once you account for the raises the other two will demand. Take a moment to work out that full cost before we look at the answer.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7907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
Poll Title: Do not modify the notes in this section to avoid tampering with the Poll Everywhere activity.
More info at polleverywhere.com/support
What Is the Full Cost of the New Researcher?
https://www.polleverywhere.com/multiple_choice_polls/M4Af0onVPm5HB7kOEOIg0?state=opened&amp;flow=Default&amp;onscreen=persist</a:t>
            </a:r>
          </a:p>
        </p:txBody>
      </p:sp>
      <p:sp>
        <p:nvSpPr>
          <p:cNvPr id="4" name="TextBox 3">
            <a:extLst>
              <a:ext uri="{FF2B5EF4-FFF2-40B4-BE49-F238E27FC236}">
                <a16:creationId xmlns:a16="http://schemas.microsoft.com/office/drawing/2014/main" id="{28B04CFA-C8A6-2F25-B5B7-11DC0B2770D0}"/>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754679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full cost. The new researcher herself is paid 5 million dollars. But to keep things fair, each of the two existing researchers gets bumped from 3.5 million up to 5 million, a raise of 1.5 million each. So the total extra wage bill is her 5 million plus two times 1.5 million, which comes to 8 million dollars. So the full marginal cost of that third researcher is 8 million, not the 5 million on her contract. The lesson generalizes well beyond AI labs. When you are a big enough buyer of anything scarce, your own purchases move the market price, and you have to factor that in. Meta ran straight into this in 2024, when it paid up heavily to keep its AI researchers from leaving.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05695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now switch gears, from the short run to the long run. In the short run capital was stuck, and labor was our only lever. In the long run nothing is fixed. We get to choose both capital and labor from scratch. That opens a new question. What is the right mix of capital and labor to use? That is what the next several slides work out.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decision rule for the long run, and it has a name, the bang-for-the-buck rule. The idea is to spend each additional dollar on whichever input gives you the most extra output per dollar. Written out, it says the marginal product of capital divided by the price of capital should equal the marginal product of labor divided by the wage. In words, the extra output per dollar spent on robots should match the extra output per dollar spent on workers. The terms are on the slide. MPK and MPL are the marginal products of capital and labor, p-sub-k is the price of a robot, and w is the wage. Three conditions come with the rule. Both inputs have to be flexible, we hold the output quantity fixed, and we take the input prices as given. Notice that this is really the same marginal logic as the short-run hiring rule, just generalized to the choice between two inputs.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rule is not just for factories. You use it every week at the grocery store. Procter and Gamble sells Tide Ultra Oxi in two sizes. The small bottle does 29 loads for 17 dollars, and the large does 81 loads for 35 dollars. Work out the loads per dollar. The small bottle gives about 1.7 loads per dollar, and the large gives about 2.3. So the large bottle delivers more cleaning per dollar, and the bang-for-the-buck rule says buy the large one. It is exactly the same logic Rivian uses to choose between robots and workers, just a much smaller decision.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recipe for actually using the rule, the kind of thing worth having ready for an exam. Compare the two ratios, output per dollar on labor versus output per dollar on capital. If the labor ratio is higher, you are getting more output per dollar from workers, so shift toward labor, more workers and fewer robots. If the capital ratio is higher, shift the other way, toward more robots. Here is the nice part, the adjustment is self-correcting. As you add labor, diminishing returns pull the marginal product of labor down. As you pull back on capital, the marginal product of capital rises. So the two ratios move toward each other. You keep adjusting until they are equal, and that balance point is the optimal input mix.</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wraps up production, the question of what to make and with which inputs. Now we turn to Part 2, costs. The question shifts to what it costs to produce, and just as importantly, which costs should actually drive a decision. That second part trips up a lot of smart people, so we spend real time on it.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sort costs into three buckets. First, variable costs. These rise and fall with how much you produce, things like raw materials, the workers you hire, and shipping. Because they change with output, you always weigh them in a decision. Second, fixed costs. These do not change with output, things like rent, insurance, and past R and D. They matter mainly for the big long-run choices, whether to enter, exit, or change capacity. Third, and the one to watch, sunk costs. A sunk cost is a fixed cost you have already spent and cannot get back. We give sunk costs their own slides next, because they are the ones people most often mishandle.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 is a short case to put the three cost types to work. You make dog leashes. You have already bought a large stock of nylon yarn and the webbing loom that weaves it into straps, you pay rent for the shop, and you employ sewing workers. Last month you sold 1,000 leashes at 40 dollars, and your total cost was 35,000 dollars. If you cut the price to 35 dollars, you expect to sell 1,200 leashes. Should you do it? Before you answer, ask yourself which cost information you actually need. Total cost alone cannot settle it, because it lumps together the yarn and the loom you have already paid for, the rent you owe either way, and the cost that rises with every extra leash you make. On the next slide we open up that total.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7907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Now let's open up the total cost number. A sewing worker makes 4 leashes an hour and earns 50 dollars an hour, so the labor in one leash costs 50 divided by 4, which is 12 dollars and 50 cents. The yarn and the loom are already paid for, so they are sunk, and the rent is fixed: it is the same whether you make 1,000 leashes or 1,200. So the marginal cost of one more leash is the 12.50 dollars of labor. On the revenue side, 1,000 leashes at 40 dollars bring in 40,000 dollars, and 1,200 leashes at 35 dollars bring in 42,000 dollars. The extra 200 leashes add 2,000 dollars of revenue, so marginal revenue is 10 dollars per leash. Since marginal revenue of 10 dollars is below the marginal cost of 12.50 dollars, cutting the price would lower profit, by 500 dollars, so you should not do it. Notice that the 35,000 dollars of total cost never entered the calculation.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7907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connect these textbook terms to a real financial statement, using Ross Stores, the discount retailer. Pull up the costs and expenses section of their annual report and you will see three lines. The first is cost of goods sold, the merchandise they buy to sell. That rises and falls with sales, so it is essentially variable cost. The second is selling, general, and administrative expense, which is a mix. Sales commissions move with revenue, but the CEO's salary does not, so it is part fixed and part variable. The third is interest expense, the cost of servicing their debt, which does not move with sales, so it is fixed. Add them up and you get close to total cost. The point is that the fixed, variable, and marginal language we just defined maps directly onto the numbers a real company reports.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992450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make sunk costs concrete with a Hollywood story. In 1995 Universal released Waterworld, the Kevin Costner film. It ran famously over budget, and the studio had a strong sense it would flop. So why release it at all? The answer is all about sunk costs, and the next slide lays out the actual decision they faced.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decision the studio faced, tracked at three points in time as more money got spent. Look at June 1994 first. Expected revenue from releasing is 150 million dollars. At that point only 16 million had been sunk into production, and it would cost another 84 million to finish and release. Since 84 million to finish is well below the 150 million it brings in, you release, and you expect a 50 million dollar profit. Now move to September. More has been sunk, 100 million, but the cost still to come has dropped to 40 million. Forty million to finish against 150 million in revenue, so you still release. By December, 140 million is sunk and only 35 million remains to release. Now look at the overall column, which adds the sunk cost back in. On paper the total is 175 million against 150 million of revenue, so it looks like a 25 million dollar loss, and the instinct is to shelve it. But that is the sunk-cost trap. The 140 million is already gone whether you release or not. The only number that matters now is the 35 million it takes to release against the 150 million it earns. So you release every single time. The rule at the bottom says it cleanly, ignore sunk costs, and go ahead whenever the extra revenue beats the extra cost.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Real-world setup for the marginal-cost concept. Burn60 (a boutique fitness studio) offers package pricing: 10 classes for $10 each ($100 total) or 20 classes for $8 each ($160 total). The question to put to the room: starting from the 10-pack, what's the marginal cost of the 11th class? Hint: it's not $8. Going from the 10-pack to the 20-pack costs an additional $60 for ten more classes — so the marginal cost of each of those next ten is $6, not the $8 sticker price. Average cost (per-unit price you see advertised) and marginal cost (what one more actually costs) diverge whenever there is volume-tier pricing. We poll the room on the next slide before walking through it.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
Poll Title: Do not modify the notes in this section to avoid tampering with the Poll Everywhere activity.
More info at polleverywhere.com/support
What is the MC of each additional session beyond the 10th?
https://www.polleverywhere.com/multiple_choice_polls/bz2DVIeRRIPKKuFArIa8W?state=opened&amp;flow=Default&amp;onscreen=persist</a:t>
            </a:r>
          </a:p>
        </p:txBody>
      </p:sp>
      <p:sp>
        <p:nvSpPr>
          <p:cNvPr id="4" name="TextBox 3">
            <a:extLst>
              <a:ext uri="{FF2B5EF4-FFF2-40B4-BE49-F238E27FC236}">
                <a16:creationId xmlns:a16="http://schemas.microsoft.com/office/drawing/2014/main" id="{E67C9ACE-0AE3-61DD-EEB3-65AF06BB66D4}"/>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7818674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make marginal cost concrete with a small everyday example. Burn60 is a boutique fitness studio, and it sells class packs. A 10-class pack runs 10 dollars a class, so 100 dollars in total. A 20-class pack runs 8 dollars a class, so 160 dollars in total. Now here is the question. If you already have the 10-pack, what does each extra session actually cost you? The tempting answer is 8 dollars, the sticker rate on the bigger pack. But that is wrong. Going from the 10-pack to the 20-pack costs an extra 60 dollars, and that buys 10 more sessions. So the marginal cost of each additional session is 60 divided by 10, which is 6 dollars, not 8. Why is it even lower than the sticker rate? Because the bigger pack also re-prices the first ten sessions down from 10 dollars to 8. That saving on the sessions you were already buying is what pulls the true marginal cost below the sticker. The lesson is that with volume discounts, the marginal unit is cheaper than the average, so always price the decision at the margin.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marginal idea shows up in finance, and it can save you real money. Compare two loans. Option one is 100,000 dollars at 5 percent, which costs 5,000 dollars a year in interest. Option two is 110,000 dollars at 6 percent, which costs 6,600 dollars a year. So what is the true cost of that extra 10,000 dollars of borrowing? Do not look at the headline 6 percent, because that is the average rate on the whole loan. Look at the extra interest against the extra principal. You pay 1,600 dollars more to borrow 10,000 dollars more, and 1,600 over 10,000 is 16 percent. So the marginal rate on the last 10,000 dollars is a steep 16 percent, even though the loan is advertised at 6. Whenever you size up a bigger loan, ask what the extra dollars actually cost, not what the average rate is.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quick transition. We have covered the cost concepts, fixed, variable, marginal, and average. Now we look at what happens in the long run, when the plant size itself can change. Three ideas are coming up. How long-run and short-run cost curves relate, how the long-run average cost curve is built as an envelope, and economies of scale.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kick off the Amazon discussion, let's watch a short clip of Jeff Bezos from a 1997 interview. That was the year Amazon went public, when it was still, in his own words, just an online bookstore. Listen for how he describes the flywheel, where more selection and lower prices bring in more customers and more volume. Keep that in mind, because that same flywheel is what later grows into both huge scale and enormous scope. Let's play it.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discussion. Amazon is the textbook case of a company enjoying both economies of scale and economies of scope at once, and the interesting exercise is to say exactly where each one shows up. Start with scale. Amazon Web Services is a massive fixed-cost business, huge data centers whose cost gets spread across millions of customers. The fulfilment network gets cheaper per package the denser it becomes. And sheer size gives Amazon bargaining power with its suppliers. Now scope. Prime bundles shipping, video, music, and grocery into one subscription. Customer data created in the retail business feeds advertising and even AWS. The devices tie it all together. So as you look at each Amazon business, ask yourself, is this scale, is this scope, or is it both at once?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ucannualwage.ucop.edu/wage/" TargetMode="Externa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NUL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1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0871" y="3255264"/>
            <a:ext cx="11687697" cy="1188720"/>
          </a:xfrm>
          <a:prstGeom prst="rect">
            <a:avLst/>
          </a:prstGeom>
          <a:noFill/>
        </p:spPr>
        <p:txBody>
          <a:bodyPr wrap="square" lIns="0" tIns="0" rIns="0" bIns="0">
            <a:spAutoFit/>
          </a:bodyPr>
          <a:lstStyle/>
          <a:p>
            <a:pPr algn="ctr"/>
            <a:r>
              <a:rPr sz="6000" b="1" i="0" dirty="0">
                <a:solidFill>
                  <a:srgbClr val="0B2B4E"/>
                </a:solidFill>
                <a:latin typeface="Calibri"/>
              </a:rPr>
              <a:t>Production and Costs</a:t>
            </a:r>
          </a:p>
        </p:txBody>
      </p:sp>
      <p:sp>
        <p:nvSpPr>
          <p:cNvPr id="3" name="TextBox 2"/>
          <p:cNvSpPr txBox="1"/>
          <p:nvPr/>
        </p:nvSpPr>
        <p:spPr>
          <a:xfrm>
            <a:off x="286710" y="4224528"/>
            <a:ext cx="11687697" cy="685800"/>
          </a:xfrm>
          <a:prstGeom prst="rect">
            <a:avLst/>
          </a:prstGeom>
          <a:noFill/>
        </p:spPr>
        <p:txBody>
          <a:bodyPr wrap="square" lIns="0" tIns="0" rIns="0" bIns="0">
            <a:spAutoFit/>
          </a:bodyPr>
          <a:lstStyle/>
          <a:p>
            <a:pPr algn="ctr"/>
            <a:r>
              <a:rPr sz="4000" b="1" i="0" dirty="0">
                <a:solidFill>
                  <a:srgbClr val="E09F3E"/>
                </a:solidFill>
                <a:latin typeface="Calibri"/>
              </a:rPr>
              <a:t>Module 3</a:t>
            </a:r>
          </a:p>
        </p:txBody>
      </p:sp>
      <p:sp>
        <p:nvSpPr>
          <p:cNvPr id="4" name="Rectangle 3"/>
          <p:cNvSpPr/>
          <p:nvPr/>
        </p:nvSpPr>
        <p:spPr>
          <a:xfrm>
            <a:off x="4301758" y="501091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8" y="5166360"/>
            <a:ext cx="11687697" cy="502920"/>
          </a:xfrm>
          <a:prstGeom prst="rect">
            <a:avLst/>
          </a:prstGeom>
          <a:noFill/>
        </p:spPr>
        <p:txBody>
          <a:bodyPr wrap="square" lIns="0" tIns="0" rIns="0" bIns="0">
            <a:spAutoFit/>
          </a:bodyPr>
          <a:lstStyle/>
          <a:p>
            <a:pPr algn="ctr"/>
            <a:r>
              <a:rPr sz="2600" b="1" i="0">
                <a:solidFill>
                  <a:srgbClr val="555B66"/>
                </a:solidFill>
                <a:latin typeface="Calibri"/>
              </a:rPr>
              <a:t>Management 405  ·  EMBA</a:t>
            </a:r>
          </a:p>
        </p:txBody>
      </p:sp>
      <p:sp>
        <p:nvSpPr>
          <p:cNvPr id="6" name="TextBox 5"/>
          <p:cNvSpPr txBox="1"/>
          <p:nvPr/>
        </p:nvSpPr>
        <p:spPr>
          <a:xfrm>
            <a:off x="251998" y="5806440"/>
            <a:ext cx="11687697" cy="457200"/>
          </a:xfrm>
          <a:prstGeom prst="rect">
            <a:avLst/>
          </a:prstGeom>
          <a:noFill/>
        </p:spPr>
        <p:txBody>
          <a:bodyPr wrap="square" lIns="0" tIns="0" rIns="0" bIns="0">
            <a:spAutoFit/>
          </a:bodyPr>
          <a:lstStyle/>
          <a:p>
            <a:pPr algn="ctr"/>
            <a:r>
              <a:rPr sz="2200" b="0" i="0">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43F1FAFA-6974-A732-E9A6-2E78064D9D27}"/>
              </a:ext>
            </a:extLst>
          </p:cNvPr>
          <p:cNvPicPr>
            <a:picLocks noChangeAspect="1"/>
          </p:cNvPicPr>
          <p:nvPr/>
        </p:nvPicPr>
        <p:blipFill>
          <a:blip r:embed="rId3"/>
          <a:stretch>
            <a:fillRect/>
          </a:stretch>
        </p:blipFill>
        <p:spPr>
          <a:xfrm>
            <a:off x="1254744" y="213295"/>
            <a:ext cx="9682511" cy="2941385"/>
          </a:xfrm>
          <a:prstGeom prst="roundRect">
            <a:avLst>
              <a:gd name="adj" fmla="val 8000"/>
            </a:avLst>
          </a:prstGeom>
          <a:effectLst>
            <a:outerShdw blurRad="50800" dist="38100" dir="2700000" rotWithShape="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6525B-BFB3-FE27-C722-92439F49EE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08B6BC2-044B-3E82-6A05-9C6BF77D807F}"/>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0FDDF07-91B1-68CA-FD9F-1292CF50C7D0}"/>
              </a:ext>
            </a:extLst>
          </p:cNvPr>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1 · Announcements</a:t>
            </a:r>
          </a:p>
        </p:txBody>
      </p:sp>
      <p:sp>
        <p:nvSpPr>
          <p:cNvPr id="4" name="TextBox 3">
            <a:extLst>
              <a:ext uri="{FF2B5EF4-FFF2-40B4-BE49-F238E27FC236}">
                <a16:creationId xmlns:a16="http://schemas.microsoft.com/office/drawing/2014/main" id="{66AF4CF7-B9B4-0F76-FD19-3827C47D4677}"/>
              </a:ext>
            </a:extLst>
          </p:cNvPr>
          <p:cNvSpPr txBox="1"/>
          <p:nvPr/>
        </p:nvSpPr>
        <p:spPr>
          <a:xfrm>
            <a:off x="251999" y="502920"/>
            <a:ext cx="11687697" cy="492443"/>
          </a:xfrm>
          <a:prstGeom prst="rect">
            <a:avLst/>
          </a:prstGeom>
          <a:noFill/>
        </p:spPr>
        <p:txBody>
          <a:bodyPr wrap="square" lIns="0" tIns="0" rIns="0" bIns="0">
            <a:spAutoFit/>
          </a:bodyPr>
          <a:lstStyle/>
          <a:p>
            <a:pPr algn="l"/>
            <a:r>
              <a:rPr lang="en-US" sz="3200" b="1" i="0" dirty="0">
                <a:solidFill>
                  <a:srgbClr val="0B2B4E"/>
                </a:solidFill>
                <a:latin typeface="Calibri"/>
              </a:rPr>
              <a:t>General Logistics</a:t>
            </a:r>
            <a:endParaRPr sz="3200" b="1" i="0" dirty="0">
              <a:solidFill>
                <a:srgbClr val="0B2B4E"/>
              </a:solidFill>
              <a:latin typeface="Calibri"/>
            </a:endParaRPr>
          </a:p>
        </p:txBody>
      </p:sp>
      <p:sp>
        <p:nvSpPr>
          <p:cNvPr id="5" name="Rectangle 4">
            <a:extLst>
              <a:ext uri="{FF2B5EF4-FFF2-40B4-BE49-F238E27FC236}">
                <a16:creationId xmlns:a16="http://schemas.microsoft.com/office/drawing/2014/main" id="{842E3517-D59D-7056-2BC8-61A6A73AC870}"/>
              </a:ext>
            </a:extLst>
          </p:cNvPr>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0D524C5D-C27A-2A52-FDCF-800C55BD1B6C}"/>
              </a:ext>
            </a:extLst>
          </p:cNvPr>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61E73BD2-CBB2-F100-A216-8B8F573CD4AC}"/>
              </a:ext>
            </a:extLst>
          </p:cNvPr>
          <p:cNvSpPr txBox="1"/>
          <p:nvPr/>
        </p:nvSpPr>
        <p:spPr>
          <a:xfrm>
            <a:off x="251999" y="1325880"/>
            <a:ext cx="11687697" cy="5120640"/>
          </a:xfrm>
          <a:prstGeom prst="rect">
            <a:avLst/>
          </a:prstGeom>
          <a:noFill/>
        </p:spPr>
        <p:txBody>
          <a:bodyPr wrap="square" lIns="0" tIns="0" rIns="0" bIns="0" anchor="t">
            <a:noAutofit/>
          </a:bodyPr>
          <a:lstStyle>
            <a:lvl1pPr marL="342900" indent="-342900">
              <a:spcBef>
                <a:spcPts val="1200"/>
              </a:spcBef>
              <a:buClr>
                <a:srgbClr val="0B2B4E"/>
              </a:buClr>
              <a:buFont typeface="Calibri"/>
              <a:buChar char="▪"/>
              <a:defRPr sz="2800" b="0">
                <a:solidFill>
                  <a:srgbClr val="0B2B4E"/>
                </a:solidFill>
                <a:latin typeface="Calibri"/>
              </a:defRPr>
            </a:lvl1pPr>
            <a:lvl2pPr marL="685800" indent="-228600">
              <a:spcBef>
                <a:spcPts val="300"/>
              </a:spcBef>
              <a:buClr>
                <a:srgbClr val="0B2B4E"/>
              </a:buClr>
              <a:buFont typeface="Calibri"/>
              <a:buChar char="–"/>
              <a:defRPr sz="2400" b="0">
                <a:solidFill>
                  <a:srgbClr val="0B2B4E"/>
                </a:solidFill>
                <a:latin typeface="Calibri"/>
              </a:defRPr>
            </a:lvl2pPr>
          </a:lstStyle>
          <a:p>
            <a:pPr algn="l"/>
            <a:r>
              <a:rPr lang="en-US" dirty="0">
                <a:latin typeface="Calibri"/>
              </a:rPr>
              <a:t>Coffee &amp; Econ on Sunday Nov 8 at 9am</a:t>
            </a:r>
          </a:p>
          <a:p>
            <a:pPr lvl="1" algn="l"/>
            <a:r>
              <a:rPr lang="en-US" dirty="0">
                <a:latin typeface="Calibri"/>
              </a:rPr>
              <a:t>In the class calendar</a:t>
            </a:r>
          </a:p>
          <a:p>
            <a:pPr lvl="1" algn="l"/>
            <a:r>
              <a:rPr lang="en-US" dirty="0"/>
              <a:t>Send me questions / suggestions</a:t>
            </a:r>
            <a:endParaRPr lang="en-US" dirty="0">
              <a:latin typeface="Calibri"/>
            </a:endParaRPr>
          </a:p>
          <a:p>
            <a:pPr algn="l"/>
            <a:endParaRPr lang="en-US" dirty="0">
              <a:latin typeface="Calibri"/>
            </a:endParaRPr>
          </a:p>
        </p:txBody>
      </p:sp>
      <p:sp>
        <p:nvSpPr>
          <p:cNvPr id="8" name="Rectangle 7">
            <a:extLst>
              <a:ext uri="{FF2B5EF4-FFF2-40B4-BE49-F238E27FC236}">
                <a16:creationId xmlns:a16="http://schemas.microsoft.com/office/drawing/2014/main" id="{2102AA8A-68A6-E2CC-15EB-EF4032249FA2}"/>
              </a:ext>
            </a:extLst>
          </p:cNvPr>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0E295E5E-2D67-16A4-47D9-823BDBE9FE21}"/>
              </a:ext>
            </a:extLst>
          </p:cNvPr>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813DA33B-1980-4608-7782-71AF3E8029FF}"/>
              </a:ext>
            </a:extLst>
          </p:cNvPr>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1" name="TextBox 10">
            <a:extLst>
              <a:ext uri="{FF2B5EF4-FFF2-40B4-BE49-F238E27FC236}">
                <a16:creationId xmlns:a16="http://schemas.microsoft.com/office/drawing/2014/main" id="{7CFD69D9-F97A-388D-2834-7D101337E8AC}"/>
              </a:ext>
            </a:extLst>
          </p:cNvPr>
          <p:cNvSpPr txBox="1"/>
          <p:nvPr/>
        </p:nvSpPr>
        <p:spPr>
          <a:xfrm>
            <a:off x="11430000" y="6583680"/>
            <a:ext cx="548640" cy="292608"/>
          </a:xfrm>
          <a:prstGeom prst="rect">
            <a:avLst/>
          </a:prstGeom>
          <a:noFill/>
        </p:spPr>
        <p:txBody>
          <a:bodyPr wrap="square" lIns="0" tIns="0" rIns="0" bIns="0">
            <a:spAutoFit/>
          </a:bodyPr>
          <a:lstStyle/>
          <a:p>
            <a:pPr algn="r"/>
            <a:fld id="{B94CB6D9-EEAE-49E0-B285-90E769CE2822}" type="slidenum">
              <a:rPr sz="1200" b="0" i="0">
                <a:solidFill>
                  <a:srgbClr val="555B66"/>
                </a:solidFill>
                <a:latin typeface="Calibri"/>
              </a:rPr>
              <a:t>2</a:t>
            </a:fld>
            <a:endParaRPr sz="1200" b="0" i="0">
              <a:solidFill>
                <a:srgbClr val="555B66"/>
              </a:solidFill>
              <a:latin typeface="Calibri"/>
            </a:endParaRPr>
          </a:p>
        </p:txBody>
      </p:sp>
    </p:spTree>
    <p:extLst>
      <p:ext uri="{BB962C8B-B14F-4D97-AF65-F5344CB8AC3E}">
        <p14:creationId xmlns:p14="http://schemas.microsoft.com/office/powerpoint/2010/main" val="2054548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1 · Announcements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Midterm</a:t>
            </a:r>
            <a:r>
              <a:rPr lang="en-US" sz="3200" b="1" i="0" dirty="0">
                <a:solidFill>
                  <a:srgbClr val="0B2B4E"/>
                </a:solidFill>
                <a:latin typeface="Calibri"/>
              </a:rPr>
              <a:t> Logistics</a:t>
            </a:r>
            <a:r>
              <a:rPr sz="3200" b="1" i="0" dirty="0">
                <a:solidFill>
                  <a:srgbClr val="0B2B4E"/>
                </a:solidFill>
                <a:latin typeface="Calibri"/>
              </a:rPr>
              <a:t>: Timing, Coverage, and Help</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25880"/>
            <a:ext cx="11687697" cy="5120640"/>
          </a:xfrm>
          <a:prstGeom prst="rect">
            <a:avLst/>
          </a:prstGeom>
          <a:noFill/>
        </p:spPr>
        <p:txBody>
          <a:bodyPr wrap="square" lIns="0" tIns="0" rIns="0" bIns="0" anchor="ctr">
            <a:noAutofit/>
          </a:bodyPr>
          <a:lstStyle>
            <a:lvl1pPr marL="342900" indent="-342900">
              <a:spcBef>
                <a:spcPts val="1200"/>
              </a:spcBef>
              <a:buClr>
                <a:srgbClr val="0B2B4E"/>
              </a:buClr>
              <a:buFont typeface="Calibri"/>
              <a:buChar char="▪"/>
              <a:defRPr sz="2800" b="0">
                <a:solidFill>
                  <a:srgbClr val="0B2B4E"/>
                </a:solidFill>
                <a:latin typeface="Calibri"/>
              </a:defRPr>
            </a:lvl1pPr>
            <a:lvl2pPr marL="685800" indent="-228600">
              <a:spcBef>
                <a:spcPts val="300"/>
              </a:spcBef>
              <a:buClr>
                <a:srgbClr val="0B2B4E"/>
              </a:buClr>
              <a:buFont typeface="Calibri"/>
              <a:buChar char="–"/>
              <a:defRPr sz="2400" b="0">
                <a:solidFill>
                  <a:srgbClr val="0B2B4E"/>
                </a:solidFill>
                <a:latin typeface="Calibri"/>
              </a:defRPr>
            </a:lvl2pPr>
          </a:lstStyle>
          <a:p>
            <a:pPr algn="l"/>
            <a:r>
              <a:rPr lang="en-US" dirty="0">
                <a:latin typeface="Calibri"/>
              </a:rPr>
              <a:t>Open Fri 10/30, 12:01 am – Sat 10/31, 11:59 pm</a:t>
            </a:r>
          </a:p>
          <a:p>
            <a:pPr lvl="1" algn="l"/>
            <a:r>
              <a:rPr lang="en-US" dirty="0">
                <a:latin typeface="Calibri"/>
              </a:rPr>
              <a:t>3 hours from first opening; the clock cannot be stopped</a:t>
            </a:r>
          </a:p>
          <a:p>
            <a:pPr lvl="1" algn="l"/>
            <a:r>
              <a:rPr lang="en-US" dirty="0">
                <a:latin typeface="Calibri"/>
              </a:rPr>
              <a:t>Latest full-length start: Sat 10/31, 8:59 pm</a:t>
            </a:r>
          </a:p>
          <a:p>
            <a:pPr algn="l"/>
            <a:r>
              <a:rPr lang="en-US" dirty="0">
                <a:solidFill>
                  <a:srgbClr val="FF0000"/>
                </a:solidFill>
                <a:latin typeface="Calibri"/>
              </a:rPr>
              <a:t>TA on Zoom: Sat 10/31, 9 am – noon and 1 – 4 pm</a:t>
            </a:r>
          </a:p>
          <a:p>
            <a:pPr lvl="1" algn="l"/>
            <a:r>
              <a:rPr lang="en-US" dirty="0">
                <a:latin typeface="Calibri"/>
              </a:rPr>
              <a:t>Join from your phone before starting; raise your hand for a breakout room</a:t>
            </a:r>
          </a:p>
          <a:p>
            <a:pPr lvl="1"/>
            <a:r>
              <a:rPr lang="en-US" dirty="0"/>
              <a:t>Phone </a:t>
            </a:r>
            <a:r>
              <a:rPr lang="en-US" u="sng" dirty="0"/>
              <a:t>only</a:t>
            </a:r>
            <a:r>
              <a:rPr lang="en-US" dirty="0"/>
              <a:t> for the TA call</a:t>
            </a:r>
            <a:endParaRPr lang="en-US" dirty="0">
              <a:latin typeface="Calibri"/>
            </a:endParaRPr>
          </a:p>
          <a:p>
            <a:pPr algn="l"/>
            <a:r>
              <a:rPr lang="en-US" dirty="0">
                <a:latin typeface="Calibri"/>
              </a:rPr>
              <a:t>Material: Modules 1 – 3 (incl. Problem Sets 1 + 2)</a:t>
            </a:r>
          </a:p>
          <a:p>
            <a:pPr lvl="1" algn="l"/>
            <a:r>
              <a:rPr lang="en-US" dirty="0">
                <a:latin typeface="Calibri"/>
              </a:rPr>
              <a:t>Problem-solving exercises similar to the problem sets</a:t>
            </a:r>
            <a:endParaRPr lang="en-US" dirty="0"/>
          </a:p>
          <a:p>
            <a:r>
              <a:rPr lang="en-US" dirty="0">
                <a:latin typeface="Calibri"/>
              </a:rPr>
              <a:t>Practice Exam on the class website (under Week 6)</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tIns="0" rIns="0" bIns="0">
            <a:spAutoFit/>
          </a:bodyPr>
          <a:lstStyle/>
          <a:p>
            <a:pPr algn="r"/>
            <a:fld id="{B94CB6D9-EEAE-49E0-B285-90E769CE2822}" type="slidenum">
              <a:rPr sz="1200" b="0" i="0">
                <a:solidFill>
                  <a:srgbClr val="555B66"/>
                </a:solidFill>
                <a:latin typeface="Calibri"/>
              </a:rPr>
              <a:t>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fade">
                                      <p:cBhvr>
                                        <p:cTn id="13" dur="500"/>
                                        <p:tgtEl>
                                          <p:spTgt spid="7">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animEffect transition="in" filter="fade">
                                      <p:cBhvr>
                                        <p:cTn id="21" dur="500"/>
                                        <p:tgtEl>
                                          <p:spTgt spid="7">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8" end="8"/>
                                            </p:txEl>
                                          </p:spTgt>
                                        </p:tgtEl>
                                        <p:attrNameLst>
                                          <p:attrName>style.visibility</p:attrName>
                                        </p:attrNameLst>
                                      </p:cBhvr>
                                      <p:to>
                                        <p:strVal val="visible"/>
                                      </p:to>
                                    </p:set>
                                    <p:animEffect transition="in" filter="fade">
                                      <p:cBhvr>
                                        <p:cTn id="24"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1 · Announcements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Midterm Rules: LockDown Browser, Paper Only, One PDF</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25880"/>
            <a:ext cx="11687697" cy="5120640"/>
          </a:xfrm>
          <a:prstGeom prst="rect">
            <a:avLst/>
          </a:prstGeom>
          <a:noFill/>
        </p:spPr>
        <p:txBody>
          <a:bodyPr wrap="square" lIns="0" tIns="0" rIns="0" bIns="0" anchor="ctr">
            <a:no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200" b="0">
                <a:solidFill>
                  <a:srgbClr val="0B2B4E"/>
                </a:solidFill>
                <a:latin typeface="Calibri"/>
              </a:defRPr>
            </a:lvl2pPr>
          </a:lstStyle>
          <a:p>
            <a:pPr algn="l"/>
            <a:r>
              <a:rPr lang="en-US" dirty="0" err="1">
                <a:latin typeface="Calibri"/>
              </a:rPr>
              <a:t>Respondus</a:t>
            </a:r>
            <a:r>
              <a:rPr lang="en-US" dirty="0">
                <a:latin typeface="Calibri"/>
              </a:rPr>
              <a:t> </a:t>
            </a:r>
            <a:r>
              <a:rPr lang="en-US" dirty="0" err="1">
                <a:latin typeface="Calibri"/>
              </a:rPr>
              <a:t>LockDown</a:t>
            </a:r>
            <a:r>
              <a:rPr lang="en-US" dirty="0">
                <a:latin typeface="Calibri"/>
              </a:rPr>
              <a:t> Browser + webcam required</a:t>
            </a:r>
          </a:p>
          <a:p>
            <a:pPr lvl="1"/>
            <a:r>
              <a:rPr lang="en-US" dirty="0">
                <a:latin typeface="Calibri"/>
              </a:rPr>
              <a:t>Go over </a:t>
            </a:r>
            <a:r>
              <a:rPr lang="en-US" dirty="0"/>
              <a:t>the “Lockdown Browser Practice”</a:t>
            </a:r>
            <a:r>
              <a:rPr lang="en-US" dirty="0">
                <a:latin typeface="Calibri"/>
              </a:rPr>
              <a:t> first</a:t>
            </a:r>
          </a:p>
          <a:p>
            <a:pPr lvl="1" algn="l"/>
            <a:r>
              <a:rPr lang="en-US" dirty="0">
                <a:latin typeface="Calibri"/>
              </a:rPr>
              <a:t>Show your workspace at the start and after every break</a:t>
            </a:r>
          </a:p>
          <a:p>
            <a:pPr algn="l"/>
            <a:r>
              <a:rPr lang="en-US" dirty="0">
                <a:latin typeface="Calibri"/>
              </a:rPr>
              <a:t>Allowed: anything on paper. Not allowed: other devices, internet, AI</a:t>
            </a:r>
          </a:p>
          <a:p>
            <a:pPr lvl="1" algn="l"/>
            <a:r>
              <a:rPr lang="en-US" dirty="0">
                <a:latin typeface="Calibri"/>
              </a:rPr>
              <a:t>Phone only for the TA call; the calculator is built into the browser</a:t>
            </a:r>
          </a:p>
          <a:p>
            <a:pPr algn="l"/>
            <a:r>
              <a:rPr lang="en-US" dirty="0">
                <a:latin typeface="Calibri"/>
              </a:rPr>
              <a:t>Part I (Multiple Choice): pick </a:t>
            </a:r>
            <a:r>
              <a:rPr lang="en-US" u="sng" dirty="0">
                <a:latin typeface="Calibri"/>
              </a:rPr>
              <a:t>one</a:t>
            </a:r>
            <a:r>
              <a:rPr lang="en-US" dirty="0">
                <a:latin typeface="Calibri"/>
              </a:rPr>
              <a:t> answer. Part II: type final answers in the boxes</a:t>
            </a:r>
          </a:p>
          <a:p>
            <a:pPr lvl="1" algn="l"/>
            <a:r>
              <a:rPr lang="en-US" dirty="0">
                <a:latin typeface="Calibri"/>
              </a:rPr>
              <a:t>Show your work on paper for partial credit; email the TA about extra assumptions</a:t>
            </a:r>
          </a:p>
          <a:p>
            <a:pPr algn="l"/>
            <a:r>
              <a:rPr lang="en-US" dirty="0">
                <a:latin typeface="Calibri"/>
              </a:rPr>
              <a:t>After the exam: webcam photos, then upload ONE PDF within 15 minutes</a:t>
            </a:r>
          </a:p>
          <a:p>
            <a:pPr lvl="1" algn="l"/>
            <a:r>
              <a:rPr lang="en-US" dirty="0">
                <a:latin typeface="Calibri"/>
              </a:rPr>
              <a:t>Only pages shown on the webcam count</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92B64BE3-EAA0-5B55-B44E-8B588CEF81A4}"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fade">
                                      <p:cBhvr>
                                        <p:cTn id="15" dur="500"/>
                                        <p:tgtEl>
                                          <p:spTgt spid="7">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animEffect transition="in" filter="fade">
                                      <p:cBhvr>
                                        <p:cTn id="23" dur="500"/>
                                        <p:tgtEl>
                                          <p:spTgt spid="7">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7">
                                            <p:txEl>
                                              <p:pRg st="8" end="8"/>
                                            </p:txEl>
                                          </p:spTgt>
                                        </p:tgtEl>
                                        <p:attrNameLst>
                                          <p:attrName>style.visibility</p:attrName>
                                        </p:attrNameLst>
                                      </p:cBhvr>
                                      <p:to>
                                        <p:strVal val="visible"/>
                                      </p:to>
                                    </p:set>
                                    <p:animEffect transition="in" filter="fade">
                                      <p:cBhvr>
                                        <p:cTn id="26"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 y="1829907"/>
            <a:ext cx="12191695" cy="2492990"/>
          </a:xfrm>
          <a:prstGeom prst="rect">
            <a:avLst/>
          </a:prstGeom>
          <a:noFill/>
        </p:spPr>
        <p:txBody>
          <a:bodyPr wrap="square" lIns="0" tIns="0" rIns="0" bIns="0">
            <a:spAutoFit/>
          </a:bodyPr>
          <a:lstStyle/>
          <a:p>
            <a:pPr algn="ctr"/>
            <a:r>
              <a:rPr lang="en-US" sz="5400" b="1" i="0" u="none" dirty="0">
                <a:solidFill>
                  <a:srgbClr val="0B2B4E"/>
                </a:solidFill>
                <a:latin typeface="Calibri"/>
              </a:rPr>
              <a:t>Module 3</a:t>
            </a:r>
          </a:p>
          <a:p>
            <a:pPr algn="ctr"/>
            <a:r>
              <a:rPr lang="en-US" sz="5400" b="1" dirty="0">
                <a:solidFill>
                  <a:srgbClr val="0B2B4E"/>
                </a:solidFill>
              </a:rPr>
              <a:t>Some Applications of the Material</a:t>
            </a:r>
          </a:p>
          <a:p>
            <a:pPr algn="ctr"/>
            <a:r>
              <a:rPr lang="en-US" sz="5400" b="1" dirty="0">
                <a:solidFill>
                  <a:srgbClr val="0B2B4E"/>
                </a:solidFill>
              </a:rPr>
              <a:t>Covered in the Videos</a:t>
            </a:r>
          </a:p>
        </p:txBody>
      </p:sp>
      <p:sp>
        <p:nvSpPr>
          <p:cNvPr id="3" name="Rectangle 2"/>
          <p:cNvSpPr/>
          <p:nvPr/>
        </p:nvSpPr>
        <p:spPr>
          <a:xfrm>
            <a:off x="4267047" y="4350329"/>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7" name="TextBox 6"/>
          <p:cNvSpPr txBox="1"/>
          <p:nvPr/>
        </p:nvSpPr>
        <p:spPr>
          <a:xfrm>
            <a:off x="11475720" y="6583680"/>
            <a:ext cx="502920" cy="292608"/>
          </a:xfrm>
          <a:prstGeom prst="rect">
            <a:avLst/>
          </a:prstGeom>
          <a:noFill/>
        </p:spPr>
        <p:txBody>
          <a:bodyPr wrap="none" lIns="0" tIns="0" rIns="0" bIns="0">
            <a:spAutoFit/>
          </a:bodyPr>
          <a:lstStyle/>
          <a:p>
            <a:pPr algn="r"/>
            <a:fld id="{CB972BC2-82CB-5C6F-AF19-7106BC1EEDA4}" type="slidenum">
              <a:rPr lang="en-US" sz="1200" dirty="0">
                <a:solidFill>
                  <a:srgbClr val="555B66"/>
                </a:solidFill>
                <a:latin typeface="Calibri"/>
              </a:rPr>
              <a:t>5</a:t>
            </a:fld>
            <a:endParaRPr lang="en-US" sz="1200" dirty="0">
              <a:solidFill>
                <a:srgbClr val="555B66"/>
              </a:solidFill>
              <a:latin typeface="Calibri"/>
            </a:endParaRPr>
          </a:p>
        </p:txBody>
      </p:sp>
    </p:spTree>
    <p:extLst>
      <p:ext uri="{BB962C8B-B14F-4D97-AF65-F5344CB8AC3E}">
        <p14:creationId xmlns:p14="http://schemas.microsoft.com/office/powerpoint/2010/main" val="4235457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1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444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Up Arrow 14"/>
          <p:cNvSpPr/>
          <p:nvPr/>
        </p:nvSpPr>
        <p:spPr>
          <a:xfrm>
            <a:off x="8587587" y="4160520"/>
            <a:ext cx="502920" cy="502920"/>
          </a:xfrm>
          <a:prstGeom prst="up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5927" y="4681728"/>
            <a:ext cx="4206240" cy="292608"/>
          </a:xfrm>
          <a:prstGeom prst="rect">
            <a:avLst/>
          </a:prstGeom>
          <a:noFill/>
        </p:spPr>
        <p:txBody>
          <a:bodyPr wrap="square" lIns="0" tIns="0" rIns="0" bIns="0">
            <a:spAutoFit/>
          </a:bodyPr>
          <a:lstStyle/>
          <a:p>
            <a:pPr algn="ctr"/>
            <a:r>
              <a:rPr sz="1600" b="1" i="1">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97235400-292D-4FC9-9BB9-ADEEF583F56A}" type="slidenum">
              <a:rPr sz="1200" b="0" i="0">
                <a:solidFill>
                  <a:srgbClr val="555B66"/>
                </a:solidFill>
                <a:latin typeface="Calibri"/>
              </a:rPr>
              <a:t>6</a:t>
            </a:fld>
            <a:endParaRPr sz="1200" b="0" i="0">
              <a:solidFill>
                <a:srgbClr val="555B66"/>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1 · Big Picture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Big Picture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874519"/>
            <a:ext cx="4389120" cy="96012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latin typeface="Calibri"/>
              </a:rPr>
              <a:t>Production Functions</a:t>
            </a:r>
          </a:p>
        </p:txBody>
      </p:sp>
      <p:sp>
        <p:nvSpPr>
          <p:cNvPr id="8" name="Rounded Rectangle 7"/>
          <p:cNvSpPr/>
          <p:nvPr/>
        </p:nvSpPr>
        <p:spPr>
          <a:xfrm>
            <a:off x="457200" y="3520440"/>
            <a:ext cx="4389120" cy="96012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latin typeface="Calibri"/>
              </a:rPr>
              <a:t>Costs</a:t>
            </a:r>
          </a:p>
        </p:txBody>
      </p:sp>
      <p:sp>
        <p:nvSpPr>
          <p:cNvPr id="9" name="Rounded Rectangle 8"/>
          <p:cNvSpPr/>
          <p:nvPr/>
        </p:nvSpPr>
        <p:spPr>
          <a:xfrm>
            <a:off x="7863840" y="1874519"/>
            <a:ext cx="3840480" cy="9601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latin typeface="Calibri"/>
              </a:rPr>
              <a:t>Demand</a:t>
            </a:r>
          </a:p>
        </p:txBody>
      </p:sp>
      <p:sp>
        <p:nvSpPr>
          <p:cNvPr id="10" name="Rounded Rectangle 9"/>
          <p:cNvSpPr/>
          <p:nvPr/>
        </p:nvSpPr>
        <p:spPr>
          <a:xfrm>
            <a:off x="2895447" y="5303520"/>
            <a:ext cx="6400800" cy="960120"/>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latin typeface="Calibri"/>
              </a:rPr>
              <a:t>Output Decisions</a:t>
            </a:r>
          </a:p>
        </p:txBody>
      </p:sp>
      <p:cxnSp>
        <p:nvCxnSpPr>
          <p:cNvPr id="11" name="Connector 10"/>
          <p:cNvCxnSpPr/>
          <p:nvPr/>
        </p:nvCxnSpPr>
        <p:spPr>
          <a:xfrm>
            <a:off x="2651760" y="2834639"/>
            <a:ext cx="0" cy="685801"/>
          </a:xfrm>
          <a:prstGeom prst="line">
            <a:avLst/>
          </a:prstGeom>
          <a:ln w="444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4480560"/>
            <a:ext cx="2163927" cy="822960"/>
          </a:xfrm>
          <a:prstGeom prst="line">
            <a:avLst/>
          </a:prstGeom>
          <a:ln w="444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376007" y="2834639"/>
            <a:ext cx="2408073" cy="2468881"/>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tIns="0" rIns="0" bIns="0">
            <a:spAutoFit/>
          </a:bodyPr>
          <a:lstStyle/>
          <a:p>
            <a:pPr algn="r"/>
            <a:fld id="{7418FD46-F01B-401C-A478-CFB64C0663C8}" type="slidenum">
              <a:rPr sz="1200" b="0" i="0">
                <a:solidFill>
                  <a:srgbClr val="555B66"/>
                </a:solidFill>
                <a:latin typeface="Calibri"/>
              </a:rPr>
              <a:t>7</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Video 1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8" name="TextBox 7"/>
          <p:cNvSpPr txBox="1"/>
          <p:nvPr/>
        </p:nvSpPr>
        <p:spPr>
          <a:xfrm>
            <a:off x="1874519" y="137845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Introduction to Module 3</a:t>
            </a:r>
          </a:p>
          <a:p>
            <a:pPr algn="l">
              <a:spcBef>
                <a:spcPts val="0"/>
              </a:spcBef>
              <a:buNone/>
            </a:pPr>
            <a:r>
              <a:rPr sz="2200">
                <a:solidFill>
                  <a:srgbClr val="555B66"/>
                </a:solidFill>
                <a:latin typeface="Calibri"/>
              </a:rPr>
              <a:t>A brief overview of what we cover in Module 3</a:t>
            </a:r>
          </a:p>
        </p:txBody>
      </p:sp>
      <p:sp>
        <p:nvSpPr>
          <p:cNvPr id="9" name="Rounded Rectangle 8"/>
          <p:cNvSpPr/>
          <p:nvPr/>
        </p:nvSpPr>
        <p:spPr>
          <a:xfrm>
            <a:off x="10332720" y="154305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2</a:t>
            </a:r>
          </a:p>
        </p:txBody>
      </p:sp>
      <p:sp>
        <p:nvSpPr>
          <p:cNvPr id="11" name="TextBox 10"/>
          <p:cNvSpPr txBox="1"/>
          <p:nvPr/>
        </p:nvSpPr>
        <p:spPr>
          <a:xfrm>
            <a:off x="1874519" y="209626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The Production Function</a:t>
            </a:r>
          </a:p>
          <a:p>
            <a:pPr algn="l">
              <a:spcBef>
                <a:spcPts val="0"/>
              </a:spcBef>
              <a:buNone/>
            </a:pPr>
            <a:r>
              <a:rPr sz="2200">
                <a:solidFill>
                  <a:srgbClr val="555B66"/>
                </a:solidFill>
                <a:latin typeface="Calibri"/>
              </a:rPr>
              <a:t>How inputs (capital and labor) are turned into output</a:t>
            </a:r>
          </a:p>
        </p:txBody>
      </p:sp>
      <p:sp>
        <p:nvSpPr>
          <p:cNvPr id="12" name="Rounded Rectangle 11"/>
          <p:cNvSpPr/>
          <p:nvPr/>
        </p:nvSpPr>
        <p:spPr>
          <a:xfrm>
            <a:off x="10332720" y="226085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3</a:t>
            </a:r>
          </a:p>
        </p:txBody>
      </p:sp>
      <p:sp>
        <p:nvSpPr>
          <p:cNvPr id="14" name="TextBox 13"/>
          <p:cNvSpPr txBox="1"/>
          <p:nvPr/>
        </p:nvSpPr>
        <p:spPr>
          <a:xfrm>
            <a:off x="1874519" y="281406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Short Run: Hiring Decisions</a:t>
            </a:r>
          </a:p>
          <a:p>
            <a:pPr algn="l">
              <a:spcBef>
                <a:spcPts val="0"/>
              </a:spcBef>
              <a:buNone/>
            </a:pPr>
            <a:r>
              <a:rPr sz="2200">
                <a:solidFill>
                  <a:srgbClr val="555B66"/>
                </a:solidFill>
                <a:latin typeface="Calibri"/>
              </a:rPr>
              <a:t>How many workers to hire when capital is fixed</a:t>
            </a:r>
          </a:p>
        </p:txBody>
      </p:sp>
      <p:sp>
        <p:nvSpPr>
          <p:cNvPr id="15" name="Rounded Rectangle 14"/>
          <p:cNvSpPr/>
          <p:nvPr/>
        </p:nvSpPr>
        <p:spPr>
          <a:xfrm>
            <a:off x="10332720" y="297865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3</a:t>
            </a:r>
          </a:p>
        </p:txBody>
      </p:sp>
      <p:sp>
        <p:nvSpPr>
          <p:cNvPr id="16" name="Oval 15"/>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4</a:t>
            </a:r>
          </a:p>
        </p:txBody>
      </p:sp>
      <p:sp>
        <p:nvSpPr>
          <p:cNvPr id="17" name="TextBox 16"/>
          <p:cNvSpPr txBox="1"/>
          <p:nvPr/>
        </p:nvSpPr>
        <p:spPr>
          <a:xfrm>
            <a:off x="1874519" y="353187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Wage Searchers</a:t>
            </a:r>
          </a:p>
          <a:p>
            <a:pPr algn="l">
              <a:spcBef>
                <a:spcPts val="0"/>
              </a:spcBef>
              <a:buNone/>
            </a:pPr>
            <a:r>
              <a:rPr sz="2200">
                <a:solidFill>
                  <a:srgbClr val="555B66"/>
                </a:solidFill>
                <a:latin typeface="Calibri"/>
              </a:rPr>
              <a:t>When hiring one more worker bids up the wage for everyone</a:t>
            </a:r>
          </a:p>
        </p:txBody>
      </p:sp>
      <p:sp>
        <p:nvSpPr>
          <p:cNvPr id="18" name="Rounded Rectangle 17"/>
          <p:cNvSpPr/>
          <p:nvPr/>
        </p:nvSpPr>
        <p:spPr>
          <a:xfrm>
            <a:off x="10332720" y="3696462"/>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4</a:t>
            </a:r>
          </a:p>
        </p:txBody>
      </p:sp>
      <p:sp>
        <p:nvSpPr>
          <p:cNvPr id="19" name="Oval 18"/>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5</a:t>
            </a:r>
          </a:p>
        </p:txBody>
      </p:sp>
      <p:sp>
        <p:nvSpPr>
          <p:cNvPr id="20" name="TextBox 19"/>
          <p:cNvSpPr txBox="1"/>
          <p:nvPr/>
        </p:nvSpPr>
        <p:spPr>
          <a:xfrm>
            <a:off x="1874519" y="424967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Long Run: The Optimal Input Mix</a:t>
            </a:r>
          </a:p>
          <a:p>
            <a:pPr algn="l">
              <a:spcBef>
                <a:spcPts val="0"/>
              </a:spcBef>
              <a:buNone/>
            </a:pPr>
            <a:r>
              <a:rPr sz="2200">
                <a:solidFill>
                  <a:srgbClr val="555B66"/>
                </a:solidFill>
                <a:latin typeface="Calibri"/>
              </a:rPr>
              <a:t>Choosing between capital and labor when both can be adjusted</a:t>
            </a:r>
          </a:p>
        </p:txBody>
      </p:sp>
      <p:sp>
        <p:nvSpPr>
          <p:cNvPr id="21" name="Rounded Rectangle 20"/>
          <p:cNvSpPr/>
          <p:nvPr/>
        </p:nvSpPr>
        <p:spPr>
          <a:xfrm>
            <a:off x="10332720" y="4414266"/>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5</a:t>
            </a:r>
          </a:p>
        </p:txBody>
      </p:sp>
      <p:sp>
        <p:nvSpPr>
          <p:cNvPr id="22" name="Oval 21"/>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6</a:t>
            </a:r>
          </a:p>
        </p:txBody>
      </p:sp>
      <p:sp>
        <p:nvSpPr>
          <p:cNvPr id="23" name="TextBox 22"/>
          <p:cNvSpPr txBox="1"/>
          <p:nvPr/>
        </p:nvSpPr>
        <p:spPr>
          <a:xfrm>
            <a:off x="1874519" y="496747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Cost Concepts</a:t>
            </a:r>
          </a:p>
          <a:p>
            <a:pPr algn="l">
              <a:spcBef>
                <a:spcPts val="0"/>
              </a:spcBef>
              <a:buNone/>
            </a:pPr>
            <a:r>
              <a:rPr sz="2200">
                <a:solidFill>
                  <a:srgbClr val="555B66"/>
                </a:solidFill>
                <a:latin typeface="Calibri"/>
              </a:rPr>
              <a:t>Fixed, variable, marginal, and sunk costs, and which ones matter</a:t>
            </a:r>
          </a:p>
        </p:txBody>
      </p:sp>
      <p:sp>
        <p:nvSpPr>
          <p:cNvPr id="24" name="Rounded Rectangle 23"/>
          <p:cNvSpPr/>
          <p:nvPr/>
        </p:nvSpPr>
        <p:spPr>
          <a:xfrm>
            <a:off x="10332720" y="513207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6</a:t>
            </a:r>
          </a:p>
        </p:txBody>
      </p:sp>
      <p:sp>
        <p:nvSpPr>
          <p:cNvPr id="25" name="Oval 24"/>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7</a:t>
            </a:r>
          </a:p>
        </p:txBody>
      </p:sp>
      <p:sp>
        <p:nvSpPr>
          <p:cNvPr id="26" name="TextBox 25"/>
          <p:cNvSpPr txBox="1"/>
          <p:nvPr/>
        </p:nvSpPr>
        <p:spPr>
          <a:xfrm>
            <a:off x="1874519" y="568528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Economies of Scale and Scope</a:t>
            </a:r>
          </a:p>
          <a:p>
            <a:pPr algn="l">
              <a:spcBef>
                <a:spcPts val="0"/>
              </a:spcBef>
              <a:buNone/>
            </a:pPr>
            <a:r>
              <a:rPr sz="2200">
                <a:solidFill>
                  <a:srgbClr val="555B66"/>
                </a:solidFill>
                <a:latin typeface="Calibri"/>
              </a:rPr>
              <a:t>When bigger or broader production lowers cost per unit</a:t>
            </a:r>
          </a:p>
        </p:txBody>
      </p:sp>
      <p:sp>
        <p:nvSpPr>
          <p:cNvPr id="27" name="Rounded Rectangle 26"/>
          <p:cNvSpPr/>
          <p:nvPr/>
        </p:nvSpPr>
        <p:spPr>
          <a:xfrm>
            <a:off x="10332720" y="584987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7</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C7268266-B9CE-510E-8DAE-CCAC4EF4FAAA}" type="slidenum">
              <a:rPr lang="en-US" sz="1200" dirty="0">
                <a:solidFill>
                  <a:srgbClr val="555B66"/>
                </a:solidFill>
                <a:latin typeface="Calibri"/>
              </a:rPr>
              <a:t>8</a:t>
            </a:fld>
            <a:endParaRPr lang="en-US" sz="1200" dirty="0">
              <a:solidFill>
                <a:srgbClr val="555B66"/>
              </a:solidFill>
              <a:latin typeface="Calibri"/>
            </a:endParaRPr>
          </a:p>
        </p:txBody>
      </p:sp>
    </p:spTree>
    <p:extLst>
      <p:ext uri="{BB962C8B-B14F-4D97-AF65-F5344CB8AC3E}">
        <p14:creationId xmlns:p14="http://schemas.microsoft.com/office/powerpoint/2010/main" val="233829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animBg="1"/>
      <p:bldP spid="14" grpId="0"/>
      <p:bldP spid="15" grpId="0" animBg="1"/>
      <p:bldP spid="16" grpId="0" animBg="1"/>
      <p:bldP spid="17" grpId="0"/>
      <p:bldP spid="18" grpId="0" animBg="1"/>
      <p:bldP spid="19" grpId="0" animBg="1"/>
      <p:bldP spid="20" grpId="0"/>
      <p:bldP spid="21" grpId="0" animBg="1"/>
      <p:bldP spid="22" grpId="0" animBg="1"/>
      <p:bldP spid="23" grpId="0"/>
      <p:bldP spid="24" grpId="0" animBg="1"/>
      <p:bldP spid="25" grpId="0" animBg="1"/>
      <p:bldP spid="26" grpId="0"/>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Concept 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How the Pieces of Module 3 Connect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234440"/>
            <a:ext cx="5486400" cy="411480"/>
          </a:xfrm>
          <a:prstGeom prst="rect">
            <a:avLst/>
          </a:prstGeom>
          <a:noFill/>
        </p:spPr>
        <p:txBody>
          <a:bodyPr wrap="square" lIns="0" tIns="0" rIns="0" bIns="0">
            <a:spAutoFit/>
          </a:bodyPr>
          <a:lstStyle/>
          <a:p>
            <a:pPr algn="ctr"/>
            <a:r>
              <a:rPr sz="2200" b="1" i="0" dirty="0">
                <a:solidFill>
                  <a:srgbClr val="555B66"/>
                </a:solidFill>
                <a:latin typeface="Calibri"/>
              </a:rPr>
              <a:t>PRODUCTION</a:t>
            </a:r>
          </a:p>
        </p:txBody>
      </p:sp>
      <p:sp>
        <p:nvSpPr>
          <p:cNvPr id="8" name="TextBox 7"/>
          <p:cNvSpPr txBox="1"/>
          <p:nvPr/>
        </p:nvSpPr>
        <p:spPr>
          <a:xfrm>
            <a:off x="6400800" y="1234440"/>
            <a:ext cx="5486400" cy="411480"/>
          </a:xfrm>
          <a:prstGeom prst="rect">
            <a:avLst/>
          </a:prstGeom>
          <a:noFill/>
        </p:spPr>
        <p:txBody>
          <a:bodyPr wrap="square" lIns="0" tIns="0" rIns="0" bIns="0">
            <a:spAutoFit/>
          </a:bodyPr>
          <a:lstStyle/>
          <a:p>
            <a:pPr algn="ctr"/>
            <a:r>
              <a:rPr sz="2200" b="1" i="0" dirty="0">
                <a:solidFill>
                  <a:srgbClr val="555B66"/>
                </a:solidFill>
                <a:latin typeface="Calibri"/>
              </a:rPr>
              <a:t>COSTS</a:t>
            </a:r>
          </a:p>
        </p:txBody>
      </p:sp>
      <p:grpSp>
        <p:nvGrpSpPr>
          <p:cNvPr id="55" name="Group 54">
            <a:extLst>
              <a:ext uri="{FF2B5EF4-FFF2-40B4-BE49-F238E27FC236}">
                <a16:creationId xmlns:a16="http://schemas.microsoft.com/office/drawing/2014/main" id="{E0689E09-FCB5-FCDD-666F-77C39CF1673A}"/>
              </a:ext>
            </a:extLst>
          </p:cNvPr>
          <p:cNvGrpSpPr/>
          <p:nvPr/>
        </p:nvGrpSpPr>
        <p:grpSpPr>
          <a:xfrm>
            <a:off x="914400" y="1737360"/>
            <a:ext cx="4206240" cy="868680"/>
            <a:chOff x="914400" y="1737360"/>
            <a:chExt cx="4206240" cy="868680"/>
          </a:xfrm>
        </p:grpSpPr>
        <p:sp>
          <p:nvSpPr>
            <p:cNvPr id="9" name="Rectangle 8"/>
            <p:cNvSpPr/>
            <p:nvPr/>
          </p:nvSpPr>
          <p:spPr>
            <a:xfrm>
              <a:off x="914400" y="1737360"/>
              <a:ext cx="4206240" cy="8686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914400" y="1792224"/>
              <a:ext cx="4206240" cy="274320"/>
            </a:xfrm>
            <a:prstGeom prst="rect">
              <a:avLst/>
            </a:prstGeom>
            <a:noFill/>
          </p:spPr>
          <p:txBody>
            <a:bodyPr wrap="square" lIns="0" tIns="0" rIns="0" bIns="0">
              <a:spAutoFit/>
            </a:bodyPr>
            <a:lstStyle/>
            <a:p>
              <a:pPr algn="ctr"/>
              <a:r>
                <a:rPr sz="1600" b="1" i="0" dirty="0">
                  <a:solidFill>
                    <a:srgbClr val="FFFFFF"/>
                  </a:solidFill>
                  <a:latin typeface="Calibri"/>
                </a:rPr>
                <a:t>Production function</a:t>
              </a:r>
            </a:p>
          </p:txBody>
        </p:sp>
        <mc:AlternateContent xmlns:mc="http://schemas.openxmlformats.org/markup-compatibility/2006" xmlns:a14="http://schemas.microsoft.com/office/drawing/2010/main">
          <mc:Choice Requires="a14">
            <p:sp>
              <p:nvSpPr>
                <p:cNvPr id="11" name="TextBox 10"/>
                <p:cNvSpPr txBox="1"/>
                <p:nvPr/>
              </p:nvSpPr>
              <p:spPr>
                <a:xfrm>
                  <a:off x="914400" y="2066544"/>
                  <a:ext cx="4206240" cy="484632"/>
                </a:xfrm>
                <a:prstGeom prst="rect">
                  <a:avLst/>
                </a:prstGeom>
                <a:noFill/>
              </p:spPr>
              <p:txBody>
                <a:bodyPr wrap="square" anchor="ctr">
                  <a:spAutoFit/>
                </a:bodyPr>
                <a:lstStyle/>
                <a:p>
                  <a:pPr algn="ctr">
                    <a:defRPr sz="2400" b="0" i="1">
                      <a:solidFill>
                        <a:srgbClr val="FFFFFF"/>
                      </a:solidFill>
                      <a:latin typeface="Cambria Math"/>
                    </a:defRPr>
                  </a:pPr>
                  <a14:m>
                    <m:oMathPara xmlns:m="http://schemas.openxmlformats.org/officeDocument/2006/math">
                      <m:oMath>
                        <m:r>
                          <a:rPr lang="en-US" sz="2400" b="0" i="1">
                            <a:latin typeface="Cambria Math"/>
                            <a:ea typeface="Cambria Math"/>
                          </a:rPr>
                          <m:t>𝑄</m:t>
                        </m:r>
                        <m:r>
                          <a:rPr lang="en-US" sz="2400" b="0" i="0">
                            <a:latin typeface="Cambria Math"/>
                          </a:rPr>
                          <m:t> = </m:t>
                        </m:r>
                        <m:r>
                          <a:rPr lang="en-US" sz="2400" b="0" i="1">
                            <a:latin typeface="Cambria Math"/>
                            <a:ea typeface="Cambria Math"/>
                          </a:rPr>
                          <m:t>𝑓</m:t>
                        </m:r>
                        <m:r>
                          <a:rPr lang="en-US" sz="2400" b="0" i="0">
                            <a:latin typeface="Cambria Math"/>
                          </a:rPr>
                          <m:t>(</m:t>
                        </m:r>
                        <m:r>
                          <a:rPr lang="en-US" sz="2400" b="0" i="1">
                            <a:latin typeface="Cambria Math"/>
                            <a:ea typeface="Cambria Math"/>
                          </a:rPr>
                          <m:t>𝐾</m:t>
                        </m:r>
                        <m:r>
                          <a:rPr lang="en-US" sz="2400" b="0" i="0">
                            <a:latin typeface="Cambria Math"/>
                          </a:rPr>
                          <m:t>, </m:t>
                        </m:r>
                        <m:r>
                          <a:rPr lang="en-US" sz="2400" b="0" i="1">
                            <a:latin typeface="Cambria Math"/>
                            <a:ea typeface="Cambria Math"/>
                          </a:rPr>
                          <m:t>𝐿</m:t>
                        </m:r>
                        <m:r>
                          <a:rPr lang="en-US" sz="2400" b="0" i="0">
                            <a:latin typeface="Cambria Math"/>
                          </a:rPr>
                          <m:t>)</m:t>
                        </m:r>
                      </m:oMath>
                    </m:oMathPara>
                  </a14:m>
                  <a:endParaRPr lang="en-US" sz="2400"/>
                </a:p>
              </p:txBody>
            </p:sp>
          </mc:Choice>
          <mc:Fallback xmlns="">
            <p:sp>
              <p:nvSpPr>
                <p:cNvPr id="11" name="TextBox 10"/>
                <p:cNvSpPr txBox="1">
                  <a:spLocks noRot="1" noChangeAspect="1" noMove="1" noResize="1" noEditPoints="1" noAdjustHandles="1" noChangeArrowheads="1" noChangeShapeType="1" noTextEdit="1"/>
                </p:cNvSpPr>
                <p:nvPr/>
              </p:nvSpPr>
              <p:spPr>
                <a:xfrm>
                  <a:off x="914400" y="2066544"/>
                  <a:ext cx="4206240" cy="484632"/>
                </a:xfrm>
                <a:prstGeom prst="rect">
                  <a:avLst/>
                </a:prstGeom>
                <a:blipFill>
                  <a:blip r:embed="rId3"/>
                  <a:stretch>
                    <a:fillRect b="-16250"/>
                  </a:stretch>
                </a:blipFill>
              </p:spPr>
              <p:txBody>
                <a:bodyPr/>
                <a:lstStyle/>
                <a:p>
                  <a:r>
                    <a:rPr lang="en-US">
                      <a:noFill/>
                    </a:rPr>
                    <a:t> </a:t>
                  </a:r>
                </a:p>
              </p:txBody>
            </p:sp>
          </mc:Fallback>
        </mc:AlternateContent>
      </p:grpSp>
      <p:sp>
        <p:nvSpPr>
          <p:cNvPr id="12" name="Rectangle 11"/>
          <p:cNvSpPr/>
          <p:nvPr/>
        </p:nvSpPr>
        <p:spPr>
          <a:xfrm>
            <a:off x="274320" y="2788920"/>
            <a:ext cx="2560320" cy="59436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latin typeface="Calibri"/>
              </a:rPr>
              <a:t>Short Run
(K fixed, L flexible)</a:t>
            </a:r>
          </a:p>
        </p:txBody>
      </p:sp>
      <p:sp>
        <p:nvSpPr>
          <p:cNvPr id="13" name="Rectangle 12"/>
          <p:cNvSpPr/>
          <p:nvPr/>
        </p:nvSpPr>
        <p:spPr>
          <a:xfrm>
            <a:off x="3200400" y="2788920"/>
            <a:ext cx="2560320" cy="59436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latin typeface="Calibri"/>
              </a:rPr>
              <a:t>Long Run
(Both K and L flexible)</a:t>
            </a:r>
          </a:p>
        </p:txBody>
      </p:sp>
      <p:grpSp>
        <p:nvGrpSpPr>
          <p:cNvPr id="52" name="Group 51">
            <a:extLst>
              <a:ext uri="{FF2B5EF4-FFF2-40B4-BE49-F238E27FC236}">
                <a16:creationId xmlns:a16="http://schemas.microsoft.com/office/drawing/2014/main" id="{64E35ECC-924F-8905-30A7-2494BB88ADA5}"/>
              </a:ext>
            </a:extLst>
          </p:cNvPr>
          <p:cNvGrpSpPr/>
          <p:nvPr/>
        </p:nvGrpSpPr>
        <p:grpSpPr>
          <a:xfrm>
            <a:off x="274320" y="3566160"/>
            <a:ext cx="2560320" cy="960120"/>
            <a:chOff x="274320" y="3566160"/>
            <a:chExt cx="2560320" cy="960120"/>
          </a:xfrm>
        </p:grpSpPr>
        <p:sp>
          <p:nvSpPr>
            <p:cNvPr id="14" name="Rectangle 13"/>
            <p:cNvSpPr/>
            <p:nvPr/>
          </p:nvSpPr>
          <p:spPr>
            <a:xfrm>
              <a:off x="274320" y="3566160"/>
              <a:ext cx="2560320" cy="9601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15" name="TextBox 14"/>
            <p:cNvSpPr txBox="1"/>
            <p:nvPr/>
          </p:nvSpPr>
          <p:spPr>
            <a:xfrm>
              <a:off x="274320" y="3621024"/>
              <a:ext cx="2560320" cy="274320"/>
            </a:xfrm>
            <a:prstGeom prst="rect">
              <a:avLst/>
            </a:prstGeom>
            <a:noFill/>
          </p:spPr>
          <p:txBody>
            <a:bodyPr wrap="square" lIns="0" tIns="0" rIns="0" bIns="0">
              <a:spAutoFit/>
            </a:bodyPr>
            <a:lstStyle/>
            <a:p>
              <a:pPr algn="ctr"/>
              <a:r>
                <a:rPr sz="1200" b="1" i="0" dirty="0">
                  <a:solidFill>
                    <a:srgbClr val="FFFFFF"/>
                  </a:solidFill>
                  <a:latin typeface="Calibri"/>
                </a:rPr>
                <a:t>Hire until</a:t>
              </a:r>
            </a:p>
          </p:txBody>
        </p:sp>
        <mc:AlternateContent xmlns:mc="http://schemas.openxmlformats.org/markup-compatibility/2006" xmlns:a14="http://schemas.microsoft.com/office/drawing/2010/main">
          <mc:Choice Requires="a14">
            <p:sp>
              <p:nvSpPr>
                <p:cNvPr id="16" name="TextBox 15"/>
                <p:cNvSpPr txBox="1"/>
                <p:nvPr/>
              </p:nvSpPr>
              <p:spPr>
                <a:xfrm>
                  <a:off x="274320" y="3895344"/>
                  <a:ext cx="2560320" cy="576072"/>
                </a:xfrm>
                <a:prstGeom prst="rect">
                  <a:avLst/>
                </a:prstGeom>
                <a:noFill/>
              </p:spPr>
              <p:txBody>
                <a:bodyPr wrap="square" anchor="ctr">
                  <a:spAutoFit/>
                </a:bodyPr>
                <a:lstStyle/>
                <a:p>
                  <a:pPr algn="ctr">
                    <a:defRPr sz="2400" b="0" i="1">
                      <a:solidFill>
                        <a:srgbClr val="FFFFFF"/>
                      </a:solidFill>
                      <a:latin typeface="Cambria Math"/>
                    </a:defRPr>
                  </a:pPr>
                  <a14:m>
                    <m:oMathPara xmlns:m="http://schemas.openxmlformats.org/officeDocument/2006/math">
                      <m:oMath>
                        <m:r>
                          <m:rPr>
                            <m:sty m:val="p"/>
                          </m:rPr>
                          <a:rPr lang="en-US" sz="2400" b="0" i="0">
                            <a:latin typeface="Cambria Math"/>
                          </a:rPr>
                          <m:t>MRPL</m:t>
                        </m:r>
                        <m:r>
                          <a:rPr lang="en-US" sz="2400" b="0" i="0">
                            <a:latin typeface="Cambria Math"/>
                          </a:rPr>
                          <m:t> = </m:t>
                        </m:r>
                        <m:r>
                          <a:rPr lang="en-US" sz="2400" b="0" i="1">
                            <a:latin typeface="Cambria Math"/>
                            <a:ea typeface="Cambria Math"/>
                          </a:rPr>
                          <m:t>𝑤</m:t>
                        </m:r>
                      </m:oMath>
                    </m:oMathPara>
                  </a14:m>
                  <a:endParaRPr lang="en-US"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74320" y="3895344"/>
                  <a:ext cx="2560320" cy="576072"/>
                </a:xfrm>
                <a:prstGeom prst="rect">
                  <a:avLst/>
                </a:prstGeom>
                <a:blipFill>
                  <a:blip r:embed="rId4"/>
                  <a:stretch>
                    <a:fillRect/>
                  </a:stretch>
                </a:blipFill>
              </p:spPr>
              <p:txBody>
                <a:bodyPr/>
                <a:lstStyle/>
                <a:p>
                  <a:r>
                    <a:rPr lang="en-US">
                      <a:noFill/>
                    </a:rPr>
                    <a:t> </a:t>
                  </a:r>
                </a:p>
              </p:txBody>
            </p:sp>
          </mc:Fallback>
        </mc:AlternateContent>
      </p:grpSp>
      <p:grpSp>
        <p:nvGrpSpPr>
          <p:cNvPr id="51" name="Group 50">
            <a:extLst>
              <a:ext uri="{FF2B5EF4-FFF2-40B4-BE49-F238E27FC236}">
                <a16:creationId xmlns:a16="http://schemas.microsoft.com/office/drawing/2014/main" id="{D7897A65-7618-E6D2-A422-AA3302879222}"/>
              </a:ext>
            </a:extLst>
          </p:cNvPr>
          <p:cNvGrpSpPr/>
          <p:nvPr/>
        </p:nvGrpSpPr>
        <p:grpSpPr>
          <a:xfrm>
            <a:off x="3200400" y="3566160"/>
            <a:ext cx="2560320" cy="960120"/>
            <a:chOff x="3200400" y="3566160"/>
            <a:chExt cx="2560320" cy="960120"/>
          </a:xfrm>
        </p:grpSpPr>
        <p:sp>
          <p:nvSpPr>
            <p:cNvPr id="17" name="Rectangle 16"/>
            <p:cNvSpPr/>
            <p:nvPr/>
          </p:nvSpPr>
          <p:spPr>
            <a:xfrm>
              <a:off x="3200400" y="3566160"/>
              <a:ext cx="2560320" cy="9601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3200400" y="3621024"/>
              <a:ext cx="2560320" cy="274320"/>
            </a:xfrm>
            <a:prstGeom prst="rect">
              <a:avLst/>
            </a:prstGeom>
            <a:noFill/>
          </p:spPr>
          <p:txBody>
            <a:bodyPr wrap="square" lIns="0" tIns="0" rIns="0" bIns="0">
              <a:spAutoFit/>
            </a:bodyPr>
            <a:lstStyle/>
            <a:p>
              <a:pPr algn="ctr"/>
              <a:r>
                <a:rPr sz="1200" b="1" i="0" dirty="0">
                  <a:solidFill>
                    <a:srgbClr val="FFFFFF"/>
                  </a:solidFill>
                  <a:latin typeface="Calibri"/>
                </a:rPr>
                <a:t>Bang-for-the-buck</a:t>
              </a:r>
            </a:p>
          </p:txBody>
        </p:sp>
        <mc:AlternateContent xmlns:mc="http://schemas.openxmlformats.org/markup-compatibility/2006" xmlns:a14="http://schemas.microsoft.com/office/drawing/2010/main">
          <mc:Choice Requires="a14">
            <p:sp>
              <p:nvSpPr>
                <p:cNvPr id="19" name="TextBox 18"/>
                <p:cNvSpPr txBox="1"/>
                <p:nvPr/>
              </p:nvSpPr>
              <p:spPr>
                <a:xfrm>
                  <a:off x="3200400" y="3895344"/>
                  <a:ext cx="2560320" cy="576072"/>
                </a:xfrm>
                <a:prstGeom prst="rect">
                  <a:avLst/>
                </a:prstGeom>
                <a:noFill/>
              </p:spPr>
              <p:txBody>
                <a:bodyPr wrap="square" anchor="ctr">
                  <a:spAutoFit/>
                </a:bodyPr>
                <a:lstStyle/>
                <a:p>
                  <a:pPr algn="ctr">
                    <a:defRPr sz="1700" b="0" i="1">
                      <a:solidFill>
                        <a:srgbClr val="FFFFFF"/>
                      </a:solidFill>
                      <a:latin typeface="Cambria Math"/>
                    </a:defRPr>
                  </a:pPr>
                  <a14:m>
                    <m:oMathPara xmlns:m="http://schemas.openxmlformats.org/officeDocument/2006/math">
                      <m:oMath>
                        <m:f>
                          <m:fPr>
                            <m:ctrlPr>
                              <a:rPr lang="en-US" sz="1700" b="0" i="1">
                                <a:latin typeface="Cambria Math" panose="02040503050406030204" pitchFamily="18" charset="0"/>
                              </a:rPr>
                            </m:ctrlPr>
                          </m:fPr>
                          <m:num>
                            <m:sSub>
                              <m:sSubPr>
                                <m:ctrlPr>
                                  <a:rPr lang="en-US" sz="1700" b="0" i="0">
                                    <a:latin typeface="Cambria Math"/>
                                  </a:rPr>
                                </m:ctrlPr>
                              </m:sSubPr>
                              <m:e>
                                <m:r>
                                  <m:rPr>
                                    <m:sty m:val="p"/>
                                  </m:rPr>
                                  <a:rPr lang="en-US" sz="1700" b="0" i="0">
                                    <a:latin typeface="Cambria Math"/>
                                  </a:rPr>
                                  <m:t>MP</m:t>
                                </m:r>
                              </m:e>
                              <m:sub>
                                <m:r>
                                  <a:rPr lang="en-US" sz="1700" b="0" i="1">
                                    <a:latin typeface="Cambria Math"/>
                                    <a:ea typeface="Cambria Math"/>
                                  </a:rPr>
                                  <m:t>𝐾</m:t>
                                </m:r>
                              </m:sub>
                            </m:sSub>
                          </m:num>
                          <m:den>
                            <m:sSub>
                              <m:sSubPr>
                                <m:ctrlPr>
                                  <a:rPr lang="en-US" sz="1700" b="0" i="1">
                                    <a:latin typeface="Cambria Math"/>
                                    <a:ea typeface="Cambria Math"/>
                                  </a:rPr>
                                </m:ctrlPr>
                              </m:sSubPr>
                              <m:e>
                                <m:r>
                                  <a:rPr lang="en-US" sz="1700" b="0" i="1">
                                    <a:latin typeface="Cambria Math"/>
                                    <a:ea typeface="Cambria Math"/>
                                  </a:rPr>
                                  <m:t>𝑝</m:t>
                                </m:r>
                              </m:e>
                              <m:sub>
                                <m:r>
                                  <a:rPr lang="en-US" sz="1700" b="0" i="1">
                                    <a:latin typeface="Cambria Math"/>
                                    <a:ea typeface="Cambria Math"/>
                                  </a:rPr>
                                  <m:t>𝐾</m:t>
                                </m:r>
                              </m:sub>
                            </m:sSub>
                          </m:den>
                        </m:f>
                        <m:r>
                          <a:rPr lang="en-US" sz="1700" b="0" i="0">
                            <a:latin typeface="Cambria Math"/>
                          </a:rPr>
                          <m:t> = </m:t>
                        </m:r>
                        <m:f>
                          <m:fPr>
                            <m:ctrlPr>
                              <a:rPr lang="en-US" sz="1700" b="0" i="1">
                                <a:latin typeface="Cambria Math" panose="02040503050406030204" pitchFamily="18" charset="0"/>
                              </a:rPr>
                            </m:ctrlPr>
                          </m:fPr>
                          <m:num>
                            <m:sSub>
                              <m:sSubPr>
                                <m:ctrlPr>
                                  <a:rPr lang="en-US" sz="1700" b="0" i="0">
                                    <a:latin typeface="Cambria Math"/>
                                  </a:rPr>
                                </m:ctrlPr>
                              </m:sSubPr>
                              <m:e>
                                <m:r>
                                  <m:rPr>
                                    <m:sty m:val="p"/>
                                  </m:rPr>
                                  <a:rPr lang="en-US" sz="1700" b="0" i="0">
                                    <a:latin typeface="Cambria Math"/>
                                  </a:rPr>
                                  <m:t>MP</m:t>
                                </m:r>
                              </m:e>
                              <m:sub>
                                <m:r>
                                  <a:rPr lang="en-US" sz="1700" b="0" i="1">
                                    <a:latin typeface="Cambria Math"/>
                                    <a:ea typeface="Cambria Math"/>
                                  </a:rPr>
                                  <m:t>𝐿</m:t>
                                </m:r>
                              </m:sub>
                            </m:sSub>
                          </m:num>
                          <m:den>
                            <m:r>
                              <a:rPr lang="en-US" sz="1700" b="0" i="1">
                                <a:latin typeface="Cambria Math"/>
                                <a:ea typeface="Cambria Math"/>
                              </a:rPr>
                              <m:t>𝑤</m:t>
                            </m:r>
                          </m:den>
                        </m:f>
                      </m:oMath>
                    </m:oMathPara>
                  </a14:m>
                  <a:endParaRPr lang="en-US" sz="1700"/>
                </a:p>
              </p:txBody>
            </p:sp>
          </mc:Choice>
          <mc:Fallback xmlns="">
            <p:sp>
              <p:nvSpPr>
                <p:cNvPr id="19" name="TextBox 18"/>
                <p:cNvSpPr txBox="1">
                  <a:spLocks noRot="1" noChangeAspect="1" noMove="1" noResize="1" noEditPoints="1" noAdjustHandles="1" noChangeArrowheads="1" noChangeShapeType="1" noTextEdit="1"/>
                </p:cNvSpPr>
                <p:nvPr/>
              </p:nvSpPr>
              <p:spPr>
                <a:xfrm>
                  <a:off x="3200400" y="3895344"/>
                  <a:ext cx="2560320" cy="576072"/>
                </a:xfrm>
                <a:prstGeom prst="rect">
                  <a:avLst/>
                </a:prstGeom>
                <a:blipFill>
                  <a:blip r:embed="rId5"/>
                  <a:stretch>
                    <a:fillRect/>
                  </a:stretch>
                </a:blipFill>
              </p:spPr>
              <p:txBody>
                <a:bodyPr/>
                <a:lstStyle/>
                <a:p>
                  <a:r>
                    <a:rPr lang="en-US">
                      <a:noFill/>
                    </a:rPr>
                    <a:t> </a:t>
                  </a:r>
                </a:p>
              </p:txBody>
            </p:sp>
          </mc:Fallback>
        </mc:AlternateContent>
      </p:grpSp>
      <p:sp>
        <p:nvSpPr>
          <p:cNvPr id="20" name="TextBox 19"/>
          <p:cNvSpPr txBox="1"/>
          <p:nvPr/>
        </p:nvSpPr>
        <p:spPr>
          <a:xfrm>
            <a:off x="274320" y="4572000"/>
            <a:ext cx="2560320" cy="256032"/>
          </a:xfrm>
          <a:prstGeom prst="rect">
            <a:avLst/>
          </a:prstGeom>
          <a:noFill/>
        </p:spPr>
        <p:txBody>
          <a:bodyPr wrap="square" lIns="0" tIns="0" rIns="0" bIns="0">
            <a:spAutoFit/>
          </a:bodyPr>
          <a:lstStyle/>
          <a:p>
            <a:pPr algn="ctr"/>
            <a:r>
              <a:rPr sz="1200" b="1" i="1" dirty="0">
                <a:solidFill>
                  <a:srgbClr val="E09F3E"/>
                </a:solidFill>
                <a:latin typeface="Calibri"/>
              </a:rPr>
              <a:t>↑  short-run optimization</a:t>
            </a:r>
          </a:p>
        </p:txBody>
      </p:sp>
      <p:sp>
        <p:nvSpPr>
          <p:cNvPr id="21" name="TextBox 20"/>
          <p:cNvSpPr txBox="1"/>
          <p:nvPr/>
        </p:nvSpPr>
        <p:spPr>
          <a:xfrm>
            <a:off x="3200400" y="4572000"/>
            <a:ext cx="2560320" cy="256032"/>
          </a:xfrm>
          <a:prstGeom prst="rect">
            <a:avLst/>
          </a:prstGeom>
          <a:noFill/>
        </p:spPr>
        <p:txBody>
          <a:bodyPr wrap="square" lIns="0" tIns="0" rIns="0" bIns="0">
            <a:spAutoFit/>
          </a:bodyPr>
          <a:lstStyle/>
          <a:p>
            <a:pPr algn="ctr"/>
            <a:r>
              <a:rPr sz="1200" b="1" i="1" dirty="0">
                <a:solidFill>
                  <a:srgbClr val="E09F3E"/>
                </a:solidFill>
                <a:latin typeface="Calibri"/>
              </a:rPr>
              <a:t>↑  long-run optimization</a:t>
            </a:r>
          </a:p>
        </p:txBody>
      </p:sp>
      <p:sp>
        <p:nvSpPr>
          <p:cNvPr id="22" name="Rectangle 21"/>
          <p:cNvSpPr/>
          <p:nvPr/>
        </p:nvSpPr>
        <p:spPr>
          <a:xfrm>
            <a:off x="6766560" y="1737360"/>
            <a:ext cx="5120640" cy="8686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766560" y="1792224"/>
            <a:ext cx="5120640" cy="274320"/>
          </a:xfrm>
          <a:prstGeom prst="rect">
            <a:avLst/>
          </a:prstGeom>
          <a:noFill/>
        </p:spPr>
        <p:txBody>
          <a:bodyPr wrap="square" lIns="0" tIns="0" rIns="0" bIns="0">
            <a:spAutoFit/>
          </a:bodyPr>
          <a:lstStyle/>
          <a:p>
            <a:pPr algn="ctr"/>
            <a:r>
              <a:rPr sz="1600" b="1" i="0">
                <a:solidFill>
                  <a:srgbClr val="FFFFFF"/>
                </a:solidFill>
                <a:latin typeface="Calibri"/>
              </a:rPr>
              <a:t>Cost types</a:t>
            </a:r>
          </a:p>
        </p:txBody>
      </p:sp>
      <mc:AlternateContent xmlns:mc="http://schemas.openxmlformats.org/markup-compatibility/2006" xmlns:a14="http://schemas.microsoft.com/office/drawing/2010/main">
        <mc:Choice Requires="a14">
          <p:sp>
            <p:nvSpPr>
              <p:cNvPr id="24" name="TextBox 23"/>
              <p:cNvSpPr txBox="1"/>
              <p:nvPr/>
            </p:nvSpPr>
            <p:spPr>
              <a:xfrm>
                <a:off x="6766560" y="2066544"/>
                <a:ext cx="5120640" cy="484632"/>
              </a:xfrm>
              <a:prstGeom prst="rect">
                <a:avLst/>
              </a:prstGeom>
              <a:noFill/>
            </p:spPr>
            <p:txBody>
              <a:bodyPr wrap="square" anchor="ctr">
                <a:spAutoFit/>
              </a:bodyPr>
              <a:lstStyle/>
              <a:p>
                <a:pPr algn="ctr">
                  <a:defRPr sz="2000" b="0" i="1">
                    <a:solidFill>
                      <a:srgbClr val="FFFFFF"/>
                    </a:solidFill>
                    <a:latin typeface="Cambria Math"/>
                  </a:defRPr>
                </a:pPr>
                <a14:m>
                  <m:oMathPara xmlns:m="http://schemas.openxmlformats.org/officeDocument/2006/math">
                    <m:oMath>
                      <m:r>
                        <m:rPr>
                          <m:sty m:val="p"/>
                        </m:rPr>
                        <a:rPr lang="en-US" sz="2000" b="0" i="0">
                          <a:latin typeface="Cambria Math"/>
                        </a:rPr>
                        <m:t>TFC</m:t>
                      </m:r>
                      <m:r>
                        <a:rPr lang="en-US" sz="2000" b="0" i="0">
                          <a:latin typeface="Cambria Math"/>
                        </a:rPr>
                        <m:t>  /  </m:t>
                      </m:r>
                      <m:r>
                        <m:rPr>
                          <m:sty m:val="p"/>
                        </m:rPr>
                        <a:rPr lang="en-US" sz="2000" b="0" i="0">
                          <a:latin typeface="Cambria Math"/>
                        </a:rPr>
                        <m:t>TVC</m:t>
                      </m:r>
                      <m:r>
                        <a:rPr lang="en-US" sz="2000" b="0" i="0">
                          <a:latin typeface="Cambria Math"/>
                        </a:rPr>
                        <m:t>  /  </m:t>
                      </m:r>
                      <m:r>
                        <m:rPr>
                          <m:sty m:val="p"/>
                        </m:rPr>
                        <a:rPr lang="en-US" sz="2000" b="0" i="0">
                          <a:latin typeface="Cambria Math"/>
                        </a:rPr>
                        <m:t>AFC</m:t>
                      </m:r>
                      <m:r>
                        <a:rPr lang="en-US" sz="2000" b="0" i="0">
                          <a:latin typeface="Cambria Math"/>
                        </a:rPr>
                        <m:t>  /  </m:t>
                      </m:r>
                      <m:r>
                        <m:rPr>
                          <m:sty m:val="p"/>
                        </m:rPr>
                        <a:rPr lang="en-US" sz="2000" b="0" i="0">
                          <a:latin typeface="Cambria Math"/>
                        </a:rPr>
                        <m:t>AVC</m:t>
                      </m:r>
                      <m:r>
                        <a:rPr lang="en-US" sz="2000" b="0" i="0">
                          <a:latin typeface="Cambria Math"/>
                        </a:rPr>
                        <m:t>  /  </m:t>
                      </m:r>
                      <m:r>
                        <m:rPr>
                          <m:sty m:val="p"/>
                        </m:rPr>
                        <a:rPr lang="en-US" sz="2000" b="0" i="0">
                          <a:latin typeface="Cambria Math"/>
                        </a:rPr>
                        <m:t>ATC</m:t>
                      </m:r>
                      <m:r>
                        <a:rPr lang="en-US" sz="2000" b="0" i="0">
                          <a:latin typeface="Cambria Math"/>
                        </a:rPr>
                        <m:t>  /  </m:t>
                      </m:r>
                      <m:r>
                        <m:rPr>
                          <m:sty m:val="p"/>
                        </m:rPr>
                        <a:rPr lang="en-US" sz="2000" b="0" i="0">
                          <a:latin typeface="Cambria Math"/>
                        </a:rPr>
                        <m:t>MC</m:t>
                      </m:r>
                    </m:oMath>
                  </m:oMathPara>
                </a14:m>
                <a:endParaRPr lang="en-US" sz="2000"/>
              </a:p>
            </p:txBody>
          </p:sp>
        </mc:Choice>
        <mc:Fallback xmlns="">
          <p:sp>
            <p:nvSpPr>
              <p:cNvPr id="24" name="TextBox 23"/>
              <p:cNvSpPr txBox="1">
                <a:spLocks noRot="1" noChangeAspect="1" noMove="1" noResize="1" noEditPoints="1" noAdjustHandles="1" noChangeArrowheads="1" noChangeShapeType="1" noTextEdit="1"/>
              </p:cNvSpPr>
              <p:nvPr/>
            </p:nvSpPr>
            <p:spPr>
              <a:xfrm>
                <a:off x="6766560" y="2066544"/>
                <a:ext cx="5120640" cy="484632"/>
              </a:xfrm>
              <a:prstGeom prst="rect">
                <a:avLst/>
              </a:prstGeom>
              <a:blipFill>
                <a:blip r:embed="rId6"/>
                <a:stretch>
                  <a:fillRect b="-5000"/>
                </a:stretch>
              </a:blipFill>
            </p:spPr>
            <p:txBody>
              <a:bodyPr/>
              <a:lstStyle/>
              <a:p>
                <a:r>
                  <a:rPr lang="en-US">
                    <a:noFill/>
                  </a:rPr>
                  <a:t> </a:t>
                </a:r>
              </a:p>
            </p:txBody>
          </p:sp>
        </mc:Fallback>
      </mc:AlternateContent>
      <p:sp>
        <p:nvSpPr>
          <p:cNvPr id="25" name="Rectangle 24"/>
          <p:cNvSpPr/>
          <p:nvPr/>
        </p:nvSpPr>
        <p:spPr>
          <a:xfrm>
            <a:off x="6766560" y="2788920"/>
            <a:ext cx="1584960" cy="173736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Fixed costs
⇒ ignore if
they are sunk</a:t>
            </a:r>
          </a:p>
        </p:txBody>
      </p:sp>
      <p:sp>
        <p:nvSpPr>
          <p:cNvPr id="26" name="Rectangle 25"/>
          <p:cNvSpPr/>
          <p:nvPr/>
        </p:nvSpPr>
        <p:spPr>
          <a:xfrm>
            <a:off x="8534400" y="2788920"/>
            <a:ext cx="1584960" cy="173736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Marginal Costs
crucial for optimal
output decisions:
MR = MC
(In Module 4)</a:t>
            </a:r>
          </a:p>
        </p:txBody>
      </p:sp>
      <p:sp>
        <p:nvSpPr>
          <p:cNvPr id="27" name="Rectangle 26"/>
          <p:cNvSpPr/>
          <p:nvPr/>
        </p:nvSpPr>
        <p:spPr>
          <a:xfrm>
            <a:off x="10302240" y="2788920"/>
            <a:ext cx="1584960" cy="173736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Average Costs
mostly for
accounting purposes</a:t>
            </a:r>
          </a:p>
        </p:txBody>
      </p:sp>
      <p:cxnSp>
        <p:nvCxnSpPr>
          <p:cNvPr id="28" name="Connector 27"/>
          <p:cNvCxnSpPr/>
          <p:nvPr/>
        </p:nvCxnSpPr>
        <p:spPr>
          <a:xfrm flipH="1">
            <a:off x="1554480" y="2606040"/>
            <a:ext cx="1463040" cy="18288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017520" y="2606040"/>
            <a:ext cx="1463040" cy="18288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554480" y="3383280"/>
            <a:ext cx="0" cy="18288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80560" y="3383280"/>
            <a:ext cx="0" cy="18288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559040" y="2606040"/>
            <a:ext cx="1767840" cy="18288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326880" y="2606040"/>
            <a:ext cx="0" cy="18288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326880" y="2606040"/>
            <a:ext cx="1767840" cy="18288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CE9A0020-8728-CA40-B48F-93C46C19B39E}"/>
              </a:ext>
            </a:extLst>
          </p:cNvPr>
          <p:cNvGrpSpPr/>
          <p:nvPr/>
        </p:nvGrpSpPr>
        <p:grpSpPr>
          <a:xfrm>
            <a:off x="731520" y="4526280"/>
            <a:ext cx="1645920" cy="1691640"/>
            <a:chOff x="731520" y="4526280"/>
            <a:chExt cx="1645920" cy="1691640"/>
          </a:xfrm>
        </p:grpSpPr>
        <p:sp>
          <p:nvSpPr>
            <p:cNvPr id="35" name="12-Point Star 34"/>
            <p:cNvSpPr/>
            <p:nvPr/>
          </p:nvSpPr>
          <p:spPr>
            <a:xfrm>
              <a:off x="731520" y="4983480"/>
              <a:ext cx="1645920" cy="123444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019556" y="5261229"/>
              <a:ext cx="1069848" cy="678942"/>
            </a:xfrm>
            <a:prstGeom prst="rect">
              <a:avLst/>
            </a:prstGeom>
            <a:noFill/>
          </p:spPr>
          <p:txBody>
            <a:bodyPr wrap="square" lIns="0" tIns="0" rIns="0" bIns="0" anchor="ctr">
              <a:spAutoFit/>
            </a:bodyPr>
            <a:lstStyle/>
            <a:p>
              <a:pPr algn="ctr"/>
              <a:r>
                <a:rPr sz="1600" b="1">
                  <a:solidFill>
                    <a:srgbClr val="0B2B4E"/>
                  </a:solidFill>
                  <a:latin typeface="Calibri"/>
                </a:rPr>
                <a:t>MB = MC</a:t>
              </a:r>
            </a:p>
            <a:p>
              <a:pPr algn="ctr"/>
              <a:r>
                <a:rPr sz="1200" b="1" i="1">
                  <a:solidFill>
                    <a:srgbClr val="0B2B4E"/>
                  </a:solidFill>
                  <a:latin typeface="Calibri"/>
                </a:rPr>
                <a:t>(of labor)</a:t>
              </a:r>
            </a:p>
          </p:txBody>
        </p:sp>
        <p:cxnSp>
          <p:nvCxnSpPr>
            <p:cNvPr id="37" name="Connector 36"/>
            <p:cNvCxnSpPr/>
            <p:nvPr/>
          </p:nvCxnSpPr>
          <p:spPr>
            <a:xfrm flipV="1">
              <a:off x="1554480" y="4526280"/>
              <a:ext cx="0" cy="457200"/>
            </a:xfrm>
            <a:prstGeom prst="line">
              <a:avLst/>
            </a:prstGeom>
            <a:ln w="3175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sp>
        <p:nvSpPr>
          <p:cNvPr id="38" name="Rectangle 37"/>
          <p:cNvSpPr/>
          <p:nvPr/>
        </p:nvSpPr>
        <p:spPr>
          <a:xfrm>
            <a:off x="3108960" y="5120640"/>
            <a:ext cx="2743200" cy="960120"/>
          </a:xfrm>
          <a:prstGeom prst="roundRect">
            <a:avLst>
              <a:gd name="adj" fmla="val 12000"/>
            </a:avLst>
          </a:prstGeom>
          <a:solidFill>
            <a:srgbClr val="FFFFFF"/>
          </a:solidFill>
          <a:ln w="254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Minimum cost
for any given Q</a:t>
            </a:r>
          </a:p>
        </p:txBody>
      </p:sp>
      <p:cxnSp>
        <p:nvCxnSpPr>
          <p:cNvPr id="39" name="Connector 38"/>
          <p:cNvCxnSpPr/>
          <p:nvPr/>
        </p:nvCxnSpPr>
        <p:spPr>
          <a:xfrm>
            <a:off x="4480560" y="4818888"/>
            <a:ext cx="0" cy="301752"/>
          </a:xfrm>
          <a:prstGeom prst="line">
            <a:avLst/>
          </a:prstGeom>
          <a:ln w="381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577840" y="4526280"/>
            <a:ext cx="1554480" cy="731520"/>
          </a:xfrm>
          <a:prstGeom prst="line">
            <a:avLst/>
          </a:prstGeom>
          <a:ln w="381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187440" y="4818888"/>
            <a:ext cx="1554480" cy="861774"/>
          </a:xfrm>
          <a:prstGeom prst="rect">
            <a:avLst/>
          </a:prstGeom>
          <a:noFill/>
        </p:spPr>
        <p:txBody>
          <a:bodyPr wrap="square" lIns="0" tIns="0" rIns="0" bIns="0">
            <a:spAutoFit/>
          </a:bodyPr>
          <a:lstStyle/>
          <a:p>
            <a:pPr algn="ctr"/>
            <a:r>
              <a:rPr sz="1400" b="1" i="1" dirty="0">
                <a:solidFill>
                  <a:srgbClr val="E09F3E"/>
                </a:solidFill>
                <a:latin typeface="Calibri"/>
              </a:rPr>
              <a:t>Optimized production leads to minimum</a:t>
            </a:r>
            <a:r>
              <a:rPr lang="en-US" sz="1400" b="1" i="1" dirty="0">
                <a:solidFill>
                  <a:srgbClr val="E09F3E"/>
                </a:solidFill>
                <a:latin typeface="Calibri"/>
              </a:rPr>
              <a:t> Long-Run Average</a:t>
            </a:r>
            <a:r>
              <a:rPr sz="1400" b="1" i="1" dirty="0">
                <a:solidFill>
                  <a:srgbClr val="E09F3E"/>
                </a:solidFill>
                <a:latin typeface="Calibri"/>
              </a:rPr>
              <a:t> </a:t>
            </a:r>
            <a:r>
              <a:rPr lang="en-US" sz="1400" b="1" i="1" dirty="0">
                <a:solidFill>
                  <a:srgbClr val="E09F3E"/>
                </a:solidFill>
                <a:latin typeface="Calibri"/>
              </a:rPr>
              <a:t>Costs (LAC)</a:t>
            </a:r>
            <a:endParaRPr sz="1400" b="1" i="1" dirty="0">
              <a:solidFill>
                <a:srgbClr val="E09F3E"/>
              </a:solidFill>
              <a:latin typeface="Calibri"/>
            </a:endParaRPr>
          </a:p>
        </p:txBody>
      </p:sp>
      <p:grpSp>
        <p:nvGrpSpPr>
          <p:cNvPr id="54" name="Group 53">
            <a:extLst>
              <a:ext uri="{FF2B5EF4-FFF2-40B4-BE49-F238E27FC236}">
                <a16:creationId xmlns:a16="http://schemas.microsoft.com/office/drawing/2014/main" id="{5CCE9823-2591-6654-3237-9913E0F7C9A3}"/>
              </a:ext>
            </a:extLst>
          </p:cNvPr>
          <p:cNvGrpSpPr/>
          <p:nvPr/>
        </p:nvGrpSpPr>
        <p:grpSpPr>
          <a:xfrm>
            <a:off x="8503920" y="4526280"/>
            <a:ext cx="1645920" cy="1691640"/>
            <a:chOff x="8503920" y="4526280"/>
            <a:chExt cx="1645920" cy="1691640"/>
          </a:xfrm>
        </p:grpSpPr>
        <p:sp>
          <p:nvSpPr>
            <p:cNvPr id="42" name="12-Point Star 41"/>
            <p:cNvSpPr/>
            <p:nvPr/>
          </p:nvSpPr>
          <p:spPr>
            <a:xfrm>
              <a:off x="8503920" y="4983480"/>
              <a:ext cx="1645920" cy="123444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8791956" y="5261229"/>
              <a:ext cx="1069848" cy="678942"/>
            </a:xfrm>
            <a:prstGeom prst="rect">
              <a:avLst/>
            </a:prstGeom>
            <a:noFill/>
          </p:spPr>
          <p:txBody>
            <a:bodyPr wrap="square" lIns="0" tIns="0" rIns="0" bIns="0" anchor="ctr">
              <a:spAutoFit/>
            </a:bodyPr>
            <a:lstStyle/>
            <a:p>
              <a:pPr algn="ctr"/>
              <a:r>
                <a:rPr sz="1600" b="1">
                  <a:solidFill>
                    <a:srgbClr val="0B2B4E"/>
                  </a:solidFill>
                  <a:latin typeface="Calibri"/>
                </a:rPr>
                <a:t>MB = MC</a:t>
              </a:r>
            </a:p>
            <a:p>
              <a:pPr algn="ctr"/>
              <a:r>
                <a:rPr sz="1200" b="1" i="1">
                  <a:solidFill>
                    <a:srgbClr val="0B2B4E"/>
                  </a:solidFill>
                  <a:latin typeface="Calibri"/>
                </a:rPr>
                <a:t>(of output)</a:t>
              </a:r>
            </a:p>
          </p:txBody>
        </p:sp>
        <p:cxnSp>
          <p:nvCxnSpPr>
            <p:cNvPr id="44" name="Connector 43"/>
            <p:cNvCxnSpPr/>
            <p:nvPr/>
          </p:nvCxnSpPr>
          <p:spPr>
            <a:xfrm flipV="1">
              <a:off x="9326880" y="4526280"/>
              <a:ext cx="0" cy="457200"/>
            </a:xfrm>
            <a:prstGeom prst="line">
              <a:avLst/>
            </a:prstGeom>
            <a:ln w="3175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sp>
        <p:nvSpPr>
          <p:cNvPr id="45" name="Rectangle 44"/>
          <p:cNvSpPr/>
          <p:nvPr/>
        </p:nvSpPr>
        <p:spPr>
          <a:xfrm>
            <a:off x="10302240" y="5074920"/>
            <a:ext cx="1584960" cy="960120"/>
          </a:xfrm>
          <a:prstGeom prst="roundRect">
            <a:avLst>
              <a:gd name="adj" fmla="val 12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B2B4E"/>
                </a:solidFill>
                <a:latin typeface="Calibri"/>
              </a:rPr>
              <a:t>If long-run AC
falls with Q
⇒ Economies
of Scale</a:t>
            </a:r>
          </a:p>
        </p:txBody>
      </p:sp>
      <p:cxnSp>
        <p:nvCxnSpPr>
          <p:cNvPr id="46" name="Connector 45"/>
          <p:cNvCxnSpPr/>
          <p:nvPr/>
        </p:nvCxnSpPr>
        <p:spPr>
          <a:xfrm>
            <a:off x="11094720" y="4526280"/>
            <a:ext cx="0" cy="54864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50" name="TextBox 49"/>
          <p:cNvSpPr txBox="1"/>
          <p:nvPr/>
        </p:nvSpPr>
        <p:spPr>
          <a:xfrm>
            <a:off x="11430000" y="6583680"/>
            <a:ext cx="548640" cy="292608"/>
          </a:xfrm>
          <a:prstGeom prst="rect">
            <a:avLst/>
          </a:prstGeom>
          <a:noFill/>
        </p:spPr>
        <p:txBody>
          <a:bodyPr wrap="square" lIns="0" tIns="0" rIns="0" bIns="0">
            <a:spAutoFit/>
          </a:bodyPr>
          <a:lstStyle/>
          <a:p>
            <a:pPr algn="r"/>
            <a:fld id="{21C1AE12-20D8-4EF6-978A-F8DD926B6D1F}" type="slidenum">
              <a:rPr sz="1200" b="0" i="0">
                <a:solidFill>
                  <a:srgbClr val="555B66"/>
                </a:solidFill>
                <a:latin typeface="Calibri"/>
              </a:rPr>
              <a:t>9</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20" grpId="0"/>
      <p:bldP spid="21" grpId="0"/>
      <p:bldP spid="22" grpId="0" animBg="1"/>
      <p:bldP spid="25" grpId="0" animBg="1"/>
      <p:bldP spid="26" grpId="0" animBg="1"/>
      <p:bldP spid="27" grpId="0" animBg="1"/>
      <p:bldP spid="38" grpId="0" animBg="1"/>
      <p:bldP spid="41" grpId="0"/>
      <p:bldP spid="4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The Optimal Hiring Rule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8" y="1691640"/>
            <a:ext cx="7414183" cy="3821559"/>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r>
              <a:rPr lang="de-DE" dirty="0">
                <a:latin typeface="Calibri"/>
              </a:rPr>
              <a:t>Recall</a:t>
            </a:r>
            <a:r>
              <a:rPr lang="en-US" dirty="0"/>
              <a:t>: MRPL: Marginal Revenue Product of Labor</a:t>
            </a:r>
          </a:p>
          <a:p>
            <a:pPr lvl="1"/>
            <a:r>
              <a:rPr lang="en-US" dirty="0">
                <a:latin typeface="Calibri"/>
              </a:rPr>
              <a:t>By how much revenues go up if we hire one more worker</a:t>
            </a:r>
            <a:endParaRPr dirty="0">
              <a:latin typeface="Calibri"/>
            </a:endParaRPr>
          </a:p>
          <a:p>
            <a:pPr algn="l"/>
            <a:r>
              <a:rPr lang="en-US" dirty="0">
                <a:latin typeface="Calibri"/>
              </a:rPr>
              <a:t>If MRPL &gt; wage</a:t>
            </a:r>
            <a:r>
              <a:rPr dirty="0">
                <a:latin typeface="Calibri"/>
              </a:rPr>
              <a:t>:</a:t>
            </a:r>
            <a:r>
              <a:rPr lang="en-US" dirty="0">
                <a:latin typeface="Calibri"/>
              </a:rPr>
              <a:t> Hire more labor</a:t>
            </a:r>
            <a:endParaRPr dirty="0">
              <a:latin typeface="Calibri"/>
            </a:endParaRPr>
          </a:p>
          <a:p>
            <a:pPr algn="l"/>
            <a:endParaRPr lang="en-US" dirty="0">
              <a:latin typeface="Calibri"/>
            </a:endParaRPr>
          </a:p>
          <a:p>
            <a:pPr algn="l"/>
            <a:endParaRPr lang="en-US" dirty="0"/>
          </a:p>
          <a:p>
            <a:pPr algn="l"/>
            <a:endParaRPr lang="en-US" dirty="0">
              <a:latin typeface="Calibri"/>
            </a:endParaRPr>
          </a:p>
          <a:p>
            <a:pPr algn="l"/>
            <a:r>
              <a:rPr lang="en-US" dirty="0">
                <a:latin typeface="Calibri"/>
              </a:rPr>
              <a:t>Note: </a:t>
            </a:r>
          </a:p>
          <a:p>
            <a:pPr lvl="1"/>
            <a:r>
              <a:rPr lang="en-US" dirty="0"/>
              <a:t>This holds in the short run, when K  is fixed while labor is the flexible input</a:t>
            </a:r>
          </a:p>
        </p:txBody>
      </p:sp>
      <p:sp>
        <p:nvSpPr>
          <p:cNvPr id="14" name="Rounded Rectangle 13"/>
          <p:cNvSpPr/>
          <p:nvPr/>
        </p:nvSpPr>
        <p:spPr>
          <a:xfrm>
            <a:off x="2263679" y="3323844"/>
            <a:ext cx="7171639"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Optimal Number of Workers:  L*  where:  </a:t>
            </a:r>
            <a:r>
              <a:rPr sz="2400" b="1">
                <a:solidFill>
                  <a:srgbClr val="FFFFFF"/>
                </a:solidFill>
                <a:latin typeface="Calibri"/>
              </a:rPr>
              <a:t>MRPL  =  w</a:t>
            </a:r>
          </a:p>
        </p:txBody>
      </p:sp>
      <p:grpSp>
        <p:nvGrpSpPr>
          <p:cNvPr id="20" name="Group 19">
            <a:extLst>
              <a:ext uri="{FF2B5EF4-FFF2-40B4-BE49-F238E27FC236}">
                <a16:creationId xmlns:a16="http://schemas.microsoft.com/office/drawing/2014/main" id="{10E37B5A-47C0-191F-98E9-4A6C9652BA0B}"/>
              </a:ext>
            </a:extLst>
          </p:cNvPr>
          <p:cNvGrpSpPr/>
          <p:nvPr/>
        </p:nvGrpSpPr>
        <p:grpSpPr>
          <a:xfrm>
            <a:off x="9213688" y="2933630"/>
            <a:ext cx="2110047" cy="960120"/>
            <a:chOff x="800488" y="5293461"/>
            <a:chExt cx="2110047" cy="960120"/>
          </a:xfrm>
        </p:grpSpPr>
        <p:sp>
          <p:nvSpPr>
            <p:cNvPr id="12" name="12-Point Star 11"/>
            <p:cNvSpPr/>
            <p:nvPr/>
          </p:nvSpPr>
          <p:spPr>
            <a:xfrm>
              <a:off x="1447495" y="5293461"/>
              <a:ext cx="1463040" cy="96012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703527" y="5509488"/>
              <a:ext cx="950976" cy="528066"/>
            </a:xfrm>
            <a:prstGeom prst="rect">
              <a:avLst/>
            </a:prstGeom>
            <a:noFill/>
          </p:spPr>
          <p:txBody>
            <a:bodyPr wrap="square" lIns="0" tIns="0" rIns="0" bIns="0" anchor="ctr">
              <a:spAutoFit/>
            </a:bodyPr>
            <a:lstStyle/>
            <a:p>
              <a:pPr algn="ctr"/>
              <a:r>
                <a:rPr sz="1400" b="1">
                  <a:solidFill>
                    <a:srgbClr val="0B2B4E"/>
                  </a:solidFill>
                  <a:latin typeface="Calibri"/>
                </a:rPr>
                <a:t>MB = MC</a:t>
              </a:r>
            </a:p>
            <a:p>
              <a:pPr algn="ctr"/>
              <a:r>
                <a:rPr sz="1100" b="1" i="1">
                  <a:solidFill>
                    <a:srgbClr val="0B2B4E"/>
                  </a:solidFill>
                  <a:latin typeface="Calibri"/>
                </a:rPr>
                <a:t>(of labor)</a:t>
              </a:r>
            </a:p>
          </p:txBody>
        </p:sp>
        <p:cxnSp>
          <p:nvCxnSpPr>
            <p:cNvPr id="15" name="Connector 14"/>
            <p:cNvCxnSpPr>
              <a:cxnSpLocks/>
            </p:cNvCxnSpPr>
            <p:nvPr/>
          </p:nvCxnSpPr>
          <p:spPr>
            <a:xfrm flipH="1">
              <a:off x="800488" y="5769041"/>
              <a:ext cx="647007" cy="142194"/>
            </a:xfrm>
            <a:prstGeom prst="line">
              <a:avLst/>
            </a:prstGeom>
            <a:ln w="254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9" name="TextBox 18"/>
          <p:cNvSpPr txBox="1"/>
          <p:nvPr/>
        </p:nvSpPr>
        <p:spPr>
          <a:xfrm>
            <a:off x="11430000" y="6583680"/>
            <a:ext cx="548640" cy="292608"/>
          </a:xfrm>
          <a:prstGeom prst="rect">
            <a:avLst/>
          </a:prstGeom>
          <a:noFill/>
        </p:spPr>
        <p:txBody>
          <a:bodyPr wrap="square" lIns="0" tIns="0" rIns="0" bIns="0">
            <a:spAutoFit/>
          </a:bodyPr>
          <a:lstStyle/>
          <a:p>
            <a:pPr algn="r"/>
            <a:fld id="{AB6B5B34-C885-431F-97A7-AFFD7475CC31}" type="slidenum">
              <a:rPr sz="1200" b="0" i="0">
                <a:solidFill>
                  <a:srgbClr val="555B66"/>
                </a:solidFill>
                <a:latin typeface="Calibri"/>
              </a:rPr>
              <a:t>10</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In Class · Examples · Wage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Are Real-World Wages = MRPL?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29_rId4.png"/>
          <p:cNvPicPr>
            <a:picLocks noChangeAspect="1"/>
          </p:cNvPicPr>
          <p:nvPr/>
        </p:nvPicPr>
        <p:blipFill>
          <a:blip r:embed="rId3"/>
          <a:stretch>
            <a:fillRect/>
          </a:stretch>
        </p:blipFill>
        <p:spPr>
          <a:xfrm>
            <a:off x="2300630" y="1420063"/>
            <a:ext cx="7589520" cy="4569524"/>
          </a:xfrm>
          <a:prstGeom prst="rect">
            <a:avLst/>
          </a:prstGeom>
        </p:spPr>
      </p:pic>
      <p:pic>
        <p:nvPicPr>
          <p:cNvPr id="8" name="Picture 7" descr="slide29_rId5.png"/>
          <p:cNvPicPr>
            <a:picLocks noChangeAspect="1"/>
          </p:cNvPicPr>
          <p:nvPr/>
        </p:nvPicPr>
        <p:blipFill>
          <a:blip r:embed="rId4"/>
          <a:stretch>
            <a:fillRect/>
          </a:stretch>
        </p:blipFill>
        <p:spPr>
          <a:xfrm>
            <a:off x="2263679" y="1395564"/>
            <a:ext cx="7589520" cy="4569524"/>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4603089" y="5988405"/>
            <a:ext cx="7589520" cy="502920"/>
          </a:xfrm>
          <a:prstGeom prst="rect">
            <a:avLst/>
          </a:prstGeom>
          <a:noFill/>
        </p:spPr>
        <p:txBody>
          <a:bodyPr wrap="square" anchor="ctr">
            <a:spAutoFit/>
          </a:bodyPr>
          <a:lstStyle/>
          <a:p>
            <a:pPr algn="ctr"/>
            <a:r>
              <a:rPr sz="1400" b="0">
                <a:solidFill>
                  <a:srgbClr val="000000"/>
                </a:solidFill>
                <a:latin typeface="Calibri"/>
              </a:rPr>
              <a:t>Search tool:  </a:t>
            </a:r>
            <a:r>
              <a:rPr sz="1400" b="0" u="none">
                <a:solidFill>
                  <a:srgbClr val="000000"/>
                </a:solidFill>
                <a:latin typeface="Calibri"/>
                <a:hlinkClick r:id="rId5"/>
              </a:rPr>
              <a:t>https://ucannualwage.ucop.edu/wage/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3" name="TextBox 12"/>
          <p:cNvSpPr txBox="1"/>
          <p:nvPr/>
        </p:nvSpPr>
        <p:spPr>
          <a:xfrm>
            <a:off x="11430000" y="6583680"/>
            <a:ext cx="548640" cy="292608"/>
          </a:xfrm>
          <a:prstGeom prst="rect">
            <a:avLst/>
          </a:prstGeom>
          <a:noFill/>
        </p:spPr>
        <p:txBody>
          <a:bodyPr wrap="square" lIns="0" tIns="0" rIns="0" bIns="0">
            <a:spAutoFit/>
          </a:bodyPr>
          <a:lstStyle/>
          <a:p>
            <a:pPr algn="r"/>
            <a:fld id="{4E01A2C3-35C2-4F82-9924-C8662DD3BCF7}" type="slidenum">
              <a:rPr sz="1200" b="0" i="0">
                <a:solidFill>
                  <a:srgbClr val="555B66"/>
                </a:solidFill>
                <a:latin typeface="Calibri"/>
              </a:rPr>
              <a:t>11</a:t>
            </a:fld>
            <a:endParaRPr sz="1200" b="0" i="0">
              <a:solidFill>
                <a:srgbClr val="555B66"/>
              </a:solidFill>
              <a:latin typeface="Calibri"/>
            </a:endParaRPr>
          </a:p>
        </p:txBody>
      </p:sp>
    </p:spTree>
    <p:extLst>
      <p:ext uri="{BB962C8B-B14F-4D97-AF65-F5344CB8AC3E}">
        <p14:creationId xmlns:p14="http://schemas.microsoft.com/office/powerpoint/2010/main" val="346592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Video 4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TextBox 13"/>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5" name="Rounded Rectangle 14"/>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6" name="Rounded Rectangle 15"/>
          <p:cNvSpPr/>
          <p:nvPr/>
        </p:nvSpPr>
        <p:spPr>
          <a:xfrm>
            <a:off x="822960" y="3477006"/>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18" name="TextBox 17"/>
          <p:cNvSpPr txBox="1"/>
          <p:nvPr/>
        </p:nvSpPr>
        <p:spPr>
          <a:xfrm>
            <a:off x="1874519" y="353187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Wage Searchers</a:t>
            </a:r>
          </a:p>
          <a:p>
            <a:pPr algn="l">
              <a:spcBef>
                <a:spcPts val="0"/>
              </a:spcBef>
              <a:buNone/>
            </a:pPr>
            <a:r>
              <a:rPr sz="2200">
                <a:solidFill>
                  <a:srgbClr val="555B66"/>
                </a:solidFill>
                <a:latin typeface="Calibri"/>
              </a:rPr>
              <a:t>When hiring one more worker bids up the wage for everyone</a:t>
            </a:r>
          </a:p>
        </p:txBody>
      </p:sp>
      <p:sp>
        <p:nvSpPr>
          <p:cNvPr id="19" name="Rounded Rectangle 18"/>
          <p:cNvSpPr/>
          <p:nvPr/>
        </p:nvSpPr>
        <p:spPr>
          <a:xfrm>
            <a:off x="10332720" y="3696462"/>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4</a:t>
            </a:r>
          </a:p>
        </p:txBody>
      </p:sp>
      <p:sp>
        <p:nvSpPr>
          <p:cNvPr id="20" name="Oval 19"/>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1" name="TextBox 20"/>
          <p:cNvSpPr txBox="1"/>
          <p:nvPr/>
        </p:nvSpPr>
        <p:spPr>
          <a:xfrm>
            <a:off x="1874519" y="433473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Long Run: The Optimal Input Mix</a:t>
            </a:r>
          </a:p>
        </p:txBody>
      </p:sp>
      <p:sp>
        <p:nvSpPr>
          <p:cNvPr id="22" name="Rounded Rectangle 21"/>
          <p:cNvSpPr/>
          <p:nvPr/>
        </p:nvSpPr>
        <p:spPr>
          <a:xfrm>
            <a:off x="10332720" y="441426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5</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TextBox 23"/>
          <p:cNvSpPr txBox="1"/>
          <p:nvPr/>
        </p:nvSpPr>
        <p:spPr>
          <a:xfrm>
            <a:off x="1874519" y="505254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Cost Concepts</a:t>
            </a:r>
          </a:p>
        </p:txBody>
      </p:sp>
      <p:sp>
        <p:nvSpPr>
          <p:cNvPr id="25" name="Rounded Rectangle 24"/>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6</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7</a:t>
            </a:r>
          </a:p>
        </p:txBody>
      </p:sp>
      <p:sp>
        <p:nvSpPr>
          <p:cNvPr id="27" name="TextBox 26"/>
          <p:cNvSpPr txBox="1"/>
          <p:nvPr/>
        </p:nvSpPr>
        <p:spPr>
          <a:xfrm>
            <a:off x="1874519" y="577034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Economies of Scale and Scope</a:t>
            </a:r>
          </a:p>
        </p:txBody>
      </p:sp>
      <p:sp>
        <p:nvSpPr>
          <p:cNvPr id="28" name="Rounded Rectangle 27"/>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7A9A74B7-DF7F-5EA1-924A-779BB974D1B0}" type="slidenum">
              <a:rPr lang="en-US" sz="1200" dirty="0">
                <a:solidFill>
                  <a:srgbClr val="555B66"/>
                </a:solidFill>
                <a:latin typeface="Calibri"/>
              </a:rPr>
              <a:t>12</a:t>
            </a:fld>
            <a:endParaRPr lang="en-US" sz="1200" dirty="0">
              <a:solidFill>
                <a:srgbClr val="555B66"/>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In Class · Examples · Wage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dirty="0">
                <a:solidFill>
                  <a:srgbClr val="0B2B4E"/>
                </a:solidFill>
                <a:latin typeface="Calibri"/>
              </a:rPr>
              <a:t>Example:  The Full Cost of Poaching an AI Researcher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8229600" cy="3657600"/>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r>
              <a:rPr>
                <a:latin typeface="Calibri"/>
              </a:rPr>
              <a:t>Anthropic is trying to poach a star researcher from Google DeepMind</a:t>
            </a:r>
          </a:p>
          <a:p>
            <a:pPr lvl="1" algn="l"/>
            <a:r>
              <a:rPr>
                <a:latin typeface="Calibri"/>
              </a:rPr>
              <a:t>She would join Anthropic for a $5M annual salary</a:t>
            </a:r>
          </a:p>
          <a:p>
            <a:pPr algn="l"/>
            <a:r>
              <a:rPr>
                <a:latin typeface="Calibri"/>
              </a:rPr>
              <a:t>Anthropic already employs 2 star researchers, each earning $3.5M</a:t>
            </a:r>
          </a:p>
          <a:p>
            <a:pPr lvl="1" algn="l"/>
            <a:r>
              <a:rPr>
                <a:latin typeface="Calibri"/>
              </a:rPr>
              <a:t>If the new researcher is hired, the existing two will demand the same salary</a:t>
            </a:r>
          </a:p>
        </p:txBody>
      </p:sp>
      <p:pic>
        <p:nvPicPr>
          <p:cNvPr id="8" name="Picture 7" descr="slide26_rId4.jpg"/>
          <p:cNvPicPr>
            <a:picLocks noChangeAspect="1"/>
          </p:cNvPicPr>
          <p:nvPr/>
        </p:nvPicPr>
        <p:blipFill>
          <a:blip r:embed="rId3"/>
          <a:stretch>
            <a:fillRect/>
          </a:stretch>
        </p:blipFill>
        <p:spPr>
          <a:xfrm>
            <a:off x="8869680" y="1828800"/>
            <a:ext cx="3017520" cy="3453884"/>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8841333" y="5302605"/>
            <a:ext cx="3017520" cy="228600"/>
          </a:xfrm>
          <a:prstGeom prst="rect">
            <a:avLst/>
          </a:prstGeom>
          <a:noFill/>
        </p:spPr>
        <p:txBody>
          <a:bodyPr wrap="square" lIns="0" tIns="0" rIns="0" bIns="0">
            <a:spAutoFit/>
          </a:bodyPr>
          <a:lstStyle/>
          <a:p>
            <a:pPr algn="ctr"/>
            <a:r>
              <a:rPr sz="1100" b="0" i="1">
                <a:solidFill>
                  <a:srgbClr val="555B66"/>
                </a:solidFill>
                <a:latin typeface="Calibri"/>
              </a:rPr>
              <a:t>Demis Hassabis  (CC BY, C. Michel via Wikimedia)</a:t>
            </a:r>
          </a:p>
        </p:txBody>
      </p:sp>
      <p:sp>
        <p:nvSpPr>
          <p:cNvPr id="10" name="Rounded Rectangle 9"/>
          <p:cNvSpPr/>
          <p:nvPr/>
        </p:nvSpPr>
        <p:spPr>
          <a:xfrm>
            <a:off x="611733" y="5161788"/>
            <a:ext cx="6633972" cy="461772"/>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B2B4E"/>
                </a:solidFill>
                <a:latin typeface="Calibri"/>
              </a:rPr>
              <a:t>→  What is the marginal cost of the 3rd researcher?</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tIns="0" rIns="0" bIns="0">
            <a:spAutoFit/>
          </a:bodyPr>
          <a:lstStyle/>
          <a:p>
            <a:pPr algn="r"/>
            <a:fld id="{9211E7F9-FDBB-4422-93CC-4DFB0874DBD2}" type="slidenum">
              <a:rPr sz="1200" b="0" i="0">
                <a:solidFill>
                  <a:srgbClr val="555B66"/>
                </a:solidFill>
                <a:latin typeface="Calibri"/>
              </a:rPr>
              <a:t>13</a:t>
            </a:fld>
            <a:endParaRPr sz="1200" b="0" i="0">
              <a:solidFill>
                <a:srgbClr val="555B66"/>
              </a:solidFill>
              <a:latin typeface="Calibri"/>
            </a:endParaRPr>
          </a:p>
        </p:txBody>
      </p:sp>
      <p:grpSp>
        <p:nvGrpSpPr>
          <p:cNvPr id="17" name="PollBreakBadge"/>
          <p:cNvGrpSpPr/>
          <p:nvPr/>
        </p:nvGrpSpPr>
        <p:grpSpPr>
          <a:xfrm>
            <a:off x="9361444" y="6190030"/>
            <a:ext cx="2697480" cy="487009"/>
            <a:chOff x="9361444" y="6190030"/>
            <a:chExt cx="2697480" cy="487009"/>
          </a:xfrm>
        </p:grpSpPr>
        <p:sp>
          <p:nvSpPr>
            <p:cNvPr id="18" name="Rectangle 13"/>
            <p:cNvSpPr/>
            <p:nvPr/>
          </p:nvSpPr>
          <p:spPr>
            <a:xfrm>
              <a:off x="9361444" y="6190030"/>
              <a:ext cx="2697480" cy="487009"/>
            </a:xfrm>
            <a:custGeom>
              <a:avLst/>
              <a:gdLst/>
              <a:ahLst/>
              <a:cxnLst/>
              <a:rect l="24406" t="0" r="75594" b="100000"/>
              <a:pathLst>
                <a:path w="100000" h="100000">
                  <a:moveTo>
                    <a:pt x="29406" y="0"/>
                  </a:moveTo>
                  <a:lnTo>
                    <a:pt x="95000" y="0"/>
                  </a:lnTo>
                  <a:cubicBezTo>
                    <a:pt x="100000" y="0"/>
                    <a:pt x="100000" y="0"/>
                    <a:pt x="98780" y="5000"/>
                  </a:cubicBezTo>
                  <a:lnTo>
                    <a:pt x="76814" y="95000"/>
                  </a:lnTo>
                  <a:cubicBezTo>
                    <a:pt x="75594" y="100000"/>
                    <a:pt x="75594" y="100000"/>
                    <a:pt x="70594" y="100000"/>
                  </a:cubicBezTo>
                  <a:lnTo>
                    <a:pt x="5000" y="100000"/>
                  </a:lnTo>
                  <a:cubicBezTo>
                    <a:pt x="0" y="100000"/>
                    <a:pt x="0" y="100000"/>
                    <a:pt x="1220" y="95000"/>
                  </a:cubicBezTo>
                  <a:lnTo>
                    <a:pt x="23186" y="5000"/>
                  </a:lnTo>
                  <a:cubicBezTo>
                    <a:pt x="24406" y="0"/>
                    <a:pt x="24406" y="0"/>
                    <a:pt x="29406"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4"/>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extLst>
      <p:ext uri="{BB962C8B-B14F-4D97-AF65-F5344CB8AC3E}">
        <p14:creationId xmlns:p14="http://schemas.microsoft.com/office/powerpoint/2010/main" val="226016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E8DC5B-AC6D-0A7C-160A-116A519F1B40}"/>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grpSp>
        <p:nvGrpSpPr>
          <p:cNvPr id="12" name="Group 11">
            <a:extLst>
              <a:ext uri="{FF2B5EF4-FFF2-40B4-BE49-F238E27FC236}">
                <a16:creationId xmlns:a16="http://schemas.microsoft.com/office/drawing/2014/main" id="{71F5B3D1-26B9-EF0B-42CA-A99A14D0CC90}"/>
              </a:ext>
            </a:extLst>
          </p:cNvPr>
          <p:cNvGrpSpPr/>
          <p:nvPr/>
        </p:nvGrpSpPr>
        <p:grpSpPr>
          <a:xfrm>
            <a:off x="10366225" y="5673852"/>
            <a:ext cx="1359712" cy="466344"/>
            <a:chOff x="10366225" y="5673852"/>
            <a:chExt cx="1359712" cy="466344"/>
          </a:xfrm>
        </p:grpSpPr>
        <p:sp>
          <p:nvSpPr>
            <p:cNvPr id="13" name="Rounded Rectangle 12">
              <a:extLst>
                <a:ext uri="{FF2B5EF4-FFF2-40B4-BE49-F238E27FC236}">
                  <a16:creationId xmlns:a16="http://schemas.microsoft.com/office/drawing/2014/main" id="{5566587E-C5E3-9846-8A23-CCCD451F9D51}"/>
                </a:ext>
              </a:extLst>
            </p:cNvPr>
            <p:cNvSpPr/>
            <p:nvPr/>
          </p:nvSpPr>
          <p:spPr>
            <a:xfrm>
              <a:off x="10366225" y="5673852"/>
              <a:ext cx="1359712"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C7399B34-E6FA-6490-88A1-77985DD0C774}"/>
                </a:ext>
              </a:extLst>
            </p:cNvPr>
            <p:cNvSpPr txBox="1"/>
            <p:nvPr/>
          </p:nvSpPr>
          <p:spPr>
            <a:xfrm>
              <a:off x="10366225" y="5673852"/>
              <a:ext cx="1359712" cy="466344"/>
            </a:xfrm>
            <a:prstGeom prst="rect">
              <a:avLst/>
            </a:prstGeom>
            <a:noFill/>
          </p:spPr>
          <p:txBody>
            <a:bodyPr wrap="square" lIns="0" tIns="0" rIns="0" bIns="0" anchor="ctr">
              <a:spAutoFit/>
            </a:bodyPr>
            <a:lstStyle/>
            <a:p>
              <a:pPr algn="ctr"/>
              <a:r>
                <a:rPr sz="1600" b="1" i="0" dirty="0">
                  <a:solidFill>
                    <a:srgbClr val="0B2B4E"/>
                  </a:solidFill>
                  <a:latin typeface="Calibri"/>
                </a:rPr>
                <a:t>POLL</a:t>
              </a:r>
            </a:p>
          </p:txBody>
        </p:sp>
      </p:grpSp>
    </p:spTree>
    <p:extLst>
      <p:ext uri="{BB962C8B-B14F-4D97-AF65-F5344CB8AC3E}">
        <p14:creationId xmlns:p14="http://schemas.microsoft.com/office/powerpoint/2010/main" val="2486971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In Class · Examples · Wage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Solution:  Marginal Cost of the 3rd Researcher = $8M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2015936"/>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The star researcher herself is paid  $5M</a:t>
            </a:r>
          </a:p>
          <a:p>
            <a:pPr algn="l"/>
            <a:r>
              <a:rPr>
                <a:latin typeface="Calibri"/>
              </a:rPr>
              <a:t>The two existing researchers each get a raise of  ($5M − $3.5M) = $1.5M</a:t>
            </a:r>
          </a:p>
          <a:p>
            <a:pPr algn="l"/>
            <a:r>
              <a:rPr>
                <a:latin typeface="Calibri"/>
              </a:rPr>
              <a:t>Total extra wage bill:  $5M + 2 × $1.5M</a:t>
            </a:r>
          </a:p>
          <a:p>
            <a:pPr algn="l"/>
            <a:r>
              <a:rPr>
                <a:solidFill>
                  <a:srgbClr val="C00000"/>
                </a:solidFill>
                <a:latin typeface="Calibri"/>
              </a:rPr>
              <a:t>Full Marginal Cost of the 3rd researcher  =  </a:t>
            </a:r>
            <a:r>
              <a:rPr b="1">
                <a:solidFill>
                  <a:srgbClr val="C00000"/>
                </a:solidFill>
                <a:latin typeface="Calibri"/>
              </a:rPr>
              <a:t>$8M</a:t>
            </a:r>
          </a:p>
        </p:txBody>
      </p:sp>
      <p:sp>
        <p:nvSpPr>
          <p:cNvPr id="8" name="Rounded Rectangle 7"/>
          <p:cNvSpPr/>
          <p:nvPr/>
        </p:nvSpPr>
        <p:spPr>
          <a:xfrm>
            <a:off x="1719986" y="4828032"/>
            <a:ext cx="8879738" cy="502920"/>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B2B4E"/>
                </a:solidFill>
                <a:latin typeface="Calibri"/>
              </a:rPr>
              <a:t>Take-Away:  Big buyers of scarce talent can affect wages  —  factor it in</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tIns="0" rIns="0" bIns="0">
            <a:spAutoFit/>
          </a:bodyPr>
          <a:lstStyle/>
          <a:p>
            <a:pPr algn="r"/>
            <a:fld id="{3F1BEDC8-B656-4165-99A5-53AB29879754}" type="slidenum">
              <a:rPr sz="1200" b="0" i="0">
                <a:solidFill>
                  <a:srgbClr val="555B66"/>
                </a:solidFill>
                <a:latin typeface="Calibri"/>
              </a:rPr>
              <a:t>15</a:t>
            </a:fld>
            <a:endParaRPr sz="1200" b="0" i="0">
              <a:solidFill>
                <a:srgbClr val="555B66"/>
              </a:solidFill>
              <a:latin typeface="Calibri"/>
            </a:endParaRPr>
          </a:p>
        </p:txBody>
      </p:sp>
      <p:grpSp>
        <p:nvGrpSpPr>
          <p:cNvPr id="13" name="PollBreakBadge"/>
          <p:cNvGrpSpPr/>
          <p:nvPr/>
        </p:nvGrpSpPr>
        <p:grpSpPr>
          <a:xfrm>
            <a:off x="9361444" y="6190030"/>
            <a:ext cx="2697480" cy="487009"/>
            <a:chOff x="9361444" y="6190030"/>
            <a:chExt cx="2697480" cy="487009"/>
          </a:xfrm>
        </p:grpSpPr>
        <p:sp>
          <p:nvSpPr>
            <p:cNvPr id="14" name="Rectangle 13"/>
            <p:cNvSpPr/>
            <p:nvPr/>
          </p:nvSpPr>
          <p:spPr>
            <a:xfrm>
              <a:off x="9361444" y="6190030"/>
              <a:ext cx="2697480" cy="487009"/>
            </a:xfrm>
            <a:custGeom>
              <a:avLst/>
              <a:gdLst/>
              <a:ahLst/>
              <a:cxnLst/>
              <a:rect l="24406" t="0" r="75594" b="100000"/>
              <a:pathLst>
                <a:path w="100000" h="100000">
                  <a:moveTo>
                    <a:pt x="29406" y="0"/>
                  </a:moveTo>
                  <a:lnTo>
                    <a:pt x="95000" y="0"/>
                  </a:lnTo>
                  <a:cubicBezTo>
                    <a:pt x="100000" y="0"/>
                    <a:pt x="100000" y="0"/>
                    <a:pt x="98780" y="5000"/>
                  </a:cubicBezTo>
                  <a:lnTo>
                    <a:pt x="76814" y="95000"/>
                  </a:lnTo>
                  <a:cubicBezTo>
                    <a:pt x="75594" y="100000"/>
                    <a:pt x="75594" y="100000"/>
                    <a:pt x="70594" y="100000"/>
                  </a:cubicBezTo>
                  <a:lnTo>
                    <a:pt x="5000" y="100000"/>
                  </a:lnTo>
                  <a:cubicBezTo>
                    <a:pt x="0" y="100000"/>
                    <a:pt x="0" y="100000"/>
                    <a:pt x="1220" y="95000"/>
                  </a:cubicBezTo>
                  <a:lnTo>
                    <a:pt x="23186" y="5000"/>
                  </a:lnTo>
                  <a:cubicBezTo>
                    <a:pt x="24406" y="0"/>
                    <a:pt x="24406" y="0"/>
                    <a:pt x="29406"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extLst>
      <p:ext uri="{BB962C8B-B14F-4D97-AF65-F5344CB8AC3E}">
        <p14:creationId xmlns:p14="http://schemas.microsoft.com/office/powerpoint/2010/main" val="44613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Video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TextBox 13"/>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5" name="Rounded Rectangle 14"/>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6" name="Oval 15"/>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7" name="TextBox 16"/>
          <p:cNvSpPr txBox="1"/>
          <p:nvPr/>
        </p:nvSpPr>
        <p:spPr>
          <a:xfrm>
            <a:off x="1874519" y="361693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Wage Searchers</a:t>
            </a:r>
          </a:p>
        </p:txBody>
      </p:sp>
      <p:sp>
        <p:nvSpPr>
          <p:cNvPr id="18" name="Rounded Rectangle 17"/>
          <p:cNvSpPr/>
          <p:nvPr/>
        </p:nvSpPr>
        <p:spPr>
          <a:xfrm>
            <a:off x="10332720" y="369646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4</a:t>
            </a:r>
          </a:p>
        </p:txBody>
      </p:sp>
      <p:sp>
        <p:nvSpPr>
          <p:cNvPr id="19" name="Rounded Rectangle 18"/>
          <p:cNvSpPr/>
          <p:nvPr/>
        </p:nvSpPr>
        <p:spPr>
          <a:xfrm>
            <a:off x="822960" y="4194810"/>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5</a:t>
            </a:r>
          </a:p>
        </p:txBody>
      </p:sp>
      <p:sp>
        <p:nvSpPr>
          <p:cNvPr id="21" name="TextBox 20"/>
          <p:cNvSpPr txBox="1"/>
          <p:nvPr/>
        </p:nvSpPr>
        <p:spPr>
          <a:xfrm>
            <a:off x="1874519" y="424967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Long Run: The Optimal Input Mix</a:t>
            </a:r>
          </a:p>
          <a:p>
            <a:pPr algn="l">
              <a:spcBef>
                <a:spcPts val="0"/>
              </a:spcBef>
              <a:buNone/>
            </a:pPr>
            <a:r>
              <a:rPr sz="2200">
                <a:solidFill>
                  <a:srgbClr val="555B66"/>
                </a:solidFill>
                <a:latin typeface="Calibri"/>
              </a:rPr>
              <a:t>Choosing between capital and labor when both can be adjusted</a:t>
            </a:r>
          </a:p>
        </p:txBody>
      </p:sp>
      <p:sp>
        <p:nvSpPr>
          <p:cNvPr id="22" name="Rounded Rectangle 21"/>
          <p:cNvSpPr/>
          <p:nvPr/>
        </p:nvSpPr>
        <p:spPr>
          <a:xfrm>
            <a:off x="10332720" y="4414266"/>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5</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TextBox 23"/>
          <p:cNvSpPr txBox="1"/>
          <p:nvPr/>
        </p:nvSpPr>
        <p:spPr>
          <a:xfrm>
            <a:off x="1874519" y="505254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Cost Concepts</a:t>
            </a:r>
          </a:p>
        </p:txBody>
      </p:sp>
      <p:sp>
        <p:nvSpPr>
          <p:cNvPr id="25" name="Rounded Rectangle 24"/>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6</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7</a:t>
            </a:r>
          </a:p>
        </p:txBody>
      </p:sp>
      <p:sp>
        <p:nvSpPr>
          <p:cNvPr id="27" name="TextBox 26"/>
          <p:cNvSpPr txBox="1"/>
          <p:nvPr/>
        </p:nvSpPr>
        <p:spPr>
          <a:xfrm>
            <a:off x="1874519" y="577034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Economies of Scale and Scope</a:t>
            </a:r>
          </a:p>
        </p:txBody>
      </p:sp>
      <p:sp>
        <p:nvSpPr>
          <p:cNvPr id="28" name="Rounded Rectangle 27"/>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EDF708DD-CB73-56E8-9FB3-32D439A6BCE9}" type="slidenum">
              <a:rPr lang="en-US" sz="1200" dirty="0">
                <a:solidFill>
                  <a:srgbClr val="555B66"/>
                </a:solidFill>
                <a:latin typeface="Calibri"/>
              </a:rPr>
              <a:t>16</a:t>
            </a:fld>
            <a:endParaRPr lang="en-US" sz="1200" dirty="0">
              <a:solidFill>
                <a:srgbClr val="555B66"/>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5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Optimal Combination of Inputs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12164"/>
            <a:ext cx="11687697" cy="5029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32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r>
              <a:rPr>
                <a:latin typeface="Calibri"/>
              </a:rPr>
              <a:t>Optimal Input Mix:  How much K and how much L?</a:t>
            </a:r>
          </a:p>
        </p:txBody>
      </p:sp>
      <p:sp>
        <p:nvSpPr>
          <p:cNvPr id="8" name="TextBox 7"/>
          <p:cNvSpPr txBox="1"/>
          <p:nvPr/>
        </p:nvSpPr>
        <p:spPr>
          <a:xfrm>
            <a:off x="251999" y="2071116"/>
            <a:ext cx="11687697" cy="457200"/>
          </a:xfrm>
          <a:prstGeom prst="rect">
            <a:avLst/>
          </a:prstGeom>
          <a:noFill/>
        </p:spPr>
        <p:txBody>
          <a:bodyPr wrap="square" lIns="0" tIns="0" rIns="0" bIns="0">
            <a:spAutoFit/>
          </a:bodyPr>
          <a:lstStyle/>
          <a:p>
            <a:pPr algn="ctr"/>
            <a:r>
              <a:rPr sz="2800" b="0" i="0">
                <a:solidFill>
                  <a:srgbClr val="555B66"/>
                </a:solidFill>
                <a:latin typeface="Calibri"/>
              </a:rPr>
              <a:t>Decision rule for the long run:</a:t>
            </a:r>
          </a:p>
        </p:txBody>
      </p:sp>
      <mc:AlternateContent xmlns:mc="http://schemas.openxmlformats.org/markup-compatibility/2006" xmlns:a14="http://schemas.microsoft.com/office/drawing/2010/main">
        <mc:Choice Requires="a14">
          <p:sp>
            <p:nvSpPr>
              <p:cNvPr id="9" name="TextBox 8"/>
              <p:cNvSpPr txBox="1"/>
              <p:nvPr/>
            </p:nvSpPr>
            <p:spPr>
              <a:xfrm>
                <a:off x="2286000" y="2702052"/>
                <a:ext cx="7589520" cy="1371600"/>
              </a:xfrm>
              <a:prstGeom prst="rect">
                <a:avLst/>
              </a:prstGeom>
              <a:noFill/>
            </p:spPr>
            <p:txBody>
              <a:bodyPr wrap="square" anchor="ctr">
                <a:spAutoFit/>
              </a:bodyPr>
              <a:lstStyle/>
              <a:p>
                <a:pPr algn="ctr">
                  <a:defRPr sz="4400" b="0" i="1">
                    <a:solidFill>
                      <a:srgbClr val="0B2B4E"/>
                    </a:solidFill>
                    <a:latin typeface="Cambria Math"/>
                  </a:defRPr>
                </a:pPr>
                <a14:m>
                  <m:oMathPara xmlns:m="http://schemas.openxmlformats.org/officeDocument/2006/math">
                    <m:oMath>
                      <m:f>
                        <m:fPr>
                          <m:ctrlPr>
                            <a:rPr lang="en-US" sz="4400" b="0" i="1">
                              <a:latin typeface="Cambria Math" panose="02040503050406030204" pitchFamily="18" charset="0"/>
                              <a:ea typeface="Cambria Math"/>
                            </a:rPr>
                          </m:ctrlPr>
                        </m:fPr>
                        <m:num>
                          <m:sSub>
                            <m:sSubPr>
                              <m:ctrlPr>
                                <a:rPr lang="en-US" sz="4400" b="0" i="1">
                                  <a:latin typeface="Cambria Math"/>
                                  <a:ea typeface="Cambria Math"/>
                                </a:rPr>
                              </m:ctrlPr>
                            </m:sSubPr>
                            <m:e>
                              <m:r>
                                <a:rPr lang="en-US" sz="4400" b="0" i="1">
                                  <a:latin typeface="Cambria Math"/>
                                  <a:ea typeface="Cambria Math"/>
                                </a:rPr>
                                <m:t>𝑀𝑃</m:t>
                              </m:r>
                            </m:e>
                            <m:sub>
                              <m:r>
                                <a:rPr lang="en-US" sz="4400" b="0" i="1">
                                  <a:latin typeface="Cambria Math"/>
                                  <a:ea typeface="Cambria Math"/>
                                </a:rPr>
                                <m:t>𝐾</m:t>
                              </m:r>
                            </m:sub>
                          </m:sSub>
                        </m:num>
                        <m:den>
                          <m:sSub>
                            <m:sSubPr>
                              <m:ctrlPr>
                                <a:rPr lang="en-US" sz="4400" b="0" i="1">
                                  <a:latin typeface="Cambria Math"/>
                                  <a:ea typeface="Cambria Math"/>
                                </a:rPr>
                              </m:ctrlPr>
                            </m:sSubPr>
                            <m:e>
                              <m:r>
                                <a:rPr lang="en-US" sz="4400" b="0" i="1">
                                  <a:latin typeface="Cambria Math"/>
                                  <a:ea typeface="Cambria Math"/>
                                </a:rPr>
                                <m:t>𝑝</m:t>
                              </m:r>
                            </m:e>
                            <m:sub>
                              <m:r>
                                <a:rPr lang="en-US" sz="4400" b="0" i="1">
                                  <a:latin typeface="Cambria Math"/>
                                  <a:ea typeface="Cambria Math"/>
                                </a:rPr>
                                <m:t>𝐾</m:t>
                              </m:r>
                            </m:sub>
                          </m:sSub>
                        </m:den>
                      </m:f>
                      <m:r>
                        <a:rPr lang="en-US" sz="4400" b="0" i="0">
                          <a:latin typeface="Cambria Math"/>
                        </a:rPr>
                        <m:t> = </m:t>
                      </m:r>
                      <m:f>
                        <m:fPr>
                          <m:ctrlPr>
                            <a:rPr lang="en-US" sz="4400" b="0" i="1">
                              <a:latin typeface="Cambria Math" panose="02040503050406030204" pitchFamily="18" charset="0"/>
                              <a:ea typeface="Cambria Math"/>
                            </a:rPr>
                          </m:ctrlPr>
                        </m:fPr>
                        <m:num>
                          <m:sSub>
                            <m:sSubPr>
                              <m:ctrlPr>
                                <a:rPr lang="en-US" sz="4400" b="0" i="1">
                                  <a:latin typeface="Cambria Math"/>
                                  <a:ea typeface="Cambria Math"/>
                                </a:rPr>
                              </m:ctrlPr>
                            </m:sSubPr>
                            <m:e>
                              <m:r>
                                <a:rPr lang="en-US" sz="4400" b="0" i="1">
                                  <a:latin typeface="Cambria Math"/>
                                  <a:ea typeface="Cambria Math"/>
                                </a:rPr>
                                <m:t>𝑀𝑃</m:t>
                              </m:r>
                            </m:e>
                            <m:sub>
                              <m:r>
                                <a:rPr lang="en-US" sz="4400" b="0" i="1">
                                  <a:latin typeface="Cambria Math"/>
                                  <a:ea typeface="Cambria Math"/>
                                </a:rPr>
                                <m:t>𝐿</m:t>
                              </m:r>
                            </m:sub>
                          </m:sSub>
                        </m:num>
                        <m:den>
                          <m:r>
                            <a:rPr lang="en-US" sz="4400" b="0" i="1">
                              <a:latin typeface="Cambria Math"/>
                              <a:ea typeface="Cambria Math"/>
                            </a:rPr>
                            <m:t>𝑤</m:t>
                          </m:r>
                        </m:den>
                      </m:f>
                    </m:oMath>
                  </m:oMathPara>
                </a14:m>
                <a:endParaRPr lang="en-US" sz="4400"/>
              </a:p>
            </p:txBody>
          </p:sp>
        </mc:Choice>
        <mc:Fallback xmlns="">
          <p:sp>
            <p:nvSpPr>
              <p:cNvPr id="9" name="TextBox 8"/>
              <p:cNvSpPr txBox="1">
                <a:spLocks noRot="1" noChangeAspect="1" noMove="1" noResize="1" noEditPoints="1" noAdjustHandles="1" noChangeArrowheads="1" noChangeShapeType="1" noTextEdit="1"/>
              </p:cNvSpPr>
              <p:nvPr/>
            </p:nvSpPr>
            <p:spPr>
              <a:xfrm>
                <a:off x="2286000" y="2702052"/>
                <a:ext cx="7589520" cy="1371600"/>
              </a:xfrm>
              <a:prstGeom prst="rect">
                <a:avLst/>
              </a:prstGeom>
              <a:blipFill>
                <a:blip r:embed="rId3"/>
                <a:stretch>
                  <a:fillRect b="-444"/>
                </a:stretch>
              </a:blipFill>
            </p:spPr>
            <p:txBody>
              <a:bodyPr/>
              <a:lstStyle/>
              <a:p>
                <a:r>
                  <a:rPr lang="en-US">
                    <a:noFill/>
                  </a:rPr>
                  <a:t> </a:t>
                </a:r>
              </a:p>
            </p:txBody>
          </p:sp>
        </mc:Fallback>
      </mc:AlternateContent>
      <p:sp>
        <p:nvSpPr>
          <p:cNvPr id="10" name="Rounded Rectangle 9"/>
          <p:cNvSpPr/>
          <p:nvPr/>
        </p:nvSpPr>
        <p:spPr>
          <a:xfrm>
            <a:off x="3995013" y="4351629"/>
            <a:ext cx="4378147" cy="565099"/>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latin typeface="Calibri"/>
              </a:rPr>
              <a:t>Bang for the Buck Rule</a:t>
            </a:r>
          </a:p>
        </p:txBody>
      </p:sp>
      <p:grpSp>
        <p:nvGrpSpPr>
          <p:cNvPr id="30" name="Group 30"/>
          <p:cNvGrpSpPr/>
          <p:nvPr/>
        </p:nvGrpSpPr>
        <p:grpSpPr>
          <a:xfrm>
            <a:off x="8631936" y="2856585"/>
            <a:ext cx="3262579" cy="1179576"/>
            <a:chOff x="8631936" y="2856585"/>
            <a:chExt cx="3262579" cy="1179576"/>
          </a:xfrm>
        </p:grpSpPr>
        <p:sp>
          <p:nvSpPr>
            <p:cNvPr id="11" name="Rounded Rectangle 10"/>
            <p:cNvSpPr/>
            <p:nvPr/>
          </p:nvSpPr>
          <p:spPr>
            <a:xfrm>
              <a:off x="8631936" y="2856585"/>
              <a:ext cx="3262579" cy="1179576"/>
            </a:xfrm>
            <a:prstGeom prst="roundRect">
              <a:avLst>
                <a:gd name="adj" fmla="val 10000"/>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05088" y="2879445"/>
              <a:ext cx="3116275" cy="1133856"/>
            </a:xfrm>
            <a:prstGeom prst="rect">
              <a:avLst/>
            </a:prstGeom>
            <a:noFill/>
          </p:spPr>
          <p:txBody>
            <a:bodyPr wrap="square" lIns="45720" tIns="0" rIns="45720" bIns="0" anchor="ctr">
              <a:spAutoFit/>
            </a:bodyPr>
            <a:lstStyle/>
            <a:p>
              <a:pPr algn="l"/>
              <a:r>
                <a:rPr sz="1800" b="1" i="0">
                  <a:solidFill>
                    <a:srgbClr val="0B2B4E"/>
                  </a:solidFill>
                  <a:latin typeface="Calibri"/>
                </a:rPr>
                <a:t>MP</a:t>
              </a:r>
              <a:r>
                <a:rPr sz="1800" b="1" i="0" baseline="-25000">
                  <a:solidFill>
                    <a:srgbClr val="0B2B4E"/>
                  </a:solidFill>
                  <a:latin typeface="Calibri"/>
                </a:rPr>
                <a:t>K</a:t>
              </a:r>
              <a:r>
                <a:rPr sz="1600" b="0" i="0">
                  <a:solidFill>
                    <a:srgbClr val="0B2B4E"/>
                  </a:solidFill>
                  <a:latin typeface="Calibri"/>
                </a:rPr>
                <a:t>  :  Marginal Product of Capital</a:t>
              </a:r>
            </a:p>
            <a:p>
              <a:pPr algn="l"/>
              <a:r>
                <a:rPr sz="1800" b="1" i="0">
                  <a:solidFill>
                    <a:srgbClr val="0B2B4E"/>
                  </a:solidFill>
                  <a:latin typeface="Calibri"/>
                </a:rPr>
                <a:t>MP</a:t>
              </a:r>
              <a:r>
                <a:rPr sz="1800" b="1" i="0" baseline="-25000">
                  <a:solidFill>
                    <a:srgbClr val="0B2B4E"/>
                  </a:solidFill>
                  <a:latin typeface="Calibri"/>
                </a:rPr>
                <a:t>L</a:t>
              </a:r>
              <a:r>
                <a:rPr sz="1600" b="0" i="0">
                  <a:solidFill>
                    <a:srgbClr val="0B2B4E"/>
                  </a:solidFill>
                  <a:latin typeface="Calibri"/>
                </a:rPr>
                <a:t>  :  Marginal Product of Labor</a:t>
              </a:r>
            </a:p>
            <a:p>
              <a:pPr algn="l"/>
              <a:r>
                <a:rPr sz="1800" b="1" i="1">
                  <a:solidFill>
                    <a:srgbClr val="0B2B4E"/>
                  </a:solidFill>
                  <a:latin typeface="Calibri"/>
                </a:rPr>
                <a:t>p</a:t>
              </a:r>
              <a:r>
                <a:rPr sz="1800" b="1" i="0">
                  <a:solidFill>
                    <a:srgbClr val="0B2B4E"/>
                  </a:solidFill>
                  <a:latin typeface="Calibri"/>
                </a:rPr>
                <a:t>ₖ</a:t>
              </a:r>
              <a:r>
                <a:rPr sz="1600" b="0" i="0">
                  <a:solidFill>
                    <a:srgbClr val="0B2B4E"/>
                  </a:solidFill>
                  <a:latin typeface="Calibri"/>
                </a:rPr>
                <a:t>  :  Price of Capital</a:t>
              </a:r>
            </a:p>
            <a:p>
              <a:pPr algn="l"/>
              <a:r>
                <a:rPr sz="1800" b="1" i="1">
                  <a:solidFill>
                    <a:srgbClr val="0B2B4E"/>
                  </a:solidFill>
                  <a:latin typeface="Calibri"/>
                </a:rPr>
                <a:t>w</a:t>
              </a:r>
              <a:r>
                <a:rPr sz="1600" b="0" i="0">
                  <a:solidFill>
                    <a:srgbClr val="0B2B4E"/>
                  </a:solidFill>
                  <a:latin typeface="Calibri"/>
                </a:rPr>
                <a:t>  :  Wage</a:t>
              </a:r>
            </a:p>
          </p:txBody>
        </p:sp>
      </p:grpSp>
      <p:sp>
        <p:nvSpPr>
          <p:cNvPr id="13" name="TextBox 12"/>
          <p:cNvSpPr txBox="1"/>
          <p:nvPr/>
        </p:nvSpPr>
        <p:spPr>
          <a:xfrm>
            <a:off x="213055" y="5298948"/>
            <a:ext cx="5882335" cy="1092708"/>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lvl="1" algn="l"/>
            <a:r>
              <a:rPr>
                <a:latin typeface="Calibri"/>
              </a:rPr>
              <a:t>Holds when both L and K are flexible</a:t>
            </a:r>
          </a:p>
          <a:p>
            <a:pPr lvl="1" algn="l"/>
            <a:r>
              <a:rPr>
                <a:latin typeface="Calibri"/>
              </a:rPr>
              <a:t>Refers to a given output quantity Q</a:t>
            </a:r>
          </a:p>
          <a:p>
            <a:pPr lvl="1" algn="l"/>
            <a:r>
              <a:rPr>
                <a:latin typeface="Calibri"/>
              </a:rPr>
              <a:t>Assumes input prices w and pₖ are constant</a:t>
            </a:r>
          </a:p>
        </p:txBody>
      </p:sp>
      <p:sp>
        <p:nvSpPr>
          <p:cNvPr id="14" name="Reference Box"/>
          <p:cNvSpPr/>
          <p:nvPr/>
        </p:nvSpPr>
        <p:spPr>
          <a:xfrm>
            <a:off x="8429752" y="5971032"/>
            <a:ext cx="3612896"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2B4E"/>
                </a:solidFill>
                <a:latin typeface="Calibri"/>
              </a:rPr>
              <a:t>▤  Teaching Note:  Bang-for-the-Buck Rule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ABF30482-AC19-4798-9FFF-742C86891E23}" type="slidenum">
              <a:rPr sz="1200" b="0" i="0">
                <a:solidFill>
                  <a:srgbClr val="555B66"/>
                </a:solidFill>
                <a:latin typeface="Calibri"/>
              </a:rPr>
              <a:t>17</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5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“Bang for the Buck” in Grocery Shopping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17320"/>
            <a:ext cx="10972800" cy="100584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P&amp;G offers two sizes for its flagship detergent</a:t>
            </a:r>
          </a:p>
          <a:p>
            <a:pPr lvl="1" algn="l"/>
            <a:r>
              <a:rPr>
                <a:latin typeface="Calibri"/>
              </a:rPr>
              <a:t>Small Tide Ultra Oxi (29 loads) for $17</a:t>
            </a:r>
          </a:p>
          <a:p>
            <a:pPr lvl="1" algn="l"/>
            <a:r>
              <a:rPr>
                <a:latin typeface="Calibri"/>
              </a:rPr>
              <a:t>Large Tide Ultra Oxi (81 loads) for $35</a:t>
            </a:r>
          </a:p>
        </p:txBody>
      </p:sp>
      <mc:AlternateContent xmlns:mc="http://schemas.openxmlformats.org/markup-compatibility/2006" xmlns:a14="http://schemas.microsoft.com/office/drawing/2010/main">
        <mc:Choice Requires="a14">
          <p:sp>
            <p:nvSpPr>
              <p:cNvPr id="8" name="TextBox 7"/>
              <p:cNvSpPr txBox="1"/>
              <p:nvPr/>
            </p:nvSpPr>
            <p:spPr>
              <a:xfrm>
                <a:off x="1572768" y="2798978"/>
                <a:ext cx="2862072" cy="785469"/>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f>
                        <m:fPr>
                          <m:ctrlPr>
                            <a:rPr lang="en-US" sz="2200" b="0" i="1">
                              <a:latin typeface="Cambria Math" panose="02040503050406030204" pitchFamily="18" charset="0"/>
                              <a:ea typeface="Cambria Math"/>
                            </a:rPr>
                          </m:ctrlPr>
                        </m:fPr>
                        <m:num>
                          <m:sSub>
                            <m:sSubPr>
                              <m:ctrlPr>
                                <a:rPr lang="en-US" sz="2200" b="0" i="1">
                                  <a:latin typeface="Cambria Math"/>
                                  <a:ea typeface="Cambria Math"/>
                                </a:rPr>
                              </m:ctrlPr>
                            </m:sSubPr>
                            <m:e>
                              <m:r>
                                <a:rPr lang="en-US" sz="2200" b="0" i="1">
                                  <a:latin typeface="Cambria Math"/>
                                  <a:ea typeface="Cambria Math"/>
                                </a:rPr>
                                <m:t>𝑀𝑃</m:t>
                              </m:r>
                            </m:e>
                            <m:sub>
                              <m:r>
                                <a:rPr lang="en-US" sz="2200" b="0" i="1">
                                  <a:latin typeface="Cambria Math"/>
                                  <a:ea typeface="Cambria Math"/>
                                </a:rPr>
                                <m:t>𝑠𝑚𝑎𝑙𝑙</m:t>
                              </m:r>
                            </m:sub>
                          </m:sSub>
                        </m:num>
                        <m:den>
                          <m:sSub>
                            <m:sSubPr>
                              <m:ctrlPr>
                                <a:rPr lang="en-US" sz="2200" b="0" i="1">
                                  <a:latin typeface="Cambria Math"/>
                                  <a:ea typeface="Cambria Math"/>
                                </a:rPr>
                              </m:ctrlPr>
                            </m:sSubPr>
                            <m:e>
                              <m:r>
                                <a:rPr lang="en-US" sz="2200" b="0" i="1">
                                  <a:latin typeface="Cambria Math"/>
                                  <a:ea typeface="Cambria Math"/>
                                </a:rPr>
                                <m:t>𝑝</m:t>
                              </m:r>
                            </m:e>
                            <m:sub>
                              <m:r>
                                <a:rPr lang="en-US" sz="2200" b="0" i="1">
                                  <a:latin typeface="Cambria Math"/>
                                  <a:ea typeface="Cambria Math"/>
                                </a:rPr>
                                <m:t>𝑠𝑚𝑎𝑙𝑙</m:t>
                              </m:r>
                            </m:sub>
                          </m:sSub>
                        </m:den>
                      </m:f>
                      <m:r>
                        <a:rPr lang="en-US" sz="2200" b="0" i="0">
                          <a:latin typeface="Cambria Math"/>
                        </a:rPr>
                        <m:t> = </m:t>
                      </m:r>
                      <m:f>
                        <m:fPr>
                          <m:ctrlPr>
                            <a:rPr lang="en-US" sz="2200" b="0" i="0">
                              <a:latin typeface="Cambria Math"/>
                            </a:rPr>
                          </m:ctrlPr>
                        </m:fPr>
                        <m:num>
                          <m:r>
                            <a:rPr lang="en-US" sz="2200" b="0" i="0">
                              <a:latin typeface="Cambria Math"/>
                            </a:rPr>
                            <m:t>29</m:t>
                          </m:r>
                        </m:num>
                        <m:den>
                          <m:r>
                            <a:rPr lang="en-US" sz="2200" b="0" i="0">
                              <a:latin typeface="Cambria Math"/>
                            </a:rPr>
                            <m:t>17</m:t>
                          </m:r>
                        </m:den>
                      </m:f>
                      <m:r>
                        <a:rPr lang="en-US" sz="2200" b="0" i="0">
                          <a:latin typeface="Cambria Math"/>
                        </a:rPr>
                        <m:t> = 1.7</m:t>
                      </m:r>
                    </m:oMath>
                  </m:oMathPara>
                </a14:m>
                <a:endParaRPr lang="en-US" sz="2200"/>
              </a:p>
            </p:txBody>
          </p:sp>
        </mc:Choice>
        <mc:Fallback xmlns="">
          <p:sp>
            <p:nvSpPr>
              <p:cNvPr id="8" name="TextBox 7"/>
              <p:cNvSpPr txBox="1">
                <a:spLocks noRot="1" noChangeAspect="1" noMove="1" noResize="1" noEditPoints="1" noAdjustHandles="1" noChangeArrowheads="1" noChangeShapeType="1" noTextEdit="1"/>
              </p:cNvSpPr>
              <p:nvPr/>
            </p:nvSpPr>
            <p:spPr>
              <a:xfrm>
                <a:off x="1572768" y="2798978"/>
                <a:ext cx="2862072" cy="7854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388352" y="2747772"/>
                <a:ext cx="3075127" cy="832104"/>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f>
                        <m:fPr>
                          <m:ctrlPr>
                            <a:rPr lang="en-US" sz="2200" b="0" i="1">
                              <a:latin typeface="Cambria Math" panose="02040503050406030204" pitchFamily="18" charset="0"/>
                              <a:ea typeface="Cambria Math"/>
                            </a:rPr>
                          </m:ctrlPr>
                        </m:fPr>
                        <m:num>
                          <m:sSub>
                            <m:sSubPr>
                              <m:ctrlPr>
                                <a:rPr lang="en-US" sz="2200" b="0" i="1">
                                  <a:latin typeface="Cambria Math"/>
                                  <a:ea typeface="Cambria Math"/>
                                </a:rPr>
                              </m:ctrlPr>
                            </m:sSubPr>
                            <m:e>
                              <m:r>
                                <a:rPr lang="en-US" sz="2200" b="0" i="1">
                                  <a:latin typeface="Cambria Math"/>
                                  <a:ea typeface="Cambria Math"/>
                                </a:rPr>
                                <m:t>𝑀𝑃</m:t>
                              </m:r>
                            </m:e>
                            <m:sub>
                              <m:r>
                                <a:rPr lang="en-US" sz="2200" b="0" i="1">
                                  <a:latin typeface="Cambria Math"/>
                                  <a:ea typeface="Cambria Math"/>
                                </a:rPr>
                                <m:t>𝑙𝑎𝑟𝑔𝑒</m:t>
                              </m:r>
                            </m:sub>
                          </m:sSub>
                        </m:num>
                        <m:den>
                          <m:sSub>
                            <m:sSubPr>
                              <m:ctrlPr>
                                <a:rPr lang="en-US" sz="2200" b="0" i="1">
                                  <a:latin typeface="Cambria Math"/>
                                  <a:ea typeface="Cambria Math"/>
                                </a:rPr>
                              </m:ctrlPr>
                            </m:sSubPr>
                            <m:e>
                              <m:r>
                                <a:rPr lang="en-US" sz="2200" b="0" i="1">
                                  <a:latin typeface="Cambria Math"/>
                                  <a:ea typeface="Cambria Math"/>
                                </a:rPr>
                                <m:t>𝑝</m:t>
                              </m:r>
                            </m:e>
                            <m:sub>
                              <m:r>
                                <a:rPr lang="en-US" sz="2200" b="0" i="1">
                                  <a:latin typeface="Cambria Math"/>
                                  <a:ea typeface="Cambria Math"/>
                                </a:rPr>
                                <m:t>𝑙𝑎𝑟𝑔𝑒</m:t>
                              </m:r>
                            </m:sub>
                          </m:sSub>
                        </m:den>
                      </m:f>
                      <m:r>
                        <a:rPr lang="en-US" sz="2200" b="0" i="0">
                          <a:latin typeface="Cambria Math"/>
                        </a:rPr>
                        <m:t> = </m:t>
                      </m:r>
                      <m:f>
                        <m:fPr>
                          <m:ctrlPr>
                            <a:rPr lang="en-US" sz="2200" b="0" i="0">
                              <a:latin typeface="Cambria Math"/>
                            </a:rPr>
                          </m:ctrlPr>
                        </m:fPr>
                        <m:num>
                          <m:r>
                            <a:rPr lang="en-US" sz="2200" b="0" i="0">
                              <a:latin typeface="Cambria Math"/>
                            </a:rPr>
                            <m:t>81</m:t>
                          </m:r>
                        </m:num>
                        <m:den>
                          <m:r>
                            <a:rPr lang="en-US" sz="2200" b="0" i="0">
                              <a:latin typeface="Cambria Math"/>
                            </a:rPr>
                            <m:t>35</m:t>
                          </m:r>
                        </m:den>
                      </m:f>
                      <m:r>
                        <a:rPr lang="en-US" sz="2200" b="0" i="0">
                          <a:latin typeface="Cambria Math"/>
                        </a:rPr>
                        <m:t> = 2.3</m:t>
                      </m:r>
                    </m:oMath>
                  </m:oMathPara>
                </a14:m>
                <a:endParaRPr lang="en-US" sz="2200"/>
              </a:p>
            </p:txBody>
          </p:sp>
        </mc:Choice>
        <mc:Fallback xmlns="">
          <p:sp>
            <p:nvSpPr>
              <p:cNvPr id="9" name="TextBox 8"/>
              <p:cNvSpPr txBox="1">
                <a:spLocks noRot="1" noChangeAspect="1" noMove="1" noResize="1" noEditPoints="1" noAdjustHandles="1" noChangeArrowheads="1" noChangeShapeType="1" noTextEdit="1"/>
              </p:cNvSpPr>
              <p:nvPr/>
            </p:nvSpPr>
            <p:spPr>
              <a:xfrm>
                <a:off x="7388352" y="2747772"/>
                <a:ext cx="3075127" cy="8321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370832" y="4069080"/>
                <a:ext cx="3017520" cy="832104"/>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f>
                        <m:fPr>
                          <m:ctrlPr>
                            <a:rPr lang="en-US" sz="2200" b="0" i="1">
                              <a:latin typeface="Cambria Math" panose="02040503050406030204" pitchFamily="18" charset="0"/>
                              <a:ea typeface="Cambria Math"/>
                            </a:rPr>
                          </m:ctrlPr>
                        </m:fPr>
                        <m:num>
                          <m:sSub>
                            <m:sSubPr>
                              <m:ctrlPr>
                                <a:rPr lang="en-US" sz="2200" b="0" i="1">
                                  <a:latin typeface="Cambria Math"/>
                                  <a:ea typeface="Cambria Math"/>
                                </a:rPr>
                              </m:ctrlPr>
                            </m:sSubPr>
                            <m:e>
                              <m:r>
                                <a:rPr lang="en-US" sz="2200" b="0" i="1">
                                  <a:latin typeface="Cambria Math"/>
                                  <a:ea typeface="Cambria Math"/>
                                </a:rPr>
                                <m:t>𝑀𝑃</m:t>
                              </m:r>
                            </m:e>
                            <m:sub>
                              <m:r>
                                <a:rPr lang="en-US" sz="2200" b="0" i="1">
                                  <a:latin typeface="Cambria Math"/>
                                  <a:ea typeface="Cambria Math"/>
                                </a:rPr>
                                <m:t>𝑠𝑚𝑎𝑙𝑙</m:t>
                              </m:r>
                            </m:sub>
                          </m:sSub>
                        </m:num>
                        <m:den>
                          <m:sSub>
                            <m:sSubPr>
                              <m:ctrlPr>
                                <a:rPr lang="en-US" sz="2200" b="0" i="1">
                                  <a:latin typeface="Cambria Math"/>
                                  <a:ea typeface="Cambria Math"/>
                                </a:rPr>
                              </m:ctrlPr>
                            </m:sSubPr>
                            <m:e>
                              <m:r>
                                <a:rPr lang="en-US" sz="2200" b="0" i="1">
                                  <a:latin typeface="Cambria Math"/>
                                  <a:ea typeface="Cambria Math"/>
                                </a:rPr>
                                <m:t>𝑝</m:t>
                              </m:r>
                            </m:e>
                            <m:sub>
                              <m:r>
                                <a:rPr lang="en-US" sz="2200" b="0" i="1">
                                  <a:latin typeface="Cambria Math"/>
                                  <a:ea typeface="Cambria Math"/>
                                </a:rPr>
                                <m:t>𝑠𝑚𝑎𝑙𝑙</m:t>
                              </m:r>
                            </m:sub>
                          </m:sSub>
                        </m:den>
                      </m:f>
                      <m:r>
                        <a:rPr lang="en-US" sz="2200" b="0" i="0">
                          <a:latin typeface="Cambria Math"/>
                        </a:rPr>
                        <m:t> &lt; </m:t>
                      </m:r>
                      <m:f>
                        <m:fPr>
                          <m:ctrlPr>
                            <a:rPr lang="en-US" sz="2200" b="0" i="1">
                              <a:latin typeface="Cambria Math" panose="02040503050406030204" pitchFamily="18" charset="0"/>
                              <a:ea typeface="Cambria Math"/>
                            </a:rPr>
                          </m:ctrlPr>
                        </m:fPr>
                        <m:num>
                          <m:sSub>
                            <m:sSubPr>
                              <m:ctrlPr>
                                <a:rPr lang="en-US" sz="2200" b="0" i="1">
                                  <a:latin typeface="Cambria Math"/>
                                  <a:ea typeface="Cambria Math"/>
                                </a:rPr>
                              </m:ctrlPr>
                            </m:sSubPr>
                            <m:e>
                              <m:r>
                                <a:rPr lang="en-US" sz="2200" b="0" i="1">
                                  <a:latin typeface="Cambria Math"/>
                                  <a:ea typeface="Cambria Math"/>
                                </a:rPr>
                                <m:t>𝑀𝑃</m:t>
                              </m:r>
                            </m:e>
                            <m:sub>
                              <m:r>
                                <a:rPr lang="en-US" sz="2200" b="0" i="1">
                                  <a:latin typeface="Cambria Math"/>
                                  <a:ea typeface="Cambria Math"/>
                                </a:rPr>
                                <m:t>𝑙𝑎𝑟𝑔𝑒</m:t>
                              </m:r>
                            </m:sub>
                          </m:sSub>
                        </m:num>
                        <m:den>
                          <m:sSub>
                            <m:sSubPr>
                              <m:ctrlPr>
                                <a:rPr lang="en-US" sz="2200" b="0" i="1">
                                  <a:latin typeface="Cambria Math"/>
                                  <a:ea typeface="Cambria Math"/>
                                </a:rPr>
                              </m:ctrlPr>
                            </m:sSubPr>
                            <m:e>
                              <m:r>
                                <a:rPr lang="en-US" sz="2200" b="0" i="1">
                                  <a:latin typeface="Cambria Math"/>
                                  <a:ea typeface="Cambria Math"/>
                                </a:rPr>
                                <m:t>𝑝</m:t>
                              </m:r>
                            </m:e>
                            <m:sub>
                              <m:r>
                                <a:rPr lang="en-US" sz="2200" b="0" i="1">
                                  <a:latin typeface="Cambria Math"/>
                                  <a:ea typeface="Cambria Math"/>
                                </a:rPr>
                                <m:t>𝑙𝑎𝑟𝑔𝑒</m:t>
                              </m:r>
                            </m:sub>
                          </m:sSub>
                        </m:den>
                      </m:f>
                    </m:oMath>
                  </m:oMathPara>
                </a14:m>
                <a:endParaRPr lang="en-US" sz="2200"/>
              </a:p>
            </p:txBody>
          </p:sp>
        </mc:Choice>
        <mc:Fallback xmlns="">
          <p:sp>
            <p:nvSpPr>
              <p:cNvPr id="10" name="TextBox 9"/>
              <p:cNvSpPr txBox="1">
                <a:spLocks noRot="1" noChangeAspect="1" noMove="1" noResize="1" noEditPoints="1" noAdjustHandles="1" noChangeArrowheads="1" noChangeShapeType="1" noTextEdit="1"/>
              </p:cNvSpPr>
              <p:nvPr/>
            </p:nvSpPr>
            <p:spPr>
              <a:xfrm>
                <a:off x="4370832" y="4069080"/>
                <a:ext cx="3017520" cy="832104"/>
              </a:xfrm>
              <a:prstGeom prst="rect">
                <a:avLst/>
              </a:prstGeom>
              <a:blipFill>
                <a:blip r:embed="rId5"/>
                <a:stretch>
                  <a:fillRect/>
                </a:stretch>
              </a:blipFill>
            </p:spPr>
            <p:txBody>
              <a:bodyPr/>
              <a:lstStyle/>
              <a:p>
                <a:r>
                  <a:rPr lang="en-US">
                    <a:noFill/>
                  </a:rPr>
                  <a:t> </a:t>
                </a:r>
              </a:p>
            </p:txBody>
          </p:sp>
        </mc:Fallback>
      </mc:AlternateContent>
      <p:pic>
        <p:nvPicPr>
          <p:cNvPr id="11" name="Picture 10" descr="slide41_rId5.jpg"/>
          <p:cNvPicPr>
            <a:picLocks noChangeAspect="1"/>
          </p:cNvPicPr>
          <p:nvPr/>
        </p:nvPicPr>
        <p:blipFill>
          <a:blip r:embed="rId6"/>
          <a:stretch>
            <a:fillRect/>
          </a:stretch>
        </p:blipFill>
        <p:spPr>
          <a:xfrm>
            <a:off x="2459736" y="3808476"/>
            <a:ext cx="1087587" cy="1737360"/>
          </a:xfrm>
          <a:prstGeom prst="rect">
            <a:avLst/>
          </a:prstGeom>
          <a:effectLst>
            <a:outerShdw blurRad="50800" dist="38100" dir="2700000" algn="tl" rotWithShape="0">
              <a:srgbClr val="000000">
                <a:alpha val="45000"/>
              </a:srgbClr>
            </a:outerShdw>
          </a:effectLst>
        </p:spPr>
      </p:pic>
      <p:pic>
        <p:nvPicPr>
          <p:cNvPr id="12" name="Picture 11" descr="slide41_rId6.jpg"/>
          <p:cNvPicPr>
            <a:picLocks noChangeAspect="1"/>
          </p:cNvPicPr>
          <p:nvPr/>
        </p:nvPicPr>
        <p:blipFill>
          <a:blip r:embed="rId7"/>
          <a:stretch>
            <a:fillRect/>
          </a:stretch>
        </p:blipFill>
        <p:spPr>
          <a:xfrm>
            <a:off x="7946136" y="3744468"/>
            <a:ext cx="1793253" cy="1975104"/>
          </a:xfrm>
          <a:prstGeom prst="rect">
            <a:avLst/>
          </a:prstGeom>
          <a:effectLst>
            <a:outerShdw blurRad="50800" dist="38100" dir="2700000" algn="tl" rotWithShape="0">
              <a:srgbClr val="000000">
                <a:alpha val="45000"/>
              </a:srgbClr>
            </a:outerShdw>
          </a:effectLst>
        </p:spPr>
      </p:pic>
      <p:sp>
        <p:nvSpPr>
          <p:cNvPr id="13" name="Rounded Rectangle 12"/>
          <p:cNvSpPr/>
          <p:nvPr/>
        </p:nvSpPr>
        <p:spPr>
          <a:xfrm>
            <a:off x="1981047" y="5943600"/>
            <a:ext cx="822960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Bang-for-the-buck:  a universal decision rule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tIns="0" rIns="0" bIns="0">
            <a:spAutoFit/>
          </a:bodyPr>
          <a:lstStyle/>
          <a:p>
            <a:pPr algn="r"/>
            <a:fld id="{85FCB8CC-CB8A-4777-9D15-05EFB1FAD1EA}" type="slidenum">
              <a:rPr sz="1200" b="0" i="0">
                <a:solidFill>
                  <a:srgbClr val="555B66"/>
                </a:solidFill>
                <a:latin typeface="Calibri"/>
              </a:rPr>
              <a:t>18</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Applying the 'Bang for the Buck' Rule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188720"/>
            <a:ext cx="11687697" cy="411480"/>
          </a:xfrm>
          <a:prstGeom prst="rect">
            <a:avLst/>
          </a:prstGeom>
          <a:noFill/>
        </p:spPr>
        <p:txBody>
          <a:bodyPr wrap="square" lIns="0" tIns="0" rIns="0" bIns="0">
            <a:spAutoFit/>
          </a:bodyPr>
          <a:lstStyle/>
          <a:p>
            <a:pPr algn="l"/>
            <a:r>
              <a:rPr sz="2000" b="0" i="1">
                <a:solidFill>
                  <a:srgbClr val="555B66"/>
                </a:solidFill>
                <a:latin typeface="Calibri"/>
              </a:rPr>
              <a:t>('recipe' for exams)</a:t>
            </a:r>
          </a:p>
        </p:txBody>
      </p:sp>
      <mc:AlternateContent xmlns:mc="http://schemas.openxmlformats.org/markup-compatibility/2006" xmlns:a14="http://schemas.microsoft.com/office/drawing/2010/main">
        <mc:Choice Requires="a14">
          <p:sp>
            <p:nvSpPr>
              <p:cNvPr id="8" name="TextBox 7"/>
              <p:cNvSpPr txBox="1"/>
              <p:nvPr/>
            </p:nvSpPr>
            <p:spPr>
              <a:xfrm>
                <a:off x="251999" y="1783080"/>
                <a:ext cx="11687697" cy="4243278"/>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marL="0" indent="0" algn="l">
                  <a:buNone/>
                </a:pPr>
                <a:r>
                  <a:rPr sz="2800" dirty="0">
                    <a:solidFill>
                      <a:srgbClr val="0B2B4E"/>
                    </a:solidFill>
                    <a:latin typeface="Calibri"/>
                  </a:rPr>
                  <a:t>How to adjust L and K in order to produce a given quantity at lower cost</a:t>
                </a:r>
              </a:p>
              <a:p>
                <a:pPr algn="l">
                  <a:spcBef>
                    <a:spcPts val="1800"/>
                  </a:spcBef>
                </a:pPr>
                <a:r>
                  <a:rPr dirty="0">
                    <a:latin typeface="Calibri"/>
                  </a:rPr>
                  <a:t>If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𝐿</m:t>
                            </m:r>
                          </m:sub>
                        </m:sSub>
                      </m:num>
                      <m:den>
                        <m:r>
                          <a:rPr lang="en-US" sz="2800" b="0" i="1">
                            <a:latin typeface="Cambria Math"/>
                            <a:ea typeface="Cambria Math"/>
                          </a:rPr>
                          <m:t>𝑤</m:t>
                        </m:r>
                      </m:den>
                    </m:f>
                  </m:oMath>
                </a14:m>
                <a:r>
                  <a:rPr dirty="0">
                    <a:latin typeface="Calibri"/>
                  </a:rPr>
                  <a:t> &gt;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𝐾</m:t>
                            </m:r>
                          </m:sub>
                        </m:sSub>
                      </m:num>
                      <m:den>
                        <m:sSub>
                          <m:sSubPr>
                            <m:ctrlPr>
                              <a:rPr lang="en-US" sz="2800" b="0" i="1">
                                <a:latin typeface="Cambria Math"/>
                                <a:ea typeface="Cambria Math"/>
                              </a:rPr>
                            </m:ctrlPr>
                          </m:sSubPr>
                          <m:e>
                            <m:r>
                              <a:rPr lang="en-US" sz="2800" b="0" i="1">
                                <a:latin typeface="Cambria Math"/>
                                <a:ea typeface="Cambria Math"/>
                              </a:rPr>
                              <m:t>𝑝</m:t>
                            </m:r>
                          </m:e>
                          <m:sub>
                            <m:r>
                              <a:rPr lang="en-US" sz="2800" b="0" i="1">
                                <a:latin typeface="Cambria Math"/>
                                <a:ea typeface="Cambria Math"/>
                              </a:rPr>
                              <m:t>𝐾</m:t>
                            </m:r>
                          </m:sub>
                        </m:sSub>
                      </m:den>
                    </m:f>
                  </m:oMath>
                </a14:m>
                <a:r>
                  <a:rPr dirty="0">
                    <a:latin typeface="Calibri"/>
                  </a:rPr>
                  <a:t>   →    use more </a:t>
                </a:r>
                <a:r>
                  <a:rPr i="1" dirty="0">
                    <a:latin typeface="Calibri"/>
                  </a:rPr>
                  <a:t>L</a:t>
                </a:r>
                <a:r>
                  <a:rPr dirty="0">
                    <a:latin typeface="Calibri"/>
                  </a:rPr>
                  <a:t> and less </a:t>
                </a:r>
                <a:r>
                  <a:rPr i="1" dirty="0">
                    <a:latin typeface="Calibri"/>
                  </a:rPr>
                  <a:t>K</a:t>
                </a:r>
              </a:p>
              <a:p>
                <a:pPr lvl="1" algn="l"/>
                <a:r>
                  <a:rPr dirty="0">
                    <a:latin typeface="Calibri"/>
                  </a:rPr>
                  <a:t>Decreasing marginal returns imply:</a:t>
                </a:r>
              </a:p>
              <a:p>
                <a:pPr marL="1028700" lvl="2" indent="-228600" algn="l">
                  <a:spcBef>
                    <a:spcPts val="300"/>
                  </a:spcBef>
                  <a:buClr>
                    <a:srgbClr val="555B66"/>
                  </a:buClr>
                  <a:buFont typeface="Calibri"/>
                  <a:buChar char="–"/>
                </a:pPr>
                <a:r>
                  <a:rPr sz="2200" dirty="0">
                    <a:solidFill>
                      <a:srgbClr val="555B66"/>
                    </a:solidFill>
                    <a:latin typeface="Calibri"/>
                  </a:rPr>
                  <a:t>Due to increased </a:t>
                </a:r>
                <a:r>
                  <a:rPr sz="2200" i="1" dirty="0">
                    <a:solidFill>
                      <a:srgbClr val="555B66"/>
                    </a:solidFill>
                    <a:latin typeface="Calibri"/>
                  </a:rPr>
                  <a:t>L</a:t>
                </a:r>
                <a:r>
                  <a:rPr sz="2200" dirty="0">
                    <a:solidFill>
                      <a:srgbClr val="555B66"/>
                    </a:solidFill>
                    <a:latin typeface="Calibri"/>
                  </a:rPr>
                  <a:t>,  </a:t>
                </a:r>
                <a14:m>
                  <m:oMath xmlns:m="http://schemas.openxmlformats.org/officeDocument/2006/math">
                    <m:sSub>
                      <m:sSubPr>
                        <m:ctrlPr>
                          <a:rPr lang="en-US" sz="2200" b="0" i="1">
                            <a:latin typeface="Cambria Math"/>
                            <a:ea typeface="Cambria Math"/>
                          </a:rPr>
                        </m:ctrlPr>
                      </m:sSubPr>
                      <m:e>
                        <m:r>
                          <a:rPr lang="en-US" sz="2200" b="0" i="1">
                            <a:latin typeface="Cambria Math"/>
                            <a:ea typeface="Cambria Math"/>
                          </a:rPr>
                          <m:t>𝑀𝑃</m:t>
                        </m:r>
                      </m:e>
                      <m:sub>
                        <m:r>
                          <a:rPr lang="en-US" sz="2200" b="0" i="1">
                            <a:latin typeface="Cambria Math"/>
                            <a:ea typeface="Cambria Math"/>
                          </a:rPr>
                          <m:t>𝐿</m:t>
                        </m:r>
                      </m:sub>
                    </m:sSub>
                  </m:oMath>
                </a14:m>
                <a:r>
                  <a:rPr sz="2200" dirty="0">
                    <a:solidFill>
                      <a:srgbClr val="555B66"/>
                    </a:solidFill>
                    <a:latin typeface="Calibri"/>
                  </a:rPr>
                  <a:t>   will fall as </a:t>
                </a:r>
                <a:r>
                  <a:rPr sz="2200" i="1" dirty="0">
                    <a:solidFill>
                      <a:srgbClr val="555B66"/>
                    </a:solidFill>
                    <a:latin typeface="Calibri"/>
                  </a:rPr>
                  <a:t>L</a:t>
                </a:r>
                <a:r>
                  <a:rPr sz="2200" dirty="0">
                    <a:solidFill>
                      <a:srgbClr val="555B66"/>
                    </a:solidFill>
                    <a:latin typeface="Calibri"/>
                  </a:rPr>
                  <a:t> increases</a:t>
                </a:r>
              </a:p>
              <a:p>
                <a:pPr marL="1028700" lvl="2" indent="-228600" algn="l">
                  <a:spcBef>
                    <a:spcPts val="300"/>
                  </a:spcBef>
                  <a:buClr>
                    <a:srgbClr val="555B66"/>
                  </a:buClr>
                  <a:buFont typeface="Calibri"/>
                  <a:buChar char="–"/>
                </a:pPr>
                <a:r>
                  <a:rPr sz="2200" dirty="0">
                    <a:solidFill>
                      <a:srgbClr val="555B66"/>
                    </a:solidFill>
                    <a:latin typeface="Calibri"/>
                  </a:rPr>
                  <a:t>Due to reduced </a:t>
                </a:r>
                <a:r>
                  <a:rPr sz="2200" i="1" dirty="0">
                    <a:solidFill>
                      <a:srgbClr val="555B66"/>
                    </a:solidFill>
                    <a:latin typeface="Calibri"/>
                  </a:rPr>
                  <a:t>K</a:t>
                </a:r>
                <a:r>
                  <a:rPr sz="2200" dirty="0">
                    <a:solidFill>
                      <a:srgbClr val="555B66"/>
                    </a:solidFill>
                    <a:latin typeface="Calibri"/>
                  </a:rPr>
                  <a:t>,  </a:t>
                </a:r>
                <a14:m>
                  <m:oMath xmlns:m="http://schemas.openxmlformats.org/officeDocument/2006/math">
                    <m:sSub>
                      <m:sSubPr>
                        <m:ctrlPr>
                          <a:rPr lang="en-US" sz="2200" b="0" i="1">
                            <a:latin typeface="Cambria Math"/>
                            <a:ea typeface="Cambria Math"/>
                          </a:rPr>
                        </m:ctrlPr>
                      </m:sSubPr>
                      <m:e>
                        <m:r>
                          <a:rPr lang="en-US" sz="2200" b="0" i="1">
                            <a:latin typeface="Cambria Math"/>
                            <a:ea typeface="Cambria Math"/>
                          </a:rPr>
                          <m:t>𝑀𝑃</m:t>
                        </m:r>
                      </m:e>
                      <m:sub>
                        <m:r>
                          <a:rPr lang="en-US" sz="2200" b="0" i="1">
                            <a:latin typeface="Cambria Math"/>
                            <a:ea typeface="Cambria Math"/>
                          </a:rPr>
                          <m:t>𝐾</m:t>
                        </m:r>
                      </m:sub>
                    </m:sSub>
                  </m:oMath>
                </a14:m>
                <a:r>
                  <a:rPr sz="2200" dirty="0">
                    <a:solidFill>
                      <a:srgbClr val="555B66"/>
                    </a:solidFill>
                    <a:latin typeface="Calibri"/>
                  </a:rPr>
                  <a:t>   will rise as </a:t>
                </a:r>
                <a:r>
                  <a:rPr lang="en-US" sz="2200" i="1" dirty="0">
                    <a:solidFill>
                      <a:srgbClr val="555B66"/>
                    </a:solidFill>
                    <a:latin typeface="Calibri"/>
                  </a:rPr>
                  <a:t>K</a:t>
                </a:r>
                <a:r>
                  <a:rPr sz="2200" dirty="0">
                    <a:solidFill>
                      <a:srgbClr val="555B66"/>
                    </a:solidFill>
                    <a:latin typeface="Calibri"/>
                  </a:rPr>
                  <a:t> </a:t>
                </a:r>
                <a:r>
                  <a:rPr lang="en-US" sz="2200" dirty="0">
                    <a:solidFill>
                      <a:srgbClr val="555B66"/>
                    </a:solidFill>
                    <a:latin typeface="Calibri"/>
                  </a:rPr>
                  <a:t>de</a:t>
                </a:r>
                <a:r>
                  <a:rPr sz="2200" dirty="0">
                    <a:solidFill>
                      <a:srgbClr val="555B66"/>
                    </a:solidFill>
                    <a:latin typeface="Calibri"/>
                  </a:rPr>
                  <a:t>creases</a:t>
                </a:r>
              </a:p>
              <a:p>
                <a:pPr marL="1028700" lvl="2" indent="-228600" algn="l">
                  <a:spcBef>
                    <a:spcPts val="300"/>
                  </a:spcBef>
                  <a:buClr>
                    <a:srgbClr val="555B66"/>
                  </a:buClr>
                  <a:buFont typeface="Calibri"/>
                  <a:buChar char="–"/>
                </a:pPr>
                <a:r>
                  <a:rPr lang="en-US" sz="2200" dirty="0">
                    <a:solidFill>
                      <a:srgbClr val="555B66"/>
                    </a:solidFill>
                    <a:latin typeface="Calibri"/>
                  </a:rPr>
                  <a:t>Thus, the two fractions move closer to each other</a:t>
                </a:r>
              </a:p>
              <a:p>
                <a:pPr algn="l">
                  <a:spcBef>
                    <a:spcPts val="1800"/>
                  </a:spcBef>
                </a:pPr>
                <a:r>
                  <a:rPr dirty="0">
                    <a:latin typeface="Calibri"/>
                  </a:rPr>
                  <a:t>If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𝐿</m:t>
                            </m:r>
                          </m:sub>
                        </m:sSub>
                      </m:num>
                      <m:den>
                        <m:r>
                          <a:rPr lang="en-US" sz="2800" b="0" i="1">
                            <a:latin typeface="Cambria Math"/>
                            <a:ea typeface="Cambria Math"/>
                          </a:rPr>
                          <m:t>𝑤</m:t>
                        </m:r>
                      </m:den>
                    </m:f>
                  </m:oMath>
                </a14:m>
                <a:r>
                  <a:rPr dirty="0">
                    <a:latin typeface="Calibri"/>
                  </a:rPr>
                  <a:t> &lt;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𝐾</m:t>
                            </m:r>
                          </m:sub>
                        </m:sSub>
                      </m:num>
                      <m:den>
                        <m:sSub>
                          <m:sSubPr>
                            <m:ctrlPr>
                              <a:rPr lang="en-US" sz="2800" b="0" i="1">
                                <a:latin typeface="Cambria Math"/>
                                <a:ea typeface="Cambria Math"/>
                              </a:rPr>
                            </m:ctrlPr>
                          </m:sSubPr>
                          <m:e>
                            <m:r>
                              <a:rPr lang="en-US" sz="2800" b="0" i="1">
                                <a:latin typeface="Cambria Math"/>
                                <a:ea typeface="Cambria Math"/>
                              </a:rPr>
                              <m:t>𝑝</m:t>
                            </m:r>
                          </m:e>
                          <m:sub>
                            <m:r>
                              <a:rPr lang="en-US" sz="2800" b="0" i="1">
                                <a:latin typeface="Cambria Math"/>
                                <a:ea typeface="Cambria Math"/>
                              </a:rPr>
                              <m:t>𝐾</m:t>
                            </m:r>
                          </m:sub>
                        </m:sSub>
                      </m:den>
                    </m:f>
                  </m:oMath>
                </a14:m>
                <a:r>
                  <a:rPr dirty="0">
                    <a:latin typeface="Calibri"/>
                  </a:rPr>
                  <a:t>   →    use less </a:t>
                </a:r>
                <a:r>
                  <a:rPr i="1" dirty="0">
                    <a:latin typeface="Calibri"/>
                  </a:rPr>
                  <a:t>L</a:t>
                </a:r>
                <a:r>
                  <a:rPr dirty="0">
                    <a:latin typeface="Calibri"/>
                  </a:rPr>
                  <a:t> and more </a:t>
                </a:r>
                <a:r>
                  <a:rPr i="1" dirty="0">
                    <a:latin typeface="Calibri"/>
                  </a:rPr>
                  <a:t>K</a:t>
                </a:r>
              </a:p>
              <a:p>
                <a:pPr algn="l">
                  <a:spcBef>
                    <a:spcPts val="1800"/>
                  </a:spcBef>
                </a:pPr>
                <a:r>
                  <a:rPr dirty="0">
                    <a:latin typeface="Calibri"/>
                  </a:rPr>
                  <a:t>…continue to adjust until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𝐿</m:t>
                            </m:r>
                          </m:sub>
                        </m:sSub>
                      </m:num>
                      <m:den>
                        <m:r>
                          <a:rPr lang="en-US" sz="2800" b="0" i="1">
                            <a:latin typeface="Cambria Math"/>
                            <a:ea typeface="Cambria Math"/>
                          </a:rPr>
                          <m:t>𝑤</m:t>
                        </m:r>
                      </m:den>
                    </m:f>
                    <m:r>
                      <a:rPr lang="en-US" sz="2800" b="0" i="0">
                        <a:latin typeface="Cambria Math"/>
                      </a:rPr>
                      <m:t>  =  </m:t>
                    </m:r>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𝐾</m:t>
                            </m:r>
                          </m:sub>
                        </m:sSub>
                      </m:num>
                      <m:den>
                        <m:sSub>
                          <m:sSubPr>
                            <m:ctrlPr>
                              <a:rPr lang="en-US" sz="2800" b="0" i="1">
                                <a:latin typeface="Cambria Math"/>
                                <a:ea typeface="Cambria Math"/>
                              </a:rPr>
                            </m:ctrlPr>
                          </m:sSubPr>
                          <m:e>
                            <m:r>
                              <a:rPr lang="en-US" sz="2800" b="0" i="1">
                                <a:latin typeface="Cambria Math"/>
                                <a:ea typeface="Cambria Math"/>
                              </a:rPr>
                              <m:t>𝑝</m:t>
                            </m:r>
                          </m:e>
                          <m:sub>
                            <m:r>
                              <a:rPr lang="en-US" sz="2800" b="0" i="1">
                                <a:latin typeface="Cambria Math"/>
                                <a:ea typeface="Cambria Math"/>
                              </a:rPr>
                              <m:t>𝐾</m:t>
                            </m:r>
                          </m:sub>
                        </m:sSub>
                      </m:den>
                    </m:f>
                  </m:oMath>
                </a14:m>
                <a:endParaRPr dirty="0">
                  <a:latin typeface="Calibri"/>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51999" y="1783080"/>
                <a:ext cx="11687697" cy="4243278"/>
              </a:xfrm>
              <a:prstGeom prst="rect">
                <a:avLst/>
              </a:prstGeom>
              <a:blipFill>
                <a:blip r:embed="rId4"/>
                <a:stretch>
                  <a:fillRect l="-1877" t="-2443" b="-862"/>
                </a:stretch>
              </a:blipFill>
            </p:spPr>
            <p:txBody>
              <a:bodyPr/>
              <a:lstStyle/>
              <a:p>
                <a:r>
                  <a:rPr lang="en-US">
                    <a:noFill/>
                  </a:rPr>
                  <a:t> </a:t>
                </a:r>
              </a:p>
            </p:txBody>
          </p:sp>
        </mc:Fallback>
      </mc:AlternateContent>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tIns="0" rIns="0" bIns="0">
            <a:spAutoFit/>
          </a:bodyPr>
          <a:lstStyle/>
          <a:p>
            <a:pPr algn="r"/>
            <a:fld id="{F2CEAF5C-EBDF-477D-A6DF-FA3467609279}" type="slidenum">
              <a:rPr sz="1200" b="0" i="0">
                <a:solidFill>
                  <a:srgbClr val="555B66"/>
                </a:solidFill>
                <a:latin typeface="Calibri"/>
              </a:rPr>
              <a:t>19</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Video 6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TextBox 13"/>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5" name="Rounded Rectangle 14"/>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6" name="Oval 15"/>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7" name="TextBox 16"/>
          <p:cNvSpPr txBox="1"/>
          <p:nvPr/>
        </p:nvSpPr>
        <p:spPr>
          <a:xfrm>
            <a:off x="1874519" y="361693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Wage Searchers</a:t>
            </a:r>
          </a:p>
        </p:txBody>
      </p:sp>
      <p:sp>
        <p:nvSpPr>
          <p:cNvPr id="18" name="Rounded Rectangle 17"/>
          <p:cNvSpPr/>
          <p:nvPr/>
        </p:nvSpPr>
        <p:spPr>
          <a:xfrm>
            <a:off x="10332720" y="369646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4</a:t>
            </a:r>
          </a:p>
        </p:txBody>
      </p:sp>
      <p:sp>
        <p:nvSpPr>
          <p:cNvPr id="19" name="Oval 18"/>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0" name="TextBox 19"/>
          <p:cNvSpPr txBox="1"/>
          <p:nvPr/>
        </p:nvSpPr>
        <p:spPr>
          <a:xfrm>
            <a:off x="1874519" y="433473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Long Run: The Optimal Input Mix</a:t>
            </a:r>
          </a:p>
        </p:txBody>
      </p:sp>
      <p:sp>
        <p:nvSpPr>
          <p:cNvPr id="21" name="Rounded Rectangle 20"/>
          <p:cNvSpPr/>
          <p:nvPr/>
        </p:nvSpPr>
        <p:spPr>
          <a:xfrm>
            <a:off x="10332720" y="441426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5</a:t>
            </a:r>
          </a:p>
        </p:txBody>
      </p:sp>
      <p:sp>
        <p:nvSpPr>
          <p:cNvPr id="22" name="Rounded Rectangle 21"/>
          <p:cNvSpPr/>
          <p:nvPr/>
        </p:nvSpPr>
        <p:spPr>
          <a:xfrm>
            <a:off x="822960" y="4912614"/>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6</a:t>
            </a:r>
          </a:p>
        </p:txBody>
      </p:sp>
      <p:sp>
        <p:nvSpPr>
          <p:cNvPr id="24" name="TextBox 23"/>
          <p:cNvSpPr txBox="1"/>
          <p:nvPr/>
        </p:nvSpPr>
        <p:spPr>
          <a:xfrm>
            <a:off x="1874519" y="496747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Cost Concepts</a:t>
            </a:r>
          </a:p>
          <a:p>
            <a:pPr algn="l">
              <a:spcBef>
                <a:spcPts val="0"/>
              </a:spcBef>
              <a:buNone/>
            </a:pPr>
            <a:r>
              <a:rPr sz="2200">
                <a:solidFill>
                  <a:srgbClr val="555B66"/>
                </a:solidFill>
                <a:latin typeface="Calibri"/>
              </a:rPr>
              <a:t>Fixed, variable, marginal, and sunk costs, and which ones matter</a:t>
            </a:r>
          </a:p>
        </p:txBody>
      </p:sp>
      <p:sp>
        <p:nvSpPr>
          <p:cNvPr id="25" name="Rounded Rectangle 24"/>
          <p:cNvSpPr/>
          <p:nvPr/>
        </p:nvSpPr>
        <p:spPr>
          <a:xfrm>
            <a:off x="10332720" y="513207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6</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7</a:t>
            </a:r>
          </a:p>
        </p:txBody>
      </p:sp>
      <p:sp>
        <p:nvSpPr>
          <p:cNvPr id="27" name="TextBox 26"/>
          <p:cNvSpPr txBox="1"/>
          <p:nvPr/>
        </p:nvSpPr>
        <p:spPr>
          <a:xfrm>
            <a:off x="1874519" y="577034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Economies of Scale and Scope</a:t>
            </a:r>
          </a:p>
        </p:txBody>
      </p:sp>
      <p:sp>
        <p:nvSpPr>
          <p:cNvPr id="28" name="Rounded Rectangle 27"/>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2DB18AEB-6F3A-5D2F-99F2-AAFEDB67B91B}" type="slidenum">
              <a:rPr lang="en-US" sz="1200" dirty="0">
                <a:solidFill>
                  <a:srgbClr val="555B66"/>
                </a:solidFill>
                <a:latin typeface="Calibri"/>
              </a:rPr>
              <a:t>20</a:t>
            </a:fld>
            <a:endParaRPr lang="en-US" sz="1200" dirty="0">
              <a:solidFill>
                <a:srgbClr val="555B66"/>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6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Three Cost Types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0867" y="1874519"/>
            <a:ext cx="3611880" cy="640080"/>
          </a:xfrm>
          <a:prstGeom prst="roundRect">
            <a:avLst>
              <a:gd name="adj" fmla="val 12000"/>
            </a:avLst>
          </a:prstGeom>
          <a:solidFill>
            <a:srgbClr val="1B5E20"/>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Variable Costs</a:t>
            </a:r>
          </a:p>
        </p:txBody>
      </p:sp>
      <p:sp>
        <p:nvSpPr>
          <p:cNvPr id="8" name="Rectangle 7"/>
          <p:cNvSpPr/>
          <p:nvPr/>
        </p:nvSpPr>
        <p:spPr>
          <a:xfrm>
            <a:off x="540867" y="2514600"/>
            <a:ext cx="3611880" cy="1371600"/>
          </a:xfrm>
          <a:prstGeom prst="roundRect">
            <a:avLst>
              <a:gd name="adj" fmla="val 12000"/>
            </a:avLst>
          </a:prstGeom>
          <a:solidFill>
            <a:srgbClr val="FFFFFF"/>
          </a:solidFill>
          <a:ln w="19050">
            <a:solidFill>
              <a:srgbClr val="1B5E20"/>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Depend on volume produced (Q)</a:t>
            </a:r>
          </a:p>
          <a:p>
            <a:pPr algn="ctr">
              <a:spcBef>
                <a:spcPts val="1200"/>
              </a:spcBef>
            </a:pPr>
            <a:r>
              <a:rPr sz="1800" b="0">
                <a:solidFill>
                  <a:srgbClr val="0B2B4E"/>
                </a:solidFill>
                <a:latin typeface="Calibri"/>
              </a:rPr>
              <a:t>→  Always consider!</a:t>
            </a:r>
          </a:p>
        </p:txBody>
      </p:sp>
      <p:sp>
        <p:nvSpPr>
          <p:cNvPr id="9" name="Rounded Rectangle 8"/>
          <p:cNvSpPr/>
          <p:nvPr/>
        </p:nvSpPr>
        <p:spPr>
          <a:xfrm>
            <a:off x="54086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118872" tIns="54864" rIns="73152" rtlCol="0" anchor="t"/>
          <a:lstStyle/>
          <a:p>
            <a:pPr algn="l"/>
            <a:r>
              <a:rPr sz="1200" b="1" i="1">
                <a:solidFill>
                  <a:srgbClr val="0B2B4E"/>
                </a:solidFill>
                <a:latin typeface="Calibri"/>
              </a:rPr>
              <a:t>Examples</a:t>
            </a:r>
          </a:p>
          <a:p>
            <a:pPr algn="l"/>
            <a:r>
              <a:rPr sz="1400" b="0">
                <a:solidFill>
                  <a:srgbClr val="0B2B4E"/>
                </a:solidFill>
                <a:latin typeface="Calibri"/>
              </a:rPr>
              <a:t>•  Buy raw materials</a:t>
            </a:r>
          </a:p>
          <a:p>
            <a:pPr algn="l"/>
            <a:r>
              <a:rPr sz="1400" b="0">
                <a:solidFill>
                  <a:srgbClr val="0B2B4E"/>
                </a:solidFill>
                <a:latin typeface="Calibri"/>
              </a:rPr>
              <a:t>•  Hire workers</a:t>
            </a:r>
          </a:p>
          <a:p>
            <a:pPr algn="l"/>
            <a:r>
              <a:rPr sz="1400" b="0">
                <a:solidFill>
                  <a:srgbClr val="0B2B4E"/>
                </a:solidFill>
                <a:latin typeface="Calibri"/>
              </a:rPr>
              <a:t>•  Shipping &amp; packaging</a:t>
            </a:r>
          </a:p>
        </p:txBody>
      </p:sp>
      <p:sp>
        <p:nvSpPr>
          <p:cNvPr id="10" name="Rectangle 9"/>
          <p:cNvSpPr/>
          <p:nvPr/>
        </p:nvSpPr>
        <p:spPr>
          <a:xfrm>
            <a:off x="4289907" y="1874519"/>
            <a:ext cx="3611880" cy="6400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Fixed Costs</a:t>
            </a:r>
          </a:p>
        </p:txBody>
      </p:sp>
      <p:sp>
        <p:nvSpPr>
          <p:cNvPr id="11" name="Rectangle 10"/>
          <p:cNvSpPr/>
          <p:nvPr/>
        </p:nvSpPr>
        <p:spPr>
          <a:xfrm>
            <a:off x="4289907" y="2514600"/>
            <a:ext cx="3611880" cy="1371600"/>
          </a:xfrm>
          <a:prstGeom prst="roundRect">
            <a:avLst>
              <a:gd name="adj" fmla="val 12000"/>
            </a:avLst>
          </a:prstGeom>
          <a:solidFill>
            <a:srgbClr val="FFFFFF"/>
          </a:solidFill>
          <a:ln w="1905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Do not depend on quantity produced (Q)</a:t>
            </a:r>
          </a:p>
          <a:p>
            <a:pPr algn="ctr">
              <a:spcBef>
                <a:spcPts val="1200"/>
              </a:spcBef>
            </a:pPr>
            <a:r>
              <a:rPr sz="1800" b="0">
                <a:solidFill>
                  <a:srgbClr val="0B2B4E"/>
                </a:solidFill>
                <a:latin typeface="Calibri"/>
              </a:rPr>
              <a:t>→  Consider for long-run decisions</a:t>
            </a:r>
          </a:p>
          <a:p>
            <a:pPr algn="ctr"/>
            <a:r>
              <a:rPr sz="1800" b="0">
                <a:solidFill>
                  <a:srgbClr val="0B2B4E"/>
                </a:solidFill>
                <a:latin typeface="Calibri"/>
              </a:rPr>
              <a:t>(entry, exit, capacity)</a:t>
            </a:r>
          </a:p>
        </p:txBody>
      </p:sp>
      <p:sp>
        <p:nvSpPr>
          <p:cNvPr id="12" name="Rounded Rectangle 11"/>
          <p:cNvSpPr/>
          <p:nvPr/>
        </p:nvSpPr>
        <p:spPr>
          <a:xfrm>
            <a:off x="428990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118872" tIns="54864" rIns="73152" rtlCol="0" anchor="t"/>
          <a:lstStyle/>
          <a:p>
            <a:pPr algn="l"/>
            <a:r>
              <a:rPr sz="1200" b="1" i="1">
                <a:solidFill>
                  <a:srgbClr val="0B2B4E"/>
                </a:solidFill>
                <a:latin typeface="Calibri"/>
              </a:rPr>
              <a:t>Examples</a:t>
            </a:r>
          </a:p>
          <a:p>
            <a:pPr algn="l"/>
            <a:r>
              <a:rPr sz="1400" b="0">
                <a:solidFill>
                  <a:srgbClr val="0B2B4E"/>
                </a:solidFill>
                <a:latin typeface="Calibri"/>
              </a:rPr>
              <a:t>•  Rent / lease payments</a:t>
            </a:r>
          </a:p>
          <a:p>
            <a:pPr algn="l"/>
            <a:r>
              <a:rPr sz="1400" b="0">
                <a:solidFill>
                  <a:srgbClr val="0B2B4E"/>
                </a:solidFill>
                <a:latin typeface="Calibri"/>
              </a:rPr>
              <a:t>•  Insurance &amp; property tax</a:t>
            </a:r>
          </a:p>
          <a:p>
            <a:pPr algn="l"/>
            <a:r>
              <a:rPr sz="1400" b="0">
                <a:solidFill>
                  <a:srgbClr val="0B2B4E"/>
                </a:solidFill>
                <a:latin typeface="Calibri"/>
              </a:rPr>
              <a:t>•  R&amp;D investments (for future innovation)</a:t>
            </a:r>
          </a:p>
        </p:txBody>
      </p:sp>
      <p:sp>
        <p:nvSpPr>
          <p:cNvPr id="13" name="Rectangle 12"/>
          <p:cNvSpPr/>
          <p:nvPr/>
        </p:nvSpPr>
        <p:spPr>
          <a:xfrm>
            <a:off x="8038947" y="1874519"/>
            <a:ext cx="3611880" cy="640080"/>
          </a:xfrm>
          <a:prstGeom prst="roundRect">
            <a:avLst>
              <a:gd name="adj" fmla="val 12000"/>
            </a:avLst>
          </a:prstGeom>
          <a:solidFill>
            <a:srgbClr val="C00000"/>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Sunk Costs</a:t>
            </a:r>
          </a:p>
        </p:txBody>
      </p:sp>
      <p:sp>
        <p:nvSpPr>
          <p:cNvPr id="14" name="Rectangle 13"/>
          <p:cNvSpPr/>
          <p:nvPr/>
        </p:nvSpPr>
        <p:spPr>
          <a:xfrm>
            <a:off x="8038947" y="2514600"/>
            <a:ext cx="3611880" cy="1371600"/>
          </a:xfrm>
          <a:prstGeom prst="roundRect">
            <a:avLst>
              <a:gd name="adj" fmla="val 12000"/>
            </a:avLst>
          </a:prstGeom>
          <a:solidFill>
            <a:srgbClr val="FFFFFF"/>
          </a:solidFill>
          <a:ln w="19050">
            <a:solidFill>
              <a:srgbClr val="C00000"/>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A fixed cost that </a:t>
            </a:r>
          </a:p>
          <a:p>
            <a:pPr algn="ctr">
              <a:spcAft>
                <a:spcPts val="1200"/>
              </a:spcAft>
            </a:pPr>
            <a:r>
              <a:rPr sz="1800" b="0">
                <a:solidFill>
                  <a:srgbClr val="0B2B4E"/>
                </a:solidFill>
                <a:latin typeface="Calibri"/>
              </a:rPr>
              <a:t>cannot be recovered
→  Ignore!</a:t>
            </a:r>
          </a:p>
        </p:txBody>
      </p:sp>
      <p:sp>
        <p:nvSpPr>
          <p:cNvPr id="15" name="Rounded Rectangle 14"/>
          <p:cNvSpPr/>
          <p:nvPr/>
        </p:nvSpPr>
        <p:spPr>
          <a:xfrm>
            <a:off x="803894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118872" tIns="54864" rIns="73152" rtlCol="0" anchor="t"/>
          <a:lstStyle/>
          <a:p>
            <a:pPr algn="l"/>
            <a:r>
              <a:rPr sz="1200" b="1" i="1">
                <a:solidFill>
                  <a:srgbClr val="0B2B4E"/>
                </a:solidFill>
                <a:latin typeface="Calibri"/>
              </a:rPr>
              <a:t>Examples</a:t>
            </a:r>
          </a:p>
          <a:p>
            <a:pPr algn="l"/>
            <a:r>
              <a:rPr sz="1400" b="0">
                <a:solidFill>
                  <a:srgbClr val="0B2B4E"/>
                </a:solidFill>
                <a:latin typeface="Calibri"/>
              </a:rPr>
              <a:t>•  Past R&amp;D</a:t>
            </a:r>
          </a:p>
          <a:p>
            <a:pPr algn="l"/>
            <a:r>
              <a:rPr sz="1400" b="0">
                <a:solidFill>
                  <a:srgbClr val="0B2B4E"/>
                </a:solidFill>
                <a:latin typeface="Calibri"/>
              </a:rPr>
              <a:t>•  Past advertising</a:t>
            </a:r>
          </a:p>
          <a:p>
            <a:pPr algn="l"/>
            <a:r>
              <a:rPr sz="1400" b="0">
                <a:solidFill>
                  <a:srgbClr val="0B2B4E"/>
                </a:solidFill>
                <a:latin typeface="Calibri"/>
              </a:rPr>
              <a:t>•  Non-refundable deposits</a:t>
            </a:r>
          </a:p>
        </p:txBody>
      </p:sp>
      <p:sp>
        <p:nvSpPr>
          <p:cNvPr id="16" name="Rounded Rectangle 15"/>
          <p:cNvSpPr/>
          <p:nvPr/>
        </p:nvSpPr>
        <p:spPr>
          <a:xfrm>
            <a:off x="8038947" y="5405247"/>
            <a:ext cx="3611880" cy="747521"/>
          </a:xfrm>
          <a:prstGeom prst="roundRect">
            <a:avLst>
              <a:gd name="adj" fmla="val 30000"/>
            </a:avLst>
          </a:prstGeom>
          <a:solidFill>
            <a:srgbClr val="C00000"/>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Sunk costs should not affect managerial decisions</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E0DEB749-D898-491F-A19E-BC26983DEBDE}" type="slidenum">
              <a:rPr sz="1200" b="0" i="0">
                <a:solidFill>
                  <a:srgbClr val="555B66"/>
                </a:solidFill>
                <a:latin typeface="Calibri"/>
              </a:rPr>
              <a:t>21</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In Class · Examples · Cost Concepts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lang="en-US" sz="3200" b="1" i="0" dirty="0">
                <a:solidFill>
                  <a:srgbClr val="0B2B4E"/>
                </a:solidFill>
                <a:latin typeface="Calibri"/>
              </a:rPr>
              <a:t>Cost Example: </a:t>
            </a:r>
            <a:r>
              <a:rPr sz="3200" b="1" i="0" dirty="0">
                <a:solidFill>
                  <a:srgbClr val="0B2B4E"/>
                </a:solidFill>
                <a:latin typeface="Calibri"/>
              </a:rPr>
              <a:t>Dog Leashes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6032" y="1322641"/>
            <a:ext cx="7580376" cy="4185761"/>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spcBef>
                <a:spcPts val="0"/>
              </a:spcBef>
            </a:pPr>
            <a:r>
              <a:rPr lang="en-US" sz="2800" dirty="0">
                <a:latin typeface="Calibri"/>
              </a:rPr>
              <a:t>You produce dog leashes</a:t>
            </a:r>
          </a:p>
          <a:p>
            <a:pPr lvl="1" algn="l">
              <a:spcBef>
                <a:spcPts val="300"/>
              </a:spcBef>
            </a:pPr>
            <a:r>
              <a:rPr lang="en-US" sz="2400" dirty="0">
                <a:latin typeface="Calibri"/>
              </a:rPr>
              <a:t>Already bought: lots of nylon yarn and a webbing loom (cannot be resold)</a:t>
            </a:r>
          </a:p>
          <a:p>
            <a:pPr lvl="1" algn="l">
              <a:spcBef>
                <a:spcPts val="300"/>
              </a:spcBef>
            </a:pPr>
            <a:r>
              <a:rPr lang="en-US" sz="2400" dirty="0"/>
              <a:t>You pay rent for the shop and employ sewing workers</a:t>
            </a:r>
            <a:endParaRPr lang="en-US" sz="2400" dirty="0">
              <a:latin typeface="Calibri"/>
            </a:endParaRPr>
          </a:p>
          <a:p>
            <a:pPr algn="l">
              <a:spcBef>
                <a:spcPts val="600"/>
              </a:spcBef>
            </a:pPr>
            <a:r>
              <a:rPr lang="en-US" sz="2800" dirty="0">
                <a:latin typeface="Calibri"/>
              </a:rPr>
              <a:t>Last month:</a:t>
            </a:r>
          </a:p>
          <a:p>
            <a:pPr lvl="1" algn="l">
              <a:spcBef>
                <a:spcPts val="300"/>
              </a:spcBef>
            </a:pPr>
            <a:r>
              <a:rPr lang="en-US" sz="2400" dirty="0">
                <a:latin typeface="Calibri"/>
              </a:rPr>
              <a:t>Sold 1,000 leashes at </a:t>
            </a:r>
            <a:r>
              <a:rPr lang="en-US" sz="2400" i="1" dirty="0">
                <a:latin typeface="Calibri"/>
              </a:rPr>
              <a:t>P</a:t>
            </a:r>
            <a:r>
              <a:rPr lang="en-US" sz="2400" dirty="0">
                <a:latin typeface="Calibri"/>
              </a:rPr>
              <a:t> = $40</a:t>
            </a:r>
          </a:p>
          <a:p>
            <a:pPr lvl="1" algn="l">
              <a:spcBef>
                <a:spcPts val="300"/>
              </a:spcBef>
            </a:pPr>
            <a:r>
              <a:rPr lang="en-US" sz="2400" dirty="0">
                <a:latin typeface="Calibri"/>
              </a:rPr>
              <a:t>TC = $35,000</a:t>
            </a:r>
          </a:p>
          <a:p>
            <a:pPr algn="l">
              <a:spcBef>
                <a:spcPts val="600"/>
              </a:spcBef>
            </a:pPr>
            <a:r>
              <a:rPr lang="en-US" sz="2800" dirty="0">
                <a:latin typeface="Calibri"/>
              </a:rPr>
              <a:t>Expected: you could sell 1,200 leashes at </a:t>
            </a:r>
            <a:r>
              <a:rPr lang="en-US" sz="2800" i="1" dirty="0">
                <a:latin typeface="Calibri"/>
              </a:rPr>
              <a:t>P</a:t>
            </a:r>
            <a:r>
              <a:rPr lang="en-US" sz="2800" dirty="0">
                <a:latin typeface="Calibri"/>
              </a:rPr>
              <a:t> = $35</a:t>
            </a:r>
          </a:p>
          <a:p>
            <a:pPr algn="l">
              <a:spcBef>
                <a:spcPts val="600"/>
              </a:spcBef>
            </a:pPr>
            <a:r>
              <a:rPr lang="en-US" sz="2800" dirty="0">
                <a:latin typeface="Calibri"/>
              </a:rPr>
              <a:t>Should you cut the price to $35?</a:t>
            </a:r>
          </a:p>
        </p:txBody>
      </p:sp>
      <p:sp>
        <p:nvSpPr>
          <p:cNvPr id="10" name="Rounded Rectangle 9"/>
          <p:cNvSpPr/>
          <p:nvPr/>
        </p:nvSpPr>
        <p:spPr>
          <a:xfrm>
            <a:off x="792328" y="5542139"/>
            <a:ext cx="10607040" cy="566928"/>
          </a:xfrm>
          <a:prstGeom prst="roundRect">
            <a:avLst>
              <a:gd name="adj" fmla="val 12903"/>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2400" b="1" dirty="0">
                <a:solidFill>
                  <a:srgbClr val="FFFFFF"/>
                </a:solidFill>
                <a:latin typeface="Calibri"/>
              </a:rPr>
              <a:t>Which cost information do you need to make a decision? </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tIns="0" rIns="0" bIns="0">
            <a:spAutoFit/>
          </a:bodyPr>
          <a:lstStyle/>
          <a:p>
            <a:pPr algn="r"/>
            <a:fld id="{9211E7F9-FDBB-4422-93CC-4DFB0874DBD2}" type="slidenum">
              <a:rPr sz="1200" b="0" i="0">
                <a:solidFill>
                  <a:srgbClr val="555B66"/>
                </a:solidFill>
                <a:latin typeface="Calibri"/>
              </a:rPr>
              <a:t>22</a:t>
            </a:fld>
            <a:endParaRPr sz="1200" b="0" i="0">
              <a:solidFill>
                <a:srgbClr val="555B66"/>
              </a:solidFill>
              <a:latin typeface="Calibri"/>
            </a:endParaRPr>
          </a:p>
        </p:txBody>
      </p:sp>
      <p:grpSp>
        <p:nvGrpSpPr>
          <p:cNvPr id="17" name="GroupDiscussionBadge"/>
          <p:cNvGrpSpPr/>
          <p:nvPr/>
        </p:nvGrpSpPr>
        <p:grpSpPr>
          <a:xfrm>
            <a:off x="8008041" y="6190030"/>
            <a:ext cx="4050792" cy="487009"/>
            <a:chOff x="8008041" y="6190030"/>
            <a:chExt cx="4050792" cy="487009"/>
          </a:xfrm>
        </p:grpSpPr>
        <p:sp>
          <p:nvSpPr>
            <p:cNvPr id="18" name="Rectangle 13"/>
            <p:cNvSpPr/>
            <p:nvPr/>
          </p:nvSpPr>
          <p:spPr>
            <a:xfrm>
              <a:off x="8008041" y="6190030"/>
              <a:ext cx="4050792" cy="487009"/>
            </a:xfrm>
            <a:custGeom>
              <a:avLst/>
              <a:gdLst/>
              <a:ahLst/>
              <a:cxnLst/>
              <a:rect l="16253" t="0" r="83747" b="100000"/>
              <a:pathLst>
                <a:path w="100000" h="100000">
                  <a:moveTo>
                    <a:pt x="21253" y="0"/>
                  </a:moveTo>
                  <a:lnTo>
                    <a:pt x="95000" y="0"/>
                  </a:lnTo>
                  <a:cubicBezTo>
                    <a:pt x="100000" y="0"/>
                    <a:pt x="100000" y="0"/>
                    <a:pt x="99187" y="5000"/>
                  </a:cubicBezTo>
                  <a:lnTo>
                    <a:pt x="84560" y="95000"/>
                  </a:lnTo>
                  <a:cubicBezTo>
                    <a:pt x="83747" y="100000"/>
                    <a:pt x="83747" y="100000"/>
                    <a:pt x="78747" y="100000"/>
                  </a:cubicBezTo>
                  <a:lnTo>
                    <a:pt x="5000" y="100000"/>
                  </a:lnTo>
                  <a:cubicBezTo>
                    <a:pt x="0" y="100000"/>
                    <a:pt x="0" y="100000"/>
                    <a:pt x="813" y="95000"/>
                  </a:cubicBezTo>
                  <a:lnTo>
                    <a:pt x="15440" y="5000"/>
                  </a:lnTo>
                  <a:cubicBezTo>
                    <a:pt x="16253" y="0"/>
                    <a:pt x="16253" y="0"/>
                    <a:pt x="21253"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4"/>
            <p:cNvSpPr txBox="1"/>
            <p:nvPr/>
          </p:nvSpPr>
          <p:spPr>
            <a:xfrm>
              <a:off x="8666409" y="6190030"/>
              <a:ext cx="2734056" cy="487009"/>
            </a:xfrm>
            <a:prstGeom prst="rect">
              <a:avLst/>
            </a:prstGeom>
            <a:noFill/>
          </p:spPr>
          <p:txBody>
            <a:bodyPr wrap="none" lIns="45720" tIns="18288" rIns="45720" bIns="18288" anchor="ctr">
              <a:spAutoFit/>
            </a:bodyPr>
            <a:lstStyle/>
            <a:p>
              <a:pPr algn="ctr"/>
              <a:r>
                <a:rPr sz="2800" b="1">
                  <a:solidFill>
                    <a:srgbClr val="0B2B4E"/>
                  </a:solidFill>
                  <a:latin typeface="Calibri"/>
                </a:rPr>
                <a:t>Group Discussion</a:t>
              </a:r>
            </a:p>
          </p:txBody>
        </p:sp>
      </p:grpSp>
      <p:pic>
        <p:nvPicPr>
          <p:cNvPr id="12" name="Picture 11">
            <a:extLst>
              <a:ext uri="{FF2B5EF4-FFF2-40B4-BE49-F238E27FC236}">
                <a16:creationId xmlns:a16="http://schemas.microsoft.com/office/drawing/2014/main" id="{CF3CDA1C-18A6-38DC-7ACD-BBCF542A4632}"/>
              </a:ext>
            </a:extLst>
          </p:cNvPr>
          <p:cNvPicPr>
            <a:picLocks noChangeAspect="1"/>
          </p:cNvPicPr>
          <p:nvPr/>
        </p:nvPicPr>
        <p:blipFill>
          <a:blip r:embed="rId3"/>
          <a:stretch>
            <a:fillRect/>
          </a:stretch>
        </p:blipFill>
        <p:spPr>
          <a:xfrm>
            <a:off x="8315566" y="1261872"/>
            <a:ext cx="3238781" cy="3825572"/>
          </a:xfrm>
          <a:prstGeom prst="roundRect">
            <a:avLst>
              <a:gd name="adj" fmla="val 2259"/>
            </a:avLst>
          </a:prstGeom>
          <a:effectLst>
            <a:outerShdw blurRad="50800" dist="38100" dir="2700000" algn="tl" rotWithShape="0">
              <a:srgbClr val="000000">
                <a:alpha val="45000"/>
              </a:srgbClr>
            </a:outerShdw>
          </a:effectLst>
        </p:spPr>
      </p:pic>
    </p:spTree>
    <p:extLst>
      <p:ext uri="{BB962C8B-B14F-4D97-AF65-F5344CB8AC3E}">
        <p14:creationId xmlns:p14="http://schemas.microsoft.com/office/powerpoint/2010/main" val="328455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fade">
                                      <p:cBhvr>
                                        <p:cTn id="13" dur="500"/>
                                        <p:tgtEl>
                                          <p:spTgt spid="7">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animEffect transition="in" filter="fade">
                                      <p:cBhvr>
                                        <p:cTn id="23" dur="500"/>
                                        <p:tgtEl>
                                          <p:spTgt spid="7">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In Class · Examples · Cost Concepts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lang="en-US" sz="3200" b="1" i="0" dirty="0">
                <a:solidFill>
                  <a:srgbClr val="0B2B4E"/>
                </a:solidFill>
                <a:latin typeface="Calibri"/>
              </a:rPr>
              <a:t>Solution</a:t>
            </a:r>
            <a:r>
              <a:rPr sz="3200" b="1" i="0" dirty="0">
                <a:solidFill>
                  <a:srgbClr val="0B2B4E"/>
                </a:solidFill>
                <a:latin typeface="Calibri"/>
              </a:rPr>
              <a:t>:  </a:t>
            </a:r>
            <a:r>
              <a:rPr lang="en-US" sz="3200" b="1" i="0" dirty="0">
                <a:solidFill>
                  <a:srgbClr val="0B2B4E"/>
                </a:solidFill>
                <a:latin typeface="Calibri"/>
              </a:rPr>
              <a:t>Compare MR and MC</a:t>
            </a:r>
            <a:endParaRPr sz="3200" b="1" i="0"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251999" y="1371600"/>
                <a:ext cx="9720676" cy="4348563"/>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spcBef>
                    <a:spcPts val="1800"/>
                  </a:spcBef>
                </a:pPr>
                <a:r>
                  <a:rPr lang="en-US" sz="2800" dirty="0">
                    <a:latin typeface="Calibri"/>
                  </a:rPr>
                  <a:t>Let’s open up the “TC black box”</a:t>
                </a:r>
              </a:p>
              <a:p>
                <a:pPr lvl="1" algn="l">
                  <a:spcBef>
                    <a:spcPts val="300"/>
                  </a:spcBef>
                </a:pPr>
                <a:r>
                  <a:rPr lang="en-US" sz="2400" dirty="0">
                    <a:latin typeface="Calibri"/>
                  </a:rPr>
                  <a:t>A sewing worker produces 4 leashes per hour</a:t>
                </a:r>
              </a:p>
              <a:p>
                <a:pPr lvl="1" algn="l">
                  <a:spcBef>
                    <a:spcPts val="300"/>
                  </a:spcBef>
                </a:pPr>
                <a:r>
                  <a:rPr lang="en-US" sz="2400" dirty="0">
                    <a:latin typeface="Calibri"/>
                  </a:rPr>
                  <a:t>Wage is $50 per hour</a:t>
                </a:r>
              </a:p>
              <a:p>
                <a:pPr lvl="1" algn="l">
                  <a:spcBef>
                    <a:spcPts val="300"/>
                  </a:spcBef>
                </a:pPr>
                <a:r>
                  <a:rPr lang="en-US" sz="2400" dirty="0"/>
                  <a:t>All other costs are fixed (rent) or sunk (material, machine)</a:t>
                </a:r>
              </a:p>
              <a:p>
                <a:pPr marL="868680" lvl="1" indent="-411480">
                  <a:spcBef>
                    <a:spcPts val="300"/>
                  </a:spcBef>
                  <a:buClr>
                    <a:srgbClr val="0B2B4E"/>
                  </a:buClr>
                  <a:buFont typeface="Cambria Math"/>
                  <a:buChar char="⇒"/>
                </a:pPr>
                <a:r>
                  <a:rPr lang="en-US" sz="2800" dirty="0">
                    <a:solidFill>
                      <a:srgbClr val="0B2B4E"/>
                    </a:solidFill>
                    <a:latin typeface="Calibri"/>
                  </a:rPr>
                  <a:t>MC = $12.50</a:t>
                </a:r>
              </a:p>
              <a:p>
                <a:pPr>
                  <a:spcBef>
                    <a:spcPts val="1800"/>
                  </a:spcBef>
                </a:pPr>
                <a:r>
                  <a:rPr lang="en-US" dirty="0"/>
                  <a:t>Recall: 1,000 leashes at $40, or 1,200 at $35</a:t>
                </a:r>
              </a:p>
              <a:p>
                <a:pPr lvl="1">
                  <a:spcBef>
                    <a:spcPts val="0"/>
                  </a:spcBef>
                </a:pPr>
                <a:r>
                  <a:rPr lang="en-US" dirty="0"/>
                  <a:t>TR goes from $40,000 to $42,000</a:t>
                </a:r>
              </a:p>
              <a:p>
                <a:pPr marL="868680" lvl="1" indent="-411480">
                  <a:spcBef>
                    <a:spcPts val="300"/>
                  </a:spcBef>
                  <a:buClr>
                    <a:srgbClr val="0B2B4E"/>
                  </a:buClr>
                  <a:buFont typeface="Cambria Math"/>
                  <a:buChar char="⇒"/>
                </a:pPr>
                <a14:m>
                  <m:oMath xmlns:m="http://schemas.openxmlformats.org/officeDocument/2006/math">
                    <m:r>
                      <m:rPr>
                        <m:sty m:val="p"/>
                      </m:rPr>
                      <a:rPr lang="en-US" sz="2800" b="0" i="0">
                        <a:solidFill>
                          <a:srgbClr val="0B2B4E"/>
                        </a:solidFill>
                        <a:latin typeface="Cambria Math"/>
                        <a:ea typeface="Cambria Math"/>
                      </a:rPr>
                      <m:t>MR</m:t>
                    </m:r>
                    <m:r>
                      <a:rPr lang="en-US" sz="2800" b="0" i="0">
                        <a:solidFill>
                          <a:srgbClr val="555B66"/>
                        </a:solidFill>
                        <a:latin typeface="Cambria Math"/>
                        <a:ea typeface="Cambria Math"/>
                      </a:rPr>
                      <m:t>=</m:t>
                    </m:r>
                    <m:f>
                      <m:fPr>
                        <m:ctrlPr>
                          <a:rPr lang="en-US" sz="2800" b="0" i="0">
                            <a:solidFill>
                              <a:srgbClr val="555B66"/>
                            </a:solidFill>
                            <a:latin typeface="Cambria Math"/>
                            <a:ea typeface="Cambria Math"/>
                          </a:rPr>
                        </m:ctrlPr>
                      </m:fPr>
                      <m:num>
                        <m:r>
                          <m:rPr>
                            <m:sty m:val="p"/>
                          </m:rPr>
                          <a:rPr lang="en-US" sz="2800" b="0" i="0">
                            <a:solidFill>
                              <a:srgbClr val="555B66"/>
                            </a:solidFill>
                            <a:latin typeface="Cambria Math"/>
                            <a:ea typeface="Cambria Math"/>
                          </a:rPr>
                          <m:t>ΔTR</m:t>
                        </m:r>
                      </m:num>
                      <m:den>
                        <m:r>
                          <m:rPr>
                            <m:sty m:val="p"/>
                          </m:rPr>
                          <a:rPr lang="en-US" sz="2800" b="0" i="0">
                            <a:solidFill>
                              <a:srgbClr val="555B66"/>
                            </a:solidFill>
                            <a:latin typeface="Cambria Math"/>
                            <a:ea typeface="Cambria Math"/>
                          </a:rPr>
                          <m:t>Δ</m:t>
                        </m:r>
                        <m:r>
                          <a:rPr lang="en-US" sz="2800" b="0" i="1">
                            <a:solidFill>
                              <a:srgbClr val="555B66"/>
                            </a:solidFill>
                            <a:latin typeface="Cambria Math"/>
                            <a:ea typeface="Cambria Math"/>
                          </a:rPr>
                          <m:t>𝑄</m:t>
                        </m:r>
                      </m:den>
                    </m:f>
                    <m:r>
                      <a:rPr lang="en-US" sz="2800" b="0" i="0">
                        <a:solidFill>
                          <a:srgbClr val="555B66"/>
                        </a:solidFill>
                        <a:latin typeface="Cambria Math"/>
                        <a:ea typeface="Cambria Math"/>
                      </a:rPr>
                      <m:t>=</m:t>
                    </m:r>
                    <m:f>
                      <m:fPr>
                        <m:ctrlPr>
                          <a:rPr lang="en-US" sz="2800" b="0" i="0">
                            <a:solidFill>
                              <a:srgbClr val="555B66"/>
                            </a:solidFill>
                            <a:latin typeface="Cambria Math"/>
                            <a:ea typeface="Cambria Math"/>
                          </a:rPr>
                        </m:ctrlPr>
                      </m:fPr>
                      <m:num>
                        <m:r>
                          <a:rPr lang="en-US" sz="2800" b="0" i="0">
                            <a:solidFill>
                              <a:srgbClr val="555B66"/>
                            </a:solidFill>
                            <a:latin typeface="Cambria Math"/>
                            <a:ea typeface="Cambria Math"/>
                          </a:rPr>
                          <m:t>$2,000</m:t>
                        </m:r>
                      </m:num>
                      <m:den>
                        <m:r>
                          <a:rPr lang="en-US" sz="2800" b="0" i="0">
                            <a:solidFill>
                              <a:srgbClr val="555B66"/>
                            </a:solidFill>
                            <a:latin typeface="Cambria Math"/>
                            <a:ea typeface="Cambria Math"/>
                          </a:rPr>
                          <m:t>200</m:t>
                        </m:r>
                      </m:den>
                    </m:f>
                    <m:r>
                      <a:rPr lang="en-US" sz="2800" b="0" i="0">
                        <a:solidFill>
                          <a:srgbClr val="0B2B4E"/>
                        </a:solidFill>
                        <a:latin typeface="Cambria Math"/>
                        <a:ea typeface="Cambria Math"/>
                      </a:rPr>
                      <m:t>=$10</m:t>
                    </m:r>
                  </m:oMath>
                </a14:m>
                <a:endParaRPr lang="en-US" dirty="0"/>
              </a:p>
              <a:p>
                <a:pPr>
                  <a:spcBef>
                    <a:spcPts val="300"/>
                  </a:spcBef>
                </a:pPr>
                <a:endParaRPr lang="en-US" sz="2400" dirty="0">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51999" y="1371600"/>
                <a:ext cx="9720676" cy="4348563"/>
              </a:xfrm>
              <a:prstGeom prst="rect">
                <a:avLst/>
              </a:prstGeom>
              <a:blipFill>
                <a:blip r:embed="rId3"/>
                <a:stretch>
                  <a:fillRect l="-2257" t="-2525"/>
                </a:stretch>
              </a:blipFill>
            </p:spPr>
            <p:txBody>
              <a:bodyPr/>
              <a:lstStyle/>
              <a:p>
                <a:r>
                  <a:rPr lang="en-US">
                    <a:noFill/>
                  </a:rPr>
                  <a:t> </a:t>
                </a:r>
              </a:p>
            </p:txBody>
          </p:sp>
        </mc:Fallback>
      </mc:AlternateContent>
      <p:sp>
        <p:nvSpPr>
          <p:cNvPr id="10" name="Rounded Rectangle 9"/>
          <p:cNvSpPr/>
          <p:nvPr/>
        </p:nvSpPr>
        <p:spPr>
          <a:xfrm>
            <a:off x="793425" y="5486400"/>
            <a:ext cx="10607040" cy="566928"/>
          </a:xfrm>
          <a:prstGeom prst="roundRect">
            <a:avLst>
              <a:gd name="adj" fmla="val 12903"/>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2400" b="1" dirty="0">
                <a:solidFill>
                  <a:srgbClr val="FFFFFF"/>
                </a:solidFill>
                <a:latin typeface="Calibri"/>
              </a:rPr>
              <a:t>Thus, MR &lt; MC, so we should not cut the price</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tIns="0" rIns="0" bIns="0">
            <a:spAutoFit/>
          </a:bodyPr>
          <a:lstStyle/>
          <a:p>
            <a:pPr algn="r"/>
            <a:fld id="{9211E7F9-FDBB-4422-93CC-4DFB0874DBD2}" type="slidenum">
              <a:rPr sz="1200" b="0" i="0">
                <a:solidFill>
                  <a:srgbClr val="555B66"/>
                </a:solidFill>
                <a:latin typeface="Calibri"/>
              </a:rPr>
              <a:t>23</a:t>
            </a:fld>
            <a:endParaRPr sz="1200" b="0" i="0">
              <a:solidFill>
                <a:srgbClr val="555B66"/>
              </a:solidFill>
              <a:latin typeface="Calibri"/>
            </a:endParaRPr>
          </a:p>
        </p:txBody>
      </p:sp>
      <p:grpSp>
        <p:nvGrpSpPr>
          <p:cNvPr id="17" name="GroupDiscussionBadge"/>
          <p:cNvGrpSpPr/>
          <p:nvPr/>
        </p:nvGrpSpPr>
        <p:grpSpPr>
          <a:xfrm>
            <a:off x="8008041" y="6190030"/>
            <a:ext cx="4050792" cy="487009"/>
            <a:chOff x="8008041" y="6190030"/>
            <a:chExt cx="4050792" cy="487009"/>
          </a:xfrm>
        </p:grpSpPr>
        <p:sp>
          <p:nvSpPr>
            <p:cNvPr id="18" name="Rectangle 13"/>
            <p:cNvSpPr/>
            <p:nvPr/>
          </p:nvSpPr>
          <p:spPr>
            <a:xfrm>
              <a:off x="8008041" y="6190030"/>
              <a:ext cx="4050792" cy="487009"/>
            </a:xfrm>
            <a:custGeom>
              <a:avLst/>
              <a:gdLst/>
              <a:ahLst/>
              <a:cxnLst/>
              <a:rect l="16253" t="0" r="83747" b="100000"/>
              <a:pathLst>
                <a:path w="100000" h="100000">
                  <a:moveTo>
                    <a:pt x="21253" y="0"/>
                  </a:moveTo>
                  <a:lnTo>
                    <a:pt x="95000" y="0"/>
                  </a:lnTo>
                  <a:cubicBezTo>
                    <a:pt x="100000" y="0"/>
                    <a:pt x="100000" y="0"/>
                    <a:pt x="99187" y="5000"/>
                  </a:cubicBezTo>
                  <a:lnTo>
                    <a:pt x="84560" y="95000"/>
                  </a:lnTo>
                  <a:cubicBezTo>
                    <a:pt x="83747" y="100000"/>
                    <a:pt x="83747" y="100000"/>
                    <a:pt x="78747" y="100000"/>
                  </a:cubicBezTo>
                  <a:lnTo>
                    <a:pt x="5000" y="100000"/>
                  </a:lnTo>
                  <a:cubicBezTo>
                    <a:pt x="0" y="100000"/>
                    <a:pt x="0" y="100000"/>
                    <a:pt x="813" y="95000"/>
                  </a:cubicBezTo>
                  <a:lnTo>
                    <a:pt x="15440" y="5000"/>
                  </a:lnTo>
                  <a:cubicBezTo>
                    <a:pt x="16253" y="0"/>
                    <a:pt x="16253" y="0"/>
                    <a:pt x="21253"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4"/>
            <p:cNvSpPr txBox="1"/>
            <p:nvPr/>
          </p:nvSpPr>
          <p:spPr>
            <a:xfrm>
              <a:off x="8666409" y="6190030"/>
              <a:ext cx="2734056" cy="487009"/>
            </a:xfrm>
            <a:prstGeom prst="rect">
              <a:avLst/>
            </a:prstGeom>
            <a:noFill/>
          </p:spPr>
          <p:txBody>
            <a:bodyPr wrap="none" lIns="45720" tIns="18288" rIns="45720" bIns="18288" anchor="ctr">
              <a:spAutoFit/>
            </a:bodyPr>
            <a:lstStyle/>
            <a:p>
              <a:pPr algn="ctr"/>
              <a:r>
                <a:rPr sz="2800" b="1">
                  <a:solidFill>
                    <a:srgbClr val="0B2B4E"/>
                  </a:solidFill>
                  <a:latin typeface="Calibri"/>
                </a:rPr>
                <a:t>Group Discussion</a:t>
              </a:r>
            </a:p>
          </p:txBody>
        </p:sp>
      </p:grpSp>
    </p:spTree>
    <p:extLst>
      <p:ext uri="{BB962C8B-B14F-4D97-AF65-F5344CB8AC3E}">
        <p14:creationId xmlns:p14="http://schemas.microsoft.com/office/powerpoint/2010/main" val="425376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fade">
                                      <p:cBhvr>
                                        <p:cTn id="25" dur="500"/>
                                        <p:tgtEl>
                                          <p:spTgt spid="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fade">
                                      <p:cBhvr>
                                        <p:cTn id="30" dur="500"/>
                                        <p:tgtEl>
                                          <p:spTgt spid="7">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fade">
                                      <p:cBhvr>
                                        <p:cTn id="33" dur="500"/>
                                        <p:tgtEl>
                                          <p:spTgt spid="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7" end="7"/>
                                            </p:txEl>
                                          </p:spTgt>
                                        </p:tgtEl>
                                        <p:attrNameLst>
                                          <p:attrName>style.visibility</p:attrName>
                                        </p:attrNameLst>
                                      </p:cBhvr>
                                      <p:to>
                                        <p:strVal val="visible"/>
                                      </p:to>
                                    </p:set>
                                    <p:animEffect transition="in" filter="fade">
                                      <p:cBhvr>
                                        <p:cTn id="38" dur="500"/>
                                        <p:tgtEl>
                                          <p:spTgt spid="7">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6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Relationship to Accounting:  Ross Stores Annual Report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_ross_costs_combined.png"/>
          <p:cNvPicPr>
            <a:picLocks noChangeAspect="1"/>
          </p:cNvPicPr>
          <p:nvPr/>
        </p:nvPicPr>
        <p:blipFill>
          <a:blip r:embed="rId3"/>
          <a:stretch>
            <a:fillRect/>
          </a:stretch>
        </p:blipFill>
        <p:spPr>
          <a:xfrm>
            <a:off x="749808" y="1481328"/>
            <a:ext cx="10479024" cy="4764024"/>
          </a:xfrm>
          <a:prstGeom prst="rect">
            <a:avLst/>
          </a:prstGeom>
        </p:spPr>
      </p:pic>
      <p:sp>
        <p:nvSpPr>
          <p:cNvPr id="8" name="TextBox 7"/>
          <p:cNvSpPr txBox="1"/>
          <p:nvPr/>
        </p:nvSpPr>
        <p:spPr>
          <a:xfrm>
            <a:off x="3191256" y="4187952"/>
            <a:ext cx="1060704" cy="402336"/>
          </a:xfrm>
          <a:prstGeom prst="rect">
            <a:avLst/>
          </a:prstGeom>
          <a:noFill/>
        </p:spPr>
        <p:txBody>
          <a:bodyPr wrap="square" lIns="0" tIns="0" rIns="0" bIns="0">
            <a:spAutoFit/>
          </a:bodyPr>
          <a:lstStyle/>
          <a:p>
            <a:pPr algn="l"/>
            <a:r>
              <a:rPr sz="2000" b="1" i="0">
                <a:solidFill>
                  <a:srgbClr val="C00000"/>
                </a:solidFill>
                <a:latin typeface="Whitney Book"/>
              </a:rPr>
              <a:t>≈ TVC</a:t>
            </a:r>
          </a:p>
        </p:txBody>
      </p:sp>
      <p:sp>
        <p:nvSpPr>
          <p:cNvPr id="9" name="TextBox 8"/>
          <p:cNvSpPr txBox="1"/>
          <p:nvPr/>
        </p:nvSpPr>
        <p:spPr>
          <a:xfrm>
            <a:off x="4809744" y="4681728"/>
            <a:ext cx="1810512" cy="402336"/>
          </a:xfrm>
          <a:prstGeom prst="rect">
            <a:avLst/>
          </a:prstGeom>
          <a:noFill/>
        </p:spPr>
        <p:txBody>
          <a:bodyPr wrap="square" lIns="0" tIns="0" rIns="0" bIns="0">
            <a:spAutoFit/>
          </a:bodyPr>
          <a:lstStyle/>
          <a:p>
            <a:pPr algn="l"/>
            <a:r>
              <a:rPr sz="2000" b="1" i="0">
                <a:solidFill>
                  <a:srgbClr val="C00000"/>
                </a:solidFill>
                <a:latin typeface="Whitney Book"/>
              </a:rPr>
              <a:t>Mix FC &amp; VC</a:t>
            </a:r>
          </a:p>
        </p:txBody>
      </p:sp>
      <p:sp>
        <p:nvSpPr>
          <p:cNvPr id="10" name="TextBox 9"/>
          <p:cNvSpPr txBox="1"/>
          <p:nvPr/>
        </p:nvSpPr>
        <p:spPr>
          <a:xfrm>
            <a:off x="4498848" y="5175504"/>
            <a:ext cx="1325880" cy="402336"/>
          </a:xfrm>
          <a:prstGeom prst="rect">
            <a:avLst/>
          </a:prstGeom>
          <a:noFill/>
        </p:spPr>
        <p:txBody>
          <a:bodyPr wrap="square" lIns="0" tIns="0" rIns="0" bIns="0">
            <a:spAutoFit/>
          </a:bodyPr>
          <a:lstStyle/>
          <a:p>
            <a:pPr algn="l"/>
            <a:r>
              <a:rPr sz="2000" b="1" i="0">
                <a:solidFill>
                  <a:srgbClr val="C00000"/>
                </a:solidFill>
                <a:latin typeface="Whitney Book"/>
              </a:rPr>
              <a:t>Part of FC</a:t>
            </a:r>
          </a:p>
        </p:txBody>
      </p:sp>
      <p:sp>
        <p:nvSpPr>
          <p:cNvPr id="11" name="TextBox 10"/>
          <p:cNvSpPr txBox="1"/>
          <p:nvPr/>
        </p:nvSpPr>
        <p:spPr>
          <a:xfrm>
            <a:off x="3877056" y="5724144"/>
            <a:ext cx="1060704" cy="402336"/>
          </a:xfrm>
          <a:prstGeom prst="rect">
            <a:avLst/>
          </a:prstGeom>
          <a:noFill/>
        </p:spPr>
        <p:txBody>
          <a:bodyPr wrap="square" lIns="0" tIns="0" rIns="0" bIns="0">
            <a:spAutoFit/>
          </a:bodyPr>
          <a:lstStyle/>
          <a:p>
            <a:pPr algn="l"/>
            <a:r>
              <a:rPr sz="2000" b="1" i="0">
                <a:solidFill>
                  <a:srgbClr val="C00000"/>
                </a:solidFill>
                <a:latin typeface="Whitney Book"/>
              </a:rPr>
              <a:t>≈ TC</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5" name="TextBox 14"/>
          <p:cNvSpPr txBox="1"/>
          <p:nvPr/>
        </p:nvSpPr>
        <p:spPr>
          <a:xfrm>
            <a:off x="11430000" y="6583680"/>
            <a:ext cx="548640" cy="292608"/>
          </a:xfrm>
          <a:prstGeom prst="rect">
            <a:avLst/>
          </a:prstGeom>
          <a:noFill/>
        </p:spPr>
        <p:txBody>
          <a:bodyPr wrap="square" lIns="0" tIns="0" rIns="0" bIns="0">
            <a:spAutoFit/>
          </a:bodyPr>
          <a:lstStyle/>
          <a:p>
            <a:pPr algn="r"/>
            <a:fld id="{D395C534-E8C3-4C28-A83D-DA8640CF7503}" type="slidenum">
              <a:rPr sz="1200" b="0" i="0">
                <a:solidFill>
                  <a:srgbClr val="555B66"/>
                </a:solidFill>
                <a:latin typeface="Calibri"/>
              </a:rPr>
              <a:t>24</a:t>
            </a:fld>
            <a:endParaRPr sz="1200" b="0" i="0">
              <a:solidFill>
                <a:srgbClr val="555B66"/>
              </a:solidFill>
              <a:latin typeface="Calibri"/>
            </a:endParaRPr>
          </a:p>
        </p:txBody>
      </p:sp>
    </p:spTree>
    <p:extLst>
      <p:ext uri="{BB962C8B-B14F-4D97-AF65-F5344CB8AC3E}">
        <p14:creationId xmlns:p14="http://schemas.microsoft.com/office/powerpoint/2010/main" val="339239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6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Why Studios Finish Movies They Know Lose Money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20186" y="1420977"/>
            <a:ext cx="6094476" cy="523036"/>
          </a:xfrm>
          <a:prstGeom prst="rect">
            <a:avLst/>
          </a:prstGeom>
          <a:noFill/>
        </p:spPr>
        <p:txBody>
          <a:bodyPr wrap="square" lIns="0" tIns="0" rIns="0" bIns="0">
            <a:spAutoFit/>
          </a:bodyPr>
          <a:lstStyle/>
          <a:p>
            <a:pPr algn="ctr"/>
            <a:r>
              <a:rPr sz="2800" b="1" i="0">
                <a:solidFill>
                  <a:srgbClr val="0B2B4E"/>
                </a:solidFill>
                <a:latin typeface="Calibri"/>
              </a:rPr>
              <a:t>Waterworld (1995)</a:t>
            </a:r>
          </a:p>
        </p:txBody>
      </p:sp>
      <p:pic>
        <p:nvPicPr>
          <p:cNvPr id="8" name="Picture 7" descr="slide45_rId3.png"/>
          <p:cNvPicPr>
            <a:picLocks noChangeAspect="1"/>
          </p:cNvPicPr>
          <p:nvPr/>
        </p:nvPicPr>
        <p:blipFill>
          <a:blip r:embed="rId3"/>
          <a:stretch>
            <a:fillRect/>
          </a:stretch>
        </p:blipFill>
        <p:spPr>
          <a:xfrm>
            <a:off x="2423160" y="1938528"/>
            <a:ext cx="7885478" cy="4434840"/>
          </a:xfrm>
          <a:prstGeom prst="rect">
            <a:avLst/>
          </a:prstGeom>
          <a:effectLst>
            <a:outerShdw blurRad="50800" dist="38100" dir="2700000" algn="tl" rotWithShape="0">
              <a:srgbClr val="000000">
                <a:alpha val="45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tIns="0" rIns="0" bIns="0">
            <a:spAutoFit/>
          </a:bodyPr>
          <a:lstStyle/>
          <a:p>
            <a:pPr algn="r"/>
            <a:fld id="{06C3C6F8-3185-4A1E-AC8B-64285742FD02}" type="slidenum">
              <a:rPr sz="1200" b="0" i="0">
                <a:solidFill>
                  <a:srgbClr val="555B66"/>
                </a:solidFill>
                <a:latin typeface="Calibri"/>
              </a:rPr>
              <a:t>25</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6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Waterworld:  Sunk Costs and Decisions Over Time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00887" y="1434693"/>
            <a:ext cx="3657600" cy="45720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700887" y="193761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Expected Revenues  ($M)</a:t>
            </a:r>
          </a:p>
        </p:txBody>
      </p:sp>
      <p:sp>
        <p:nvSpPr>
          <p:cNvPr id="9" name="Rectangle 8"/>
          <p:cNvSpPr/>
          <p:nvPr/>
        </p:nvSpPr>
        <p:spPr>
          <a:xfrm>
            <a:off x="700887" y="257769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Sunk Cost  ($M)</a:t>
            </a:r>
          </a:p>
        </p:txBody>
      </p:sp>
      <p:sp>
        <p:nvSpPr>
          <p:cNvPr id="10" name="Rectangle 9"/>
          <p:cNvSpPr/>
          <p:nvPr/>
        </p:nvSpPr>
        <p:spPr>
          <a:xfrm>
            <a:off x="700887" y="321777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Expected Additional Cost  ($M)</a:t>
            </a:r>
          </a:p>
        </p:txBody>
      </p:sp>
      <p:sp>
        <p:nvSpPr>
          <p:cNvPr id="11" name="Rectangle 10"/>
          <p:cNvSpPr/>
          <p:nvPr/>
        </p:nvSpPr>
        <p:spPr>
          <a:xfrm>
            <a:off x="700887" y="385785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Overall Cost (incl. sunk)  ($M)</a:t>
            </a:r>
          </a:p>
        </p:txBody>
      </p:sp>
      <p:sp>
        <p:nvSpPr>
          <p:cNvPr id="12" name="Rectangle 11"/>
          <p:cNvSpPr/>
          <p:nvPr/>
        </p:nvSpPr>
        <p:spPr>
          <a:xfrm>
            <a:off x="700887" y="449793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Expected Profit  ($M)</a:t>
            </a:r>
          </a:p>
        </p:txBody>
      </p:sp>
      <p:sp>
        <p:nvSpPr>
          <p:cNvPr id="13" name="Rectangle 12"/>
          <p:cNvSpPr/>
          <p:nvPr/>
        </p:nvSpPr>
        <p:spPr>
          <a:xfrm>
            <a:off x="700887" y="5138013"/>
            <a:ext cx="3657600" cy="50292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2000" b="1">
                <a:solidFill>
                  <a:srgbClr val="0B2B4E"/>
                </a:solidFill>
                <a:latin typeface="Calibri"/>
              </a:rPr>
              <a:t>Decision</a:t>
            </a:r>
          </a:p>
        </p:txBody>
      </p:sp>
      <p:sp>
        <p:nvSpPr>
          <p:cNvPr id="14" name="Rectangle 13"/>
          <p:cNvSpPr/>
          <p:nvPr/>
        </p:nvSpPr>
        <p:spPr>
          <a:xfrm>
            <a:off x="444992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dirty="0">
                <a:solidFill>
                  <a:srgbClr val="FFFFFF"/>
                </a:solidFill>
                <a:latin typeface="Calibri"/>
              </a:rPr>
              <a:t>June 1994</a:t>
            </a:r>
          </a:p>
        </p:txBody>
      </p:sp>
      <p:sp>
        <p:nvSpPr>
          <p:cNvPr id="15" name="Rectangle 14"/>
          <p:cNvSpPr/>
          <p:nvPr/>
        </p:nvSpPr>
        <p:spPr>
          <a:xfrm>
            <a:off x="444992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150</a:t>
            </a:r>
          </a:p>
        </p:txBody>
      </p:sp>
      <p:sp>
        <p:nvSpPr>
          <p:cNvPr id="16" name="Rectangle 15"/>
          <p:cNvSpPr/>
          <p:nvPr/>
        </p:nvSpPr>
        <p:spPr>
          <a:xfrm>
            <a:off x="444992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16</a:t>
            </a:r>
          </a:p>
        </p:txBody>
      </p:sp>
      <p:sp>
        <p:nvSpPr>
          <p:cNvPr id="17" name="Rectangle 16"/>
          <p:cNvSpPr/>
          <p:nvPr/>
        </p:nvSpPr>
        <p:spPr>
          <a:xfrm>
            <a:off x="4449927" y="3217773"/>
            <a:ext cx="2286000" cy="548640"/>
          </a:xfrm>
          <a:prstGeom prst="rect">
            <a:avLst/>
          </a:prstGeom>
          <a:solidFill>
            <a:srgbClr val="F6E8C9"/>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84</a:t>
            </a:r>
          </a:p>
        </p:txBody>
      </p:sp>
      <p:sp>
        <p:nvSpPr>
          <p:cNvPr id="18" name="Rectangle 17"/>
          <p:cNvSpPr/>
          <p:nvPr/>
        </p:nvSpPr>
        <p:spPr>
          <a:xfrm>
            <a:off x="444992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100</a:t>
            </a:r>
          </a:p>
        </p:txBody>
      </p:sp>
      <p:sp>
        <p:nvSpPr>
          <p:cNvPr id="19" name="Rectangle 18"/>
          <p:cNvSpPr/>
          <p:nvPr/>
        </p:nvSpPr>
        <p:spPr>
          <a:xfrm>
            <a:off x="444992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+50</a:t>
            </a:r>
          </a:p>
        </p:txBody>
      </p:sp>
      <p:sp>
        <p:nvSpPr>
          <p:cNvPr id="20" name="Rectangle 19"/>
          <p:cNvSpPr/>
          <p:nvPr/>
        </p:nvSpPr>
        <p:spPr>
          <a:xfrm>
            <a:off x="444992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Make the film!</a:t>
            </a:r>
          </a:p>
        </p:txBody>
      </p:sp>
      <p:sp>
        <p:nvSpPr>
          <p:cNvPr id="21" name="Rectangle 20"/>
          <p:cNvSpPr/>
          <p:nvPr/>
        </p:nvSpPr>
        <p:spPr>
          <a:xfrm>
            <a:off x="682736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September 1994</a:t>
            </a:r>
          </a:p>
        </p:txBody>
      </p:sp>
      <p:sp>
        <p:nvSpPr>
          <p:cNvPr id="22" name="Rectangle 21"/>
          <p:cNvSpPr/>
          <p:nvPr/>
        </p:nvSpPr>
        <p:spPr>
          <a:xfrm>
            <a:off x="682736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150</a:t>
            </a:r>
          </a:p>
        </p:txBody>
      </p:sp>
      <p:sp>
        <p:nvSpPr>
          <p:cNvPr id="23" name="Rectangle 22"/>
          <p:cNvSpPr/>
          <p:nvPr/>
        </p:nvSpPr>
        <p:spPr>
          <a:xfrm>
            <a:off x="682736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100</a:t>
            </a:r>
          </a:p>
        </p:txBody>
      </p:sp>
      <p:sp>
        <p:nvSpPr>
          <p:cNvPr id="24" name="Rectangle 23"/>
          <p:cNvSpPr/>
          <p:nvPr/>
        </p:nvSpPr>
        <p:spPr>
          <a:xfrm>
            <a:off x="6827367" y="3217773"/>
            <a:ext cx="2286000" cy="548640"/>
          </a:xfrm>
          <a:prstGeom prst="rect">
            <a:avLst/>
          </a:prstGeom>
          <a:solidFill>
            <a:srgbClr val="F6E8C9"/>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dirty="0">
                <a:solidFill>
                  <a:srgbClr val="0B2B4E"/>
                </a:solidFill>
                <a:latin typeface="Calibri"/>
              </a:rPr>
              <a:t>40</a:t>
            </a:r>
          </a:p>
        </p:txBody>
      </p:sp>
      <p:sp>
        <p:nvSpPr>
          <p:cNvPr id="25" name="Rectangle 24"/>
          <p:cNvSpPr/>
          <p:nvPr/>
        </p:nvSpPr>
        <p:spPr>
          <a:xfrm>
            <a:off x="682736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140</a:t>
            </a:r>
          </a:p>
        </p:txBody>
      </p:sp>
      <p:sp>
        <p:nvSpPr>
          <p:cNvPr id="26" name="Rectangle 25"/>
          <p:cNvSpPr/>
          <p:nvPr/>
        </p:nvSpPr>
        <p:spPr>
          <a:xfrm>
            <a:off x="682736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dirty="0">
                <a:solidFill>
                  <a:srgbClr val="0B2B4E"/>
                </a:solidFill>
                <a:latin typeface="Calibri"/>
              </a:rPr>
              <a:t>+10</a:t>
            </a:r>
          </a:p>
        </p:txBody>
      </p:sp>
      <p:sp>
        <p:nvSpPr>
          <p:cNvPr id="27" name="Rectangle 26"/>
          <p:cNvSpPr/>
          <p:nvPr/>
        </p:nvSpPr>
        <p:spPr>
          <a:xfrm>
            <a:off x="682736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Make the film!</a:t>
            </a:r>
          </a:p>
        </p:txBody>
      </p:sp>
      <p:sp>
        <p:nvSpPr>
          <p:cNvPr id="28" name="Rectangle 27"/>
          <p:cNvSpPr/>
          <p:nvPr/>
        </p:nvSpPr>
        <p:spPr>
          <a:xfrm>
            <a:off x="920480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December 1994</a:t>
            </a:r>
          </a:p>
        </p:txBody>
      </p:sp>
      <p:sp>
        <p:nvSpPr>
          <p:cNvPr id="29" name="Rectangle 28"/>
          <p:cNvSpPr/>
          <p:nvPr/>
        </p:nvSpPr>
        <p:spPr>
          <a:xfrm>
            <a:off x="920480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150</a:t>
            </a:r>
          </a:p>
        </p:txBody>
      </p:sp>
      <p:sp>
        <p:nvSpPr>
          <p:cNvPr id="30" name="Rectangle 29"/>
          <p:cNvSpPr/>
          <p:nvPr/>
        </p:nvSpPr>
        <p:spPr>
          <a:xfrm>
            <a:off x="920480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140</a:t>
            </a:r>
          </a:p>
        </p:txBody>
      </p:sp>
      <p:sp>
        <p:nvSpPr>
          <p:cNvPr id="31" name="Rectangle 30"/>
          <p:cNvSpPr/>
          <p:nvPr/>
        </p:nvSpPr>
        <p:spPr>
          <a:xfrm>
            <a:off x="9204807" y="3217773"/>
            <a:ext cx="2286000" cy="548640"/>
          </a:xfrm>
          <a:prstGeom prst="rect">
            <a:avLst/>
          </a:prstGeom>
          <a:solidFill>
            <a:srgbClr val="F6E8C9"/>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35</a:t>
            </a:r>
          </a:p>
        </p:txBody>
      </p:sp>
      <p:sp>
        <p:nvSpPr>
          <p:cNvPr id="32" name="Rectangle 31"/>
          <p:cNvSpPr/>
          <p:nvPr/>
        </p:nvSpPr>
        <p:spPr>
          <a:xfrm>
            <a:off x="920480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175</a:t>
            </a:r>
          </a:p>
        </p:txBody>
      </p:sp>
      <p:sp>
        <p:nvSpPr>
          <p:cNvPr id="33" name="Rectangle 32"/>
          <p:cNvSpPr/>
          <p:nvPr/>
        </p:nvSpPr>
        <p:spPr>
          <a:xfrm>
            <a:off x="920480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−25</a:t>
            </a:r>
          </a:p>
        </p:txBody>
      </p:sp>
      <p:sp>
        <p:nvSpPr>
          <p:cNvPr id="34" name="Rectangle 33"/>
          <p:cNvSpPr/>
          <p:nvPr/>
        </p:nvSpPr>
        <p:spPr>
          <a:xfrm>
            <a:off x="920480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Make the film!</a:t>
            </a:r>
          </a:p>
        </p:txBody>
      </p:sp>
      <p:sp>
        <p:nvSpPr>
          <p:cNvPr id="35" name="Rounded Rectangle 34"/>
          <p:cNvSpPr/>
          <p:nvPr/>
        </p:nvSpPr>
        <p:spPr>
          <a:xfrm>
            <a:off x="838047" y="5842101"/>
            <a:ext cx="1051560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dirty="0">
                <a:solidFill>
                  <a:srgbClr val="FFFFFF"/>
                </a:solidFill>
                <a:latin typeface="Calibri"/>
              </a:rPr>
              <a:t>Ignore sunk costs —  continue </a:t>
            </a:r>
            <a:r>
              <a:rPr lang="en-US" sz="1800" b="1" dirty="0">
                <a:solidFill>
                  <a:srgbClr val="FFFFFF"/>
                </a:solidFill>
                <a:latin typeface="Calibri"/>
              </a:rPr>
              <a:t>when  </a:t>
            </a:r>
            <a:r>
              <a:rPr sz="1800" b="1" dirty="0">
                <a:solidFill>
                  <a:srgbClr val="FFFFFF"/>
                </a:solidFill>
                <a:latin typeface="Calibri"/>
              </a:rPr>
              <a:t>Expected Revenue  &gt;  Expected Additional Cost</a:t>
            </a:r>
          </a:p>
        </p:txBody>
      </p: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39" name="TextBox 38"/>
          <p:cNvSpPr txBox="1"/>
          <p:nvPr/>
        </p:nvSpPr>
        <p:spPr>
          <a:xfrm>
            <a:off x="11430000" y="6583680"/>
            <a:ext cx="548640" cy="292608"/>
          </a:xfrm>
          <a:prstGeom prst="rect">
            <a:avLst/>
          </a:prstGeom>
          <a:noFill/>
        </p:spPr>
        <p:txBody>
          <a:bodyPr wrap="square" lIns="0" tIns="0" rIns="0" bIns="0">
            <a:spAutoFit/>
          </a:bodyPr>
          <a:lstStyle/>
          <a:p>
            <a:pPr algn="r"/>
            <a:fld id="{1B6F37E6-1912-4BB1-BBF5-FD49B30B09B0}" type="slidenum">
              <a:rPr sz="1200" b="0" i="0">
                <a:solidFill>
                  <a:srgbClr val="555B66"/>
                </a:solidFill>
                <a:latin typeface="Calibri"/>
              </a:rPr>
              <a:t>26</a:t>
            </a:fld>
            <a:endParaRPr sz="1200" b="0" i="0">
              <a:solidFill>
                <a:srgbClr val="555B66"/>
              </a:solidFill>
              <a:latin typeface="Calibri"/>
            </a:endParaRPr>
          </a:p>
        </p:txBody>
      </p:sp>
      <p:grpSp>
        <p:nvGrpSpPr>
          <p:cNvPr id="40" name="Group 39">
            <a:extLst>
              <a:ext uri="{FF2B5EF4-FFF2-40B4-BE49-F238E27FC236}">
                <a16:creationId xmlns:a16="http://schemas.microsoft.com/office/drawing/2014/main" id="{581E5954-56A9-CF24-8D8C-F35555B1965D}"/>
              </a:ext>
            </a:extLst>
          </p:cNvPr>
          <p:cNvGrpSpPr/>
          <p:nvPr/>
        </p:nvGrpSpPr>
        <p:grpSpPr>
          <a:xfrm>
            <a:off x="3015943" y="2027248"/>
            <a:ext cx="4467718" cy="3030047"/>
            <a:chOff x="1569484" y="1726672"/>
            <a:chExt cx="5806595" cy="4034936"/>
          </a:xfrm>
        </p:grpSpPr>
        <p:sp>
          <p:nvSpPr>
            <p:cNvPr id="41" name="Title 3">
              <a:extLst>
                <a:ext uri="{FF2B5EF4-FFF2-40B4-BE49-F238E27FC236}">
                  <a16:creationId xmlns:a16="http://schemas.microsoft.com/office/drawing/2014/main" id="{A3E20182-116A-C694-191B-4836484EBFA0}"/>
                </a:ext>
              </a:extLst>
            </p:cNvPr>
            <p:cNvSpPr txBox="1">
              <a:spLocks/>
            </p:cNvSpPr>
            <p:nvPr/>
          </p:nvSpPr>
          <p:spPr>
            <a:xfrm>
              <a:off x="1677880" y="1726672"/>
              <a:ext cx="3648722" cy="1143000"/>
            </a:xfrm>
            <a:prstGeom prst="rect">
              <a:avLst/>
            </a:prstGeom>
          </p:spPr>
          <p:txBody>
            <a:bodyPr vert="horz" lIns="91440" tIns="45720" rIns="91440" bIns="45720" rtlCol="0" anchor="ctr">
              <a:normAutofit fontScale="92500" lnSpcReduction="20000"/>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r>
                <a:rPr lang="en-US" b="1" dirty="0">
                  <a:solidFill>
                    <a:schemeClr val="bg1"/>
                  </a:solidFill>
                </a:rPr>
                <a:t>“slave colony”</a:t>
              </a:r>
            </a:p>
          </p:txBody>
        </p:sp>
        <p:pic>
          <p:nvPicPr>
            <p:cNvPr id="42" name="Picture 2" descr="Image result for waterworld slave colony">
              <a:extLst>
                <a:ext uri="{FF2B5EF4-FFF2-40B4-BE49-F238E27FC236}">
                  <a16:creationId xmlns:a16="http://schemas.microsoft.com/office/drawing/2014/main" id="{61A87F44-BB11-AAD0-9B74-EE568940D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9484" y="1892963"/>
              <a:ext cx="5806595" cy="3868645"/>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500"/>
                                        <p:tgtEl>
                                          <p:spTgt spid="40"/>
                                        </p:tgtEl>
                                      </p:cBhvr>
                                    </p:animEffect>
                                    <p:set>
                                      <p:cBhvr>
                                        <p:cTn id="77" dur="1" fill="hold">
                                          <p:stCondLst>
                                            <p:cond delay="499"/>
                                          </p:stCondLst>
                                        </p:cTn>
                                        <p:tgtEl>
                                          <p:spTgt spid="40"/>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500"/>
                                        <p:tgtEl>
                                          <p:spTgt spid="3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6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Marginal Cost in Action:  What Is the MC of a Burn60 Workout?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_burn60_workout.png"/>
          <p:cNvPicPr>
            <a:picLocks noChangeAspect="1"/>
          </p:cNvPicPr>
          <p:nvPr/>
        </p:nvPicPr>
        <p:blipFill>
          <a:blip r:embed="rId3"/>
          <a:stretch>
            <a:fillRect/>
          </a:stretch>
        </p:blipFill>
        <p:spPr>
          <a:xfrm>
            <a:off x="2596896" y="1271016"/>
            <a:ext cx="6355080" cy="5221224"/>
          </a:xfrm>
          <a:prstGeom prst="rect">
            <a:avLst/>
          </a:prstGeom>
        </p:spPr>
      </p:pic>
      <p:sp>
        <p:nvSpPr>
          <p:cNvPr id="8" name="Oval 7"/>
          <p:cNvSpPr/>
          <p:nvPr/>
        </p:nvSpPr>
        <p:spPr>
          <a:xfrm>
            <a:off x="4334256" y="4910328"/>
            <a:ext cx="2724912" cy="1380744"/>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tIns="0" rIns="0" bIns="0">
            <a:spAutoFit/>
          </a:bodyPr>
          <a:lstStyle/>
          <a:p>
            <a:pPr algn="r"/>
            <a:fld id="{DDB37B3B-D688-407E-83DD-BB6F174DC7AD}" type="slidenum">
              <a:rPr sz="1200" b="0" i="0">
                <a:solidFill>
                  <a:srgbClr val="555B66"/>
                </a:solidFill>
                <a:latin typeface="Calibri"/>
              </a:rPr>
              <a:t>27</a:t>
            </a:fld>
            <a:endParaRPr sz="1200" b="0" i="0">
              <a:solidFill>
                <a:srgbClr val="555B66"/>
              </a:solidFill>
              <a:latin typeface="Calibri"/>
            </a:endParaRPr>
          </a:p>
        </p:txBody>
      </p:sp>
      <p:grpSp>
        <p:nvGrpSpPr>
          <p:cNvPr id="15" name="PollBreakBadge"/>
          <p:cNvGrpSpPr/>
          <p:nvPr/>
        </p:nvGrpSpPr>
        <p:grpSpPr>
          <a:xfrm>
            <a:off x="9361444" y="6190030"/>
            <a:ext cx="2697480" cy="487009"/>
            <a:chOff x="9361444" y="6190030"/>
            <a:chExt cx="2697480" cy="487009"/>
          </a:xfrm>
        </p:grpSpPr>
        <p:sp>
          <p:nvSpPr>
            <p:cNvPr id="16" name="Rectangle 13"/>
            <p:cNvSpPr/>
            <p:nvPr/>
          </p:nvSpPr>
          <p:spPr>
            <a:xfrm>
              <a:off x="9361444" y="6190030"/>
              <a:ext cx="2697480" cy="487009"/>
            </a:xfrm>
            <a:custGeom>
              <a:avLst/>
              <a:gdLst/>
              <a:ahLst/>
              <a:cxnLst/>
              <a:rect l="24406" t="0" r="75594" b="100000"/>
              <a:pathLst>
                <a:path w="100000" h="100000">
                  <a:moveTo>
                    <a:pt x="29406" y="0"/>
                  </a:moveTo>
                  <a:lnTo>
                    <a:pt x="95000" y="0"/>
                  </a:lnTo>
                  <a:cubicBezTo>
                    <a:pt x="100000" y="0"/>
                    <a:pt x="100000" y="0"/>
                    <a:pt x="98780" y="5000"/>
                  </a:cubicBezTo>
                  <a:lnTo>
                    <a:pt x="76814" y="95000"/>
                  </a:lnTo>
                  <a:cubicBezTo>
                    <a:pt x="75594" y="100000"/>
                    <a:pt x="75594" y="100000"/>
                    <a:pt x="70594" y="100000"/>
                  </a:cubicBezTo>
                  <a:lnTo>
                    <a:pt x="5000" y="100000"/>
                  </a:lnTo>
                  <a:cubicBezTo>
                    <a:pt x="0" y="100000"/>
                    <a:pt x="0" y="100000"/>
                    <a:pt x="1220" y="95000"/>
                  </a:cubicBezTo>
                  <a:lnTo>
                    <a:pt x="23186" y="5000"/>
                  </a:lnTo>
                  <a:cubicBezTo>
                    <a:pt x="24406" y="0"/>
                    <a:pt x="24406" y="0"/>
                    <a:pt x="29406"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4"/>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77809E-A023-D65B-6954-53B73608D2B5}"/>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grpSp>
        <p:nvGrpSpPr>
          <p:cNvPr id="4" name="Group 3">
            <a:extLst>
              <a:ext uri="{FF2B5EF4-FFF2-40B4-BE49-F238E27FC236}">
                <a16:creationId xmlns:a16="http://schemas.microsoft.com/office/drawing/2014/main" id="{80A43398-1438-BB30-EB69-7C7761D89FC3}"/>
              </a:ext>
            </a:extLst>
          </p:cNvPr>
          <p:cNvGrpSpPr/>
          <p:nvPr/>
        </p:nvGrpSpPr>
        <p:grpSpPr>
          <a:xfrm>
            <a:off x="10366225" y="5673852"/>
            <a:ext cx="1362456" cy="466344"/>
            <a:chOff x="10577240" y="5907024"/>
            <a:chExt cx="1362456" cy="466344"/>
          </a:xfrm>
        </p:grpSpPr>
        <p:sp>
          <p:nvSpPr>
            <p:cNvPr id="5" name="Rounded Rectangle 12">
              <a:extLst>
                <a:ext uri="{FF2B5EF4-FFF2-40B4-BE49-F238E27FC236}">
                  <a16:creationId xmlns:a16="http://schemas.microsoft.com/office/drawing/2014/main" id="{59A66780-C948-D1B3-2BEA-0FC58738E4A3}"/>
                </a:ext>
              </a:extLst>
            </p:cNvPr>
            <p:cNvSpPr/>
            <p:nvPr/>
          </p:nvSpPr>
          <p:spPr>
            <a:xfrm>
              <a:off x="10577240" y="5907024"/>
              <a:ext cx="1362456"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7CC62E1-59B9-6279-B60D-F27FB50C7510}"/>
                </a:ext>
              </a:extLst>
            </p:cNvPr>
            <p:cNvSpPr txBox="1"/>
            <p:nvPr/>
          </p:nvSpPr>
          <p:spPr>
            <a:xfrm>
              <a:off x="10577240" y="5907024"/>
              <a:ext cx="1362456" cy="466344"/>
            </a:xfrm>
            <a:prstGeom prst="rect">
              <a:avLst/>
            </a:prstGeom>
            <a:noFill/>
          </p:spPr>
          <p:txBody>
            <a:bodyPr wrap="square" lIns="0" tIns="0" rIns="0" bIns="0" anchor="ctr">
              <a:spAutoFit/>
            </a:bodyPr>
            <a:lstStyle/>
            <a:p>
              <a:pPr algn="ctr"/>
              <a:r>
                <a:rPr sz="1600" b="1" i="0" dirty="0">
                  <a:solidFill>
                    <a:srgbClr val="0B2B4E"/>
                  </a:solidFill>
                  <a:latin typeface="Calibri"/>
                </a:rPr>
                <a:t>POLL</a:t>
              </a:r>
            </a:p>
          </p:txBody>
        </p:sp>
      </p:grpSp>
    </p:spTree>
    <p:extLst>
      <p:ext uri="{BB962C8B-B14F-4D97-AF65-F5344CB8AC3E}">
        <p14:creationId xmlns:p14="http://schemas.microsoft.com/office/powerpoint/2010/main" val="3920327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6 · Cost Concepts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Solution:  MC = $6 </a:t>
            </a:r>
            <a:r>
              <a:rPr lang="en-US" sz="3200" b="1" i="0" dirty="0">
                <a:solidFill>
                  <a:srgbClr val="0B2B4E"/>
                </a:solidFill>
                <a:latin typeface="Calibri"/>
              </a:rPr>
              <a:t>per</a:t>
            </a:r>
            <a:r>
              <a:rPr sz="3200" b="1" i="0" dirty="0">
                <a:solidFill>
                  <a:srgbClr val="0B2B4E"/>
                </a:solidFill>
                <a:latin typeface="Calibri"/>
              </a:rPr>
              <a:t> </a:t>
            </a:r>
            <a:r>
              <a:rPr lang="en-US" sz="3200" b="1" i="0" dirty="0">
                <a:solidFill>
                  <a:srgbClr val="0B2B4E"/>
                </a:solidFill>
                <a:latin typeface="Calibri"/>
              </a:rPr>
              <a:t>Additional </a:t>
            </a:r>
            <a:r>
              <a:rPr sz="3200" b="1" i="0" dirty="0">
                <a:solidFill>
                  <a:srgbClr val="0B2B4E"/>
                </a:solidFill>
                <a:latin typeface="Calibri"/>
              </a:rPr>
              <a:t>Session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6607" y="1783080"/>
            <a:ext cx="5120640" cy="50292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10-class pack  ($10 / class)</a:t>
            </a:r>
          </a:p>
        </p:txBody>
      </p:sp>
      <p:sp>
        <p:nvSpPr>
          <p:cNvPr id="8" name="Rectangle 7"/>
          <p:cNvSpPr/>
          <p:nvPr/>
        </p:nvSpPr>
        <p:spPr>
          <a:xfrm>
            <a:off x="746607" y="2286000"/>
            <a:ext cx="5120640" cy="822960"/>
          </a:xfrm>
          <a:prstGeom prst="roundRect">
            <a:avLst>
              <a:gd name="adj" fmla="val 8000"/>
            </a:avLst>
          </a:prstGeom>
          <a:solidFill>
            <a:srgbClr val="FFFFFF"/>
          </a:solidFill>
          <a:ln w="1905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TC  =  10 × $10  =  $100</a:t>
            </a:r>
          </a:p>
        </p:txBody>
      </p:sp>
      <p:sp>
        <p:nvSpPr>
          <p:cNvPr id="9" name="Rectangle 8"/>
          <p:cNvSpPr/>
          <p:nvPr/>
        </p:nvSpPr>
        <p:spPr>
          <a:xfrm>
            <a:off x="6324447" y="1783080"/>
            <a:ext cx="5120640" cy="502920"/>
          </a:xfrm>
          <a:prstGeom prst="roundRect">
            <a:avLst>
              <a:gd name="adj" fmla="val 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B2B4E"/>
                </a:solidFill>
                <a:latin typeface="Calibri"/>
              </a:rPr>
              <a:t>20-class pack  ($8 / class)</a:t>
            </a:r>
          </a:p>
        </p:txBody>
      </p:sp>
      <p:sp>
        <p:nvSpPr>
          <p:cNvPr id="10" name="Rectangle 9"/>
          <p:cNvSpPr/>
          <p:nvPr/>
        </p:nvSpPr>
        <p:spPr>
          <a:xfrm>
            <a:off x="6324447" y="2286000"/>
            <a:ext cx="5120640" cy="822960"/>
          </a:xfrm>
          <a:prstGeom prst="roundRect">
            <a:avLst>
              <a:gd name="adj" fmla="val 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TC  =  20 × $8  =  $160</a:t>
            </a:r>
          </a:p>
        </p:txBody>
      </p:sp>
      <p:sp>
        <p:nvSpPr>
          <p:cNvPr id="11" name="TextBox 10"/>
          <p:cNvSpPr txBox="1"/>
          <p:nvPr/>
        </p:nvSpPr>
        <p:spPr>
          <a:xfrm>
            <a:off x="251999" y="3383280"/>
            <a:ext cx="11687697" cy="457200"/>
          </a:xfrm>
          <a:prstGeom prst="rect">
            <a:avLst/>
          </a:prstGeom>
          <a:noFill/>
        </p:spPr>
        <p:txBody>
          <a:bodyPr wrap="square" lIns="0" tIns="0" rIns="0" bIns="0">
            <a:spAutoFit/>
          </a:bodyPr>
          <a:lstStyle/>
          <a:p>
            <a:pPr algn="ctr"/>
            <a:r>
              <a:rPr sz="2800" b="0" i="1">
                <a:solidFill>
                  <a:srgbClr val="555B66"/>
                </a:solidFill>
                <a:latin typeface="Calibri"/>
              </a:rPr>
              <a:t>Marginal cost of each additional session beyond the 10th:</a:t>
            </a:r>
          </a:p>
        </p:txBody>
      </p:sp>
      <p:sp>
        <p:nvSpPr>
          <p:cNvPr id="12" name="Rectangle 11"/>
          <p:cNvSpPr/>
          <p:nvPr/>
        </p:nvSpPr>
        <p:spPr>
          <a:xfrm>
            <a:off x="2209647" y="3886200"/>
            <a:ext cx="7772400" cy="91440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latin typeface="Calibri"/>
              </a:rPr>
              <a:t>MC  =  ($160 − $100) / 10  =  $6 / session</a:t>
            </a:r>
          </a:p>
        </p:txBody>
      </p:sp>
      <p:sp>
        <p:nvSpPr>
          <p:cNvPr id="13" name="TextBox 12"/>
          <p:cNvSpPr txBox="1"/>
          <p:nvPr/>
        </p:nvSpPr>
        <p:spPr>
          <a:xfrm>
            <a:off x="251999" y="5029200"/>
            <a:ext cx="11687697" cy="457200"/>
          </a:xfrm>
          <a:prstGeom prst="rect">
            <a:avLst/>
          </a:prstGeom>
          <a:noFill/>
        </p:spPr>
        <p:txBody>
          <a:bodyPr wrap="square" lIns="0" tIns="0" rIns="0" bIns="0">
            <a:spAutoFit/>
          </a:bodyPr>
          <a:lstStyle/>
          <a:p>
            <a:pPr algn="ctr"/>
            <a:r>
              <a:rPr sz="1800" b="0" i="1" dirty="0">
                <a:solidFill>
                  <a:srgbClr val="0B2B4E"/>
                </a:solidFill>
                <a:latin typeface="Calibri"/>
              </a:rPr>
              <a:t>Bigger discount than the sticker:  the first 10 sessions also drop from $10 → $8</a:t>
            </a:r>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8" name="TextBox 17"/>
          <p:cNvSpPr txBox="1"/>
          <p:nvPr/>
        </p:nvSpPr>
        <p:spPr>
          <a:xfrm>
            <a:off x="11430000" y="6583680"/>
            <a:ext cx="548640" cy="292608"/>
          </a:xfrm>
          <a:prstGeom prst="rect">
            <a:avLst/>
          </a:prstGeom>
          <a:noFill/>
        </p:spPr>
        <p:txBody>
          <a:bodyPr wrap="square" lIns="0" tIns="0" rIns="0" bIns="0">
            <a:spAutoFit/>
          </a:bodyPr>
          <a:lstStyle/>
          <a:p>
            <a:pPr algn="r"/>
            <a:fld id="{DEFF6A02-20AB-4923-A937-711A5143CA3A}" type="slidenum">
              <a:rPr sz="1200" b="0" i="0">
                <a:solidFill>
                  <a:srgbClr val="555B66"/>
                </a:solidFill>
                <a:latin typeface="Calibri"/>
              </a:rPr>
              <a:t>29</a:t>
            </a:fld>
            <a:endParaRPr sz="1200" b="0" i="0">
              <a:solidFill>
                <a:srgbClr val="555B66"/>
              </a:solidFill>
              <a:latin typeface="Calibri"/>
            </a:endParaRPr>
          </a:p>
        </p:txBody>
      </p:sp>
      <p:grpSp>
        <p:nvGrpSpPr>
          <p:cNvPr id="19" name="PollBreakBadge"/>
          <p:cNvGrpSpPr/>
          <p:nvPr/>
        </p:nvGrpSpPr>
        <p:grpSpPr>
          <a:xfrm>
            <a:off x="9361444" y="6190030"/>
            <a:ext cx="2697480" cy="487009"/>
            <a:chOff x="9361444" y="6190030"/>
            <a:chExt cx="2697480" cy="487009"/>
          </a:xfrm>
        </p:grpSpPr>
        <p:sp>
          <p:nvSpPr>
            <p:cNvPr id="20" name="Rectangle 13"/>
            <p:cNvSpPr/>
            <p:nvPr/>
          </p:nvSpPr>
          <p:spPr>
            <a:xfrm>
              <a:off x="9361444" y="6190030"/>
              <a:ext cx="2697480" cy="487009"/>
            </a:xfrm>
            <a:custGeom>
              <a:avLst/>
              <a:gdLst/>
              <a:ahLst/>
              <a:cxnLst/>
              <a:rect l="24406" t="0" r="75594" b="100000"/>
              <a:pathLst>
                <a:path w="100000" h="100000">
                  <a:moveTo>
                    <a:pt x="29406" y="0"/>
                  </a:moveTo>
                  <a:lnTo>
                    <a:pt x="95000" y="0"/>
                  </a:lnTo>
                  <a:cubicBezTo>
                    <a:pt x="100000" y="0"/>
                    <a:pt x="100000" y="0"/>
                    <a:pt x="98780" y="5000"/>
                  </a:cubicBezTo>
                  <a:lnTo>
                    <a:pt x="76814" y="95000"/>
                  </a:lnTo>
                  <a:cubicBezTo>
                    <a:pt x="75594" y="100000"/>
                    <a:pt x="75594" y="100000"/>
                    <a:pt x="70594" y="100000"/>
                  </a:cubicBezTo>
                  <a:lnTo>
                    <a:pt x="5000" y="100000"/>
                  </a:lnTo>
                  <a:cubicBezTo>
                    <a:pt x="0" y="100000"/>
                    <a:pt x="0" y="100000"/>
                    <a:pt x="1220" y="95000"/>
                  </a:cubicBezTo>
                  <a:lnTo>
                    <a:pt x="23186" y="5000"/>
                  </a:lnTo>
                  <a:cubicBezTo>
                    <a:pt x="24406" y="0"/>
                    <a:pt x="24406" y="0"/>
                    <a:pt x="29406"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14"/>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6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Marginal Cost in Finance:  The True Rate on a Bigger Loan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20927" y="1417320"/>
            <a:ext cx="4389120" cy="502920"/>
          </a:xfrm>
          <a:prstGeom prst="roundRect">
            <a:avLst>
              <a:gd name="adj" fmla="val 2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Option 1</a:t>
            </a:r>
          </a:p>
        </p:txBody>
      </p:sp>
      <p:sp>
        <p:nvSpPr>
          <p:cNvPr id="8" name="Rounded Rectangle 7"/>
          <p:cNvSpPr/>
          <p:nvPr/>
        </p:nvSpPr>
        <p:spPr>
          <a:xfrm>
            <a:off x="1020927" y="1920240"/>
            <a:ext cx="4389120" cy="3017520"/>
          </a:xfrm>
          <a:prstGeom prst="roundRect">
            <a:avLst>
              <a:gd name="adj" fmla="val 4000"/>
            </a:avLst>
          </a:prstGeom>
          <a:solidFill>
            <a:srgbClr val="FFFFFF"/>
          </a:solidFill>
          <a:ln w="952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Isosceles Triangle 8"/>
          <p:cNvSpPr/>
          <p:nvPr/>
        </p:nvSpPr>
        <p:spPr>
          <a:xfrm>
            <a:off x="1249527" y="2194560"/>
            <a:ext cx="640080" cy="256032"/>
          </a:xfrm>
          <a:prstGeom prst="triangle">
            <a:avLst/>
          </a:prstGeom>
          <a:solidFill>
            <a:srgbClr val="0B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295247" y="2432304"/>
            <a:ext cx="548640" cy="310896"/>
          </a:xfrm>
          <a:prstGeom prst="rect">
            <a:avLst/>
          </a:prstGeom>
          <a:solidFill>
            <a:srgbClr val="0B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81047" y="2103120"/>
            <a:ext cx="3291840" cy="457200"/>
          </a:xfrm>
          <a:prstGeom prst="rect">
            <a:avLst/>
          </a:prstGeom>
          <a:noFill/>
        </p:spPr>
        <p:txBody>
          <a:bodyPr wrap="square" lIns="0" tIns="0" rIns="0" bIns="0">
            <a:spAutoFit/>
          </a:bodyPr>
          <a:lstStyle/>
          <a:p>
            <a:pPr algn="l"/>
            <a:r>
              <a:rPr sz="2800" b="1" i="0">
                <a:solidFill>
                  <a:srgbClr val="0B2B4E"/>
                </a:solidFill>
                <a:latin typeface="Calibri"/>
              </a:rPr>
              <a:t>$100k loan</a:t>
            </a:r>
          </a:p>
        </p:txBody>
      </p:sp>
      <p:sp>
        <p:nvSpPr>
          <p:cNvPr id="12" name="TextBox 11"/>
          <p:cNvSpPr txBox="1"/>
          <p:nvPr/>
        </p:nvSpPr>
        <p:spPr>
          <a:xfrm>
            <a:off x="1981047" y="2578608"/>
            <a:ext cx="3291840" cy="411480"/>
          </a:xfrm>
          <a:prstGeom prst="rect">
            <a:avLst/>
          </a:prstGeom>
          <a:noFill/>
        </p:spPr>
        <p:txBody>
          <a:bodyPr wrap="square" lIns="0" tIns="0" rIns="0" bIns="0">
            <a:spAutoFit/>
          </a:bodyPr>
          <a:lstStyle/>
          <a:p>
            <a:pPr algn="l"/>
            <a:r>
              <a:rPr sz="2200" b="0" i="1">
                <a:solidFill>
                  <a:srgbClr val="0B2B4E"/>
                </a:solidFill>
                <a:latin typeface="Calibri"/>
              </a:rPr>
              <a:t>at 5% annual interest</a:t>
            </a:r>
          </a:p>
        </p:txBody>
      </p:sp>
      <p:sp>
        <p:nvSpPr>
          <p:cNvPr id="13" name="Rectangle 12"/>
          <p:cNvSpPr/>
          <p:nvPr/>
        </p:nvSpPr>
        <p:spPr>
          <a:xfrm>
            <a:off x="1249527" y="3154680"/>
            <a:ext cx="3931920" cy="10972"/>
          </a:xfrm>
          <a:prstGeom prst="rect">
            <a:avLst/>
          </a:prstGeom>
          <a:solidFill>
            <a:srgbClr val="C8CD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276959" y="3337560"/>
            <a:ext cx="365760" cy="365760"/>
          </a:xfrm>
          <a:prstGeom prst="ellipse">
            <a:avLst/>
          </a:prstGeom>
          <a:solidFill>
            <a:srgbClr val="FFFFFF"/>
          </a:solidFill>
          <a:ln w="15875">
            <a:solidFill>
              <a:srgbClr val="0B2B4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dirty="0">
                <a:solidFill>
                  <a:srgbClr val="0B2B4E"/>
                </a:solidFill>
                <a:latin typeface="Calibri"/>
              </a:rPr>
              <a:t>%</a:t>
            </a:r>
          </a:p>
        </p:txBody>
      </p:sp>
      <p:sp>
        <p:nvSpPr>
          <p:cNvPr id="15" name="Rectangle 14"/>
          <p:cNvSpPr/>
          <p:nvPr/>
        </p:nvSpPr>
        <p:spPr>
          <a:xfrm>
            <a:off x="1752447" y="3291840"/>
            <a:ext cx="34290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0" tIns="0" rIns="45720" bIns="0" rtlCol="0" anchor="ctr"/>
          <a:lstStyle/>
          <a:p>
            <a:pPr algn="l">
              <a:tabLst>
                <a:tab pos="3429000" algn="r"/>
              </a:tabLst>
            </a:pPr>
            <a:r>
              <a:rPr sz="2000" dirty="0">
                <a:solidFill>
                  <a:srgbClr val="0B2B4E"/>
                </a:solidFill>
                <a:latin typeface="Calibri"/>
              </a:rPr>
              <a:t>Annual interest</a:t>
            </a:r>
            <a:r>
              <a:rPr sz="2000" b="1" dirty="0">
                <a:solidFill>
                  <a:srgbClr val="0B2B4E"/>
                </a:solidFill>
                <a:latin typeface="Calibri"/>
              </a:rPr>
              <a:t>	$5,000</a:t>
            </a:r>
          </a:p>
        </p:txBody>
      </p:sp>
      <p:sp>
        <p:nvSpPr>
          <p:cNvPr id="16" name="Oval 15"/>
          <p:cNvSpPr/>
          <p:nvPr/>
        </p:nvSpPr>
        <p:spPr>
          <a:xfrm>
            <a:off x="1276959" y="3886200"/>
            <a:ext cx="365760" cy="365760"/>
          </a:xfrm>
          <a:prstGeom prst="ellipse">
            <a:avLst/>
          </a:prstGeom>
          <a:solidFill>
            <a:srgbClr val="FFFFFF"/>
          </a:solidFill>
          <a:ln w="15875">
            <a:solidFill>
              <a:srgbClr val="0B2B4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dirty="0">
                <a:solidFill>
                  <a:srgbClr val="0B2B4E"/>
                </a:solidFill>
                <a:latin typeface="Calibri"/>
              </a:rPr>
              <a:t>≡</a:t>
            </a:r>
          </a:p>
        </p:txBody>
      </p:sp>
      <p:sp>
        <p:nvSpPr>
          <p:cNvPr id="17" name="Rectangle 16"/>
          <p:cNvSpPr/>
          <p:nvPr/>
        </p:nvSpPr>
        <p:spPr>
          <a:xfrm>
            <a:off x="1752447" y="3840480"/>
            <a:ext cx="34290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0" tIns="0" rIns="45720" bIns="0" rtlCol="0" anchor="ctr"/>
          <a:lstStyle/>
          <a:p>
            <a:pPr algn="l">
              <a:tabLst>
                <a:tab pos="3429000" algn="r"/>
              </a:tabLst>
            </a:pPr>
            <a:r>
              <a:rPr sz="2000">
                <a:solidFill>
                  <a:srgbClr val="0B2B4E"/>
                </a:solidFill>
                <a:latin typeface="Calibri"/>
              </a:rPr>
              <a:t>Total loan amount</a:t>
            </a:r>
            <a:r>
              <a:rPr sz="2000" b="1">
                <a:solidFill>
                  <a:srgbClr val="0B2B4E"/>
                </a:solidFill>
                <a:latin typeface="Calibri"/>
              </a:rPr>
              <a:t>	$100,000</a:t>
            </a:r>
          </a:p>
        </p:txBody>
      </p:sp>
      <p:sp>
        <p:nvSpPr>
          <p:cNvPr id="18" name="Oval 17"/>
          <p:cNvSpPr/>
          <p:nvPr/>
        </p:nvSpPr>
        <p:spPr>
          <a:xfrm>
            <a:off x="1276959" y="4434840"/>
            <a:ext cx="365760" cy="365760"/>
          </a:xfrm>
          <a:prstGeom prst="ellipse">
            <a:avLst/>
          </a:prstGeom>
          <a:solidFill>
            <a:srgbClr val="FFFFFF"/>
          </a:solidFill>
          <a:ln w="15875">
            <a:solidFill>
              <a:srgbClr val="0B2B4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dirty="0">
                <a:solidFill>
                  <a:srgbClr val="0B2B4E"/>
                </a:solidFill>
                <a:latin typeface="Calibri"/>
              </a:rPr>
              <a:t>$</a:t>
            </a:r>
          </a:p>
        </p:txBody>
      </p:sp>
      <p:sp>
        <p:nvSpPr>
          <p:cNvPr id="19" name="Rectangle 18"/>
          <p:cNvSpPr/>
          <p:nvPr/>
        </p:nvSpPr>
        <p:spPr>
          <a:xfrm>
            <a:off x="1752447" y="4389120"/>
            <a:ext cx="34290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0" tIns="0" rIns="45720" bIns="0" rtlCol="0" anchor="ctr"/>
          <a:lstStyle/>
          <a:p>
            <a:pPr algn="l">
              <a:tabLst>
                <a:tab pos="3429000" algn="r"/>
              </a:tabLst>
            </a:pPr>
            <a:r>
              <a:rPr sz="2000">
                <a:solidFill>
                  <a:srgbClr val="0B2B4E"/>
                </a:solidFill>
                <a:latin typeface="Calibri"/>
              </a:rPr>
              <a:t>Annual interest cost</a:t>
            </a:r>
            <a:r>
              <a:rPr sz="2000" b="1">
                <a:solidFill>
                  <a:srgbClr val="0B2B4E"/>
                </a:solidFill>
                <a:latin typeface="Calibri"/>
              </a:rPr>
              <a:t>	$5,000</a:t>
            </a:r>
          </a:p>
        </p:txBody>
      </p:sp>
      <p:grpSp>
        <p:nvGrpSpPr>
          <p:cNvPr id="41" name="Group 40">
            <a:extLst>
              <a:ext uri="{FF2B5EF4-FFF2-40B4-BE49-F238E27FC236}">
                <a16:creationId xmlns:a16="http://schemas.microsoft.com/office/drawing/2014/main" id="{64F4EEDA-0AB8-8408-7CA6-E4E8D72642B9}"/>
              </a:ext>
            </a:extLst>
          </p:cNvPr>
          <p:cNvGrpSpPr/>
          <p:nvPr/>
        </p:nvGrpSpPr>
        <p:grpSpPr>
          <a:xfrm>
            <a:off x="6781647" y="1417320"/>
            <a:ext cx="4389120" cy="3520440"/>
            <a:chOff x="6781647" y="1417320"/>
            <a:chExt cx="4389120" cy="3520440"/>
          </a:xfrm>
        </p:grpSpPr>
        <p:sp>
          <p:nvSpPr>
            <p:cNvPr id="20" name="Rounded Rectangle 19"/>
            <p:cNvSpPr/>
            <p:nvPr/>
          </p:nvSpPr>
          <p:spPr>
            <a:xfrm>
              <a:off x="6781647" y="1417320"/>
              <a:ext cx="4389120" cy="502920"/>
            </a:xfrm>
            <a:prstGeom prst="roundRect">
              <a:avLst>
                <a:gd name="adj" fmla="val 2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Option 2</a:t>
              </a:r>
            </a:p>
          </p:txBody>
        </p:sp>
        <p:sp>
          <p:nvSpPr>
            <p:cNvPr id="21" name="Rounded Rectangle 20"/>
            <p:cNvSpPr/>
            <p:nvPr/>
          </p:nvSpPr>
          <p:spPr>
            <a:xfrm>
              <a:off x="6781647" y="1920240"/>
              <a:ext cx="4389120" cy="3017520"/>
            </a:xfrm>
            <a:prstGeom prst="roundRect">
              <a:avLst>
                <a:gd name="adj" fmla="val 4000"/>
              </a:avLst>
            </a:prstGeom>
            <a:solidFill>
              <a:srgbClr val="FFFFFF"/>
            </a:solidFill>
            <a:ln w="952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a:off x="7010247" y="2194560"/>
              <a:ext cx="640080" cy="256032"/>
            </a:xfrm>
            <a:prstGeom prst="triangle">
              <a:avLst/>
            </a:prstGeom>
            <a:solidFill>
              <a:srgbClr val="0B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055967" y="2432304"/>
              <a:ext cx="548640" cy="310896"/>
            </a:xfrm>
            <a:prstGeom prst="rect">
              <a:avLst/>
            </a:prstGeom>
            <a:solidFill>
              <a:srgbClr val="0B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41767" y="2103120"/>
              <a:ext cx="3291840" cy="457200"/>
            </a:xfrm>
            <a:prstGeom prst="rect">
              <a:avLst/>
            </a:prstGeom>
            <a:noFill/>
          </p:spPr>
          <p:txBody>
            <a:bodyPr wrap="square" lIns="0" tIns="0" rIns="0" bIns="0">
              <a:spAutoFit/>
            </a:bodyPr>
            <a:lstStyle/>
            <a:p>
              <a:pPr algn="l"/>
              <a:r>
                <a:rPr sz="2800" b="1" i="0">
                  <a:solidFill>
                    <a:srgbClr val="0B2B4E"/>
                  </a:solidFill>
                  <a:latin typeface="Calibri"/>
                </a:rPr>
                <a:t>$110k loan</a:t>
              </a:r>
            </a:p>
          </p:txBody>
        </p:sp>
        <p:sp>
          <p:nvSpPr>
            <p:cNvPr id="25" name="TextBox 24"/>
            <p:cNvSpPr txBox="1"/>
            <p:nvPr/>
          </p:nvSpPr>
          <p:spPr>
            <a:xfrm>
              <a:off x="7741767" y="2578608"/>
              <a:ext cx="3291840" cy="411480"/>
            </a:xfrm>
            <a:prstGeom prst="rect">
              <a:avLst/>
            </a:prstGeom>
            <a:noFill/>
          </p:spPr>
          <p:txBody>
            <a:bodyPr wrap="square" lIns="0" tIns="0" rIns="0" bIns="0">
              <a:spAutoFit/>
            </a:bodyPr>
            <a:lstStyle/>
            <a:p>
              <a:pPr algn="l"/>
              <a:r>
                <a:rPr sz="2200" b="0" i="1">
                  <a:solidFill>
                    <a:srgbClr val="0B2B4E"/>
                  </a:solidFill>
                  <a:latin typeface="Calibri"/>
                </a:rPr>
                <a:t>at 6% annual interest</a:t>
              </a:r>
            </a:p>
          </p:txBody>
        </p:sp>
      </p:grpSp>
      <p:sp>
        <p:nvSpPr>
          <p:cNvPr id="26" name="Rectangle 25"/>
          <p:cNvSpPr/>
          <p:nvPr/>
        </p:nvSpPr>
        <p:spPr>
          <a:xfrm>
            <a:off x="7010247" y="3154680"/>
            <a:ext cx="3931920" cy="10972"/>
          </a:xfrm>
          <a:prstGeom prst="rect">
            <a:avLst/>
          </a:prstGeom>
          <a:solidFill>
            <a:srgbClr val="C8CD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037679" y="3337560"/>
            <a:ext cx="365760" cy="365760"/>
          </a:xfrm>
          <a:prstGeom prst="ellipse">
            <a:avLst/>
          </a:prstGeom>
          <a:solidFill>
            <a:srgbClr val="FFFFFF"/>
          </a:solidFill>
          <a:ln w="15875">
            <a:solidFill>
              <a:srgbClr val="0B2B4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dirty="0">
                <a:solidFill>
                  <a:srgbClr val="0B2B4E"/>
                </a:solidFill>
                <a:latin typeface="Calibri"/>
              </a:rPr>
              <a:t>%</a:t>
            </a:r>
          </a:p>
        </p:txBody>
      </p:sp>
      <p:sp>
        <p:nvSpPr>
          <p:cNvPr id="28" name="Rectangle 27"/>
          <p:cNvSpPr/>
          <p:nvPr/>
        </p:nvSpPr>
        <p:spPr>
          <a:xfrm>
            <a:off x="7513167" y="3291840"/>
            <a:ext cx="34290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0" tIns="0" rIns="45720" bIns="0" rtlCol="0" anchor="ctr"/>
          <a:lstStyle/>
          <a:p>
            <a:pPr algn="l">
              <a:tabLst>
                <a:tab pos="3429000" algn="r"/>
              </a:tabLst>
            </a:pPr>
            <a:r>
              <a:rPr sz="2000">
                <a:solidFill>
                  <a:srgbClr val="0B2B4E"/>
                </a:solidFill>
                <a:latin typeface="Calibri"/>
              </a:rPr>
              <a:t>Annual interest</a:t>
            </a:r>
            <a:r>
              <a:rPr sz="2000" b="1">
                <a:solidFill>
                  <a:srgbClr val="0B2B4E"/>
                </a:solidFill>
                <a:latin typeface="Calibri"/>
              </a:rPr>
              <a:t>	$6,600</a:t>
            </a:r>
          </a:p>
        </p:txBody>
      </p:sp>
      <p:sp>
        <p:nvSpPr>
          <p:cNvPr id="29" name="Oval 28"/>
          <p:cNvSpPr/>
          <p:nvPr/>
        </p:nvSpPr>
        <p:spPr>
          <a:xfrm>
            <a:off x="7037679" y="3886200"/>
            <a:ext cx="365760" cy="365760"/>
          </a:xfrm>
          <a:prstGeom prst="ellipse">
            <a:avLst/>
          </a:prstGeom>
          <a:solidFill>
            <a:srgbClr val="FFFFFF"/>
          </a:solidFill>
          <a:ln w="15875">
            <a:solidFill>
              <a:srgbClr val="0B2B4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B2B4E"/>
                </a:solidFill>
                <a:latin typeface="Calibri"/>
              </a:rPr>
              <a:t>≡</a:t>
            </a:r>
          </a:p>
        </p:txBody>
      </p:sp>
      <p:sp>
        <p:nvSpPr>
          <p:cNvPr id="30" name="Rectangle 29"/>
          <p:cNvSpPr/>
          <p:nvPr/>
        </p:nvSpPr>
        <p:spPr>
          <a:xfrm>
            <a:off x="7513167" y="3840480"/>
            <a:ext cx="34290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0" tIns="0" rIns="45720" bIns="0" rtlCol="0" anchor="ctr"/>
          <a:lstStyle/>
          <a:p>
            <a:pPr algn="l">
              <a:tabLst>
                <a:tab pos="3429000" algn="r"/>
              </a:tabLst>
            </a:pPr>
            <a:r>
              <a:rPr sz="2000">
                <a:solidFill>
                  <a:srgbClr val="0B2B4E"/>
                </a:solidFill>
                <a:latin typeface="Calibri"/>
              </a:rPr>
              <a:t>Total loan amount</a:t>
            </a:r>
            <a:r>
              <a:rPr sz="2000" b="1">
                <a:solidFill>
                  <a:srgbClr val="0B2B4E"/>
                </a:solidFill>
                <a:latin typeface="Calibri"/>
              </a:rPr>
              <a:t>	$110,000</a:t>
            </a:r>
          </a:p>
        </p:txBody>
      </p:sp>
      <p:sp>
        <p:nvSpPr>
          <p:cNvPr id="31" name="Oval 30"/>
          <p:cNvSpPr/>
          <p:nvPr/>
        </p:nvSpPr>
        <p:spPr>
          <a:xfrm>
            <a:off x="7037679" y="4434840"/>
            <a:ext cx="365760" cy="365760"/>
          </a:xfrm>
          <a:prstGeom prst="ellipse">
            <a:avLst/>
          </a:prstGeom>
          <a:solidFill>
            <a:srgbClr val="FFFFFF"/>
          </a:solidFill>
          <a:ln w="15875">
            <a:solidFill>
              <a:srgbClr val="0B2B4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dirty="0">
                <a:solidFill>
                  <a:srgbClr val="0B2B4E"/>
                </a:solidFill>
                <a:latin typeface="Calibri"/>
              </a:rPr>
              <a:t>$</a:t>
            </a:r>
          </a:p>
        </p:txBody>
      </p:sp>
      <p:sp>
        <p:nvSpPr>
          <p:cNvPr id="32" name="Rectangle 31"/>
          <p:cNvSpPr/>
          <p:nvPr/>
        </p:nvSpPr>
        <p:spPr>
          <a:xfrm>
            <a:off x="7513167" y="4389120"/>
            <a:ext cx="34290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0" tIns="0" rIns="45720" bIns="0" rtlCol="0" anchor="ctr"/>
          <a:lstStyle/>
          <a:p>
            <a:pPr algn="l">
              <a:tabLst>
                <a:tab pos="3429000" algn="r"/>
              </a:tabLst>
            </a:pPr>
            <a:r>
              <a:rPr sz="2000">
                <a:solidFill>
                  <a:srgbClr val="0B2B4E"/>
                </a:solidFill>
                <a:latin typeface="Calibri"/>
              </a:rPr>
              <a:t>Annual interest cost</a:t>
            </a:r>
            <a:r>
              <a:rPr sz="2000" b="1">
                <a:solidFill>
                  <a:srgbClr val="0B2B4E"/>
                </a:solidFill>
                <a:latin typeface="Calibri"/>
              </a:rPr>
              <a:t>	$6,600</a:t>
            </a:r>
          </a:p>
        </p:txBody>
      </p:sp>
      <p:sp>
        <p:nvSpPr>
          <p:cNvPr id="33" name="TextBox 32"/>
          <p:cNvSpPr txBox="1"/>
          <p:nvPr/>
        </p:nvSpPr>
        <p:spPr>
          <a:xfrm>
            <a:off x="5410047" y="2011680"/>
            <a:ext cx="1371600" cy="457200"/>
          </a:xfrm>
          <a:prstGeom prst="rect">
            <a:avLst/>
          </a:prstGeom>
          <a:noFill/>
        </p:spPr>
        <p:txBody>
          <a:bodyPr wrap="square" lIns="0" tIns="0" rIns="0" bIns="0">
            <a:spAutoFit/>
          </a:bodyPr>
          <a:lstStyle/>
          <a:p>
            <a:pPr algn="ctr"/>
            <a:r>
              <a:rPr sz="2400" b="1" i="0">
                <a:solidFill>
                  <a:srgbClr val="C00000"/>
                </a:solidFill>
                <a:latin typeface="Calibri"/>
              </a:rPr>
              <a:t>Extra $10k</a:t>
            </a:r>
          </a:p>
        </p:txBody>
      </p:sp>
      <p:cxnSp>
        <p:nvCxnSpPr>
          <p:cNvPr id="34" name="Connector 33"/>
          <p:cNvCxnSpPr/>
          <p:nvPr/>
        </p:nvCxnSpPr>
        <p:spPr>
          <a:xfrm>
            <a:off x="5501487" y="2606040"/>
            <a:ext cx="1225296" cy="0"/>
          </a:xfrm>
          <a:prstGeom prst="line">
            <a:avLst/>
          </a:prstGeom>
          <a:ln w="50800">
            <a:solidFill>
              <a:srgbClr val="C00000"/>
            </a:solidFill>
            <a:prstDash val="dash"/>
            <a:tailEnd type="triangle" w="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158087" y="4983480"/>
            <a:ext cx="9875520" cy="914400"/>
          </a:xfrm>
          <a:prstGeom prst="roundRect">
            <a:avLst>
              <a:gd name="adj" fmla="val 18000"/>
            </a:avLst>
          </a:prstGeom>
          <a:solidFill>
            <a:srgbClr val="FDF6E6"/>
          </a:solidFill>
          <a:ln w="9525">
            <a:solidFill>
              <a:srgbClr val="C00000"/>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274320" tIns="91440" rIns="182880" rtlCol="0" anchor="ctr"/>
          <a:lstStyle/>
          <a:p>
            <a:pPr algn="ctr"/>
            <a:r>
              <a:rPr sz="2600" b="1" dirty="0">
                <a:solidFill>
                  <a:srgbClr val="C00000"/>
                </a:solidFill>
                <a:latin typeface="Calibri"/>
              </a:rPr>
              <a:t>What is the marginal interest rate on the additional $10k?</a:t>
            </a:r>
          </a:p>
          <a:p>
            <a:pPr algn="ctr"/>
            <a:r>
              <a:rPr sz="2400" b="1" dirty="0">
                <a:solidFill>
                  <a:srgbClr val="0B2B4E"/>
                </a:solidFill>
                <a:latin typeface="Calibri"/>
              </a:rPr>
              <a:t>($6,600 − $5,000) / $10,000 = 16%</a:t>
            </a:r>
          </a:p>
        </p:txBody>
      </p:sp>
      <p:sp>
        <p:nvSpPr>
          <p:cNvPr id="36" name="Rounded Rectangle 35"/>
          <p:cNvSpPr/>
          <p:nvPr/>
        </p:nvSpPr>
        <p:spPr>
          <a:xfrm>
            <a:off x="1523847" y="5989320"/>
            <a:ext cx="9144000" cy="45720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dirty="0">
                <a:solidFill>
                  <a:srgbClr val="0B2B4E"/>
                </a:solidFill>
                <a:latin typeface="Calibri"/>
              </a:rPr>
              <a:t>Marginal cost (16%) is much higher than average rate (6%)</a:t>
            </a:r>
          </a:p>
        </p:txBody>
      </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40" name="TextBox 39"/>
          <p:cNvSpPr txBox="1"/>
          <p:nvPr/>
        </p:nvSpPr>
        <p:spPr>
          <a:xfrm>
            <a:off x="11430000" y="6583680"/>
            <a:ext cx="548640" cy="292608"/>
          </a:xfrm>
          <a:prstGeom prst="rect">
            <a:avLst/>
          </a:prstGeom>
          <a:noFill/>
        </p:spPr>
        <p:txBody>
          <a:bodyPr wrap="square" lIns="0" tIns="0" rIns="0" bIns="0">
            <a:spAutoFit/>
          </a:bodyPr>
          <a:lstStyle/>
          <a:p>
            <a:pPr algn="r"/>
            <a:fld id="{93BA9696-C1E1-4043-AC64-C84DADC3E9BA}" type="slidenum">
              <a:rPr sz="1200" b="0" i="0">
                <a:solidFill>
                  <a:srgbClr val="555B66"/>
                </a:solidFill>
                <a:latin typeface="Calibri"/>
              </a:rPr>
              <a:t>30</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p:bldP spid="18" grpId="0" animBg="1"/>
      <p:bldP spid="19" grpId="0"/>
      <p:bldP spid="27" grpId="0" animBg="1"/>
      <p:bldP spid="28" grpId="0"/>
      <p:bldP spid="29" grpId="0" animBg="1"/>
      <p:bldP spid="30" grpId="0"/>
      <p:bldP spid="31" grpId="0" animBg="1"/>
      <p:bldP spid="32" grpId="0"/>
      <p:bldP spid="33" grpId="0"/>
      <p:bldP spid="35" grpId="0" build="p" animBg="1"/>
      <p:bldP spid="3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Video 7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TextBox 13"/>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5" name="Rounded Rectangle 14"/>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6" name="Oval 15"/>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7" name="TextBox 16"/>
          <p:cNvSpPr txBox="1"/>
          <p:nvPr/>
        </p:nvSpPr>
        <p:spPr>
          <a:xfrm>
            <a:off x="1874519" y="361693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Wage Searchers</a:t>
            </a:r>
          </a:p>
        </p:txBody>
      </p:sp>
      <p:sp>
        <p:nvSpPr>
          <p:cNvPr id="18" name="Rounded Rectangle 17"/>
          <p:cNvSpPr/>
          <p:nvPr/>
        </p:nvSpPr>
        <p:spPr>
          <a:xfrm>
            <a:off x="10332720" y="369646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4</a:t>
            </a:r>
          </a:p>
        </p:txBody>
      </p:sp>
      <p:sp>
        <p:nvSpPr>
          <p:cNvPr id="19" name="Oval 18"/>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0" name="TextBox 19"/>
          <p:cNvSpPr txBox="1"/>
          <p:nvPr/>
        </p:nvSpPr>
        <p:spPr>
          <a:xfrm>
            <a:off x="1874519" y="433473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Long Run: The Optimal Input Mix</a:t>
            </a:r>
          </a:p>
        </p:txBody>
      </p:sp>
      <p:sp>
        <p:nvSpPr>
          <p:cNvPr id="21" name="Rounded Rectangle 20"/>
          <p:cNvSpPr/>
          <p:nvPr/>
        </p:nvSpPr>
        <p:spPr>
          <a:xfrm>
            <a:off x="10332720" y="441426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5</a:t>
            </a:r>
          </a:p>
        </p:txBody>
      </p:sp>
      <p:sp>
        <p:nvSpPr>
          <p:cNvPr id="22" name="Oval 21"/>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3" name="TextBox 22"/>
          <p:cNvSpPr txBox="1"/>
          <p:nvPr/>
        </p:nvSpPr>
        <p:spPr>
          <a:xfrm>
            <a:off x="1874519" y="505254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Cost Concepts</a:t>
            </a:r>
          </a:p>
        </p:txBody>
      </p:sp>
      <p:sp>
        <p:nvSpPr>
          <p:cNvPr id="24" name="Rounded Rectangle 23"/>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6</a:t>
            </a:r>
          </a:p>
        </p:txBody>
      </p:sp>
      <p:sp>
        <p:nvSpPr>
          <p:cNvPr id="25" name="Rounded Rectangle 24"/>
          <p:cNvSpPr/>
          <p:nvPr/>
        </p:nvSpPr>
        <p:spPr>
          <a:xfrm>
            <a:off x="822960" y="5630418"/>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7</a:t>
            </a:r>
          </a:p>
        </p:txBody>
      </p:sp>
      <p:sp>
        <p:nvSpPr>
          <p:cNvPr id="27" name="TextBox 26"/>
          <p:cNvSpPr txBox="1"/>
          <p:nvPr/>
        </p:nvSpPr>
        <p:spPr>
          <a:xfrm>
            <a:off x="1874519" y="568528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Economies of Scale and Scope</a:t>
            </a:r>
          </a:p>
          <a:p>
            <a:pPr algn="l">
              <a:spcBef>
                <a:spcPts val="0"/>
              </a:spcBef>
              <a:buNone/>
            </a:pPr>
            <a:r>
              <a:rPr sz="2200">
                <a:solidFill>
                  <a:srgbClr val="555B66"/>
                </a:solidFill>
                <a:latin typeface="Calibri"/>
              </a:rPr>
              <a:t>When bigger or broader production lowers cost per unit</a:t>
            </a:r>
          </a:p>
        </p:txBody>
      </p:sp>
      <p:sp>
        <p:nvSpPr>
          <p:cNvPr id="28" name="Rounded Rectangle 27"/>
          <p:cNvSpPr/>
          <p:nvPr/>
        </p:nvSpPr>
        <p:spPr>
          <a:xfrm>
            <a:off x="10332720" y="584987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C18E819D-0ACA-5316-B8E3-F04F1624C714}" type="slidenum">
              <a:rPr lang="en-US" sz="1200" dirty="0">
                <a:solidFill>
                  <a:srgbClr val="555B66"/>
                </a:solidFill>
                <a:latin typeface="Calibri"/>
              </a:rPr>
              <a:t>31</a:t>
            </a:fld>
            <a:endParaRPr lang="en-US" sz="1200" dirty="0">
              <a:solidFill>
                <a:srgbClr val="555B66"/>
              </a:solidFill>
              <a:latin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7 · Economies of Scale and Scope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Amazon:  Economies of Scale,  Scope,  or Both?</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1" name="TextBox 20"/>
          <p:cNvSpPr txBox="1"/>
          <p:nvPr/>
        </p:nvSpPr>
        <p:spPr>
          <a:xfrm>
            <a:off x="11430000" y="6583680"/>
            <a:ext cx="548640" cy="292608"/>
          </a:xfrm>
          <a:prstGeom prst="rect">
            <a:avLst/>
          </a:prstGeom>
          <a:noFill/>
        </p:spPr>
        <p:txBody>
          <a:bodyPr wrap="square" lIns="0" tIns="0" rIns="0" bIns="0">
            <a:spAutoFit/>
          </a:bodyPr>
          <a:lstStyle/>
          <a:p>
            <a:pPr algn="r"/>
            <a:fld id="{D30E815A-F4E0-4EA1-AD62-5703EC7F10B1}" type="slidenum">
              <a:rPr sz="1200" b="0" i="0">
                <a:solidFill>
                  <a:srgbClr val="555B66"/>
                </a:solidFill>
                <a:latin typeface="Calibri"/>
              </a:rPr>
              <a:t>32</a:t>
            </a:fld>
            <a:endParaRPr sz="1200" b="0" i="0">
              <a:solidFill>
                <a:srgbClr val="555B66"/>
              </a:solidFill>
              <a:latin typeface="Calibri"/>
            </a:endParaRPr>
          </a:p>
        </p:txBody>
      </p:sp>
      <p:sp>
        <p:nvSpPr>
          <p:cNvPr id="31" name="Video Caption"/>
          <p:cNvSpPr txBox="1"/>
          <p:nvPr/>
        </p:nvSpPr>
        <p:spPr>
          <a:xfrm>
            <a:off x="3108960" y="1353312"/>
            <a:ext cx="5971032" cy="329184"/>
          </a:xfrm>
          <a:prstGeom prst="rect">
            <a:avLst/>
          </a:prstGeom>
          <a:noFill/>
        </p:spPr>
        <p:txBody>
          <a:bodyPr wrap="square" lIns="0" tIns="0" rIns="0" bIns="0" anchor="t">
            <a:noAutofit/>
          </a:bodyPr>
          <a:lstStyle/>
          <a:p>
            <a:pPr algn="ctr"/>
            <a:r>
              <a:rPr lang="en-US" sz="1500" b="1" i="1">
                <a:solidFill>
                  <a:srgbClr val="0B2B4E"/>
                </a:solidFill>
                <a:latin typeface="Calibri"/>
              </a:rPr>
              <a:t>Jeff Bezos  ·  1997 interview</a:t>
            </a:r>
          </a:p>
        </p:txBody>
      </p:sp>
      <p:pic>
        <p:nvPicPr>
          <p:cNvPr id="30" name="Jeff Bezos 1997 Interview">
            <a:hlinkClick r:id="" action="ppaction://media"/>
          </p:cNvPr>
          <p:cNvPicPr>
            <a:picLocks noChangeAspect="1"/>
          </p:cNvPicPr>
          <p:nvPr>
            <a:videoFile r:link="rId1"/>
            <p:extLst>
              <p:ext uri="{DAA4B4D4-6D71-4841-9C94-3DE7FCFB9230}">
                <p14:media xmlns:p14="http://schemas.microsoft.com/office/powerpoint/2010/main" r:embed="rId2">
                  <p14:trim st="398"/>
                </p14:media>
              </p:ext>
            </p:extLst>
          </p:nvPr>
        </p:nvPicPr>
        <p:blipFill>
          <a:blip r:embed="rId5"/>
          <a:stretch>
            <a:fillRect/>
          </a:stretch>
        </p:blipFill>
        <p:spPr>
          <a:xfrm>
            <a:off x="3108960" y="1737360"/>
            <a:ext cx="5971032" cy="4480560"/>
          </a:xfrm>
          <a:prstGeom prst="rect">
            <a:avLst/>
          </a:prstGeom>
        </p:spPr>
      </p:pic>
      <p:grpSp>
        <p:nvGrpSpPr>
          <p:cNvPr id="32" name="GroupDiscussionBadge"/>
          <p:cNvGrpSpPr/>
          <p:nvPr/>
        </p:nvGrpSpPr>
        <p:grpSpPr>
          <a:xfrm>
            <a:off x="8008041" y="6190030"/>
            <a:ext cx="4050792" cy="487009"/>
            <a:chOff x="8008041" y="6190030"/>
            <a:chExt cx="4050792" cy="487009"/>
          </a:xfrm>
        </p:grpSpPr>
        <p:sp>
          <p:nvSpPr>
            <p:cNvPr id="33" name="Rectangle 13"/>
            <p:cNvSpPr/>
            <p:nvPr/>
          </p:nvSpPr>
          <p:spPr>
            <a:xfrm>
              <a:off x="8008041" y="6190030"/>
              <a:ext cx="4050792" cy="487009"/>
            </a:xfrm>
            <a:custGeom>
              <a:avLst/>
              <a:gdLst/>
              <a:ahLst/>
              <a:cxnLst/>
              <a:rect l="16253" t="0" r="83747" b="100000"/>
              <a:pathLst>
                <a:path w="100000" h="100000">
                  <a:moveTo>
                    <a:pt x="21253" y="0"/>
                  </a:moveTo>
                  <a:lnTo>
                    <a:pt x="95000" y="0"/>
                  </a:lnTo>
                  <a:cubicBezTo>
                    <a:pt x="100000" y="0"/>
                    <a:pt x="100000" y="0"/>
                    <a:pt x="99187" y="5000"/>
                  </a:cubicBezTo>
                  <a:lnTo>
                    <a:pt x="84560" y="95000"/>
                  </a:lnTo>
                  <a:cubicBezTo>
                    <a:pt x="83747" y="100000"/>
                    <a:pt x="83747" y="100000"/>
                    <a:pt x="78747" y="100000"/>
                  </a:cubicBezTo>
                  <a:lnTo>
                    <a:pt x="5000" y="100000"/>
                  </a:lnTo>
                  <a:cubicBezTo>
                    <a:pt x="0" y="100000"/>
                    <a:pt x="0" y="100000"/>
                    <a:pt x="813" y="95000"/>
                  </a:cubicBezTo>
                  <a:lnTo>
                    <a:pt x="15440" y="5000"/>
                  </a:lnTo>
                  <a:cubicBezTo>
                    <a:pt x="16253" y="0"/>
                    <a:pt x="16253" y="0"/>
                    <a:pt x="21253"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14"/>
            <p:cNvSpPr txBox="1"/>
            <p:nvPr/>
          </p:nvSpPr>
          <p:spPr>
            <a:xfrm>
              <a:off x="8666409" y="6190030"/>
              <a:ext cx="2734056" cy="487009"/>
            </a:xfrm>
            <a:prstGeom prst="rect">
              <a:avLst/>
            </a:prstGeom>
            <a:noFill/>
          </p:spPr>
          <p:txBody>
            <a:bodyPr wrap="none" lIns="45720" tIns="18288" rIns="45720" bIns="18288" anchor="ctr">
              <a:spAutoFit/>
            </a:bodyPr>
            <a:lstStyle/>
            <a:p>
              <a:pPr algn="ctr"/>
              <a:r>
                <a:rPr sz="2800" b="1">
                  <a:solidFill>
                    <a:srgbClr val="0B2B4E"/>
                  </a:solidFill>
                  <a:latin typeface="Calibri"/>
                </a:rPr>
                <a:t>Group Discussion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649"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0"/>
                </p:tgtEl>
              </p:cMediaNode>
            </p:vide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Video 7 · Economies of Scale and Scope</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lang="en-US" sz="3200" b="1" i="0" dirty="0">
                <a:solidFill>
                  <a:srgbClr val="0B2B4E"/>
                </a:solidFill>
                <a:latin typeface="Calibri"/>
              </a:rPr>
              <a:t>Solution: </a:t>
            </a:r>
            <a:r>
              <a:rPr sz="3200" b="1" i="0" dirty="0">
                <a:solidFill>
                  <a:srgbClr val="0B2B4E"/>
                </a:solidFill>
                <a:latin typeface="Calibri"/>
              </a:rPr>
              <a:t>Amazon:  Economies of Scale,  Scope,  or Both?</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783080"/>
            <a:ext cx="11687697" cy="369332"/>
          </a:xfrm>
          <a:prstGeom prst="rect">
            <a:avLst/>
          </a:prstGeom>
          <a:noFill/>
        </p:spPr>
        <p:txBody>
          <a:bodyPr wrap="square" lIns="0" tIns="0" rIns="0" bIns="0">
            <a:spAutoFit/>
          </a:bodyPr>
          <a:lstStyle/>
          <a:p>
            <a:pPr algn="ctr"/>
            <a:r>
              <a:rPr sz="2400" b="1" i="1" dirty="0">
                <a:solidFill>
                  <a:srgbClr val="0B2B4E"/>
                </a:solidFill>
                <a:latin typeface="Calibri"/>
              </a:rPr>
              <a:t>Amazon is the textbook case for BOTH at onc</a:t>
            </a:r>
            <a:r>
              <a:rPr lang="en-US" sz="2400" b="1" i="1" dirty="0">
                <a:solidFill>
                  <a:srgbClr val="0B2B4E"/>
                </a:solidFill>
                <a:latin typeface="Calibri"/>
              </a:rPr>
              <a:t>e</a:t>
            </a:r>
            <a:endParaRPr sz="2400" b="1" i="1" dirty="0">
              <a:solidFill>
                <a:srgbClr val="0B2B4E"/>
              </a:solidFill>
              <a:latin typeface="Calibri"/>
            </a:endParaRPr>
          </a:p>
        </p:txBody>
      </p:sp>
      <p:sp>
        <p:nvSpPr>
          <p:cNvPr id="8" name="Rounded Rectangle 7"/>
          <p:cNvSpPr/>
          <p:nvPr/>
        </p:nvSpPr>
        <p:spPr>
          <a:xfrm>
            <a:off x="472287" y="2468880"/>
            <a:ext cx="5486400" cy="68580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dirty="0">
                <a:solidFill>
                  <a:srgbClr val="FFFFFF"/>
                </a:solidFill>
                <a:latin typeface="Calibri"/>
              </a:rPr>
              <a:t>Economies of SCALE</a:t>
            </a:r>
          </a:p>
        </p:txBody>
      </p:sp>
      <p:sp>
        <p:nvSpPr>
          <p:cNvPr id="9" name="Rounded Rectangle 8"/>
          <p:cNvSpPr/>
          <p:nvPr/>
        </p:nvSpPr>
        <p:spPr>
          <a:xfrm>
            <a:off x="6233007" y="2468880"/>
            <a:ext cx="5486400" cy="68580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dirty="0">
                <a:solidFill>
                  <a:srgbClr val="FFFFFF"/>
                </a:solidFill>
                <a:latin typeface="Calibri"/>
              </a:rPr>
              <a:t>Economies of SCOPE</a:t>
            </a:r>
          </a:p>
        </p:txBody>
      </p:sp>
      <p:sp>
        <p:nvSpPr>
          <p:cNvPr id="40" name="Scale bullets"/>
          <p:cNvSpPr txBox="1"/>
          <p:nvPr/>
        </p:nvSpPr>
        <p:spPr>
          <a:xfrm>
            <a:off x="475488" y="3291840"/>
            <a:ext cx="5486400" cy="2331720"/>
          </a:xfrm>
          <a:prstGeom prst="rect">
            <a:avLst/>
          </a:prstGeom>
          <a:noFill/>
        </p:spPr>
        <p:txBody>
          <a:bodyPr wrap="square" lIns="45720" tIns="45720" rIns="45720" bIns="0" anchor="t">
            <a:noAutofit/>
          </a:bodyPr>
          <a:lstStyle/>
          <a:p>
            <a:pPr marL="292608" indent="-292608">
              <a:buFont typeface="Arial"/>
              <a:buChar char="•"/>
            </a:pPr>
            <a:r>
              <a:rPr lang="en-US" sz="2200" b="0" i="0" dirty="0">
                <a:solidFill>
                  <a:srgbClr val="0B2B4E"/>
                </a:solidFill>
                <a:latin typeface="Calibri"/>
              </a:rPr>
              <a:t>AWS (Amazon Web Services) – massive data-center fixed costs spread over huge volume</a:t>
            </a:r>
          </a:p>
          <a:p>
            <a:pPr marL="292608" indent="-292608">
              <a:spcBef>
                <a:spcPts val="1200"/>
              </a:spcBef>
              <a:buFont typeface="Arial"/>
              <a:buChar char="•"/>
            </a:pPr>
            <a:r>
              <a:rPr lang="en-US" sz="2200" b="0" i="0" dirty="0">
                <a:solidFill>
                  <a:srgbClr val="0B2B4E"/>
                </a:solidFill>
                <a:latin typeface="Calibri"/>
              </a:rPr>
              <a:t>Fulfilment network density (FBA – Fulfilment by Amazon)</a:t>
            </a:r>
          </a:p>
          <a:p>
            <a:pPr marL="292608" indent="-292608">
              <a:spcBef>
                <a:spcPts val="1200"/>
              </a:spcBef>
              <a:buFont typeface="Arial"/>
              <a:buChar char="•"/>
            </a:pPr>
            <a:r>
              <a:rPr lang="en-US" sz="2200" b="0" i="0" dirty="0">
                <a:solidFill>
                  <a:srgbClr val="0B2B4E"/>
                </a:solidFill>
                <a:latin typeface="Calibri"/>
              </a:rPr>
              <a:t>Bargaining power with suppliers</a:t>
            </a:r>
          </a:p>
        </p:txBody>
      </p:sp>
      <p:sp>
        <p:nvSpPr>
          <p:cNvPr id="41" name="Scope bullets"/>
          <p:cNvSpPr txBox="1"/>
          <p:nvPr/>
        </p:nvSpPr>
        <p:spPr>
          <a:xfrm>
            <a:off x="6236208" y="3291840"/>
            <a:ext cx="5486400" cy="2331720"/>
          </a:xfrm>
          <a:prstGeom prst="rect">
            <a:avLst/>
          </a:prstGeom>
          <a:noFill/>
        </p:spPr>
        <p:txBody>
          <a:bodyPr wrap="square" lIns="45720" tIns="45720" rIns="45720" bIns="0" anchor="t">
            <a:noAutofit/>
          </a:bodyPr>
          <a:lstStyle/>
          <a:p>
            <a:pPr marL="292608" indent="-292608">
              <a:buFont typeface="Arial"/>
              <a:buChar char="•"/>
            </a:pPr>
            <a:r>
              <a:rPr lang="en-US" sz="2200" b="0" i="0">
                <a:solidFill>
                  <a:srgbClr val="0B2B4E"/>
                </a:solidFill>
                <a:latin typeface="Calibri"/>
              </a:rPr>
              <a:t>Prime  =  shipping + video + music + grocery</a:t>
            </a:r>
          </a:p>
          <a:p>
            <a:pPr marL="292608" indent="-292608">
              <a:spcBef>
                <a:spcPts val="1200"/>
              </a:spcBef>
              <a:buFont typeface="Arial"/>
              <a:buChar char="•"/>
            </a:pPr>
            <a:r>
              <a:rPr lang="en-US" sz="2200" b="0" i="0">
                <a:solidFill>
                  <a:srgbClr val="0B2B4E"/>
                </a:solidFill>
                <a:latin typeface="Calibri"/>
              </a:rPr>
              <a:t>Customer data shared across retail / ads / AWS</a:t>
            </a:r>
          </a:p>
          <a:p>
            <a:pPr marL="292608" indent="-292608">
              <a:spcBef>
                <a:spcPts val="1200"/>
              </a:spcBef>
              <a:buFont typeface="Arial"/>
              <a:buChar char="•"/>
            </a:pPr>
            <a:r>
              <a:rPr lang="en-US" sz="2200" b="0" i="0">
                <a:solidFill>
                  <a:srgbClr val="0B2B4E"/>
                </a:solidFill>
                <a:latin typeface="Calibri"/>
              </a:rPr>
              <a:t>Devices (Alexa, Kindle) lever the brand</a:t>
            </a: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1" name="TextBox 20"/>
          <p:cNvSpPr txBox="1"/>
          <p:nvPr/>
        </p:nvSpPr>
        <p:spPr>
          <a:xfrm>
            <a:off x="11430000" y="6583680"/>
            <a:ext cx="548640" cy="292608"/>
          </a:xfrm>
          <a:prstGeom prst="rect">
            <a:avLst/>
          </a:prstGeom>
          <a:noFill/>
        </p:spPr>
        <p:txBody>
          <a:bodyPr wrap="square" lIns="0" tIns="0" rIns="0" bIns="0">
            <a:spAutoFit/>
          </a:bodyPr>
          <a:lstStyle/>
          <a:p>
            <a:pPr algn="r"/>
            <a:fld id="{FF6ABB46-4602-417F-B69D-7CF465A21A21}" type="slidenum">
              <a:rPr sz="1200" b="0" i="0">
                <a:solidFill>
                  <a:srgbClr val="555B66"/>
                </a:solidFill>
                <a:latin typeface="Calibri"/>
              </a:rPr>
              <a:t>33</a:t>
            </a:fld>
            <a:endParaRPr sz="1200" b="0" i="0">
              <a:solidFill>
                <a:srgbClr val="555B66"/>
              </a:solidFill>
              <a:latin typeface="Calibri"/>
            </a:endParaRPr>
          </a:p>
        </p:txBody>
      </p:sp>
      <p:grpSp>
        <p:nvGrpSpPr>
          <p:cNvPr id="42" name="GroupDiscussionBadge"/>
          <p:cNvGrpSpPr/>
          <p:nvPr/>
        </p:nvGrpSpPr>
        <p:grpSpPr>
          <a:xfrm>
            <a:off x="8008041" y="6190030"/>
            <a:ext cx="4050792" cy="487009"/>
            <a:chOff x="8008041" y="6190030"/>
            <a:chExt cx="4050792" cy="487009"/>
          </a:xfrm>
        </p:grpSpPr>
        <p:sp>
          <p:nvSpPr>
            <p:cNvPr id="43" name="Rectangle 13"/>
            <p:cNvSpPr/>
            <p:nvPr/>
          </p:nvSpPr>
          <p:spPr>
            <a:xfrm>
              <a:off x="8008041" y="6190030"/>
              <a:ext cx="4050792" cy="487009"/>
            </a:xfrm>
            <a:custGeom>
              <a:avLst/>
              <a:gdLst/>
              <a:ahLst/>
              <a:cxnLst/>
              <a:rect l="16253" t="0" r="83747" b="100000"/>
              <a:pathLst>
                <a:path w="100000" h="100000">
                  <a:moveTo>
                    <a:pt x="21253" y="0"/>
                  </a:moveTo>
                  <a:lnTo>
                    <a:pt x="95000" y="0"/>
                  </a:lnTo>
                  <a:cubicBezTo>
                    <a:pt x="100000" y="0"/>
                    <a:pt x="100000" y="0"/>
                    <a:pt x="99187" y="5000"/>
                  </a:cubicBezTo>
                  <a:lnTo>
                    <a:pt x="84560" y="95000"/>
                  </a:lnTo>
                  <a:cubicBezTo>
                    <a:pt x="83747" y="100000"/>
                    <a:pt x="83747" y="100000"/>
                    <a:pt x="78747" y="100000"/>
                  </a:cubicBezTo>
                  <a:lnTo>
                    <a:pt x="5000" y="100000"/>
                  </a:lnTo>
                  <a:cubicBezTo>
                    <a:pt x="0" y="100000"/>
                    <a:pt x="0" y="100000"/>
                    <a:pt x="813" y="95000"/>
                  </a:cubicBezTo>
                  <a:lnTo>
                    <a:pt x="15440" y="5000"/>
                  </a:lnTo>
                  <a:cubicBezTo>
                    <a:pt x="16253" y="0"/>
                    <a:pt x="16253" y="0"/>
                    <a:pt x="21253"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14"/>
            <p:cNvSpPr txBox="1"/>
            <p:nvPr/>
          </p:nvSpPr>
          <p:spPr>
            <a:xfrm>
              <a:off x="8666409" y="6190030"/>
              <a:ext cx="2734056" cy="487009"/>
            </a:xfrm>
            <a:prstGeom prst="rect">
              <a:avLst/>
            </a:prstGeom>
            <a:noFill/>
          </p:spPr>
          <p:txBody>
            <a:bodyPr wrap="none" lIns="45720" tIns="18288" rIns="45720" bIns="18288" anchor="ctr">
              <a:spAutoFit/>
            </a:bodyPr>
            <a:lstStyle/>
            <a:p>
              <a:pPr algn="ctr"/>
              <a:r>
                <a:rPr sz="2800" b="1">
                  <a:solidFill>
                    <a:srgbClr val="0B2B4E"/>
                  </a:solidFill>
                  <a:latin typeface="Calibri"/>
                </a:rPr>
                <a:t>Group Discussion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ef519a87-95a4-4920-a9f2-6789e4fe85be"/>
</p:tagLst>
</file>

<file path=ppt/tags/tag2.xml><?xml version="1.0" encoding="utf-8"?>
<p:tagLst xmlns:a="http://schemas.openxmlformats.org/drawingml/2006/main" xmlns:r="http://schemas.openxmlformats.org/officeDocument/2006/relationships" xmlns:p="http://schemas.openxmlformats.org/presentationml/2006/main">
  <p:tag name="__PE_POLL_EMBED_ID" val="029ca27d-d52b-4136-8891-2ef25c2a138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338</TotalTime>
  <Words>7006</Words>
  <Application>Microsoft Office PowerPoint</Application>
  <PresentationFormat>Widescreen</PresentationFormat>
  <Paragraphs>503</Paragraphs>
  <Slides>33</Slides>
  <Notes>33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 Math</vt:lpstr>
      <vt:lpstr>Whitney 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93</cp:revision>
  <dcterms:created xsi:type="dcterms:W3CDTF">2013-01-27T09:14:16Z</dcterms:created>
  <dcterms:modified xsi:type="dcterms:W3CDTF">2026-10-23T21:39:55Z</dcterms:modified>
  <cp:category/>
</cp:coreProperties>
</file>