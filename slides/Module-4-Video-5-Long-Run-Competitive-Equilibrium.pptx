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09" r:id="rId2"/>
    <p:sldId id="310" r:id="rId3"/>
    <p:sldId id="311" r:id="rId4"/>
    <p:sldId id="312" r:id="rId5"/>
    <p:sldId id="313" r:id="rId6"/>
    <p:sldId id="31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05D57-B5B1-42E8-9F79-99CE775415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9474-3F6C-4F5A-AEB7-943304FF4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7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from the book: because all inputs and costs are variable in the long run, the firm’s long-run supply curve is the part of its long-run marginal cost curve above its long-run average total cost curve ( LATC=LAVC because there are no fixed costs in the long run).</a:t>
            </a:r>
          </a:p>
          <a:p>
            <a:r>
              <a:t>Yi example: in the long run they can decide whether or not to rent the land + how much land to 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LAC is downward sloping because of economies of scale initially, and then upward-sloping because of dis-economies of scale. Note that this is different from ATC being down-ward sloping because of Fixed costs of a GIVEN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Cecile Steele of Ocean View, Delaware ordered 50 chicks in 1923 and received 500 by mistake. She kept them, made a large profit, and within five years hundreds of neighbouring farmers were raising chickens for meat. That is entry in action - and it is why her extraordinary margins did not last.</a:t>
            </a:r>
          </a:p>
          <a:p>
            <a:endParaRPr/>
          </a:p>
          <a:p>
            <a:r>
              <a:t>https://www.vox.com/future-perfect/2023/2/10/23589333/cecile-steele-chicken-meat-poultry-eggs-delaware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long-run rules in one place. Optimal output is still where marginal cost meets price, but now the comparison is with LONG-RUN average cost, because capital is adjustable. If price cannot cover LAC the firm exits, and entry and exit push the market to the point where economic profit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999" y="1920240"/>
            <a:ext cx="11687697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0" b="1" i="0" u="none" dirty="0">
                <a:solidFill>
                  <a:srgbClr val="0B2B4E"/>
                </a:solidFill>
                <a:latin typeface="Calibri"/>
              </a:rPr>
              <a:t>Long-Run Competitive Equilibrium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297180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 u="none">
                <a:solidFill>
                  <a:srgbClr val="E09F3E"/>
                </a:solidFill>
                <a:latin typeface="Calibri"/>
              </a:rPr>
              <a:t>Module 4  ·  Video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047" y="3913632"/>
            <a:ext cx="365760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1999" y="4224528"/>
            <a:ext cx="1168769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 u="none">
                <a:solidFill>
                  <a:srgbClr val="555B66"/>
                </a:solidFill>
                <a:latin typeface="Calibri"/>
              </a:rPr>
              <a:t>Management 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4864608"/>
            <a:ext cx="116876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 u="none">
                <a:solidFill>
                  <a:srgbClr val="555B66"/>
                </a:solidFill>
                <a:latin typeface="Calibri"/>
              </a:rPr>
              <a:t>Prof. Nico Voigtländer  ·  UCLA Anderson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4 · Video 5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Outline of Module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1396746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543050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52194"/>
            <a:ext cx="8293609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Introduction to Market Structures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11455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260854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269998"/>
            <a:ext cx="8293609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Perfect Competition</a:t>
            </a:r>
          </a:p>
        </p:txBody>
      </p:sp>
      <p:sp>
        <p:nvSpPr>
          <p:cNvPr id="13" name="Oval 12"/>
          <p:cNvSpPr/>
          <p:nvPr/>
        </p:nvSpPr>
        <p:spPr>
          <a:xfrm>
            <a:off x="1463040" y="2832354"/>
            <a:ext cx="457200" cy="45720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BFBFBF"/>
                </a:solidFill>
                <a:latin typeface="Calibri"/>
              </a:rPr>
              <a:t>2a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07625" y="2978658"/>
            <a:ext cx="1042415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987802"/>
            <a:ext cx="8394193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BFBFBF"/>
                </a:solidFill>
                <a:latin typeface="Calibri"/>
              </a:rPr>
              <a:t>Profit Maximization of a Price Taker in the Short Run</a:t>
            </a:r>
          </a:p>
        </p:txBody>
      </p:sp>
      <p:sp>
        <p:nvSpPr>
          <p:cNvPr id="16" name="Oval 15"/>
          <p:cNvSpPr/>
          <p:nvPr/>
        </p:nvSpPr>
        <p:spPr>
          <a:xfrm>
            <a:off x="1463040" y="3550158"/>
            <a:ext cx="457200" cy="45720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BFBFBF"/>
                </a:solidFill>
                <a:latin typeface="Calibri"/>
              </a:rPr>
              <a:t>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07625" y="3696462"/>
            <a:ext cx="1042415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705606"/>
            <a:ext cx="8394193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BFBFBF"/>
                </a:solidFill>
                <a:latin typeface="Calibri"/>
              </a:rPr>
              <a:t>Firm-Level and Market Supply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94810"/>
            <a:ext cx="11109960" cy="745236"/>
          </a:xfrm>
          <a:prstGeom prst="roundRect">
            <a:avLst>
              <a:gd name="adj" fmla="val 35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463040" y="4267962"/>
            <a:ext cx="457200" cy="45720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0B2B4E"/>
                </a:solidFill>
                <a:latin typeface="Calibri"/>
              </a:rPr>
              <a:t>2c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07625" y="4414266"/>
            <a:ext cx="1042415" cy="329184"/>
          </a:xfrm>
          <a:prstGeom prst="roundRect">
            <a:avLst>
              <a:gd name="adj" fmla="val 30000"/>
            </a:avLst>
          </a:prstGeom>
          <a:solidFill>
            <a:srgbClr val="E09F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2B4E"/>
                </a:solidFill>
                <a:latin typeface="Calibri"/>
              </a:rPr>
              <a:t>Video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249674"/>
            <a:ext cx="8394193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0B2B4E"/>
                </a:solidFill>
                <a:latin typeface="Calibri"/>
              </a:rPr>
              <a:t>Long-Run Competitive Equilibrium</a:t>
            </a:r>
          </a:p>
          <a:p>
            <a:pPr algn="l">
              <a:spcBef>
                <a:spcPts val="0"/>
              </a:spcBef>
              <a:buNone/>
            </a:pPr>
            <a:r>
              <a:rPr sz="2000">
                <a:solidFill>
                  <a:srgbClr val="555B66"/>
                </a:solidFill>
                <a:latin typeface="Calibri"/>
              </a:rPr>
              <a:t>Entry and exit drive economic profits to zero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4985766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5132070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141214"/>
            <a:ext cx="8293609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Market Distortions and Regulations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70357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5849874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859018"/>
            <a:ext cx="8293609" cy="6537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Externalities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4  ·  Competitive Markets and Market Interventions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47E09EE4-0FC8-5620-AA5C-342E46D91750}" type="slidenum">
              <a:rPr lang="en-US" sz="1200" dirty="0">
                <a:solidFill>
                  <a:srgbClr val="555B66"/>
                </a:solidFill>
                <a:latin typeface="Calibri"/>
              </a:rPr>
              <a:t>2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4 · Video 5 · Long-Run Competitive Equilibrium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Perfect Competition in the Long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999" y="1024128"/>
            <a:ext cx="5844001" cy="4892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342900" indent="-342900">
              <a:spcBef>
                <a:spcPts val="1800"/>
              </a:spcBef>
              <a:buClr>
                <a:srgbClr val="0B2B4E"/>
              </a:buClr>
              <a:buFont typeface="Calibri"/>
              <a:buChar char="▪"/>
              <a:defRPr sz="28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5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800" b="1" dirty="0">
                <a:solidFill>
                  <a:srgbClr val="0B2B4E"/>
                </a:solidFill>
                <a:latin typeface="Calibri"/>
              </a:rPr>
              <a:t>What changes in the long run?</a:t>
            </a:r>
          </a:p>
          <a:p>
            <a:pPr algn="l">
              <a:spcBef>
                <a:spcPts val="1800"/>
              </a:spcBef>
              <a:buNone/>
            </a:pPr>
            <a:r>
              <a:rPr sz="2800" dirty="0">
                <a:solidFill>
                  <a:srgbClr val="0B2B4E"/>
                </a:solidFill>
                <a:latin typeface="Calibri"/>
              </a:rPr>
              <a:t>1.   Capital can also be adjusted</a:t>
            </a:r>
          </a:p>
          <a:p>
            <a:pPr lvl="1" algn="l"/>
            <a:r>
              <a:rPr dirty="0">
                <a:latin typeface="Calibri"/>
              </a:rPr>
              <a:t>All costs are considered variable</a:t>
            </a:r>
          </a:p>
          <a:p>
            <a:pPr lvl="1" algn="l"/>
            <a:r>
              <a:rPr lang="en-US" dirty="0">
                <a:latin typeface="Calibri"/>
              </a:rPr>
              <a:t>We thus </a:t>
            </a:r>
            <a:r>
              <a:rPr lang="en-US" dirty="0"/>
              <a:t>f</a:t>
            </a:r>
            <a:r>
              <a:rPr dirty="0">
                <a:latin typeface="Calibri"/>
              </a:rPr>
              <a:t>ocus on </a:t>
            </a:r>
            <a:r>
              <a:rPr dirty="0">
                <a:solidFill>
                  <a:srgbClr val="C00000"/>
                </a:solidFill>
                <a:latin typeface="Calibri"/>
              </a:rPr>
              <a:t>Long Run </a:t>
            </a:r>
            <a:r>
              <a:rPr dirty="0">
                <a:latin typeface="Calibri"/>
              </a:rPr>
              <a:t>Average Costs (</a:t>
            </a:r>
            <a:r>
              <a:rPr dirty="0">
                <a:solidFill>
                  <a:srgbClr val="C00000"/>
                </a:solidFill>
                <a:latin typeface="Calibri"/>
              </a:rPr>
              <a:t>LAC</a:t>
            </a:r>
            <a:r>
              <a:rPr dirty="0">
                <a:latin typeface="Calibri"/>
              </a:rPr>
              <a:t>)</a:t>
            </a:r>
          </a:p>
          <a:p>
            <a:pPr algn="l">
              <a:spcBef>
                <a:spcPts val="1800"/>
              </a:spcBef>
              <a:buNone/>
            </a:pPr>
            <a:r>
              <a:rPr sz="2800" dirty="0">
                <a:solidFill>
                  <a:srgbClr val="0B2B4E"/>
                </a:solidFill>
                <a:latin typeface="Calibri"/>
              </a:rPr>
              <a:t>2.   </a:t>
            </a:r>
            <a:r>
              <a:rPr lang="en-US" sz="2800" dirty="0">
                <a:solidFill>
                  <a:srgbClr val="0B2B4E"/>
                </a:solidFill>
                <a:latin typeface="Calibri"/>
              </a:rPr>
              <a:t>Firms can enter </a:t>
            </a:r>
            <a:r>
              <a:rPr sz="2800" dirty="0">
                <a:solidFill>
                  <a:srgbClr val="0B2B4E"/>
                </a:solidFill>
                <a:latin typeface="Calibri"/>
              </a:rPr>
              <a:t>and exit</a:t>
            </a:r>
            <a:r>
              <a:rPr lang="en-US" sz="2800" dirty="0">
                <a:solidFill>
                  <a:srgbClr val="0B2B4E"/>
                </a:solidFill>
                <a:latin typeface="Calibri"/>
              </a:rPr>
              <a:t> the market</a:t>
            </a:r>
            <a:endParaRPr sz="2800" dirty="0">
              <a:solidFill>
                <a:srgbClr val="0B2B4E"/>
              </a:solidFill>
              <a:latin typeface="Calibri"/>
            </a:endParaRPr>
          </a:p>
          <a:p>
            <a:pPr lvl="1" algn="l"/>
            <a:r>
              <a:rPr lang="en-US" dirty="0">
                <a:latin typeface="Calibri"/>
              </a:rPr>
              <a:t>Shifts the supply curve and thus a</a:t>
            </a:r>
            <a:r>
              <a:rPr dirty="0">
                <a:latin typeface="Calibri"/>
              </a:rPr>
              <a:t>ffect</a:t>
            </a:r>
            <a:r>
              <a:rPr lang="en-US" dirty="0">
                <a:latin typeface="Calibri"/>
              </a:rPr>
              <a:t>s</a:t>
            </a:r>
            <a:r>
              <a:rPr dirty="0">
                <a:latin typeface="Calibri"/>
              </a:rPr>
              <a:t> the market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4  ·  Competitive Markets and Market Interventions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C1DD69E8-90E4-5231-B2B9-F4E752D42306}" type="slidenum">
              <a:rPr lang="en-US" sz="1200" dirty="0">
                <a:solidFill>
                  <a:srgbClr val="555B66"/>
                </a:solidFill>
                <a:latin typeface="Calibri"/>
              </a:rPr>
              <a:t>3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  <p:pic>
        <p:nvPicPr>
          <p:cNvPr id="12" name="Picture 11" descr="Old_New_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35607"/>
            <a:ext cx="4663439" cy="4663439"/>
          </a:xfrm>
          <a:prstGeom prst="roundRect">
            <a:avLst>
              <a:gd name="adj" fmla="val 8000"/>
            </a:avLst>
          </a:prstGeom>
          <a:effectLst>
            <a:outerShdw blurRad="50800" dist="38100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4 · Video 5 · Long-Run Competitive Equilibrium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Long-Run Competitive Equilibrium With Many Identical Producers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 flipV="1">
            <a:off x="2331720" y="2276856"/>
            <a:ext cx="15088" cy="3300984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31720" y="5577840"/>
            <a:ext cx="6656831" cy="0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55316" y="2107692"/>
            <a:ext cx="206502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1" u="none" dirty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5775" y="5623559"/>
            <a:ext cx="225551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1" u="none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132" y="3019575"/>
            <a:ext cx="4915654" cy="1347291"/>
          </a:xfrm>
          <a:custGeom>
            <a:avLst/>
            <a:gdLst/>
            <a:ahLst/>
            <a:cxnLst/>
            <a:rect l="0" t="0" r="r" b="b"/>
            <a:pathLst>
              <a:path w="4936808" h="1508910">
                <a:moveTo>
                  <a:pt x="0" y="225285"/>
                </a:moveTo>
                <a:cubicBezTo>
                  <a:pt x="164560" y="363960"/>
                  <a:pt x="658240" y="853080"/>
                  <a:pt x="987361" y="1057339"/>
                </a:cubicBezTo>
                <a:cubicBezTo>
                  <a:pt x="1316481" y="1261597"/>
                  <a:pt x="1645602" y="1392763"/>
                  <a:pt x="1974723" y="1450837"/>
                </a:cubicBezTo>
                <a:cubicBezTo>
                  <a:pt x="2303843" y="1508910"/>
                  <a:pt x="2632964" y="1493891"/>
                  <a:pt x="2962085" y="1405780"/>
                </a:cubicBezTo>
                <a:cubicBezTo>
                  <a:pt x="3291205" y="1317668"/>
                  <a:pt x="3620325" y="1156464"/>
                  <a:pt x="3949446" y="922168"/>
                </a:cubicBezTo>
                <a:cubicBezTo>
                  <a:pt x="4278566" y="687871"/>
                  <a:pt x="4772247" y="153694"/>
                  <a:pt x="4936808" y="0"/>
                </a:cubicBezTo>
              </a:path>
            </a:pathLst>
          </a:custGeom>
          <a:noFill/>
          <a:ln w="41275">
            <a:solidFill>
              <a:srgbClr val="E09F3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3979" y="2761488"/>
            <a:ext cx="4541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1" u="none" dirty="0">
                <a:solidFill>
                  <a:srgbClr val="E09F3E"/>
                </a:solidFill>
                <a:latin typeface="Calibri"/>
              </a:rPr>
              <a:t>LAC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45578" y="2781833"/>
            <a:ext cx="3699224" cy="2588415"/>
          </a:xfrm>
          <a:prstGeom prst="line">
            <a:avLst/>
          </a:prstGeom>
          <a:ln w="38100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77174" y="2388641"/>
            <a:ext cx="52082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1" u="none">
                <a:solidFill>
                  <a:srgbClr val="0B2B4E"/>
                </a:solidFill>
                <a:latin typeface="Calibri"/>
              </a:rPr>
              <a:t>LMC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3108960"/>
            <a:ext cx="6221730" cy="0"/>
          </a:xfrm>
          <a:prstGeom prst="line">
            <a:avLst/>
          </a:prstGeom>
          <a:ln w="317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0" y="295351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1" u="none">
                <a:solidFill>
                  <a:srgbClr val="C00000"/>
                </a:solidFill>
                <a:latin typeface="Calibri"/>
              </a:rPr>
              <a:t>MR = P</a:t>
            </a:r>
            <a:r>
              <a:rPr sz="1700" b="1" i="1" u="none" baseline="-25000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5" y="2971800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700" b="1" i="1" u="none">
                <a:solidFill>
                  <a:srgbClr val="0B2B4E"/>
                </a:solidFill>
                <a:latin typeface="Calibri"/>
              </a:rPr>
              <a:t>P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477290" y="3108960"/>
            <a:ext cx="0" cy="2468880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07364" y="5632703"/>
            <a:ext cx="3398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1" u="none">
                <a:solidFill>
                  <a:srgbClr val="0B2B4E"/>
                </a:solidFill>
                <a:latin typeface="Calibri"/>
              </a:rPr>
              <a:t>Q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7417854" y="3049524"/>
            <a:ext cx="118872" cy="118872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2331720" y="4343400"/>
            <a:ext cx="6221730" cy="0"/>
          </a:xfrm>
          <a:prstGeom prst="line">
            <a:avLst/>
          </a:prstGeom>
          <a:ln w="31750">
            <a:solidFill>
              <a:srgbClr val="A21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61120" y="418795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1" u="none">
                <a:solidFill>
                  <a:srgbClr val="A2162A"/>
                </a:solidFill>
                <a:latin typeface="Calibri"/>
              </a:rPr>
              <a:t>MR = P</a:t>
            </a:r>
            <a:r>
              <a:rPr sz="1700" b="1" i="1" u="none" baseline="-25000">
                <a:solidFill>
                  <a:srgbClr val="A2162A"/>
                </a:solidFill>
                <a:latin typeface="Calibri"/>
              </a:rPr>
              <a:t>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2041" y="4206240"/>
            <a:ext cx="40652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700" b="1" i="1" u="none">
                <a:solidFill>
                  <a:srgbClr val="0B2B4E"/>
                </a:solidFill>
                <a:latin typeface="Calibri"/>
              </a:rPr>
              <a:t>P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LR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713095" y="4343400"/>
            <a:ext cx="0" cy="1234440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90782" y="5632703"/>
            <a:ext cx="44462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1" u="none">
                <a:solidFill>
                  <a:srgbClr val="0B2B4E"/>
                </a:solidFill>
                <a:latin typeface="Calibri"/>
              </a:rPr>
              <a:t>Q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LR</a:t>
            </a:r>
          </a:p>
        </p:txBody>
      </p:sp>
      <p:sp>
        <p:nvSpPr>
          <p:cNvPr id="26" name="Oval 25"/>
          <p:cNvSpPr/>
          <p:nvPr/>
        </p:nvSpPr>
        <p:spPr>
          <a:xfrm>
            <a:off x="5653659" y="4283964"/>
            <a:ext cx="118872" cy="118872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2331720" y="4960620"/>
            <a:ext cx="6221730" cy="0"/>
          </a:xfrm>
          <a:prstGeom prst="line">
            <a:avLst/>
          </a:prstGeom>
          <a:ln w="317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0" y="48051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1" u="none">
                <a:solidFill>
                  <a:srgbClr val="C00000"/>
                </a:solidFill>
                <a:latin typeface="Calibri"/>
              </a:rPr>
              <a:t>MR = P</a:t>
            </a:r>
            <a:r>
              <a:rPr sz="1700" b="1" i="1" u="none" baseline="-2500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5" y="4823460"/>
            <a:ext cx="3017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700" b="1" i="1" u="none">
                <a:solidFill>
                  <a:srgbClr val="0B2B4E"/>
                </a:solidFill>
                <a:latin typeface="Calibri"/>
              </a:rPr>
              <a:t>P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830997" y="4960620"/>
            <a:ext cx="0" cy="617220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61071" y="5632703"/>
            <a:ext cx="3398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1" u="none">
                <a:solidFill>
                  <a:srgbClr val="0B2B4E"/>
                </a:solidFill>
                <a:latin typeface="Calibri"/>
              </a:rPr>
              <a:t>Q</a:t>
            </a:r>
            <a:r>
              <a:rPr sz="1700" b="1" i="1" u="none" baseline="-2500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4771561" y="4901184"/>
            <a:ext cx="118872" cy="118872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3048095" y="3172968"/>
            <a:ext cx="0" cy="1110996"/>
          </a:xfrm>
          <a:prstGeom prst="line">
            <a:avLst/>
          </a:prstGeom>
          <a:ln w="50800">
            <a:solidFill>
              <a:srgbClr val="A2162A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44013" y="365030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 u="none" dirty="0">
                <a:solidFill>
                  <a:srgbClr val="A2162A"/>
                </a:solidFill>
                <a:latin typeface="Calibri"/>
              </a:rPr>
              <a:t>Entry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090035" y="4405122"/>
            <a:ext cx="0" cy="493776"/>
          </a:xfrm>
          <a:prstGeom prst="line">
            <a:avLst/>
          </a:prstGeom>
          <a:ln w="50800">
            <a:solidFill>
              <a:srgbClr val="A2162A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236339" y="447598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 u="none">
                <a:solidFill>
                  <a:srgbClr val="A2162A"/>
                </a:solidFill>
                <a:latin typeface="Calibri"/>
              </a:rPr>
              <a:t>Exit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4  ·  Competitive Markets and Market Interventions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0142077-D761-56B3-949B-5E0727ACD2FB}" type="slidenum">
              <a:rPr lang="en-US" sz="1200" dirty="0">
                <a:solidFill>
                  <a:srgbClr val="555B66"/>
                </a:solidFill>
                <a:latin typeface="Calibri"/>
              </a:rPr>
              <a:t>4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346808" y="5987466"/>
            <a:ext cx="7498079" cy="413333"/>
          </a:xfrm>
          <a:prstGeom prst="roundRect">
            <a:avLst>
              <a:gd name="adj" fmla="val 30000"/>
            </a:avLst>
          </a:prstGeom>
          <a:solidFill>
            <a:srgbClr val="E09F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0B2B4E"/>
                </a:solidFill>
                <a:latin typeface="Calibri"/>
              </a:rPr>
              <a:t>At Q</a:t>
            </a:r>
            <a:r>
              <a:rPr sz="2000" b="1" i="1" baseline="-25000">
                <a:solidFill>
                  <a:srgbClr val="0B2B4E"/>
                </a:solidFill>
                <a:latin typeface="Calibri"/>
              </a:rPr>
              <a:t>LR</a:t>
            </a:r>
            <a:r>
              <a:rPr sz="2000" b="1" i="1">
                <a:solidFill>
                  <a:srgbClr val="0B2B4E"/>
                </a:solidFill>
                <a:latin typeface="Calibri"/>
              </a:rPr>
              <a:t>:  P = LAC = LMC, and economic profit is zero</a:t>
            </a:r>
          </a:p>
        </p:txBody>
      </p:sp>
      <p:sp>
        <p:nvSpPr>
          <p:cNvPr id="43" name="Rounded Rectangle 6">
            <a:extLst>
              <a:ext uri="{FF2B5EF4-FFF2-40B4-BE49-F238E27FC236}">
                <a16:creationId xmlns:a16="http://schemas.microsoft.com/office/drawing/2014/main" id="{38B5ED52-3EDB-D3B0-7352-E619F90E1FD2}"/>
              </a:ext>
            </a:extLst>
          </p:cNvPr>
          <p:cNvSpPr/>
          <p:nvPr/>
        </p:nvSpPr>
        <p:spPr>
          <a:xfrm>
            <a:off x="2155316" y="1299443"/>
            <a:ext cx="7360920" cy="703425"/>
          </a:xfrm>
          <a:prstGeom prst="roundRect">
            <a:avLst>
              <a:gd name="adj" fmla="val 14000"/>
            </a:avLst>
          </a:prstGeom>
          <a:solidFill>
            <a:srgbClr val="0B2B4E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Competitive Markets: Large number of (actual and potential) firms that have the same cost structure and compete with each other 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4 · Video 5 · Long-Run Competitive Equilibrium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Entry Follows Profit: The Broiler Chicken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159" y="1554480"/>
            <a:ext cx="6309360" cy="2651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1600"/>
              </a:spcBef>
              <a:buClr>
                <a:srgbClr val="0B2B4E"/>
              </a:buClr>
              <a:buFont typeface="Calibri"/>
              <a:buChar char="▪"/>
              <a:defRPr sz="23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9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/>
            <a:r>
              <a:rPr dirty="0">
                <a:latin typeface="Calibri"/>
              </a:rPr>
              <a:t>In the 1920s the farmer Cecile Steele of Ocean View, Delaware kept a small flock of chickens for eggs</a:t>
            </a:r>
          </a:p>
          <a:p>
            <a:pPr algn="l"/>
            <a:r>
              <a:rPr dirty="0">
                <a:latin typeface="Calibri"/>
              </a:rPr>
              <a:t>In 1923 she ordered 50 chicks and, by accident, received 500. She kept them and made a sizable profit</a:t>
            </a:r>
          </a:p>
          <a:p>
            <a:pPr algn="l"/>
            <a:r>
              <a:rPr dirty="0">
                <a:latin typeface="Calibri"/>
              </a:rPr>
              <a:t>Word of her success spread, and by 1928 hundreds of farmers in the area were raising chickens for meat</a:t>
            </a:r>
          </a:p>
        </p:txBody>
      </p:sp>
      <p:grpSp>
        <p:nvGrpSpPr>
          <p:cNvPr id="114" name="Group pair 114"/>
          <p:cNvGrpSpPr/>
          <p:nvPr/>
        </p:nvGrpSpPr>
        <p:grpSpPr>
          <a:xfrm>
            <a:off x="6903720" y="1691640"/>
            <a:ext cx="4782312" cy="3886200"/>
            <a:chOff x="6903720" y="1691640"/>
            <a:chExt cx="3931920" cy="3429000"/>
          </a:xfrm>
        </p:grpSpPr>
        <p:pic>
          <p:nvPicPr>
            <p:cNvPr id="8" name="Picture 7" descr="NV_s47_2_f42d0c1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3720" y="1691640"/>
              <a:ext cx="3931920" cy="3143810"/>
            </a:xfrm>
            <a:prstGeom prst="roundRect">
              <a:avLst>
                <a:gd name="adj" fmla="val 8000"/>
              </a:avLst>
            </a:prstGeom>
            <a:effectLst>
              <a:outerShdw blurRad="50800" dist="38100" dir="2700000" algn="t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903720" y="4846320"/>
              <a:ext cx="3931920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200" b="0" i="1" u="none">
                  <a:solidFill>
                    <a:srgbClr val="555B66"/>
                  </a:solidFill>
                  <a:latin typeface="Calibri"/>
                </a:rPr>
                <a:t>An early Delaware broiler farm. Photo: Vox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548640" y="5703570"/>
            <a:ext cx="8229600" cy="530352"/>
          </a:xfrm>
          <a:prstGeom prst="roundRect">
            <a:avLst>
              <a:gd name="adj" fmla="val 30000"/>
            </a:avLst>
          </a:prstGeom>
          <a:solidFill>
            <a:srgbClr val="E09F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2B4E"/>
                </a:solidFill>
                <a:latin typeface="Calibri"/>
              </a:rPr>
              <a:t>Profit in a market with low entry barriers → new firms 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4  ·  Competitive Markets and Market Interventions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EE7A44E1-3B49-5FD8-ABEA-DC399809A862}" type="slidenum">
              <a:rPr lang="en-US" sz="1200" dirty="0">
                <a:solidFill>
                  <a:srgbClr val="555B66"/>
                </a:solidFill>
                <a:latin typeface="Calibri"/>
              </a:rPr>
              <a:t>5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4 · Video 5 · Long-Run Competitive Equilibrium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Summary: Long-Run Decisions for a Price Taker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31720" y="1252728"/>
                <a:ext cx="7498079" cy="7315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600" b="0" i="1">
                    <a:solidFill>
                      <a:srgbClr val="0B2B4E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Optimal</m:t>
                      </m:r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output</m:t>
                      </m:r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: </m:t>
                      </m:r>
                      <m:sSup>
                        <m:sSupPr>
                          <m:ctrlP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600" b="0" i="1">
                              <a:solidFill>
                                <a:srgbClr val="0B2B4E"/>
                              </a:solidFill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sz="2600" b="0" i="0">
                              <a:solidFill>
                                <a:srgbClr val="0B2B4E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where</m:t>
                      </m:r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LMC</m:t>
                      </m:r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MR</m:t>
                      </m:r>
                      <m:r>
                        <a:rPr lang="en-US" sz="2600" b="0" i="0">
                          <a:solidFill>
                            <a:srgbClr val="0B2B4E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600" b="0" i="1">
                          <a:solidFill>
                            <a:srgbClr val="0B2B4E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0" y="1252728"/>
                <a:ext cx="7498079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640080" y="2107692"/>
            <a:ext cx="10881360" cy="658368"/>
          </a:xfrm>
          <a:prstGeom prst="roundRect">
            <a:avLst>
              <a:gd name="adj" fmla="val 10000"/>
            </a:avLst>
          </a:prstGeom>
          <a:solidFill>
            <a:srgbClr val="FDF6E6"/>
          </a:solidFill>
          <a:ln w="22225">
            <a:solidFill>
              <a:srgbClr val="E09F3E"/>
            </a:solidFill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B2B4E"/>
                </a:solidFill>
                <a:latin typeface="Calibri"/>
              </a:rPr>
              <a:t>If P ≥ LAC at Q*:  stay in the 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94076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400"/>
              </a:spcBef>
              <a:buClr>
                <a:srgbClr val="0B2B4E"/>
              </a:buClr>
              <a:buFont typeface="Calibri"/>
              <a:buChar char="▪"/>
              <a:defRPr sz="24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200" b="0">
                <a:solidFill>
                  <a:srgbClr val="555B66"/>
                </a:solidFill>
                <a:latin typeface="Calibri"/>
              </a:defRPr>
            </a:lvl2pPr>
          </a:lstStyle>
          <a:p>
            <a:pPr lvl="1" algn="l"/>
            <a:r>
              <a:rPr>
                <a:latin typeface="Calibri"/>
              </a:rPr>
              <a:t>Positive profits attract entry in the long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35908"/>
            <a:ext cx="10881360" cy="658368"/>
          </a:xfrm>
          <a:prstGeom prst="roundRect">
            <a:avLst>
              <a:gd name="adj" fmla="val 10000"/>
            </a:avLst>
          </a:prstGeom>
          <a:solidFill>
            <a:srgbClr val="FDF6E6"/>
          </a:solidFill>
          <a:ln w="22225">
            <a:solidFill>
              <a:srgbClr val="E09F3E"/>
            </a:solidFill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B2B4E"/>
                </a:solidFill>
                <a:latin typeface="Calibri"/>
              </a:rPr>
              <a:t>If P &lt; LAC at Q*:  exit, or never 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2229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342900" indent="-342900">
              <a:spcBef>
                <a:spcPts val="400"/>
              </a:spcBef>
              <a:buClr>
                <a:srgbClr val="0B2B4E"/>
              </a:buClr>
              <a:buFont typeface="Calibri"/>
              <a:buChar char="▪"/>
              <a:defRPr sz="24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200" b="0">
                <a:solidFill>
                  <a:srgbClr val="555B66"/>
                </a:solidFill>
                <a:latin typeface="Calibri"/>
              </a:defRPr>
            </a:lvl2pPr>
          </a:lstStyle>
          <a:p>
            <a:pPr lvl="1" algn="l"/>
            <a:r>
              <a:rPr>
                <a:latin typeface="Calibri"/>
              </a:rPr>
              <a:t>Losses cannot be sustained once capital is adjustable</a:t>
            </a:r>
          </a:p>
        </p:txBody>
      </p:sp>
      <p:grpSp>
        <p:nvGrpSpPr>
          <p:cNvPr id="117" name="Group pair 117"/>
          <p:cNvGrpSpPr/>
          <p:nvPr/>
        </p:nvGrpSpPr>
        <p:grpSpPr>
          <a:xfrm>
            <a:off x="1600200" y="5449824"/>
            <a:ext cx="8961120" cy="859536"/>
            <a:chOff x="1600200" y="5303520"/>
            <a:chExt cx="8961120" cy="1005840"/>
          </a:xfrm>
        </p:grpSpPr>
        <p:sp>
          <p:nvSpPr>
            <p:cNvPr id="12" name="Rounded Rectangle 11"/>
            <p:cNvSpPr/>
            <p:nvPr/>
          </p:nvSpPr>
          <p:spPr>
            <a:xfrm>
              <a:off x="1600200" y="5303520"/>
              <a:ext cx="8961120" cy="1005840"/>
            </a:xfrm>
            <a:prstGeom prst="roundRect">
              <a:avLst>
                <a:gd name="adj" fmla="val 10000"/>
              </a:avLst>
            </a:prstGeom>
            <a:solidFill>
              <a:srgbClr val="0B2B4E"/>
            </a:solidFill>
            <a:ln w="12700">
              <a:solidFill>
                <a:srgbClr val="0B2B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83080" y="5413248"/>
              <a:ext cx="8595360" cy="786384"/>
            </a:xfrm>
            <a:prstGeom prst="rect">
              <a:avLst/>
            </a:prstGeom>
            <a:noFill/>
          </p:spPr>
          <p:txBody>
            <a:bodyPr wrap="square" lIns="45720" tIns="0" rIns="45720" bIns="0" anchor="ctr">
              <a:spAutoFit/>
            </a:bodyPr>
            <a:lstStyle/>
            <a:p>
              <a:pPr algn="ctr"/>
              <a:r>
                <a:rPr sz="2000" b="1" i="0" u="none">
                  <a:solidFill>
                    <a:srgbClr val="FFFFFF"/>
                  </a:solidFill>
                  <a:latin typeface="Calibri"/>
                </a:rPr>
                <a:t>Long-run competitive equilibrium:  LMC = P = LAC</a:t>
              </a:r>
              <a:r>
                <a:rPr sz="2000" b="0" i="0" u="none">
                  <a:solidFill>
                    <a:srgbClr val="0B2B4E"/>
                  </a:solidFill>
                  <a:latin typeface="Calibri"/>
                </a:rPr>
                <a:t>
</a:t>
              </a:r>
              <a:r>
                <a:rPr sz="1800" b="0" i="0" u="none">
                  <a:solidFill>
                    <a:srgbClr val="FFFFFF"/>
                  </a:solidFill>
                  <a:latin typeface="Calibri"/>
                </a:rPr>
                <a:t>“Normal profits” — economic profit is zero in the long run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4  ·  Competitive Markets and Market Interventions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21A80A6E-165F-5783-AAF6-988F3E4BDE1E}" type="slidenum">
              <a:rPr lang="en-US" sz="1200" dirty="0">
                <a:solidFill>
                  <a:srgbClr val="555B66"/>
                </a:solidFill>
                <a:latin typeface="Calibri"/>
              </a:rPr>
              <a:t>6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718</Words>
  <Application>Microsoft Office PowerPoint</Application>
  <PresentationFormat>Widescreen</PresentationFormat>
  <Paragraphs>87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Voigtlaender, Nico</cp:lastModifiedBy>
  <cp:revision>19</cp:revision>
  <dcterms:created xsi:type="dcterms:W3CDTF">2013-01-27T09:14:16Z</dcterms:created>
  <dcterms:modified xsi:type="dcterms:W3CDTF">2026-08-31T16:15:54Z</dcterms:modified>
  <cp:category/>
</cp:coreProperties>
</file>