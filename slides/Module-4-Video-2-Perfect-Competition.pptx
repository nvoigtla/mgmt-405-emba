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64" r:id="rId2"/>
    <p:sldId id="265" r:id="rId3"/>
    <p:sldId id="266" r:id="rId4"/>
    <p:sldId id="267" r:id="rId5"/>
    <p:sldId id="268"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505D57-B5B1-42E8-9F79-99CE7754156E}" type="datetimeFigureOut">
              <a:rPr lang="en-US" smtClean="0"/>
              <a:t>8/30/2026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A79474-3F6C-4F5A-AEB7-943304FF46E0}" type="slidenum">
              <a:rPr lang="en-US" smtClean="0"/>
              <a:t>‹#›</a:t>
            </a:fld>
            <a:endParaRPr lang="en-US"/>
          </a:p>
        </p:txBody>
      </p:sp>
    </p:spTree>
    <p:extLst>
      <p:ext uri="{BB962C8B-B14F-4D97-AF65-F5344CB8AC3E}">
        <p14:creationId xmlns:p14="http://schemas.microsoft.com/office/powerpoint/2010/main" val="1969772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Characteristics of a price taker market. Today we focus on perfect competition. For a market to be perfectly competitive, three conditions must be satisfied:</a:t>
            </a:r>
          </a:p>
          <a:p>
            <a:endParaRPr/>
          </a:p>
          <a:p>
            <a:r>
              <a:t>There are many firms. Thus, the impact of any one firm on the market equilibrium is negligible. </a:t>
            </a:r>
          </a:p>
          <a:p>
            <a:r>
              <a:t>All firms produce an identical product.</a:t>
            </a:r>
          </a:p>
          <a:p>
            <a:r>
              <a:t>There are no barriers to entry.</a:t>
            </a:r>
          </a:p>
          <a:p>
            <a:endParaRPr/>
          </a:p>
          <a:p>
            <a:r>
              <a:t>The implications of these conditions is that firms in perfectly competitive markets are price takers, i.e. they do not have discretion over the price to charge. In the case of price takers, they face perfectly elastic demand (horizontal demand curve), there is no product differentiation, and they cannot deviate in price. Examples include Indian rice producers, sellers of currency, etc. If the firm chooses a price above the market price, the firm will lose all sales. Since the firm can sell as much as it would like at the market price, it has no incentive to sell at a quantity below the market price.</a:t>
            </a:r>
          </a:p>
          <a:p>
            <a:endParaRPr/>
          </a:p>
          <a:p>
            <a:r>
              <a:t>Why study perfect competition? There are 3 main reasons:</a:t>
            </a:r>
          </a:p>
          <a:p>
            <a:r>
              <a:t> </a:t>
            </a:r>
          </a:p>
          <a:p>
            <a:r>
              <a:t>You need to understand how perfectly competitive markets around you function. For instance, the bond market, the currency markets, commodity markets, labor markets, etc, where price taking behavior is frequent. </a:t>
            </a:r>
          </a:p>
          <a:p>
            <a:r>
              <a:t>You might have to act in perfectly competitive markets on occasion.</a:t>
            </a:r>
          </a:p>
          <a:p>
            <a:r>
              <a:t>By understanding perfect competition in depth you can come up with ways to make the market in which you operate look more like an imperfect competition market. This is what businesses do – differentiate, raise barriers to entry, gain market power.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slides explain the relationship between the market vs. the firm demand. It shows where the demand a price taker is coming from = market price, determined by the market equilibrium.</a:t>
            </a:r>
          </a:p>
          <a:p>
            <a:r>
              <a:t>Now, let’s turn to see how a price taker maximizes profit in the short run.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intuition behind price taking. A single wheat farmer who tries to charge more than the going price simply sells nothing, because buyers have thousands of identical alternatives. That is what we mean when we say the firm faces a horizontal demand curve at the market price.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999" y="1920240"/>
            <a:ext cx="11687697" cy="914400"/>
          </a:xfrm>
          <a:prstGeom prst="rect">
            <a:avLst/>
          </a:prstGeom>
          <a:noFill/>
        </p:spPr>
        <p:txBody>
          <a:bodyPr wrap="square" lIns="0" tIns="0" rIns="0" bIns="0">
            <a:spAutoFit/>
          </a:bodyPr>
          <a:lstStyle/>
          <a:p>
            <a:pPr algn="ctr"/>
            <a:r>
              <a:rPr sz="6000" b="1" i="0" u="none" dirty="0">
                <a:solidFill>
                  <a:srgbClr val="0B2B4E"/>
                </a:solidFill>
                <a:latin typeface="Calibri"/>
              </a:rPr>
              <a:t>Perfect Competition</a:t>
            </a:r>
          </a:p>
        </p:txBody>
      </p:sp>
      <p:sp>
        <p:nvSpPr>
          <p:cNvPr id="3" name="TextBox 2"/>
          <p:cNvSpPr txBox="1"/>
          <p:nvPr/>
        </p:nvSpPr>
        <p:spPr>
          <a:xfrm>
            <a:off x="251999" y="2971800"/>
            <a:ext cx="11687697" cy="640080"/>
          </a:xfrm>
          <a:prstGeom prst="rect">
            <a:avLst/>
          </a:prstGeom>
          <a:noFill/>
        </p:spPr>
        <p:txBody>
          <a:bodyPr wrap="square" lIns="0" tIns="0" rIns="0" bIns="0">
            <a:spAutoFit/>
          </a:bodyPr>
          <a:lstStyle/>
          <a:p>
            <a:pPr algn="ctr"/>
            <a:r>
              <a:rPr sz="4000" b="1" i="0" u="none">
                <a:solidFill>
                  <a:srgbClr val="E09F3E"/>
                </a:solidFill>
                <a:latin typeface="Calibri"/>
              </a:rPr>
              <a:t>Module 4  ·  Video 2</a:t>
            </a:r>
          </a:p>
        </p:txBody>
      </p:sp>
      <p:sp>
        <p:nvSpPr>
          <p:cNvPr id="4" name="Rectangle 3"/>
          <p:cNvSpPr/>
          <p:nvPr/>
        </p:nvSpPr>
        <p:spPr>
          <a:xfrm>
            <a:off x="4267047" y="3913632"/>
            <a:ext cx="365760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1999" y="4224528"/>
            <a:ext cx="11687697" cy="41148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251999" y="4864608"/>
            <a:ext cx="11687697" cy="36576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2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4</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39674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1</a:t>
            </a:r>
          </a:p>
        </p:txBody>
      </p:sp>
      <p:sp>
        <p:nvSpPr>
          <p:cNvPr id="8" name="Rounded Rectangle 7"/>
          <p:cNvSpPr/>
          <p:nvPr/>
        </p:nvSpPr>
        <p:spPr>
          <a:xfrm>
            <a:off x="10332720" y="154305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1</a:t>
            </a:r>
          </a:p>
        </p:txBody>
      </p:sp>
      <p:sp>
        <p:nvSpPr>
          <p:cNvPr id="9" name="TextBox 8"/>
          <p:cNvSpPr txBox="1"/>
          <p:nvPr/>
        </p:nvSpPr>
        <p:spPr>
          <a:xfrm>
            <a:off x="1874519" y="1552194"/>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Introduction to Market Structures</a:t>
            </a:r>
          </a:p>
        </p:txBody>
      </p:sp>
      <p:sp>
        <p:nvSpPr>
          <p:cNvPr id="10" name="Rounded Rectangle 9"/>
          <p:cNvSpPr/>
          <p:nvPr/>
        </p:nvSpPr>
        <p:spPr>
          <a:xfrm>
            <a:off x="822960" y="2041398"/>
            <a:ext cx="11109960" cy="745236"/>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51560" y="211455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2</a:t>
            </a:r>
          </a:p>
        </p:txBody>
      </p:sp>
      <p:sp>
        <p:nvSpPr>
          <p:cNvPr id="12" name="Rounded Rectangle 11"/>
          <p:cNvSpPr/>
          <p:nvPr/>
        </p:nvSpPr>
        <p:spPr>
          <a:xfrm>
            <a:off x="10332720" y="2260854"/>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2</a:t>
            </a:r>
          </a:p>
        </p:txBody>
      </p:sp>
      <p:sp>
        <p:nvSpPr>
          <p:cNvPr id="13" name="TextBox 12"/>
          <p:cNvSpPr txBox="1"/>
          <p:nvPr/>
        </p:nvSpPr>
        <p:spPr>
          <a:xfrm>
            <a:off x="1874519" y="2096262"/>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Perfect Competition</a:t>
            </a:r>
          </a:p>
          <a:p>
            <a:pPr algn="l">
              <a:spcBef>
                <a:spcPts val="0"/>
              </a:spcBef>
              <a:buNone/>
            </a:pPr>
            <a:r>
              <a:rPr sz="2200">
                <a:solidFill>
                  <a:srgbClr val="555B66"/>
                </a:solidFill>
                <a:latin typeface="Calibri"/>
              </a:rPr>
              <a:t>Many small sellers, an identical product, and free entry</a:t>
            </a:r>
          </a:p>
        </p:txBody>
      </p:sp>
      <p:sp>
        <p:nvSpPr>
          <p:cNvPr id="14" name="Oval 13"/>
          <p:cNvSpPr/>
          <p:nvPr/>
        </p:nvSpPr>
        <p:spPr>
          <a:xfrm>
            <a:off x="1463040" y="2832354"/>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BFBFBF"/>
                </a:solidFill>
                <a:latin typeface="Calibri"/>
              </a:rPr>
              <a:t>2a</a:t>
            </a:r>
          </a:p>
        </p:txBody>
      </p:sp>
      <p:sp>
        <p:nvSpPr>
          <p:cNvPr id="15" name="Rounded Rectangle 14"/>
          <p:cNvSpPr/>
          <p:nvPr/>
        </p:nvSpPr>
        <p:spPr>
          <a:xfrm>
            <a:off x="10707625" y="2978658"/>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3</a:t>
            </a:r>
          </a:p>
        </p:txBody>
      </p:sp>
      <p:sp>
        <p:nvSpPr>
          <p:cNvPr id="16" name="TextBox 15"/>
          <p:cNvSpPr txBox="1"/>
          <p:nvPr/>
        </p:nvSpPr>
        <p:spPr>
          <a:xfrm>
            <a:off x="2148840" y="2987802"/>
            <a:ext cx="8394193"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Profit Maximization of a Price Taker in the Short Run</a:t>
            </a:r>
          </a:p>
        </p:txBody>
      </p:sp>
      <p:sp>
        <p:nvSpPr>
          <p:cNvPr id="17" name="Oval 16"/>
          <p:cNvSpPr/>
          <p:nvPr/>
        </p:nvSpPr>
        <p:spPr>
          <a:xfrm>
            <a:off x="1463040" y="3550158"/>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BFBFBF"/>
                </a:solidFill>
                <a:latin typeface="Calibri"/>
              </a:rPr>
              <a:t>2b</a:t>
            </a:r>
          </a:p>
        </p:txBody>
      </p:sp>
      <p:sp>
        <p:nvSpPr>
          <p:cNvPr id="18" name="Rounded Rectangle 17"/>
          <p:cNvSpPr/>
          <p:nvPr/>
        </p:nvSpPr>
        <p:spPr>
          <a:xfrm>
            <a:off x="10707625" y="3696462"/>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4</a:t>
            </a:r>
          </a:p>
        </p:txBody>
      </p:sp>
      <p:sp>
        <p:nvSpPr>
          <p:cNvPr id="19" name="TextBox 18"/>
          <p:cNvSpPr txBox="1"/>
          <p:nvPr/>
        </p:nvSpPr>
        <p:spPr>
          <a:xfrm>
            <a:off x="2148840" y="3705606"/>
            <a:ext cx="8394193"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Firm-Level and Market Supply</a:t>
            </a:r>
          </a:p>
        </p:txBody>
      </p:sp>
      <p:sp>
        <p:nvSpPr>
          <p:cNvPr id="20" name="Oval 19"/>
          <p:cNvSpPr/>
          <p:nvPr/>
        </p:nvSpPr>
        <p:spPr>
          <a:xfrm>
            <a:off x="1463040" y="4267962"/>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BFBFBF"/>
                </a:solidFill>
                <a:latin typeface="Calibri"/>
              </a:rPr>
              <a:t>2c</a:t>
            </a:r>
          </a:p>
        </p:txBody>
      </p:sp>
      <p:sp>
        <p:nvSpPr>
          <p:cNvPr id="21" name="Rounded Rectangle 20"/>
          <p:cNvSpPr/>
          <p:nvPr/>
        </p:nvSpPr>
        <p:spPr>
          <a:xfrm>
            <a:off x="10707625" y="4414266"/>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5</a:t>
            </a:r>
          </a:p>
        </p:txBody>
      </p:sp>
      <p:sp>
        <p:nvSpPr>
          <p:cNvPr id="22" name="TextBox 21"/>
          <p:cNvSpPr txBox="1"/>
          <p:nvPr/>
        </p:nvSpPr>
        <p:spPr>
          <a:xfrm>
            <a:off x="2148840" y="4423410"/>
            <a:ext cx="8394193"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Long-Run Competitive Equilibrium</a:t>
            </a:r>
          </a:p>
        </p:txBody>
      </p:sp>
      <p:sp>
        <p:nvSpPr>
          <p:cNvPr id="23" name="Oval 22"/>
          <p:cNvSpPr/>
          <p:nvPr/>
        </p:nvSpPr>
        <p:spPr>
          <a:xfrm>
            <a:off x="1051560" y="498576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3</a:t>
            </a:r>
          </a:p>
        </p:txBody>
      </p:sp>
      <p:sp>
        <p:nvSpPr>
          <p:cNvPr id="24" name="Rounded Rectangle 23"/>
          <p:cNvSpPr/>
          <p:nvPr/>
        </p:nvSpPr>
        <p:spPr>
          <a:xfrm>
            <a:off x="10332720" y="513207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25" name="TextBox 24"/>
          <p:cNvSpPr txBox="1"/>
          <p:nvPr/>
        </p:nvSpPr>
        <p:spPr>
          <a:xfrm>
            <a:off x="1874519" y="5141214"/>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Market Distortions and Regulations</a:t>
            </a:r>
          </a:p>
        </p:txBody>
      </p:sp>
      <p:sp>
        <p:nvSpPr>
          <p:cNvPr id="26" name="Oval 25"/>
          <p:cNvSpPr/>
          <p:nvPr/>
        </p:nvSpPr>
        <p:spPr>
          <a:xfrm>
            <a:off x="1051560" y="570357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4</a:t>
            </a:r>
          </a:p>
        </p:txBody>
      </p:sp>
      <p:sp>
        <p:nvSpPr>
          <p:cNvPr id="27" name="Rounded Rectangle 26"/>
          <p:cNvSpPr/>
          <p:nvPr/>
        </p:nvSpPr>
        <p:spPr>
          <a:xfrm>
            <a:off x="10332720" y="5849874"/>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28" name="TextBox 27"/>
          <p:cNvSpPr txBox="1"/>
          <p:nvPr/>
        </p:nvSpPr>
        <p:spPr>
          <a:xfrm>
            <a:off x="1874519" y="5859018"/>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Externalities</a:t>
            </a:r>
          </a:p>
        </p:txBody>
      </p:sp>
      <p:sp>
        <p:nvSpPr>
          <p:cNvPr id="29" name="Rectangle 2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32" name="TextBox 31"/>
          <p:cNvSpPr txBox="1"/>
          <p:nvPr/>
        </p:nvSpPr>
        <p:spPr>
          <a:xfrm>
            <a:off x="11475720" y="6583680"/>
            <a:ext cx="502920" cy="292608"/>
          </a:xfrm>
          <a:prstGeom prst="rect">
            <a:avLst/>
          </a:prstGeom>
          <a:noFill/>
        </p:spPr>
        <p:txBody>
          <a:bodyPr wrap="none" lIns="0" tIns="0" rIns="0" bIns="0">
            <a:spAutoFit/>
          </a:bodyPr>
          <a:lstStyle/>
          <a:p>
            <a:pPr algn="r"/>
            <a:fld id="{26EFB99A-B290-50B4-9E80-1277B2FA641F}" type="slidenum">
              <a:rPr lang="en-US" sz="1200" dirty="0">
                <a:solidFill>
                  <a:srgbClr val="555B66"/>
                </a:solidFill>
                <a:latin typeface="Calibri"/>
              </a:rPr>
              <a:t>2</a:t>
            </a:fld>
            <a:endParaRPr lang="en-US" sz="1200" dirty="0">
              <a:solidFill>
                <a:srgbClr val="555B66"/>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2 · Perfect Competition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Perfect Competition: The Price Taker</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13" name="Group pair 113"/>
          <p:cNvGrpSpPr/>
          <p:nvPr/>
        </p:nvGrpSpPr>
        <p:grpSpPr>
          <a:xfrm>
            <a:off x="274320" y="1554480"/>
            <a:ext cx="7955280" cy="4489704"/>
            <a:chOff x="274320" y="1554480"/>
            <a:chExt cx="7955280" cy="4489704"/>
          </a:xfrm>
        </p:grpSpPr>
        <p:sp>
          <p:nvSpPr>
            <p:cNvPr id="7" name="Rectangle 6"/>
            <p:cNvSpPr/>
            <p:nvPr/>
          </p:nvSpPr>
          <p:spPr>
            <a:xfrm>
              <a:off x="274320" y="1554480"/>
              <a:ext cx="7955280" cy="448056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411480" y="1691640"/>
            <a:ext cx="7680960" cy="4352544"/>
          </p:xfrm>
          <a:graphic>
            <a:graphicData uri="http://schemas.openxmlformats.org/drawingml/2006/table">
              <a:tbl>
                <a:tblPr/>
                <a:tblGrid>
                  <a:gridCol w="265176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tblGrid>
                <a:tr h="566928">
                  <a:tc>
                    <a:txBody>
                      <a:bodyPr/>
                      <a:lstStyle/>
                      <a:p>
                        <a:pPr algn="ctr"/>
                        <a:endParaRP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2200" b="1">
                            <a:solidFill>
                              <a:srgbClr val="FFFFFF"/>
                            </a:solidFill>
                            <a:latin typeface="Calibri"/>
                          </a:rPr>
                          <a:t>Perfect competition — price takers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extLst>
                    <a:ext uri="{0D108BD9-81ED-4DB2-BD59-A6C34878D82A}">
                      <a16:rowId xmlns:a16="http://schemas.microsoft.com/office/drawing/2014/main" val="10000"/>
                    </a:ext>
                  </a:extLst>
                </a:tr>
                <a:tr h="822960">
                  <a:tc>
                    <a:txBody>
                      <a:bodyPr/>
                      <a:lstStyle/>
                      <a:p>
                        <a:pPr algn="l"/>
                        <a:r>
                          <a:rPr sz="2000" b="1">
                            <a:solidFill>
                              <a:srgbClr val="0B2B4E"/>
                            </a:solidFill>
                            <a:latin typeface="Calibri"/>
                          </a:rPr>
                          <a:t>Number of actual or
potential competitors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Many small sellers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1"/>
                    </a:ext>
                  </a:extLst>
                </a:tr>
                <a:tr h="658368">
                  <a:tc>
                    <a:txBody>
                      <a:bodyPr/>
                      <a:lstStyle/>
                      <a:p>
                        <a:pPr algn="l"/>
                        <a:r>
                          <a:rPr sz="2000" b="1">
                            <a:solidFill>
                              <a:srgbClr val="0B2B4E"/>
                            </a:solidFill>
                            <a:latin typeface="Calibri"/>
                          </a:rPr>
                          <a:t>Product differentiation</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2000" b="0">
                            <a:solidFill>
                              <a:srgbClr val="0B2B4E"/>
                            </a:solidFill>
                            <a:latin typeface="Calibri"/>
                          </a:rPr>
                          <a:t>None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2"/>
                    </a:ext>
                  </a:extLst>
                </a:tr>
                <a:tr h="658368">
                  <a:tc>
                    <a:txBody>
                      <a:bodyPr/>
                      <a:lstStyle/>
                      <a:p>
                        <a:pPr algn="l"/>
                        <a:r>
                          <a:rPr sz="2000" b="1">
                            <a:solidFill>
                              <a:srgbClr val="0B2B4E"/>
                            </a:solidFill>
                            <a:latin typeface="Calibri"/>
                          </a:rPr>
                          <a:t>Entry conditions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No barriers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3"/>
                    </a:ext>
                  </a:extLst>
                </a:tr>
                <a:tr h="914400">
                  <a:tc>
                    <a:txBody>
                      <a:bodyPr/>
                      <a:lstStyle/>
                      <a:p>
                        <a:pPr algn="l"/>
                        <a:r>
                          <a:rPr sz="2000" b="1">
                            <a:solidFill>
                              <a:srgbClr val="0B2B4E"/>
                            </a:solidFill>
                            <a:latin typeface="Calibri"/>
                          </a:rPr>
                          <a:t>Profit potential</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2000" b="0">
                            <a:solidFill>
                              <a:srgbClr val="0B2B4E"/>
                            </a:solidFill>
                            <a:latin typeface="Calibri"/>
                          </a:rPr>
                          <a:t>Short run: can be positive, negative or zero
Long run: zero economic profit</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4"/>
                    </a:ext>
                  </a:extLst>
                </a:tr>
                <a:tr h="731520">
                  <a:tc>
                    <a:txBody>
                      <a:bodyPr/>
                      <a:lstStyle/>
                      <a:p>
                        <a:pPr algn="l"/>
                        <a:r>
                          <a:rPr sz="2000" b="1">
                            <a:solidFill>
                              <a:srgbClr val="0B2B4E"/>
                            </a:solidFill>
                            <a:latin typeface="Calibri"/>
                          </a:rPr>
                          <a:t>Examples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Agricultural commodities; currency markets; unskilled labor</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5"/>
                    </a:ext>
                  </a:extLst>
                </a:tr>
              </a:tbl>
            </a:graphicData>
          </a:graphic>
        </p:graphicFrame>
      </p:grpSp>
      <p:pic>
        <p:nvPicPr>
          <p:cNvPr id="9" name="Picture 8" descr="Wheat Famers.png"/>
          <p:cNvPicPr>
            <a:picLocks noChangeAspect="1"/>
          </p:cNvPicPr>
          <p:nvPr/>
        </p:nvPicPr>
        <p:blipFill>
          <a:blip r:embed="rId3"/>
          <a:stretch>
            <a:fillRect/>
          </a:stretch>
        </p:blipFill>
        <p:spPr>
          <a:xfrm>
            <a:off x="8613648" y="2304288"/>
            <a:ext cx="3108960" cy="3108960"/>
          </a:xfrm>
          <a:prstGeom prst="roundRect">
            <a:avLst>
              <a:gd name="adj" fmla="val 8000"/>
            </a:avLst>
          </a:prstGeom>
          <a:effectLst>
            <a:outerShdw blurRad="50800" dist="38100" dir="2700000" algn="tl" rotWithShape="0">
              <a:srgbClr val="000000">
                <a:alpha val="50000"/>
              </a:srgbClr>
            </a:outerShdw>
          </a:effectLst>
        </p:spPr>
      </p:pic>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DD9ABE14-3AE8-5115-8866-7D6C21C4E047}" type="slidenum">
              <a:rPr lang="en-US" sz="1200" dirty="0">
                <a:solidFill>
                  <a:srgbClr val="555B66"/>
                </a:solidFill>
                <a:latin typeface="Calibri"/>
              </a:rPr>
              <a:t>3</a:t>
            </a:fld>
            <a:endParaRPr lang="en-US" sz="1200" dirty="0">
              <a:solidFill>
                <a:srgbClr val="555B66"/>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2 · Perfect Competition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Perfect Competition: The Market and the Firm</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66444" y="1890522"/>
            <a:ext cx="3200400" cy="365760"/>
          </a:xfrm>
          <a:prstGeom prst="rect">
            <a:avLst/>
          </a:prstGeom>
          <a:noFill/>
        </p:spPr>
        <p:txBody>
          <a:bodyPr wrap="square" lIns="0" tIns="0" rIns="0" bIns="0">
            <a:spAutoFit/>
          </a:bodyPr>
          <a:lstStyle/>
          <a:p>
            <a:pPr algn="ctr"/>
            <a:r>
              <a:rPr sz="2200" b="1" i="0" u="none" dirty="0">
                <a:solidFill>
                  <a:srgbClr val="0B2B4E"/>
                </a:solidFill>
                <a:latin typeface="Calibri"/>
              </a:rPr>
              <a:t>Market</a:t>
            </a:r>
          </a:p>
        </p:txBody>
      </p:sp>
      <p:sp>
        <p:nvSpPr>
          <p:cNvPr id="8" name="TextBox 7"/>
          <p:cNvSpPr txBox="1"/>
          <p:nvPr/>
        </p:nvSpPr>
        <p:spPr>
          <a:xfrm>
            <a:off x="7450836" y="1984248"/>
            <a:ext cx="3474720" cy="365760"/>
          </a:xfrm>
          <a:prstGeom prst="rect">
            <a:avLst/>
          </a:prstGeom>
          <a:noFill/>
        </p:spPr>
        <p:txBody>
          <a:bodyPr wrap="square" lIns="0" tIns="0" rIns="0" bIns="0">
            <a:spAutoFit/>
          </a:bodyPr>
          <a:lstStyle/>
          <a:p>
            <a:pPr algn="ctr"/>
            <a:r>
              <a:rPr sz="2200" b="1" i="0" u="none" dirty="0">
                <a:solidFill>
                  <a:srgbClr val="0B2B4E"/>
                </a:solidFill>
                <a:latin typeface="Calibri"/>
              </a:rPr>
              <a:t>Firm (price taker)</a:t>
            </a:r>
          </a:p>
        </p:txBody>
      </p:sp>
      <p:cxnSp>
        <p:nvCxnSpPr>
          <p:cNvPr id="9" name="Connector 8"/>
          <p:cNvCxnSpPr/>
          <p:nvPr/>
        </p:nvCxnSpPr>
        <p:spPr>
          <a:xfrm flipV="1">
            <a:off x="1280160" y="2395727"/>
            <a:ext cx="0" cy="341071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80160" y="5806440"/>
            <a:ext cx="336499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00430" y="2263139"/>
            <a:ext cx="806577" cy="265176"/>
          </a:xfrm>
          <a:prstGeom prst="rect">
            <a:avLst/>
          </a:prstGeom>
          <a:noFill/>
        </p:spPr>
        <p:txBody>
          <a:bodyPr wrap="square" lIns="0" tIns="0" rIns="0" bIns="0">
            <a:spAutoFit/>
          </a:bodyPr>
          <a:lstStyle/>
          <a:p>
            <a:pPr algn="l"/>
            <a:r>
              <a:rPr sz="1700" b="1" i="1" u="none">
                <a:solidFill>
                  <a:srgbClr val="0B2B4E"/>
                </a:solidFill>
                <a:latin typeface="Calibri"/>
              </a:rPr>
              <a:t>Price ($)</a:t>
            </a:r>
          </a:p>
        </p:txBody>
      </p:sp>
      <p:sp>
        <p:nvSpPr>
          <p:cNvPr id="12" name="TextBox 11"/>
          <p:cNvSpPr txBox="1"/>
          <p:nvPr/>
        </p:nvSpPr>
        <p:spPr>
          <a:xfrm>
            <a:off x="4199001" y="5852159"/>
            <a:ext cx="892302" cy="265176"/>
          </a:xfrm>
          <a:prstGeom prst="rect">
            <a:avLst/>
          </a:prstGeom>
          <a:noFill/>
        </p:spPr>
        <p:txBody>
          <a:bodyPr wrap="square" lIns="0" tIns="0" rIns="0" bIns="0">
            <a:spAutoFit/>
          </a:bodyPr>
          <a:lstStyle/>
          <a:p>
            <a:pPr algn="l"/>
            <a:r>
              <a:rPr sz="1700" b="1" i="1" u="none">
                <a:solidFill>
                  <a:srgbClr val="0B2B4E"/>
                </a:solidFill>
                <a:latin typeface="Calibri"/>
              </a:rPr>
              <a:t>Quantity</a:t>
            </a:r>
          </a:p>
        </p:txBody>
      </p:sp>
      <p:cxnSp>
        <p:nvCxnSpPr>
          <p:cNvPr id="13" name="Connector 12"/>
          <p:cNvCxnSpPr/>
          <p:nvPr/>
        </p:nvCxnSpPr>
        <p:spPr>
          <a:xfrm flipV="1">
            <a:off x="7223760" y="2395727"/>
            <a:ext cx="0" cy="341071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223760" y="5806440"/>
            <a:ext cx="363931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44031" y="2263139"/>
            <a:ext cx="806577" cy="265176"/>
          </a:xfrm>
          <a:prstGeom prst="rect">
            <a:avLst/>
          </a:prstGeom>
          <a:noFill/>
        </p:spPr>
        <p:txBody>
          <a:bodyPr wrap="square" lIns="0" tIns="0" rIns="0" bIns="0">
            <a:spAutoFit/>
          </a:bodyPr>
          <a:lstStyle/>
          <a:p>
            <a:pPr algn="l"/>
            <a:r>
              <a:rPr sz="1700" b="1" i="1" u="none">
                <a:solidFill>
                  <a:srgbClr val="0B2B4E"/>
                </a:solidFill>
                <a:latin typeface="Calibri"/>
              </a:rPr>
              <a:t>Price ($)</a:t>
            </a:r>
          </a:p>
        </p:txBody>
      </p:sp>
      <p:sp>
        <p:nvSpPr>
          <p:cNvPr id="16" name="TextBox 15"/>
          <p:cNvSpPr txBox="1"/>
          <p:nvPr/>
        </p:nvSpPr>
        <p:spPr>
          <a:xfrm>
            <a:off x="10416920" y="5852159"/>
            <a:ext cx="892302" cy="265176"/>
          </a:xfrm>
          <a:prstGeom prst="rect">
            <a:avLst/>
          </a:prstGeom>
          <a:noFill/>
        </p:spPr>
        <p:txBody>
          <a:bodyPr wrap="square" lIns="0" tIns="0" rIns="0" bIns="0">
            <a:spAutoFit/>
          </a:bodyPr>
          <a:lstStyle/>
          <a:p>
            <a:pPr algn="l"/>
            <a:r>
              <a:rPr sz="1700" b="1" i="1" u="none">
                <a:solidFill>
                  <a:srgbClr val="0B2B4E"/>
                </a:solidFill>
                <a:latin typeface="Calibri"/>
              </a:rPr>
              <a:t>Quantity</a:t>
            </a:r>
          </a:p>
        </p:txBody>
      </p:sp>
      <p:cxnSp>
        <p:nvCxnSpPr>
          <p:cNvPr id="17" name="Connector 16"/>
          <p:cNvCxnSpPr/>
          <p:nvPr/>
        </p:nvCxnSpPr>
        <p:spPr>
          <a:xfrm flipV="1">
            <a:off x="1472184" y="2884932"/>
            <a:ext cx="2752343" cy="2596895"/>
          </a:xfrm>
          <a:prstGeom prst="line">
            <a:avLst/>
          </a:prstGeom>
          <a:ln w="31750">
            <a:solidFill>
              <a:srgbClr val="0B2B4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72184" y="2884932"/>
            <a:ext cx="2752343" cy="2596895"/>
          </a:xfrm>
          <a:prstGeom prst="line">
            <a:avLst/>
          </a:prstGeom>
          <a:ln w="31750">
            <a:solidFill>
              <a:srgbClr val="B8860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272533" y="2738628"/>
            <a:ext cx="206502" cy="292608"/>
          </a:xfrm>
          <a:prstGeom prst="rect">
            <a:avLst/>
          </a:prstGeom>
          <a:noFill/>
        </p:spPr>
        <p:txBody>
          <a:bodyPr wrap="square" lIns="0" tIns="0" rIns="0" bIns="0">
            <a:spAutoFit/>
          </a:bodyPr>
          <a:lstStyle/>
          <a:p>
            <a:pPr algn="l"/>
            <a:r>
              <a:rPr sz="2000" b="1" i="1" u="none">
                <a:solidFill>
                  <a:srgbClr val="0B2B4E"/>
                </a:solidFill>
                <a:latin typeface="Calibri"/>
              </a:rPr>
              <a:t>S</a:t>
            </a:r>
          </a:p>
        </p:txBody>
      </p:sp>
      <p:sp>
        <p:nvSpPr>
          <p:cNvPr id="20" name="TextBox 19"/>
          <p:cNvSpPr txBox="1"/>
          <p:nvPr/>
        </p:nvSpPr>
        <p:spPr>
          <a:xfrm>
            <a:off x="4272533" y="5303062"/>
            <a:ext cx="235077" cy="292608"/>
          </a:xfrm>
          <a:prstGeom prst="rect">
            <a:avLst/>
          </a:prstGeom>
          <a:noFill/>
        </p:spPr>
        <p:txBody>
          <a:bodyPr wrap="square" lIns="0" tIns="0" rIns="0" bIns="0">
            <a:spAutoFit/>
          </a:bodyPr>
          <a:lstStyle/>
          <a:p>
            <a:pPr algn="l"/>
            <a:r>
              <a:rPr sz="2000" b="1" i="1" u="none">
                <a:solidFill>
                  <a:srgbClr val="B8860B"/>
                </a:solidFill>
                <a:latin typeface="Calibri"/>
              </a:rPr>
              <a:t>D</a:t>
            </a:r>
          </a:p>
        </p:txBody>
      </p:sp>
      <p:sp>
        <p:nvSpPr>
          <p:cNvPr id="21" name="Oval 20"/>
          <p:cNvSpPr/>
          <p:nvPr/>
        </p:nvSpPr>
        <p:spPr>
          <a:xfrm>
            <a:off x="2784348" y="4119371"/>
            <a:ext cx="128016" cy="128016"/>
          </a:xfrm>
          <a:prstGeom prst="ellipse">
            <a:avLst/>
          </a:prstGeom>
          <a:solidFill>
            <a:srgbClr val="C00000"/>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p:cNvCxnSpPr/>
          <p:nvPr/>
        </p:nvCxnSpPr>
        <p:spPr>
          <a:xfrm>
            <a:off x="2848356" y="4183379"/>
            <a:ext cx="4375404" cy="0"/>
          </a:xfrm>
          <a:prstGeom prst="line">
            <a:avLst/>
          </a:prstGeom>
          <a:ln w="25400">
            <a:solidFill>
              <a:srgbClr val="C00000"/>
            </a:solidFill>
            <a:prstDash val="dash"/>
            <a:tailEnd type="triangle" w="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280160" y="4183379"/>
            <a:ext cx="1568196"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95731" y="4046219"/>
            <a:ext cx="311277" cy="274320"/>
          </a:xfrm>
          <a:prstGeom prst="rect">
            <a:avLst/>
          </a:prstGeom>
          <a:noFill/>
        </p:spPr>
        <p:txBody>
          <a:bodyPr wrap="square" lIns="0" tIns="0" rIns="0" bIns="0">
            <a:spAutoFit/>
          </a:bodyPr>
          <a:lstStyle/>
          <a:p>
            <a:pPr algn="r"/>
            <a:r>
              <a:rPr sz="1800" b="1" i="1" u="none">
                <a:solidFill>
                  <a:srgbClr val="0B2B4E"/>
                </a:solidFill>
                <a:latin typeface="Calibri"/>
              </a:rPr>
              <a:t>P*</a:t>
            </a:r>
          </a:p>
        </p:txBody>
      </p:sp>
      <p:sp>
        <p:nvSpPr>
          <p:cNvPr id="25" name="TextBox 24"/>
          <p:cNvSpPr txBox="1"/>
          <p:nvPr/>
        </p:nvSpPr>
        <p:spPr>
          <a:xfrm>
            <a:off x="1979676" y="2450592"/>
            <a:ext cx="1737360" cy="548640"/>
          </a:xfrm>
          <a:prstGeom prst="rect">
            <a:avLst/>
          </a:prstGeom>
          <a:noFill/>
        </p:spPr>
        <p:txBody>
          <a:bodyPr wrap="square" lIns="0" tIns="0" rIns="0" bIns="0">
            <a:spAutoFit/>
          </a:bodyPr>
          <a:lstStyle/>
          <a:p>
            <a:pPr algn="ctr"/>
            <a:r>
              <a:rPr sz="1500" b="0" i="1" u="none">
                <a:solidFill>
                  <a:srgbClr val="C00000"/>
                </a:solidFill>
                <a:latin typeface="Calibri"/>
              </a:rPr>
              <a:t>Market
equilibrium</a:t>
            </a:r>
          </a:p>
        </p:txBody>
      </p:sp>
      <p:cxnSp>
        <p:nvCxnSpPr>
          <p:cNvPr id="26" name="Connector 25"/>
          <p:cNvCxnSpPr/>
          <p:nvPr/>
        </p:nvCxnSpPr>
        <p:spPr>
          <a:xfrm>
            <a:off x="2848356" y="3108960"/>
            <a:ext cx="0" cy="960120"/>
          </a:xfrm>
          <a:prstGeom prst="line">
            <a:avLst/>
          </a:prstGeom>
          <a:ln w="25400">
            <a:solidFill>
              <a:srgbClr val="C00000"/>
            </a:solidFill>
            <a:tailEnd type="triangle" w="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23760" y="4183379"/>
            <a:ext cx="3266236" cy="0"/>
          </a:xfrm>
          <a:prstGeom prst="line">
            <a:avLst/>
          </a:prstGeom>
          <a:ln w="38100">
            <a:solidFill>
              <a:srgbClr val="C0000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281928" y="3931920"/>
            <a:ext cx="868680" cy="274320"/>
          </a:xfrm>
          <a:prstGeom prst="rect">
            <a:avLst/>
          </a:prstGeom>
          <a:noFill/>
        </p:spPr>
        <p:txBody>
          <a:bodyPr wrap="square" lIns="0" tIns="0" rIns="0" bIns="0">
            <a:spAutoFit/>
          </a:bodyPr>
          <a:lstStyle/>
          <a:p>
            <a:pPr algn="r"/>
            <a:r>
              <a:rPr sz="1800" b="1" i="1" u="none">
                <a:solidFill>
                  <a:srgbClr val="0B2B4E"/>
                </a:solidFill>
                <a:latin typeface="Calibri"/>
              </a:rPr>
              <a:t>P*</a:t>
            </a:r>
          </a:p>
        </p:txBody>
      </p:sp>
      <p:sp>
        <p:nvSpPr>
          <p:cNvPr id="29" name="TextBox 28"/>
          <p:cNvSpPr txBox="1"/>
          <p:nvPr/>
        </p:nvSpPr>
        <p:spPr>
          <a:xfrm>
            <a:off x="7406640" y="3840480"/>
            <a:ext cx="4434840" cy="365760"/>
          </a:xfrm>
          <a:prstGeom prst="rect">
            <a:avLst/>
          </a:prstGeom>
          <a:noFill/>
        </p:spPr>
        <p:txBody>
          <a:bodyPr wrap="square" lIns="0" tIns="0" rIns="0" bIns="0">
            <a:spAutoFit/>
          </a:bodyPr>
          <a:lstStyle/>
          <a:p>
            <a:pPr algn="l"/>
            <a:r>
              <a:rPr sz="1700" b="1" i="0" u="none" dirty="0">
                <a:solidFill>
                  <a:srgbClr val="C00000"/>
                </a:solidFill>
                <a:latin typeface="Calibri"/>
              </a:rPr>
              <a:t>Demand curve  d  =  Marginal Revenue (MR)</a:t>
            </a:r>
          </a:p>
        </p:txBody>
      </p:sp>
      <p:sp>
        <p:nvSpPr>
          <p:cNvPr id="30" name="Rectangle 2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33" name="TextBox 32"/>
          <p:cNvSpPr txBox="1"/>
          <p:nvPr/>
        </p:nvSpPr>
        <p:spPr>
          <a:xfrm>
            <a:off x="11475720" y="6583680"/>
            <a:ext cx="502920" cy="292608"/>
          </a:xfrm>
          <a:prstGeom prst="rect">
            <a:avLst/>
          </a:prstGeom>
          <a:noFill/>
        </p:spPr>
        <p:txBody>
          <a:bodyPr wrap="none" lIns="0" tIns="0" rIns="0" bIns="0">
            <a:spAutoFit/>
          </a:bodyPr>
          <a:lstStyle/>
          <a:p>
            <a:pPr algn="r"/>
            <a:fld id="{972B4CC0-F718-5ECA-B75E-378D901D90F2}" type="slidenum">
              <a:rPr lang="en-US" sz="1200" dirty="0">
                <a:solidFill>
                  <a:srgbClr val="555B66"/>
                </a:solidFill>
                <a:latin typeface="Calibri"/>
              </a:rPr>
              <a:t>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par>
                                <p:cTn id="16" presetID="10" presetClass="entr" presetSubtype="0" fill="hold"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500"/>
                                        <p:tgtEl>
                                          <p:spTgt spid="25"/>
                                        </p:tgtEl>
                                      </p:cBhvr>
                                    </p:animEffect>
                                  </p:childTnLst>
                                </p:cTn>
                              </p:par>
                              <p:par>
                                <p:cTn id="27" presetID="10" presetClass="entr" presetSubtype="0" fill="hold"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5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par>
                                <p:cTn id="35" presetID="10"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500"/>
                                        <p:tgtEl>
                                          <p:spTgt spid="27"/>
                                        </p:tgtEl>
                                      </p:cBhvr>
                                    </p:animEffect>
                                  </p:childTnLst>
                                </p:cTn>
                              </p:par>
                              <p:par>
                                <p:cTn id="48" presetID="10" presetClass="entr" presetSubtype="0" fill="hold"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500"/>
                                        <p:tgtEl>
                                          <p:spTgt spid="28"/>
                                        </p:tgtEl>
                                      </p:cBhvr>
                                    </p:animEffect>
                                  </p:childTnLst>
                                </p:cTn>
                              </p:par>
                              <p:par>
                                <p:cTn id="51" presetID="10" presetClass="entr" presetSubtype="0" fill="hold" nodeType="with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2 · Perfect Competition</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lang="en-US" sz="3200" b="1" i="0" u="none" dirty="0">
                <a:solidFill>
                  <a:srgbClr val="0B2B4E"/>
                </a:solidFill>
                <a:latin typeface="Calibri"/>
              </a:rPr>
              <a:t>Perfect Competition and Farmer Protests</a:t>
            </a:r>
            <a:endParaRPr sz="3200" b="1" i="0" u="none" dirty="0">
              <a:solidFill>
                <a:srgbClr val="0B2B4E"/>
              </a:solidFill>
              <a:latin typeface="Calibri"/>
            </a:endParaRP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463040"/>
            <a:ext cx="9509760" cy="1188720"/>
          </a:xfrm>
          <a:prstGeom prst="rect">
            <a:avLst/>
          </a:prstGeom>
          <a:noFill/>
        </p:spPr>
        <p:txBody>
          <a:bodyPr wrap="square" lIns="0" tIns="0" rIns="0" bIns="0">
            <a:noAutofit/>
          </a:bodyPr>
          <a:lstStyle>
            <a:lvl1pPr marL="342900" indent="-342900">
              <a:spcBef>
                <a:spcPts val="14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Germany cut its farm subsidies in 2024</a:t>
            </a:r>
          </a:p>
          <a:p>
            <a:pPr algn="l"/>
            <a:r>
              <a:rPr>
                <a:latin typeface="Calibri"/>
              </a:rPr>
              <a:t>Some farmers stood to lose up to €10,000 a year</a:t>
            </a:r>
          </a:p>
        </p:txBody>
      </p:sp>
      <p:grpSp>
        <p:nvGrpSpPr>
          <p:cNvPr id="117" name="Group pair 117"/>
          <p:cNvGrpSpPr/>
          <p:nvPr/>
        </p:nvGrpSpPr>
        <p:grpSpPr>
          <a:xfrm>
            <a:off x="457200" y="2651760"/>
            <a:ext cx="5888736" cy="3840480"/>
            <a:chOff x="457200" y="2651760"/>
            <a:chExt cx="5888736" cy="3840480"/>
          </a:xfrm>
        </p:grpSpPr>
        <p:pic>
          <p:nvPicPr>
            <p:cNvPr id="8" name="Picture 7" descr="NV_s11_4_e363d6f5.png"/>
            <p:cNvPicPr>
              <a:picLocks noChangeAspect="1"/>
            </p:cNvPicPr>
            <p:nvPr/>
          </p:nvPicPr>
          <p:blipFill>
            <a:blip r:embed="rId3"/>
            <a:stretch>
              <a:fillRect/>
            </a:stretch>
          </p:blipFill>
          <p:spPr>
            <a:xfrm>
              <a:off x="457200" y="2651760"/>
              <a:ext cx="5888736" cy="3486752"/>
            </a:xfrm>
            <a:prstGeom prst="roundRect">
              <a:avLst>
                <a:gd name="adj" fmla="val 8000"/>
              </a:avLst>
            </a:prstGeom>
            <a:effectLst>
              <a:outerShdw blurRad="50800" dist="38100" dir="2700000" algn="tl" rotWithShape="0">
                <a:srgbClr val="000000">
                  <a:alpha val="50000"/>
                </a:srgbClr>
              </a:outerShdw>
            </a:effectLst>
          </p:spPr>
        </p:pic>
        <p:sp>
          <p:nvSpPr>
            <p:cNvPr id="9" name="TextBox 8"/>
            <p:cNvSpPr txBox="1"/>
            <p:nvPr/>
          </p:nvSpPr>
          <p:spPr>
            <a:xfrm>
              <a:off x="457200" y="6199632"/>
              <a:ext cx="5888736" cy="292608"/>
            </a:xfrm>
            <a:prstGeom prst="rect">
              <a:avLst/>
            </a:prstGeom>
            <a:noFill/>
          </p:spPr>
          <p:txBody>
            <a:bodyPr wrap="square" lIns="0" tIns="0" rIns="0" bIns="0">
              <a:spAutoFit/>
            </a:bodyPr>
            <a:lstStyle/>
            <a:p>
              <a:pPr algn="ctr"/>
              <a:r>
                <a:rPr sz="1200" b="0" i="1" u="none">
                  <a:solidFill>
                    <a:srgbClr val="555B66"/>
                  </a:solidFill>
                  <a:latin typeface="Calibri"/>
                </a:rPr>
                <a:t>Farmer protests in Berlin, January 2024. Photo: The Guardian</a:t>
              </a:r>
            </a:p>
          </p:txBody>
        </p:sp>
      </p:grpSp>
      <p:grpSp>
        <p:nvGrpSpPr>
          <p:cNvPr id="116" name="Group pair 116"/>
          <p:cNvGrpSpPr/>
          <p:nvPr/>
        </p:nvGrpSpPr>
        <p:grpSpPr>
          <a:xfrm>
            <a:off x="6784848" y="3200400"/>
            <a:ext cx="4965192" cy="1512752"/>
            <a:chOff x="7095744" y="3200400"/>
            <a:chExt cx="4654296" cy="2240280"/>
          </a:xfrm>
        </p:grpSpPr>
        <p:sp>
          <p:nvSpPr>
            <p:cNvPr id="10" name="Rounded Rectangle 9"/>
            <p:cNvSpPr/>
            <p:nvPr/>
          </p:nvSpPr>
          <p:spPr>
            <a:xfrm>
              <a:off x="7095744" y="3200400"/>
              <a:ext cx="4654296" cy="2240280"/>
            </a:xfrm>
            <a:prstGeom prst="roundRect">
              <a:avLst>
                <a:gd name="adj" fmla="val 10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278624" y="3310128"/>
              <a:ext cx="4288536" cy="2020824"/>
            </a:xfrm>
            <a:prstGeom prst="rect">
              <a:avLst/>
            </a:prstGeom>
            <a:noFill/>
          </p:spPr>
          <p:txBody>
            <a:bodyPr wrap="square" lIns="45720" tIns="0" rIns="45720" bIns="0" anchor="ctr">
              <a:spAutoFit/>
            </a:bodyPr>
            <a:lstStyle/>
            <a:p>
              <a:pPr algn="l"/>
              <a:r>
                <a:rPr sz="1900" b="0" i="1" u="none" dirty="0">
                  <a:solidFill>
                    <a:srgbClr val="0B2B4E"/>
                  </a:solidFill>
                  <a:latin typeface="Calibri"/>
                </a:rPr>
                <a:t>“For farmers there is a structural problem: they cannot pass on their production costs, because the prices are not made by them.”</a:t>
              </a:r>
              <a:r>
                <a:rPr sz="1900" b="0" i="0" u="none" dirty="0">
                  <a:solidFill>
                    <a:srgbClr val="0B2B4E"/>
                  </a:solidFill>
                  <a:latin typeface="Calibri"/>
                </a:rPr>
                <a:t>
</a:t>
              </a:r>
              <a:r>
                <a:rPr sz="1700" b="1" i="0" u="none" dirty="0">
                  <a:solidFill>
                    <a:srgbClr val="0B2B4E"/>
                  </a:solidFill>
                  <a:latin typeface="Calibri"/>
                </a:rPr>
                <a:t>— Germany's Minister of Economic Affairs, 2024</a:t>
              </a:r>
            </a:p>
          </p:txBody>
        </p:sp>
      </p:grpSp>
      <p:pic>
        <p:nvPicPr>
          <p:cNvPr id="12" name="Picture 11" descr="NV_s11_5_d816cef7.png"/>
          <p:cNvPicPr>
            <a:picLocks noChangeAspect="1"/>
          </p:cNvPicPr>
          <p:nvPr/>
        </p:nvPicPr>
        <p:blipFill>
          <a:blip r:embed="rId4"/>
          <a:stretch>
            <a:fillRect/>
          </a:stretch>
        </p:blipFill>
        <p:spPr>
          <a:xfrm>
            <a:off x="10149840" y="1417320"/>
            <a:ext cx="1600200" cy="562937"/>
          </a:xfrm>
          <a:prstGeom prst="rect">
            <a:avLst/>
          </a:prstGeom>
        </p:spPr>
      </p:pic>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6" name="TextBox 15"/>
          <p:cNvSpPr txBox="1"/>
          <p:nvPr/>
        </p:nvSpPr>
        <p:spPr>
          <a:xfrm>
            <a:off x="11475720" y="6583680"/>
            <a:ext cx="502920" cy="292608"/>
          </a:xfrm>
          <a:prstGeom prst="rect">
            <a:avLst/>
          </a:prstGeom>
          <a:noFill/>
        </p:spPr>
        <p:txBody>
          <a:bodyPr wrap="none" lIns="0" tIns="0" rIns="0" bIns="0">
            <a:spAutoFit/>
          </a:bodyPr>
          <a:lstStyle/>
          <a:p>
            <a:pPr algn="r"/>
            <a:fld id="{F2164A52-DE7E-5885-B494-5082134294D2}" type="slidenum">
              <a:rPr lang="en-US" sz="1200" dirty="0">
                <a:solidFill>
                  <a:srgbClr val="555B66"/>
                </a:solidFill>
                <a:latin typeface="Calibri"/>
              </a:rPr>
              <a:t>5</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7"/>
                                        </p:tgtEl>
                                        <p:attrNameLst>
                                          <p:attrName>style.visibility</p:attrName>
                                        </p:attrNameLst>
                                      </p:cBhvr>
                                      <p:to>
                                        <p:strVal val="visible"/>
                                      </p:to>
                                    </p:set>
                                    <p:animEffect transition="in" filter="fade">
                                      <p:cBhvr>
                                        <p:cTn id="12" dur="500"/>
                                        <p:tgtEl>
                                          <p:spTgt spid="1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6"/>
                                        </p:tgtEl>
                                        <p:attrNameLst>
                                          <p:attrName>style.visibility</p:attrName>
                                        </p:attrNameLst>
                                      </p:cBhvr>
                                      <p:to>
                                        <p:strVal val="visible"/>
                                      </p:to>
                                    </p:set>
                                    <p:animEffect transition="in" filter="fade">
                                      <p:cBhvr>
                                        <p:cTn id="17" dur="5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718</Words>
  <Application>Microsoft Office PowerPoint</Application>
  <PresentationFormat>Widescreen</PresentationFormat>
  <Paragraphs>85</Paragraphs>
  <Slides>5</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8</cp:revision>
  <dcterms:created xsi:type="dcterms:W3CDTF">2013-01-27T09:14:16Z</dcterms:created>
  <dcterms:modified xsi:type="dcterms:W3CDTF">2026-08-31T05:28:38Z</dcterms:modified>
  <cp:category/>
</cp:coreProperties>
</file>