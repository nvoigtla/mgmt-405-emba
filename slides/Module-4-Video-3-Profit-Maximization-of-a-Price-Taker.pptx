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69" r:id="rId2"/>
    <p:sldId id="270" r:id="rId3"/>
    <p:sldId id="271" r:id="rId4"/>
    <p:sldId id="272" r:id="rId5"/>
    <p:sldId id="273" r:id="rId6"/>
    <p:sldId id="274" r:id="rId7"/>
    <p:sldId id="275" r:id="rId8"/>
    <p:sldId id="276" r:id="rId9"/>
    <p:sldId id="277" r:id="rId10"/>
    <p:sldId id="278" r:id="rId11"/>
    <p:sldId id="319" r:id="rId12"/>
    <p:sldId id="280" r:id="rId13"/>
    <p:sldId id="281" r:id="rId14"/>
    <p:sldId id="282" r:id="rId15"/>
    <p:sldId id="283" r:id="rId16"/>
    <p:sldId id="285" r:id="rId17"/>
    <p:sldId id="286" r:id="rId18"/>
    <p:sldId id="287" r:id="rId19"/>
    <p:sldId id="288" r:id="rId20"/>
    <p:sldId id="292" r:id="rId21"/>
    <p:sldId id="293" r:id="rId22"/>
    <p:sldId id="294" r:id="rId23"/>
    <p:sldId id="295" r:id="rId24"/>
    <p:sldId id="296" r:id="rId25"/>
    <p:sldId id="297" r:id="rId26"/>
    <p:sldId id="298" r:id="rId27"/>
    <p:sldId id="299" r:id="rId28"/>
    <p:sldId id="300" r:id="rId29"/>
    <p:sldId id="320" r:id="rId30"/>
    <p:sldId id="302" r:id="rId31"/>
    <p:sldId id="303"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114"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505D57-B5B1-42E8-9F79-99CE7754156E}" type="datetimeFigureOut">
              <a:rPr lang="en-US" smtClean="0"/>
              <a:t>8/31/2026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A79474-3F6C-4F5A-AEB7-943304FF46E0}" type="slidenum">
              <a:rPr lang="en-US" smtClean="0"/>
              <a:t>‹#›</a:t>
            </a:fld>
            <a:endParaRPr lang="en-US"/>
          </a:p>
        </p:txBody>
      </p:sp>
    </p:spTree>
    <p:extLst>
      <p:ext uri="{BB962C8B-B14F-4D97-AF65-F5344CB8AC3E}">
        <p14:creationId xmlns:p14="http://schemas.microsoft.com/office/powerpoint/2010/main" val="1969772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a price taker, revenue is simple: every extra unit sells at the same market price, so marginal revenue equals that price and never falls. This is the one case where MR = P, and it is why the profit-maximising rule collapses to P = MC. Keep that in mind, because it will not hold once we get to firms with market power.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Any perfectly competitive firm sells at the price set by the market. Perfectly competitive firms then have one decision to make: the quantity to supply.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profit maximisation seen through totals rather than margins. Total revenue is a straight line because price is constant; total cost rises and then curves up as diminishing returns bite. Profit is the vertical gap between them, and it is widest exactly where the two curves are parallel - which is the same thing as saying marginal revenue equals marginal cost.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Meet the Yi family. They have moved from California to rural Arkansas to grow Korean cabbage and sell it to vendors in Dallas at whatever the market price happens to be. We will follow their cabbage crop for the rest of this section, so every abstract rule gets tested against a real set of numbers.</a:t>
            </a:r>
          </a:p>
          <a:p>
            <a:endParaRPr/>
          </a:p>
          <a:p>
            <a:r>
              <a:t>https://www.vulture.com/article/minari-movie-review-a-gentle-immigrant-drama-set-in-u-s.html</a:t>
            </a:r>
          </a:p>
          <a:p>
            <a:r>
              <a:t>https://time.com/5938842/minari-korean-american-farmers/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matters to you as a manager: almost no business is a textbook price taker, but many face something close to it in at least one market - a commodity input, a contract-manufacturing line, a spot market. The discipline of asking what you can and cannot influence about your price is the useful part.</a:t>
            </a:r>
          </a:p>
          <a:p>
            <a:endParaRPr/>
          </a:p>
          <a:p>
            <a:r>
              <a:t>In bullet number 2: emphasize that no price decision since we are price takers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for the costs: https://ucanr.edu/sites/Farm_Management/files/179212.pdf</a:t>
            </a:r>
          </a:p>
          <a:p>
            <a:r>
              <a:t>Opportunity costs: salary from working somewhere else, estimated at about 15k</a:t>
            </a:r>
          </a:p>
          <a:p>
            <a:endParaRPr/>
          </a:p>
          <a:p>
            <a:r>
              <a:t>Quantity in tons</a:t>
            </a:r>
          </a:p>
          <a:p>
            <a:endParaRPr/>
          </a:p>
          <a:p>
            <a:r>
              <a:t>Fixed Costs: land rent, equipment + opportunity costs</a:t>
            </a:r>
          </a:p>
          <a:p>
            <a:r>
              <a:t>Variable Costs: seeds, water, fertilizers, pesticides</a:t>
            </a:r>
          </a:p>
          <a:p>
            <a:endParaRPr/>
          </a:p>
          <a:p>
            <a:r>
              <a:t>Images: right (water), top left (fertilizers), bottom left (seeds)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Yi family's cost function. The fixed cost of 60,000 dollars is the land and equipment they are committed to for the season. The variable part rises more than proportionally with output, which is exactly the diminishing returns we saw in Module 3 showing up in dollars.</a:t>
            </a:r>
          </a:p>
          <a:p>
            <a:endParaRPr/>
          </a:p>
          <a:p>
            <a:r>
              <a:t>Source for the costs: https://ucanr.edu/sites/Farm_Management/files/179212.pdf</a:t>
            </a:r>
          </a:p>
          <a:p>
            <a:r>
              <a:t>Opportunity costs: salary from working somewhere else, estimated at about 15k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Market price: $400 per ton is about $20 per cwt, which is the USDA season-average price for fresh-market cabbage in 2020. Recent years run higher — $31.10 per cwt in 2024.</a:t>
            </a:r>
          </a:p>
          <a:p>
            <a:r>
              <a:t>https://www.agmrc.org/commodities-products/vegetables/cabbage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 through the algebra with me. Marginal cost is the derivative of total cost, we set it equal to the market price, and we solve for quantity. The answer is the only output level at which the family cannot do better by producing one more or one less ton.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profit itself. We take the optimal quantity, compute total revenue and total cost at that quantity, and take the difference. Notice that the answer is positive here - that will not always be the case, and the rest of this section is about what to do when it is not.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Average total cost is the second lens on the same problem. Total cost divided by quantity tells you what each ton costs on average, and comparing that to the price tells you immediately whether you are making money. It is the version of the calculation that most managers actually carry in their head.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picture behind the arithmetic. The height of the shaded box is price minus average total cost - the profit on each ton - and the width is the number of tons. Multiply the two and you have total profit, which is why the box is the profit.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measure profit, we subtract total cost from total revenue.</a:t>
            </a:r>
          </a:p>
          <a:p>
            <a:endParaRPr/>
          </a:p>
          <a:p>
            <a:r>
              <a:t>Profit = TR – TC</a:t>
            </a:r>
          </a:p>
          <a:p>
            <a:r>
              <a:t>We can rewrite this as:</a:t>
            </a:r>
          </a:p>
          <a:p>
            <a:r>
              <a:t>Profit = P*Q – ATC*Q</a:t>
            </a:r>
          </a:p>
          <a:p>
            <a:r>
              <a:t>Profit = (P – ATC)*Q</a:t>
            </a:r>
          </a:p>
          <a:p>
            <a:endParaRPr/>
          </a:p>
          <a:p>
            <a:r>
              <a:t>This formula determines whether the firm has positive, zero, or negative profit.</a:t>
            </a:r>
          </a:p>
          <a:p>
            <a:endParaRPr/>
          </a:p>
          <a:p>
            <a:r>
              <a:t>Positive profit: In this figure, the firm’s total revenue is the area of the rectangle with height P and width Q*. The total cost is the area of the rectangle with the height ATC* and the width Q*. Because total revenue exceeds total costs at Q*, the firm is earning positive profits. This equation tells us that profit is positive when P&gt;ATC at the profit maximizing quantity Q*. </a:t>
            </a:r>
          </a:p>
          <a:p>
            <a:endParaRPr/>
          </a:p>
          <a:p>
            <a:r>
              <a:t>Zero profit: Here P=ATC (=MC). We know that MC intersects ATC at its minimum. </a:t>
            </a:r>
          </a:p>
          <a:p>
            <a:endParaRPr/>
          </a:p>
          <a:p>
            <a:r>
              <a:t>Negative profit: P&lt;ATC</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question that trips people up. If profit is negative, should the firm stop? Not necessarily - the fixed costs are owed either way in the short run, so the only question is whether revenue covers the costs that producing actually adds. That is the distinction the next slide makes precise.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short-run rule in one line. Compare price to average VARIABLE cost, not to average total cost. If price covers the variable cost of each unit, producing contributes something towards the fixed costs and the firm should keep going; if it does not, producing makes the loss bigger than the fixed costs alone.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market moves against the Yi family. Cheap Chinese imports push the US price down from 400 to 210 dollars a ton. Work through the three questions with the person next to you before we look at the answer - the numbers are all on the earlier slides.</a:t>
            </a:r>
          </a:p>
          <a:p>
            <a:endParaRPr/>
          </a:p>
          <a:p>
            <a:r>
              <a:t>Questions 2 and 3 solved by instructor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new optimum. Same rule, new price: set marginal cost equal to 210 and solve. The quantity falls, and when we compute profit at that quantity it is now negative - so the interesting question is the one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here is the decision. At the new price the family loses money, but price still exceeds average variable cost, so every ton they sell contributes something towards the land and equipment they are paying for anyway. They should keep producing through the season and reconsider in the long run.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slides, say that we show them in the general case (MC not linear)</a:t>
            </a:r>
          </a:p>
          <a:p>
            <a:r>
              <a:t>Context: At the beginning can sell at a very high price… Profit maximization in the short run. This figure depicts positive profit in the short run.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logic on a more realistic cost function, where average variable cost is U-shaped rather than rising throughout. Optimal output is still where marginal cost meets price. Here price sits above average total cost at that quantity, so the shaded rectangle is genuine economic profit.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general case at a lower price. Q* is still where MC meets P, but now price is below average total cost, so the rectangle is a loss. The firm keeps producing anyway, because price is still above average variable cost.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loss case on the complex cost function. Notice that nothing about the rule changed - only where the price line happens to sit relative to the two average-cost curves.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lowest price case. Here the price line lies below average variable cost at every output, so there is no quantity at which producing helps. The firm stops production and eats the fixed costs.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the same conclusion on the complex cost function. Because marginal cost really does dip below average variable cost here, there IS a quantity where MC equals P - but price is still below AVC at that quantity, so producing would lose more than the fixed costs. Stopping is still right.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Your turn. A coffee bean producer, marginal cost of 10, average variable cost of 12, and a market price you can read off the slide. Decide what they should do before we work it through.</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The Coffee Bean Producer Should...
https://www.polleverywhere.com/multiple_choice_polls/sry3DICjteteqyV1Ny4gL?state=opened&amp;flow=Default&amp;onscreen=persist</a:t>
            </a:r>
          </a:p>
        </p:txBody>
      </p:sp>
      <p:sp>
        <p:nvSpPr>
          <p:cNvPr id="4" name="Slide Number Placeholder 3"/>
          <p:cNvSpPr>
            <a:spLocks noGrp="1"/>
          </p:cNvSpPr>
          <p:nvPr>
            <p:ph type="sldNum" sz="quarter" idx="5"/>
          </p:nvPr>
        </p:nvSpPr>
        <p:spPr/>
        <p:txBody>
          <a:bodyPr/>
          <a:lstStyle/>
          <a:p>
            <a:fld id="{C5A79474-3F6C-4F5A-AEB7-943304FF46E0}" type="slidenum">
              <a:rPr lang="en-US" smtClean="0"/>
              <a:t>29</a:t>
            </a:fld>
            <a:endParaRPr lang="en-US"/>
          </a:p>
        </p:txBody>
      </p:sp>
      <p:sp>
        <p:nvSpPr>
          <p:cNvPr id="5" name="TextBox 4">
            <a:extLst>
              <a:ext uri="{FF2B5EF4-FFF2-40B4-BE49-F238E27FC236}">
                <a16:creationId xmlns:a16="http://schemas.microsoft.com/office/drawing/2014/main" id="{AA3E9647-4D33-E488-B5CB-ECE5EC715DC4}"/>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4709763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answer. The output level is already profit-maximising, because for a price taker marginal cost equals price - so price is 10. But average variable cost is 12, which means every unit sold loses money on its own variable cost. Stop production; the fixed costs still have to be paid, and that is the smaller loss.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from this section on one slide. Find the quantity where marginal cost equals price, then use the price-versus-AVC test to decide whether to produce at all. Problem Set 3 works through both steps on new numbers.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jpg"/><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48.png"/><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999" y="1920240"/>
            <a:ext cx="11687697" cy="914400"/>
          </a:xfrm>
          <a:prstGeom prst="rect">
            <a:avLst/>
          </a:prstGeom>
          <a:noFill/>
        </p:spPr>
        <p:txBody>
          <a:bodyPr wrap="square" lIns="0" tIns="0" rIns="0" bIns="0">
            <a:spAutoFit/>
          </a:bodyPr>
          <a:lstStyle/>
          <a:p>
            <a:pPr algn="ctr"/>
            <a:r>
              <a:rPr sz="6000" b="1" i="0" u="none" dirty="0">
                <a:solidFill>
                  <a:srgbClr val="0B2B4E"/>
                </a:solidFill>
                <a:latin typeface="Calibri"/>
              </a:rPr>
              <a:t>Profit Maximization of a Price Taker</a:t>
            </a:r>
          </a:p>
        </p:txBody>
      </p:sp>
      <p:sp>
        <p:nvSpPr>
          <p:cNvPr id="3" name="TextBox 2"/>
          <p:cNvSpPr txBox="1"/>
          <p:nvPr/>
        </p:nvSpPr>
        <p:spPr>
          <a:xfrm>
            <a:off x="251999" y="2971800"/>
            <a:ext cx="11687697" cy="640080"/>
          </a:xfrm>
          <a:prstGeom prst="rect">
            <a:avLst/>
          </a:prstGeom>
          <a:noFill/>
        </p:spPr>
        <p:txBody>
          <a:bodyPr wrap="square" lIns="0" tIns="0" rIns="0" bIns="0">
            <a:spAutoFit/>
          </a:bodyPr>
          <a:lstStyle/>
          <a:p>
            <a:pPr algn="ctr"/>
            <a:r>
              <a:rPr sz="4000" b="1" i="0" u="none">
                <a:solidFill>
                  <a:srgbClr val="E09F3E"/>
                </a:solidFill>
                <a:latin typeface="Calibri"/>
              </a:rPr>
              <a:t>Module 4  ·  Video 3</a:t>
            </a:r>
          </a:p>
        </p:txBody>
      </p:sp>
      <p:sp>
        <p:nvSpPr>
          <p:cNvPr id="4" name="Rectangle 3"/>
          <p:cNvSpPr/>
          <p:nvPr/>
        </p:nvSpPr>
        <p:spPr>
          <a:xfrm>
            <a:off x="4267047" y="3913632"/>
            <a:ext cx="365760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1999" y="4224528"/>
            <a:ext cx="11687697" cy="41148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251999" y="4864608"/>
            <a:ext cx="11687697" cy="36576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Rounded Rectangle 7"/>
          <p:cNvSpPr/>
          <p:nvPr/>
        </p:nvSpPr>
        <p:spPr>
          <a:xfrm>
            <a:off x="10332720" y="154305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1</a:t>
            </a:r>
          </a:p>
        </p:txBody>
      </p:sp>
      <p:sp>
        <p:nvSpPr>
          <p:cNvPr id="9" name="TextBox 8"/>
          <p:cNvSpPr txBox="1"/>
          <p:nvPr/>
        </p:nvSpPr>
        <p:spPr>
          <a:xfrm>
            <a:off x="1874519" y="1552194"/>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Market Structures</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1" name="Rounded Rectangle 10"/>
          <p:cNvSpPr/>
          <p:nvPr/>
        </p:nvSpPr>
        <p:spPr>
          <a:xfrm>
            <a:off x="10332720" y="226085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2</a:t>
            </a:r>
          </a:p>
        </p:txBody>
      </p:sp>
      <p:sp>
        <p:nvSpPr>
          <p:cNvPr id="12" name="TextBox 11"/>
          <p:cNvSpPr txBox="1"/>
          <p:nvPr/>
        </p:nvSpPr>
        <p:spPr>
          <a:xfrm>
            <a:off x="1874519" y="2269998"/>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Perfect Competition</a:t>
            </a:r>
          </a:p>
        </p:txBody>
      </p:sp>
      <p:sp>
        <p:nvSpPr>
          <p:cNvPr id="13" name="Rounded Rectangle 12"/>
          <p:cNvSpPr/>
          <p:nvPr/>
        </p:nvSpPr>
        <p:spPr>
          <a:xfrm>
            <a:off x="822960" y="2759202"/>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463040" y="283235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0B2B4E"/>
                </a:solidFill>
                <a:latin typeface="Calibri"/>
              </a:rPr>
              <a:t>2a</a:t>
            </a:r>
          </a:p>
        </p:txBody>
      </p:sp>
      <p:sp>
        <p:nvSpPr>
          <p:cNvPr id="15" name="Rounded Rectangle 14"/>
          <p:cNvSpPr/>
          <p:nvPr/>
        </p:nvSpPr>
        <p:spPr>
          <a:xfrm>
            <a:off x="10707625" y="2978658"/>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3</a:t>
            </a:r>
          </a:p>
        </p:txBody>
      </p:sp>
      <p:sp>
        <p:nvSpPr>
          <p:cNvPr id="16" name="TextBox 15"/>
          <p:cNvSpPr txBox="1"/>
          <p:nvPr/>
        </p:nvSpPr>
        <p:spPr>
          <a:xfrm>
            <a:off x="2148840" y="2814066"/>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Profit Maximization of a Price Taker in the Short Run</a:t>
            </a:r>
          </a:p>
          <a:p>
            <a:pPr algn="l">
              <a:spcBef>
                <a:spcPts val="0"/>
              </a:spcBef>
              <a:buNone/>
            </a:pPr>
            <a:r>
              <a:rPr sz="2000">
                <a:solidFill>
                  <a:srgbClr val="555B66"/>
                </a:solidFill>
                <a:latin typeface="Calibri"/>
              </a:rPr>
              <a:t>How much to produce, and when to stop production</a:t>
            </a:r>
          </a:p>
        </p:txBody>
      </p:sp>
      <p:sp>
        <p:nvSpPr>
          <p:cNvPr id="17" name="Oval 16"/>
          <p:cNvSpPr/>
          <p:nvPr/>
        </p:nvSpPr>
        <p:spPr>
          <a:xfrm>
            <a:off x="1463040" y="355015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2b</a:t>
            </a:r>
          </a:p>
        </p:txBody>
      </p:sp>
      <p:sp>
        <p:nvSpPr>
          <p:cNvPr id="18" name="Rounded Rectangle 17"/>
          <p:cNvSpPr/>
          <p:nvPr/>
        </p:nvSpPr>
        <p:spPr>
          <a:xfrm>
            <a:off x="10707625" y="3696462"/>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4</a:t>
            </a:r>
          </a:p>
        </p:txBody>
      </p:sp>
      <p:sp>
        <p:nvSpPr>
          <p:cNvPr id="19" name="TextBox 18"/>
          <p:cNvSpPr txBox="1"/>
          <p:nvPr/>
        </p:nvSpPr>
        <p:spPr>
          <a:xfrm>
            <a:off x="2148840" y="3705606"/>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Firm-Level and Market Supply</a:t>
            </a:r>
          </a:p>
        </p:txBody>
      </p:sp>
      <p:sp>
        <p:nvSpPr>
          <p:cNvPr id="20" name="Oval 19"/>
          <p:cNvSpPr/>
          <p:nvPr/>
        </p:nvSpPr>
        <p:spPr>
          <a:xfrm>
            <a:off x="1463040" y="426796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2c</a:t>
            </a:r>
          </a:p>
        </p:txBody>
      </p:sp>
      <p:sp>
        <p:nvSpPr>
          <p:cNvPr id="21" name="Rounded Rectangle 20"/>
          <p:cNvSpPr/>
          <p:nvPr/>
        </p:nvSpPr>
        <p:spPr>
          <a:xfrm>
            <a:off x="10707625" y="441426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5</a:t>
            </a:r>
          </a:p>
        </p:txBody>
      </p:sp>
      <p:sp>
        <p:nvSpPr>
          <p:cNvPr id="22" name="TextBox 21"/>
          <p:cNvSpPr txBox="1"/>
          <p:nvPr/>
        </p:nvSpPr>
        <p:spPr>
          <a:xfrm>
            <a:off x="2148840" y="4423410"/>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Long-Run Competitive Equilibrium</a:t>
            </a:r>
          </a:p>
        </p:txBody>
      </p:sp>
      <p:sp>
        <p:nvSpPr>
          <p:cNvPr id="23" name="Oval 22"/>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24" name="Rounded Rectangle 23"/>
          <p:cNvSpPr/>
          <p:nvPr/>
        </p:nvSpPr>
        <p:spPr>
          <a:xfrm>
            <a:off x="10332720" y="513207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5" name="TextBox 24"/>
          <p:cNvSpPr txBox="1"/>
          <p:nvPr/>
        </p:nvSpPr>
        <p:spPr>
          <a:xfrm>
            <a:off x="1874519" y="5141214"/>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Market Distortions and Regulations</a:t>
            </a:r>
          </a:p>
        </p:txBody>
      </p:sp>
      <p:sp>
        <p:nvSpPr>
          <p:cNvPr id="26" name="Oval 25"/>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27" name="Rounded Rectangle 26"/>
          <p:cNvSpPr/>
          <p:nvPr/>
        </p:nvSpPr>
        <p:spPr>
          <a:xfrm>
            <a:off x="10332720" y="584987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8" name="TextBox 27"/>
          <p:cNvSpPr txBox="1"/>
          <p:nvPr/>
        </p:nvSpPr>
        <p:spPr>
          <a:xfrm>
            <a:off x="1874519" y="5859018"/>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Externalities</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53793BDB-F8E4-5A87-9208-0FE1942BB6AD}"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Price Taker Revenue Conditions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4" name="Group pair 134"/>
          <p:cNvGrpSpPr/>
          <p:nvPr/>
        </p:nvGrpSpPr>
        <p:grpSpPr>
          <a:xfrm>
            <a:off x="548640" y="1965960"/>
            <a:ext cx="4297680" cy="2880360"/>
            <a:chOff x="548640" y="1965960"/>
            <a:chExt cx="4297680" cy="2880360"/>
          </a:xfrm>
        </p:grpSpPr>
        <p:sp>
          <p:nvSpPr>
            <p:cNvPr id="7" name="Rectangle 6"/>
            <p:cNvSpPr/>
            <p:nvPr/>
          </p:nvSpPr>
          <p:spPr>
            <a:xfrm>
              <a:off x="548640" y="1965960"/>
              <a:ext cx="4297680" cy="288036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1976952268"/>
                </p:ext>
              </p:extLst>
            </p:nvPr>
          </p:nvGraphicFramePr>
          <p:xfrm>
            <a:off x="685800" y="2103120"/>
            <a:ext cx="4023360" cy="2615184"/>
          </p:xfrm>
          <a:graphic>
            <a:graphicData uri="http://schemas.openxmlformats.org/drawingml/2006/table">
              <a:tbl>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566928">
                  <a:tc>
                    <a:txBody>
                      <a:bodyPr/>
                      <a:lstStyle/>
                      <a:p>
                        <a:pPr algn="ctr"/>
                        <a:r>
                          <a:rPr sz="1900" b="1">
                            <a:solidFill>
                              <a:srgbClr val="FFFFFF"/>
                            </a:solidFill>
                            <a:latin typeface="Calibri"/>
                          </a:rPr>
                          <a:t>P</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900" b="1">
                            <a:solidFill>
                              <a:srgbClr val="FFFFFF"/>
                            </a:solidFill>
                            <a:latin typeface="Calibri"/>
                          </a:rPr>
                          <a:t>Q</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900" b="1">
                            <a:solidFill>
                              <a:srgbClr val="FFFFFF"/>
                            </a:solidFill>
                            <a:latin typeface="Calibri"/>
                          </a:rPr>
                          <a:t>TR</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900" b="1">
                            <a:solidFill>
                              <a:srgbClr val="FFFFFF"/>
                            </a:solidFill>
                            <a:latin typeface="Calibri"/>
                          </a:rPr>
                          <a:t>MR</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512064">
                  <a:tc>
                    <a:txBody>
                      <a:bodyPr/>
                      <a:lstStyle/>
                      <a:p>
                        <a:pPr algn="ctr"/>
                        <a:r>
                          <a:rPr sz="1900" b="1" dirty="0">
                            <a:solidFill>
                              <a:srgbClr val="C00000"/>
                            </a:solidFill>
                            <a:latin typeface="Calibri"/>
                          </a:rPr>
                          <a:t>$3</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900" b="0">
                            <a:solidFill>
                              <a:srgbClr val="0B2B4E"/>
                            </a:solidFill>
                            <a:latin typeface="Calibri"/>
                          </a:rPr>
                          <a:t>10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900" b="0">
                            <a:solidFill>
                              <a:srgbClr val="0B2B4E"/>
                            </a:solidFill>
                            <a:latin typeface="Calibri"/>
                          </a:rPr>
                          <a:t>$30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900" b="0">
                            <a:solidFill>
                              <a:srgbClr val="0B2B4E"/>
                            </a:solidFill>
                            <a:latin typeface="Calibri"/>
                          </a:rPr>
                          <a:t>$3</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512064">
                  <a:tc>
                    <a:txBody>
                      <a:bodyPr/>
                      <a:lstStyle/>
                      <a:p>
                        <a:pPr algn="ctr"/>
                        <a:r>
                          <a:rPr sz="1900" b="1" dirty="0">
                            <a:solidFill>
                              <a:srgbClr val="C00000"/>
                            </a:solidFill>
                            <a:latin typeface="Calibri"/>
                          </a:rPr>
                          <a:t>3</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900" b="0">
                            <a:solidFill>
                              <a:srgbClr val="0B2B4E"/>
                            </a:solidFill>
                            <a:latin typeface="Calibri"/>
                          </a:rPr>
                          <a:t>11</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900" b="0">
                            <a:solidFill>
                              <a:srgbClr val="0B2B4E"/>
                            </a:solidFill>
                            <a:latin typeface="Calibri"/>
                          </a:rPr>
                          <a:t>33</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900" b="0">
                            <a:solidFill>
                              <a:srgbClr val="0B2B4E"/>
                            </a:solidFill>
                            <a:latin typeface="Calibri"/>
                          </a:rPr>
                          <a:t>3</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512064">
                  <a:tc>
                    <a:txBody>
                      <a:bodyPr/>
                      <a:lstStyle/>
                      <a:p>
                        <a:pPr algn="ctr"/>
                        <a:r>
                          <a:rPr sz="1900" b="1" dirty="0">
                            <a:solidFill>
                              <a:srgbClr val="C00000"/>
                            </a:solidFill>
                            <a:latin typeface="Calibri"/>
                          </a:rPr>
                          <a:t>3</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900" b="0">
                            <a:solidFill>
                              <a:srgbClr val="0B2B4E"/>
                            </a:solidFill>
                            <a:latin typeface="Calibri"/>
                          </a:rPr>
                          <a:t>12</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900" b="0">
                            <a:solidFill>
                              <a:srgbClr val="0B2B4E"/>
                            </a:solidFill>
                            <a:latin typeface="Calibri"/>
                          </a:rPr>
                          <a:t>36</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900" b="0">
                            <a:solidFill>
                              <a:srgbClr val="0B2B4E"/>
                            </a:solidFill>
                            <a:latin typeface="Calibri"/>
                          </a:rPr>
                          <a:t>3</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r h="512064">
                  <a:tc>
                    <a:txBody>
                      <a:bodyPr/>
                      <a:lstStyle/>
                      <a:p>
                        <a:pPr algn="ctr"/>
                        <a:r>
                          <a:rPr sz="1900" b="1" dirty="0">
                            <a:solidFill>
                              <a:srgbClr val="C00000"/>
                            </a:solidFill>
                            <a:latin typeface="Calibri"/>
                          </a:rPr>
                          <a:t>3</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900" b="0">
                            <a:solidFill>
                              <a:srgbClr val="0B2B4E"/>
                            </a:solidFill>
                            <a:latin typeface="Calibri"/>
                          </a:rPr>
                          <a:t>13</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900" b="0">
                            <a:solidFill>
                              <a:srgbClr val="0B2B4E"/>
                            </a:solidFill>
                            <a:latin typeface="Calibri"/>
                          </a:rPr>
                          <a:t>39</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900" b="0" dirty="0">
                            <a:solidFill>
                              <a:srgbClr val="0B2B4E"/>
                            </a:solidFill>
                            <a:latin typeface="Calibri"/>
                          </a:rPr>
                          <a:t>3</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4"/>
                    </a:ext>
                  </a:extLst>
                </a:tr>
              </a:tbl>
            </a:graphicData>
          </a:graphic>
        </p:graphicFrame>
      </p:grpSp>
      <p:grpSp>
        <p:nvGrpSpPr>
          <p:cNvPr id="36" name="Group 35">
            <a:extLst>
              <a:ext uri="{FF2B5EF4-FFF2-40B4-BE49-F238E27FC236}">
                <a16:creationId xmlns:a16="http://schemas.microsoft.com/office/drawing/2014/main" id="{0D157F33-95B2-0C57-5F17-48D20FC425F3}"/>
              </a:ext>
            </a:extLst>
          </p:cNvPr>
          <p:cNvGrpSpPr/>
          <p:nvPr/>
        </p:nvGrpSpPr>
        <p:grpSpPr>
          <a:xfrm>
            <a:off x="5285232" y="1572768"/>
            <a:ext cx="3662934" cy="4197096"/>
            <a:chOff x="5285232" y="1572768"/>
            <a:chExt cx="3662934" cy="4197096"/>
          </a:xfrm>
        </p:grpSpPr>
        <p:sp>
          <p:nvSpPr>
            <p:cNvPr id="9" name="TextBox 8"/>
            <p:cNvSpPr txBox="1"/>
            <p:nvPr/>
          </p:nvSpPr>
          <p:spPr>
            <a:xfrm>
              <a:off x="5303520" y="1572768"/>
              <a:ext cx="3291840" cy="329184"/>
            </a:xfrm>
            <a:prstGeom prst="rect">
              <a:avLst/>
            </a:prstGeom>
            <a:noFill/>
          </p:spPr>
          <p:txBody>
            <a:bodyPr wrap="square" lIns="0" tIns="0" rIns="0" bIns="0">
              <a:spAutoFit/>
            </a:bodyPr>
            <a:lstStyle/>
            <a:p>
              <a:pPr algn="ctr"/>
              <a:r>
                <a:rPr sz="2000" b="1" i="0" u="none" dirty="0">
                  <a:solidFill>
                    <a:srgbClr val="0B2B4E"/>
                  </a:solidFill>
                  <a:latin typeface="Calibri"/>
                </a:rPr>
                <a:t>Total Revenue</a:t>
              </a:r>
            </a:p>
          </p:txBody>
        </p:sp>
        <p:cxnSp>
          <p:nvCxnSpPr>
            <p:cNvPr id="11" name="Connector 10"/>
            <p:cNvCxnSpPr/>
            <p:nvPr/>
          </p:nvCxnSpPr>
          <p:spPr>
            <a:xfrm flipV="1">
              <a:off x="5760720" y="2258568"/>
              <a:ext cx="0" cy="318211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760720" y="5440680"/>
              <a:ext cx="254203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41589" y="5504688"/>
              <a:ext cx="806577" cy="265176"/>
            </a:xfrm>
            <a:prstGeom prst="rect">
              <a:avLst/>
            </a:prstGeom>
            <a:noFill/>
          </p:spPr>
          <p:txBody>
            <a:bodyPr wrap="square" lIns="0" tIns="0" rIns="0" bIns="0">
              <a:spAutoFit/>
            </a:bodyPr>
            <a:lstStyle/>
            <a:p>
              <a:pPr algn="l"/>
              <a:r>
                <a:rPr sz="1600" b="1" i="1" u="none" dirty="0">
                  <a:solidFill>
                    <a:srgbClr val="0B2B4E"/>
                  </a:solidFill>
                  <a:latin typeface="Calibri"/>
                </a:rPr>
                <a:t>Quantity</a:t>
              </a:r>
            </a:p>
          </p:txBody>
        </p:sp>
        <p:sp>
          <p:nvSpPr>
            <p:cNvPr id="14" name="TextBox 13"/>
            <p:cNvSpPr txBox="1"/>
            <p:nvPr/>
          </p:nvSpPr>
          <p:spPr>
            <a:xfrm>
              <a:off x="5285232" y="1984248"/>
              <a:ext cx="640080" cy="246888"/>
            </a:xfrm>
            <a:prstGeom prst="rect">
              <a:avLst/>
            </a:prstGeom>
            <a:noFill/>
          </p:spPr>
          <p:txBody>
            <a:bodyPr wrap="square" lIns="0" tIns="0" rIns="0" bIns="0">
              <a:spAutoFit/>
            </a:bodyPr>
            <a:lstStyle/>
            <a:p>
              <a:pPr algn="l"/>
              <a:r>
                <a:rPr sz="1600" b="1" i="1" u="none" dirty="0">
                  <a:solidFill>
                    <a:srgbClr val="0B2B4E"/>
                  </a:solidFill>
                  <a:latin typeface="Calibri"/>
                </a:rPr>
                <a:t>TR ($)</a:t>
              </a:r>
            </a:p>
          </p:txBody>
        </p:sp>
      </p:grpSp>
      <p:grpSp>
        <p:nvGrpSpPr>
          <p:cNvPr id="37" name="Group 36">
            <a:extLst>
              <a:ext uri="{FF2B5EF4-FFF2-40B4-BE49-F238E27FC236}">
                <a16:creationId xmlns:a16="http://schemas.microsoft.com/office/drawing/2014/main" id="{567659F6-BEB2-57E5-296F-08DC8A69189D}"/>
              </a:ext>
            </a:extLst>
          </p:cNvPr>
          <p:cNvGrpSpPr/>
          <p:nvPr/>
        </p:nvGrpSpPr>
        <p:grpSpPr>
          <a:xfrm>
            <a:off x="5760720" y="2496312"/>
            <a:ext cx="2542031" cy="2944368"/>
            <a:chOff x="5760720" y="2496312"/>
            <a:chExt cx="2542031" cy="2944368"/>
          </a:xfrm>
        </p:grpSpPr>
        <p:cxnSp>
          <p:nvCxnSpPr>
            <p:cNvPr id="15" name="Connector 14"/>
            <p:cNvCxnSpPr/>
            <p:nvPr/>
          </p:nvCxnSpPr>
          <p:spPr>
            <a:xfrm flipV="1">
              <a:off x="5760720" y="2800350"/>
              <a:ext cx="2218944" cy="2640330"/>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970775" y="2496312"/>
              <a:ext cx="1331976" cy="276999"/>
            </a:xfrm>
            <a:prstGeom prst="rect">
              <a:avLst/>
            </a:prstGeom>
            <a:noFill/>
          </p:spPr>
          <p:txBody>
            <a:bodyPr wrap="square" lIns="0" tIns="0" rIns="0" bIns="0">
              <a:spAutoFit/>
            </a:bodyPr>
            <a:lstStyle/>
            <a:p>
              <a:pPr algn="l"/>
              <a:r>
                <a:rPr sz="1800" b="1" i="1" u="none" dirty="0">
                  <a:solidFill>
                    <a:srgbClr val="0B2B4E"/>
                  </a:solidFill>
                  <a:latin typeface="Calibri"/>
                </a:rPr>
                <a:t>TR  =  P · Q</a:t>
              </a:r>
            </a:p>
          </p:txBody>
        </p:sp>
      </p:grpSp>
      <p:grpSp>
        <p:nvGrpSpPr>
          <p:cNvPr id="38" name="Group 37">
            <a:extLst>
              <a:ext uri="{FF2B5EF4-FFF2-40B4-BE49-F238E27FC236}">
                <a16:creationId xmlns:a16="http://schemas.microsoft.com/office/drawing/2014/main" id="{99A289BC-A0A1-6AB2-401D-E3BA90CAC0E4}"/>
              </a:ext>
            </a:extLst>
          </p:cNvPr>
          <p:cNvGrpSpPr/>
          <p:nvPr/>
        </p:nvGrpSpPr>
        <p:grpSpPr>
          <a:xfrm>
            <a:off x="5414391" y="3417570"/>
            <a:ext cx="2067878" cy="2352294"/>
            <a:chOff x="5414391" y="3417570"/>
            <a:chExt cx="2067878" cy="2352294"/>
          </a:xfrm>
        </p:grpSpPr>
        <p:cxnSp>
          <p:nvCxnSpPr>
            <p:cNvPr id="17" name="Connector 16"/>
            <p:cNvCxnSpPr/>
            <p:nvPr/>
          </p:nvCxnSpPr>
          <p:spPr>
            <a:xfrm>
              <a:off x="5760720" y="3554730"/>
              <a:ext cx="1584960"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345680" y="3554730"/>
              <a:ext cx="0" cy="188595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209092" y="5495544"/>
              <a:ext cx="273177" cy="274320"/>
            </a:xfrm>
            <a:prstGeom prst="rect">
              <a:avLst/>
            </a:prstGeom>
            <a:noFill/>
          </p:spPr>
          <p:txBody>
            <a:bodyPr wrap="square" lIns="0" tIns="0" rIns="0" bIns="0">
              <a:spAutoFit/>
            </a:bodyPr>
            <a:lstStyle/>
            <a:p>
              <a:pPr algn="ctr"/>
              <a:r>
                <a:rPr sz="1500" b="0" i="1" u="none">
                  <a:solidFill>
                    <a:srgbClr val="0B2B4E"/>
                  </a:solidFill>
                  <a:latin typeface="Calibri"/>
                </a:rPr>
                <a:t>10</a:t>
              </a:r>
            </a:p>
          </p:txBody>
        </p:sp>
        <p:sp>
          <p:nvSpPr>
            <p:cNvPr id="20" name="TextBox 19"/>
            <p:cNvSpPr txBox="1"/>
            <p:nvPr/>
          </p:nvSpPr>
          <p:spPr>
            <a:xfrm>
              <a:off x="5414391" y="3417570"/>
              <a:ext cx="273177" cy="274320"/>
            </a:xfrm>
            <a:prstGeom prst="rect">
              <a:avLst/>
            </a:prstGeom>
            <a:noFill/>
          </p:spPr>
          <p:txBody>
            <a:bodyPr wrap="square" lIns="0" tIns="0" rIns="0" bIns="0">
              <a:spAutoFit/>
            </a:bodyPr>
            <a:lstStyle/>
            <a:p>
              <a:pPr algn="r"/>
              <a:r>
                <a:rPr sz="1500" b="0" i="1" u="none">
                  <a:solidFill>
                    <a:srgbClr val="0B2B4E"/>
                  </a:solidFill>
                  <a:latin typeface="Calibri"/>
                </a:rPr>
                <a:t>30</a:t>
              </a:r>
            </a:p>
          </p:txBody>
        </p:sp>
      </p:grpSp>
      <p:grpSp>
        <p:nvGrpSpPr>
          <p:cNvPr id="40" name="Group 39">
            <a:extLst>
              <a:ext uri="{FF2B5EF4-FFF2-40B4-BE49-F238E27FC236}">
                <a16:creationId xmlns:a16="http://schemas.microsoft.com/office/drawing/2014/main" id="{0F4C636A-E794-F3E1-103F-FD2339751E30}"/>
              </a:ext>
            </a:extLst>
          </p:cNvPr>
          <p:cNvGrpSpPr/>
          <p:nvPr/>
        </p:nvGrpSpPr>
        <p:grpSpPr>
          <a:xfrm>
            <a:off x="8732520" y="1572768"/>
            <a:ext cx="3402520" cy="4178808"/>
            <a:chOff x="8732520" y="1572768"/>
            <a:chExt cx="3402520" cy="4178808"/>
          </a:xfrm>
        </p:grpSpPr>
        <p:sp>
          <p:nvSpPr>
            <p:cNvPr id="10" name="TextBox 9"/>
            <p:cNvSpPr txBox="1"/>
            <p:nvPr/>
          </p:nvSpPr>
          <p:spPr>
            <a:xfrm>
              <a:off x="8732520" y="1572768"/>
              <a:ext cx="3291840" cy="329184"/>
            </a:xfrm>
            <a:prstGeom prst="rect">
              <a:avLst/>
            </a:prstGeom>
            <a:noFill/>
          </p:spPr>
          <p:txBody>
            <a:bodyPr wrap="square" lIns="0" tIns="0" rIns="0" bIns="0">
              <a:spAutoFit/>
            </a:bodyPr>
            <a:lstStyle/>
            <a:p>
              <a:pPr algn="ctr"/>
              <a:r>
                <a:rPr sz="2000" b="1" i="0" u="none" dirty="0">
                  <a:solidFill>
                    <a:srgbClr val="0B2B4E"/>
                  </a:solidFill>
                  <a:latin typeface="Calibri"/>
                </a:rPr>
                <a:t>The Firm's Demand</a:t>
              </a:r>
            </a:p>
          </p:txBody>
        </p:sp>
        <p:grpSp>
          <p:nvGrpSpPr>
            <p:cNvPr id="39" name="Group 38">
              <a:extLst>
                <a:ext uri="{FF2B5EF4-FFF2-40B4-BE49-F238E27FC236}">
                  <a16:creationId xmlns:a16="http://schemas.microsoft.com/office/drawing/2014/main" id="{042EE6DC-77B9-AAC0-F69A-EF3C4ADE415F}"/>
                </a:ext>
              </a:extLst>
            </p:cNvPr>
            <p:cNvGrpSpPr/>
            <p:nvPr/>
          </p:nvGrpSpPr>
          <p:grpSpPr>
            <a:xfrm>
              <a:off x="8759952" y="2048256"/>
              <a:ext cx="3375088" cy="3703320"/>
              <a:chOff x="8759952" y="2048256"/>
              <a:chExt cx="3375088" cy="3703320"/>
            </a:xfrm>
          </p:grpSpPr>
          <p:cxnSp>
            <p:nvCxnSpPr>
              <p:cNvPr id="21" name="Connector 20"/>
              <p:cNvCxnSpPr/>
              <p:nvPr/>
            </p:nvCxnSpPr>
            <p:spPr>
              <a:xfrm flipV="1">
                <a:off x="9189720" y="2258568"/>
                <a:ext cx="0" cy="318211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189720" y="5440680"/>
                <a:ext cx="254203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1328463" y="5486400"/>
                <a:ext cx="806577" cy="265176"/>
              </a:xfrm>
              <a:prstGeom prst="rect">
                <a:avLst/>
              </a:prstGeom>
              <a:noFill/>
            </p:spPr>
            <p:txBody>
              <a:bodyPr wrap="square" lIns="0" tIns="0" rIns="0" bIns="0">
                <a:spAutoFit/>
              </a:bodyPr>
              <a:lstStyle/>
              <a:p>
                <a:pPr algn="l"/>
                <a:r>
                  <a:rPr sz="1600" b="1" i="1" u="none">
                    <a:solidFill>
                      <a:srgbClr val="0B2B4E"/>
                    </a:solidFill>
                    <a:latin typeface="Calibri"/>
                  </a:rPr>
                  <a:t>Quantity</a:t>
                </a:r>
              </a:p>
            </p:txBody>
          </p:sp>
          <p:sp>
            <p:nvSpPr>
              <p:cNvPr id="24" name="TextBox 23"/>
              <p:cNvSpPr txBox="1"/>
              <p:nvPr/>
            </p:nvSpPr>
            <p:spPr>
              <a:xfrm>
                <a:off x="8759952" y="2048256"/>
                <a:ext cx="493776" cy="246888"/>
              </a:xfrm>
              <a:prstGeom prst="rect">
                <a:avLst/>
              </a:prstGeom>
              <a:noFill/>
            </p:spPr>
            <p:txBody>
              <a:bodyPr wrap="square" lIns="0" tIns="0" rIns="0" bIns="0">
                <a:spAutoFit/>
              </a:bodyPr>
              <a:lstStyle/>
              <a:p>
                <a:pPr algn="l"/>
                <a:r>
                  <a:rPr sz="1600" b="1" i="1" u="none" dirty="0">
                    <a:solidFill>
                      <a:srgbClr val="0B2B4E"/>
                    </a:solidFill>
                    <a:latin typeface="Calibri"/>
                  </a:rPr>
                  <a:t>P ($)</a:t>
                </a:r>
              </a:p>
            </p:txBody>
          </p:sp>
        </p:grpSp>
      </p:grpSp>
      <p:grpSp>
        <p:nvGrpSpPr>
          <p:cNvPr id="41" name="Group 40">
            <a:extLst>
              <a:ext uri="{FF2B5EF4-FFF2-40B4-BE49-F238E27FC236}">
                <a16:creationId xmlns:a16="http://schemas.microsoft.com/office/drawing/2014/main" id="{73BD5F60-AE55-38F7-E454-3B4BF189E3EE}"/>
              </a:ext>
            </a:extLst>
          </p:cNvPr>
          <p:cNvGrpSpPr/>
          <p:nvPr/>
        </p:nvGrpSpPr>
        <p:grpSpPr>
          <a:xfrm>
            <a:off x="8948166" y="3968496"/>
            <a:ext cx="2820162" cy="477774"/>
            <a:chOff x="8948166" y="3968496"/>
            <a:chExt cx="2820162" cy="477774"/>
          </a:xfrm>
        </p:grpSpPr>
        <p:cxnSp>
          <p:nvCxnSpPr>
            <p:cNvPr id="25" name="Connector 24"/>
            <p:cNvCxnSpPr/>
            <p:nvPr/>
          </p:nvCxnSpPr>
          <p:spPr>
            <a:xfrm>
              <a:off x="9189720" y="4309110"/>
              <a:ext cx="2218944" cy="0"/>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948166" y="4171950"/>
              <a:ext cx="168402" cy="274320"/>
            </a:xfrm>
            <a:prstGeom prst="rect">
              <a:avLst/>
            </a:prstGeom>
            <a:noFill/>
          </p:spPr>
          <p:txBody>
            <a:bodyPr wrap="square" lIns="0" tIns="0" rIns="0" bIns="0">
              <a:spAutoFit/>
            </a:bodyPr>
            <a:lstStyle/>
            <a:p>
              <a:pPr algn="r"/>
              <a:r>
                <a:rPr sz="1500" b="0" i="1" u="none">
                  <a:solidFill>
                    <a:srgbClr val="C00000"/>
                  </a:solidFill>
                  <a:latin typeface="Calibri"/>
                </a:rPr>
                <a:t>3</a:t>
              </a:r>
            </a:p>
          </p:txBody>
        </p:sp>
        <p:sp>
          <p:nvSpPr>
            <p:cNvPr id="27" name="TextBox 26"/>
            <p:cNvSpPr txBox="1"/>
            <p:nvPr/>
          </p:nvSpPr>
          <p:spPr>
            <a:xfrm>
              <a:off x="9162288" y="3968496"/>
              <a:ext cx="2606040" cy="310896"/>
            </a:xfrm>
            <a:prstGeom prst="rect">
              <a:avLst/>
            </a:prstGeom>
            <a:noFill/>
          </p:spPr>
          <p:txBody>
            <a:bodyPr wrap="square" lIns="0" tIns="0" rIns="0" bIns="0">
              <a:spAutoFit/>
            </a:bodyPr>
            <a:lstStyle/>
            <a:p>
              <a:pPr algn="ctr"/>
              <a:r>
                <a:rPr sz="1800" b="1" i="1" u="none" dirty="0">
                  <a:solidFill>
                    <a:srgbClr val="C00000"/>
                  </a:solidFill>
                  <a:latin typeface="Calibri"/>
                </a:rPr>
                <a:t>d  =  P  =  MR</a:t>
              </a:r>
            </a:p>
          </p:txBody>
        </p:sp>
      </p:grpSp>
      <p:grpSp>
        <p:nvGrpSpPr>
          <p:cNvPr id="133" name="Group pair 133"/>
          <p:cNvGrpSpPr/>
          <p:nvPr/>
        </p:nvGrpSpPr>
        <p:grpSpPr>
          <a:xfrm>
            <a:off x="685800" y="5074920"/>
            <a:ext cx="4023360" cy="868680"/>
            <a:chOff x="685800" y="5074920"/>
            <a:chExt cx="4023360" cy="868680"/>
          </a:xfrm>
        </p:grpSpPr>
        <p:sp>
          <p:nvSpPr>
            <p:cNvPr id="28" name="Rounded Rectangle 27"/>
            <p:cNvSpPr/>
            <p:nvPr/>
          </p:nvSpPr>
          <p:spPr>
            <a:xfrm>
              <a:off x="685800" y="5074920"/>
              <a:ext cx="4023360" cy="86868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8680" y="5263039"/>
              <a:ext cx="3657600" cy="492443"/>
            </a:xfrm>
            <a:prstGeom prst="rect">
              <a:avLst/>
            </a:prstGeom>
            <a:noFill/>
          </p:spPr>
          <p:txBody>
            <a:bodyPr wrap="square" lIns="45720" tIns="0" rIns="45720" bIns="0" anchor="ctr">
              <a:spAutoFit/>
            </a:bodyPr>
            <a:lstStyle/>
            <a:p>
              <a:pPr algn="l"/>
              <a:r>
                <a:rPr sz="1600" b="0" i="0" u="none" dirty="0">
                  <a:solidFill>
                    <a:srgbClr val="0B2B4E"/>
                  </a:solidFill>
                  <a:latin typeface="Calibri"/>
                </a:rPr>
                <a:t>Selling one more unit always brings in the same </a:t>
              </a:r>
              <a:r>
                <a:rPr sz="1600" b="0" i="0" u="none" dirty="0">
                  <a:solidFill>
                    <a:srgbClr val="C00000"/>
                  </a:solidFill>
                  <a:latin typeface="Calibri"/>
                </a:rPr>
                <a:t>$3</a:t>
              </a:r>
              <a:r>
                <a:rPr sz="1600" b="0" i="0" u="none" dirty="0">
                  <a:solidFill>
                    <a:srgbClr val="0B2B4E"/>
                  </a:solidFill>
                  <a:latin typeface="Calibri"/>
                </a:rPr>
                <a:t>, so MR = P at every quantity</a:t>
              </a:r>
            </a:p>
          </p:txBody>
        </p:sp>
      </p:grp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3" name="TextBox 32"/>
          <p:cNvSpPr txBox="1"/>
          <p:nvPr/>
        </p:nvSpPr>
        <p:spPr>
          <a:xfrm>
            <a:off x="11475720" y="6583680"/>
            <a:ext cx="502920" cy="292608"/>
          </a:xfrm>
          <a:prstGeom prst="rect">
            <a:avLst/>
          </a:prstGeom>
          <a:noFill/>
        </p:spPr>
        <p:txBody>
          <a:bodyPr wrap="none" lIns="0" tIns="0" rIns="0" bIns="0">
            <a:spAutoFit/>
          </a:bodyPr>
          <a:lstStyle/>
          <a:p>
            <a:pPr algn="r"/>
            <a:fld id="{889F1E5C-E4B8-512C-94F0-E88E46A52CE2}" type="slidenum">
              <a:rPr lang="en-US" sz="1200" dirty="0">
                <a:solidFill>
                  <a:srgbClr val="555B66"/>
                </a:solidFill>
                <a:latin typeface="Calibri"/>
              </a:rPr>
              <a:t>3</a:t>
            </a:fld>
            <a:endParaRPr lang="en-US" sz="1200" dirty="0">
              <a:solidFill>
                <a:srgbClr val="555B66"/>
              </a:solidFill>
              <a:latin typeface="Calibri"/>
            </a:endParaRPr>
          </a:p>
        </p:txBody>
      </p:sp>
      <p:sp>
        <p:nvSpPr>
          <p:cNvPr id="35" name="TextBox 34">
            <a:extLst>
              <a:ext uri="{FF2B5EF4-FFF2-40B4-BE49-F238E27FC236}">
                <a16:creationId xmlns:a16="http://schemas.microsoft.com/office/drawing/2014/main" id="{BC2F87CF-5C72-E7E4-E856-AF4F72955040}"/>
              </a:ext>
            </a:extLst>
          </p:cNvPr>
          <p:cNvSpPr txBox="1"/>
          <p:nvPr/>
        </p:nvSpPr>
        <p:spPr>
          <a:xfrm>
            <a:off x="1101852" y="1621607"/>
            <a:ext cx="3291840" cy="307777"/>
          </a:xfrm>
          <a:prstGeom prst="rect">
            <a:avLst/>
          </a:prstGeom>
          <a:noFill/>
        </p:spPr>
        <p:txBody>
          <a:bodyPr wrap="square" lIns="0" tIns="0" rIns="0" bIns="0">
            <a:spAutoFit/>
          </a:bodyPr>
          <a:lstStyle/>
          <a:p>
            <a:pPr algn="ctr"/>
            <a:r>
              <a:rPr lang="de-DE" sz="2000" b="1" i="0" u="none" dirty="0">
                <a:solidFill>
                  <a:srgbClr val="C00000"/>
                </a:solidFill>
                <a:latin typeface="Calibri"/>
              </a:rPr>
              <a:t>Market Price P=$3</a:t>
            </a:r>
            <a:endParaRPr sz="2000" b="1" i="0" u="none" dirty="0">
              <a:solidFill>
                <a:srgbClr val="C00000"/>
              </a:solidFill>
              <a:latin typeface="Calibri"/>
            </a:endParaRPr>
          </a:p>
        </p:txBody>
      </p:sp>
      <p:grpSp>
        <p:nvGrpSpPr>
          <p:cNvPr id="42" name="Group 41">
            <a:extLst>
              <a:ext uri="{FF2B5EF4-FFF2-40B4-BE49-F238E27FC236}">
                <a16:creationId xmlns:a16="http://schemas.microsoft.com/office/drawing/2014/main" id="{88D550A2-CAB0-FA8D-FAB7-4CB6BD534926}"/>
              </a:ext>
            </a:extLst>
          </p:cNvPr>
          <p:cNvGrpSpPr/>
          <p:nvPr/>
        </p:nvGrpSpPr>
        <p:grpSpPr>
          <a:xfrm>
            <a:off x="5412430" y="2916936"/>
            <a:ext cx="2497510" cy="2809440"/>
            <a:chOff x="5003332" y="3417570"/>
            <a:chExt cx="2497510" cy="2809440"/>
          </a:xfrm>
        </p:grpSpPr>
        <p:cxnSp>
          <p:nvCxnSpPr>
            <p:cNvPr id="43" name="Connector 16">
              <a:extLst>
                <a:ext uri="{FF2B5EF4-FFF2-40B4-BE49-F238E27FC236}">
                  <a16:creationId xmlns:a16="http://schemas.microsoft.com/office/drawing/2014/main" id="{B4B46810-0DFF-6860-53FA-9FF334A9D947}"/>
                </a:ext>
              </a:extLst>
            </p:cNvPr>
            <p:cNvCxnSpPr>
              <a:cxnSpLocks/>
            </p:cNvCxnSpPr>
            <p:nvPr/>
          </p:nvCxnSpPr>
          <p:spPr>
            <a:xfrm>
              <a:off x="5351622" y="3554730"/>
              <a:ext cx="1994058"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17">
              <a:extLst>
                <a:ext uri="{FF2B5EF4-FFF2-40B4-BE49-F238E27FC236}">
                  <a16:creationId xmlns:a16="http://schemas.microsoft.com/office/drawing/2014/main" id="{D3DE4990-4244-3D13-077E-7AFF4C13E8F1}"/>
                </a:ext>
              </a:extLst>
            </p:cNvPr>
            <p:cNvCxnSpPr>
              <a:cxnSpLocks/>
              <a:endCxn id="45" idx="0"/>
            </p:cNvCxnSpPr>
            <p:nvPr/>
          </p:nvCxnSpPr>
          <p:spPr>
            <a:xfrm>
              <a:off x="7345680" y="3526155"/>
              <a:ext cx="18574" cy="2470023"/>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7A16FB1E-882A-4237-8156-22F961F5A8BD}"/>
                </a:ext>
              </a:extLst>
            </p:cNvPr>
            <p:cNvSpPr txBox="1"/>
            <p:nvPr/>
          </p:nvSpPr>
          <p:spPr>
            <a:xfrm>
              <a:off x="7227665" y="5996178"/>
              <a:ext cx="273177" cy="230832"/>
            </a:xfrm>
            <a:prstGeom prst="rect">
              <a:avLst/>
            </a:prstGeom>
            <a:noFill/>
          </p:spPr>
          <p:txBody>
            <a:bodyPr wrap="square" lIns="0" tIns="0" rIns="0" bIns="0">
              <a:spAutoFit/>
            </a:bodyPr>
            <a:lstStyle/>
            <a:p>
              <a:pPr algn="ctr"/>
              <a:r>
                <a:rPr sz="1500" b="0" i="1" u="none" dirty="0">
                  <a:solidFill>
                    <a:srgbClr val="0B2B4E"/>
                  </a:solidFill>
                  <a:latin typeface="Calibri"/>
                </a:rPr>
                <a:t>1</a:t>
              </a:r>
              <a:r>
                <a:rPr lang="en-US" sz="1500" b="0" i="1" u="none" dirty="0">
                  <a:solidFill>
                    <a:srgbClr val="0B2B4E"/>
                  </a:solidFill>
                  <a:latin typeface="Calibri"/>
                </a:rPr>
                <a:t>2</a:t>
              </a:r>
              <a:endParaRPr sz="1500" b="0" i="1" u="none" dirty="0">
                <a:solidFill>
                  <a:srgbClr val="0B2B4E"/>
                </a:solidFill>
                <a:latin typeface="Calibri"/>
              </a:endParaRPr>
            </a:p>
          </p:txBody>
        </p:sp>
        <p:sp>
          <p:nvSpPr>
            <p:cNvPr id="46" name="TextBox 45">
              <a:extLst>
                <a:ext uri="{FF2B5EF4-FFF2-40B4-BE49-F238E27FC236}">
                  <a16:creationId xmlns:a16="http://schemas.microsoft.com/office/drawing/2014/main" id="{82F083EA-4596-3A8A-2523-D241AC9C1E8E}"/>
                </a:ext>
              </a:extLst>
            </p:cNvPr>
            <p:cNvSpPr txBox="1"/>
            <p:nvPr/>
          </p:nvSpPr>
          <p:spPr>
            <a:xfrm>
              <a:off x="5003332" y="3417570"/>
              <a:ext cx="273177" cy="230832"/>
            </a:xfrm>
            <a:prstGeom prst="rect">
              <a:avLst/>
            </a:prstGeom>
            <a:noFill/>
          </p:spPr>
          <p:txBody>
            <a:bodyPr wrap="square" lIns="0" tIns="0" rIns="0" bIns="0">
              <a:spAutoFit/>
            </a:bodyPr>
            <a:lstStyle/>
            <a:p>
              <a:pPr algn="r"/>
              <a:r>
                <a:rPr lang="en-US" sz="1500" b="0" i="1" u="none" dirty="0">
                  <a:solidFill>
                    <a:srgbClr val="0B2B4E"/>
                  </a:solidFill>
                  <a:latin typeface="Calibri"/>
                </a:rPr>
                <a:t>36</a:t>
              </a:r>
              <a:endParaRPr sz="1500" b="0" i="1" u="none" dirty="0">
                <a:solidFill>
                  <a:srgbClr val="0B2B4E"/>
                </a:solidFill>
                <a:latin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Price Taker Profit Maximization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645920"/>
            <a:ext cx="11338560" cy="2834640"/>
          </a:xfrm>
          <a:prstGeom prst="rect">
            <a:avLst/>
          </a:prstGeom>
          <a:noFill/>
        </p:spPr>
        <p:txBody>
          <a:bodyPr wrap="square" lIns="0" tIns="0" rIns="0" bIns="0">
            <a:noAutofit/>
          </a:bodyPr>
          <a:lstStyle>
            <a:lvl1pPr marL="342900" indent="-342900">
              <a:spcBef>
                <a:spcPts val="16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dirty="0">
                <a:latin typeface="Calibri"/>
              </a:rPr>
              <a:t>Set </a:t>
            </a:r>
            <a:r>
              <a:rPr dirty="0">
                <a:solidFill>
                  <a:srgbClr val="C00000"/>
                </a:solidFill>
                <a:latin typeface="Calibri"/>
              </a:rPr>
              <a:t>MR = MC</a:t>
            </a:r>
            <a:r>
              <a:rPr dirty="0">
                <a:latin typeface="Calibri"/>
              </a:rPr>
              <a:t> — the rule for every profit maximizer</a:t>
            </a:r>
          </a:p>
          <a:p>
            <a:pPr algn="l"/>
            <a:r>
              <a:rPr dirty="0">
                <a:latin typeface="Calibri"/>
              </a:rPr>
              <a:t>But MR is far easier to </a:t>
            </a:r>
            <a:r>
              <a:rPr lang="en-US" dirty="0">
                <a:latin typeface="Calibri"/>
              </a:rPr>
              <a:t>"</a:t>
            </a:r>
            <a:r>
              <a:rPr dirty="0">
                <a:latin typeface="Calibri"/>
              </a:rPr>
              <a:t>compute</a:t>
            </a:r>
            <a:r>
              <a:rPr lang="en-US" dirty="0">
                <a:latin typeface="Calibri"/>
              </a:rPr>
              <a:t>"</a:t>
            </a:r>
            <a:r>
              <a:rPr dirty="0">
                <a:latin typeface="Calibri"/>
              </a:rPr>
              <a:t> for a price taker</a:t>
            </a:r>
          </a:p>
          <a:p>
            <a:pPr lvl="1" algn="l"/>
            <a:r>
              <a:rPr dirty="0">
                <a:latin typeface="Calibri"/>
              </a:rPr>
              <a:t>For a price taker, </a:t>
            </a:r>
            <a:r>
              <a:rPr dirty="0">
                <a:solidFill>
                  <a:srgbClr val="C00000"/>
                </a:solidFill>
                <a:latin typeface="Calibri"/>
              </a:rPr>
              <a:t>MR = P</a:t>
            </a:r>
            <a:r>
              <a:rPr dirty="0">
                <a:latin typeface="Calibri"/>
              </a:rPr>
              <a:t>, the market price</a:t>
            </a:r>
          </a:p>
          <a:p>
            <a:pPr lvl="1" algn="l"/>
            <a:r>
              <a:rPr dirty="0">
                <a:latin typeface="Calibri"/>
              </a:rPr>
              <a:t>P is given: the firm cannot set it</a:t>
            </a:r>
          </a:p>
          <a:p>
            <a:pPr algn="l"/>
            <a:r>
              <a:rPr dirty="0">
                <a:latin typeface="Calibri"/>
              </a:rPr>
              <a:t>So there is only one decision left: how much to produce</a:t>
            </a:r>
          </a:p>
        </p:txBody>
      </p:sp>
      <mc:AlternateContent xmlns:mc="http://schemas.openxmlformats.org/markup-compatibility/2006" xmlns:a14="http://schemas.microsoft.com/office/drawing/2010/main">
        <mc:Choice Requires="a14">
          <p:sp>
            <p:nvSpPr>
              <p:cNvPr id="8" name="TextBox 7"/>
              <p:cNvSpPr txBox="1"/>
              <p:nvPr/>
            </p:nvSpPr>
            <p:spPr>
              <a:xfrm>
                <a:off x="2788920" y="4754880"/>
                <a:ext cx="6583680" cy="914400"/>
              </a:xfrm>
              <a:prstGeom prst="roundRect">
                <a:avLst>
                  <a:gd name="adj" fmla="val 12000"/>
                </a:avLst>
              </a:prstGeom>
              <a:solidFill>
                <a:srgbClr val="FDF6E6"/>
              </a:solidFill>
              <a:ln w="22225">
                <a:solidFill>
                  <a:srgbClr val="E09F3E"/>
                </a:solidFill>
              </a:ln>
              <a:effectLst>
                <a:outerShdw blurRad="50800" dist="38100" dir="2700000" algn="tl" rotWithShape="0">
                  <a:srgbClr val="000000">
                    <a:alpha val="45000"/>
                  </a:srgbClr>
                </a:outerShdw>
              </a:effectLst>
            </p:spPr>
            <p:txBody>
              <a:bodyPr wrap="square" anchor="ctr">
                <a:spAutoFit/>
              </a:bodyPr>
              <a:lstStyle/>
              <a:p>
                <a:pPr algn="ctr">
                  <a:defRPr sz="3000" b="0" i="1">
                    <a:solidFill>
                      <a:srgbClr val="0B2B4E"/>
                    </a:solidFill>
                    <a:latin typeface="Cambria Math"/>
                  </a:defRPr>
                </a:pPr>
                <a14:m>
                  <m:oMathPara xmlns:m="http://schemas.openxmlformats.org/officeDocument/2006/math">
                    <m:oMath>
                      <m:r>
                        <m:rPr>
                          <m:sty m:val="p"/>
                        </m:rPr>
                        <a:rPr lang="en-US" sz="3000" b="0" i="0">
                          <a:solidFill>
                            <a:srgbClr val="0B2B4E"/>
                          </a:solidFill>
                          <a:latin typeface="Cambria Math"/>
                        </a:rPr>
                        <m:t>Find</m:t>
                      </m:r>
                      <m:r>
                        <a:rPr lang="en-US" sz="3000" b="0" i="0">
                          <a:solidFill>
                            <a:srgbClr val="0B2B4E"/>
                          </a:solidFill>
                          <a:latin typeface="Cambria Math"/>
                        </a:rPr>
                        <m:t> </m:t>
                      </m:r>
                      <m:sSup>
                        <m:sSupPr>
                          <m:ctrlPr>
                            <a:rPr lang="en-US" sz="3000" b="0" i="1">
                              <a:solidFill>
                                <a:srgbClr val="0B2B4E"/>
                              </a:solidFill>
                              <a:latin typeface="Cambria Math"/>
                              <a:ea typeface="Cambria Math"/>
                            </a:rPr>
                          </m:ctrlPr>
                        </m:sSupPr>
                        <m:e>
                          <m:r>
                            <a:rPr lang="en-US" sz="3000" b="0" i="1">
                              <a:solidFill>
                                <a:srgbClr val="0B2B4E"/>
                              </a:solidFill>
                              <a:latin typeface="Cambria Math"/>
                              <a:ea typeface="Cambria Math"/>
                            </a:rPr>
                            <m:t>𝑄</m:t>
                          </m:r>
                        </m:e>
                        <m:sup>
                          <m:r>
                            <a:rPr lang="en-US" sz="3000" b="0" i="0">
                              <a:solidFill>
                                <a:srgbClr val="0B2B4E"/>
                              </a:solidFill>
                              <a:latin typeface="Cambria Math"/>
                            </a:rPr>
                            <m:t>∗</m:t>
                          </m:r>
                        </m:sup>
                      </m:sSup>
                      <m:r>
                        <a:rPr lang="en-US" sz="3000" b="0" i="0">
                          <a:solidFill>
                            <a:srgbClr val="0B2B4E"/>
                          </a:solidFill>
                          <a:latin typeface="Cambria Math"/>
                        </a:rPr>
                        <m:t> </m:t>
                      </m:r>
                      <m:r>
                        <m:rPr>
                          <m:sty m:val="p"/>
                        </m:rPr>
                        <a:rPr lang="en-US" sz="3000" b="0" i="0">
                          <a:solidFill>
                            <a:srgbClr val="0B2B4E"/>
                          </a:solidFill>
                          <a:latin typeface="Cambria Math"/>
                        </a:rPr>
                        <m:t>such</m:t>
                      </m:r>
                      <m:r>
                        <a:rPr lang="en-US" sz="3000" b="0" i="0">
                          <a:solidFill>
                            <a:srgbClr val="0B2B4E"/>
                          </a:solidFill>
                          <a:latin typeface="Cambria Math"/>
                        </a:rPr>
                        <m:t> </m:t>
                      </m:r>
                      <m:r>
                        <m:rPr>
                          <m:sty m:val="p"/>
                        </m:rPr>
                        <a:rPr lang="en-US" sz="3000" b="0" i="0">
                          <a:solidFill>
                            <a:srgbClr val="0B2B4E"/>
                          </a:solidFill>
                          <a:latin typeface="Cambria Math"/>
                        </a:rPr>
                        <m:t>that</m:t>
                      </m:r>
                      <m:r>
                        <a:rPr lang="en-US" sz="3000" b="0" i="0">
                          <a:solidFill>
                            <a:srgbClr val="0B2B4E"/>
                          </a:solidFill>
                          <a:latin typeface="Cambria Math"/>
                        </a:rPr>
                        <m:t>  </m:t>
                      </m:r>
                      <m:r>
                        <a:rPr lang="en-US" sz="3000" b="1" i="1">
                          <a:solidFill>
                            <a:srgbClr val="C00000"/>
                          </a:solidFill>
                          <a:latin typeface="Cambria Math"/>
                          <a:ea typeface="Cambria Math"/>
                        </a:rPr>
                        <m:t>𝑃</m:t>
                      </m:r>
                      <m:r>
                        <a:rPr lang="en-US" sz="3000" b="1" i="0">
                          <a:solidFill>
                            <a:srgbClr val="C00000"/>
                          </a:solidFill>
                          <a:latin typeface="Cambria Math"/>
                        </a:rPr>
                        <m:t> = </m:t>
                      </m:r>
                      <m:r>
                        <m:rPr>
                          <m:sty m:val="p"/>
                        </m:rPr>
                        <a:rPr lang="en-US" sz="3000" b="1" i="0">
                          <a:solidFill>
                            <a:srgbClr val="C00000"/>
                          </a:solidFill>
                          <a:latin typeface="Cambria Math"/>
                        </a:rPr>
                        <m:t>MC</m:t>
                      </m:r>
                    </m:oMath>
                  </m:oMathPara>
                </a14:m>
                <a:endParaRPr lang="en-US" sz="3000"/>
              </a:p>
            </p:txBody>
          </p:sp>
        </mc:Choice>
        <mc:Fallback xmlns="">
          <p:sp>
            <p:nvSpPr>
              <p:cNvPr id="8" name="TextBox 7"/>
              <p:cNvSpPr txBox="1">
                <a:spLocks noRot="1" noChangeAspect="1" noMove="1" noResize="1" noEditPoints="1" noAdjustHandles="1" noChangeArrowheads="1" noChangeShapeType="1" noTextEdit="1"/>
              </p:cNvSpPr>
              <p:nvPr/>
            </p:nvSpPr>
            <p:spPr>
              <a:xfrm>
                <a:off x="2788920" y="4754880"/>
                <a:ext cx="6583680" cy="914400"/>
              </a:xfrm>
              <a:prstGeom prst="roundRect">
                <a:avLst>
                  <a:gd name="adj" fmla="val 12000"/>
                </a:avLst>
              </a:prstGeom>
              <a:blipFill>
                <a:blip r:embed="rId3"/>
                <a:stretch>
                  <a:fillRect/>
                </a:stretch>
              </a:blipFill>
              <a:ln w="22225">
                <a:solidFill>
                  <a:srgbClr val="E09F3E"/>
                </a:solidFill>
              </a:ln>
              <a:effectLst>
                <a:outerShdw blurRad="50800" dist="38100" dir="2700000" algn="tl" rotWithShape="0">
                  <a:srgbClr val="000000">
                    <a:alpha val="45000"/>
                  </a:srgbClr>
                </a:outerShdw>
              </a:effectLst>
            </p:spPr>
            <p:txBody>
              <a:bodyPr/>
              <a:lstStyle/>
              <a:p>
                <a:r>
                  <a:rPr lang="en-US">
                    <a:noFill/>
                  </a:rPr>
                  <a:t> </a:t>
                </a:r>
              </a:p>
            </p:txBody>
          </p:sp>
        </mc:Fallback>
      </mc:AlternateContent>
      <p:sp>
        <p:nvSpPr>
          <p:cNvPr id="9" name="Oval 8"/>
          <p:cNvSpPr/>
          <p:nvPr/>
        </p:nvSpPr>
        <p:spPr>
          <a:xfrm>
            <a:off x="3017520" y="4983480"/>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B2B4E"/>
                </a:solidFill>
                <a:latin typeface="Calibri"/>
              </a:rPr>
              <a:t>➜</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61BE8715-22EA-5792-B9AF-FD5475CC3481}"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fade">
                                      <p:cBhvr>
                                        <p:cTn id="13" dur="500"/>
                                        <p:tgtEl>
                                          <p:spTgt spid="7">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Profit Maximization of a Price Taker: Visual Representation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2331720" y="1572768"/>
            <a:ext cx="0" cy="4159316"/>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331720" y="5120640"/>
            <a:ext cx="6035040"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371600" y="1261872"/>
            <a:ext cx="1828800" cy="1005840"/>
          </a:xfrm>
          <a:prstGeom prst="rect">
            <a:avLst/>
          </a:prstGeom>
          <a:noFill/>
        </p:spPr>
        <p:txBody>
          <a:bodyPr wrap="square" lIns="0" tIns="0" rIns="0" bIns="0">
            <a:spAutoFit/>
          </a:bodyPr>
          <a:lstStyle/>
          <a:p>
            <a:pPr algn="l"/>
            <a:r>
              <a:rPr sz="1600" b="1" i="1" u="none" dirty="0">
                <a:solidFill>
                  <a:srgbClr val="0B2B4E"/>
                </a:solidFill>
                <a:latin typeface="Calibri"/>
              </a:rPr>
              <a:t>Firm revenue,
cost and
profit ($)</a:t>
            </a:r>
          </a:p>
        </p:txBody>
      </p:sp>
      <p:sp>
        <p:nvSpPr>
          <p:cNvPr id="10" name="TextBox 9"/>
          <p:cNvSpPr txBox="1"/>
          <p:nvPr/>
        </p:nvSpPr>
        <p:spPr>
          <a:xfrm>
            <a:off x="8430768" y="4991986"/>
            <a:ext cx="1554480" cy="329184"/>
          </a:xfrm>
          <a:prstGeom prst="rect">
            <a:avLst/>
          </a:prstGeom>
          <a:noFill/>
        </p:spPr>
        <p:txBody>
          <a:bodyPr wrap="square" lIns="0" tIns="0" rIns="0" bIns="0">
            <a:spAutoFit/>
          </a:bodyPr>
          <a:lstStyle/>
          <a:p>
            <a:pPr algn="l"/>
            <a:r>
              <a:rPr sz="1600" b="1" i="1" u="none" dirty="0">
                <a:solidFill>
                  <a:srgbClr val="0B2B4E"/>
                </a:solidFill>
                <a:latin typeface="Calibri"/>
              </a:rPr>
              <a:t>Quantity (Q)</a:t>
            </a:r>
          </a:p>
        </p:txBody>
      </p:sp>
      <p:cxnSp>
        <p:nvCxnSpPr>
          <p:cNvPr id="11" name="Connector 10"/>
          <p:cNvCxnSpPr>
            <a:cxnSpLocks/>
          </p:cNvCxnSpPr>
          <p:nvPr/>
        </p:nvCxnSpPr>
        <p:spPr>
          <a:xfrm flipV="1">
            <a:off x="2331720" y="1881084"/>
            <a:ext cx="6035040" cy="3239556"/>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331720" y="1785486"/>
            <a:ext cx="5760720" cy="2871938"/>
          </a:xfrm>
          <a:custGeom>
            <a:avLst/>
            <a:gdLst/>
            <a:ahLst/>
            <a:cxnLst/>
            <a:rect l="0" t="0" r="r" b="b"/>
            <a:pathLst>
              <a:path w="5760720" h="2871938">
                <a:moveTo>
                  <a:pt x="0" y="2871938"/>
                </a:moveTo>
                <a:cubicBezTo>
                  <a:pt x="240030" y="2860840"/>
                  <a:pt x="960120" y="2870972"/>
                  <a:pt x="1440180" y="2805350"/>
                </a:cubicBezTo>
                <a:cubicBezTo>
                  <a:pt x="1920239" y="2739727"/>
                  <a:pt x="2400299" y="2674105"/>
                  <a:pt x="2880359" y="2478204"/>
                </a:cubicBezTo>
                <a:cubicBezTo>
                  <a:pt x="3360418" y="2282302"/>
                  <a:pt x="3840478" y="2042974"/>
                  <a:pt x="4320539" y="1629940"/>
                </a:cubicBezTo>
                <a:cubicBezTo>
                  <a:pt x="4800599" y="1216906"/>
                  <a:pt x="5520689" y="271656"/>
                  <a:pt x="5760720" y="0"/>
                </a:cubicBezTo>
              </a:path>
            </a:pathLst>
          </a:custGeom>
          <a:noFill/>
          <a:ln w="44450">
            <a:solidFill>
              <a:srgbClr val="0070C0"/>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30768" y="1804292"/>
            <a:ext cx="822960" cy="329184"/>
          </a:xfrm>
          <a:prstGeom prst="rect">
            <a:avLst/>
          </a:prstGeom>
          <a:noFill/>
        </p:spPr>
        <p:txBody>
          <a:bodyPr wrap="square" lIns="0" tIns="0" rIns="0" bIns="0">
            <a:spAutoFit/>
          </a:bodyPr>
          <a:lstStyle/>
          <a:p>
            <a:pPr algn="l"/>
            <a:r>
              <a:rPr sz="1900" b="1" i="1" u="none" dirty="0">
                <a:solidFill>
                  <a:srgbClr val="C00000"/>
                </a:solidFill>
                <a:latin typeface="Calibri"/>
              </a:rPr>
              <a:t>TR</a:t>
            </a:r>
          </a:p>
        </p:txBody>
      </p:sp>
      <p:sp>
        <p:nvSpPr>
          <p:cNvPr id="15" name="TextBox 14"/>
          <p:cNvSpPr txBox="1"/>
          <p:nvPr/>
        </p:nvSpPr>
        <p:spPr>
          <a:xfrm>
            <a:off x="7973845" y="1480009"/>
            <a:ext cx="822960" cy="329184"/>
          </a:xfrm>
          <a:prstGeom prst="rect">
            <a:avLst/>
          </a:prstGeom>
          <a:noFill/>
        </p:spPr>
        <p:txBody>
          <a:bodyPr wrap="square" lIns="0" tIns="0" rIns="0" bIns="0">
            <a:spAutoFit/>
          </a:bodyPr>
          <a:lstStyle/>
          <a:p>
            <a:pPr algn="l"/>
            <a:r>
              <a:rPr sz="1900" b="1" i="1" u="none" dirty="0">
                <a:solidFill>
                  <a:srgbClr val="0070C0"/>
                </a:solidFill>
                <a:latin typeface="Calibri"/>
              </a:rPr>
              <a:t>TC</a:t>
            </a:r>
          </a:p>
        </p:txBody>
      </p:sp>
      <p:sp>
        <p:nvSpPr>
          <p:cNvPr id="16" name="TextBox 15"/>
          <p:cNvSpPr txBox="1"/>
          <p:nvPr/>
        </p:nvSpPr>
        <p:spPr>
          <a:xfrm>
            <a:off x="1554480" y="4511120"/>
            <a:ext cx="731520" cy="292608"/>
          </a:xfrm>
          <a:prstGeom prst="rect">
            <a:avLst/>
          </a:prstGeom>
          <a:noFill/>
        </p:spPr>
        <p:txBody>
          <a:bodyPr wrap="square" lIns="0" tIns="0" rIns="0" bIns="0">
            <a:spAutoFit/>
          </a:bodyPr>
          <a:lstStyle/>
          <a:p>
            <a:pPr algn="r"/>
            <a:r>
              <a:rPr sz="1600" b="1" i="1" u="none">
                <a:solidFill>
                  <a:srgbClr val="0070C0"/>
                </a:solidFill>
                <a:latin typeface="Calibri"/>
              </a:rPr>
              <a:t>TFC</a:t>
            </a:r>
          </a:p>
        </p:txBody>
      </p:sp>
      <p:cxnSp>
        <p:nvCxnSpPr>
          <p:cNvPr id="17" name="Connector 16"/>
          <p:cNvCxnSpPr>
            <a:cxnSpLocks/>
            <a:stCxn id="23" idx="0"/>
          </p:cNvCxnSpPr>
          <p:nvPr/>
        </p:nvCxnSpPr>
        <p:spPr>
          <a:xfrm flipV="1">
            <a:off x="5788152" y="3264071"/>
            <a:ext cx="0" cy="1911433"/>
          </a:xfrm>
          <a:prstGeom prst="line">
            <a:avLst/>
          </a:prstGeom>
          <a:ln w="15875">
            <a:solidFill>
              <a:srgbClr val="0B2B4E"/>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327294" y="3016528"/>
            <a:ext cx="921715" cy="495085"/>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327294" y="3753968"/>
            <a:ext cx="921715" cy="495085"/>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710428" y="3186347"/>
            <a:ext cx="155448" cy="155448"/>
          </a:xfrm>
          <a:prstGeom prst="ellipse">
            <a:avLst/>
          </a:prstGeom>
          <a:solidFill>
            <a:srgbClr val="BFBFB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710428" y="3923786"/>
            <a:ext cx="155448" cy="155448"/>
          </a:xfrm>
          <a:prstGeom prst="ellipse">
            <a:avLst/>
          </a:prstGeom>
          <a:solidFill>
            <a:srgbClr val="BFBFB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76672" y="5175504"/>
            <a:ext cx="822960" cy="310896"/>
          </a:xfrm>
          <a:prstGeom prst="rect">
            <a:avLst/>
          </a:prstGeom>
          <a:noFill/>
        </p:spPr>
        <p:txBody>
          <a:bodyPr wrap="square" lIns="0" tIns="0" rIns="0" bIns="0">
            <a:spAutoFit/>
          </a:bodyPr>
          <a:lstStyle/>
          <a:p>
            <a:pPr algn="ctr"/>
            <a:r>
              <a:rPr sz="1800" b="1" i="1" u="none">
                <a:solidFill>
                  <a:srgbClr val="0B2B4E"/>
                </a:solidFill>
                <a:latin typeface="Calibri"/>
              </a:rPr>
              <a:t>Q*</a:t>
            </a:r>
          </a:p>
        </p:txBody>
      </p:sp>
      <p:sp>
        <p:nvSpPr>
          <p:cNvPr id="24" name="TextBox 23"/>
          <p:cNvSpPr txBox="1"/>
          <p:nvPr/>
        </p:nvSpPr>
        <p:spPr>
          <a:xfrm>
            <a:off x="8887968" y="3291840"/>
            <a:ext cx="2103120" cy="461665"/>
          </a:xfrm>
          <a:prstGeom prst="rect">
            <a:avLst/>
          </a:prstGeom>
          <a:noFill/>
        </p:spPr>
        <p:txBody>
          <a:bodyPr wrap="square" lIns="0" tIns="0" rIns="0" bIns="0">
            <a:spAutoFit/>
          </a:bodyPr>
          <a:lstStyle/>
          <a:p>
            <a:pPr algn="l"/>
            <a:r>
              <a:rPr sz="1500" b="1" i="1" u="none" dirty="0">
                <a:solidFill>
                  <a:srgbClr val="0070C0"/>
                </a:solidFill>
                <a:latin typeface="Calibri"/>
              </a:rPr>
              <a:t>Slope of TR = slope of TC</a:t>
            </a:r>
            <a:r>
              <a:rPr lang="en-US" sz="1500" b="1" i="1" u="none" dirty="0">
                <a:solidFill>
                  <a:srgbClr val="0070C0"/>
                </a:solidFill>
                <a:latin typeface="Calibri"/>
              </a:rPr>
              <a:t>:</a:t>
            </a:r>
            <a:r>
              <a:rPr sz="1500" b="1" i="1" u="none" dirty="0">
                <a:solidFill>
                  <a:srgbClr val="0070C0"/>
                </a:solidFill>
                <a:latin typeface="Calibri"/>
              </a:rPr>
              <a:t>
MR = MC</a:t>
            </a:r>
          </a:p>
        </p:txBody>
      </p:sp>
      <p:cxnSp>
        <p:nvCxnSpPr>
          <p:cNvPr id="25" name="Connector 24"/>
          <p:cNvCxnSpPr/>
          <p:nvPr/>
        </p:nvCxnSpPr>
        <p:spPr>
          <a:xfrm flipH="1">
            <a:off x="5934456" y="3566160"/>
            <a:ext cx="2907792" cy="43535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grpSp>
        <p:nvGrpSpPr>
          <p:cNvPr id="42" name="Group 41">
            <a:extLst>
              <a:ext uri="{FF2B5EF4-FFF2-40B4-BE49-F238E27FC236}">
                <a16:creationId xmlns:a16="http://schemas.microsoft.com/office/drawing/2014/main" id="{56ADEE32-897C-E604-38AD-439042F05AFE}"/>
              </a:ext>
            </a:extLst>
          </p:cNvPr>
          <p:cNvGrpSpPr/>
          <p:nvPr/>
        </p:nvGrpSpPr>
        <p:grpSpPr>
          <a:xfrm>
            <a:off x="5710428" y="4077889"/>
            <a:ext cx="5475732" cy="383035"/>
            <a:chOff x="5710428" y="4077889"/>
            <a:chExt cx="5475732" cy="383035"/>
          </a:xfrm>
        </p:grpSpPr>
        <p:sp>
          <p:nvSpPr>
            <p:cNvPr id="22" name="Oval 21"/>
            <p:cNvSpPr/>
            <p:nvPr/>
          </p:nvSpPr>
          <p:spPr>
            <a:xfrm>
              <a:off x="5710428" y="4305476"/>
              <a:ext cx="155448" cy="155448"/>
            </a:xfrm>
            <a:prstGeom prst="ellipse">
              <a:avLst/>
            </a:prstGeom>
            <a:solidFill>
              <a:srgbClr val="BFBFB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41" name="Group 40">
              <a:extLst>
                <a:ext uri="{FF2B5EF4-FFF2-40B4-BE49-F238E27FC236}">
                  <a16:creationId xmlns:a16="http://schemas.microsoft.com/office/drawing/2014/main" id="{29DCE774-4F6F-4069-C436-60063C2925DB}"/>
                </a:ext>
              </a:extLst>
            </p:cNvPr>
            <p:cNvGrpSpPr/>
            <p:nvPr/>
          </p:nvGrpSpPr>
          <p:grpSpPr>
            <a:xfrm>
              <a:off x="5934456" y="4077889"/>
              <a:ext cx="5251704" cy="329184"/>
              <a:chOff x="5934456" y="4077889"/>
              <a:chExt cx="5251704" cy="329184"/>
            </a:xfrm>
          </p:grpSpPr>
          <p:sp>
            <p:nvSpPr>
              <p:cNvPr id="26" name="TextBox 25"/>
              <p:cNvSpPr txBox="1"/>
              <p:nvPr/>
            </p:nvSpPr>
            <p:spPr>
              <a:xfrm>
                <a:off x="8808720" y="4077889"/>
                <a:ext cx="2377440" cy="329184"/>
              </a:xfrm>
              <a:prstGeom prst="rect">
                <a:avLst/>
              </a:prstGeom>
              <a:noFill/>
            </p:spPr>
            <p:txBody>
              <a:bodyPr wrap="square" lIns="0" tIns="0" rIns="0" bIns="0">
                <a:spAutoFit/>
              </a:bodyPr>
              <a:lstStyle/>
              <a:p>
                <a:pPr algn="l"/>
                <a:r>
                  <a:rPr sz="1700" b="1" i="0" u="none" dirty="0">
                    <a:solidFill>
                      <a:srgbClr val="0B2B4E"/>
                    </a:solidFill>
                    <a:latin typeface="Calibri"/>
                  </a:rPr>
                  <a:t>Maximum profit</a:t>
                </a:r>
              </a:p>
            </p:txBody>
          </p:sp>
          <p:cxnSp>
            <p:nvCxnSpPr>
              <p:cNvPr id="27" name="Connector 26"/>
              <p:cNvCxnSpPr>
                <a:cxnSpLocks/>
              </p:cNvCxnSpPr>
              <p:nvPr/>
            </p:nvCxnSpPr>
            <p:spPr>
              <a:xfrm flipH="1">
                <a:off x="5934456" y="4206240"/>
                <a:ext cx="2756962" cy="109728"/>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grpSp>
      </p:grpSp>
      <p:grpSp>
        <p:nvGrpSpPr>
          <p:cNvPr id="43" name="Group 42">
            <a:extLst>
              <a:ext uri="{FF2B5EF4-FFF2-40B4-BE49-F238E27FC236}">
                <a16:creationId xmlns:a16="http://schemas.microsoft.com/office/drawing/2014/main" id="{4BDBA23D-1B37-FDE9-66CF-6DD78BA195D2}"/>
              </a:ext>
            </a:extLst>
          </p:cNvPr>
          <p:cNvGrpSpPr/>
          <p:nvPr/>
        </p:nvGrpSpPr>
        <p:grpSpPr>
          <a:xfrm>
            <a:off x="1874519" y="3977639"/>
            <a:ext cx="1417320" cy="1143001"/>
            <a:chOff x="1874519" y="3977639"/>
            <a:chExt cx="1417320" cy="1143001"/>
          </a:xfrm>
        </p:grpSpPr>
        <p:cxnSp>
          <p:nvCxnSpPr>
            <p:cNvPr id="28" name="Connector 27"/>
            <p:cNvCxnSpPr/>
            <p:nvPr/>
          </p:nvCxnSpPr>
          <p:spPr>
            <a:xfrm flipV="1">
              <a:off x="3241747" y="4631832"/>
              <a:ext cx="0" cy="488808"/>
            </a:xfrm>
            <a:prstGeom prst="line">
              <a:avLst/>
            </a:prstGeom>
            <a:ln w="15875">
              <a:solidFill>
                <a:srgbClr val="0B2B4E"/>
              </a:solidFill>
              <a:prstDash val="dash"/>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874519" y="3977639"/>
              <a:ext cx="1417320" cy="329184"/>
            </a:xfrm>
            <a:prstGeom prst="rect">
              <a:avLst/>
            </a:prstGeom>
            <a:noFill/>
          </p:spPr>
          <p:txBody>
            <a:bodyPr wrap="square" lIns="0" tIns="0" rIns="0" bIns="0">
              <a:spAutoFit/>
            </a:bodyPr>
            <a:lstStyle/>
            <a:p>
              <a:pPr algn="r"/>
              <a:r>
                <a:rPr sz="1700" b="1" i="0" u="none" dirty="0">
                  <a:solidFill>
                    <a:srgbClr val="0B2B4E"/>
                  </a:solidFill>
                  <a:latin typeface="Calibri"/>
                </a:rPr>
                <a:t>Profit = 0</a:t>
              </a:r>
            </a:p>
          </p:txBody>
        </p:sp>
        <p:cxnSp>
          <p:nvCxnSpPr>
            <p:cNvPr id="30" name="Connector 29"/>
            <p:cNvCxnSpPr/>
            <p:nvPr/>
          </p:nvCxnSpPr>
          <p:spPr>
            <a:xfrm>
              <a:off x="3017520" y="4315968"/>
              <a:ext cx="196795" cy="26100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grpSp>
      <p:sp>
        <p:nvSpPr>
          <p:cNvPr id="31" name="TextBox 30"/>
          <p:cNvSpPr txBox="1"/>
          <p:nvPr/>
        </p:nvSpPr>
        <p:spPr>
          <a:xfrm>
            <a:off x="8808720" y="1787060"/>
            <a:ext cx="2103120" cy="548640"/>
          </a:xfrm>
          <a:prstGeom prst="rect">
            <a:avLst/>
          </a:prstGeom>
          <a:noFill/>
        </p:spPr>
        <p:txBody>
          <a:bodyPr wrap="square" lIns="0" tIns="0" rIns="0" bIns="0">
            <a:spAutoFit/>
          </a:bodyPr>
          <a:lstStyle/>
          <a:p>
            <a:pPr algn="l"/>
            <a:r>
              <a:rPr sz="1300" b="0" i="1" u="none" dirty="0">
                <a:solidFill>
                  <a:srgbClr val="C00000"/>
                </a:solidFill>
                <a:latin typeface="Calibri"/>
              </a:rPr>
              <a:t>(TR has constant slope
for a price taker)</a:t>
            </a:r>
          </a:p>
        </p:txBody>
      </p:sp>
      <p:grpSp>
        <p:nvGrpSpPr>
          <p:cNvPr id="138" name="Group pair 138"/>
          <p:cNvGrpSpPr/>
          <p:nvPr/>
        </p:nvGrpSpPr>
        <p:grpSpPr>
          <a:xfrm>
            <a:off x="8385325" y="5571282"/>
            <a:ext cx="3044952" cy="868680"/>
            <a:chOff x="8887968" y="1645920"/>
            <a:chExt cx="3044952" cy="1325880"/>
          </a:xfrm>
        </p:grpSpPr>
        <p:sp>
          <p:nvSpPr>
            <p:cNvPr id="33" name="Rounded Rectangle 32"/>
            <p:cNvSpPr/>
            <p:nvPr/>
          </p:nvSpPr>
          <p:spPr>
            <a:xfrm>
              <a:off x="8887968" y="1645920"/>
              <a:ext cx="3044952" cy="1325880"/>
            </a:xfrm>
            <a:prstGeom prst="roundRect">
              <a:avLst>
                <a:gd name="adj" fmla="val 12000"/>
              </a:avLst>
            </a:prstGeom>
            <a:solidFill>
              <a:schemeClr val="accent3">
                <a:lumMod val="75000"/>
                <a:alpha val="16000"/>
              </a:schemeClr>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70848" y="1755648"/>
              <a:ext cx="2679192" cy="1106424"/>
            </a:xfrm>
            <a:prstGeom prst="rect">
              <a:avLst/>
            </a:prstGeom>
            <a:noFill/>
          </p:spPr>
          <p:txBody>
            <a:bodyPr wrap="square" lIns="45720" tIns="0" rIns="45720" bIns="0" anchor="ctr">
              <a:spAutoFit/>
            </a:bodyPr>
            <a:lstStyle/>
            <a:p>
              <a:pPr algn="l"/>
              <a:r>
                <a:rPr sz="1900" b="1" i="0" u="none" dirty="0">
                  <a:solidFill>
                    <a:srgbClr val="0B2B4E"/>
                  </a:solidFill>
                  <a:latin typeface="Calibri"/>
                </a:rPr>
                <a:t>Profit = TR − TC</a:t>
              </a:r>
              <a:r>
                <a:rPr sz="1800" b="0" i="0" u="none" dirty="0">
                  <a:solidFill>
                    <a:srgbClr val="0B2B4E"/>
                  </a:solidFill>
                  <a:latin typeface="Calibri"/>
                </a:rPr>
                <a:t>
</a:t>
              </a:r>
              <a:r>
                <a:rPr sz="1600" b="0" i="0" u="none" dirty="0">
                  <a:solidFill>
                    <a:srgbClr val="0B2B4E"/>
                  </a:solidFill>
                  <a:latin typeface="Calibri"/>
                </a:rPr>
                <a:t>Widest where the two slopes are equal (MR = MC)</a:t>
              </a:r>
            </a:p>
          </p:txBody>
        </p:sp>
      </p:grpSp>
      <p:sp>
        <p:nvSpPr>
          <p:cNvPr id="35" name="Rectangle 3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8" name="TextBox 37"/>
          <p:cNvSpPr txBox="1"/>
          <p:nvPr/>
        </p:nvSpPr>
        <p:spPr>
          <a:xfrm>
            <a:off x="11475720" y="6583680"/>
            <a:ext cx="502920" cy="292608"/>
          </a:xfrm>
          <a:prstGeom prst="rect">
            <a:avLst/>
          </a:prstGeom>
          <a:noFill/>
        </p:spPr>
        <p:txBody>
          <a:bodyPr wrap="none" lIns="0" tIns="0" rIns="0" bIns="0">
            <a:spAutoFit/>
          </a:bodyPr>
          <a:lstStyle/>
          <a:p>
            <a:pPr algn="r"/>
            <a:fld id="{7A6F22D0-723E-561A-A382-778B47BF3598}" type="slidenum">
              <a:rPr lang="en-US" sz="1200" dirty="0">
                <a:solidFill>
                  <a:srgbClr val="555B66"/>
                </a:solidFill>
                <a:latin typeface="Calibri"/>
              </a:rPr>
              <a:t>5</a:t>
            </a:fld>
            <a:endParaRPr lang="en-US" sz="1200" dirty="0">
              <a:solidFill>
                <a:srgbClr val="555B66"/>
              </a:solidFill>
              <a:latin typeface="Calibri"/>
            </a:endParaRPr>
          </a:p>
        </p:txBody>
      </p:sp>
      <p:grpSp>
        <p:nvGrpSpPr>
          <p:cNvPr id="44" name="Group 43">
            <a:extLst>
              <a:ext uri="{FF2B5EF4-FFF2-40B4-BE49-F238E27FC236}">
                <a16:creationId xmlns:a16="http://schemas.microsoft.com/office/drawing/2014/main" id="{5DA86E65-5903-C336-8203-6D472F14451E}"/>
              </a:ext>
            </a:extLst>
          </p:cNvPr>
          <p:cNvGrpSpPr/>
          <p:nvPr/>
        </p:nvGrpSpPr>
        <p:grpSpPr>
          <a:xfrm>
            <a:off x="2331720" y="4349964"/>
            <a:ext cx="5801868" cy="1247607"/>
            <a:chOff x="2331720" y="4349964"/>
            <a:chExt cx="5801868" cy="1247607"/>
          </a:xfrm>
        </p:grpSpPr>
        <p:sp>
          <p:nvSpPr>
            <p:cNvPr id="13" name="Rectangle 12"/>
            <p:cNvSpPr/>
            <p:nvPr/>
          </p:nvSpPr>
          <p:spPr>
            <a:xfrm>
              <a:off x="2331720" y="4349964"/>
              <a:ext cx="5760720" cy="1233891"/>
            </a:xfrm>
            <a:custGeom>
              <a:avLst/>
              <a:gdLst/>
              <a:ahLst/>
              <a:cxnLst/>
              <a:rect l="0" t="0" r="r" b="b"/>
              <a:pathLst>
                <a:path w="5760720" h="1233891">
                  <a:moveTo>
                    <a:pt x="0" y="1233891"/>
                  </a:moveTo>
                  <a:cubicBezTo>
                    <a:pt x="240030" y="1116060"/>
                    <a:pt x="960120" y="719142"/>
                    <a:pt x="1440180" y="526908"/>
                  </a:cubicBezTo>
                  <a:cubicBezTo>
                    <a:pt x="1920239" y="334673"/>
                    <a:pt x="2400299" y="142439"/>
                    <a:pt x="2880359" y="80484"/>
                  </a:cubicBezTo>
                  <a:cubicBezTo>
                    <a:pt x="3360418" y="18529"/>
                    <a:pt x="3840478" y="0"/>
                    <a:pt x="4320539" y="155178"/>
                  </a:cubicBezTo>
                  <a:cubicBezTo>
                    <a:pt x="4800599" y="310355"/>
                    <a:pt x="5520689" y="868819"/>
                    <a:pt x="5760720" y="1011548"/>
                  </a:cubicBezTo>
                </a:path>
              </a:pathLst>
            </a:custGeom>
            <a:noFill/>
            <a:ln w="38100">
              <a:solidFill>
                <a:srgbClr val="007A33"/>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E63CA56-FF04-7518-8588-BD65A78CDE49}"/>
                    </a:ext>
                  </a:extLst>
                </p:cNvPr>
                <p:cNvSpPr txBox="1"/>
                <p:nvPr/>
              </p:nvSpPr>
              <p:spPr>
                <a:xfrm>
                  <a:off x="7444133" y="5351350"/>
                  <a:ext cx="689455" cy="246221"/>
                </a:xfrm>
                <a:prstGeom prst="rect">
                  <a:avLst/>
                </a:prstGeom>
                <a:noFill/>
              </p:spPr>
              <p:txBody>
                <a:bodyPr wrap="square" lIns="0" tIns="0" rIns="0" bIns="0">
                  <a:spAutoFit/>
                </a:bodyPr>
                <a:lstStyle/>
                <a:p>
                  <a:pPr algn="l"/>
                  <a:r>
                    <a:rPr lang="en-US" sz="1600" b="0" i="1" u="none" dirty="0">
                      <a:solidFill>
                        <a:srgbClr val="007A33"/>
                      </a:solidFill>
                      <a:latin typeface="Calibri"/>
                    </a:rPr>
                    <a:t>Profit </a:t>
                  </a:r>
                  <a14:m>
                    <m:oMath xmlns:m="http://schemas.openxmlformats.org/officeDocument/2006/math">
                      <m:r>
                        <a:rPr lang="en-US" sz="1600" b="0" i="1" u="none" smtClean="0">
                          <a:solidFill>
                            <a:srgbClr val="007A33"/>
                          </a:solidFill>
                          <a:latin typeface="Cambria Math" panose="02040503050406030204" pitchFamily="18" charset="0"/>
                        </a:rPr>
                        <m:t>𝜋</m:t>
                      </m:r>
                    </m:oMath>
                  </a14:m>
                  <a:endParaRPr sz="1600" b="0" i="1" u="none" dirty="0">
                    <a:solidFill>
                      <a:srgbClr val="007A33"/>
                    </a:solidFill>
                    <a:latin typeface="Calibri"/>
                  </a:endParaRPr>
                </a:p>
              </p:txBody>
            </p:sp>
          </mc:Choice>
          <mc:Fallback xmlns="">
            <p:sp>
              <p:nvSpPr>
                <p:cNvPr id="39" name="TextBox 38">
                  <a:extLst>
                    <a:ext uri="{FF2B5EF4-FFF2-40B4-BE49-F238E27FC236}">
                      <a16:creationId xmlns:a16="http://schemas.microsoft.com/office/drawing/2014/main" id="{BE63CA56-FF04-7518-8588-BD65A78CDE49}"/>
                    </a:ext>
                  </a:extLst>
                </p:cNvPr>
                <p:cNvSpPr txBox="1">
                  <a:spLocks noRot="1" noChangeAspect="1" noMove="1" noResize="1" noEditPoints="1" noAdjustHandles="1" noChangeArrowheads="1" noChangeShapeType="1" noTextEdit="1"/>
                </p:cNvSpPr>
                <p:nvPr/>
              </p:nvSpPr>
              <p:spPr>
                <a:xfrm>
                  <a:off x="7444133" y="5351350"/>
                  <a:ext cx="689455" cy="246221"/>
                </a:xfrm>
                <a:prstGeom prst="rect">
                  <a:avLst/>
                </a:prstGeom>
                <a:blipFill>
                  <a:blip r:embed="rId3"/>
                  <a:stretch>
                    <a:fillRect l="-17699" t="-27500" b="-50000"/>
                  </a:stretch>
                </a:blipFill>
              </p:spPr>
              <p:txBody>
                <a:bodyPr/>
                <a:lstStyle/>
                <a:p>
                  <a:r>
                    <a:rPr 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500"/>
                                        <p:tgtEl>
                                          <p:spTgt spid="4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fade">
                                      <p:cBhvr>
                                        <p:cTn id="34" dur="500"/>
                                        <p:tgtEl>
                                          <p:spTgt spid="4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fade">
                                      <p:cBhvr>
                                        <p:cTn id="39" dur="500"/>
                                        <p:tgtEl>
                                          <p:spTgt spid="4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38"/>
                                        </p:tgtEl>
                                        <p:attrNameLst>
                                          <p:attrName>style.visibility</p:attrName>
                                        </p:attrNameLst>
                                      </p:cBhvr>
                                      <p:to>
                                        <p:strVal val="visible"/>
                                      </p:to>
                                    </p:set>
                                    <p:animEffect transition="in" filter="fade">
                                      <p:cBhvr>
                                        <p:cTn id="64" dur="500"/>
                                        <p:tgtEl>
                                          <p:spTgt spid="138"/>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Example: The Yi Family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691640"/>
            <a:ext cx="6400800" cy="3291840"/>
          </a:xfrm>
          <a:prstGeom prst="rect">
            <a:avLst/>
          </a:prstGeom>
          <a:noFill/>
        </p:spPr>
        <p:txBody>
          <a:bodyPr wrap="square" lIns="0" tIns="0" rIns="0" bIns="0">
            <a:noAutofit/>
          </a:bodyPr>
          <a:lstStyle>
            <a:lvl1pPr marL="342900" indent="-342900">
              <a:spcBef>
                <a:spcPts val="20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A South Korean family moves from California to rural Arkansas to start a farm</a:t>
            </a:r>
          </a:p>
          <a:p>
            <a:pPr algn="l"/>
            <a:r>
              <a:rPr>
                <a:latin typeface="Calibri"/>
              </a:rPr>
              <a:t>Their goal: grow Korean produce and sell it to vendors in Dallas, at the market price</a:t>
            </a:r>
          </a:p>
          <a:p>
            <a:pPr algn="l"/>
            <a:r>
              <a:rPr>
                <a:latin typeface="Calibri"/>
              </a:rPr>
              <a:t>We follow their cabbage crop — the raw material for kimchi</a:t>
            </a:r>
          </a:p>
        </p:txBody>
      </p:sp>
      <p:grpSp>
        <p:nvGrpSpPr>
          <p:cNvPr id="116" name="Group pair 116"/>
          <p:cNvGrpSpPr/>
          <p:nvPr/>
        </p:nvGrpSpPr>
        <p:grpSpPr>
          <a:xfrm>
            <a:off x="7360920" y="1325880"/>
            <a:ext cx="4206240" cy="2743200"/>
            <a:chOff x="7360920" y="1325880"/>
            <a:chExt cx="4206240" cy="2743200"/>
          </a:xfrm>
        </p:grpSpPr>
        <p:pic>
          <p:nvPicPr>
            <p:cNvPr id="8" name="Picture 7" descr="NV_s12_3_534a7244.png"/>
            <p:cNvPicPr>
              <a:picLocks noChangeAspect="1"/>
            </p:cNvPicPr>
            <p:nvPr/>
          </p:nvPicPr>
          <p:blipFill>
            <a:blip r:embed="rId3"/>
            <a:stretch>
              <a:fillRect/>
            </a:stretch>
          </p:blipFill>
          <p:spPr>
            <a:xfrm>
              <a:off x="7360920" y="1325880"/>
              <a:ext cx="4206240" cy="2366010"/>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7360920" y="3794760"/>
              <a:ext cx="4206240" cy="274320"/>
            </a:xfrm>
            <a:prstGeom prst="rect">
              <a:avLst/>
            </a:prstGeom>
            <a:noFill/>
          </p:spPr>
          <p:txBody>
            <a:bodyPr wrap="square" lIns="0" tIns="0" rIns="0" bIns="0">
              <a:spAutoFit/>
            </a:bodyPr>
            <a:lstStyle/>
            <a:p>
              <a:pPr algn="ctr"/>
              <a:r>
                <a:rPr sz="1200" b="0" i="1" u="none">
                  <a:solidFill>
                    <a:srgbClr val="555B66"/>
                  </a:solidFill>
                  <a:latin typeface="Calibri"/>
                </a:rPr>
                <a:t>Minari (2020)</a:t>
              </a:r>
            </a:p>
          </p:txBody>
        </p:sp>
      </p:grpSp>
      <p:pic>
        <p:nvPicPr>
          <p:cNvPr id="10" name="Picture 9" descr="NV_s12_4_53752c12.jpg"/>
          <p:cNvPicPr>
            <a:picLocks noChangeAspect="1"/>
          </p:cNvPicPr>
          <p:nvPr/>
        </p:nvPicPr>
        <p:blipFill>
          <a:blip r:embed="rId4"/>
          <a:stretch>
            <a:fillRect/>
          </a:stretch>
        </p:blipFill>
        <p:spPr>
          <a:xfrm>
            <a:off x="7360920" y="4206240"/>
            <a:ext cx="2011680" cy="1508760"/>
          </a:xfrm>
          <a:prstGeom prst="roundRect">
            <a:avLst>
              <a:gd name="adj" fmla="val 8000"/>
            </a:avLst>
          </a:prstGeom>
          <a:effectLst>
            <a:outerShdw blurRad="50800" dist="38100" dir="2700000" algn="tl" rotWithShape="0">
              <a:srgbClr val="000000">
                <a:alpha val="50000"/>
              </a:srgbClr>
            </a:outerShdw>
          </a:effectLst>
        </p:spPr>
      </p:pic>
      <p:pic>
        <p:nvPicPr>
          <p:cNvPr id="11" name="Picture 10" descr="NV_s12_5_042a9a61.png"/>
          <p:cNvPicPr>
            <a:picLocks noChangeAspect="1"/>
          </p:cNvPicPr>
          <p:nvPr/>
        </p:nvPicPr>
        <p:blipFill>
          <a:blip r:embed="rId5"/>
          <a:stretch>
            <a:fillRect/>
          </a:stretch>
        </p:blipFill>
        <p:spPr>
          <a:xfrm>
            <a:off x="9555480" y="4215384"/>
            <a:ext cx="2011680" cy="1476573"/>
          </a:xfrm>
          <a:prstGeom prst="roundRect">
            <a:avLst>
              <a:gd name="adj" fmla="val 8000"/>
            </a:avLst>
          </a:prstGeom>
          <a:effectLst>
            <a:outerShdw blurRad="50800" dist="38100" dir="2700000" algn="tl" rotWithShape="0">
              <a:srgbClr val="000000">
                <a:alpha val="50000"/>
              </a:srgbClr>
            </a:outerShdw>
          </a:effectLst>
        </p:spPr>
      </p:pic>
      <p:sp>
        <p:nvSpPr>
          <p:cNvPr id="12" name="Rounded Rectangle 11"/>
          <p:cNvSpPr/>
          <p:nvPr/>
        </p:nvSpPr>
        <p:spPr>
          <a:xfrm>
            <a:off x="9098280" y="5961888"/>
            <a:ext cx="2834640" cy="457200"/>
          </a:xfrm>
          <a:prstGeom prst="roundRect">
            <a:avLst>
              <a:gd name="adj" fmla="val 50000"/>
            </a:avLst>
          </a:prstGeom>
          <a:solidFill>
            <a:srgbClr val="B8860B">
              <a:alpha val="35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  Yi Family Example</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6" name="TextBox 15"/>
          <p:cNvSpPr txBox="1"/>
          <p:nvPr/>
        </p:nvSpPr>
        <p:spPr>
          <a:xfrm>
            <a:off x="11475720" y="6583680"/>
            <a:ext cx="502920" cy="292608"/>
          </a:xfrm>
          <a:prstGeom prst="rect">
            <a:avLst/>
          </a:prstGeom>
          <a:noFill/>
        </p:spPr>
        <p:txBody>
          <a:bodyPr wrap="none" lIns="0" tIns="0" rIns="0" bIns="0">
            <a:spAutoFit/>
          </a:bodyPr>
          <a:lstStyle/>
          <a:p>
            <a:pPr algn="r"/>
            <a:fld id="{C1454909-D6FF-5F1F-980F-67DB08190285}"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6"/>
                                        </p:tgtEl>
                                        <p:attrNameLst>
                                          <p:attrName>style.visibility</p:attrName>
                                        </p:attrNameLst>
                                      </p:cBhvr>
                                      <p:to>
                                        <p:strVal val="visible"/>
                                      </p:to>
                                    </p:set>
                                    <p:animEffect transition="in" filter="fade">
                                      <p:cBhvr>
                                        <p:cTn id="10" dur="500"/>
                                        <p:tgtEl>
                                          <p:spTgt spid="116"/>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Business Relevance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600200"/>
            <a:ext cx="7315200" cy="411480"/>
          </a:xfrm>
          <a:prstGeom prst="rect">
            <a:avLst/>
          </a:prstGeom>
          <a:noFill/>
        </p:spPr>
        <p:txBody>
          <a:bodyPr wrap="square" lIns="0" tIns="0" rIns="0" bIns="0">
            <a:spAutoFit/>
          </a:bodyPr>
          <a:lstStyle/>
          <a:p>
            <a:pPr algn="l"/>
            <a:r>
              <a:rPr sz="2800" b="1" i="0" u="none">
                <a:solidFill>
                  <a:srgbClr val="0B2B4E"/>
                </a:solidFill>
                <a:latin typeface="Calibri"/>
              </a:rPr>
              <a:t>Key questions:</a:t>
            </a:r>
          </a:p>
        </p:txBody>
      </p:sp>
      <p:sp>
        <p:nvSpPr>
          <p:cNvPr id="8" name="Rounded Rectangle 7"/>
          <p:cNvSpPr/>
          <p:nvPr/>
        </p:nvSpPr>
        <p:spPr>
          <a:xfrm>
            <a:off x="960120" y="2212848"/>
            <a:ext cx="10332720" cy="868680"/>
          </a:xfrm>
          <a:prstGeom prst="roundRect">
            <a:avLst>
              <a:gd name="adj" fmla="val 12000"/>
            </a:avLst>
          </a:prstGeom>
          <a:solidFill>
            <a:srgbClr val="FDF6E6"/>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0B2B4E"/>
                </a:solidFill>
                <a:latin typeface="Calibri"/>
              </a:rPr>
              <a:t>Should the Yi family produce at all?</a:t>
            </a:r>
          </a:p>
        </p:txBody>
      </p:sp>
      <p:sp>
        <p:nvSpPr>
          <p:cNvPr id="9" name="Oval 8"/>
          <p:cNvSpPr/>
          <p:nvPr/>
        </p:nvSpPr>
        <p:spPr>
          <a:xfrm>
            <a:off x="1188720" y="2395728"/>
            <a:ext cx="502920" cy="50292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B2B4E"/>
                </a:solidFill>
                <a:latin typeface="Calibri"/>
              </a:rPr>
              <a:t>1</a:t>
            </a:r>
          </a:p>
        </p:txBody>
      </p:sp>
      <p:sp>
        <p:nvSpPr>
          <p:cNvPr id="10" name="Rounded Rectangle 9"/>
          <p:cNvSpPr/>
          <p:nvPr/>
        </p:nvSpPr>
        <p:spPr>
          <a:xfrm>
            <a:off x="960120" y="3355848"/>
            <a:ext cx="10332720" cy="868680"/>
          </a:xfrm>
          <a:prstGeom prst="roundRect">
            <a:avLst>
              <a:gd name="adj" fmla="val 12000"/>
            </a:avLst>
          </a:prstGeom>
          <a:solidFill>
            <a:srgbClr val="FDF6E6"/>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0B2B4E"/>
                </a:solidFill>
                <a:latin typeface="Calibri"/>
              </a:rPr>
              <a:t>How much should they produce?</a:t>
            </a:r>
          </a:p>
        </p:txBody>
      </p:sp>
      <p:sp>
        <p:nvSpPr>
          <p:cNvPr id="11" name="Oval 10"/>
          <p:cNvSpPr/>
          <p:nvPr/>
        </p:nvSpPr>
        <p:spPr>
          <a:xfrm>
            <a:off x="1188720" y="3538728"/>
            <a:ext cx="502920" cy="50292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B2B4E"/>
                </a:solidFill>
                <a:latin typeface="Calibri"/>
              </a:rPr>
              <a:t>2</a:t>
            </a:r>
          </a:p>
        </p:txBody>
      </p:sp>
      <p:sp>
        <p:nvSpPr>
          <p:cNvPr id="12" name="TextBox 11"/>
          <p:cNvSpPr txBox="1"/>
          <p:nvPr/>
        </p:nvSpPr>
        <p:spPr>
          <a:xfrm>
            <a:off x="389159" y="4434840"/>
            <a:ext cx="11338560" cy="1188720"/>
          </a:xfrm>
          <a:prstGeom prst="rect">
            <a:avLst/>
          </a:prstGeom>
          <a:noFill/>
        </p:spPr>
        <p:txBody>
          <a:bodyPr wrap="square" lIns="0" tIns="0" rIns="0" bIns="0">
            <a:no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We start with the second question: profit maximization</a:t>
            </a:r>
          </a:p>
          <a:p>
            <a:pPr algn="l"/>
            <a:r>
              <a:rPr>
                <a:latin typeface="Calibri"/>
              </a:rPr>
              <a:t>Key concept: </a:t>
            </a:r>
            <a:r>
              <a:rPr b="1">
                <a:solidFill>
                  <a:srgbClr val="0070C0"/>
                </a:solidFill>
                <a:latin typeface="Calibri"/>
              </a:rPr>
              <a:t>marginal analysis</a:t>
            </a:r>
          </a:p>
        </p:txBody>
      </p:sp>
      <p:sp>
        <p:nvSpPr>
          <p:cNvPr id="13" name="Rounded Rectangle 12"/>
          <p:cNvSpPr/>
          <p:nvPr/>
        </p:nvSpPr>
        <p:spPr>
          <a:xfrm>
            <a:off x="9098280" y="5961888"/>
            <a:ext cx="2834640" cy="457200"/>
          </a:xfrm>
          <a:prstGeom prst="roundRect">
            <a:avLst>
              <a:gd name="adj" fmla="val 50000"/>
            </a:avLst>
          </a:prstGeom>
          <a:solidFill>
            <a:srgbClr val="B8860B">
              <a:alpha val="35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  Yi Family Example</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7" name="TextBox 16"/>
          <p:cNvSpPr txBox="1"/>
          <p:nvPr/>
        </p:nvSpPr>
        <p:spPr>
          <a:xfrm>
            <a:off x="11475720" y="6583680"/>
            <a:ext cx="502920" cy="292608"/>
          </a:xfrm>
          <a:prstGeom prst="rect">
            <a:avLst/>
          </a:prstGeom>
          <a:noFill/>
        </p:spPr>
        <p:txBody>
          <a:bodyPr wrap="none" lIns="0" tIns="0" rIns="0" bIns="0">
            <a:spAutoFit/>
          </a:bodyPr>
          <a:lstStyle/>
          <a:p>
            <a:pPr algn="r"/>
            <a:fld id="{94EC799B-974A-5988-A91E-35B1A66E405C}" type="slidenum">
              <a:rPr lang="en-US" sz="1200" dirty="0">
                <a:solidFill>
                  <a:srgbClr val="555B66"/>
                </a:solidFill>
                <a:latin typeface="Calibri"/>
              </a:rPr>
              <a:t>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xEl>
                                              <p:pRg st="0" end="0"/>
                                            </p:txEl>
                                          </p:spTgt>
                                        </p:tgtEl>
                                        <p:attrNameLst>
                                          <p:attrName>style.visibility</p:attrName>
                                        </p:attrNameLst>
                                      </p:cBhvr>
                                      <p:to>
                                        <p:strVal val="visible"/>
                                      </p:to>
                                    </p:set>
                                    <p:animEffect transition="in" filter="fade">
                                      <p:cBhvr>
                                        <p:cTn id="28" dur="500"/>
                                        <p:tgtEl>
                                          <p:spTgt spid="12">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
                                            <p:txEl>
                                              <p:pRg st="1" end="1"/>
                                            </p:txEl>
                                          </p:spTgt>
                                        </p:tgtEl>
                                        <p:attrNameLst>
                                          <p:attrName>style.visibility</p:attrName>
                                        </p:attrNameLst>
                                      </p:cBhvr>
                                      <p:to>
                                        <p:strVal val="visible"/>
                                      </p:to>
                                    </p:set>
                                    <p:animEffect transition="in" filter="fade">
                                      <p:cBhvr>
                                        <p:cTn id="33"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Cabbage Production Costs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23" name="Group pair 123"/>
          <p:cNvGrpSpPr/>
          <p:nvPr/>
        </p:nvGrpSpPr>
        <p:grpSpPr>
          <a:xfrm>
            <a:off x="548640" y="1645920"/>
            <a:ext cx="6309360" cy="4114800"/>
            <a:chOff x="548640" y="1645920"/>
            <a:chExt cx="6309360" cy="4114800"/>
          </a:xfrm>
        </p:grpSpPr>
        <p:sp>
          <p:nvSpPr>
            <p:cNvPr id="7" name="Rectangle 6"/>
            <p:cNvSpPr/>
            <p:nvPr/>
          </p:nvSpPr>
          <p:spPr>
            <a:xfrm>
              <a:off x="548640" y="1645920"/>
              <a:ext cx="6309360" cy="411480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685800" y="1783080"/>
            <a:ext cx="6035040" cy="3840480"/>
          </p:xfrm>
          <a:graphic>
            <a:graphicData uri="http://schemas.openxmlformats.org/drawingml/2006/table">
              <a:tbl>
                <a:tblPr/>
                <a:tblGrid>
                  <a:gridCol w="150876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tblGrid>
                <a:tr h="603504">
                  <a:tc>
                    <a:txBody>
                      <a:bodyPr/>
                      <a:lstStyle/>
                      <a:p>
                        <a:pPr algn="ctr"/>
                        <a:r>
                          <a:rPr sz="1900" b="1">
                            <a:solidFill>
                              <a:srgbClr val="FFFFFF"/>
                            </a:solidFill>
                            <a:latin typeface="Calibri"/>
                          </a:rPr>
                          <a:t>Q  (tons)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900" b="1">
                            <a:solidFill>
                              <a:srgbClr val="FFFFFF"/>
                            </a:solidFill>
                            <a:latin typeface="Calibri"/>
                          </a:rPr>
                          <a:t>TC</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900" b="1">
                            <a:solidFill>
                              <a:srgbClr val="FFFFFF"/>
                            </a:solidFill>
                            <a:latin typeface="Calibri"/>
                          </a:rPr>
                          <a:t>TFC</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900" b="1">
                            <a:solidFill>
                              <a:srgbClr val="FFFFFF"/>
                            </a:solidFill>
                            <a:latin typeface="Calibri"/>
                          </a:rPr>
                          <a:t>TVC</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539496">
                  <a:tc>
                    <a:txBody>
                      <a:bodyPr/>
                      <a:lstStyle/>
                      <a:p>
                        <a:pPr algn="ctr"/>
                        <a:r>
                          <a:rPr sz="1900" b="1">
                            <a:solidFill>
                              <a:srgbClr val="0B2B4E"/>
                            </a:solidFill>
                            <a:latin typeface="Calibri"/>
                          </a:rPr>
                          <a:t>50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900" b="0">
                            <a:solidFill>
                              <a:srgbClr val="0B2B4E"/>
                            </a:solidFill>
                            <a:latin typeface="Calibri"/>
                          </a:rPr>
                          <a:t>67,250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900" b="0">
                            <a:solidFill>
                              <a:srgbClr val="0B2B4E"/>
                            </a:solidFill>
                            <a:latin typeface="Calibri"/>
                          </a:rPr>
                          <a:t>60,000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900" b="0">
                            <a:solidFill>
                              <a:srgbClr val="0B2B4E"/>
                            </a:solidFill>
                            <a:latin typeface="Calibri"/>
                          </a:rPr>
                          <a:t>7,250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539496">
                  <a:tc>
                    <a:txBody>
                      <a:bodyPr/>
                      <a:lstStyle/>
                      <a:p>
                        <a:pPr algn="ctr"/>
                        <a:r>
                          <a:rPr sz="1900" b="1">
                            <a:solidFill>
                              <a:srgbClr val="0B2B4E"/>
                            </a:solidFill>
                            <a:latin typeface="Calibri"/>
                          </a:rPr>
                          <a:t>200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900" b="0">
                            <a:solidFill>
                              <a:srgbClr val="0B2B4E"/>
                            </a:solidFill>
                            <a:latin typeface="Calibri"/>
                          </a:rPr>
                          <a:t>95,000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900" b="0">
                            <a:solidFill>
                              <a:srgbClr val="0B2B4E"/>
                            </a:solidFill>
                            <a:latin typeface="Calibri"/>
                          </a:rPr>
                          <a:t>60,000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900" b="0">
                            <a:solidFill>
                              <a:srgbClr val="0B2B4E"/>
                            </a:solidFill>
                            <a:latin typeface="Calibri"/>
                          </a:rPr>
                          <a:t>35,000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539496">
                  <a:tc>
                    <a:txBody>
                      <a:bodyPr/>
                      <a:lstStyle/>
                      <a:p>
                        <a:pPr algn="ctr"/>
                        <a:r>
                          <a:rPr sz="1900" b="1">
                            <a:solidFill>
                              <a:srgbClr val="0B2B4E"/>
                            </a:solidFill>
                            <a:latin typeface="Calibri"/>
                          </a:rPr>
                          <a:t>400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900" b="0">
                            <a:solidFill>
                              <a:srgbClr val="0B2B4E"/>
                            </a:solidFill>
                            <a:latin typeface="Calibri"/>
                          </a:rPr>
                          <a:t>146,000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900" b="0">
                            <a:solidFill>
                              <a:srgbClr val="0B2B4E"/>
                            </a:solidFill>
                            <a:latin typeface="Calibri"/>
                          </a:rPr>
                          <a:t>60,000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900" b="0">
                            <a:solidFill>
                              <a:srgbClr val="0B2B4E"/>
                            </a:solidFill>
                            <a:latin typeface="Calibri"/>
                          </a:rPr>
                          <a:t>86,000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r h="539496">
                  <a:tc>
                    <a:txBody>
                      <a:bodyPr/>
                      <a:lstStyle/>
                      <a:p>
                        <a:pPr algn="ctr"/>
                        <a:r>
                          <a:rPr sz="1900" b="1">
                            <a:solidFill>
                              <a:srgbClr val="0B2B4E"/>
                            </a:solidFill>
                            <a:latin typeface="Calibri"/>
                          </a:rPr>
                          <a:t>600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900" b="0">
                            <a:solidFill>
                              <a:srgbClr val="0B2B4E"/>
                            </a:solidFill>
                            <a:latin typeface="Calibri"/>
                          </a:rPr>
                          <a:t>213,000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900" b="0">
                            <a:solidFill>
                              <a:srgbClr val="0B2B4E"/>
                            </a:solidFill>
                            <a:latin typeface="Calibri"/>
                          </a:rPr>
                          <a:t>60,000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900" b="0">
                            <a:solidFill>
                              <a:srgbClr val="0B2B4E"/>
                            </a:solidFill>
                            <a:latin typeface="Calibri"/>
                          </a:rPr>
                          <a:t>153,000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4"/>
                    </a:ext>
                  </a:extLst>
                </a:tr>
                <a:tr h="539496">
                  <a:tc>
                    <a:txBody>
                      <a:bodyPr/>
                      <a:lstStyle/>
                      <a:p>
                        <a:pPr algn="ctr"/>
                        <a:r>
                          <a:rPr sz="1900" b="1">
                            <a:solidFill>
                              <a:srgbClr val="0B2B4E"/>
                            </a:solidFill>
                            <a:latin typeface="Calibri"/>
                          </a:rPr>
                          <a:t>800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900" b="0">
                            <a:solidFill>
                              <a:srgbClr val="0B2B4E"/>
                            </a:solidFill>
                            <a:latin typeface="Calibri"/>
                          </a:rPr>
                          <a:t>296,000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900" b="0">
                            <a:solidFill>
                              <a:srgbClr val="0B2B4E"/>
                            </a:solidFill>
                            <a:latin typeface="Calibri"/>
                          </a:rPr>
                          <a:t>60,000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900" b="0">
                            <a:solidFill>
                              <a:srgbClr val="0B2B4E"/>
                            </a:solidFill>
                            <a:latin typeface="Calibri"/>
                          </a:rPr>
                          <a:t>236,000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5"/>
                    </a:ext>
                  </a:extLst>
                </a:tr>
                <a:tr h="539496">
                  <a:tc>
                    <a:txBody>
                      <a:bodyPr/>
                      <a:lstStyle/>
                      <a:p>
                        <a:pPr algn="ctr"/>
                        <a:r>
                          <a:rPr sz="1900" b="1">
                            <a:solidFill>
                              <a:srgbClr val="0B2B4E"/>
                            </a:solidFill>
                            <a:latin typeface="Calibri"/>
                          </a:rPr>
                          <a:t>1,000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900" b="0">
                            <a:solidFill>
                              <a:srgbClr val="0B2B4E"/>
                            </a:solidFill>
                            <a:latin typeface="Calibri"/>
                          </a:rPr>
                          <a:t>395,000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900" b="0">
                            <a:solidFill>
                              <a:srgbClr val="0B2B4E"/>
                            </a:solidFill>
                            <a:latin typeface="Calibri"/>
                          </a:rPr>
                          <a:t>60,000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900" b="0">
                            <a:solidFill>
                              <a:srgbClr val="0B2B4E"/>
                            </a:solidFill>
                            <a:latin typeface="Calibri"/>
                          </a:rPr>
                          <a:t>335,000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6"/>
                    </a:ext>
                  </a:extLst>
                </a:tr>
              </a:tbl>
            </a:graphicData>
          </a:graphic>
        </p:graphicFrame>
      </p:grpSp>
      <p:grpSp>
        <p:nvGrpSpPr>
          <p:cNvPr id="121" name="Group pair 121"/>
          <p:cNvGrpSpPr/>
          <p:nvPr/>
        </p:nvGrpSpPr>
        <p:grpSpPr>
          <a:xfrm>
            <a:off x="6903720" y="1783080"/>
            <a:ext cx="4846320" cy="1051560"/>
            <a:chOff x="6903720" y="1783080"/>
            <a:chExt cx="4846320" cy="1051560"/>
          </a:xfrm>
        </p:grpSpPr>
        <p:sp>
          <p:nvSpPr>
            <p:cNvPr id="9" name="Rounded Rectangle 8"/>
            <p:cNvSpPr/>
            <p:nvPr/>
          </p:nvSpPr>
          <p:spPr>
            <a:xfrm>
              <a:off x="6903720" y="1783080"/>
              <a:ext cx="4846320" cy="105156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86600" y="1892808"/>
              <a:ext cx="4480560" cy="832104"/>
            </a:xfrm>
            <a:prstGeom prst="rect">
              <a:avLst/>
            </a:prstGeom>
            <a:noFill/>
          </p:spPr>
          <p:txBody>
            <a:bodyPr wrap="square" lIns="45720" tIns="0" rIns="45720" bIns="0" anchor="ctr">
              <a:spAutoFit/>
            </a:bodyPr>
            <a:lstStyle/>
            <a:p>
              <a:pPr algn="l"/>
              <a:r>
                <a:rPr sz="1700" b="1" i="0" u="none">
                  <a:solidFill>
                    <a:srgbClr val="0B2B4E"/>
                  </a:solidFill>
                  <a:latin typeface="Calibri"/>
                </a:rPr>
                <a:t>Fixed costs: </a:t>
              </a:r>
              <a:r>
                <a:rPr sz="1700" b="0" i="0" u="none">
                  <a:solidFill>
                    <a:srgbClr val="0B2B4E"/>
                  </a:solidFill>
                  <a:latin typeface="Calibri"/>
                </a:rPr>
                <a:t>land rent, equipment, and the salary the family gives up (opportunity cost)</a:t>
              </a:r>
            </a:p>
          </p:txBody>
        </p:sp>
      </p:grpSp>
      <p:grpSp>
        <p:nvGrpSpPr>
          <p:cNvPr id="122" name="Group pair 122"/>
          <p:cNvGrpSpPr/>
          <p:nvPr/>
        </p:nvGrpSpPr>
        <p:grpSpPr>
          <a:xfrm>
            <a:off x="6903720" y="2971800"/>
            <a:ext cx="4846320" cy="914400"/>
            <a:chOff x="6903720" y="2971800"/>
            <a:chExt cx="4846320" cy="914400"/>
          </a:xfrm>
        </p:grpSpPr>
        <p:sp>
          <p:nvSpPr>
            <p:cNvPr id="11" name="Rounded Rectangle 10"/>
            <p:cNvSpPr/>
            <p:nvPr/>
          </p:nvSpPr>
          <p:spPr>
            <a:xfrm>
              <a:off x="6903720" y="2971800"/>
              <a:ext cx="4846320" cy="91440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86600" y="3081528"/>
              <a:ext cx="4480560" cy="694944"/>
            </a:xfrm>
            <a:prstGeom prst="rect">
              <a:avLst/>
            </a:prstGeom>
            <a:noFill/>
          </p:spPr>
          <p:txBody>
            <a:bodyPr wrap="square" lIns="45720" tIns="0" rIns="45720" bIns="0" anchor="ctr">
              <a:spAutoFit/>
            </a:bodyPr>
            <a:lstStyle/>
            <a:p>
              <a:pPr algn="l"/>
              <a:r>
                <a:rPr sz="1700" b="1" i="0" u="none">
                  <a:solidFill>
                    <a:srgbClr val="0B2B4E"/>
                  </a:solidFill>
                  <a:latin typeface="Calibri"/>
                </a:rPr>
                <a:t>Variable costs: </a:t>
              </a:r>
              <a:r>
                <a:rPr sz="1700" b="0" i="0" u="none">
                  <a:solidFill>
                    <a:srgbClr val="0B2B4E"/>
                  </a:solidFill>
                  <a:latin typeface="Calibri"/>
                </a:rPr>
                <a:t>seeds, water, fertilizer, pesticides, fuel…</a:t>
              </a:r>
            </a:p>
          </p:txBody>
        </p:sp>
      </p:grpSp>
      <p:grpSp>
        <p:nvGrpSpPr>
          <p:cNvPr id="124" name="Group pair 124"/>
          <p:cNvGrpSpPr/>
          <p:nvPr/>
        </p:nvGrpSpPr>
        <p:grpSpPr>
          <a:xfrm>
            <a:off x="6903720" y="4114800"/>
            <a:ext cx="4846320" cy="1508760"/>
            <a:chOff x="6903720" y="4114800"/>
            <a:chExt cx="4846320" cy="1508760"/>
          </a:xfrm>
        </p:grpSpPr>
        <p:pic>
          <p:nvPicPr>
            <p:cNvPr id="13" name="Picture 12" descr="NV_s13_5_cd8d8b01.jpg"/>
            <p:cNvPicPr>
              <a:picLocks noChangeAspect="1"/>
            </p:cNvPicPr>
            <p:nvPr/>
          </p:nvPicPr>
          <p:blipFill>
            <a:blip r:embed="rId3"/>
            <a:stretch>
              <a:fillRect/>
            </a:stretch>
          </p:blipFill>
          <p:spPr>
            <a:xfrm>
              <a:off x="6903720" y="4114800"/>
              <a:ext cx="1554480" cy="1170432"/>
            </a:xfrm>
            <a:prstGeom prst="roundRect">
              <a:avLst>
                <a:gd name="adj" fmla="val 8000"/>
              </a:avLst>
            </a:prstGeom>
            <a:effectLst>
              <a:outerShdw blurRad="50800" dist="38100" dir="2700000" algn="tl" rotWithShape="0">
                <a:srgbClr val="000000">
                  <a:alpha val="50000"/>
                </a:srgbClr>
              </a:outerShdw>
            </a:effectLst>
          </p:spPr>
        </p:pic>
        <p:pic>
          <p:nvPicPr>
            <p:cNvPr id="14" name="Picture 13" descr="NV_s13_4_3f29b09c.jpg"/>
            <p:cNvPicPr>
              <a:picLocks noChangeAspect="1"/>
            </p:cNvPicPr>
            <p:nvPr/>
          </p:nvPicPr>
          <p:blipFill>
            <a:blip r:embed="rId4"/>
            <a:stretch>
              <a:fillRect/>
            </a:stretch>
          </p:blipFill>
          <p:spPr>
            <a:xfrm>
              <a:off x="8549640" y="4114800"/>
              <a:ext cx="1554480" cy="1170432"/>
            </a:xfrm>
            <a:prstGeom prst="roundRect">
              <a:avLst>
                <a:gd name="adj" fmla="val 8000"/>
              </a:avLst>
            </a:prstGeom>
            <a:effectLst>
              <a:outerShdw blurRad="50800" dist="38100" dir="2700000" algn="tl" rotWithShape="0">
                <a:srgbClr val="000000">
                  <a:alpha val="50000"/>
                </a:srgbClr>
              </a:outerShdw>
            </a:effectLst>
          </p:spPr>
        </p:pic>
        <p:pic>
          <p:nvPicPr>
            <p:cNvPr id="15" name="Picture 14" descr="NV_s13_1_dd9ab3ce.jpg"/>
            <p:cNvPicPr>
              <a:picLocks noChangeAspect="1"/>
            </p:cNvPicPr>
            <p:nvPr/>
          </p:nvPicPr>
          <p:blipFill>
            <a:blip r:embed="rId5"/>
            <a:stretch>
              <a:fillRect/>
            </a:stretch>
          </p:blipFill>
          <p:spPr>
            <a:xfrm>
              <a:off x="10195560" y="4114800"/>
              <a:ext cx="1554480" cy="1170432"/>
            </a:xfrm>
            <a:prstGeom prst="roundRect">
              <a:avLst>
                <a:gd name="adj" fmla="val 8000"/>
              </a:avLst>
            </a:prstGeom>
            <a:effectLst>
              <a:outerShdw blurRad="50800" dist="38100" dir="2700000" algn="tl" rotWithShape="0">
                <a:srgbClr val="000000">
                  <a:alpha val="50000"/>
                </a:srgbClr>
              </a:outerShdw>
            </a:effectLst>
          </p:spPr>
        </p:pic>
        <p:sp>
          <p:nvSpPr>
            <p:cNvPr id="16" name="TextBox 15"/>
            <p:cNvSpPr txBox="1"/>
            <p:nvPr/>
          </p:nvSpPr>
          <p:spPr>
            <a:xfrm>
              <a:off x="6903720" y="5349240"/>
              <a:ext cx="4846320" cy="274320"/>
            </a:xfrm>
            <a:prstGeom prst="rect">
              <a:avLst/>
            </a:prstGeom>
            <a:noFill/>
          </p:spPr>
          <p:txBody>
            <a:bodyPr wrap="square" lIns="0" tIns="0" rIns="0" bIns="0">
              <a:spAutoFit/>
            </a:bodyPr>
            <a:lstStyle/>
            <a:p>
              <a:pPr algn="ctr"/>
              <a:r>
                <a:rPr sz="1200" b="0" i="1" u="none">
                  <a:solidFill>
                    <a:srgbClr val="555B66"/>
                  </a:solidFill>
                  <a:latin typeface="Calibri"/>
                </a:rPr>
                <a:t>Seeds  ·  irrigation  ·  fertilizer</a:t>
              </a:r>
            </a:p>
          </p:txBody>
        </p:sp>
      </p:grpSp>
      <p:sp>
        <p:nvSpPr>
          <p:cNvPr id="17" name="Rounded Rectangle 16"/>
          <p:cNvSpPr/>
          <p:nvPr/>
        </p:nvSpPr>
        <p:spPr>
          <a:xfrm>
            <a:off x="9098280" y="5961888"/>
            <a:ext cx="2834640" cy="457200"/>
          </a:xfrm>
          <a:prstGeom prst="roundRect">
            <a:avLst>
              <a:gd name="adj" fmla="val 50000"/>
            </a:avLst>
          </a:prstGeom>
          <a:solidFill>
            <a:srgbClr val="B8860B">
              <a:alpha val="35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  Yi Family Example</a:t>
            </a:r>
          </a:p>
        </p:txBody>
      </p:sp>
      <p:sp>
        <p:nvSpPr>
          <p:cNvPr id="18" name="Rectangle 1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21" name="TextBox 20"/>
          <p:cNvSpPr txBox="1"/>
          <p:nvPr/>
        </p:nvSpPr>
        <p:spPr>
          <a:xfrm>
            <a:off x="11475720" y="6583680"/>
            <a:ext cx="502920" cy="292608"/>
          </a:xfrm>
          <a:prstGeom prst="rect">
            <a:avLst/>
          </a:prstGeom>
          <a:noFill/>
        </p:spPr>
        <p:txBody>
          <a:bodyPr wrap="none" lIns="0" tIns="0" rIns="0" bIns="0">
            <a:spAutoFit/>
          </a:bodyPr>
          <a:lstStyle/>
          <a:p>
            <a:pPr algn="r"/>
            <a:fld id="{95394DCA-4CDA-5B1D-BE09-0AD834A5DD78}" type="slidenum">
              <a:rPr lang="en-US" sz="1200" dirty="0">
                <a:solidFill>
                  <a:srgbClr val="555B66"/>
                </a:solidFill>
                <a:latin typeface="Calibri"/>
              </a:rPr>
              <a:t>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500"/>
                                        <p:tgtEl>
                                          <p:spTgt spid="1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1"/>
                                        </p:tgtEl>
                                        <p:attrNameLst>
                                          <p:attrName>style.visibility</p:attrName>
                                        </p:attrNameLst>
                                      </p:cBhvr>
                                      <p:to>
                                        <p:strVal val="visible"/>
                                      </p:to>
                                    </p:set>
                                    <p:animEffect transition="in" filter="fade">
                                      <p:cBhvr>
                                        <p:cTn id="12" dur="500"/>
                                        <p:tgtEl>
                                          <p:spTgt spid="1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2"/>
                                        </p:tgtEl>
                                        <p:attrNameLst>
                                          <p:attrName>style.visibility</p:attrName>
                                        </p:attrNameLst>
                                      </p:cBhvr>
                                      <p:to>
                                        <p:strVal val="visible"/>
                                      </p:to>
                                    </p:set>
                                    <p:animEffect transition="in" filter="fade">
                                      <p:cBhvr>
                                        <p:cTn id="17" dur="500"/>
                                        <p:tgtEl>
                                          <p:spTgt spid="122"/>
                                        </p:tgtEl>
                                      </p:cBhvr>
                                    </p:animEffect>
                                  </p:childTnLst>
                                </p:cTn>
                              </p:par>
                              <p:par>
                                <p:cTn id="18" presetID="10" presetClass="entr" presetSubtype="0" fill="hold" nodeType="withEffect">
                                  <p:stCondLst>
                                    <p:cond delay="0"/>
                                  </p:stCondLst>
                                  <p:childTnLst>
                                    <p:set>
                                      <p:cBhvr>
                                        <p:cTn id="19" dur="1" fill="hold">
                                          <p:stCondLst>
                                            <p:cond delay="0"/>
                                          </p:stCondLst>
                                        </p:cTn>
                                        <p:tgtEl>
                                          <p:spTgt spid="124"/>
                                        </p:tgtEl>
                                        <p:attrNameLst>
                                          <p:attrName>style.visibility</p:attrName>
                                        </p:attrNameLst>
                                      </p:cBhvr>
                                      <p:to>
                                        <p:strVal val="visible"/>
                                      </p:to>
                                    </p:set>
                                    <p:animEffect transition="in" filter="fade">
                                      <p:cBhvr>
                                        <p:cTn id="20"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Cabbage Total Cost Function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4" name="Group pair 134"/>
          <p:cNvGrpSpPr/>
          <p:nvPr/>
        </p:nvGrpSpPr>
        <p:grpSpPr>
          <a:xfrm>
            <a:off x="411480" y="1828800"/>
            <a:ext cx="3291840" cy="3630168"/>
            <a:chOff x="411480" y="1828800"/>
            <a:chExt cx="3291840" cy="3630168"/>
          </a:xfrm>
        </p:grpSpPr>
        <p:sp>
          <p:nvSpPr>
            <p:cNvPr id="7" name="Rectangle 6"/>
            <p:cNvSpPr/>
            <p:nvPr/>
          </p:nvSpPr>
          <p:spPr>
            <a:xfrm>
              <a:off x="411480" y="1828800"/>
              <a:ext cx="3291840" cy="3630168"/>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548640" y="1965960"/>
            <a:ext cx="3017520" cy="3355848"/>
          </p:xfrm>
          <a:graphic>
            <a:graphicData uri="http://schemas.openxmlformats.org/drawingml/2006/table">
              <a:tbl>
                <a:tblPr/>
                <a:tblGrid>
                  <a:gridCol w="1371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502920">
                  <a:tc>
                    <a:txBody>
                      <a:bodyPr/>
                      <a:lstStyle/>
                      <a:p>
                        <a:pPr algn="ctr"/>
                        <a:r>
                          <a:rPr sz="1800" b="1">
                            <a:solidFill>
                              <a:srgbClr val="FFFFFF"/>
                            </a:solidFill>
                            <a:latin typeface="Calibri"/>
                          </a:rPr>
                          <a:t>Q  (tons)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800" b="1">
                            <a:solidFill>
                              <a:srgbClr val="FFFFFF"/>
                            </a:solidFill>
                            <a:latin typeface="Calibri"/>
                          </a:rPr>
                          <a:t>TC  ($)</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475488">
                  <a:tc>
                    <a:txBody>
                      <a:bodyPr/>
                      <a:lstStyle/>
                      <a:p>
                        <a:pPr algn="ctr"/>
                        <a:r>
                          <a:rPr sz="1800" b="1">
                            <a:solidFill>
                              <a:srgbClr val="0B2B4E"/>
                            </a:solidFill>
                            <a:latin typeface="Calibri"/>
                          </a:rPr>
                          <a:t>50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800" b="0">
                            <a:solidFill>
                              <a:srgbClr val="0B2B4E"/>
                            </a:solidFill>
                            <a:latin typeface="Calibri"/>
                          </a:rPr>
                          <a:t>67,250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475488">
                  <a:tc>
                    <a:txBody>
                      <a:bodyPr/>
                      <a:lstStyle/>
                      <a:p>
                        <a:pPr algn="ctr"/>
                        <a:r>
                          <a:rPr sz="1800" b="1">
                            <a:solidFill>
                              <a:srgbClr val="0B2B4E"/>
                            </a:solidFill>
                            <a:latin typeface="Calibri"/>
                          </a:rPr>
                          <a:t>200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800" b="0">
                            <a:solidFill>
                              <a:srgbClr val="0B2B4E"/>
                            </a:solidFill>
                            <a:latin typeface="Calibri"/>
                          </a:rPr>
                          <a:t>95,000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475488">
                  <a:tc>
                    <a:txBody>
                      <a:bodyPr/>
                      <a:lstStyle/>
                      <a:p>
                        <a:pPr algn="ctr"/>
                        <a:r>
                          <a:rPr sz="1800" b="1">
                            <a:solidFill>
                              <a:srgbClr val="0B2B4E"/>
                            </a:solidFill>
                            <a:latin typeface="Calibri"/>
                          </a:rPr>
                          <a:t>400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800" b="0">
                            <a:solidFill>
                              <a:srgbClr val="0B2B4E"/>
                            </a:solidFill>
                            <a:latin typeface="Calibri"/>
                          </a:rPr>
                          <a:t>146,000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r h="475488">
                  <a:tc>
                    <a:txBody>
                      <a:bodyPr/>
                      <a:lstStyle/>
                      <a:p>
                        <a:pPr algn="ctr"/>
                        <a:r>
                          <a:rPr sz="1800" b="1">
                            <a:solidFill>
                              <a:srgbClr val="0B2B4E"/>
                            </a:solidFill>
                            <a:latin typeface="Calibri"/>
                          </a:rPr>
                          <a:t>600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800" b="0">
                            <a:solidFill>
                              <a:srgbClr val="0B2B4E"/>
                            </a:solidFill>
                            <a:latin typeface="Calibri"/>
                          </a:rPr>
                          <a:t>213,000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4"/>
                    </a:ext>
                  </a:extLst>
                </a:tr>
                <a:tr h="475488">
                  <a:tc>
                    <a:txBody>
                      <a:bodyPr/>
                      <a:lstStyle/>
                      <a:p>
                        <a:pPr algn="ctr"/>
                        <a:r>
                          <a:rPr sz="1800" b="1">
                            <a:solidFill>
                              <a:srgbClr val="0B2B4E"/>
                            </a:solidFill>
                            <a:latin typeface="Calibri"/>
                          </a:rPr>
                          <a:t>800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800" b="0">
                            <a:solidFill>
                              <a:srgbClr val="0B2B4E"/>
                            </a:solidFill>
                            <a:latin typeface="Calibri"/>
                          </a:rPr>
                          <a:t>296,000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5"/>
                    </a:ext>
                  </a:extLst>
                </a:tr>
                <a:tr h="475488">
                  <a:tc>
                    <a:txBody>
                      <a:bodyPr/>
                      <a:lstStyle/>
                      <a:p>
                        <a:pPr algn="ctr"/>
                        <a:r>
                          <a:rPr sz="1800" b="1">
                            <a:solidFill>
                              <a:srgbClr val="0B2B4E"/>
                            </a:solidFill>
                            <a:latin typeface="Calibri"/>
                          </a:rPr>
                          <a:t>1,000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800" b="0">
                            <a:solidFill>
                              <a:srgbClr val="0B2B4E"/>
                            </a:solidFill>
                            <a:latin typeface="Calibri"/>
                          </a:rPr>
                          <a:t>395,000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6"/>
                    </a:ext>
                  </a:extLst>
                </a:tr>
              </a:tbl>
            </a:graphicData>
          </a:graphic>
        </p:graphicFrame>
      </p:grpSp>
      <p:cxnSp>
        <p:nvCxnSpPr>
          <p:cNvPr id="9" name="Connector 8"/>
          <p:cNvCxnSpPr/>
          <p:nvPr/>
        </p:nvCxnSpPr>
        <p:spPr>
          <a:xfrm flipV="1">
            <a:off x="5074920" y="2304287"/>
            <a:ext cx="0" cy="322783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074920" y="5532120"/>
            <a:ext cx="583387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941064" y="2036571"/>
            <a:ext cx="1292352" cy="265176"/>
          </a:xfrm>
          <a:prstGeom prst="rect">
            <a:avLst/>
          </a:prstGeom>
          <a:noFill/>
        </p:spPr>
        <p:txBody>
          <a:bodyPr wrap="square" lIns="0" tIns="0" rIns="0" bIns="0">
            <a:spAutoFit/>
          </a:bodyPr>
          <a:lstStyle/>
          <a:p>
            <a:pPr algn="l"/>
            <a:r>
              <a:rPr sz="1800" b="1" i="1" u="none" dirty="0">
                <a:solidFill>
                  <a:srgbClr val="0B2B4E"/>
                </a:solidFill>
                <a:latin typeface="Calibri"/>
              </a:rPr>
              <a:t>Total cost ($)</a:t>
            </a:r>
          </a:p>
        </p:txBody>
      </p:sp>
      <p:sp>
        <p:nvSpPr>
          <p:cNvPr id="12" name="TextBox 11"/>
          <p:cNvSpPr txBox="1"/>
          <p:nvPr/>
        </p:nvSpPr>
        <p:spPr>
          <a:xfrm>
            <a:off x="10157841" y="5577840"/>
            <a:ext cx="1501902" cy="265176"/>
          </a:xfrm>
          <a:prstGeom prst="rect">
            <a:avLst/>
          </a:prstGeom>
          <a:noFill/>
        </p:spPr>
        <p:txBody>
          <a:bodyPr wrap="square" lIns="0" tIns="0" rIns="0" bIns="0">
            <a:spAutoFit/>
          </a:bodyPr>
          <a:lstStyle/>
          <a:p>
            <a:pPr algn="l"/>
            <a:r>
              <a:rPr sz="1800" b="1" i="1" u="none">
                <a:solidFill>
                  <a:srgbClr val="0B2B4E"/>
                </a:solidFill>
                <a:latin typeface="Calibri"/>
              </a:rPr>
              <a:t>Quantity (tons)</a:t>
            </a:r>
          </a:p>
        </p:txBody>
      </p:sp>
      <p:sp>
        <p:nvSpPr>
          <p:cNvPr id="13" name="TextBox 12"/>
          <p:cNvSpPr txBox="1"/>
          <p:nvPr/>
        </p:nvSpPr>
        <p:spPr>
          <a:xfrm>
            <a:off x="5826062" y="5586983"/>
            <a:ext cx="387477" cy="274320"/>
          </a:xfrm>
          <a:prstGeom prst="rect">
            <a:avLst/>
          </a:prstGeom>
          <a:noFill/>
        </p:spPr>
        <p:txBody>
          <a:bodyPr wrap="square" lIns="0" tIns="0" rIns="0" bIns="0">
            <a:spAutoFit/>
          </a:bodyPr>
          <a:lstStyle/>
          <a:p>
            <a:pPr algn="ctr"/>
            <a:r>
              <a:rPr sz="1600" b="0" i="1" u="none">
                <a:solidFill>
                  <a:srgbClr val="0B2B4E"/>
                </a:solidFill>
                <a:latin typeface="Calibri"/>
              </a:rPr>
              <a:t>200</a:t>
            </a:r>
          </a:p>
        </p:txBody>
      </p:sp>
      <p:sp>
        <p:nvSpPr>
          <p:cNvPr id="14" name="TextBox 13"/>
          <p:cNvSpPr txBox="1"/>
          <p:nvPr/>
        </p:nvSpPr>
        <p:spPr>
          <a:xfrm>
            <a:off x="6770942" y="5586983"/>
            <a:ext cx="387477" cy="274320"/>
          </a:xfrm>
          <a:prstGeom prst="rect">
            <a:avLst/>
          </a:prstGeom>
          <a:noFill/>
        </p:spPr>
        <p:txBody>
          <a:bodyPr wrap="square" lIns="0" tIns="0" rIns="0" bIns="0">
            <a:spAutoFit/>
          </a:bodyPr>
          <a:lstStyle/>
          <a:p>
            <a:pPr algn="ctr"/>
            <a:r>
              <a:rPr sz="1600" b="0" i="1" u="none">
                <a:solidFill>
                  <a:srgbClr val="0B2B4E"/>
                </a:solidFill>
                <a:latin typeface="Calibri"/>
              </a:rPr>
              <a:t>400</a:t>
            </a:r>
          </a:p>
        </p:txBody>
      </p:sp>
      <p:sp>
        <p:nvSpPr>
          <p:cNvPr id="15" name="TextBox 14"/>
          <p:cNvSpPr txBox="1"/>
          <p:nvPr/>
        </p:nvSpPr>
        <p:spPr>
          <a:xfrm>
            <a:off x="7715822" y="5586983"/>
            <a:ext cx="387477" cy="274320"/>
          </a:xfrm>
          <a:prstGeom prst="rect">
            <a:avLst/>
          </a:prstGeom>
          <a:noFill/>
        </p:spPr>
        <p:txBody>
          <a:bodyPr wrap="square" lIns="0" tIns="0" rIns="0" bIns="0">
            <a:spAutoFit/>
          </a:bodyPr>
          <a:lstStyle/>
          <a:p>
            <a:pPr algn="ctr"/>
            <a:r>
              <a:rPr sz="1600" b="0" i="1" u="none">
                <a:solidFill>
                  <a:srgbClr val="0B2B4E"/>
                </a:solidFill>
                <a:latin typeface="Calibri"/>
              </a:rPr>
              <a:t>600</a:t>
            </a:r>
          </a:p>
        </p:txBody>
      </p:sp>
      <p:sp>
        <p:nvSpPr>
          <p:cNvPr id="16" name="TextBox 15"/>
          <p:cNvSpPr txBox="1"/>
          <p:nvPr/>
        </p:nvSpPr>
        <p:spPr>
          <a:xfrm>
            <a:off x="8660702" y="5586983"/>
            <a:ext cx="387477" cy="274320"/>
          </a:xfrm>
          <a:prstGeom prst="rect">
            <a:avLst/>
          </a:prstGeom>
          <a:noFill/>
        </p:spPr>
        <p:txBody>
          <a:bodyPr wrap="square" lIns="0" tIns="0" rIns="0" bIns="0">
            <a:spAutoFit/>
          </a:bodyPr>
          <a:lstStyle/>
          <a:p>
            <a:pPr algn="ctr"/>
            <a:r>
              <a:rPr sz="1600" b="0" i="1" u="none">
                <a:solidFill>
                  <a:srgbClr val="0B2B4E"/>
                </a:solidFill>
                <a:latin typeface="Calibri"/>
              </a:rPr>
              <a:t>800</a:t>
            </a:r>
          </a:p>
        </p:txBody>
      </p:sp>
      <p:sp>
        <p:nvSpPr>
          <p:cNvPr id="17" name="TextBox 16"/>
          <p:cNvSpPr txBox="1"/>
          <p:nvPr/>
        </p:nvSpPr>
        <p:spPr>
          <a:xfrm>
            <a:off x="9529382" y="5586983"/>
            <a:ext cx="539876" cy="274320"/>
          </a:xfrm>
          <a:prstGeom prst="rect">
            <a:avLst/>
          </a:prstGeom>
          <a:noFill/>
        </p:spPr>
        <p:txBody>
          <a:bodyPr wrap="square" lIns="0" tIns="0" rIns="0" bIns="0">
            <a:spAutoFit/>
          </a:bodyPr>
          <a:lstStyle/>
          <a:p>
            <a:pPr algn="ctr"/>
            <a:r>
              <a:rPr sz="1600" b="0" i="1" u="none">
                <a:solidFill>
                  <a:srgbClr val="0B2B4E"/>
                </a:solidFill>
                <a:latin typeface="Calibri"/>
              </a:rPr>
              <a:t>1,000</a:t>
            </a:r>
          </a:p>
        </p:txBody>
      </p:sp>
      <p:sp>
        <p:nvSpPr>
          <p:cNvPr id="18" name="TextBox 17"/>
          <p:cNvSpPr txBox="1"/>
          <p:nvPr/>
        </p:nvSpPr>
        <p:spPr>
          <a:xfrm>
            <a:off x="4252341" y="4714240"/>
            <a:ext cx="749427" cy="274320"/>
          </a:xfrm>
          <a:prstGeom prst="rect">
            <a:avLst/>
          </a:prstGeom>
          <a:noFill/>
        </p:spPr>
        <p:txBody>
          <a:bodyPr wrap="square" lIns="0" tIns="0" rIns="0" bIns="0">
            <a:spAutoFit/>
          </a:bodyPr>
          <a:lstStyle/>
          <a:p>
            <a:pPr algn="r"/>
            <a:r>
              <a:rPr sz="1600" b="0" i="1" u="none">
                <a:solidFill>
                  <a:srgbClr val="0B2B4E"/>
                </a:solidFill>
                <a:latin typeface="Calibri"/>
              </a:rPr>
              <a:t>100,000</a:t>
            </a:r>
          </a:p>
        </p:txBody>
      </p:sp>
      <p:sp>
        <p:nvSpPr>
          <p:cNvPr id="19" name="TextBox 18"/>
          <p:cNvSpPr txBox="1"/>
          <p:nvPr/>
        </p:nvSpPr>
        <p:spPr>
          <a:xfrm>
            <a:off x="4252341" y="4033520"/>
            <a:ext cx="749427" cy="274320"/>
          </a:xfrm>
          <a:prstGeom prst="rect">
            <a:avLst/>
          </a:prstGeom>
          <a:noFill/>
        </p:spPr>
        <p:txBody>
          <a:bodyPr wrap="square" lIns="0" tIns="0" rIns="0" bIns="0">
            <a:spAutoFit/>
          </a:bodyPr>
          <a:lstStyle/>
          <a:p>
            <a:pPr algn="r"/>
            <a:r>
              <a:rPr sz="1600" b="0" i="1" u="none">
                <a:solidFill>
                  <a:srgbClr val="0B2B4E"/>
                </a:solidFill>
                <a:latin typeface="Calibri"/>
              </a:rPr>
              <a:t>200,000</a:t>
            </a:r>
          </a:p>
        </p:txBody>
      </p:sp>
      <p:sp>
        <p:nvSpPr>
          <p:cNvPr id="20" name="TextBox 19"/>
          <p:cNvSpPr txBox="1"/>
          <p:nvPr/>
        </p:nvSpPr>
        <p:spPr>
          <a:xfrm>
            <a:off x="4252341" y="3352800"/>
            <a:ext cx="749427" cy="274320"/>
          </a:xfrm>
          <a:prstGeom prst="rect">
            <a:avLst/>
          </a:prstGeom>
          <a:noFill/>
        </p:spPr>
        <p:txBody>
          <a:bodyPr wrap="square" lIns="0" tIns="0" rIns="0" bIns="0">
            <a:spAutoFit/>
          </a:bodyPr>
          <a:lstStyle/>
          <a:p>
            <a:pPr algn="r"/>
            <a:r>
              <a:rPr sz="1600" b="0" i="1" u="none">
                <a:solidFill>
                  <a:srgbClr val="0B2B4E"/>
                </a:solidFill>
                <a:latin typeface="Calibri"/>
              </a:rPr>
              <a:t>300,000</a:t>
            </a:r>
          </a:p>
        </p:txBody>
      </p:sp>
      <p:sp>
        <p:nvSpPr>
          <p:cNvPr id="21" name="TextBox 20"/>
          <p:cNvSpPr txBox="1"/>
          <p:nvPr/>
        </p:nvSpPr>
        <p:spPr>
          <a:xfrm>
            <a:off x="4252341" y="2672079"/>
            <a:ext cx="749427" cy="274320"/>
          </a:xfrm>
          <a:prstGeom prst="rect">
            <a:avLst/>
          </a:prstGeom>
          <a:noFill/>
        </p:spPr>
        <p:txBody>
          <a:bodyPr wrap="square" lIns="0" tIns="0" rIns="0" bIns="0">
            <a:spAutoFit/>
          </a:bodyPr>
          <a:lstStyle/>
          <a:p>
            <a:pPr algn="r"/>
            <a:r>
              <a:rPr sz="1600" b="0" i="1" u="none">
                <a:solidFill>
                  <a:srgbClr val="0B2B4E"/>
                </a:solidFill>
                <a:latin typeface="Calibri"/>
              </a:rPr>
              <a:t>400,000</a:t>
            </a:r>
          </a:p>
        </p:txBody>
      </p:sp>
      <p:sp>
        <p:nvSpPr>
          <p:cNvPr id="22" name="Rectangle 21"/>
          <p:cNvSpPr/>
          <p:nvPr/>
        </p:nvSpPr>
        <p:spPr>
          <a:xfrm>
            <a:off x="5074920" y="2657779"/>
            <a:ext cx="4960620" cy="2465909"/>
          </a:xfrm>
          <a:custGeom>
            <a:avLst/>
            <a:gdLst/>
            <a:ahLst/>
            <a:cxnLst/>
            <a:rect l="0" t="0" r="r" b="b"/>
            <a:pathLst>
              <a:path w="4960620" h="2465909">
                <a:moveTo>
                  <a:pt x="0" y="2465909"/>
                </a:moveTo>
                <a:cubicBezTo>
                  <a:pt x="206692" y="2410068"/>
                  <a:pt x="826770" y="2273818"/>
                  <a:pt x="1240155" y="2130867"/>
                </a:cubicBezTo>
                <a:cubicBezTo>
                  <a:pt x="1653539" y="1987915"/>
                  <a:pt x="2066924" y="1813693"/>
                  <a:pt x="2480309" y="1608201"/>
                </a:cubicBezTo>
                <a:cubicBezTo>
                  <a:pt x="2893693" y="1402708"/>
                  <a:pt x="3307078" y="1165946"/>
                  <a:pt x="3720464" y="897913"/>
                </a:cubicBezTo>
                <a:cubicBezTo>
                  <a:pt x="4133849" y="629879"/>
                  <a:pt x="4753927" y="149652"/>
                  <a:pt x="4960620" y="0"/>
                </a:cubicBezTo>
              </a:path>
            </a:pathLst>
          </a:custGeom>
          <a:noFill/>
          <a:ln w="38100">
            <a:solidFill>
              <a:srgbClr val="0B2B4E"/>
            </a:solidFill>
            <a:prstDash val="dash"/>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233416" y="4996611"/>
            <a:ext cx="155448" cy="155448"/>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942076" y="4807712"/>
            <a:ext cx="155448" cy="155448"/>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886956" y="4460544"/>
            <a:ext cx="155448" cy="155448"/>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831836" y="4004462"/>
            <a:ext cx="155448" cy="155448"/>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776716" y="3439464"/>
            <a:ext cx="155448" cy="155448"/>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721596" y="2765552"/>
            <a:ext cx="155448" cy="155448"/>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9" name="TextBox 28"/>
              <p:cNvSpPr txBox="1"/>
              <p:nvPr/>
            </p:nvSpPr>
            <p:spPr>
              <a:xfrm>
                <a:off x="6309360" y="1353312"/>
                <a:ext cx="5394960" cy="868680"/>
              </a:xfrm>
              <a:prstGeom prst="roundRect">
                <a:avLst>
                  <a:gd name="adj" fmla="val 10000"/>
                </a:avLst>
              </a:prstGeom>
              <a:solidFill>
                <a:srgbClr val="FDF6E6"/>
              </a:solidFill>
              <a:ln w="22225">
                <a:solidFill>
                  <a:srgbClr val="E09F3E"/>
                </a:solidFill>
              </a:ln>
              <a:effectLst>
                <a:outerShdw blurRad="50800" dist="38100" dir="2700000" algn="tl" rotWithShape="0">
                  <a:srgbClr val="000000">
                    <a:alpha val="50000"/>
                  </a:srgbClr>
                </a:outerShdw>
              </a:effectLst>
            </p:spPr>
            <p:txBody>
              <a:bodyPr wrap="square" lIns="45720" tIns="0" rIns="45720" bIns="0">
                <a:spAutoFit/>
              </a:bodyPr>
              <a:lstStyle/>
              <a:p>
                <a:pPr algn="ctr"/>
                <a:r>
                  <a:rPr lang="en-US" sz="1800" b="1">
                    <a:solidFill>
                      <a:srgbClr val="0B2B4E"/>
                    </a:solidFill>
                    <a:latin typeface="Calibri"/>
                  </a:rPr>
                  <a:t>Regression line:</a:t>
                </a:r>
                <a:endParaRPr lang="en-US"/>
              </a:p>
              <a:p>
                <a:pPr algn="ctr"/>
                <a14:m>
                  <m:oMathPara xmlns:m="http://schemas.openxmlformats.org/officeDocument/2006/math">
                    <m:oMath>
                      <m:r>
                        <m:rPr>
                          <m:sty m:val="p"/>
                        </m:rPr>
                        <a:rPr lang="en-US" sz="2400" b="0" i="0">
                          <a:solidFill>
                            <a:srgbClr val="0B2B4E"/>
                          </a:solidFill>
                          <a:latin typeface="Cambria Math"/>
                        </a:rPr>
                        <m:t>TC</m:t>
                      </m:r>
                      <m:r>
                        <a:rPr lang="en-US" sz="2400" b="0" i="0">
                          <a:solidFill>
                            <a:srgbClr val="0B2B4E"/>
                          </a:solidFill>
                          <a:latin typeface="Cambria Math"/>
                        </a:rPr>
                        <m:t> = 60,000 + 135</m:t>
                      </m:r>
                      <m:r>
                        <a:rPr lang="en-US" sz="2400" b="0" i="1">
                          <a:solidFill>
                            <a:srgbClr val="0B2B4E"/>
                          </a:solidFill>
                          <a:latin typeface="Cambria Math"/>
                          <a:ea typeface="Cambria Math"/>
                        </a:rPr>
                        <m:t>𝑄</m:t>
                      </m:r>
                      <m:r>
                        <a:rPr lang="en-US" sz="2400" b="0" i="0">
                          <a:solidFill>
                            <a:srgbClr val="0B2B4E"/>
                          </a:solidFill>
                          <a:latin typeface="Cambria Math"/>
                        </a:rPr>
                        <m:t> + 0.2</m:t>
                      </m:r>
                      <m:sSup>
                        <m:sSupPr>
                          <m:ctrlPr>
                            <a:rPr lang="en-US" sz="2400" b="0" i="1">
                              <a:solidFill>
                                <a:srgbClr val="0B2B4E"/>
                              </a:solidFill>
                              <a:latin typeface="Cambria Math"/>
                              <a:ea typeface="Cambria Math"/>
                            </a:rPr>
                          </m:ctrlPr>
                        </m:sSupPr>
                        <m:e>
                          <m:r>
                            <a:rPr lang="en-US" sz="2400" b="0" i="1">
                              <a:solidFill>
                                <a:srgbClr val="0B2B4E"/>
                              </a:solidFill>
                              <a:latin typeface="Cambria Math"/>
                              <a:ea typeface="Cambria Math"/>
                            </a:rPr>
                            <m:t>𝑄</m:t>
                          </m:r>
                        </m:e>
                        <m:sup>
                          <m:r>
                            <a:rPr lang="en-US" sz="2400" b="0" i="0">
                              <a:solidFill>
                                <a:srgbClr val="0B2B4E"/>
                              </a:solidFill>
                              <a:latin typeface="Cambria Math"/>
                            </a:rPr>
                            <m:t>2</m:t>
                          </m:r>
                        </m:sup>
                      </m:sSup>
                    </m:oMath>
                  </m:oMathPara>
                </a14:m>
                <a:endParaRPr lang="en-US"/>
              </a:p>
            </p:txBody>
          </p:sp>
        </mc:Choice>
        <mc:Fallback xmlns="">
          <p:sp>
            <p:nvSpPr>
              <p:cNvPr id="29" name="TextBox 28"/>
              <p:cNvSpPr txBox="1">
                <a:spLocks noRot="1" noChangeAspect="1" noMove="1" noResize="1" noEditPoints="1" noAdjustHandles="1" noChangeArrowheads="1" noChangeShapeType="1" noTextEdit="1"/>
              </p:cNvSpPr>
              <p:nvPr/>
            </p:nvSpPr>
            <p:spPr>
              <a:xfrm>
                <a:off x="6309360" y="1353312"/>
                <a:ext cx="5394960" cy="868680"/>
              </a:xfrm>
              <a:prstGeom prst="roundRect">
                <a:avLst>
                  <a:gd name="adj" fmla="val 10000"/>
                </a:avLst>
              </a:prstGeom>
              <a:blipFill>
                <a:blip r:embed="rId3"/>
                <a:stretch>
                  <a:fillRect/>
                </a:stretch>
              </a:blipFill>
              <a:ln w="22225">
                <a:solidFill>
                  <a:srgbClr val="E09F3E"/>
                </a:solidFill>
              </a:ln>
              <a:effectLst>
                <a:outerShdw blurRad="50800" dist="38100" dir="2700000" algn="tl" rotWithShape="0">
                  <a:srgbClr val="000000">
                    <a:alpha val="50000"/>
                  </a:srgbClr>
                </a:outerShdw>
              </a:effectLst>
            </p:spPr>
            <p:txBody>
              <a:bodyPr/>
              <a:lstStyle/>
              <a:p>
                <a:r>
                  <a:rPr lang="en-US">
                    <a:noFill/>
                  </a:rPr>
                  <a:t> </a:t>
                </a:r>
              </a:p>
            </p:txBody>
          </p:sp>
        </mc:Fallback>
      </mc:AlternateContent>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3" name="TextBox 32"/>
          <p:cNvSpPr txBox="1"/>
          <p:nvPr/>
        </p:nvSpPr>
        <p:spPr>
          <a:xfrm>
            <a:off x="11475720" y="6583680"/>
            <a:ext cx="502920" cy="292608"/>
          </a:xfrm>
          <a:prstGeom prst="rect">
            <a:avLst/>
          </a:prstGeom>
          <a:noFill/>
        </p:spPr>
        <p:txBody>
          <a:bodyPr wrap="none" lIns="0" tIns="0" rIns="0" bIns="0">
            <a:spAutoFit/>
          </a:bodyPr>
          <a:lstStyle/>
          <a:p>
            <a:pPr algn="r"/>
            <a:fld id="{6603627C-E725-5B69-BFB3-C73EC154E645}" type="slidenum">
              <a:rPr lang="en-US" sz="1200" dirty="0">
                <a:solidFill>
                  <a:srgbClr val="555B66"/>
                </a:solidFill>
                <a:latin typeface="Calibri"/>
              </a:rPr>
              <a:t>9</a:t>
            </a:fld>
            <a:endParaRPr lang="en-US" sz="1200" dirty="0">
              <a:solidFill>
                <a:srgbClr val="555B66"/>
              </a:solidFill>
              <a:latin typeface="Calibri"/>
            </a:endParaRPr>
          </a:p>
        </p:txBody>
      </p:sp>
      <p:sp>
        <p:nvSpPr>
          <p:cNvPr id="34" name="Rounded Rectangle 33"/>
          <p:cNvSpPr/>
          <p:nvPr/>
        </p:nvSpPr>
        <p:spPr>
          <a:xfrm>
            <a:off x="9098280" y="5961888"/>
            <a:ext cx="2834640" cy="457200"/>
          </a:xfrm>
          <a:prstGeom prst="roundRect">
            <a:avLst>
              <a:gd name="adj" fmla="val 50000"/>
            </a:avLst>
          </a:prstGeom>
          <a:solidFill>
            <a:srgbClr val="B8860B">
              <a:alpha val="35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  Yi Family 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17" presetID="10"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par>
                                <p:cTn id="20" presetID="10" presetClass="entr" presetSubtype="0"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Maximizing Profit: Cabbage Production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481328"/>
            <a:ext cx="11338560" cy="411480"/>
          </a:xfrm>
          <a:prstGeom prst="rect">
            <a:avLst/>
          </a:prstGeom>
          <a:noFill/>
        </p:spPr>
        <p:txBody>
          <a:bodyPr wrap="square" lIns="0" tIns="0" rIns="0" bIns="0">
            <a:spAutoFit/>
          </a:bodyPr>
          <a:lstStyle/>
          <a:p>
            <a:pPr algn="l"/>
            <a:r>
              <a:rPr sz="2600" b="0" i="0" u="none">
                <a:solidFill>
                  <a:srgbClr val="0B2B4E"/>
                </a:solidFill>
                <a:latin typeface="Calibri"/>
              </a:rPr>
              <a:t>The Yi family has estimated its total cost:</a:t>
            </a:r>
          </a:p>
        </p:txBody>
      </p:sp>
      <mc:AlternateContent xmlns:mc="http://schemas.openxmlformats.org/markup-compatibility/2006" xmlns:a14="http://schemas.microsoft.com/office/drawing/2010/main">
        <mc:Choice Requires="a14">
          <p:sp>
            <p:nvSpPr>
              <p:cNvPr id="8" name="TextBox 7"/>
              <p:cNvSpPr txBox="1"/>
              <p:nvPr/>
            </p:nvSpPr>
            <p:spPr>
              <a:xfrm>
                <a:off x="3246120" y="2011680"/>
                <a:ext cx="5669280" cy="86868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a:pPr algn="ctr">
                  <a:defRPr sz="3000" b="0" i="1">
                    <a:solidFill>
                      <a:srgbClr val="0B2B4E"/>
                    </a:solidFill>
                    <a:latin typeface="Cambria Math"/>
                  </a:defRPr>
                </a:pPr>
                <a14:m>
                  <m:oMathPara xmlns:m="http://schemas.openxmlformats.org/officeDocument/2006/math">
                    <m:oMath>
                      <m:r>
                        <m:rPr>
                          <m:sty m:val="p"/>
                        </m:rPr>
                        <a:rPr lang="en-US" sz="3000" b="0" i="0">
                          <a:solidFill>
                            <a:srgbClr val="0B2B4E"/>
                          </a:solidFill>
                          <a:latin typeface="Cambria Math"/>
                        </a:rPr>
                        <m:t>TC</m:t>
                      </m:r>
                      <m:r>
                        <a:rPr lang="en-US" sz="3000" b="0" i="0">
                          <a:solidFill>
                            <a:srgbClr val="0B2B4E"/>
                          </a:solidFill>
                          <a:latin typeface="Cambria Math"/>
                        </a:rPr>
                        <m:t> = 60,000 + 135</m:t>
                      </m:r>
                      <m:r>
                        <a:rPr lang="en-US" sz="3000" b="0" i="1">
                          <a:solidFill>
                            <a:srgbClr val="0B2B4E"/>
                          </a:solidFill>
                          <a:latin typeface="Cambria Math"/>
                          <a:ea typeface="Cambria Math"/>
                        </a:rPr>
                        <m:t>𝑄</m:t>
                      </m:r>
                      <m:r>
                        <a:rPr lang="en-US" sz="3000" b="0" i="0">
                          <a:solidFill>
                            <a:srgbClr val="0B2B4E"/>
                          </a:solidFill>
                          <a:latin typeface="Cambria Math"/>
                        </a:rPr>
                        <m:t> + 0.2</m:t>
                      </m:r>
                      <m:sSup>
                        <m:sSupPr>
                          <m:ctrlPr>
                            <a:rPr lang="en-US" sz="3000" b="0" i="1">
                              <a:solidFill>
                                <a:srgbClr val="0B2B4E"/>
                              </a:solidFill>
                              <a:latin typeface="Cambria Math"/>
                              <a:ea typeface="Cambria Math"/>
                            </a:rPr>
                          </m:ctrlPr>
                        </m:sSupPr>
                        <m:e>
                          <m:r>
                            <a:rPr lang="en-US" sz="3000" b="0" i="1">
                              <a:solidFill>
                                <a:srgbClr val="0B2B4E"/>
                              </a:solidFill>
                              <a:latin typeface="Cambria Math"/>
                              <a:ea typeface="Cambria Math"/>
                            </a:rPr>
                            <m:t>𝑄</m:t>
                          </m:r>
                        </m:e>
                        <m:sup>
                          <m:r>
                            <a:rPr lang="en-US" sz="3000" b="0" i="0">
                              <a:solidFill>
                                <a:srgbClr val="0B2B4E"/>
                              </a:solidFill>
                              <a:latin typeface="Cambria Math"/>
                            </a:rPr>
                            <m:t>2</m:t>
                          </m:r>
                        </m:sup>
                      </m:sSup>
                    </m:oMath>
                  </m:oMathPara>
                </a14:m>
                <a:endParaRPr lang="en-US" sz="3000" dirty="0"/>
              </a:p>
            </p:txBody>
          </p:sp>
        </mc:Choice>
        <mc:Fallback xmlns="">
          <p:sp>
            <p:nvSpPr>
              <p:cNvPr id="8" name="TextBox 7"/>
              <p:cNvSpPr txBox="1">
                <a:spLocks noRot="1" noChangeAspect="1" noMove="1" noResize="1" noEditPoints="1" noAdjustHandles="1" noChangeArrowheads="1" noChangeShapeType="1" noTextEdit="1"/>
              </p:cNvSpPr>
              <p:nvPr/>
            </p:nvSpPr>
            <p:spPr>
              <a:xfrm>
                <a:off x="3246120" y="2011680"/>
                <a:ext cx="5669280" cy="868680"/>
              </a:xfrm>
              <a:prstGeom prst="roundRect">
                <a:avLst>
                  <a:gd name="adj" fmla="val 25000"/>
                </a:avLst>
              </a:prstGeom>
              <a:blipFill>
                <a:blip r:embed="rId3"/>
                <a:stretch>
                  <a:fillRect/>
                </a:stretch>
              </a:blipFill>
              <a:ln w="9525">
                <a:solidFill>
                  <a:srgbClr val="0B2B4E"/>
                </a:solidFill>
              </a:ln>
              <a:effectLst>
                <a:outerShdw blurRad="50800" dist="38100" dir="2700000" algn="tl" rotWithShape="0">
                  <a:srgbClr val="000000">
                    <a:alpha val="45000"/>
                  </a:srgbClr>
                </a:outerShdw>
              </a:effectLst>
            </p:spPr>
            <p:txBody>
              <a:bodyPr/>
              <a:lstStyle/>
              <a:p>
                <a:r>
                  <a:rPr lang="en-US">
                    <a:noFill/>
                  </a:rPr>
                  <a:t> </a:t>
                </a:r>
              </a:p>
            </p:txBody>
          </p:sp>
        </mc:Fallback>
      </mc:AlternateContent>
      <p:sp>
        <p:nvSpPr>
          <p:cNvPr id="9" name="TextBox 8"/>
          <p:cNvSpPr txBox="1"/>
          <p:nvPr/>
        </p:nvSpPr>
        <p:spPr>
          <a:xfrm>
            <a:off x="389159" y="2999232"/>
            <a:ext cx="11338560" cy="41148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lvl="1"/>
            <a:r>
              <a:rPr i="1" dirty="0">
                <a:latin typeface="Calibri"/>
              </a:rPr>
              <a:t>Q</a:t>
            </a:r>
            <a:r>
              <a:rPr dirty="0">
                <a:latin typeface="Calibri"/>
              </a:rPr>
              <a:t> is the quantity produced, in tons</a:t>
            </a:r>
          </a:p>
        </p:txBody>
      </p:sp>
      <p:sp>
        <p:nvSpPr>
          <p:cNvPr id="10" name="TextBox 9"/>
          <p:cNvSpPr txBox="1"/>
          <p:nvPr/>
        </p:nvSpPr>
        <p:spPr>
          <a:xfrm>
            <a:off x="389159" y="3529584"/>
            <a:ext cx="11338560" cy="411480"/>
          </a:xfrm>
          <a:prstGeom prst="rect">
            <a:avLst/>
          </a:prstGeom>
          <a:noFill/>
        </p:spPr>
        <p:txBody>
          <a:bodyPr wrap="square" lIns="0" tIns="0" rIns="0" bIns="0">
            <a:spAutoFit/>
          </a:bodyPr>
          <a:lstStyle/>
          <a:p>
            <a:pPr algn="l"/>
            <a:r>
              <a:rPr sz="2600" b="0" i="0" u="none" dirty="0">
                <a:solidFill>
                  <a:srgbClr val="0B2B4E"/>
                </a:solidFill>
                <a:latin typeface="Calibri"/>
              </a:rPr>
              <a:t>The market price of cabbage is:</a:t>
            </a:r>
          </a:p>
        </p:txBody>
      </p:sp>
      <mc:AlternateContent xmlns:mc="http://schemas.openxmlformats.org/markup-compatibility/2006" xmlns:a14="http://schemas.microsoft.com/office/drawing/2010/main">
        <mc:Choice Requires="a14">
          <p:sp>
            <p:nvSpPr>
              <p:cNvPr id="11" name="TextBox 10"/>
              <p:cNvSpPr txBox="1"/>
              <p:nvPr/>
            </p:nvSpPr>
            <p:spPr>
              <a:xfrm>
                <a:off x="3246120" y="4041648"/>
                <a:ext cx="5669280" cy="77724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a:pPr algn="ctr">
                  <a:defRPr sz="3000" b="0" i="1">
                    <a:solidFill>
                      <a:srgbClr val="0B2B4E"/>
                    </a:solidFill>
                    <a:latin typeface="Cambria Math"/>
                  </a:defRPr>
                </a:pPr>
                <a14:m>
                  <m:oMathPara xmlns:m="http://schemas.openxmlformats.org/officeDocument/2006/math">
                    <m:oMath>
                      <m:r>
                        <a:rPr lang="en-US" sz="3000" b="0" i="1">
                          <a:solidFill>
                            <a:srgbClr val="0B2B4E"/>
                          </a:solidFill>
                          <a:latin typeface="Cambria Math"/>
                          <a:ea typeface="Cambria Math"/>
                        </a:rPr>
                        <m:t>𝑃</m:t>
                      </m:r>
                      <m:r>
                        <a:rPr lang="en-US" sz="3000" b="0" i="0">
                          <a:solidFill>
                            <a:srgbClr val="0B2B4E"/>
                          </a:solidFill>
                          <a:latin typeface="Cambria Math"/>
                        </a:rPr>
                        <m:t> = $400 </m:t>
                      </m:r>
                      <m:r>
                        <m:rPr>
                          <m:sty m:val="p"/>
                        </m:rPr>
                        <a:rPr lang="en-US" sz="3000" b="0" i="0">
                          <a:solidFill>
                            <a:srgbClr val="0B2B4E"/>
                          </a:solidFill>
                          <a:latin typeface="Cambria Math"/>
                        </a:rPr>
                        <m:t>per</m:t>
                      </m:r>
                      <m:r>
                        <a:rPr lang="en-US" sz="3000" b="0" i="0">
                          <a:solidFill>
                            <a:srgbClr val="0B2B4E"/>
                          </a:solidFill>
                          <a:latin typeface="Cambria Math"/>
                        </a:rPr>
                        <m:t> </m:t>
                      </m:r>
                      <m:r>
                        <m:rPr>
                          <m:sty m:val="p"/>
                        </m:rPr>
                        <a:rPr lang="en-US" sz="3000" b="0" i="0">
                          <a:solidFill>
                            <a:srgbClr val="0B2B4E"/>
                          </a:solidFill>
                          <a:latin typeface="Cambria Math"/>
                        </a:rPr>
                        <m:t>ton</m:t>
                      </m:r>
                    </m:oMath>
                  </m:oMathPara>
                </a14:m>
                <a:endParaRPr lang="en-US" sz="3000"/>
              </a:p>
            </p:txBody>
          </p:sp>
        </mc:Choice>
        <mc:Fallback xmlns="">
          <p:sp>
            <p:nvSpPr>
              <p:cNvPr id="11" name="TextBox 10"/>
              <p:cNvSpPr txBox="1">
                <a:spLocks noRot="1" noChangeAspect="1" noMove="1" noResize="1" noEditPoints="1" noAdjustHandles="1" noChangeArrowheads="1" noChangeShapeType="1" noTextEdit="1"/>
              </p:cNvSpPr>
              <p:nvPr/>
            </p:nvSpPr>
            <p:spPr>
              <a:xfrm>
                <a:off x="3246120" y="4041648"/>
                <a:ext cx="5669280" cy="777240"/>
              </a:xfrm>
              <a:prstGeom prst="roundRect">
                <a:avLst>
                  <a:gd name="adj" fmla="val 25000"/>
                </a:avLst>
              </a:prstGeom>
              <a:blipFill>
                <a:blip r:embed="rId4"/>
                <a:stretch>
                  <a:fillRect/>
                </a:stretch>
              </a:blipFill>
              <a:ln w="9525">
                <a:solidFill>
                  <a:srgbClr val="0B2B4E"/>
                </a:solidFill>
              </a:ln>
              <a:effectLst>
                <a:outerShdw blurRad="50800" dist="38100" dir="2700000" algn="tl" rotWithShape="0">
                  <a:srgbClr val="000000">
                    <a:alpha val="45000"/>
                  </a:srgbClr>
                </a:outerShdw>
              </a:effectLst>
            </p:spPr>
            <p:txBody>
              <a:bodyPr/>
              <a:lstStyle/>
              <a:p>
                <a:r>
                  <a:rPr lang="en-US">
                    <a:noFill/>
                  </a:rPr>
                  <a:t> </a:t>
                </a:r>
              </a:p>
            </p:txBody>
          </p:sp>
        </mc:Fallback>
      </mc:AlternateContent>
      <p:sp>
        <p:nvSpPr>
          <p:cNvPr id="12" name="Rounded Rectangle 11"/>
          <p:cNvSpPr/>
          <p:nvPr/>
        </p:nvSpPr>
        <p:spPr>
          <a:xfrm>
            <a:off x="960120" y="5029200"/>
            <a:ext cx="10332720" cy="868680"/>
          </a:xfrm>
          <a:prstGeom prst="roundRect">
            <a:avLst>
              <a:gd name="adj" fmla="val 12000"/>
            </a:avLst>
          </a:prstGeom>
          <a:solidFill>
            <a:srgbClr val="0070C0">
              <a:alpha val="15000"/>
            </a:srgbClr>
          </a:solidFill>
          <a:ln w="22225">
            <a:solidFill>
              <a:srgbClr val="0070C0"/>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0B2B4E"/>
                </a:solidFill>
                <a:latin typeface="Calibri"/>
              </a:rPr>
              <a:t>How many tons should the Yi family produce to maximize profits?</a:t>
            </a:r>
          </a:p>
        </p:txBody>
      </p:sp>
      <p:sp>
        <p:nvSpPr>
          <p:cNvPr id="13" name="Rounded Rectangle 12"/>
          <p:cNvSpPr/>
          <p:nvPr/>
        </p:nvSpPr>
        <p:spPr>
          <a:xfrm>
            <a:off x="9098280" y="5961888"/>
            <a:ext cx="2834640" cy="457200"/>
          </a:xfrm>
          <a:prstGeom prst="roundRect">
            <a:avLst>
              <a:gd name="adj" fmla="val 50000"/>
            </a:avLst>
          </a:prstGeom>
          <a:solidFill>
            <a:srgbClr val="B8860B">
              <a:alpha val="35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  Yi Family Example</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7" name="TextBox 16"/>
          <p:cNvSpPr txBox="1"/>
          <p:nvPr/>
        </p:nvSpPr>
        <p:spPr>
          <a:xfrm>
            <a:off x="11475720" y="6583680"/>
            <a:ext cx="502920" cy="292608"/>
          </a:xfrm>
          <a:prstGeom prst="rect">
            <a:avLst/>
          </a:prstGeom>
          <a:noFill/>
        </p:spPr>
        <p:txBody>
          <a:bodyPr wrap="none" lIns="0" tIns="0" rIns="0" bIns="0">
            <a:spAutoFit/>
          </a:bodyPr>
          <a:lstStyle/>
          <a:p>
            <a:pPr algn="r"/>
            <a:fld id="{15A1638E-6AF0-5CE8-ADCD-D4408AB556F4}" type="slidenum">
              <a:rPr lang="en-US" sz="1200" dirty="0">
                <a:solidFill>
                  <a:srgbClr val="555B66"/>
                </a:solidFill>
                <a:latin typeface="Calibri"/>
              </a:rPr>
              <a:t>10</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B0708-AEB8-7096-670C-2B38FBE9C73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2EB601A-DC71-8018-BDC3-77109C9C412D}"/>
              </a:ext>
            </a:extLst>
          </p:cNvPr>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1594F41-B7DE-8C25-A84E-7017EAEE2BAF}"/>
              </a:ext>
            </a:extLst>
          </p:cNvPr>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Rectangle 3">
            <a:extLst>
              <a:ext uri="{FF2B5EF4-FFF2-40B4-BE49-F238E27FC236}">
                <a16:creationId xmlns:a16="http://schemas.microsoft.com/office/drawing/2014/main" id="{5457BAA4-6C21-6D65-5E40-0E9023E45106}"/>
              </a:ext>
            </a:extLst>
          </p:cNvPr>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D4189D32-96F0-5C17-3541-BED6FB1D3508}"/>
              </a:ext>
            </a:extLst>
          </p:cNvPr>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0337FDA-F9EC-7BB5-317D-394731D82540}"/>
              </a:ext>
            </a:extLst>
          </p:cNvPr>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7" name="TextBox 6">
            <a:extLst>
              <a:ext uri="{FF2B5EF4-FFF2-40B4-BE49-F238E27FC236}">
                <a16:creationId xmlns:a16="http://schemas.microsoft.com/office/drawing/2014/main" id="{48A990FA-80EE-9A33-0062-42A9B2DE5D84}"/>
              </a:ext>
            </a:extLst>
          </p:cNvPr>
          <p:cNvSpPr txBox="1"/>
          <p:nvPr/>
        </p:nvSpPr>
        <p:spPr>
          <a:xfrm>
            <a:off x="11475720" y="6583680"/>
            <a:ext cx="502920" cy="292608"/>
          </a:xfrm>
          <a:prstGeom prst="rect">
            <a:avLst/>
          </a:prstGeom>
          <a:noFill/>
        </p:spPr>
        <p:txBody>
          <a:bodyPr wrap="none" lIns="0" tIns="0" rIns="0" bIns="0">
            <a:spAutoFit/>
          </a:bodyPr>
          <a:lstStyle/>
          <a:p>
            <a:pPr algn="r"/>
            <a:fld id="{EEE26DBA-C36C-5B3F-8E1B-6361AB288404}" type="slidenum">
              <a:rPr lang="en-US" sz="1200" dirty="0">
                <a:solidFill>
                  <a:srgbClr val="555B66"/>
                </a:solidFill>
                <a:latin typeface="Calibri"/>
              </a:rPr>
              <a:t>11</a:t>
            </a:fld>
            <a:endParaRPr lang="en-US" sz="1200" dirty="0">
              <a:solidFill>
                <a:srgbClr val="555B66"/>
              </a:solidFill>
              <a:latin typeface="Calibri"/>
            </a:endParaRPr>
          </a:p>
        </p:txBody>
      </p:sp>
      <p:sp>
        <p:nvSpPr>
          <p:cNvPr id="8" name="Rounded Rectangle 7">
            <a:extLst>
              <a:ext uri="{FF2B5EF4-FFF2-40B4-BE49-F238E27FC236}">
                <a16:creationId xmlns:a16="http://schemas.microsoft.com/office/drawing/2014/main" id="{E0C21A97-6F6E-8E37-57D8-D095D11BBC46}"/>
              </a:ext>
            </a:extLst>
          </p:cNvPr>
          <p:cNvSpPr/>
          <p:nvPr/>
        </p:nvSpPr>
        <p:spPr>
          <a:xfrm>
            <a:off x="10577240" y="5907024"/>
            <a:ext cx="1362456" cy="466344"/>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B090D5C1-A401-2591-44B6-F4511318197C}"/>
              </a:ext>
            </a:extLst>
          </p:cNvPr>
          <p:cNvSpPr txBox="1"/>
          <p:nvPr/>
        </p:nvSpPr>
        <p:spPr>
          <a:xfrm>
            <a:off x="10577240" y="5907024"/>
            <a:ext cx="1362456" cy="466344"/>
          </a:xfrm>
          <a:prstGeom prst="rect">
            <a:avLst/>
          </a:prstGeom>
          <a:noFill/>
        </p:spPr>
        <p:txBody>
          <a:bodyPr wrap="square" lIns="0" tIns="0" rIns="0" bIns="0" anchor="ctr">
            <a:spAutoFit/>
          </a:bodyPr>
          <a:lstStyle/>
          <a:p>
            <a:pPr algn="ctr"/>
            <a:r>
              <a:rPr sz="2000" b="1" i="0" u="none">
                <a:solidFill>
                  <a:srgbClr val="0B2B4E"/>
                </a:solidFill>
                <a:latin typeface="Calibri"/>
              </a:rPr>
              <a:t>POLL</a:t>
            </a:r>
          </a:p>
        </p:txBody>
      </p:sp>
    </p:spTree>
    <p:extLst>
      <p:ext uri="{BB962C8B-B14F-4D97-AF65-F5344CB8AC3E}">
        <p14:creationId xmlns:p14="http://schemas.microsoft.com/office/powerpoint/2010/main" val="1457122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Profit-Maximizing Quantity: 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7" name="TextBox 6"/>
              <p:cNvSpPr txBox="1"/>
              <p:nvPr/>
            </p:nvSpPr>
            <p:spPr>
              <a:xfrm>
                <a:off x="389159" y="1298448"/>
                <a:ext cx="11338560" cy="67665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dirty="0">
                    <a:latin typeface="Calibri"/>
                  </a:rPr>
                  <a:t>We need to set </a:t>
                </a:r>
                <a:r>
                  <a:rPr b="1" dirty="0">
                    <a:latin typeface="Calibri"/>
                  </a:rPr>
                  <a:t>MR = MC</a:t>
                </a:r>
              </a:p>
              <a:p>
                <a:r>
                  <a:rPr dirty="0">
                    <a:latin typeface="Calibri"/>
                  </a:rPr>
                  <a:t>MC is the derivative of TC with respect to </a:t>
                </a:r>
                <a:r>
                  <a:rPr i="1" dirty="0">
                    <a:latin typeface="Calibri"/>
                  </a:rPr>
                  <a:t>Q</a:t>
                </a:r>
                <a:r>
                  <a:rPr lang="en-US" dirty="0"/>
                  <a:t>, with </a:t>
                </a:r>
                <a14:m>
                  <m:oMath xmlns:m="http://schemas.openxmlformats.org/officeDocument/2006/math">
                    <m:r>
                      <m:rPr>
                        <m:sty m:val="p"/>
                      </m:rPr>
                      <a:rPr lang="en-US">
                        <a:latin typeface="Cambria Math"/>
                      </a:rPr>
                      <m:t>TC</m:t>
                    </m:r>
                    <m:r>
                      <a:rPr lang="en-US">
                        <a:latin typeface="Cambria Math"/>
                      </a:rPr>
                      <m:t> = 60,000 + 135</m:t>
                    </m:r>
                    <m:r>
                      <a:rPr lang="en-US" i="1">
                        <a:latin typeface="Cambria Math"/>
                        <a:ea typeface="Cambria Math"/>
                      </a:rPr>
                      <m:t>𝑄</m:t>
                    </m:r>
                    <m:r>
                      <a:rPr lang="en-US">
                        <a:latin typeface="Cambria Math"/>
                      </a:rPr>
                      <m:t> + 0.2</m:t>
                    </m:r>
                    <m:sSup>
                      <m:sSupPr>
                        <m:ctrlPr>
                          <a:rPr lang="en-US" i="1">
                            <a:latin typeface="Cambria Math"/>
                            <a:ea typeface="Cambria Math"/>
                          </a:rPr>
                        </m:ctrlPr>
                      </m:sSupPr>
                      <m:e>
                        <m:r>
                          <a:rPr lang="en-US" i="1">
                            <a:latin typeface="Cambria Math"/>
                            <a:ea typeface="Cambria Math"/>
                          </a:rPr>
                          <m:t>𝑄</m:t>
                        </m:r>
                      </m:e>
                      <m:sup>
                        <m:r>
                          <a:rPr lang="en-US">
                            <a:latin typeface="Cambria Math"/>
                          </a:rPr>
                          <m:t>2</m:t>
                        </m:r>
                      </m:sup>
                    </m:sSup>
                  </m:oMath>
                </a14:m>
                <a:endParaRPr lang="en-US" dirty="0"/>
              </a:p>
              <a:p>
                <a:pPr algn="l"/>
                <a:endParaRPr dirty="0">
                  <a:latin typeface="Calibri"/>
                </a:endParaRPr>
              </a:p>
            </p:txBody>
          </p:sp>
        </mc:Choice>
        <mc:Fallback>
          <p:sp>
            <p:nvSpPr>
              <p:cNvPr id="7" name="TextBox 6"/>
              <p:cNvSpPr txBox="1">
                <a:spLocks noRot="1" noChangeAspect="1" noMove="1" noResize="1" noEditPoints="1" noAdjustHandles="1" noChangeArrowheads="1" noChangeShapeType="1" noTextEdit="1"/>
              </p:cNvSpPr>
              <p:nvPr/>
            </p:nvSpPr>
            <p:spPr>
              <a:xfrm>
                <a:off x="389159" y="1298448"/>
                <a:ext cx="11338560" cy="676656"/>
              </a:xfrm>
              <a:prstGeom prst="rect">
                <a:avLst/>
              </a:prstGeom>
              <a:blipFill>
                <a:blip r:embed="rId3"/>
                <a:stretch>
                  <a:fillRect l="-1667" t="-15315" b="-360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103120" y="2139696"/>
                <a:ext cx="7955279" cy="822960"/>
              </a:xfrm>
              <a:prstGeom prst="rect">
                <a:avLst/>
              </a:prstGeom>
              <a:noFill/>
            </p:spPr>
            <p:txBody>
              <a:bodyPr wrap="square" anchor="ctr">
                <a:spAutoFit/>
              </a:bodyPr>
              <a:lstStyle/>
              <a:p>
                <a:pPr algn="ctr">
                  <a:defRPr sz="2600" b="0" i="1">
                    <a:solidFill>
                      <a:srgbClr val="0B2B4E"/>
                    </a:solidFill>
                    <a:latin typeface="Cambria Math"/>
                  </a:defRPr>
                </a:pPr>
                <a14:m>
                  <m:oMathPara xmlns:m="http://schemas.openxmlformats.org/officeDocument/2006/math">
                    <m:oMath>
                      <m:r>
                        <m:rPr>
                          <m:sty m:val="p"/>
                        </m:rPr>
                        <a:rPr lang="en-US" sz="2600" b="0" i="0">
                          <a:solidFill>
                            <a:srgbClr val="0B2B4E"/>
                          </a:solidFill>
                          <a:latin typeface="Cambria Math"/>
                        </a:rPr>
                        <m:t>MC</m:t>
                      </m:r>
                      <m:r>
                        <a:rPr lang="en-US" sz="2600" b="0" i="0">
                          <a:solidFill>
                            <a:srgbClr val="0B2B4E"/>
                          </a:solidFill>
                          <a:latin typeface="Cambria Math"/>
                        </a:rPr>
                        <m:t> = </m:t>
                      </m:r>
                      <m:f>
                        <m:fPr>
                          <m:ctrlPr>
                            <a:rPr lang="en-US" sz="2600" b="0" i="0">
                              <a:solidFill>
                                <a:srgbClr val="0B2B4E"/>
                              </a:solidFill>
                              <a:latin typeface="Cambria Math"/>
                            </a:rPr>
                          </m:ctrlPr>
                        </m:fPr>
                        <m:num>
                          <m:r>
                            <m:rPr>
                              <m:sty m:val="p"/>
                            </m:rPr>
                            <a:rPr lang="en-US" sz="2600" b="0" i="0">
                              <a:solidFill>
                                <a:srgbClr val="0B2B4E"/>
                              </a:solidFill>
                              <a:latin typeface="Cambria Math"/>
                            </a:rPr>
                            <m:t>dTC</m:t>
                          </m:r>
                        </m:num>
                        <m:den>
                          <m:r>
                            <m:rPr>
                              <m:sty m:val="p"/>
                            </m:rPr>
                            <a:rPr lang="en-US" sz="2600" b="0" i="0">
                              <a:solidFill>
                                <a:srgbClr val="0B2B4E"/>
                              </a:solidFill>
                              <a:latin typeface="Cambria Math"/>
                            </a:rPr>
                            <m:t>d</m:t>
                          </m:r>
                          <m:r>
                            <a:rPr lang="en-US" sz="2600" b="0" i="1">
                              <a:solidFill>
                                <a:srgbClr val="0B2B4E"/>
                              </a:solidFill>
                              <a:latin typeface="Cambria Math"/>
                              <a:ea typeface="Cambria Math"/>
                            </a:rPr>
                            <m:t>𝑄</m:t>
                          </m:r>
                        </m:den>
                      </m:f>
                      <m:r>
                        <a:rPr lang="en-US" sz="2600" b="0" i="0">
                          <a:solidFill>
                            <a:srgbClr val="0B2B4E"/>
                          </a:solidFill>
                          <a:latin typeface="Cambria Math"/>
                        </a:rPr>
                        <m:t> = 135 + 0.4</m:t>
                      </m:r>
                      <m:r>
                        <a:rPr lang="en-US" sz="2600" b="0" i="1">
                          <a:solidFill>
                            <a:srgbClr val="0B2B4E"/>
                          </a:solidFill>
                          <a:latin typeface="Cambria Math"/>
                          <a:ea typeface="Cambria Math"/>
                        </a:rPr>
                        <m:t>𝑄</m:t>
                      </m:r>
                    </m:oMath>
                  </m:oMathPara>
                </a14:m>
                <a:endParaRPr lang="en-US" sz="2600" dirty="0"/>
              </a:p>
            </p:txBody>
          </p:sp>
        </mc:Choice>
        <mc:Fallback xmlns="">
          <p:sp>
            <p:nvSpPr>
              <p:cNvPr id="8" name="TextBox 7"/>
              <p:cNvSpPr txBox="1">
                <a:spLocks noRot="1" noChangeAspect="1" noMove="1" noResize="1" noEditPoints="1" noAdjustHandles="1" noChangeArrowheads="1" noChangeShapeType="1" noTextEdit="1"/>
              </p:cNvSpPr>
              <p:nvPr/>
            </p:nvSpPr>
            <p:spPr>
              <a:xfrm>
                <a:off x="2103120" y="2139696"/>
                <a:ext cx="7955279" cy="822960"/>
              </a:xfrm>
              <a:prstGeom prst="rect">
                <a:avLst/>
              </a:prstGeom>
              <a:blipFill>
                <a:blip r:embed="rId4"/>
                <a:stretch>
                  <a:fillRect/>
                </a:stretch>
              </a:blipFill>
            </p:spPr>
            <p:txBody>
              <a:bodyPr/>
              <a:lstStyle/>
              <a:p>
                <a:r>
                  <a:rPr lang="en-US">
                    <a:noFill/>
                  </a:rPr>
                  <a:t> </a:t>
                </a:r>
              </a:p>
            </p:txBody>
          </p:sp>
        </mc:Fallback>
      </mc:AlternateContent>
      <p:sp>
        <p:nvSpPr>
          <p:cNvPr id="9" name="TextBox 8"/>
          <p:cNvSpPr txBox="1"/>
          <p:nvPr/>
        </p:nvSpPr>
        <p:spPr>
          <a:xfrm>
            <a:off x="389159" y="3035808"/>
            <a:ext cx="11338560" cy="34747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dirty="0">
                <a:latin typeface="Calibri"/>
              </a:rPr>
              <a:t>The cabbage market is competitive, so MR is just the market price:</a:t>
            </a:r>
          </a:p>
        </p:txBody>
      </p:sp>
      <mc:AlternateContent xmlns:mc="http://schemas.openxmlformats.org/markup-compatibility/2006" xmlns:a14="http://schemas.microsoft.com/office/drawing/2010/main">
        <mc:Choice Requires="a14">
          <p:sp>
            <p:nvSpPr>
              <p:cNvPr id="10" name="TextBox 9"/>
              <p:cNvSpPr txBox="1"/>
              <p:nvPr/>
            </p:nvSpPr>
            <p:spPr>
              <a:xfrm>
                <a:off x="2103120" y="3511296"/>
                <a:ext cx="7955279" cy="475488"/>
              </a:xfrm>
              <a:prstGeom prst="rect">
                <a:avLst/>
              </a:prstGeom>
              <a:noFill/>
            </p:spPr>
            <p:txBody>
              <a:bodyPr wrap="square" anchor="ctr">
                <a:spAutoFit/>
              </a:bodyPr>
              <a:lstStyle/>
              <a:p>
                <a:pPr algn="ctr">
                  <a:defRPr sz="2600" b="0" i="1">
                    <a:solidFill>
                      <a:srgbClr val="0B2B4E"/>
                    </a:solidFill>
                    <a:latin typeface="Cambria Math"/>
                  </a:defRPr>
                </a:pPr>
                <a14:m>
                  <m:oMathPara xmlns:m="http://schemas.openxmlformats.org/officeDocument/2006/math">
                    <m:oMath>
                      <m:r>
                        <m:rPr>
                          <m:sty m:val="p"/>
                        </m:rPr>
                        <a:rPr lang="en-US" sz="2600" b="0" i="0">
                          <a:solidFill>
                            <a:srgbClr val="0B2B4E"/>
                          </a:solidFill>
                          <a:latin typeface="Cambria Math"/>
                        </a:rPr>
                        <m:t>MR</m:t>
                      </m:r>
                      <m:r>
                        <a:rPr lang="en-US" sz="2600" b="0" i="0">
                          <a:solidFill>
                            <a:srgbClr val="0B2B4E"/>
                          </a:solidFill>
                          <a:latin typeface="Cambria Math"/>
                        </a:rPr>
                        <m:t> = </m:t>
                      </m:r>
                      <m:r>
                        <a:rPr lang="en-US" sz="2600" b="0" i="1">
                          <a:solidFill>
                            <a:srgbClr val="0B2B4E"/>
                          </a:solidFill>
                          <a:latin typeface="Cambria Math"/>
                          <a:ea typeface="Cambria Math"/>
                        </a:rPr>
                        <m:t>𝑃</m:t>
                      </m:r>
                      <m:r>
                        <a:rPr lang="en-US" sz="2600" b="0" i="0">
                          <a:solidFill>
                            <a:srgbClr val="0B2B4E"/>
                          </a:solidFill>
                          <a:latin typeface="Cambria Math"/>
                        </a:rPr>
                        <m:t> = 400</m:t>
                      </m:r>
                    </m:oMath>
                  </m:oMathPara>
                </a14:m>
                <a:endParaRPr lang="en-US" sz="2600"/>
              </a:p>
            </p:txBody>
          </p:sp>
        </mc:Choice>
        <mc:Fallback xmlns="">
          <p:sp>
            <p:nvSpPr>
              <p:cNvPr id="10" name="TextBox 9"/>
              <p:cNvSpPr txBox="1">
                <a:spLocks noRot="1" noChangeAspect="1" noMove="1" noResize="1" noEditPoints="1" noAdjustHandles="1" noChangeArrowheads="1" noChangeShapeType="1" noTextEdit="1"/>
              </p:cNvSpPr>
              <p:nvPr/>
            </p:nvSpPr>
            <p:spPr>
              <a:xfrm>
                <a:off x="2103120" y="3511296"/>
                <a:ext cx="7955279" cy="475488"/>
              </a:xfrm>
              <a:prstGeom prst="rect">
                <a:avLst/>
              </a:prstGeom>
              <a:blipFill>
                <a:blip r:embed="rId5"/>
                <a:stretch>
                  <a:fillRect/>
                </a:stretch>
              </a:blipFill>
            </p:spPr>
            <p:txBody>
              <a:bodyPr/>
              <a:lstStyle/>
              <a:p>
                <a:r>
                  <a:rPr lang="en-US">
                    <a:noFill/>
                  </a:rPr>
                  <a:t> </a:t>
                </a:r>
              </a:p>
            </p:txBody>
          </p:sp>
        </mc:Fallback>
      </mc:AlternateContent>
      <p:sp>
        <p:nvSpPr>
          <p:cNvPr id="11" name="TextBox 10"/>
          <p:cNvSpPr txBox="1"/>
          <p:nvPr/>
        </p:nvSpPr>
        <p:spPr>
          <a:xfrm>
            <a:off x="389159" y="4096512"/>
            <a:ext cx="11338560" cy="34747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b="1" dirty="0">
                <a:latin typeface="Calibri"/>
              </a:rPr>
              <a:t>MR = MC</a:t>
            </a:r>
            <a:r>
              <a:rPr dirty="0">
                <a:latin typeface="Calibri"/>
              </a:rPr>
              <a:t> thus implies:</a:t>
            </a:r>
          </a:p>
        </p:txBody>
      </p:sp>
      <mc:AlternateContent xmlns:mc="http://schemas.openxmlformats.org/markup-compatibility/2006" xmlns:a14="http://schemas.microsoft.com/office/drawing/2010/main">
        <mc:Choice Requires="a14">
          <p:sp>
            <p:nvSpPr>
              <p:cNvPr id="12" name="TextBox 11"/>
              <p:cNvSpPr txBox="1"/>
              <p:nvPr/>
            </p:nvSpPr>
            <p:spPr>
              <a:xfrm>
                <a:off x="2103120" y="4462272"/>
                <a:ext cx="7955279" cy="475488"/>
              </a:xfrm>
              <a:prstGeom prst="rect">
                <a:avLst/>
              </a:prstGeom>
              <a:noFill/>
            </p:spPr>
            <p:txBody>
              <a:bodyPr wrap="square" anchor="ctr">
                <a:spAutoFit/>
              </a:bodyPr>
              <a:lstStyle/>
              <a:p>
                <a:pPr algn="ctr">
                  <a:defRPr sz="2600" b="0" i="1">
                    <a:solidFill>
                      <a:srgbClr val="0B2B4E"/>
                    </a:solidFill>
                    <a:latin typeface="Cambria Math"/>
                  </a:defRPr>
                </a:pPr>
                <a14:m>
                  <m:oMathPara xmlns:m="http://schemas.openxmlformats.org/officeDocument/2006/math">
                    <m:oMath>
                      <m:r>
                        <a:rPr lang="en-US" sz="2600" b="0" i="0">
                          <a:solidFill>
                            <a:srgbClr val="0B2B4E"/>
                          </a:solidFill>
                          <a:latin typeface="Cambria Math"/>
                        </a:rPr>
                        <m:t>135 + 0.4</m:t>
                      </m:r>
                      <m:r>
                        <a:rPr lang="en-US" sz="2600" b="0" i="1">
                          <a:solidFill>
                            <a:srgbClr val="0B2B4E"/>
                          </a:solidFill>
                          <a:latin typeface="Cambria Math"/>
                          <a:ea typeface="Cambria Math"/>
                        </a:rPr>
                        <m:t>𝑄</m:t>
                      </m:r>
                      <m:r>
                        <a:rPr lang="en-US" sz="2600" b="0" i="0">
                          <a:solidFill>
                            <a:srgbClr val="0B2B4E"/>
                          </a:solidFill>
                          <a:latin typeface="Cambria Math"/>
                        </a:rPr>
                        <m:t> = 400</m:t>
                      </m:r>
                    </m:oMath>
                  </m:oMathPara>
                </a14:m>
                <a:endParaRPr lang="en-US" sz="2600"/>
              </a:p>
            </p:txBody>
          </p:sp>
        </mc:Choice>
        <mc:Fallback xmlns="">
          <p:sp>
            <p:nvSpPr>
              <p:cNvPr id="12" name="TextBox 11"/>
              <p:cNvSpPr txBox="1">
                <a:spLocks noRot="1" noChangeAspect="1" noMove="1" noResize="1" noEditPoints="1" noAdjustHandles="1" noChangeArrowheads="1" noChangeShapeType="1" noTextEdit="1"/>
              </p:cNvSpPr>
              <p:nvPr/>
            </p:nvSpPr>
            <p:spPr>
              <a:xfrm>
                <a:off x="2103120" y="4462272"/>
                <a:ext cx="7955279" cy="475488"/>
              </a:xfrm>
              <a:prstGeom prst="rect">
                <a:avLst/>
              </a:prstGeom>
              <a:blipFill>
                <a:blip r:embed="rId6"/>
                <a:stretch>
                  <a:fillRect/>
                </a:stretch>
              </a:blipFill>
            </p:spPr>
            <p:txBody>
              <a:bodyPr/>
              <a:lstStyle/>
              <a:p>
                <a:r>
                  <a:rPr lang="en-US">
                    <a:noFill/>
                  </a:rPr>
                  <a:t> </a:t>
                </a:r>
              </a:p>
            </p:txBody>
          </p:sp>
        </mc:Fallback>
      </mc:AlternateContent>
      <p:sp>
        <p:nvSpPr>
          <p:cNvPr id="13" name="TextBox 12"/>
          <p:cNvSpPr txBox="1"/>
          <p:nvPr/>
        </p:nvSpPr>
        <p:spPr>
          <a:xfrm>
            <a:off x="389159" y="5157216"/>
            <a:ext cx="11338560" cy="34747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dirty="0">
                <a:latin typeface="Calibri"/>
              </a:rPr>
              <a:t>Solve for </a:t>
            </a:r>
            <a:r>
              <a:rPr i="1" dirty="0">
                <a:latin typeface="Calibri"/>
              </a:rPr>
              <a:t>Q</a:t>
            </a:r>
            <a:r>
              <a:rPr dirty="0">
                <a:latin typeface="Calibri"/>
              </a:rPr>
              <a:t>*  (the optimal production)</a:t>
            </a:r>
          </a:p>
        </p:txBody>
      </p:sp>
      <mc:AlternateContent xmlns:mc="http://schemas.openxmlformats.org/markup-compatibility/2006" xmlns:a14="http://schemas.microsoft.com/office/drawing/2010/main">
        <mc:Choice Requires="a14">
          <p:sp>
            <p:nvSpPr>
              <p:cNvPr id="14" name="TextBox 13"/>
              <p:cNvSpPr txBox="1"/>
              <p:nvPr/>
            </p:nvSpPr>
            <p:spPr>
              <a:xfrm>
                <a:off x="2121408" y="5632704"/>
                <a:ext cx="7955279" cy="530352"/>
              </a:xfrm>
              <a:prstGeom prst="rect">
                <a:avLst/>
              </a:prstGeom>
              <a:noFill/>
            </p:spPr>
            <p:txBody>
              <a:bodyPr wrap="square" anchor="ctr">
                <a:spAutoFit/>
              </a:bodyPr>
              <a:lstStyle/>
              <a:p>
                <a:pPr algn="ctr">
                  <a:defRPr sz="3000" b="0" i="1">
                    <a:solidFill>
                      <a:srgbClr val="A2162A"/>
                    </a:solidFill>
                    <a:latin typeface="Cambria Math"/>
                  </a:defRPr>
                </a:pPr>
                <a14:m>
                  <m:oMathPara xmlns:m="http://schemas.openxmlformats.org/officeDocument/2006/math">
                    <m:oMath>
                      <m:sSup>
                        <m:sSupPr>
                          <m:ctrlPr>
                            <a:rPr lang="en-US" sz="3000" b="0" i="1">
                              <a:solidFill>
                                <a:srgbClr val="A2162A"/>
                              </a:solidFill>
                              <a:latin typeface="Cambria Math"/>
                              <a:ea typeface="Cambria Math"/>
                            </a:rPr>
                          </m:ctrlPr>
                        </m:sSupPr>
                        <m:e>
                          <m:r>
                            <a:rPr lang="en-US" sz="3000" b="0" i="1">
                              <a:solidFill>
                                <a:srgbClr val="A2162A"/>
                              </a:solidFill>
                              <a:latin typeface="Cambria Math"/>
                              <a:ea typeface="Cambria Math"/>
                            </a:rPr>
                            <m:t>𝑄</m:t>
                          </m:r>
                        </m:e>
                        <m:sup>
                          <m:r>
                            <a:rPr lang="en-US" sz="3000" b="0" i="0">
                              <a:solidFill>
                                <a:srgbClr val="A2162A"/>
                              </a:solidFill>
                              <a:latin typeface="Cambria Math"/>
                            </a:rPr>
                            <m:t>∗</m:t>
                          </m:r>
                        </m:sup>
                      </m:sSup>
                      <m:r>
                        <a:rPr lang="en-US" sz="3000" b="0" i="0">
                          <a:solidFill>
                            <a:srgbClr val="A2162A"/>
                          </a:solidFill>
                          <a:latin typeface="Cambria Math"/>
                        </a:rPr>
                        <m:t> = 662.5 </m:t>
                      </m:r>
                      <m:r>
                        <m:rPr>
                          <m:sty m:val="p"/>
                        </m:rPr>
                        <a:rPr lang="en-US" sz="3000" b="0" i="0">
                          <a:solidFill>
                            <a:srgbClr val="A2162A"/>
                          </a:solidFill>
                          <a:latin typeface="Cambria Math"/>
                        </a:rPr>
                        <m:t>tons</m:t>
                      </m:r>
                    </m:oMath>
                  </m:oMathPara>
                </a14:m>
                <a:endParaRPr lang="en-US" sz="3000"/>
              </a:p>
            </p:txBody>
          </p:sp>
        </mc:Choice>
        <mc:Fallback xmlns="">
          <p:sp>
            <p:nvSpPr>
              <p:cNvPr id="14" name="TextBox 13"/>
              <p:cNvSpPr txBox="1">
                <a:spLocks noRot="1" noChangeAspect="1" noMove="1" noResize="1" noEditPoints="1" noAdjustHandles="1" noChangeArrowheads="1" noChangeShapeType="1" noTextEdit="1"/>
              </p:cNvSpPr>
              <p:nvPr/>
            </p:nvSpPr>
            <p:spPr>
              <a:xfrm>
                <a:off x="2121408" y="5632704"/>
                <a:ext cx="7955279" cy="530352"/>
              </a:xfrm>
              <a:prstGeom prst="rect">
                <a:avLst/>
              </a:prstGeom>
              <a:blipFill>
                <a:blip r:embed="rId7"/>
                <a:stretch>
                  <a:fillRect/>
                </a:stretch>
              </a:blipFill>
            </p:spPr>
            <p:txBody>
              <a:bodyPr/>
              <a:lstStyle/>
              <a:p>
                <a:r>
                  <a:rPr lang="en-US">
                    <a:noFill/>
                  </a:rPr>
                  <a:t> </a:t>
                </a:r>
              </a:p>
            </p:txBody>
          </p:sp>
        </mc:Fallback>
      </mc:AlternateContent>
      <p:sp>
        <p:nvSpPr>
          <p:cNvPr id="15" name="Rounded Rectangle 14"/>
          <p:cNvSpPr/>
          <p:nvPr/>
        </p:nvSpPr>
        <p:spPr>
          <a:xfrm>
            <a:off x="9098280" y="5961888"/>
            <a:ext cx="2834640" cy="457200"/>
          </a:xfrm>
          <a:prstGeom prst="roundRect">
            <a:avLst>
              <a:gd name="adj" fmla="val 50000"/>
            </a:avLst>
          </a:prstGeom>
          <a:solidFill>
            <a:srgbClr val="B8860B">
              <a:alpha val="35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  Yi Family Example</a:t>
            </a:r>
          </a:p>
        </p:txBody>
      </p: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9" name="TextBox 18"/>
          <p:cNvSpPr txBox="1"/>
          <p:nvPr/>
        </p:nvSpPr>
        <p:spPr>
          <a:xfrm>
            <a:off x="11475720" y="6583680"/>
            <a:ext cx="502920" cy="292608"/>
          </a:xfrm>
          <a:prstGeom prst="rect">
            <a:avLst/>
          </a:prstGeom>
          <a:noFill/>
        </p:spPr>
        <p:txBody>
          <a:bodyPr wrap="none" lIns="0" tIns="0" rIns="0" bIns="0">
            <a:spAutoFit/>
          </a:bodyPr>
          <a:lstStyle/>
          <a:p>
            <a:pPr algn="r"/>
            <a:fld id="{6773EA49-D0AA-5C82-B6A2-E6B8F0B9249A}" type="slidenum">
              <a:rPr lang="en-US" sz="1200" dirty="0">
                <a:solidFill>
                  <a:srgbClr val="555B66"/>
                </a:solidFill>
                <a:latin typeface="Calibri"/>
              </a:rPr>
              <a:t>12</a:t>
            </a:fld>
            <a:endParaRPr lang="en-US" sz="1200" dirty="0">
              <a:solidFill>
                <a:srgbClr val="555B66"/>
              </a:solidFill>
              <a:latin typeface="Calibri"/>
            </a:endParaRPr>
          </a:p>
        </p:txBody>
      </p:sp>
      <p:cxnSp>
        <p:nvCxnSpPr>
          <p:cNvPr id="21" name="Straight Arrow Connector 20">
            <a:extLst>
              <a:ext uri="{FF2B5EF4-FFF2-40B4-BE49-F238E27FC236}">
                <a16:creationId xmlns:a16="http://schemas.microsoft.com/office/drawing/2014/main" id="{C76E4051-7B65-E3AB-05C0-2484EEAA6217}"/>
              </a:ext>
            </a:extLst>
          </p:cNvPr>
          <p:cNvCxnSpPr/>
          <p:nvPr/>
        </p:nvCxnSpPr>
        <p:spPr>
          <a:xfrm flipH="1">
            <a:off x="6684264" y="1975104"/>
            <a:ext cx="2487168" cy="402336"/>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grpSp>
        <p:nvGrpSpPr>
          <p:cNvPr id="30" name="Group 29">
            <a:extLst>
              <a:ext uri="{FF2B5EF4-FFF2-40B4-BE49-F238E27FC236}">
                <a16:creationId xmlns:a16="http://schemas.microsoft.com/office/drawing/2014/main" id="{7F74AB1C-8A95-419C-1589-F48D4A44A38B}"/>
              </a:ext>
            </a:extLst>
          </p:cNvPr>
          <p:cNvGrpSpPr/>
          <p:nvPr/>
        </p:nvGrpSpPr>
        <p:grpSpPr>
          <a:xfrm>
            <a:off x="7589519" y="1570182"/>
            <a:ext cx="3568008" cy="843834"/>
            <a:chOff x="7589519" y="1570182"/>
            <a:chExt cx="3568008" cy="843834"/>
          </a:xfrm>
        </p:grpSpPr>
        <p:cxnSp>
          <p:nvCxnSpPr>
            <p:cNvPr id="27" name="Straight Arrow Connector 26">
              <a:extLst>
                <a:ext uri="{FF2B5EF4-FFF2-40B4-BE49-F238E27FC236}">
                  <a16:creationId xmlns:a16="http://schemas.microsoft.com/office/drawing/2014/main" id="{26929226-07AC-A2D5-AF3E-E506CC20B6AD}"/>
                </a:ext>
              </a:extLst>
            </p:cNvPr>
            <p:cNvCxnSpPr>
              <a:cxnSpLocks/>
            </p:cNvCxnSpPr>
            <p:nvPr/>
          </p:nvCxnSpPr>
          <p:spPr>
            <a:xfrm flipH="1">
              <a:off x="7589519" y="2002536"/>
              <a:ext cx="2926081" cy="411480"/>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56DD9D17-22B4-C20C-49D1-76A3C5C14A51}"/>
                </a:ext>
              </a:extLst>
            </p:cNvPr>
            <p:cNvSpPr/>
            <p:nvPr/>
          </p:nvSpPr>
          <p:spPr>
            <a:xfrm>
              <a:off x="10898909" y="1570182"/>
              <a:ext cx="258618" cy="304338"/>
            </a:xfrm>
            <a:prstGeom prst="ellipse">
              <a:avLst/>
            </a:prstGeom>
            <a:noFill/>
            <a:ln w="15875">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Profit at Q*: 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536192"/>
            <a:ext cx="11338560"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dirty="0">
                <a:latin typeface="Calibri"/>
              </a:rPr>
              <a:t>What is the economic profit at the profit-maximizing output level (</a:t>
            </a:r>
            <a:r>
              <a:rPr b="1" dirty="0">
                <a:latin typeface="Calibri"/>
              </a:rPr>
              <a:t>Q* = 662.5</a:t>
            </a:r>
            <a:r>
              <a:rPr dirty="0">
                <a:latin typeface="Calibri"/>
              </a:rPr>
              <a:t>) ?</a:t>
            </a:r>
          </a:p>
        </p:txBody>
      </p:sp>
      <mc:AlternateContent xmlns:mc="http://schemas.openxmlformats.org/markup-compatibility/2006">
        <mc:Choice xmlns:a14="http://schemas.microsoft.com/office/drawing/2010/main" Requires="a14">
          <p:sp>
            <p:nvSpPr>
              <p:cNvPr id="8" name="TextBox 7"/>
              <p:cNvSpPr txBox="1"/>
              <p:nvPr/>
            </p:nvSpPr>
            <p:spPr>
              <a:xfrm>
                <a:off x="1554480" y="2435870"/>
                <a:ext cx="9144000" cy="523220"/>
              </a:xfrm>
              <a:prstGeom prst="rect">
                <a:avLst/>
              </a:prstGeom>
              <a:noFill/>
            </p:spPr>
            <p:txBody>
              <a:bodyPr wrap="square" anchor="ctr">
                <a:spAutoFit/>
              </a:bodyPr>
              <a:lstStyle/>
              <a:p>
                <a:pPr algn="ctr">
                  <a:defRPr sz="2800" b="0" i="1">
                    <a:solidFill>
                      <a:srgbClr val="0B2B4E"/>
                    </a:solidFill>
                    <a:latin typeface="Cambria Math"/>
                  </a:defRPr>
                </a:pPr>
                <a14:m>
                  <m:oMathPara xmlns:m="http://schemas.openxmlformats.org/officeDocument/2006/math">
                    <m:oMath>
                      <m:r>
                        <m:rPr>
                          <m:sty m:val="p"/>
                        </m:rPr>
                        <a:rPr lang="en-US" sz="2800" b="0" i="0" smtClean="0">
                          <a:solidFill>
                            <a:srgbClr val="0B2B4E"/>
                          </a:solidFill>
                          <a:latin typeface="Cambria Math"/>
                        </a:rPr>
                        <m:t>Profit</m:t>
                      </m:r>
                      <m:r>
                        <a:rPr lang="en-US" sz="2800" b="0" i="0" smtClean="0">
                          <a:solidFill>
                            <a:srgbClr val="0B2B4E"/>
                          </a:solidFill>
                          <a:latin typeface="Cambria Math" panose="02040503050406030204" pitchFamily="18" charset="0"/>
                        </a:rPr>
                        <m:t>: </m:t>
                      </m:r>
                      <m:r>
                        <a:rPr lang="en-US" sz="2800" b="0" i="1" smtClean="0">
                          <a:solidFill>
                            <a:srgbClr val="0B2B4E"/>
                          </a:solidFill>
                          <a:latin typeface="Cambria Math" panose="02040503050406030204" pitchFamily="18" charset="0"/>
                        </a:rPr>
                        <m:t>    </m:t>
                      </m:r>
                      <m:r>
                        <a:rPr lang="en-US" sz="2800" b="0" i="1" smtClean="0">
                          <a:solidFill>
                            <a:srgbClr val="0B2B4E"/>
                          </a:solidFill>
                          <a:latin typeface="Cambria Math" panose="02040503050406030204" pitchFamily="18" charset="0"/>
                        </a:rPr>
                        <m:t>𝜋</m:t>
                      </m:r>
                      <m:r>
                        <a:rPr lang="en-US" sz="2800" b="0" i="0">
                          <a:solidFill>
                            <a:srgbClr val="0B2B4E"/>
                          </a:solidFill>
                          <a:latin typeface="Cambria Math"/>
                        </a:rPr>
                        <m:t> = </m:t>
                      </m:r>
                      <m:r>
                        <m:rPr>
                          <m:sty m:val="p"/>
                        </m:rPr>
                        <a:rPr lang="en-US" sz="2800" b="0" i="0">
                          <a:solidFill>
                            <a:srgbClr val="0B2B4E"/>
                          </a:solidFill>
                          <a:latin typeface="Cambria Math"/>
                        </a:rPr>
                        <m:t>TR</m:t>
                      </m:r>
                      <m:r>
                        <a:rPr lang="en-US" sz="2800" b="0" i="0">
                          <a:solidFill>
                            <a:srgbClr val="0B2B4E"/>
                          </a:solidFill>
                          <a:latin typeface="Cambria Math"/>
                        </a:rPr>
                        <m:t> − </m:t>
                      </m:r>
                      <m:r>
                        <m:rPr>
                          <m:sty m:val="p"/>
                        </m:rPr>
                        <a:rPr lang="en-US" sz="2800" b="0" i="0">
                          <a:solidFill>
                            <a:srgbClr val="0B2B4E"/>
                          </a:solidFill>
                          <a:latin typeface="Cambria Math"/>
                        </a:rPr>
                        <m:t>TC</m:t>
                      </m:r>
                    </m:oMath>
                  </m:oMathPara>
                </a14:m>
                <a:endParaRPr lang="en-US" sz="2800" dirty="0"/>
              </a:p>
            </p:txBody>
          </p:sp>
        </mc:Choice>
        <mc:Fallback>
          <p:sp>
            <p:nvSpPr>
              <p:cNvPr id="8" name="TextBox 7"/>
              <p:cNvSpPr txBox="1">
                <a:spLocks noRot="1" noChangeAspect="1" noMove="1" noResize="1" noEditPoints="1" noAdjustHandles="1" noChangeArrowheads="1" noChangeShapeType="1" noTextEdit="1"/>
              </p:cNvSpPr>
              <p:nvPr/>
            </p:nvSpPr>
            <p:spPr>
              <a:xfrm>
                <a:off x="1554480" y="2435870"/>
                <a:ext cx="9144000"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554480" y="3136392"/>
                <a:ext cx="9144000" cy="731520"/>
              </a:xfrm>
              <a:prstGeom prst="rect">
                <a:avLst/>
              </a:prstGeom>
              <a:noFill/>
            </p:spPr>
            <p:txBody>
              <a:bodyPr wrap="square" anchor="ctr">
                <a:spAutoFit/>
              </a:bodyPr>
              <a:lstStyle/>
              <a:p>
                <a:pPr algn="ctr">
                  <a:defRPr sz="2600" b="0" i="1">
                    <a:solidFill>
                      <a:srgbClr val="0B2B4E"/>
                    </a:solidFill>
                    <a:latin typeface="Cambria Math"/>
                  </a:defRPr>
                </a:pPr>
                <a14:m>
                  <m:oMathPara xmlns:m="http://schemas.openxmlformats.org/officeDocument/2006/math">
                    <m:oMath>
                      <m:r>
                        <m:rPr>
                          <m:sty m:val="p"/>
                        </m:rPr>
                        <a:rPr lang="en-US" sz="2600" b="0" i="0">
                          <a:solidFill>
                            <a:srgbClr val="0B2B4E"/>
                          </a:solidFill>
                          <a:latin typeface="Cambria Math"/>
                        </a:rPr>
                        <m:t>TR</m:t>
                      </m:r>
                      <m:r>
                        <a:rPr lang="en-US" sz="2600" b="0" i="0">
                          <a:solidFill>
                            <a:srgbClr val="0B2B4E"/>
                          </a:solidFill>
                          <a:latin typeface="Cambria Math"/>
                        </a:rPr>
                        <m:t> = </m:t>
                      </m:r>
                      <m:r>
                        <a:rPr lang="en-US" sz="2600" b="0" i="1">
                          <a:solidFill>
                            <a:srgbClr val="0B2B4E"/>
                          </a:solidFill>
                          <a:latin typeface="Cambria Math"/>
                          <a:ea typeface="Cambria Math"/>
                        </a:rPr>
                        <m:t>𝑃</m:t>
                      </m:r>
                      <m:r>
                        <a:rPr lang="en-US" sz="2600" b="0" i="0">
                          <a:solidFill>
                            <a:srgbClr val="0B2B4E"/>
                          </a:solidFill>
                          <a:latin typeface="Cambria Math"/>
                        </a:rPr>
                        <m:t> · </m:t>
                      </m:r>
                      <m:r>
                        <a:rPr lang="en-US" sz="2600" b="0" i="1">
                          <a:solidFill>
                            <a:srgbClr val="0B2B4E"/>
                          </a:solidFill>
                          <a:latin typeface="Cambria Math"/>
                          <a:ea typeface="Cambria Math"/>
                        </a:rPr>
                        <m:t>𝑄</m:t>
                      </m:r>
                      <m:r>
                        <a:rPr lang="en-US" sz="2600" b="0" i="0">
                          <a:solidFill>
                            <a:srgbClr val="0B2B4E"/>
                          </a:solidFill>
                          <a:latin typeface="Cambria Math"/>
                        </a:rPr>
                        <m:t> = 400 · 662.5 = 265,000</m:t>
                      </m:r>
                    </m:oMath>
                  </m:oMathPara>
                </a14:m>
                <a:endParaRPr lang="en-US" sz="2600"/>
              </a:p>
            </p:txBody>
          </p:sp>
        </mc:Choice>
        <mc:Fallback xmlns="">
          <p:sp>
            <p:nvSpPr>
              <p:cNvPr id="9" name="TextBox 8"/>
              <p:cNvSpPr txBox="1">
                <a:spLocks noRot="1" noChangeAspect="1" noMove="1" noResize="1" noEditPoints="1" noAdjustHandles="1" noChangeArrowheads="1" noChangeShapeType="1" noTextEdit="1"/>
              </p:cNvSpPr>
              <p:nvPr/>
            </p:nvSpPr>
            <p:spPr>
              <a:xfrm>
                <a:off x="1554480" y="3136392"/>
                <a:ext cx="9144000" cy="7315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554480" y="3941064"/>
                <a:ext cx="9144000" cy="731520"/>
              </a:xfrm>
              <a:prstGeom prst="rect">
                <a:avLst/>
              </a:prstGeom>
              <a:noFill/>
            </p:spPr>
            <p:txBody>
              <a:bodyPr wrap="square" anchor="ctr">
                <a:spAutoFit/>
              </a:bodyPr>
              <a:lstStyle/>
              <a:p>
                <a:pPr algn="ctr">
                  <a:defRPr sz="2400" b="0" i="1">
                    <a:solidFill>
                      <a:srgbClr val="0B2B4E"/>
                    </a:solidFill>
                    <a:latin typeface="Cambria Math"/>
                  </a:defRPr>
                </a:pPr>
                <a14:m>
                  <m:oMathPara xmlns:m="http://schemas.openxmlformats.org/officeDocument/2006/math">
                    <m:oMath>
                      <m:r>
                        <m:rPr>
                          <m:sty m:val="p"/>
                        </m:rPr>
                        <a:rPr lang="en-US" sz="2400" b="0" i="0">
                          <a:solidFill>
                            <a:srgbClr val="0B2B4E"/>
                          </a:solidFill>
                          <a:latin typeface="Cambria Math"/>
                        </a:rPr>
                        <m:t>TC</m:t>
                      </m:r>
                      <m:r>
                        <a:rPr lang="en-US" sz="2400" b="0" i="0">
                          <a:solidFill>
                            <a:srgbClr val="0B2B4E"/>
                          </a:solidFill>
                          <a:latin typeface="Cambria Math"/>
                        </a:rPr>
                        <m:t> = 60,000 + 135 · 662.5 + 0.2 · </m:t>
                      </m:r>
                      <m:sSup>
                        <m:sSupPr>
                          <m:ctrlPr>
                            <a:rPr lang="en-US" sz="2400" b="0" i="0">
                              <a:solidFill>
                                <a:srgbClr val="0B2B4E"/>
                              </a:solidFill>
                              <a:latin typeface="Cambria Math"/>
                            </a:rPr>
                          </m:ctrlPr>
                        </m:sSupPr>
                        <m:e>
                          <m:r>
                            <a:rPr lang="en-US" sz="2400" b="0" i="0">
                              <a:solidFill>
                                <a:srgbClr val="0B2B4E"/>
                              </a:solidFill>
                              <a:latin typeface="Cambria Math"/>
                            </a:rPr>
                            <m:t>662.5</m:t>
                          </m:r>
                        </m:e>
                        <m:sup>
                          <m:r>
                            <a:rPr lang="en-US" sz="2400" b="0" i="0">
                              <a:solidFill>
                                <a:srgbClr val="0B2B4E"/>
                              </a:solidFill>
                              <a:latin typeface="Cambria Math"/>
                            </a:rPr>
                            <m:t>2</m:t>
                          </m:r>
                        </m:sup>
                      </m:sSup>
                      <m:r>
                        <a:rPr lang="en-US" sz="2400" b="0" i="0">
                          <a:solidFill>
                            <a:srgbClr val="0B2B4E"/>
                          </a:solidFill>
                          <a:latin typeface="Cambria Math"/>
                        </a:rPr>
                        <m:t> = 237,218.75</m:t>
                      </m:r>
                    </m:oMath>
                  </m:oMathPara>
                </a14:m>
                <a:endParaRPr lang="en-US" sz="2400"/>
              </a:p>
            </p:txBody>
          </p:sp>
        </mc:Choice>
        <mc:Fallback xmlns="">
          <p:sp>
            <p:nvSpPr>
              <p:cNvPr id="10" name="TextBox 9"/>
              <p:cNvSpPr txBox="1">
                <a:spLocks noRot="1" noChangeAspect="1" noMove="1" noResize="1" noEditPoints="1" noAdjustHandles="1" noChangeArrowheads="1" noChangeShapeType="1" noTextEdit="1"/>
              </p:cNvSpPr>
              <p:nvPr/>
            </p:nvSpPr>
            <p:spPr>
              <a:xfrm>
                <a:off x="1554480" y="3941064"/>
                <a:ext cx="9144000" cy="7315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1554480" y="4834497"/>
                <a:ext cx="9144000" cy="553998"/>
              </a:xfrm>
              <a:prstGeom prst="rect">
                <a:avLst/>
              </a:prstGeom>
              <a:noFill/>
            </p:spPr>
            <p:txBody>
              <a:bodyPr wrap="square" anchor="ctr">
                <a:spAutoFit/>
              </a:bodyPr>
              <a:lstStyle/>
              <a:p>
                <a:pPr algn="ctr">
                  <a:defRPr sz="3000" b="0" i="1">
                    <a:solidFill>
                      <a:srgbClr val="A2162A"/>
                    </a:solidFill>
                    <a:latin typeface="Cambria Math"/>
                  </a:defRPr>
                </a:pPr>
                <a14:m>
                  <m:oMathPara xmlns:m="http://schemas.openxmlformats.org/officeDocument/2006/math">
                    <m:oMath>
                      <m:r>
                        <m:rPr>
                          <m:sty m:val="p"/>
                        </m:rPr>
                        <a:rPr lang="en-US" sz="3000" b="0" i="0" smtClean="0">
                          <a:solidFill>
                            <a:srgbClr val="A2162A"/>
                          </a:solidFill>
                          <a:latin typeface="Cambria Math"/>
                        </a:rPr>
                        <m:t>Profit</m:t>
                      </m:r>
                      <m:r>
                        <a:rPr lang="en-US" sz="3000" b="0" i="0" smtClean="0">
                          <a:solidFill>
                            <a:srgbClr val="A2162A"/>
                          </a:solidFill>
                          <a:latin typeface="Cambria Math" panose="02040503050406030204" pitchFamily="18" charset="0"/>
                        </a:rPr>
                        <m:t>:    </m:t>
                      </m:r>
                      <m:r>
                        <a:rPr lang="en-US" sz="3000" b="0" i="1" smtClean="0">
                          <a:solidFill>
                            <a:srgbClr val="A2162A"/>
                          </a:solidFill>
                          <a:latin typeface="Cambria Math" panose="02040503050406030204" pitchFamily="18" charset="0"/>
                        </a:rPr>
                        <m:t>𝜋</m:t>
                      </m:r>
                      <m:r>
                        <a:rPr lang="en-US" sz="3000" b="0" i="0">
                          <a:solidFill>
                            <a:srgbClr val="A2162A"/>
                          </a:solidFill>
                          <a:latin typeface="Cambria Math"/>
                        </a:rPr>
                        <m:t> = 265,000 − 237,218.75 = 27,781.25</m:t>
                      </m:r>
                    </m:oMath>
                  </m:oMathPara>
                </a14:m>
                <a:endParaRPr lang="en-US" sz="3000" dirty="0"/>
              </a:p>
            </p:txBody>
          </p:sp>
        </mc:Choice>
        <mc:Fallback>
          <p:sp>
            <p:nvSpPr>
              <p:cNvPr id="11" name="TextBox 10"/>
              <p:cNvSpPr txBox="1">
                <a:spLocks noRot="1" noChangeAspect="1" noMove="1" noResize="1" noEditPoints="1" noAdjustHandles="1" noChangeArrowheads="1" noChangeShapeType="1" noTextEdit="1"/>
              </p:cNvSpPr>
              <p:nvPr/>
            </p:nvSpPr>
            <p:spPr>
              <a:xfrm>
                <a:off x="1554480" y="4834497"/>
                <a:ext cx="9144000" cy="553998"/>
              </a:xfrm>
              <a:prstGeom prst="rect">
                <a:avLst/>
              </a:prstGeom>
              <a:blipFill>
                <a:blip r:embed="rId6"/>
                <a:stretch>
                  <a:fillRect/>
                </a:stretch>
              </a:blipFill>
            </p:spPr>
            <p:txBody>
              <a:bodyPr/>
              <a:lstStyle/>
              <a:p>
                <a:r>
                  <a:rPr lang="en-US">
                    <a:noFill/>
                  </a:rPr>
                  <a:t> </a:t>
                </a:r>
              </a:p>
            </p:txBody>
          </p:sp>
        </mc:Fallback>
      </mc:AlternateContent>
      <p:sp>
        <p:nvSpPr>
          <p:cNvPr id="12" name="Rounded Rectangle 11"/>
          <p:cNvSpPr/>
          <p:nvPr/>
        </p:nvSpPr>
        <p:spPr>
          <a:xfrm>
            <a:off x="685800" y="5687568"/>
            <a:ext cx="786384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0B2B4E"/>
                </a:solidFill>
                <a:latin typeface="Calibri"/>
              </a:rPr>
              <a:t>The Yi family makes a positive economic profit at Q*</a:t>
            </a:r>
          </a:p>
        </p:txBody>
      </p:sp>
      <p:sp>
        <p:nvSpPr>
          <p:cNvPr id="13" name="Rounded Rectangle 12"/>
          <p:cNvSpPr/>
          <p:nvPr/>
        </p:nvSpPr>
        <p:spPr>
          <a:xfrm>
            <a:off x="9098280" y="5961888"/>
            <a:ext cx="2834640" cy="457200"/>
          </a:xfrm>
          <a:prstGeom prst="roundRect">
            <a:avLst>
              <a:gd name="adj" fmla="val 50000"/>
            </a:avLst>
          </a:prstGeom>
          <a:solidFill>
            <a:srgbClr val="B8860B">
              <a:alpha val="35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  Yi Family Example</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7" name="TextBox 16"/>
          <p:cNvSpPr txBox="1"/>
          <p:nvPr/>
        </p:nvSpPr>
        <p:spPr>
          <a:xfrm>
            <a:off x="11475720" y="6583680"/>
            <a:ext cx="502920" cy="292608"/>
          </a:xfrm>
          <a:prstGeom prst="rect">
            <a:avLst/>
          </a:prstGeom>
          <a:noFill/>
        </p:spPr>
        <p:txBody>
          <a:bodyPr wrap="none" lIns="0" tIns="0" rIns="0" bIns="0">
            <a:spAutoFit/>
          </a:bodyPr>
          <a:lstStyle/>
          <a:p>
            <a:pPr algn="r"/>
            <a:fld id="{9346563A-B51D-5037-A2A5-90204D319424}" type="slidenum">
              <a:rPr lang="en-US" sz="1200" dirty="0">
                <a:solidFill>
                  <a:srgbClr val="555B66"/>
                </a:solidFill>
                <a:latin typeface="Calibri"/>
              </a:rPr>
              <a:t>13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794C2A95-1EE4-A360-DADE-2DEB926791EE}"/>
              </a:ext>
            </a:extLst>
          </p:cNvPr>
          <p:cNvSpPr txBox="1"/>
          <p:nvPr/>
        </p:nvSpPr>
        <p:spPr>
          <a:xfrm>
            <a:off x="5079846" y="3474720"/>
            <a:ext cx="2032001" cy="609243"/>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a:pPr algn="ctr">
              <a:defRPr sz="2800" b="0" i="1">
                <a:solidFill>
                  <a:srgbClr val="0B2B4E"/>
                </a:solidFill>
                <a:latin typeface="Cambria Math"/>
              </a:defRPr>
            </a:pPr>
            <a:endParaRPr lang="en-US" sz="2800" dirty="0"/>
          </a:p>
        </p:txBody>
      </p:sp>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Profits and Average Total Costs (ATC)</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7" name="TextBox 6"/>
              <p:cNvSpPr txBox="1"/>
              <p:nvPr/>
            </p:nvSpPr>
            <p:spPr>
              <a:xfrm>
                <a:off x="2240280" y="1780401"/>
                <a:ext cx="7680960" cy="553998"/>
              </a:xfrm>
              <a:prstGeom prst="rect">
                <a:avLst/>
              </a:prstGeom>
              <a:noFill/>
            </p:spPr>
            <p:txBody>
              <a:bodyPr wrap="square" anchor="ctr">
                <a:spAutoFit/>
              </a:bodyPr>
              <a:lstStyle/>
              <a:p>
                <a:pPr algn="ctr">
                  <a:defRPr sz="3000" b="0" i="1">
                    <a:solidFill>
                      <a:srgbClr val="0B2B4E"/>
                    </a:solidFill>
                    <a:latin typeface="Cambria Math"/>
                  </a:defRPr>
                </a:pPr>
                <a14:m>
                  <m:oMathPara xmlns:m="http://schemas.openxmlformats.org/officeDocument/2006/math">
                    <m:oMath>
                      <m:r>
                        <m:rPr>
                          <m:sty m:val="p"/>
                        </m:rPr>
                        <a:rPr lang="en-US" sz="3000" b="0" i="0" smtClean="0">
                          <a:solidFill>
                            <a:srgbClr val="0B2B4E"/>
                          </a:solidFill>
                          <a:latin typeface="Cambria Math"/>
                        </a:rPr>
                        <m:t>Profit</m:t>
                      </m:r>
                      <m:r>
                        <a:rPr lang="en-US" sz="3000" b="0" i="0" smtClean="0">
                          <a:solidFill>
                            <a:srgbClr val="0B2B4E"/>
                          </a:solidFill>
                          <a:latin typeface="Cambria Math" panose="02040503050406030204" pitchFamily="18" charset="0"/>
                        </a:rPr>
                        <m:t>:   </m:t>
                      </m:r>
                      <m:r>
                        <a:rPr lang="en-US" sz="3000" b="0" i="1" smtClean="0">
                          <a:solidFill>
                            <a:srgbClr val="0B2B4E"/>
                          </a:solidFill>
                          <a:latin typeface="Cambria Math" panose="02040503050406030204" pitchFamily="18" charset="0"/>
                        </a:rPr>
                        <m:t>𝜋</m:t>
                      </m:r>
                      <m:r>
                        <a:rPr lang="en-US" sz="3000" b="0" i="0">
                          <a:solidFill>
                            <a:srgbClr val="0B2B4E"/>
                          </a:solidFill>
                          <a:latin typeface="Cambria Math"/>
                        </a:rPr>
                        <m:t> = </m:t>
                      </m:r>
                      <m:r>
                        <m:rPr>
                          <m:sty m:val="p"/>
                        </m:rPr>
                        <a:rPr lang="en-US" sz="3000" b="0" i="0">
                          <a:solidFill>
                            <a:srgbClr val="0B2B4E"/>
                          </a:solidFill>
                          <a:latin typeface="Cambria Math"/>
                        </a:rPr>
                        <m:t>TR</m:t>
                      </m:r>
                      <m:r>
                        <a:rPr lang="en-US" sz="3000" b="0" i="0">
                          <a:solidFill>
                            <a:srgbClr val="0B2B4E"/>
                          </a:solidFill>
                          <a:latin typeface="Cambria Math"/>
                        </a:rPr>
                        <m:t> − </m:t>
                      </m:r>
                      <m:r>
                        <m:rPr>
                          <m:sty m:val="p"/>
                        </m:rPr>
                        <a:rPr lang="en-US" sz="3000" b="0" i="0">
                          <a:solidFill>
                            <a:srgbClr val="0B2B4E"/>
                          </a:solidFill>
                          <a:latin typeface="Cambria Math"/>
                        </a:rPr>
                        <m:t>TC</m:t>
                      </m:r>
                    </m:oMath>
                  </m:oMathPara>
                </a14:m>
                <a:endParaRPr lang="en-US" sz="3000" dirty="0"/>
              </a:p>
            </p:txBody>
          </p:sp>
        </mc:Choice>
        <mc:Fallback>
          <p:sp>
            <p:nvSpPr>
              <p:cNvPr id="7" name="TextBox 6"/>
              <p:cNvSpPr txBox="1">
                <a:spLocks noRot="1" noChangeAspect="1" noMove="1" noResize="1" noEditPoints="1" noAdjustHandles="1" noChangeArrowheads="1" noChangeShapeType="1" noTextEdit="1"/>
              </p:cNvSpPr>
              <p:nvPr/>
            </p:nvSpPr>
            <p:spPr>
              <a:xfrm>
                <a:off x="2240280" y="1780401"/>
                <a:ext cx="7680960" cy="55399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2240280" y="2621649"/>
                <a:ext cx="7680960" cy="553998"/>
              </a:xfrm>
              <a:prstGeom prst="rect">
                <a:avLst/>
              </a:prstGeom>
              <a:noFill/>
            </p:spPr>
            <p:txBody>
              <a:bodyPr wrap="square" anchor="ctr">
                <a:spAutoFit/>
              </a:bodyPr>
              <a:lstStyle/>
              <a:p>
                <a:pPr algn="ctr">
                  <a:defRPr sz="3000" b="0" i="1">
                    <a:solidFill>
                      <a:srgbClr val="0B2B4E"/>
                    </a:solidFill>
                    <a:latin typeface="Cambria Math"/>
                  </a:defRPr>
                </a:pPr>
                <a14:m>
                  <m:oMathPara xmlns:m="http://schemas.openxmlformats.org/officeDocument/2006/math">
                    <m:oMath>
                      <m:r>
                        <a:rPr lang="en-US" sz="3000" b="0" i="1" smtClean="0">
                          <a:solidFill>
                            <a:srgbClr val="0B2B4E"/>
                          </a:solidFill>
                          <a:latin typeface="Cambria Math" panose="02040503050406030204" pitchFamily="18" charset="0"/>
                        </a:rPr>
                        <m:t>𝜋</m:t>
                      </m:r>
                      <m:r>
                        <a:rPr lang="en-US" sz="3000" b="0" i="0">
                          <a:solidFill>
                            <a:srgbClr val="0B2B4E"/>
                          </a:solidFill>
                          <a:latin typeface="Cambria Math"/>
                        </a:rPr>
                        <m:t>= (</m:t>
                      </m:r>
                      <m:r>
                        <a:rPr lang="en-US" sz="3000" b="0" i="1">
                          <a:solidFill>
                            <a:srgbClr val="0B2B4E"/>
                          </a:solidFill>
                          <a:latin typeface="Cambria Math"/>
                          <a:ea typeface="Cambria Math"/>
                        </a:rPr>
                        <m:t>𝑃</m:t>
                      </m:r>
                      <m:r>
                        <a:rPr lang="en-US" sz="3000" b="0" i="0">
                          <a:solidFill>
                            <a:srgbClr val="0B2B4E"/>
                          </a:solidFill>
                          <a:latin typeface="Cambria Math"/>
                        </a:rPr>
                        <m:t> · </m:t>
                      </m:r>
                      <m:r>
                        <a:rPr lang="en-US" sz="3000" b="0" i="1">
                          <a:solidFill>
                            <a:srgbClr val="0B2B4E"/>
                          </a:solidFill>
                          <a:latin typeface="Cambria Math"/>
                          <a:ea typeface="Cambria Math"/>
                        </a:rPr>
                        <m:t>𝑄</m:t>
                      </m:r>
                      <m:r>
                        <a:rPr lang="en-US" sz="3000" b="0" i="0">
                          <a:solidFill>
                            <a:srgbClr val="0B2B4E"/>
                          </a:solidFill>
                          <a:latin typeface="Cambria Math"/>
                        </a:rPr>
                        <m:t>) − (</m:t>
                      </m:r>
                      <m:r>
                        <m:rPr>
                          <m:sty m:val="p"/>
                        </m:rPr>
                        <a:rPr lang="en-US" sz="3000" b="0" i="0">
                          <a:solidFill>
                            <a:srgbClr val="0B2B4E"/>
                          </a:solidFill>
                          <a:latin typeface="Cambria Math"/>
                        </a:rPr>
                        <m:t>ATC</m:t>
                      </m:r>
                      <m:r>
                        <a:rPr lang="en-US" sz="3000" b="0" i="0">
                          <a:solidFill>
                            <a:srgbClr val="0B2B4E"/>
                          </a:solidFill>
                          <a:latin typeface="Cambria Math"/>
                        </a:rPr>
                        <m:t> · </m:t>
                      </m:r>
                      <m:r>
                        <a:rPr lang="en-US" sz="3000" b="0" i="1">
                          <a:solidFill>
                            <a:srgbClr val="0B2B4E"/>
                          </a:solidFill>
                          <a:latin typeface="Cambria Math"/>
                          <a:ea typeface="Cambria Math"/>
                        </a:rPr>
                        <m:t>𝑄</m:t>
                      </m:r>
                      <m:r>
                        <a:rPr lang="en-US" sz="3000" b="0" i="0">
                          <a:solidFill>
                            <a:srgbClr val="0B2B4E"/>
                          </a:solidFill>
                          <a:latin typeface="Cambria Math"/>
                        </a:rPr>
                        <m:t>)</m:t>
                      </m:r>
                    </m:oMath>
                  </m:oMathPara>
                </a14:m>
                <a:endParaRPr lang="en-US" sz="3000" dirty="0"/>
              </a:p>
            </p:txBody>
          </p:sp>
        </mc:Choice>
        <mc:Fallback>
          <p:sp>
            <p:nvSpPr>
              <p:cNvPr id="8" name="TextBox 7"/>
              <p:cNvSpPr txBox="1">
                <a:spLocks noRot="1" noChangeAspect="1" noMove="1" noResize="1" noEditPoints="1" noAdjustHandles="1" noChangeArrowheads="1" noChangeShapeType="1" noTextEdit="1"/>
              </p:cNvSpPr>
              <p:nvPr/>
            </p:nvSpPr>
            <p:spPr>
              <a:xfrm>
                <a:off x="2240280" y="2621649"/>
                <a:ext cx="7680960" cy="55399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2240280" y="3462897"/>
                <a:ext cx="7680960" cy="553998"/>
              </a:xfrm>
              <a:prstGeom prst="rect">
                <a:avLst/>
              </a:prstGeom>
              <a:noFill/>
            </p:spPr>
            <p:txBody>
              <a:bodyPr wrap="square" anchor="ctr">
                <a:spAutoFit/>
              </a:bodyPr>
              <a:lstStyle/>
              <a:p>
                <a:pPr algn="ctr">
                  <a:defRPr sz="3000" b="0" i="1">
                    <a:solidFill>
                      <a:srgbClr val="0B2B4E"/>
                    </a:solidFill>
                    <a:latin typeface="Cambria Math"/>
                  </a:defRPr>
                </a:pPr>
                <a14:m>
                  <m:oMathPara xmlns:m="http://schemas.openxmlformats.org/officeDocument/2006/math">
                    <m:oMath>
                      <m:r>
                        <a:rPr lang="en-US" sz="3000" b="0" i="1" smtClean="0">
                          <a:solidFill>
                            <a:srgbClr val="0B2B4E"/>
                          </a:solidFill>
                          <a:latin typeface="Cambria Math" panose="02040503050406030204" pitchFamily="18" charset="0"/>
                        </a:rPr>
                        <m:t>𝜋</m:t>
                      </m:r>
                      <m:r>
                        <a:rPr lang="en-US" sz="3000" b="0" i="0">
                          <a:solidFill>
                            <a:srgbClr val="0B2B4E"/>
                          </a:solidFill>
                          <a:latin typeface="Cambria Math"/>
                        </a:rPr>
                        <m:t>= (</m:t>
                      </m:r>
                      <m:r>
                        <a:rPr lang="en-US" sz="3000" b="0" i="1">
                          <a:solidFill>
                            <a:srgbClr val="0B2B4E"/>
                          </a:solidFill>
                          <a:latin typeface="Cambria Math"/>
                          <a:ea typeface="Cambria Math"/>
                        </a:rPr>
                        <m:t>𝑃</m:t>
                      </m:r>
                      <m:r>
                        <a:rPr lang="en-US" sz="3000" b="0" i="0">
                          <a:solidFill>
                            <a:srgbClr val="0B2B4E"/>
                          </a:solidFill>
                          <a:latin typeface="Cambria Math"/>
                        </a:rPr>
                        <m:t> − </m:t>
                      </m:r>
                      <m:r>
                        <m:rPr>
                          <m:sty m:val="p"/>
                        </m:rPr>
                        <a:rPr lang="en-US" sz="3000" b="0" i="0">
                          <a:solidFill>
                            <a:srgbClr val="0B2B4E"/>
                          </a:solidFill>
                          <a:latin typeface="Cambria Math"/>
                        </a:rPr>
                        <m:t>ATC</m:t>
                      </m:r>
                      <m:r>
                        <a:rPr lang="en-US" sz="3000" b="0" i="0">
                          <a:solidFill>
                            <a:srgbClr val="0B2B4E"/>
                          </a:solidFill>
                          <a:latin typeface="Cambria Math"/>
                        </a:rPr>
                        <m:t>) · </m:t>
                      </m:r>
                      <m:r>
                        <a:rPr lang="en-US" sz="3000" b="0" i="1">
                          <a:solidFill>
                            <a:srgbClr val="0B2B4E"/>
                          </a:solidFill>
                          <a:latin typeface="Cambria Math"/>
                          <a:ea typeface="Cambria Math"/>
                        </a:rPr>
                        <m:t>𝑄</m:t>
                      </m:r>
                    </m:oMath>
                  </m:oMathPara>
                </a14:m>
                <a:endParaRPr lang="en-US" sz="3000" dirty="0"/>
              </a:p>
            </p:txBody>
          </p:sp>
        </mc:Choice>
        <mc:Fallback>
          <p:sp>
            <p:nvSpPr>
              <p:cNvPr id="9" name="TextBox 8"/>
              <p:cNvSpPr txBox="1">
                <a:spLocks noRot="1" noChangeAspect="1" noMove="1" noResize="1" noEditPoints="1" noAdjustHandles="1" noChangeArrowheads="1" noChangeShapeType="1" noTextEdit="1"/>
              </p:cNvSpPr>
              <p:nvPr/>
            </p:nvSpPr>
            <p:spPr>
              <a:xfrm>
                <a:off x="2240280" y="3462897"/>
                <a:ext cx="7680960" cy="55399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240280" y="4315968"/>
                <a:ext cx="7680960" cy="914400"/>
              </a:xfrm>
              <a:prstGeom prst="rect">
                <a:avLst/>
              </a:prstGeom>
              <a:noFill/>
            </p:spPr>
            <p:txBody>
              <a:bodyPr wrap="square" anchor="ctr">
                <a:spAutoFit/>
              </a:bodyPr>
              <a:lstStyle/>
              <a:p>
                <a:pPr algn="ctr">
                  <a:defRPr sz="2400" b="0" i="1">
                    <a:solidFill>
                      <a:srgbClr val="555B66"/>
                    </a:solidFill>
                    <a:latin typeface="Cambria Math"/>
                  </a:defRPr>
                </a:pPr>
                <a14:m>
                  <m:oMathPara xmlns:m="http://schemas.openxmlformats.org/officeDocument/2006/math">
                    <m:oMath>
                      <m:r>
                        <m:rPr>
                          <m:sty m:val="p"/>
                        </m:rPr>
                        <a:rPr lang="en-US" sz="2400" b="0" i="0">
                          <a:solidFill>
                            <a:srgbClr val="555B66"/>
                          </a:solidFill>
                          <a:latin typeface="Cambria Math"/>
                        </a:rPr>
                        <m:t>where</m:t>
                      </m:r>
                      <m:r>
                        <a:rPr lang="en-US" sz="2400" b="0" i="0">
                          <a:solidFill>
                            <a:srgbClr val="555B66"/>
                          </a:solidFill>
                          <a:latin typeface="Cambria Math"/>
                        </a:rPr>
                        <m:t>  </m:t>
                      </m:r>
                      <m:r>
                        <m:rPr>
                          <m:sty m:val="p"/>
                        </m:rPr>
                        <a:rPr lang="en-US" sz="2400" b="0" i="0">
                          <a:solidFill>
                            <a:srgbClr val="555B66"/>
                          </a:solidFill>
                          <a:latin typeface="Cambria Math"/>
                        </a:rPr>
                        <m:t>ATC</m:t>
                      </m:r>
                      <m:r>
                        <a:rPr lang="en-US" sz="2400" b="0" i="0">
                          <a:solidFill>
                            <a:srgbClr val="555B66"/>
                          </a:solidFill>
                          <a:latin typeface="Cambria Math"/>
                        </a:rPr>
                        <m:t> = </m:t>
                      </m:r>
                      <m:f>
                        <m:fPr>
                          <m:ctrlPr>
                            <a:rPr lang="en-US" sz="2400" b="0" i="0">
                              <a:solidFill>
                                <a:srgbClr val="555B66"/>
                              </a:solidFill>
                              <a:latin typeface="Cambria Math"/>
                            </a:rPr>
                          </m:ctrlPr>
                        </m:fPr>
                        <m:num>
                          <m:r>
                            <m:rPr>
                              <m:sty m:val="p"/>
                            </m:rPr>
                            <a:rPr lang="en-US" sz="2400" b="0" i="0">
                              <a:solidFill>
                                <a:srgbClr val="555B66"/>
                              </a:solidFill>
                              <a:latin typeface="Cambria Math"/>
                            </a:rPr>
                            <m:t>TC</m:t>
                          </m:r>
                        </m:num>
                        <m:den>
                          <m:r>
                            <a:rPr lang="en-US" sz="2400" b="0" i="1">
                              <a:solidFill>
                                <a:srgbClr val="555B66"/>
                              </a:solidFill>
                              <a:latin typeface="Cambria Math"/>
                              <a:ea typeface="Cambria Math"/>
                            </a:rPr>
                            <m:t>𝑄</m:t>
                          </m:r>
                        </m:den>
                      </m:f>
                      <m:r>
                        <a:rPr lang="en-US" sz="2400" b="0" i="0">
                          <a:solidFill>
                            <a:srgbClr val="555B66"/>
                          </a:solidFill>
                          <a:latin typeface="Cambria Math"/>
                        </a:rPr>
                        <m:t>   (</m:t>
                      </m:r>
                      <m:r>
                        <m:rPr>
                          <m:sty m:val="p"/>
                        </m:rPr>
                        <a:rPr lang="en-US" sz="2400" b="0" i="0">
                          <a:solidFill>
                            <a:srgbClr val="555B66"/>
                          </a:solidFill>
                          <a:latin typeface="Cambria Math"/>
                        </a:rPr>
                        <m:t>average</m:t>
                      </m:r>
                      <m:r>
                        <a:rPr lang="en-US" sz="2400" b="0" i="0">
                          <a:solidFill>
                            <a:srgbClr val="555B66"/>
                          </a:solidFill>
                          <a:latin typeface="Cambria Math"/>
                        </a:rPr>
                        <m:t> </m:t>
                      </m:r>
                      <m:r>
                        <m:rPr>
                          <m:sty m:val="p"/>
                        </m:rPr>
                        <a:rPr lang="en-US" sz="2400" b="0" i="0">
                          <a:solidFill>
                            <a:srgbClr val="555B66"/>
                          </a:solidFill>
                          <a:latin typeface="Cambria Math"/>
                        </a:rPr>
                        <m:t>total</m:t>
                      </m:r>
                      <m:r>
                        <a:rPr lang="en-US" sz="2400" b="0" i="0">
                          <a:solidFill>
                            <a:srgbClr val="555B66"/>
                          </a:solidFill>
                          <a:latin typeface="Cambria Math"/>
                        </a:rPr>
                        <m:t> </m:t>
                      </m:r>
                      <m:r>
                        <m:rPr>
                          <m:sty m:val="p"/>
                        </m:rPr>
                        <a:rPr lang="en-US" sz="2400" b="0" i="0">
                          <a:solidFill>
                            <a:srgbClr val="555B66"/>
                          </a:solidFill>
                          <a:latin typeface="Cambria Math"/>
                        </a:rPr>
                        <m:t>cost</m:t>
                      </m:r>
                      <m:r>
                        <a:rPr lang="en-US" sz="2400" b="0" i="0">
                          <a:solidFill>
                            <a:srgbClr val="555B66"/>
                          </a:solidFill>
                          <a:latin typeface="Cambria Math"/>
                        </a:rPr>
                        <m:t> </m:t>
                      </m:r>
                      <m:r>
                        <m:rPr>
                          <m:sty m:val="p"/>
                        </m:rPr>
                        <a:rPr lang="en-US" sz="2400" b="0" i="0">
                          <a:solidFill>
                            <a:srgbClr val="555B66"/>
                          </a:solidFill>
                          <a:latin typeface="Cambria Math"/>
                        </a:rPr>
                        <m:t>per</m:t>
                      </m:r>
                      <m:r>
                        <a:rPr lang="en-US" sz="2400" b="0" i="0">
                          <a:solidFill>
                            <a:srgbClr val="555B66"/>
                          </a:solidFill>
                          <a:latin typeface="Cambria Math"/>
                        </a:rPr>
                        <m:t> </m:t>
                      </m:r>
                      <m:r>
                        <m:rPr>
                          <m:sty m:val="p"/>
                        </m:rPr>
                        <a:rPr lang="en-US" sz="2400" b="0" i="0">
                          <a:solidFill>
                            <a:srgbClr val="555B66"/>
                          </a:solidFill>
                          <a:latin typeface="Cambria Math"/>
                        </a:rPr>
                        <m:t>ton</m:t>
                      </m:r>
                      <m:r>
                        <a:rPr lang="en-US" sz="2400" b="0" i="0">
                          <a:solidFill>
                            <a:srgbClr val="555B66"/>
                          </a:solidFill>
                          <a:latin typeface="Cambria Math"/>
                        </a:rPr>
                        <m:t>)</m:t>
                      </m:r>
                    </m:oMath>
                  </m:oMathPara>
                </a14:m>
                <a:endParaRPr lang="en-US" sz="2400"/>
              </a:p>
            </p:txBody>
          </p:sp>
        </mc:Choice>
        <mc:Fallback xmlns="">
          <p:sp>
            <p:nvSpPr>
              <p:cNvPr id="10" name="TextBox 9"/>
              <p:cNvSpPr txBox="1">
                <a:spLocks noRot="1" noChangeAspect="1" noMove="1" noResize="1" noEditPoints="1" noAdjustHandles="1" noChangeArrowheads="1" noChangeShapeType="1" noTextEdit="1"/>
              </p:cNvSpPr>
              <p:nvPr/>
            </p:nvSpPr>
            <p:spPr>
              <a:xfrm>
                <a:off x="2240280" y="4315968"/>
                <a:ext cx="7680960" cy="91440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2240280" y="5394960"/>
                <a:ext cx="7680960" cy="77724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a:pPr algn="ctr">
                  <a:defRPr sz="2800" b="0" i="1">
                    <a:solidFill>
                      <a:srgbClr val="0B2B4E"/>
                    </a:solidFill>
                    <a:latin typeface="Cambria Math"/>
                  </a:defRPr>
                </a:pPr>
                <a14:m>
                  <m:oMathPara xmlns:m="http://schemas.openxmlformats.org/officeDocument/2006/math">
                    <m:oMath>
                      <m:r>
                        <m:rPr>
                          <m:sty m:val="p"/>
                        </m:rPr>
                        <a:rPr lang="en-US" sz="2800" b="0" i="0">
                          <a:solidFill>
                            <a:srgbClr val="0B2B4E"/>
                          </a:solidFill>
                          <a:latin typeface="Cambria Math"/>
                        </a:rPr>
                        <m:t>Profit</m:t>
                      </m:r>
                      <m:r>
                        <a:rPr lang="en-US" sz="2800" b="0" i="0">
                          <a:solidFill>
                            <a:srgbClr val="0B2B4E"/>
                          </a:solidFill>
                          <a:latin typeface="Cambria Math"/>
                        </a:rPr>
                        <m:t> </m:t>
                      </m:r>
                      <m:r>
                        <m:rPr>
                          <m:sty m:val="p"/>
                        </m:rPr>
                        <a:rPr lang="en-US" sz="2800" b="0" i="0">
                          <a:solidFill>
                            <a:srgbClr val="0B2B4E"/>
                          </a:solidFill>
                          <a:latin typeface="Cambria Math"/>
                        </a:rPr>
                        <m:t>is</m:t>
                      </m:r>
                      <m:r>
                        <a:rPr lang="en-US" sz="2800" b="0" i="0">
                          <a:solidFill>
                            <a:srgbClr val="0B2B4E"/>
                          </a:solidFill>
                          <a:latin typeface="Cambria Math"/>
                        </a:rPr>
                        <m:t> </m:t>
                      </m:r>
                      <m:r>
                        <m:rPr>
                          <m:sty m:val="p"/>
                        </m:rPr>
                        <a:rPr lang="en-US" sz="2800" b="0" i="0">
                          <a:solidFill>
                            <a:srgbClr val="0B2B4E"/>
                          </a:solidFill>
                          <a:latin typeface="Cambria Math"/>
                        </a:rPr>
                        <m:t>positive</m:t>
                      </m:r>
                      <m:r>
                        <a:rPr lang="en-US" sz="2800" b="0" i="0">
                          <a:solidFill>
                            <a:srgbClr val="0B2B4E"/>
                          </a:solidFill>
                          <a:latin typeface="Cambria Math"/>
                        </a:rPr>
                        <m:t> </m:t>
                      </m:r>
                      <m:r>
                        <m:rPr>
                          <m:sty m:val="p"/>
                        </m:rPr>
                        <a:rPr lang="en-US" sz="2800" b="0" i="0">
                          <a:solidFill>
                            <a:srgbClr val="0B2B4E"/>
                          </a:solidFill>
                          <a:latin typeface="Cambria Math"/>
                        </a:rPr>
                        <m:t>if</m:t>
                      </m:r>
                      <m:r>
                        <a:rPr lang="en-US" sz="2800" b="0" i="0">
                          <a:solidFill>
                            <a:srgbClr val="0B2B4E"/>
                          </a:solidFill>
                          <a:latin typeface="Cambria Math"/>
                        </a:rPr>
                        <m:t>  </m:t>
                      </m:r>
                      <m:r>
                        <a:rPr lang="en-US" sz="2800" b="0" i="1">
                          <a:solidFill>
                            <a:srgbClr val="0B2B4E"/>
                          </a:solidFill>
                          <a:latin typeface="Cambria Math"/>
                          <a:ea typeface="Cambria Math"/>
                        </a:rPr>
                        <m:t>𝑃</m:t>
                      </m:r>
                      <m:r>
                        <a:rPr lang="en-US" sz="2800" b="0" i="0">
                          <a:solidFill>
                            <a:srgbClr val="0B2B4E"/>
                          </a:solidFill>
                          <a:latin typeface="Cambria Math"/>
                        </a:rPr>
                        <m:t> ≥ </m:t>
                      </m:r>
                      <m:r>
                        <m:rPr>
                          <m:sty m:val="p"/>
                        </m:rPr>
                        <a:rPr lang="en-US" sz="2800" b="0" i="0">
                          <a:solidFill>
                            <a:srgbClr val="0B2B4E"/>
                          </a:solidFill>
                          <a:latin typeface="Cambria Math"/>
                        </a:rPr>
                        <m:t>ATC</m:t>
                      </m:r>
                    </m:oMath>
                  </m:oMathPara>
                </a14:m>
                <a:endParaRPr lang="en-US" sz="2800"/>
              </a:p>
            </p:txBody>
          </p:sp>
        </mc:Choice>
        <mc:Fallback xmlns="">
          <p:sp>
            <p:nvSpPr>
              <p:cNvPr id="11" name="TextBox 10"/>
              <p:cNvSpPr txBox="1">
                <a:spLocks noRot="1" noChangeAspect="1" noMove="1" noResize="1" noEditPoints="1" noAdjustHandles="1" noChangeArrowheads="1" noChangeShapeType="1" noTextEdit="1"/>
              </p:cNvSpPr>
              <p:nvPr/>
            </p:nvSpPr>
            <p:spPr>
              <a:xfrm>
                <a:off x="2240280" y="5394960"/>
                <a:ext cx="7680960" cy="777240"/>
              </a:xfrm>
              <a:prstGeom prst="roundRect">
                <a:avLst>
                  <a:gd name="adj" fmla="val 25000"/>
                </a:avLst>
              </a:prstGeom>
              <a:blipFill>
                <a:blip r:embed="rId7"/>
                <a:stretch>
                  <a:fillRect/>
                </a:stretch>
              </a:blipFill>
              <a:ln w="9525">
                <a:solidFill>
                  <a:srgbClr val="0B2B4E"/>
                </a:solidFill>
              </a:ln>
              <a:effectLst>
                <a:outerShdw blurRad="50800" dist="38100" dir="2700000" algn="tl" rotWithShape="0">
                  <a:srgbClr val="000000">
                    <a:alpha val="45000"/>
                  </a:srgbClr>
                </a:outerShdw>
              </a:effectLst>
            </p:spPr>
            <p:txBody>
              <a:bodyPr/>
              <a:lstStyle/>
              <a:p>
                <a:r>
                  <a:rPr lang="en-US">
                    <a:noFill/>
                  </a:rPr>
                  <a:t> </a:t>
                </a:r>
              </a:p>
            </p:txBody>
          </p:sp>
        </mc:Fallback>
      </mc:AlternateContent>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E147C3F4-51FB-5672-BCCD-B2C49AC14D38}" type="slidenum">
              <a:rPr lang="en-US" sz="1200" dirty="0">
                <a:solidFill>
                  <a:srgbClr val="555B66"/>
                </a:solidFill>
                <a:latin typeface="Calibri"/>
              </a:rPr>
              <a:t>14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Illustrating Positive Profits of the Yi Family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1463040" y="1801368"/>
            <a:ext cx="0" cy="36850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63040" y="5486400"/>
            <a:ext cx="74797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92911" y="1668780"/>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0" name="TextBox 9"/>
          <p:cNvSpPr txBox="1"/>
          <p:nvPr/>
        </p:nvSpPr>
        <p:spPr>
          <a:xfrm>
            <a:off x="8215693" y="5532120"/>
            <a:ext cx="1454277" cy="265176"/>
          </a:xfrm>
          <a:prstGeom prst="rect">
            <a:avLst/>
          </a:prstGeom>
          <a:noFill/>
        </p:spPr>
        <p:txBody>
          <a:bodyPr wrap="square" lIns="0" tIns="0" rIns="0" bIns="0">
            <a:spAutoFit/>
          </a:bodyPr>
          <a:lstStyle/>
          <a:p>
            <a:pPr algn="l"/>
            <a:r>
              <a:rPr sz="1700" b="1" i="1" u="none">
                <a:solidFill>
                  <a:srgbClr val="0B2B4E"/>
                </a:solidFill>
                <a:latin typeface="Calibri"/>
              </a:rPr>
              <a:t>Quantity (tons)</a:t>
            </a:r>
          </a:p>
        </p:txBody>
      </p:sp>
      <p:sp>
        <p:nvSpPr>
          <p:cNvPr id="11" name="Rectangle 10"/>
          <p:cNvSpPr/>
          <p:nvPr/>
        </p:nvSpPr>
        <p:spPr>
          <a:xfrm>
            <a:off x="1463040" y="2670048"/>
            <a:ext cx="5101389" cy="295251"/>
          </a:xfrm>
          <a:prstGeom prst="rect">
            <a:avLst/>
          </a:prstGeom>
          <a:solidFill>
            <a:srgbClr val="C00000">
              <a:alpha val="22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flipV="1">
            <a:off x="1463040" y="2282799"/>
            <a:ext cx="6160168" cy="2253082"/>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453803" y="1883023"/>
            <a:ext cx="416052" cy="292608"/>
          </a:xfrm>
          <a:prstGeom prst="rect">
            <a:avLst/>
          </a:prstGeom>
          <a:noFill/>
        </p:spPr>
        <p:txBody>
          <a:bodyPr wrap="square" lIns="0" tIns="0" rIns="0" bIns="0">
            <a:spAutoFit/>
          </a:bodyPr>
          <a:lstStyle/>
          <a:p>
            <a:pPr algn="l"/>
            <a:r>
              <a:rPr sz="1900" b="1" i="1" u="none">
                <a:solidFill>
                  <a:srgbClr val="0B2B4E"/>
                </a:solidFill>
                <a:latin typeface="Calibri"/>
              </a:rPr>
              <a:t>MC</a:t>
            </a:r>
          </a:p>
        </p:txBody>
      </p:sp>
      <p:sp>
        <p:nvSpPr>
          <p:cNvPr id="14" name="TextBox 13"/>
          <p:cNvSpPr txBox="1"/>
          <p:nvPr/>
        </p:nvSpPr>
        <p:spPr>
          <a:xfrm>
            <a:off x="1030986" y="4398721"/>
            <a:ext cx="358902" cy="274320"/>
          </a:xfrm>
          <a:prstGeom prst="rect">
            <a:avLst/>
          </a:prstGeom>
          <a:noFill/>
        </p:spPr>
        <p:txBody>
          <a:bodyPr wrap="square" lIns="0" tIns="0" rIns="0" bIns="0">
            <a:spAutoFit/>
          </a:bodyPr>
          <a:lstStyle/>
          <a:p>
            <a:pPr algn="r"/>
            <a:r>
              <a:rPr sz="1500" b="0" i="1" u="none">
                <a:solidFill>
                  <a:srgbClr val="0B2B4E"/>
                </a:solidFill>
                <a:latin typeface="Calibri"/>
              </a:rPr>
              <a:t>135</a:t>
            </a:r>
          </a:p>
        </p:txBody>
      </p:sp>
      <p:sp>
        <p:nvSpPr>
          <p:cNvPr id="15" name="Rectangle 14"/>
          <p:cNvSpPr/>
          <p:nvPr/>
        </p:nvSpPr>
        <p:spPr>
          <a:xfrm>
            <a:off x="3080084" y="2228484"/>
            <a:ext cx="4543124" cy="766581"/>
          </a:xfrm>
          <a:custGeom>
            <a:avLst/>
            <a:gdLst/>
            <a:ahLst/>
            <a:cxnLst/>
            <a:rect l="0" t="0" r="r" b="b"/>
            <a:pathLst>
              <a:path w="4543124" h="766581">
                <a:moveTo>
                  <a:pt x="0" y="0"/>
                </a:moveTo>
                <a:cubicBezTo>
                  <a:pt x="151437" y="92924"/>
                  <a:pt x="605750" y="435524"/>
                  <a:pt x="908625" y="557549"/>
                </a:cubicBezTo>
                <a:cubicBezTo>
                  <a:pt x="1211499" y="679573"/>
                  <a:pt x="1514374" y="697712"/>
                  <a:pt x="1817249" y="732147"/>
                </a:cubicBezTo>
                <a:cubicBezTo>
                  <a:pt x="2120123" y="766581"/>
                  <a:pt x="2422999" y="764915"/>
                  <a:pt x="2725874" y="764156"/>
                </a:cubicBezTo>
                <a:cubicBezTo>
                  <a:pt x="3028749" y="763396"/>
                  <a:pt x="3331624" y="746149"/>
                  <a:pt x="3634499" y="727588"/>
                </a:cubicBezTo>
                <a:cubicBezTo>
                  <a:pt x="3937374" y="709027"/>
                  <a:pt x="4391686" y="665256"/>
                  <a:pt x="4543124" y="652790"/>
                </a:cubicBezTo>
              </a:path>
            </a:pathLst>
          </a:custGeom>
          <a:noFill/>
          <a:ln w="41275">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53803" y="3044769"/>
            <a:ext cx="473201" cy="292608"/>
          </a:xfrm>
          <a:prstGeom prst="rect">
            <a:avLst/>
          </a:prstGeom>
          <a:noFill/>
        </p:spPr>
        <p:txBody>
          <a:bodyPr wrap="square" lIns="0" tIns="0" rIns="0" bIns="0">
            <a:spAutoFit/>
          </a:bodyPr>
          <a:lstStyle/>
          <a:p>
            <a:pPr algn="l"/>
            <a:r>
              <a:rPr sz="1900" b="1" i="1" u="none">
                <a:solidFill>
                  <a:srgbClr val="E09F3E"/>
                </a:solidFill>
                <a:latin typeface="Calibri"/>
              </a:rPr>
              <a:t>ATC</a:t>
            </a:r>
          </a:p>
        </p:txBody>
      </p:sp>
      <p:sp>
        <p:nvSpPr>
          <p:cNvPr id="17" name="TextBox 16"/>
          <p:cNvSpPr txBox="1"/>
          <p:nvPr/>
        </p:nvSpPr>
        <p:spPr>
          <a:xfrm>
            <a:off x="2103120" y="2697480"/>
            <a:ext cx="2194560" cy="292608"/>
          </a:xfrm>
          <a:prstGeom prst="rect">
            <a:avLst/>
          </a:prstGeom>
          <a:noFill/>
        </p:spPr>
        <p:txBody>
          <a:bodyPr wrap="square" lIns="0" tIns="0" rIns="0" bIns="0">
            <a:spAutoFit/>
          </a:bodyPr>
          <a:lstStyle/>
          <a:p>
            <a:pPr algn="ctr"/>
            <a:r>
              <a:rPr sz="1600" b="1" i="0" u="none">
                <a:solidFill>
                  <a:srgbClr val="0B2B4E"/>
                </a:solidFill>
                <a:latin typeface="Calibri"/>
              </a:rPr>
              <a:t>Profit</a:t>
            </a:r>
          </a:p>
        </p:txBody>
      </p:sp>
      <p:cxnSp>
        <p:nvCxnSpPr>
          <p:cNvPr id="18" name="Connector 17"/>
          <p:cNvCxnSpPr/>
          <p:nvPr/>
        </p:nvCxnSpPr>
        <p:spPr>
          <a:xfrm>
            <a:off x="1463040" y="2670048"/>
            <a:ext cx="6622181" cy="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06164" y="2228027"/>
            <a:ext cx="739901" cy="292608"/>
          </a:xfrm>
          <a:prstGeom prst="rect">
            <a:avLst/>
          </a:prstGeom>
          <a:noFill/>
        </p:spPr>
        <p:txBody>
          <a:bodyPr wrap="square" lIns="0" tIns="0" rIns="0" bIns="0">
            <a:spAutoFit/>
          </a:bodyPr>
          <a:lstStyle/>
          <a:p>
            <a:pPr algn="l"/>
            <a:r>
              <a:rPr sz="1800" b="1" i="1" u="none">
                <a:solidFill>
                  <a:srgbClr val="C00000"/>
                </a:solidFill>
                <a:latin typeface="Calibri"/>
              </a:rPr>
              <a:t>P = MR</a:t>
            </a:r>
          </a:p>
        </p:txBody>
      </p:sp>
      <p:sp>
        <p:nvSpPr>
          <p:cNvPr id="20" name="TextBox 19"/>
          <p:cNvSpPr txBox="1"/>
          <p:nvPr/>
        </p:nvSpPr>
        <p:spPr>
          <a:xfrm>
            <a:off x="973836" y="2532888"/>
            <a:ext cx="416052" cy="274320"/>
          </a:xfrm>
          <a:prstGeom prst="rect">
            <a:avLst/>
          </a:prstGeom>
          <a:noFill/>
        </p:spPr>
        <p:txBody>
          <a:bodyPr wrap="square" lIns="0" tIns="0" rIns="0" bIns="0">
            <a:spAutoFit/>
          </a:bodyPr>
          <a:lstStyle/>
          <a:p>
            <a:pPr algn="r"/>
            <a:r>
              <a:rPr sz="1700" b="1" i="1" u="none">
                <a:solidFill>
                  <a:srgbClr val="C00000"/>
                </a:solidFill>
                <a:latin typeface="Calibri"/>
              </a:rPr>
              <a:t>400</a:t>
            </a:r>
          </a:p>
        </p:txBody>
      </p:sp>
      <p:sp>
        <p:nvSpPr>
          <p:cNvPr id="21" name="TextBox 20"/>
          <p:cNvSpPr txBox="1"/>
          <p:nvPr/>
        </p:nvSpPr>
        <p:spPr>
          <a:xfrm>
            <a:off x="973836" y="2828139"/>
            <a:ext cx="416052" cy="274320"/>
          </a:xfrm>
          <a:prstGeom prst="rect">
            <a:avLst/>
          </a:prstGeom>
          <a:noFill/>
        </p:spPr>
        <p:txBody>
          <a:bodyPr wrap="square" lIns="0" tIns="0" rIns="0" bIns="0">
            <a:spAutoFit/>
          </a:bodyPr>
          <a:lstStyle/>
          <a:p>
            <a:pPr algn="r"/>
            <a:r>
              <a:rPr sz="1700" b="0" i="1" u="none">
                <a:solidFill>
                  <a:srgbClr val="0B2B4E"/>
                </a:solidFill>
                <a:latin typeface="Calibri"/>
              </a:rPr>
              <a:t>358</a:t>
            </a:r>
          </a:p>
        </p:txBody>
      </p:sp>
      <p:cxnSp>
        <p:nvCxnSpPr>
          <p:cNvPr id="22" name="Connector 21"/>
          <p:cNvCxnSpPr/>
          <p:nvPr/>
        </p:nvCxnSpPr>
        <p:spPr>
          <a:xfrm flipV="1">
            <a:off x="6564429" y="2670048"/>
            <a:ext cx="0" cy="2816352"/>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042078" y="5541264"/>
            <a:ext cx="1044702" cy="274320"/>
          </a:xfrm>
          <a:prstGeom prst="rect">
            <a:avLst/>
          </a:prstGeom>
          <a:noFill/>
        </p:spPr>
        <p:txBody>
          <a:bodyPr wrap="square" lIns="0" tIns="0" rIns="0" bIns="0">
            <a:spAutoFit/>
          </a:bodyPr>
          <a:lstStyle/>
          <a:p>
            <a:pPr algn="ctr"/>
            <a:r>
              <a:rPr sz="1700" b="1" i="1" u="none">
                <a:solidFill>
                  <a:srgbClr val="0B2B4E"/>
                </a:solidFill>
                <a:latin typeface="Calibri"/>
              </a:rPr>
              <a:t>Q* = 662.5</a:t>
            </a:r>
          </a:p>
        </p:txBody>
      </p:sp>
      <p:sp>
        <p:nvSpPr>
          <p:cNvPr id="24" name="Oval 23"/>
          <p:cNvSpPr/>
          <p:nvPr/>
        </p:nvSpPr>
        <p:spPr>
          <a:xfrm>
            <a:off x="6495849" y="2601468"/>
            <a:ext cx="137160" cy="13716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5" name="TextBox 24"/>
              <p:cNvSpPr txBox="1"/>
              <p:nvPr/>
            </p:nvSpPr>
            <p:spPr>
              <a:xfrm>
                <a:off x="9098280" y="1874519"/>
                <a:ext cx="2834640" cy="548640"/>
              </a:xfrm>
              <a:prstGeom prst="rect">
                <a:avLst/>
              </a:prstGeom>
              <a:noFill/>
            </p:spPr>
            <p:txBody>
              <a:bodyPr wrap="square" lIns="45720" tIns="0" rIns="45720" bIns="0">
                <a:spAutoFit/>
              </a:bodyPr>
              <a:lstStyle/>
              <a:p>
                <a:pPr algn="ctr"/>
                <a14:m>
                  <m:oMathPara xmlns:m="http://schemas.openxmlformats.org/officeDocument/2006/math">
                    <m:oMath>
                      <m:r>
                        <m:rPr>
                          <m:sty m:val="p"/>
                        </m:rPr>
                        <a:rPr lang="en-US" sz="2400" b="0" i="0">
                          <a:solidFill>
                            <a:srgbClr val="0B2B4E"/>
                          </a:solidFill>
                          <a:latin typeface="Cambria Math"/>
                        </a:rPr>
                        <m:t>MC</m:t>
                      </m:r>
                      <m:r>
                        <a:rPr lang="en-US" sz="2400" b="0" i="0">
                          <a:solidFill>
                            <a:srgbClr val="0B2B4E"/>
                          </a:solidFill>
                          <a:latin typeface="Cambria Math"/>
                        </a:rPr>
                        <m:t> = 135 + 0.4</m:t>
                      </m:r>
                      <m:r>
                        <a:rPr lang="en-US" sz="2400" b="0" i="1">
                          <a:solidFill>
                            <a:srgbClr val="0B2B4E"/>
                          </a:solidFill>
                          <a:latin typeface="Cambria Math"/>
                          <a:ea typeface="Cambria Math"/>
                        </a:rPr>
                        <m:t>𝑄</m:t>
                      </m:r>
                    </m:oMath>
                  </m:oMathPara>
                </a14:m>
                <a:endParaRPr lang="en-US"/>
              </a:p>
            </p:txBody>
          </p:sp>
        </mc:Choice>
        <mc:Fallback xmlns="">
          <p:sp>
            <p:nvSpPr>
              <p:cNvPr id="25" name="TextBox 24"/>
              <p:cNvSpPr txBox="1">
                <a:spLocks noRot="1" noChangeAspect="1" noMove="1" noResize="1" noEditPoints="1" noAdjustHandles="1" noChangeArrowheads="1" noChangeShapeType="1" noTextEdit="1"/>
              </p:cNvSpPr>
              <p:nvPr/>
            </p:nvSpPr>
            <p:spPr>
              <a:xfrm>
                <a:off x="9098280" y="1874519"/>
                <a:ext cx="2834640" cy="548640"/>
              </a:xfrm>
              <a:prstGeom prst="rect">
                <a:avLst/>
              </a:prstGeom>
              <a:blipFill>
                <a:blip r:embed="rId3"/>
                <a:stretch>
                  <a:fillRect l="-215"/>
                </a:stretch>
              </a:blipFill>
            </p:spPr>
            <p:txBody>
              <a:bodyPr/>
              <a:lstStyle/>
              <a:p>
                <a:r>
                  <a:rPr lang="en-US">
                    <a:noFill/>
                  </a:rPr>
                  <a:t> </a:t>
                </a:r>
              </a:p>
            </p:txBody>
          </p:sp>
        </mc:Fallback>
      </mc:AlternateContent>
      <p:sp>
        <p:nvSpPr>
          <p:cNvPr id="26" name="Rectangle 2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29" name="TextBox 28"/>
          <p:cNvSpPr txBox="1"/>
          <p:nvPr/>
        </p:nvSpPr>
        <p:spPr>
          <a:xfrm>
            <a:off x="11475720" y="6583680"/>
            <a:ext cx="502920" cy="292608"/>
          </a:xfrm>
          <a:prstGeom prst="rect">
            <a:avLst/>
          </a:prstGeom>
          <a:noFill/>
        </p:spPr>
        <p:txBody>
          <a:bodyPr wrap="none" lIns="0" tIns="0" rIns="0" bIns="0">
            <a:spAutoFit/>
          </a:bodyPr>
          <a:lstStyle/>
          <a:p>
            <a:pPr algn="r"/>
            <a:fld id="{C293036A-BD4D-57C7-9687-30C5AEE01332}" type="slidenum">
              <a:rPr lang="en-US" sz="1200" dirty="0">
                <a:solidFill>
                  <a:srgbClr val="555B66"/>
                </a:solidFill>
                <a:latin typeface="Calibri"/>
              </a:rPr>
              <a:t>15</a:t>
            </a:fld>
            <a:endParaRPr lang="en-US" sz="1200" dirty="0">
              <a:solidFill>
                <a:srgbClr val="555B66"/>
              </a:solidFill>
              <a:latin typeface="Calibri"/>
            </a:endParaRPr>
          </a:p>
        </p:txBody>
      </p:sp>
      <mc:AlternateContent xmlns:mc="http://schemas.openxmlformats.org/markup-compatibility/2006" xmlns:a14="http://schemas.microsoft.com/office/drawing/2010/main">
        <mc:Choice Requires="a14">
          <p:sp>
            <p:nvSpPr>
              <p:cNvPr id="30" name="TextBox 29"/>
              <p:cNvSpPr txBox="1"/>
              <p:nvPr/>
            </p:nvSpPr>
            <p:spPr>
              <a:xfrm>
                <a:off x="8215693" y="3654660"/>
                <a:ext cx="3794761" cy="624364"/>
              </a:xfrm>
              <a:prstGeom prst="roundRect">
                <a:avLst>
                  <a:gd name="adj" fmla="val 12000"/>
                </a:avLst>
              </a:prstGeom>
              <a:solidFill>
                <a:srgbClr val="C00000">
                  <a:alpha val="18000"/>
                </a:srgbClr>
              </a:solidFill>
              <a:ln w="15875">
                <a:solidFill>
                  <a:srgbClr val="C00000"/>
                </a:solidFill>
              </a:ln>
              <a:effectLst>
                <a:outerShdw blurRad="50800" dist="38100" dir="2700000" algn="tl" rotWithShape="0">
                  <a:srgbClr val="000000">
                    <a:alpha val="50000"/>
                  </a:srgbClr>
                </a:outerShdw>
              </a:effectLst>
            </p:spPr>
            <p:txBody>
              <a:bodyPr wrap="square" lIns="45720" tIns="0" rIns="45720" bIns="0">
                <a:spAutoFit/>
              </a:bodyPr>
              <a:lstStyle/>
              <a:p>
                <a:pPr algn="ctr"/>
                <a14:m>
                  <m:oMathPara xmlns:m="http://schemas.openxmlformats.org/officeDocument/2006/math">
                    <m:oMath>
                      <m:r>
                        <m:rPr>
                          <m:sty m:val="p"/>
                        </m:rPr>
                        <a:rPr lang="en-US" sz="2400" b="0" i="0">
                          <a:solidFill>
                            <a:srgbClr val="0B2B4E"/>
                          </a:solidFill>
                          <a:latin typeface="Cambria Math"/>
                        </a:rPr>
                        <m:t>Profit</m:t>
                      </m:r>
                      <m:r>
                        <a:rPr lang="en-US" sz="2400" b="0" i="0">
                          <a:solidFill>
                            <a:srgbClr val="0B2B4E"/>
                          </a:solidFill>
                          <a:latin typeface="Cambria Math"/>
                        </a:rPr>
                        <m:t> = (</m:t>
                      </m:r>
                      <m:r>
                        <a:rPr lang="en-US" sz="2400" b="0" i="1">
                          <a:solidFill>
                            <a:srgbClr val="0B2B4E"/>
                          </a:solidFill>
                          <a:latin typeface="Cambria Math"/>
                          <a:ea typeface="Cambria Math"/>
                        </a:rPr>
                        <m:t>𝑃</m:t>
                      </m:r>
                      <m:r>
                        <a:rPr lang="en-US" sz="2400" b="0" i="0">
                          <a:solidFill>
                            <a:srgbClr val="0B2B4E"/>
                          </a:solidFill>
                          <a:latin typeface="Cambria Math"/>
                        </a:rPr>
                        <m:t> − </m:t>
                      </m:r>
                      <m:r>
                        <m:rPr>
                          <m:sty m:val="p"/>
                        </m:rPr>
                        <a:rPr lang="en-US" sz="2400" b="0" i="0">
                          <a:solidFill>
                            <a:srgbClr val="0B2B4E"/>
                          </a:solidFill>
                          <a:latin typeface="Cambria Math"/>
                        </a:rPr>
                        <m:t>ATC</m:t>
                      </m:r>
                      <m:r>
                        <a:rPr lang="en-US" sz="2400" b="0" i="0">
                          <a:solidFill>
                            <a:srgbClr val="0B2B4E"/>
                          </a:solidFill>
                          <a:latin typeface="Cambria Math"/>
                        </a:rPr>
                        <m:t>) · </m:t>
                      </m:r>
                      <m:sSup>
                        <m:sSupPr>
                          <m:ctrlPr>
                            <a:rPr lang="en-US" sz="2400" b="0" i="1">
                              <a:solidFill>
                                <a:srgbClr val="0B2B4E"/>
                              </a:solidFill>
                              <a:latin typeface="Cambria Math"/>
                              <a:ea typeface="Cambria Math"/>
                            </a:rPr>
                          </m:ctrlPr>
                        </m:sSupPr>
                        <m:e>
                          <m:r>
                            <a:rPr lang="en-US" sz="2400" b="0" i="1">
                              <a:solidFill>
                                <a:srgbClr val="0B2B4E"/>
                              </a:solidFill>
                              <a:latin typeface="Cambria Math"/>
                              <a:ea typeface="Cambria Math"/>
                            </a:rPr>
                            <m:t>𝑄</m:t>
                          </m:r>
                        </m:e>
                        <m:sup>
                          <m:r>
                            <a:rPr lang="en-US" sz="2400" b="0" i="0">
                              <a:solidFill>
                                <a:srgbClr val="0B2B4E"/>
                              </a:solidFill>
                              <a:latin typeface="Cambria Math"/>
                            </a:rPr>
                            <m:t>∗</m:t>
                          </m:r>
                        </m:sup>
                      </m:sSup>
                    </m:oMath>
                  </m:oMathPara>
                </a14:m>
                <a:endParaRPr lang="en-US" dirty="0"/>
              </a:p>
              <a:p>
                <a:pPr algn="ctr"/>
                <a:r>
                  <a:rPr lang="en-US" sz="1400" dirty="0">
                    <a:solidFill>
                      <a:srgbClr val="0B2B4E"/>
                    </a:solidFill>
                    <a:latin typeface="Calibri"/>
                  </a:rPr>
                  <a:t>where ATC is evaluated at the optimal point Q*</a:t>
                </a:r>
                <a:endParaRPr 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8215693" y="3654660"/>
                <a:ext cx="3794761" cy="624364"/>
              </a:xfrm>
              <a:prstGeom prst="roundRect">
                <a:avLst>
                  <a:gd name="adj" fmla="val 12000"/>
                </a:avLst>
              </a:prstGeom>
              <a:blipFill>
                <a:blip r:embed="rId4"/>
                <a:stretch>
                  <a:fillRect/>
                </a:stretch>
              </a:blipFill>
              <a:ln w="15875">
                <a:solidFill>
                  <a:srgbClr val="C00000"/>
                </a:solidFill>
              </a:ln>
              <a:effectLst>
                <a:outerShdw blurRad="50800" dist="38100" dir="2700000" algn="tl" rotWithShape="0">
                  <a:srgbClr val="000000">
                    <a:alpha val="50000"/>
                  </a:srgbClr>
                </a:outerShdw>
              </a:effectLst>
            </p:spPr>
            <p:txBody>
              <a:bodyPr/>
              <a:lstStyle/>
              <a:p>
                <a:r>
                  <a:rPr lang="en-US">
                    <a:noFill/>
                  </a:rPr>
                  <a:t> </a:t>
                </a:r>
              </a:p>
            </p:txBody>
          </p:sp>
        </mc:Fallback>
      </mc:AlternateContent>
      <p:sp>
        <p:nvSpPr>
          <p:cNvPr id="31" name="Rounded Rectangle 30"/>
          <p:cNvSpPr/>
          <p:nvPr/>
        </p:nvSpPr>
        <p:spPr>
          <a:xfrm>
            <a:off x="9098280" y="5961888"/>
            <a:ext cx="2834640" cy="457200"/>
          </a:xfrm>
          <a:prstGeom prst="roundRect">
            <a:avLst>
              <a:gd name="adj" fmla="val 50000"/>
            </a:avLst>
          </a:prstGeom>
          <a:solidFill>
            <a:srgbClr val="B8860B">
              <a:alpha val="35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  Yi Family 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childTnLst>
                                </p:cTn>
                              </p:par>
                              <p:par>
                                <p:cTn id="52" presetID="10" presetClass="entr" presetSubtype="0" fill="hold"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10"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Maximizing Profits in the Short Run: The General Case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 y="1335024"/>
            <a:ext cx="11466576" cy="475488"/>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Profit Levels for Different Market Prices</a:t>
            </a:r>
          </a:p>
        </p:txBody>
      </p:sp>
      <p:sp>
        <p:nvSpPr>
          <p:cNvPr id="8" name="Rounded Rectangle 7"/>
          <p:cNvSpPr/>
          <p:nvPr/>
        </p:nvSpPr>
        <p:spPr>
          <a:xfrm>
            <a:off x="502920" y="2077252"/>
            <a:ext cx="3566160" cy="475488"/>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Positive Profit</a:t>
            </a:r>
          </a:p>
        </p:txBody>
      </p:sp>
      <p:cxnSp>
        <p:nvCxnSpPr>
          <p:cNvPr id="9" name="Connector 8"/>
          <p:cNvCxnSpPr/>
          <p:nvPr/>
        </p:nvCxnSpPr>
        <p:spPr>
          <a:xfrm flipV="1">
            <a:off x="1188720" y="3000795"/>
            <a:ext cx="0" cy="2734057"/>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88720" y="5734852"/>
            <a:ext cx="277063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8591" y="2868207"/>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2" name="TextBox 11"/>
          <p:cNvSpPr txBox="1"/>
          <p:nvPr/>
        </p:nvSpPr>
        <p:spPr>
          <a:xfrm>
            <a:off x="3846576" y="5780571"/>
            <a:ext cx="225551" cy="265176"/>
          </a:xfrm>
          <a:prstGeom prst="rect">
            <a:avLst/>
          </a:prstGeom>
          <a:noFill/>
        </p:spPr>
        <p:txBody>
          <a:bodyPr wrap="square" lIns="0" tIns="0" rIns="0" bIns="0">
            <a:spAutoFit/>
          </a:bodyPr>
          <a:lstStyle/>
          <a:p>
            <a:pPr algn="l"/>
            <a:r>
              <a:rPr sz="1700" b="1" i="1" u="none">
                <a:solidFill>
                  <a:srgbClr val="0B2B4E"/>
                </a:solidFill>
                <a:latin typeface="Calibri"/>
              </a:rPr>
              <a:t>Q</a:t>
            </a:r>
          </a:p>
        </p:txBody>
      </p:sp>
      <p:sp>
        <p:nvSpPr>
          <p:cNvPr id="13" name="Rectangle 12"/>
          <p:cNvSpPr/>
          <p:nvPr/>
        </p:nvSpPr>
        <p:spPr>
          <a:xfrm>
            <a:off x="1188720" y="3706327"/>
            <a:ext cx="1487005" cy="470114"/>
          </a:xfrm>
          <a:prstGeom prst="rect">
            <a:avLst/>
          </a:prstGeom>
          <a:solidFill>
            <a:srgbClr val="C00000">
              <a:alpha val="22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521405" y="3219481"/>
            <a:ext cx="1607983" cy="1725598"/>
          </a:xfrm>
          <a:custGeom>
            <a:avLst/>
            <a:gdLst/>
            <a:ahLst/>
            <a:cxnLst/>
            <a:rect l="0" t="0" r="r" b="b"/>
            <a:pathLst>
              <a:path w="1607983" h="1725598">
                <a:moveTo>
                  <a:pt x="0" y="1725598"/>
                </a:moveTo>
                <a:cubicBezTo>
                  <a:pt x="66999" y="1653698"/>
                  <a:pt x="267997" y="1437998"/>
                  <a:pt x="401996" y="1294199"/>
                </a:cubicBezTo>
                <a:cubicBezTo>
                  <a:pt x="535994" y="1150399"/>
                  <a:pt x="669993" y="1006598"/>
                  <a:pt x="803992" y="862799"/>
                </a:cubicBezTo>
                <a:cubicBezTo>
                  <a:pt x="937990" y="718999"/>
                  <a:pt x="1071988" y="575199"/>
                  <a:pt x="1205987" y="431400"/>
                </a:cubicBezTo>
                <a:cubicBezTo>
                  <a:pt x="1339985" y="287600"/>
                  <a:pt x="1540983" y="71900"/>
                  <a:pt x="1607983"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521405" y="3658544"/>
            <a:ext cx="1607983" cy="623744"/>
          </a:xfrm>
          <a:custGeom>
            <a:avLst/>
            <a:gdLst/>
            <a:ahLst/>
            <a:cxnLst/>
            <a:rect l="0" t="0" r="r" b="b"/>
            <a:pathLst>
              <a:path w="1607983" h="623744">
                <a:moveTo>
                  <a:pt x="0" y="0"/>
                </a:moveTo>
                <a:cubicBezTo>
                  <a:pt x="33499" y="73986"/>
                  <a:pt x="133998" y="346266"/>
                  <a:pt x="200998" y="443921"/>
                </a:cubicBezTo>
                <a:cubicBezTo>
                  <a:pt x="267997" y="541575"/>
                  <a:pt x="334996" y="556484"/>
                  <a:pt x="401996" y="585929"/>
                </a:cubicBezTo>
                <a:cubicBezTo>
                  <a:pt x="468995" y="615374"/>
                  <a:pt x="535994" y="617437"/>
                  <a:pt x="602994" y="620591"/>
                </a:cubicBezTo>
                <a:cubicBezTo>
                  <a:pt x="669993" y="623744"/>
                  <a:pt x="736992" y="614711"/>
                  <a:pt x="803992" y="604852"/>
                </a:cubicBezTo>
                <a:cubicBezTo>
                  <a:pt x="870991" y="594992"/>
                  <a:pt x="937989" y="578711"/>
                  <a:pt x="1004989" y="561433"/>
                </a:cubicBezTo>
                <a:cubicBezTo>
                  <a:pt x="1071988" y="544154"/>
                  <a:pt x="1138987" y="523097"/>
                  <a:pt x="1205987" y="501180"/>
                </a:cubicBezTo>
                <a:cubicBezTo>
                  <a:pt x="1272986" y="479262"/>
                  <a:pt x="1339985" y="454942"/>
                  <a:pt x="1406985" y="429928"/>
                </a:cubicBezTo>
                <a:cubicBezTo>
                  <a:pt x="1473984" y="404914"/>
                  <a:pt x="1574483" y="364234"/>
                  <a:pt x="1607983" y="351096"/>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a:off x="1188720" y="3706327"/>
            <a:ext cx="2023839" cy="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54145" y="3550879"/>
            <a:ext cx="822960" cy="310896"/>
          </a:xfrm>
          <a:prstGeom prst="rect">
            <a:avLst/>
          </a:prstGeom>
          <a:noFill/>
        </p:spPr>
        <p:txBody>
          <a:bodyPr wrap="square" lIns="0" tIns="0" rIns="0" bIns="0">
            <a:spAutoFit/>
          </a:bodyPr>
          <a:lstStyle/>
          <a:p>
            <a:pPr algn="l"/>
            <a:r>
              <a:rPr sz="1500" b="1" i="1" u="none">
                <a:solidFill>
                  <a:srgbClr val="C00000"/>
                </a:solidFill>
                <a:latin typeface="Calibri"/>
              </a:rPr>
              <a:t>d = MR</a:t>
            </a:r>
          </a:p>
        </p:txBody>
      </p:sp>
      <p:cxnSp>
        <p:nvCxnSpPr>
          <p:cNvPr id="18" name="Connector 17"/>
          <p:cNvCxnSpPr/>
          <p:nvPr/>
        </p:nvCxnSpPr>
        <p:spPr>
          <a:xfrm flipV="1">
            <a:off x="2675725" y="3706327"/>
            <a:ext cx="0" cy="2028525"/>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505799" y="5789715"/>
            <a:ext cx="339852" cy="274320"/>
          </a:xfrm>
          <a:prstGeom prst="rect">
            <a:avLst/>
          </a:prstGeom>
          <a:noFill/>
        </p:spPr>
        <p:txBody>
          <a:bodyPr wrap="square" lIns="0" tIns="0" rIns="0" bIns="0">
            <a:spAutoFit/>
          </a:bodyPr>
          <a:lstStyle/>
          <a:p>
            <a:pPr algn="ctr"/>
            <a:r>
              <a:rPr sz="1700" b="1" i="1" u="none">
                <a:solidFill>
                  <a:srgbClr val="0B2B4E"/>
                </a:solidFill>
                <a:latin typeface="Calibri"/>
              </a:rPr>
              <a:t>Q*</a:t>
            </a:r>
          </a:p>
        </p:txBody>
      </p:sp>
      <p:sp>
        <p:nvSpPr>
          <p:cNvPr id="20" name="TextBox 19"/>
          <p:cNvSpPr txBox="1"/>
          <p:nvPr/>
        </p:nvSpPr>
        <p:spPr>
          <a:xfrm>
            <a:off x="918591" y="3569167"/>
            <a:ext cx="196976" cy="274320"/>
          </a:xfrm>
          <a:prstGeom prst="rect">
            <a:avLst/>
          </a:prstGeom>
          <a:noFill/>
        </p:spPr>
        <p:txBody>
          <a:bodyPr wrap="square" lIns="0" tIns="0" rIns="0" bIns="0">
            <a:spAutoFit/>
          </a:bodyPr>
          <a:lstStyle/>
          <a:p>
            <a:pPr algn="r"/>
            <a:r>
              <a:rPr sz="1700" b="1" i="1" u="none">
                <a:solidFill>
                  <a:srgbClr val="C00000"/>
                </a:solidFill>
                <a:latin typeface="Calibri"/>
              </a:rPr>
              <a:t>P</a:t>
            </a:r>
          </a:p>
        </p:txBody>
      </p:sp>
      <p:sp>
        <p:nvSpPr>
          <p:cNvPr id="21" name="TextBox 20"/>
          <p:cNvSpPr txBox="1"/>
          <p:nvPr/>
        </p:nvSpPr>
        <p:spPr>
          <a:xfrm>
            <a:off x="3073940" y="2992037"/>
            <a:ext cx="358902" cy="292608"/>
          </a:xfrm>
          <a:prstGeom prst="rect">
            <a:avLst/>
          </a:prstGeom>
          <a:noFill/>
        </p:spPr>
        <p:txBody>
          <a:bodyPr wrap="square" lIns="0" tIns="0" rIns="0" bIns="0">
            <a:spAutoFit/>
          </a:bodyPr>
          <a:lstStyle/>
          <a:p>
            <a:pPr algn="l"/>
            <a:r>
              <a:rPr sz="1600" b="1" i="1" u="none">
                <a:solidFill>
                  <a:srgbClr val="0B2B4E"/>
                </a:solidFill>
                <a:latin typeface="Calibri"/>
              </a:rPr>
              <a:t>MC</a:t>
            </a:r>
          </a:p>
        </p:txBody>
      </p:sp>
      <p:sp>
        <p:nvSpPr>
          <p:cNvPr id="22" name="TextBox 21"/>
          <p:cNvSpPr txBox="1"/>
          <p:nvPr/>
        </p:nvSpPr>
        <p:spPr>
          <a:xfrm>
            <a:off x="3190380" y="3903906"/>
            <a:ext cx="416052" cy="292608"/>
          </a:xfrm>
          <a:prstGeom prst="rect">
            <a:avLst/>
          </a:prstGeom>
          <a:noFill/>
        </p:spPr>
        <p:txBody>
          <a:bodyPr wrap="square" lIns="0" tIns="0" rIns="0" bIns="0">
            <a:spAutoFit/>
          </a:bodyPr>
          <a:lstStyle/>
          <a:p>
            <a:pPr algn="l"/>
            <a:r>
              <a:rPr sz="1600" b="1" i="1" u="none">
                <a:solidFill>
                  <a:srgbClr val="E09F3E"/>
                </a:solidFill>
                <a:latin typeface="Calibri"/>
              </a:rPr>
              <a:t>ATC</a:t>
            </a:r>
          </a:p>
        </p:txBody>
      </p:sp>
      <p:sp>
        <p:nvSpPr>
          <p:cNvPr id="23" name="TextBox 22"/>
          <p:cNvSpPr txBox="1"/>
          <p:nvPr/>
        </p:nvSpPr>
        <p:spPr>
          <a:xfrm>
            <a:off x="1520742" y="3817940"/>
            <a:ext cx="822960" cy="246888"/>
          </a:xfrm>
          <a:prstGeom prst="rect">
            <a:avLst/>
          </a:prstGeom>
          <a:noFill/>
        </p:spPr>
        <p:txBody>
          <a:bodyPr wrap="square" lIns="0" tIns="0" rIns="0" bIns="0">
            <a:spAutoFit/>
          </a:bodyPr>
          <a:lstStyle/>
          <a:p>
            <a:pPr algn="ctr"/>
            <a:r>
              <a:rPr sz="1600" b="1" i="0" u="none">
                <a:solidFill>
                  <a:srgbClr val="C00000"/>
                </a:solidFill>
                <a:latin typeface="Calibri"/>
              </a:rPr>
              <a:t>π &gt; 0</a:t>
            </a:r>
          </a:p>
        </p:txBody>
      </p:sp>
      <p:grpSp>
        <p:nvGrpSpPr>
          <p:cNvPr id="164" name="Group pair 164"/>
          <p:cNvGrpSpPr/>
          <p:nvPr/>
        </p:nvGrpSpPr>
        <p:grpSpPr>
          <a:xfrm>
            <a:off x="2194560" y="4674148"/>
            <a:ext cx="1536192" cy="310896"/>
            <a:chOff x="2194560" y="4517136"/>
            <a:chExt cx="1536192" cy="310896"/>
          </a:xfrm>
        </p:grpSpPr>
        <p:sp>
          <p:nvSpPr>
            <p:cNvPr id="24" name="Rounded Rectangle 23"/>
            <p:cNvSpPr/>
            <p:nvPr/>
          </p:nvSpPr>
          <p:spPr>
            <a:xfrm>
              <a:off x="2194560" y="4517136"/>
              <a:ext cx="1536192" cy="310896"/>
            </a:xfrm>
            <a:prstGeom prst="roundRect">
              <a:avLst>
                <a:gd name="adj" fmla="val 20000"/>
              </a:avLst>
            </a:prstGeom>
            <a:solidFill>
              <a:srgbClr val="FDF6E6"/>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31136" y="4535424"/>
              <a:ext cx="1463040" cy="274320"/>
            </a:xfrm>
            <a:prstGeom prst="rect">
              <a:avLst/>
            </a:prstGeom>
            <a:noFill/>
          </p:spPr>
          <p:txBody>
            <a:bodyPr wrap="square" lIns="45720" tIns="0" rIns="45720" bIns="0" anchor="ctr">
              <a:spAutoFit/>
            </a:bodyPr>
            <a:lstStyle/>
            <a:p>
              <a:pPr algn="ctr"/>
              <a:r>
                <a:rPr sz="1500" b="1" i="0" u="none">
                  <a:solidFill>
                    <a:srgbClr val="0B2B4E"/>
                  </a:solidFill>
                  <a:latin typeface="Calibri"/>
                </a:rPr>
                <a:t>P &gt; ATC at Q*</a:t>
              </a:r>
            </a:p>
          </p:txBody>
        </p:sp>
      </p:grpSp>
      <p:sp>
        <p:nvSpPr>
          <p:cNvPr id="26" name="Rounded Rectangle 25"/>
          <p:cNvSpPr/>
          <p:nvPr/>
        </p:nvSpPr>
        <p:spPr>
          <a:xfrm>
            <a:off x="4453128" y="2077252"/>
            <a:ext cx="3566160" cy="475488"/>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Zero Profit</a:t>
            </a:r>
          </a:p>
        </p:txBody>
      </p:sp>
      <p:cxnSp>
        <p:nvCxnSpPr>
          <p:cNvPr id="27" name="Connector 26"/>
          <p:cNvCxnSpPr/>
          <p:nvPr/>
        </p:nvCxnSpPr>
        <p:spPr>
          <a:xfrm flipV="1">
            <a:off x="5138928" y="3000795"/>
            <a:ext cx="0" cy="2734057"/>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38928" y="5734852"/>
            <a:ext cx="277063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868799" y="2868207"/>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30" name="TextBox 29"/>
          <p:cNvSpPr txBox="1"/>
          <p:nvPr/>
        </p:nvSpPr>
        <p:spPr>
          <a:xfrm>
            <a:off x="7796784" y="5780571"/>
            <a:ext cx="225551" cy="265176"/>
          </a:xfrm>
          <a:prstGeom prst="rect">
            <a:avLst/>
          </a:prstGeom>
          <a:noFill/>
        </p:spPr>
        <p:txBody>
          <a:bodyPr wrap="square" lIns="0" tIns="0" rIns="0" bIns="0">
            <a:spAutoFit/>
          </a:bodyPr>
          <a:lstStyle/>
          <a:p>
            <a:pPr algn="l"/>
            <a:r>
              <a:rPr sz="1700" b="1" i="1" u="none">
                <a:solidFill>
                  <a:srgbClr val="0B2B4E"/>
                </a:solidFill>
                <a:latin typeface="Calibri"/>
              </a:rPr>
              <a:t>Q</a:t>
            </a:r>
          </a:p>
        </p:txBody>
      </p:sp>
      <p:sp>
        <p:nvSpPr>
          <p:cNvPr id="31" name="Rectangle 30"/>
          <p:cNvSpPr/>
          <p:nvPr/>
        </p:nvSpPr>
        <p:spPr>
          <a:xfrm>
            <a:off x="5471613" y="3219481"/>
            <a:ext cx="1607983" cy="1725598"/>
          </a:xfrm>
          <a:custGeom>
            <a:avLst/>
            <a:gdLst/>
            <a:ahLst/>
            <a:cxnLst/>
            <a:rect l="0" t="0" r="r" b="b"/>
            <a:pathLst>
              <a:path w="1607983" h="1725598">
                <a:moveTo>
                  <a:pt x="0" y="1725598"/>
                </a:moveTo>
                <a:cubicBezTo>
                  <a:pt x="66999" y="1653698"/>
                  <a:pt x="267997" y="1437998"/>
                  <a:pt x="401996" y="1294199"/>
                </a:cubicBezTo>
                <a:cubicBezTo>
                  <a:pt x="535994" y="1150399"/>
                  <a:pt x="669993" y="1006598"/>
                  <a:pt x="803992" y="862799"/>
                </a:cubicBezTo>
                <a:cubicBezTo>
                  <a:pt x="937990" y="718999"/>
                  <a:pt x="1071988" y="575199"/>
                  <a:pt x="1205987" y="431400"/>
                </a:cubicBezTo>
                <a:cubicBezTo>
                  <a:pt x="1339985" y="287600"/>
                  <a:pt x="1540983" y="71900"/>
                  <a:pt x="1607983"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471613" y="3658544"/>
            <a:ext cx="1607983" cy="623744"/>
          </a:xfrm>
          <a:custGeom>
            <a:avLst/>
            <a:gdLst/>
            <a:ahLst/>
            <a:cxnLst/>
            <a:rect l="0" t="0" r="r" b="b"/>
            <a:pathLst>
              <a:path w="1607983" h="623744">
                <a:moveTo>
                  <a:pt x="0" y="0"/>
                </a:moveTo>
                <a:cubicBezTo>
                  <a:pt x="33499" y="73986"/>
                  <a:pt x="133998" y="346266"/>
                  <a:pt x="200998" y="443921"/>
                </a:cubicBezTo>
                <a:cubicBezTo>
                  <a:pt x="267997" y="541575"/>
                  <a:pt x="334996" y="556484"/>
                  <a:pt x="401996" y="585929"/>
                </a:cubicBezTo>
                <a:cubicBezTo>
                  <a:pt x="468995" y="615374"/>
                  <a:pt x="535994" y="617437"/>
                  <a:pt x="602994" y="620591"/>
                </a:cubicBezTo>
                <a:cubicBezTo>
                  <a:pt x="669993" y="623744"/>
                  <a:pt x="736992" y="614711"/>
                  <a:pt x="803992" y="604852"/>
                </a:cubicBezTo>
                <a:cubicBezTo>
                  <a:pt x="870991" y="594992"/>
                  <a:pt x="937989" y="578711"/>
                  <a:pt x="1004989" y="561433"/>
                </a:cubicBezTo>
                <a:cubicBezTo>
                  <a:pt x="1071988" y="544154"/>
                  <a:pt x="1138987" y="523097"/>
                  <a:pt x="1205987" y="501180"/>
                </a:cubicBezTo>
                <a:cubicBezTo>
                  <a:pt x="1272986" y="479262"/>
                  <a:pt x="1339985" y="454942"/>
                  <a:pt x="1406985" y="429928"/>
                </a:cubicBezTo>
                <a:cubicBezTo>
                  <a:pt x="1473984" y="404914"/>
                  <a:pt x="1574483" y="364234"/>
                  <a:pt x="1607983" y="351096"/>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5138928" y="4279309"/>
            <a:ext cx="2023839" cy="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204353" y="4123861"/>
            <a:ext cx="822960" cy="310896"/>
          </a:xfrm>
          <a:prstGeom prst="rect">
            <a:avLst/>
          </a:prstGeom>
          <a:noFill/>
        </p:spPr>
        <p:txBody>
          <a:bodyPr wrap="square" lIns="0" tIns="0" rIns="0" bIns="0">
            <a:spAutoFit/>
          </a:bodyPr>
          <a:lstStyle/>
          <a:p>
            <a:pPr algn="l"/>
            <a:r>
              <a:rPr sz="1500" b="1" i="1" u="none">
                <a:solidFill>
                  <a:srgbClr val="C00000"/>
                </a:solidFill>
                <a:latin typeface="Calibri"/>
              </a:rPr>
              <a:t>d = MR</a:t>
            </a:r>
          </a:p>
        </p:txBody>
      </p:sp>
      <p:cxnSp>
        <p:nvCxnSpPr>
          <p:cNvPr id="35" name="Connector 34"/>
          <p:cNvCxnSpPr/>
          <p:nvPr/>
        </p:nvCxnSpPr>
        <p:spPr>
          <a:xfrm flipV="1">
            <a:off x="6092006" y="4279309"/>
            <a:ext cx="0" cy="1455543"/>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22080" y="5789715"/>
            <a:ext cx="339852" cy="274320"/>
          </a:xfrm>
          <a:prstGeom prst="rect">
            <a:avLst/>
          </a:prstGeom>
          <a:noFill/>
        </p:spPr>
        <p:txBody>
          <a:bodyPr wrap="square" lIns="0" tIns="0" rIns="0" bIns="0">
            <a:spAutoFit/>
          </a:bodyPr>
          <a:lstStyle/>
          <a:p>
            <a:pPr algn="ctr"/>
            <a:r>
              <a:rPr sz="1700" b="1" i="1" u="none">
                <a:solidFill>
                  <a:srgbClr val="0B2B4E"/>
                </a:solidFill>
                <a:latin typeface="Calibri"/>
              </a:rPr>
              <a:t>Q*</a:t>
            </a:r>
          </a:p>
        </p:txBody>
      </p:sp>
      <p:sp>
        <p:nvSpPr>
          <p:cNvPr id="37" name="TextBox 36"/>
          <p:cNvSpPr txBox="1"/>
          <p:nvPr/>
        </p:nvSpPr>
        <p:spPr>
          <a:xfrm>
            <a:off x="4868799" y="4142149"/>
            <a:ext cx="196976" cy="274320"/>
          </a:xfrm>
          <a:prstGeom prst="rect">
            <a:avLst/>
          </a:prstGeom>
          <a:noFill/>
        </p:spPr>
        <p:txBody>
          <a:bodyPr wrap="square" lIns="0" tIns="0" rIns="0" bIns="0">
            <a:spAutoFit/>
          </a:bodyPr>
          <a:lstStyle/>
          <a:p>
            <a:pPr algn="r"/>
            <a:r>
              <a:rPr sz="1700" b="1" i="1" u="none">
                <a:solidFill>
                  <a:srgbClr val="C00000"/>
                </a:solidFill>
                <a:latin typeface="Calibri"/>
              </a:rPr>
              <a:t>P</a:t>
            </a:r>
          </a:p>
        </p:txBody>
      </p:sp>
      <p:sp>
        <p:nvSpPr>
          <p:cNvPr id="38" name="TextBox 37"/>
          <p:cNvSpPr txBox="1"/>
          <p:nvPr/>
        </p:nvSpPr>
        <p:spPr>
          <a:xfrm>
            <a:off x="7024148" y="2992037"/>
            <a:ext cx="358902" cy="292608"/>
          </a:xfrm>
          <a:prstGeom prst="rect">
            <a:avLst/>
          </a:prstGeom>
          <a:noFill/>
        </p:spPr>
        <p:txBody>
          <a:bodyPr wrap="square" lIns="0" tIns="0" rIns="0" bIns="0">
            <a:spAutoFit/>
          </a:bodyPr>
          <a:lstStyle/>
          <a:p>
            <a:pPr algn="l"/>
            <a:r>
              <a:rPr sz="1600" b="1" i="1" u="none">
                <a:solidFill>
                  <a:srgbClr val="0B2B4E"/>
                </a:solidFill>
                <a:latin typeface="Calibri"/>
              </a:rPr>
              <a:t>MC</a:t>
            </a:r>
          </a:p>
        </p:txBody>
      </p:sp>
      <p:sp>
        <p:nvSpPr>
          <p:cNvPr id="39" name="TextBox 38"/>
          <p:cNvSpPr txBox="1"/>
          <p:nvPr/>
        </p:nvSpPr>
        <p:spPr>
          <a:xfrm>
            <a:off x="7140588" y="3903906"/>
            <a:ext cx="416052" cy="292608"/>
          </a:xfrm>
          <a:prstGeom prst="rect">
            <a:avLst/>
          </a:prstGeom>
          <a:noFill/>
        </p:spPr>
        <p:txBody>
          <a:bodyPr wrap="square" lIns="0" tIns="0" rIns="0" bIns="0">
            <a:spAutoFit/>
          </a:bodyPr>
          <a:lstStyle/>
          <a:p>
            <a:pPr algn="l"/>
            <a:r>
              <a:rPr sz="1600" b="1" i="1" u="none">
                <a:solidFill>
                  <a:srgbClr val="E09F3E"/>
                </a:solidFill>
                <a:latin typeface="Calibri"/>
              </a:rPr>
              <a:t>ATC</a:t>
            </a:r>
          </a:p>
        </p:txBody>
      </p:sp>
      <p:grpSp>
        <p:nvGrpSpPr>
          <p:cNvPr id="165" name="Group pair 165"/>
          <p:cNvGrpSpPr/>
          <p:nvPr/>
        </p:nvGrpSpPr>
        <p:grpSpPr>
          <a:xfrm>
            <a:off x="6144768" y="4674148"/>
            <a:ext cx="1536192" cy="310896"/>
            <a:chOff x="6144768" y="4517136"/>
            <a:chExt cx="1536192" cy="310896"/>
          </a:xfrm>
        </p:grpSpPr>
        <p:sp>
          <p:nvSpPr>
            <p:cNvPr id="40" name="Rounded Rectangle 39"/>
            <p:cNvSpPr/>
            <p:nvPr/>
          </p:nvSpPr>
          <p:spPr>
            <a:xfrm>
              <a:off x="6144768" y="4517136"/>
              <a:ext cx="1536192" cy="310896"/>
            </a:xfrm>
            <a:prstGeom prst="roundRect">
              <a:avLst>
                <a:gd name="adj" fmla="val 20000"/>
              </a:avLst>
            </a:prstGeom>
            <a:solidFill>
              <a:srgbClr val="FDF6E6"/>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181344" y="4535424"/>
              <a:ext cx="1463040" cy="274320"/>
            </a:xfrm>
            <a:prstGeom prst="rect">
              <a:avLst/>
            </a:prstGeom>
            <a:noFill/>
          </p:spPr>
          <p:txBody>
            <a:bodyPr wrap="square" lIns="45720" tIns="0" rIns="45720" bIns="0" anchor="ctr">
              <a:spAutoFit/>
            </a:bodyPr>
            <a:lstStyle/>
            <a:p>
              <a:pPr algn="ctr"/>
              <a:r>
                <a:rPr sz="1500" b="1" i="0" u="none">
                  <a:solidFill>
                    <a:srgbClr val="0B2B4E"/>
                  </a:solidFill>
                  <a:latin typeface="Calibri"/>
                </a:rPr>
                <a:t>P = ATC at Q*</a:t>
              </a:r>
            </a:p>
          </p:txBody>
        </p:sp>
      </p:grpSp>
      <p:sp>
        <p:nvSpPr>
          <p:cNvPr id="42" name="Rounded Rectangle 41"/>
          <p:cNvSpPr/>
          <p:nvPr/>
        </p:nvSpPr>
        <p:spPr>
          <a:xfrm>
            <a:off x="8403336" y="2077252"/>
            <a:ext cx="3566160" cy="475488"/>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Negative Profit (Loss)</a:t>
            </a:r>
          </a:p>
        </p:txBody>
      </p:sp>
      <p:cxnSp>
        <p:nvCxnSpPr>
          <p:cNvPr id="43" name="Connector 42"/>
          <p:cNvCxnSpPr/>
          <p:nvPr/>
        </p:nvCxnSpPr>
        <p:spPr>
          <a:xfrm flipV="1">
            <a:off x="9089136" y="3000795"/>
            <a:ext cx="0" cy="2734057"/>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089136" y="5734852"/>
            <a:ext cx="277063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819007" y="2868207"/>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46" name="TextBox 45"/>
          <p:cNvSpPr txBox="1"/>
          <p:nvPr/>
        </p:nvSpPr>
        <p:spPr>
          <a:xfrm>
            <a:off x="11746992" y="5780571"/>
            <a:ext cx="225551" cy="265176"/>
          </a:xfrm>
          <a:prstGeom prst="rect">
            <a:avLst/>
          </a:prstGeom>
          <a:noFill/>
        </p:spPr>
        <p:txBody>
          <a:bodyPr wrap="square" lIns="0" tIns="0" rIns="0" bIns="0">
            <a:spAutoFit/>
          </a:bodyPr>
          <a:lstStyle/>
          <a:p>
            <a:pPr algn="l"/>
            <a:r>
              <a:rPr sz="1700" b="1" i="1" u="none">
                <a:solidFill>
                  <a:srgbClr val="0B2B4E"/>
                </a:solidFill>
                <a:latin typeface="Calibri"/>
              </a:rPr>
              <a:t>Q</a:t>
            </a:r>
          </a:p>
        </p:txBody>
      </p:sp>
      <p:sp>
        <p:nvSpPr>
          <p:cNvPr id="47" name="Rectangle 46"/>
          <p:cNvSpPr/>
          <p:nvPr/>
        </p:nvSpPr>
        <p:spPr>
          <a:xfrm>
            <a:off x="9089136" y="4232778"/>
            <a:ext cx="705697" cy="312006"/>
          </a:xfrm>
          <a:prstGeom prst="rect">
            <a:avLst/>
          </a:prstGeom>
          <a:solidFill>
            <a:srgbClr val="555B66">
              <a:alpha val="22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9421821" y="3219481"/>
            <a:ext cx="1607983" cy="1725598"/>
          </a:xfrm>
          <a:custGeom>
            <a:avLst/>
            <a:gdLst/>
            <a:ahLst/>
            <a:cxnLst/>
            <a:rect l="0" t="0" r="r" b="b"/>
            <a:pathLst>
              <a:path w="1607983" h="1725598">
                <a:moveTo>
                  <a:pt x="0" y="1725598"/>
                </a:moveTo>
                <a:cubicBezTo>
                  <a:pt x="66999" y="1653698"/>
                  <a:pt x="267997" y="1437998"/>
                  <a:pt x="401996" y="1294199"/>
                </a:cubicBezTo>
                <a:cubicBezTo>
                  <a:pt x="535994" y="1150399"/>
                  <a:pt x="669993" y="1006598"/>
                  <a:pt x="803992" y="862799"/>
                </a:cubicBezTo>
                <a:cubicBezTo>
                  <a:pt x="937990" y="718999"/>
                  <a:pt x="1071988" y="575199"/>
                  <a:pt x="1205987" y="431400"/>
                </a:cubicBezTo>
                <a:cubicBezTo>
                  <a:pt x="1339985" y="287600"/>
                  <a:pt x="1540983" y="71900"/>
                  <a:pt x="1607983"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421821" y="3658544"/>
            <a:ext cx="1607983" cy="623744"/>
          </a:xfrm>
          <a:custGeom>
            <a:avLst/>
            <a:gdLst/>
            <a:ahLst/>
            <a:cxnLst/>
            <a:rect l="0" t="0" r="r" b="b"/>
            <a:pathLst>
              <a:path w="1607983" h="623744">
                <a:moveTo>
                  <a:pt x="0" y="0"/>
                </a:moveTo>
                <a:cubicBezTo>
                  <a:pt x="33499" y="73986"/>
                  <a:pt x="133998" y="346266"/>
                  <a:pt x="200998" y="443921"/>
                </a:cubicBezTo>
                <a:cubicBezTo>
                  <a:pt x="267997" y="541575"/>
                  <a:pt x="334996" y="556484"/>
                  <a:pt x="401996" y="585929"/>
                </a:cubicBezTo>
                <a:cubicBezTo>
                  <a:pt x="468995" y="615374"/>
                  <a:pt x="535994" y="617437"/>
                  <a:pt x="602994" y="620591"/>
                </a:cubicBezTo>
                <a:cubicBezTo>
                  <a:pt x="669993" y="623744"/>
                  <a:pt x="736992" y="614711"/>
                  <a:pt x="803992" y="604852"/>
                </a:cubicBezTo>
                <a:cubicBezTo>
                  <a:pt x="870991" y="594992"/>
                  <a:pt x="937989" y="578711"/>
                  <a:pt x="1004989" y="561433"/>
                </a:cubicBezTo>
                <a:cubicBezTo>
                  <a:pt x="1071988" y="544154"/>
                  <a:pt x="1138987" y="523097"/>
                  <a:pt x="1205987" y="501180"/>
                </a:cubicBezTo>
                <a:cubicBezTo>
                  <a:pt x="1272986" y="479262"/>
                  <a:pt x="1339985" y="454942"/>
                  <a:pt x="1406985" y="429928"/>
                </a:cubicBezTo>
                <a:cubicBezTo>
                  <a:pt x="1473984" y="404914"/>
                  <a:pt x="1574483" y="364234"/>
                  <a:pt x="1607983" y="351096"/>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0" name="Connector 49"/>
          <p:cNvCxnSpPr/>
          <p:nvPr/>
        </p:nvCxnSpPr>
        <p:spPr>
          <a:xfrm>
            <a:off x="9089136" y="4544784"/>
            <a:ext cx="2023839" cy="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1154561" y="4389336"/>
            <a:ext cx="822960" cy="310896"/>
          </a:xfrm>
          <a:prstGeom prst="rect">
            <a:avLst/>
          </a:prstGeom>
          <a:noFill/>
        </p:spPr>
        <p:txBody>
          <a:bodyPr wrap="square" lIns="0" tIns="0" rIns="0" bIns="0">
            <a:spAutoFit/>
          </a:bodyPr>
          <a:lstStyle/>
          <a:p>
            <a:pPr algn="l"/>
            <a:r>
              <a:rPr sz="1500" b="1" i="1" u="none">
                <a:solidFill>
                  <a:srgbClr val="C00000"/>
                </a:solidFill>
                <a:latin typeface="Calibri"/>
              </a:rPr>
              <a:t>d = MR</a:t>
            </a:r>
          </a:p>
        </p:txBody>
      </p:sp>
      <p:cxnSp>
        <p:nvCxnSpPr>
          <p:cNvPr id="52" name="Connector 51"/>
          <p:cNvCxnSpPr/>
          <p:nvPr/>
        </p:nvCxnSpPr>
        <p:spPr>
          <a:xfrm flipV="1">
            <a:off x="9794833" y="4544784"/>
            <a:ext cx="0" cy="1190068"/>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624907" y="5789715"/>
            <a:ext cx="339852" cy="274320"/>
          </a:xfrm>
          <a:prstGeom prst="rect">
            <a:avLst/>
          </a:prstGeom>
          <a:noFill/>
        </p:spPr>
        <p:txBody>
          <a:bodyPr wrap="square" lIns="0" tIns="0" rIns="0" bIns="0">
            <a:spAutoFit/>
          </a:bodyPr>
          <a:lstStyle/>
          <a:p>
            <a:pPr algn="ctr"/>
            <a:r>
              <a:rPr sz="1700" b="1" i="1" u="none">
                <a:solidFill>
                  <a:srgbClr val="0B2B4E"/>
                </a:solidFill>
                <a:latin typeface="Calibri"/>
              </a:rPr>
              <a:t>Q*</a:t>
            </a:r>
          </a:p>
        </p:txBody>
      </p:sp>
      <p:sp>
        <p:nvSpPr>
          <p:cNvPr id="54" name="TextBox 53"/>
          <p:cNvSpPr txBox="1"/>
          <p:nvPr/>
        </p:nvSpPr>
        <p:spPr>
          <a:xfrm>
            <a:off x="8819007" y="4407624"/>
            <a:ext cx="196976" cy="274320"/>
          </a:xfrm>
          <a:prstGeom prst="rect">
            <a:avLst/>
          </a:prstGeom>
          <a:noFill/>
        </p:spPr>
        <p:txBody>
          <a:bodyPr wrap="square" lIns="0" tIns="0" rIns="0" bIns="0">
            <a:spAutoFit/>
          </a:bodyPr>
          <a:lstStyle/>
          <a:p>
            <a:pPr algn="r"/>
            <a:r>
              <a:rPr sz="1700" b="1" i="1" u="none">
                <a:solidFill>
                  <a:srgbClr val="C00000"/>
                </a:solidFill>
                <a:latin typeface="Calibri"/>
              </a:rPr>
              <a:t>P</a:t>
            </a:r>
          </a:p>
        </p:txBody>
      </p:sp>
      <p:sp>
        <p:nvSpPr>
          <p:cNvPr id="55" name="TextBox 54"/>
          <p:cNvSpPr txBox="1"/>
          <p:nvPr/>
        </p:nvSpPr>
        <p:spPr>
          <a:xfrm>
            <a:off x="10974356" y="2992037"/>
            <a:ext cx="358902" cy="292608"/>
          </a:xfrm>
          <a:prstGeom prst="rect">
            <a:avLst/>
          </a:prstGeom>
          <a:noFill/>
        </p:spPr>
        <p:txBody>
          <a:bodyPr wrap="square" lIns="0" tIns="0" rIns="0" bIns="0">
            <a:spAutoFit/>
          </a:bodyPr>
          <a:lstStyle/>
          <a:p>
            <a:pPr algn="l"/>
            <a:r>
              <a:rPr sz="1600" b="1" i="1" u="none">
                <a:solidFill>
                  <a:srgbClr val="0B2B4E"/>
                </a:solidFill>
                <a:latin typeface="Calibri"/>
              </a:rPr>
              <a:t>MC</a:t>
            </a:r>
          </a:p>
        </p:txBody>
      </p:sp>
      <p:sp>
        <p:nvSpPr>
          <p:cNvPr id="56" name="TextBox 55"/>
          <p:cNvSpPr txBox="1"/>
          <p:nvPr/>
        </p:nvSpPr>
        <p:spPr>
          <a:xfrm>
            <a:off x="11090796" y="3903906"/>
            <a:ext cx="416052" cy="292608"/>
          </a:xfrm>
          <a:prstGeom prst="rect">
            <a:avLst/>
          </a:prstGeom>
          <a:noFill/>
        </p:spPr>
        <p:txBody>
          <a:bodyPr wrap="square" lIns="0" tIns="0" rIns="0" bIns="0">
            <a:spAutoFit/>
          </a:bodyPr>
          <a:lstStyle/>
          <a:p>
            <a:pPr algn="l"/>
            <a:r>
              <a:rPr sz="1600" b="1" i="1" u="none">
                <a:solidFill>
                  <a:srgbClr val="E09F3E"/>
                </a:solidFill>
                <a:latin typeface="Calibri"/>
              </a:rPr>
              <a:t>ATC</a:t>
            </a:r>
          </a:p>
        </p:txBody>
      </p:sp>
      <p:sp>
        <p:nvSpPr>
          <p:cNvPr id="57" name="TextBox 56"/>
          <p:cNvSpPr txBox="1"/>
          <p:nvPr/>
        </p:nvSpPr>
        <p:spPr>
          <a:xfrm>
            <a:off x="9030504" y="4265337"/>
            <a:ext cx="822960" cy="246888"/>
          </a:xfrm>
          <a:prstGeom prst="rect">
            <a:avLst/>
          </a:prstGeom>
          <a:noFill/>
        </p:spPr>
        <p:txBody>
          <a:bodyPr wrap="square" lIns="0" tIns="0" rIns="0" bIns="0">
            <a:spAutoFit/>
          </a:bodyPr>
          <a:lstStyle/>
          <a:p>
            <a:pPr algn="ctr"/>
            <a:r>
              <a:rPr sz="1600" b="1" i="0" u="none">
                <a:solidFill>
                  <a:srgbClr val="0B2B4E"/>
                </a:solidFill>
                <a:latin typeface="Calibri"/>
              </a:rPr>
              <a:t>π &lt; 0</a:t>
            </a:r>
          </a:p>
        </p:txBody>
      </p:sp>
      <p:grpSp>
        <p:nvGrpSpPr>
          <p:cNvPr id="166" name="Group pair 166"/>
          <p:cNvGrpSpPr/>
          <p:nvPr/>
        </p:nvGrpSpPr>
        <p:grpSpPr>
          <a:xfrm>
            <a:off x="10094976" y="4674148"/>
            <a:ext cx="1536192" cy="310896"/>
            <a:chOff x="10094976" y="4517136"/>
            <a:chExt cx="1536192" cy="310896"/>
          </a:xfrm>
        </p:grpSpPr>
        <p:sp>
          <p:nvSpPr>
            <p:cNvPr id="58" name="Rounded Rectangle 57"/>
            <p:cNvSpPr/>
            <p:nvPr/>
          </p:nvSpPr>
          <p:spPr>
            <a:xfrm>
              <a:off x="10094976" y="4517136"/>
              <a:ext cx="1536192" cy="310896"/>
            </a:xfrm>
            <a:prstGeom prst="roundRect">
              <a:avLst>
                <a:gd name="adj" fmla="val 20000"/>
              </a:avLst>
            </a:prstGeom>
            <a:solidFill>
              <a:srgbClr val="FDF6E6"/>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131552" y="4535424"/>
              <a:ext cx="1463040" cy="274320"/>
            </a:xfrm>
            <a:prstGeom prst="rect">
              <a:avLst/>
            </a:prstGeom>
            <a:noFill/>
          </p:spPr>
          <p:txBody>
            <a:bodyPr wrap="square" lIns="45720" tIns="0" rIns="45720" bIns="0" anchor="ctr">
              <a:spAutoFit/>
            </a:bodyPr>
            <a:lstStyle/>
            <a:p>
              <a:pPr algn="ctr"/>
              <a:r>
                <a:rPr sz="1500" b="1" i="0" u="none">
                  <a:solidFill>
                    <a:srgbClr val="0B2B4E"/>
                  </a:solidFill>
                  <a:latin typeface="Calibri"/>
                </a:rPr>
                <a:t>P &lt; ATC at Q*</a:t>
              </a:r>
            </a:p>
          </p:txBody>
        </p:sp>
      </p:grpSp>
      <p:sp>
        <p:nvSpPr>
          <p:cNvPr id="60" name="Rectangle 5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63" name="TextBox 62"/>
          <p:cNvSpPr txBox="1"/>
          <p:nvPr/>
        </p:nvSpPr>
        <p:spPr>
          <a:xfrm>
            <a:off x="11475720" y="6583680"/>
            <a:ext cx="502920" cy="292608"/>
          </a:xfrm>
          <a:prstGeom prst="rect">
            <a:avLst/>
          </a:prstGeom>
          <a:noFill/>
        </p:spPr>
        <p:txBody>
          <a:bodyPr wrap="none" lIns="0" tIns="0" rIns="0" bIns="0">
            <a:spAutoFit/>
          </a:bodyPr>
          <a:lstStyle/>
          <a:p>
            <a:pPr algn="r"/>
            <a:fld id="{7373E417-ECEB-5E52-B810-17214CB68111}" type="slidenum">
              <a:rPr lang="en-US" sz="1200" dirty="0">
                <a:solidFill>
                  <a:srgbClr val="555B66"/>
                </a:solidFill>
                <a:latin typeface="Calibri"/>
              </a:rPr>
              <a:t>16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6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9"/>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50"/>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1"/>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5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3"/>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4"/>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5"/>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6"/>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7"/>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2" grpId="0"/>
      <p:bldP spid="13" grpId="0" animBg="1"/>
      <p:bldP spid="14" grpId="0" animBg="1"/>
      <p:bldP spid="15" grpId="0" animBg="1"/>
      <p:bldP spid="17" grpId="0"/>
      <p:bldP spid="19" grpId="0"/>
      <p:bldP spid="20" grpId="0"/>
      <p:bldP spid="21" grpId="0"/>
      <p:bldP spid="22" grpId="0"/>
      <p:bldP spid="23" grpId="0"/>
      <p:bldP spid="26" grpId="0" animBg="1"/>
      <p:bldP spid="29" grpId="0"/>
      <p:bldP spid="30" grpId="0"/>
      <p:bldP spid="31" grpId="0" animBg="1"/>
      <p:bldP spid="32" grpId="0" animBg="1"/>
      <p:bldP spid="34" grpId="0"/>
      <p:bldP spid="36" grpId="0"/>
      <p:bldP spid="37" grpId="0"/>
      <p:bldP spid="38" grpId="0"/>
      <p:bldP spid="39" grpId="0"/>
      <p:bldP spid="42" grpId="0" animBg="1"/>
      <p:bldP spid="45" grpId="0"/>
      <p:bldP spid="46" grpId="0"/>
      <p:bldP spid="47" grpId="0" animBg="1"/>
      <p:bldP spid="48" grpId="0" animBg="1"/>
      <p:bldP spid="49" grpId="0" animBg="1"/>
      <p:bldP spid="51" grpId="0"/>
      <p:bldP spid="53" grpId="0"/>
      <p:bldP spid="54" grpId="0"/>
      <p:bldP spid="55" grpId="0"/>
      <p:bldP spid="56" grpId="0"/>
      <p:bldP spid="5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If Profit Is Negative, Should a Firm Stop Production / Shut Down?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371600"/>
            <a:ext cx="10908792" cy="566928"/>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“Shutting down” in the long run is different from “Stopping production” in the short run</a:t>
            </a:r>
          </a:p>
        </p:txBody>
      </p:sp>
      <p:grpSp>
        <p:nvGrpSpPr>
          <p:cNvPr id="120" name="Group pair 120"/>
          <p:cNvGrpSpPr/>
          <p:nvPr/>
        </p:nvGrpSpPr>
        <p:grpSpPr>
          <a:xfrm>
            <a:off x="640080" y="2011680"/>
            <a:ext cx="5456224" cy="1783080"/>
            <a:chOff x="640080" y="2011680"/>
            <a:chExt cx="5456224" cy="1783080"/>
          </a:xfrm>
        </p:grpSpPr>
        <p:sp>
          <p:nvSpPr>
            <p:cNvPr id="8" name="Rounded Rectangle 7"/>
            <p:cNvSpPr/>
            <p:nvPr/>
          </p:nvSpPr>
          <p:spPr>
            <a:xfrm>
              <a:off x="640080" y="2011680"/>
              <a:ext cx="5456224" cy="178308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121408"/>
              <a:ext cx="5456224" cy="1563624"/>
            </a:xfrm>
            <a:prstGeom prst="rect">
              <a:avLst/>
            </a:prstGeom>
            <a:noFill/>
          </p:spPr>
          <p:txBody>
            <a:bodyPr wrap="square" lIns="45720" tIns="0" rIns="45720" bIns="0" anchor="t">
              <a:spAutoFit/>
            </a:bodyPr>
            <a:lstStyle/>
            <a:p>
              <a:pPr algn="ctr">
                <a:spcBef>
                  <a:spcPts val="600"/>
                </a:spcBef>
              </a:pPr>
              <a:r>
                <a:rPr sz="2400" b="1" i="0" u="none">
                  <a:solidFill>
                    <a:srgbClr val="0B2B4E"/>
                  </a:solidFill>
                  <a:latin typeface="Calibri"/>
                </a:rPr>
                <a:t>Short Run</a:t>
              </a:r>
              <a:r>
                <a:rPr sz="1900" b="1" i="0" u="none">
                  <a:solidFill>
                    <a:srgbClr val="0B2B4E"/>
                  </a:solidFill>
                  <a:latin typeface="Calibri"/>
                </a:rPr>
                <a:t>
</a:t>
              </a:r>
              <a:r>
                <a:rPr sz="1700" b="0" i="0" u="none">
                  <a:solidFill>
                    <a:srgbClr val="0B2B4E"/>
                  </a:solidFill>
                  <a:latin typeface="Calibri"/>
                </a:rPr>
                <a:t>Temporarily halt production, with the option to restart later
</a:t>
              </a:r>
              <a:r>
                <a:rPr sz="1700" b="1" i="0" u="none">
                  <a:solidFill>
                    <a:srgbClr val="C00000"/>
                  </a:solidFill>
                  <a:latin typeface="Calibri"/>
                </a:rPr>
                <a:t>Fixed costs still have to be paid
</a:t>
              </a:r>
              <a:r>
                <a:rPr sz="1700" b="0" i="0" u="none">
                  <a:solidFill>
                    <a:srgbClr val="0B2B4E"/>
                  </a:solidFill>
                  <a:latin typeface="Calibri"/>
                </a:rPr>
                <a:t>— e.g. a building rent or a business truck lease</a:t>
              </a:r>
            </a:p>
          </p:txBody>
        </p:sp>
      </p:grpSp>
      <p:grpSp>
        <p:nvGrpSpPr>
          <p:cNvPr id="121" name="Group pair 121"/>
          <p:cNvGrpSpPr/>
          <p:nvPr/>
        </p:nvGrpSpPr>
        <p:grpSpPr>
          <a:xfrm>
            <a:off x="6437376" y="2011680"/>
            <a:ext cx="5111496" cy="1783080"/>
            <a:chOff x="6437376" y="2011680"/>
            <a:chExt cx="5111496" cy="1783080"/>
          </a:xfrm>
        </p:grpSpPr>
        <p:sp>
          <p:nvSpPr>
            <p:cNvPr id="10" name="Rounded Rectangle 9"/>
            <p:cNvSpPr/>
            <p:nvPr/>
          </p:nvSpPr>
          <p:spPr>
            <a:xfrm>
              <a:off x="6437376" y="2011680"/>
              <a:ext cx="5111496" cy="178308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37376" y="2121408"/>
              <a:ext cx="5111496" cy="1563624"/>
            </a:xfrm>
            <a:prstGeom prst="rect">
              <a:avLst/>
            </a:prstGeom>
            <a:noFill/>
          </p:spPr>
          <p:txBody>
            <a:bodyPr wrap="square" lIns="45720" tIns="0" rIns="45720" bIns="0" anchor="t">
              <a:spAutoFit/>
            </a:bodyPr>
            <a:lstStyle/>
            <a:p>
              <a:pPr algn="ctr">
                <a:spcBef>
                  <a:spcPts val="600"/>
                </a:spcBef>
              </a:pPr>
              <a:r>
                <a:rPr sz="2400" b="1" i="0" u="none">
                  <a:solidFill>
                    <a:srgbClr val="0B2B4E"/>
                  </a:solidFill>
                  <a:latin typeface="Calibri"/>
                </a:rPr>
                <a:t>Long Run</a:t>
              </a:r>
              <a:r>
                <a:rPr sz="1900" b="1" i="0" u="none">
                  <a:solidFill>
                    <a:srgbClr val="0B2B4E"/>
                  </a:solidFill>
                  <a:latin typeface="Calibri"/>
                </a:rPr>
                <a:t>
</a:t>
              </a:r>
              <a:r>
                <a:rPr sz="1700" b="0" i="0" u="none">
                  <a:solidFill>
                    <a:srgbClr val="0B2B4E"/>
                  </a:solidFill>
                  <a:latin typeface="Calibri"/>
                </a:rPr>
                <a:t>Exit the industry altogether, shut down
</a:t>
              </a:r>
              <a:r>
                <a:rPr sz="1700" b="1" i="0" u="none">
                  <a:solidFill>
                    <a:srgbClr val="C00000"/>
                  </a:solidFill>
                  <a:latin typeface="Calibri"/>
                </a:rPr>
                <a:t>No further payment of fixed costs
</a:t>
              </a:r>
              <a:r>
                <a:rPr sz="1700" b="0" i="0" u="none">
                  <a:solidFill>
                    <a:srgbClr val="0B2B4E"/>
                  </a:solidFill>
                  <a:latin typeface="Calibri"/>
                </a:rPr>
                <a:t>— e.g. sell the truck and let the building lease expire</a:t>
              </a:r>
            </a:p>
          </p:txBody>
        </p:sp>
      </p:grpSp>
      <p:sp>
        <p:nvSpPr>
          <p:cNvPr id="12" name="Rounded Rectangle 11"/>
          <p:cNvSpPr/>
          <p:nvPr/>
        </p:nvSpPr>
        <p:spPr>
          <a:xfrm>
            <a:off x="640080" y="3895344"/>
            <a:ext cx="10908792" cy="530352"/>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rgbClr val="0B2B4E"/>
                </a:solidFill>
                <a:latin typeface="Calibri"/>
              </a:rPr>
              <a:t>We decompose TC into TVC (Short Run) and TFC (Long Run)</a:t>
            </a:r>
            <a:r>
              <a:rPr sz="2000" b="1" dirty="0">
                <a:solidFill>
                  <a:srgbClr val="0B2B4E"/>
                </a:solidFill>
                <a:latin typeface="Calibri"/>
              </a:rPr>
              <a:t>:</a:t>
            </a:r>
          </a:p>
        </p:txBody>
      </p:sp>
      <mc:AlternateContent xmlns:mc="http://schemas.openxmlformats.org/markup-compatibility/2006">
        <mc:Choice xmlns:a14="http://schemas.microsoft.com/office/drawing/2010/main" Requires="a14">
          <p:sp>
            <p:nvSpPr>
              <p:cNvPr id="13" name="TextBox 12"/>
              <p:cNvSpPr txBox="1"/>
              <p:nvPr/>
            </p:nvSpPr>
            <p:spPr>
              <a:xfrm>
                <a:off x="1097280" y="4568986"/>
                <a:ext cx="9235440" cy="774123"/>
              </a:xfrm>
              <a:prstGeom prst="rect">
                <a:avLst/>
              </a:prstGeom>
              <a:noFill/>
            </p:spPr>
            <p:txBody>
              <a:bodyPr wrap="square" anchor="ctr">
                <a:spAutoFit/>
              </a:bodyPr>
              <a:lstStyle/>
              <a:p>
                <a:pPr algn="ctr">
                  <a:defRPr sz="2600" b="0" i="1">
                    <a:solidFill>
                      <a:srgbClr val="0B2B4E"/>
                    </a:solidFill>
                    <a:latin typeface="Cambria Math"/>
                  </a:defRPr>
                </a:pPr>
                <a14:m>
                  <m:oMath xmlns:m="http://schemas.openxmlformats.org/officeDocument/2006/math">
                    <m:r>
                      <m:rPr>
                        <m:sty m:val="p"/>
                      </m:rPr>
                      <a:rPr lang="en-US" sz="2600" b="0" i="0" smtClean="0">
                        <a:solidFill>
                          <a:srgbClr val="0B2B4E"/>
                        </a:solidFill>
                        <a:latin typeface="Cambria Math"/>
                      </a:rPr>
                      <m:t>Short</m:t>
                    </m:r>
                    <m:r>
                      <a:rPr lang="en-US" sz="2600" b="0" i="0" smtClean="0">
                        <a:solidFill>
                          <a:srgbClr val="0B2B4E"/>
                        </a:solidFill>
                        <a:latin typeface="Cambria Math"/>
                      </a:rPr>
                      <m:t> </m:t>
                    </m:r>
                    <m:r>
                      <m:rPr>
                        <m:sty m:val="p"/>
                      </m:rPr>
                      <a:rPr lang="en-US" sz="2600" b="0" i="0" smtClean="0">
                        <a:solidFill>
                          <a:srgbClr val="0B2B4E"/>
                        </a:solidFill>
                        <a:latin typeface="Cambria Math"/>
                      </a:rPr>
                      <m:t>run</m:t>
                    </m:r>
                    <m:r>
                      <a:rPr lang="en-US" sz="2600" b="0" i="0" smtClean="0">
                        <a:solidFill>
                          <a:srgbClr val="0B2B4E"/>
                        </a:solidFill>
                        <a:latin typeface="Cambria Math"/>
                      </a:rPr>
                      <m:t>:   </m:t>
                    </m:r>
                    <m:r>
                      <m:rPr>
                        <m:sty m:val="p"/>
                      </m:rPr>
                      <a:rPr lang="en-US" sz="2600" b="0" i="0" smtClean="0">
                        <a:solidFill>
                          <a:srgbClr val="0B2B4E"/>
                        </a:solidFill>
                        <a:latin typeface="Cambria Math"/>
                      </a:rPr>
                      <m:t>Profit</m:t>
                    </m:r>
                    <m:r>
                      <a:rPr lang="en-US" sz="2600" b="0" i="0" smtClean="0">
                        <a:solidFill>
                          <a:srgbClr val="0B2B4E"/>
                        </a:solidFill>
                        <a:latin typeface="Cambria Math"/>
                      </a:rPr>
                      <m:t> = </m:t>
                    </m:r>
                    <m:r>
                      <a:rPr lang="en-US" sz="2600" b="0" i="1">
                        <a:solidFill>
                          <a:srgbClr val="0B2B4E"/>
                        </a:solidFill>
                        <a:latin typeface="Cambria Math"/>
                        <a:ea typeface="Cambria Math"/>
                      </a:rPr>
                      <m:t>𝑃</m:t>
                    </m:r>
                    <m:r>
                      <a:rPr lang="en-US" sz="2600" b="0" i="0">
                        <a:solidFill>
                          <a:srgbClr val="0B2B4E"/>
                        </a:solidFill>
                        <a:latin typeface="Cambria Math"/>
                      </a:rPr>
                      <m:t> · </m:t>
                    </m:r>
                    <m:r>
                      <a:rPr lang="en-US" sz="2600" b="0" i="1">
                        <a:solidFill>
                          <a:srgbClr val="0B2B4E"/>
                        </a:solidFill>
                        <a:latin typeface="Cambria Math"/>
                        <a:ea typeface="Cambria Math"/>
                      </a:rPr>
                      <m:t>𝑄</m:t>
                    </m:r>
                    <m:r>
                      <a:rPr lang="en-US" sz="2600" b="0" i="0">
                        <a:solidFill>
                          <a:srgbClr val="0B2B4E"/>
                        </a:solidFill>
                        <a:latin typeface="Cambria Math"/>
                      </a:rPr>
                      <m:t> − </m:t>
                    </m:r>
                    <m:limLow>
                      <m:limLowPr>
                        <m:ctrlPr>
                          <a:rPr lang="en-US" sz="2600" b="0" i="1">
                            <a:solidFill>
                              <a:srgbClr val="0B2B4E"/>
                            </a:solidFill>
                            <a:latin typeface="Cambria Math" panose="02040503050406030204" pitchFamily="18" charset="0"/>
                          </a:rPr>
                        </m:ctrlPr>
                      </m:limLowPr>
                      <m:e>
                        <m:groupChr>
                          <m:groupChrPr>
                            <m:chr m:val="⏟"/>
                            <m:pos m:val="bot"/>
                            <m:vertJc m:val="top"/>
                            <m:ctrlPr>
                              <a:rPr lang="en-US" sz="2600" b="0" i="0">
                                <a:solidFill>
                                  <a:srgbClr val="0B2B4E"/>
                                </a:solidFill>
                                <a:latin typeface="Cambria Math"/>
                              </a:rPr>
                            </m:ctrlPr>
                          </m:groupChrPr>
                          <m:e>
                            <m:r>
                              <m:rPr>
                                <m:sty m:val="p"/>
                              </m:rPr>
                              <a:rPr lang="en-US" sz="2600" b="0" i="0">
                                <a:solidFill>
                                  <a:srgbClr val="0B2B4E"/>
                                </a:solidFill>
                                <a:latin typeface="Cambria Math"/>
                              </a:rPr>
                              <m:t>TVC</m:t>
                            </m:r>
                            <m:r>
                              <a:rPr lang="en-US" sz="2600" b="0" i="0">
                                <a:solidFill>
                                  <a:srgbClr val="0B2B4E"/>
                                </a:solidFill>
                                <a:latin typeface="Cambria Math"/>
                              </a:rPr>
                              <m:t> − </m:t>
                            </m:r>
                            <m:r>
                              <m:rPr>
                                <m:sty m:val="p"/>
                              </m:rPr>
                              <a:rPr lang="en-US" sz="2600" b="0" i="0">
                                <a:solidFill>
                                  <a:srgbClr val="0B2B4E"/>
                                </a:solidFill>
                                <a:latin typeface="Cambria Math"/>
                              </a:rPr>
                              <m:t>TFC</m:t>
                            </m:r>
                          </m:e>
                        </m:groupChr>
                      </m:e>
                      <m:lim>
                        <m:r>
                          <a:rPr lang="en-US" sz="2600" b="0" i="0">
                            <a:solidFill>
                              <a:srgbClr val="0B2B4E"/>
                            </a:solidFill>
                            <a:latin typeface="Cambria Math"/>
                          </a:rPr>
                          <m:t> </m:t>
                        </m:r>
                        <m:r>
                          <m:rPr>
                            <m:sty m:val="p"/>
                          </m:rPr>
                          <a:rPr lang="en-US" sz="2600" b="0" i="0">
                            <a:solidFill>
                              <a:srgbClr val="0B2B4E"/>
                            </a:solidFill>
                            <a:latin typeface="Cambria Math"/>
                          </a:rPr>
                          <m:t>TC</m:t>
                        </m:r>
                      </m:lim>
                    </m:limLow>
                  </m:oMath>
                </a14:m>
                <a:r>
                  <a:rPr lang="en-US" sz="2000" dirty="0"/>
                  <a:t>,  where </a:t>
                </a:r>
                <a14:m>
                  <m:oMath xmlns:m="http://schemas.openxmlformats.org/officeDocument/2006/math">
                    <m:r>
                      <a:rPr lang="en-US" sz="2000" b="0" i="0" smtClean="0">
                        <a:solidFill>
                          <a:srgbClr val="0B2B4E"/>
                        </a:solidFill>
                        <a:latin typeface="Cambria Math" panose="02040503050406030204" pitchFamily="18" charset="0"/>
                      </a:rPr>
                      <m:t>  </m:t>
                    </m:r>
                    <m:r>
                      <m:rPr>
                        <m:sty m:val="p"/>
                      </m:rPr>
                      <a:rPr lang="en-US" sz="2000">
                        <a:solidFill>
                          <a:srgbClr val="0B2B4E"/>
                        </a:solidFill>
                        <a:latin typeface="Cambria Math"/>
                      </a:rPr>
                      <m:t>TVC</m:t>
                    </m:r>
                    <m:r>
                      <a:rPr lang="en-US" sz="2000" b="0" i="1" smtClean="0">
                        <a:solidFill>
                          <a:srgbClr val="0B2B4E"/>
                        </a:solidFill>
                        <a:latin typeface="Cambria Math" panose="02040503050406030204" pitchFamily="18" charset="0"/>
                      </a:rPr>
                      <m:t>=</m:t>
                    </m:r>
                    <m:r>
                      <a:rPr lang="en-US" sz="2000" b="0" i="1" smtClean="0">
                        <a:solidFill>
                          <a:srgbClr val="0B2B4E"/>
                        </a:solidFill>
                        <a:latin typeface="Cambria Math" panose="02040503050406030204" pitchFamily="18" charset="0"/>
                      </a:rPr>
                      <m:t>𝐴𝑉𝐶</m:t>
                    </m:r>
                    <m:r>
                      <a:rPr lang="en-US" sz="2000" b="0" i="1" smtClean="0">
                        <a:solidFill>
                          <a:srgbClr val="0B2B4E"/>
                        </a:solidFill>
                        <a:latin typeface="Cambria Math" panose="02040503050406030204" pitchFamily="18" charset="0"/>
                      </a:rPr>
                      <m:t>⋅</m:t>
                    </m:r>
                    <m:r>
                      <a:rPr lang="en-US" sz="2000" b="0" i="1" smtClean="0">
                        <a:solidFill>
                          <a:srgbClr val="0B2B4E"/>
                        </a:solidFill>
                        <a:latin typeface="Cambria Math" panose="02040503050406030204" pitchFamily="18" charset="0"/>
                      </a:rPr>
                      <m:t>𝑄</m:t>
                    </m:r>
                  </m:oMath>
                </a14:m>
                <a:r>
                  <a:rPr lang="en-US" sz="2000" dirty="0"/>
                  <a:t> </a:t>
                </a:r>
                <a:endParaRPr lang="en-US" sz="2600" dirty="0"/>
              </a:p>
            </p:txBody>
          </p:sp>
        </mc:Choice>
        <mc:Fallback>
          <p:sp>
            <p:nvSpPr>
              <p:cNvPr id="13" name="TextBox 12"/>
              <p:cNvSpPr txBox="1">
                <a:spLocks noRot="1" noChangeAspect="1" noMove="1" noResize="1" noEditPoints="1" noAdjustHandles="1" noChangeArrowheads="1" noChangeShapeType="1" noTextEdit="1"/>
              </p:cNvSpPr>
              <p:nvPr/>
            </p:nvSpPr>
            <p:spPr>
              <a:xfrm>
                <a:off x="1097280" y="4568986"/>
                <a:ext cx="9235440" cy="77412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1188720" y="5564552"/>
                <a:ext cx="6035040" cy="492919"/>
              </a:xfrm>
              <a:prstGeom prst="roundRect">
                <a:avLst>
                  <a:gd name="adj" fmla="val 12000"/>
                </a:avLst>
              </a:prstGeom>
              <a:solidFill>
                <a:srgbClr val="FFFFFF"/>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a:pPr algn="ctr">
                  <a:defRPr sz="2400" b="0" i="1">
                    <a:solidFill>
                      <a:srgbClr val="0B2B4E"/>
                    </a:solidFill>
                    <a:latin typeface="Cambria Math"/>
                  </a:defRPr>
                </a:pPr>
                <a14:m>
                  <m:oMathPara xmlns:m="http://schemas.openxmlformats.org/officeDocument/2006/math">
                    <m:oMath>
                      <m:r>
                        <m:rPr>
                          <m:sty m:val="p"/>
                        </m:rPr>
                        <a:rPr lang="en-US" sz="2400" b="0" i="0" smtClean="0">
                          <a:solidFill>
                            <a:srgbClr val="0B2B4E"/>
                          </a:solidFill>
                          <a:latin typeface="Cambria Math"/>
                        </a:rPr>
                        <m:t>Profit</m:t>
                      </m:r>
                      <m:r>
                        <a:rPr lang="en-US" sz="2400" b="0" i="0" smtClean="0">
                          <a:solidFill>
                            <a:srgbClr val="0B2B4E"/>
                          </a:solidFill>
                          <a:latin typeface="Cambria Math"/>
                        </a:rPr>
                        <m:t>:   </m:t>
                      </m:r>
                      <m:r>
                        <a:rPr lang="en-US" sz="2400" b="0" i="1">
                          <a:solidFill>
                            <a:srgbClr val="0B2B4E"/>
                          </a:solidFill>
                          <a:latin typeface="Cambria Math"/>
                          <a:ea typeface="Cambria Math"/>
                        </a:rPr>
                        <m:t>𝜋</m:t>
                      </m:r>
                      <m:r>
                        <a:rPr lang="en-US" sz="2400" b="0" i="0">
                          <a:solidFill>
                            <a:srgbClr val="0B2B4E"/>
                          </a:solidFill>
                          <a:latin typeface="Cambria Math"/>
                        </a:rPr>
                        <m:t> = (</m:t>
                      </m:r>
                      <m:r>
                        <a:rPr lang="en-US" sz="2400" b="0" i="1" smtClean="0">
                          <a:solidFill>
                            <a:srgbClr val="B8860B"/>
                          </a:solidFill>
                          <a:latin typeface="Cambria Math" panose="02040503050406030204" pitchFamily="18" charset="0"/>
                        </a:rPr>
                        <m:t>𝑃</m:t>
                      </m:r>
                      <m:r>
                        <a:rPr lang="en-US" sz="2400" b="0" i="0" smtClean="0">
                          <a:solidFill>
                            <a:srgbClr val="B8860B"/>
                          </a:solidFill>
                          <a:latin typeface="Cambria Math" panose="02040503050406030204" pitchFamily="18" charset="0"/>
                        </a:rPr>
                        <m:t>−</m:t>
                      </m:r>
                      <m:r>
                        <m:rPr>
                          <m:sty m:val="p"/>
                        </m:rPr>
                        <a:rPr lang="en-US" sz="2400" b="0" i="0" smtClean="0">
                          <a:solidFill>
                            <a:srgbClr val="B8860B"/>
                          </a:solidFill>
                          <a:latin typeface="Cambria Math" panose="02040503050406030204" pitchFamily="18" charset="0"/>
                        </a:rPr>
                        <m:t>AVC</m:t>
                      </m:r>
                      <m:r>
                        <a:rPr lang="en-US" sz="2400" b="0" i="0">
                          <a:solidFill>
                            <a:srgbClr val="0B2B4E"/>
                          </a:solidFill>
                          <a:latin typeface="Cambria Math"/>
                        </a:rPr>
                        <m:t>) · </m:t>
                      </m:r>
                      <m:r>
                        <a:rPr lang="en-US" sz="2400" b="0" i="1">
                          <a:solidFill>
                            <a:srgbClr val="0B2B4E"/>
                          </a:solidFill>
                          <a:latin typeface="Cambria Math"/>
                          <a:ea typeface="Cambria Math"/>
                        </a:rPr>
                        <m:t>𝑄</m:t>
                      </m:r>
                      <m:r>
                        <a:rPr lang="en-US" sz="2400" b="0" i="0">
                          <a:solidFill>
                            <a:srgbClr val="0B2B4E"/>
                          </a:solidFill>
                          <a:latin typeface="Cambria Math"/>
                        </a:rPr>
                        <m:t> − </m:t>
                      </m:r>
                      <m:r>
                        <m:rPr>
                          <m:sty m:val="p"/>
                        </m:rPr>
                        <a:rPr lang="en-US" sz="2400" b="0" i="0">
                          <a:solidFill>
                            <a:srgbClr val="C00000"/>
                          </a:solidFill>
                          <a:latin typeface="Cambria Math"/>
                        </a:rPr>
                        <m:t>TFC</m:t>
                      </m:r>
                    </m:oMath>
                  </m:oMathPara>
                </a14:m>
                <a:endParaRPr lang="en-US" sz="2400" dirty="0"/>
              </a:p>
            </p:txBody>
          </p:sp>
        </mc:Choice>
        <mc:Fallback>
          <p:sp>
            <p:nvSpPr>
              <p:cNvPr id="14" name="TextBox 13"/>
              <p:cNvSpPr txBox="1">
                <a:spLocks noRot="1" noChangeAspect="1" noMove="1" noResize="1" noEditPoints="1" noAdjustHandles="1" noChangeArrowheads="1" noChangeShapeType="1" noTextEdit="1"/>
              </p:cNvSpPr>
              <p:nvPr/>
            </p:nvSpPr>
            <p:spPr>
              <a:xfrm>
                <a:off x="1188720" y="5564552"/>
                <a:ext cx="6035040" cy="492919"/>
              </a:xfrm>
              <a:prstGeom prst="roundRect">
                <a:avLst>
                  <a:gd name="adj" fmla="val 12000"/>
                </a:avLst>
              </a:prstGeom>
              <a:blipFill>
                <a:blip r:embed="rId4"/>
                <a:stretch>
                  <a:fillRect/>
                </a:stretch>
              </a:blipFill>
              <a:ln w="9525">
                <a:solidFill>
                  <a:srgbClr val="0B2B4E"/>
                </a:solidFill>
              </a:ln>
              <a:effectLst>
                <a:outerShdw blurRad="50800" dist="38100" dir="2700000" algn="tl" rotWithShape="0">
                  <a:srgbClr val="000000">
                    <a:alpha val="45000"/>
                  </a:srgbClr>
                </a:outerShdw>
              </a:effectLst>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14D1F605-67F4-99C2-47B2-C1DD4B8A1498}"/>
              </a:ext>
            </a:extLst>
          </p:cNvPr>
          <p:cNvGrpSpPr/>
          <p:nvPr/>
        </p:nvGrpSpPr>
        <p:grpSpPr>
          <a:xfrm>
            <a:off x="6665976" y="5815584"/>
            <a:ext cx="4718304" cy="548640"/>
            <a:chOff x="6665976" y="5815584"/>
            <a:chExt cx="4718304" cy="548640"/>
          </a:xfrm>
        </p:grpSpPr>
        <p:cxnSp>
          <p:nvCxnSpPr>
            <p:cNvPr id="15" name="Connector 14"/>
            <p:cNvCxnSpPr/>
            <p:nvPr/>
          </p:nvCxnSpPr>
          <p:spPr>
            <a:xfrm flipH="1" flipV="1">
              <a:off x="6665976" y="5815584"/>
              <a:ext cx="1426464" cy="210312"/>
            </a:xfrm>
            <a:prstGeom prst="line">
              <a:avLst/>
            </a:prstGeom>
            <a:ln w="31750">
              <a:solidFill>
                <a:srgbClr val="C00000"/>
              </a:solidFill>
              <a:tailEnd type="triangle" w="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092440" y="5907024"/>
              <a:ext cx="3291840" cy="457200"/>
            </a:xfrm>
            <a:prstGeom prst="roundRect">
              <a:avLst>
                <a:gd name="adj" fmla="val 14000"/>
              </a:avLst>
            </a:prstGeom>
            <a:solidFill>
              <a:srgbClr val="C00000">
                <a:alpha val="15000"/>
              </a:srgbClr>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0B2B4E"/>
                  </a:solidFill>
                  <a:latin typeface="Calibri"/>
                </a:rPr>
                <a:t>Fixed costs still have to be paid</a:t>
              </a:r>
            </a:p>
          </p:txBody>
        </p:sp>
      </p:gr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20" name="TextBox 19"/>
          <p:cNvSpPr txBox="1"/>
          <p:nvPr/>
        </p:nvSpPr>
        <p:spPr>
          <a:xfrm>
            <a:off x="11475720" y="6583680"/>
            <a:ext cx="502920" cy="292608"/>
          </a:xfrm>
          <a:prstGeom prst="rect">
            <a:avLst/>
          </a:prstGeom>
          <a:noFill/>
        </p:spPr>
        <p:txBody>
          <a:bodyPr wrap="none" lIns="0" tIns="0" rIns="0" bIns="0">
            <a:spAutoFit/>
          </a:bodyPr>
          <a:lstStyle/>
          <a:p>
            <a:pPr algn="r"/>
            <a:fld id="{9B1978F4-5072-5BCF-94F0-DCD91FB47F0D}" type="slidenum">
              <a:rPr lang="en-US" sz="1200" dirty="0">
                <a:solidFill>
                  <a:srgbClr val="555B66"/>
                </a:solidFill>
                <a:latin typeface="Calibri"/>
              </a:rPr>
              <a:t>17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500"/>
                                        <p:tgtEl>
                                          <p:spTgt spid="1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1"/>
                                        </p:tgtEl>
                                        <p:attrNameLst>
                                          <p:attrName>style.visibility</p:attrName>
                                        </p:attrNameLst>
                                      </p:cBhvr>
                                      <p:to>
                                        <p:strVal val="visible"/>
                                      </p:to>
                                    </p:set>
                                    <p:animEffect transition="in" filter="fade">
                                      <p:cBhvr>
                                        <p:cTn id="12" dur="500"/>
                                        <p:tgtEl>
                                          <p:spTgt spid="1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Short Run Decision to Stop Production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22" name="Group pair 122"/>
          <p:cNvGrpSpPr/>
          <p:nvPr/>
        </p:nvGrpSpPr>
        <p:grpSpPr>
          <a:xfrm>
            <a:off x="1325880" y="1444752"/>
            <a:ext cx="9555480" cy="548640"/>
            <a:chOff x="1325880" y="1444752"/>
            <a:chExt cx="9555480" cy="548640"/>
          </a:xfrm>
        </p:grpSpPr>
        <p:sp>
          <p:nvSpPr>
            <p:cNvPr id="7" name="Rounded Rectangle 6"/>
            <p:cNvSpPr/>
            <p:nvPr/>
          </p:nvSpPr>
          <p:spPr>
            <a:xfrm>
              <a:off x="1325880" y="1444752"/>
              <a:ext cx="9555480" cy="548640"/>
            </a:xfrm>
            <a:prstGeom prst="roundRect">
              <a:avLst>
                <a:gd name="adj" fmla="val 14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08760" y="1554480"/>
              <a:ext cx="9189720" cy="329184"/>
            </a:xfrm>
            <a:prstGeom prst="rect">
              <a:avLst/>
            </a:prstGeom>
            <a:noFill/>
          </p:spPr>
          <p:txBody>
            <a:bodyPr wrap="square" lIns="45720" tIns="0" rIns="45720" bIns="0" anchor="ctr">
              <a:spAutoFit/>
            </a:bodyPr>
            <a:lstStyle/>
            <a:p>
              <a:pPr algn="ctr"/>
              <a:r>
                <a:rPr sz="2000" b="1" i="0" u="none">
                  <a:solidFill>
                    <a:srgbClr val="0B2B4E"/>
                  </a:solidFill>
                  <a:latin typeface="Calibri"/>
                </a:rPr>
                <a:t>In the short run, fixed costs have to be paid even if the firm does not produce</a:t>
              </a:r>
            </a:p>
          </p:txBody>
        </p:sp>
      </p:grpSp>
      <p:sp>
        <p:nvSpPr>
          <p:cNvPr id="9" name="Rounded Rectangle 8"/>
          <p:cNvSpPr/>
          <p:nvPr/>
        </p:nvSpPr>
        <p:spPr>
          <a:xfrm>
            <a:off x="640080" y="2194560"/>
            <a:ext cx="5349240" cy="50292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Option 1: continue to produce</a:t>
            </a:r>
          </a:p>
        </p:txBody>
      </p:sp>
      <p:sp>
        <p:nvSpPr>
          <p:cNvPr id="10" name="Rounded Rectangle 9"/>
          <p:cNvSpPr/>
          <p:nvPr/>
        </p:nvSpPr>
        <p:spPr>
          <a:xfrm>
            <a:off x="6309360" y="2194560"/>
            <a:ext cx="5349240" cy="50292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Option 2: stop production</a:t>
            </a:r>
          </a:p>
        </p:txBody>
      </p:sp>
      <mc:AlternateContent xmlns:mc="http://schemas.openxmlformats.org/markup-compatibility/2006" xmlns:a14="http://schemas.microsoft.com/office/drawing/2010/main">
        <mc:Choice Requires="a14">
          <p:sp>
            <p:nvSpPr>
              <p:cNvPr id="11" name="TextBox 10"/>
              <p:cNvSpPr txBox="1"/>
              <p:nvPr/>
            </p:nvSpPr>
            <p:spPr>
              <a:xfrm>
                <a:off x="640080" y="3008376"/>
                <a:ext cx="5349240" cy="457200"/>
              </a:xfrm>
              <a:prstGeom prst="rect">
                <a:avLst/>
              </a:prstGeom>
              <a:noFill/>
            </p:spPr>
            <p:txBody>
              <a:bodyPr wrap="square" anchor="ctr">
                <a:spAutoFit/>
              </a:bodyPr>
              <a:lstStyle/>
              <a:p>
                <a:pPr algn="ctr">
                  <a:defRPr sz="2400" b="0" i="1">
                    <a:solidFill>
                      <a:srgbClr val="0B2B4E"/>
                    </a:solidFill>
                    <a:latin typeface="Cambria Math"/>
                  </a:defRPr>
                </a:pPr>
                <a14:m>
                  <m:oMathPara xmlns:m="http://schemas.openxmlformats.org/officeDocument/2006/math">
                    <m:oMath>
                      <m:r>
                        <m:rPr>
                          <m:sty m:val="p"/>
                        </m:rPr>
                        <a:rPr lang="en-US" sz="2400" b="0" i="0">
                          <a:solidFill>
                            <a:srgbClr val="0B2B4E"/>
                          </a:solidFill>
                          <a:latin typeface="Cambria Math"/>
                        </a:rPr>
                        <m:t>Profit</m:t>
                      </m:r>
                      <m:r>
                        <a:rPr lang="en-US" sz="2400" b="0" i="0">
                          <a:solidFill>
                            <a:srgbClr val="0B2B4E"/>
                          </a:solidFill>
                          <a:latin typeface="Cambria Math"/>
                        </a:rPr>
                        <m:t>:   </m:t>
                      </m:r>
                      <m:r>
                        <a:rPr lang="en-US" sz="2400" b="0" i="1">
                          <a:solidFill>
                            <a:srgbClr val="0B2B4E"/>
                          </a:solidFill>
                          <a:latin typeface="Cambria Math"/>
                          <a:ea typeface="Cambria Math"/>
                        </a:rPr>
                        <m:t>𝜋</m:t>
                      </m:r>
                      <m:r>
                        <a:rPr lang="en-US" sz="2400" b="0" i="0">
                          <a:solidFill>
                            <a:srgbClr val="0B2B4E"/>
                          </a:solidFill>
                          <a:latin typeface="Cambria Math"/>
                        </a:rPr>
                        <m:t> = (</m:t>
                      </m:r>
                      <m:r>
                        <a:rPr lang="en-US" sz="2400" b="0" i="1">
                          <a:solidFill>
                            <a:srgbClr val="0B2B4E"/>
                          </a:solidFill>
                          <a:latin typeface="Cambria Math"/>
                          <a:ea typeface="Cambria Math"/>
                        </a:rPr>
                        <m:t>𝑃</m:t>
                      </m:r>
                      <m:r>
                        <a:rPr lang="en-US" sz="2400" b="0" i="0">
                          <a:solidFill>
                            <a:srgbClr val="0B2B4E"/>
                          </a:solidFill>
                          <a:latin typeface="Cambria Math"/>
                        </a:rPr>
                        <m:t> − </m:t>
                      </m:r>
                      <m:r>
                        <m:rPr>
                          <m:sty m:val="p"/>
                        </m:rPr>
                        <a:rPr lang="en-US" sz="2400" b="0" i="0">
                          <a:solidFill>
                            <a:srgbClr val="0B2B4E"/>
                          </a:solidFill>
                          <a:latin typeface="Cambria Math"/>
                        </a:rPr>
                        <m:t>AVC</m:t>
                      </m:r>
                      <m:r>
                        <a:rPr lang="en-US" sz="2400" b="0" i="0">
                          <a:solidFill>
                            <a:srgbClr val="0B2B4E"/>
                          </a:solidFill>
                          <a:latin typeface="Cambria Math"/>
                        </a:rPr>
                        <m:t>) · </m:t>
                      </m:r>
                      <m:r>
                        <a:rPr lang="en-US" sz="2400" b="0" i="1">
                          <a:solidFill>
                            <a:srgbClr val="0B2B4E"/>
                          </a:solidFill>
                          <a:latin typeface="Cambria Math"/>
                          <a:ea typeface="Cambria Math"/>
                        </a:rPr>
                        <m:t>𝑄</m:t>
                      </m:r>
                      <m:r>
                        <a:rPr lang="en-US" sz="2400" b="0" i="0">
                          <a:solidFill>
                            <a:srgbClr val="0B2B4E"/>
                          </a:solidFill>
                          <a:latin typeface="Cambria Math"/>
                        </a:rPr>
                        <m:t> − </m:t>
                      </m:r>
                      <m:r>
                        <m:rPr>
                          <m:sty m:val="p"/>
                        </m:rPr>
                        <a:rPr lang="en-US" sz="2400" b="0" i="0">
                          <a:solidFill>
                            <a:srgbClr val="0B2B4E"/>
                          </a:solidFill>
                          <a:latin typeface="Cambria Math"/>
                        </a:rPr>
                        <m:t>TFC</m:t>
                      </m:r>
                    </m:oMath>
                  </m:oMathPara>
                </a14:m>
                <a:endParaRPr lang="en-US" sz="2400"/>
              </a:p>
            </p:txBody>
          </p:sp>
        </mc:Choice>
        <mc:Fallback xmlns="">
          <p:sp>
            <p:nvSpPr>
              <p:cNvPr id="11" name="TextBox 10"/>
              <p:cNvSpPr txBox="1">
                <a:spLocks noRot="1" noChangeAspect="1" noMove="1" noResize="1" noEditPoints="1" noAdjustHandles="1" noChangeArrowheads="1" noChangeShapeType="1" noTextEdit="1"/>
              </p:cNvSpPr>
              <p:nvPr/>
            </p:nvSpPr>
            <p:spPr>
              <a:xfrm>
                <a:off x="640080" y="3008376"/>
                <a:ext cx="5349240" cy="457200"/>
              </a:xfrm>
              <a:prstGeom prst="rect">
                <a:avLst/>
              </a:prstGeom>
              <a:blipFill>
                <a:blip r:embed="rId3"/>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6309360" y="2999232"/>
                <a:ext cx="5349240" cy="493776"/>
              </a:xfrm>
              <a:prstGeom prst="rect">
                <a:avLst/>
              </a:prstGeom>
              <a:noFill/>
            </p:spPr>
            <p:txBody>
              <a:bodyPr wrap="square" anchor="ctr">
                <a:spAutoFit/>
              </a:bodyPr>
              <a:lstStyle/>
              <a:p>
                <a:pPr algn="ctr">
                  <a:defRPr sz="2400" b="0" i="1">
                    <a:solidFill>
                      <a:srgbClr val="0B2B4E"/>
                    </a:solidFill>
                    <a:latin typeface="Cambria Math"/>
                  </a:defRPr>
                </a:pPr>
                <a14:m>
                  <m:oMathPara xmlns:m="http://schemas.openxmlformats.org/officeDocument/2006/math">
                    <m:oMath>
                      <m:r>
                        <m:rPr>
                          <m:sty m:val="p"/>
                        </m:rPr>
                        <a:rPr lang="en-US" sz="2400" b="0" i="0">
                          <a:solidFill>
                            <a:srgbClr val="0B2B4E"/>
                          </a:solidFill>
                          <a:latin typeface="Cambria Math"/>
                        </a:rPr>
                        <m:t>Profit</m:t>
                      </m:r>
                      <m:r>
                        <a:rPr lang="en-US" sz="2400" b="0" i="0">
                          <a:solidFill>
                            <a:srgbClr val="0B2B4E"/>
                          </a:solidFill>
                          <a:latin typeface="Cambria Math"/>
                        </a:rPr>
                        <m:t>:  </m:t>
                      </m:r>
                      <m:r>
                        <a:rPr lang="en-US" sz="2400" b="0" i="1">
                          <a:solidFill>
                            <a:srgbClr val="0B2B4E"/>
                          </a:solidFill>
                          <a:latin typeface="Cambria Math"/>
                          <a:ea typeface="Cambria Math"/>
                        </a:rPr>
                        <m:t>𝜋</m:t>
                      </m:r>
                      <m:r>
                        <a:rPr lang="en-US" sz="2400" b="0" i="0">
                          <a:solidFill>
                            <a:srgbClr val="0B2B4E"/>
                          </a:solidFill>
                          <a:latin typeface="Cambria Math"/>
                        </a:rPr>
                        <m:t> = − </m:t>
                      </m:r>
                      <m:r>
                        <m:rPr>
                          <m:sty m:val="p"/>
                        </m:rPr>
                        <a:rPr lang="en-US" sz="2400" b="0" i="0">
                          <a:solidFill>
                            <a:srgbClr val="0B2B4E"/>
                          </a:solidFill>
                          <a:latin typeface="Cambria Math"/>
                        </a:rPr>
                        <m:t>TFC</m:t>
                      </m:r>
                    </m:oMath>
                  </m:oMathPara>
                </a14:m>
                <a:endParaRPr lang="en-US" sz="2400"/>
              </a:p>
            </p:txBody>
          </p:sp>
        </mc:Choice>
        <mc:Fallback xmlns="">
          <p:sp>
            <p:nvSpPr>
              <p:cNvPr id="12" name="TextBox 11"/>
              <p:cNvSpPr txBox="1">
                <a:spLocks noRot="1" noChangeAspect="1" noMove="1" noResize="1" noEditPoints="1" noAdjustHandles="1" noChangeArrowheads="1" noChangeShapeType="1" noTextEdit="1"/>
              </p:cNvSpPr>
              <p:nvPr/>
            </p:nvSpPr>
            <p:spPr>
              <a:xfrm>
                <a:off x="6309360" y="2999232"/>
                <a:ext cx="5349240" cy="493776"/>
              </a:xfrm>
              <a:prstGeom prst="rect">
                <a:avLst/>
              </a:prstGeom>
              <a:blipFill>
                <a:blip r:embed="rId4"/>
                <a:stretch>
                  <a:fillRect/>
                </a:stretch>
              </a:blipFill>
            </p:spPr>
            <p:txBody>
              <a:bodyPr/>
              <a:lstStyle/>
              <a:p>
                <a:r>
                  <a:rPr lang="en-US">
                    <a:noFill/>
                  </a:rPr>
                  <a:t> </a:t>
                </a:r>
              </a:p>
            </p:txBody>
          </p:sp>
        </mc:Fallback>
      </mc:AlternateContent>
      <p:sp>
        <p:nvSpPr>
          <p:cNvPr id="13" name="TextBox 12"/>
          <p:cNvSpPr txBox="1"/>
          <p:nvPr/>
        </p:nvSpPr>
        <p:spPr>
          <a:xfrm>
            <a:off x="640080" y="3675887"/>
            <a:ext cx="5349240" cy="292388"/>
          </a:xfrm>
          <a:prstGeom prst="rect">
            <a:avLst/>
          </a:prstGeom>
          <a:noFill/>
        </p:spPr>
        <p:txBody>
          <a:bodyPr wrap="square" lIns="0" tIns="0" rIns="0" bIns="0">
            <a:spAutoFit/>
          </a:bodyPr>
          <a:lstStyle/>
          <a:p>
            <a:pPr algn="ctr"/>
            <a:r>
              <a:rPr sz="1900" b="0" i="1" u="none" dirty="0">
                <a:solidFill>
                  <a:srgbClr val="555B66"/>
                </a:solidFill>
                <a:latin typeface="Calibri"/>
              </a:rPr>
              <a:t>Producing adds (P − AVC) · Q </a:t>
            </a:r>
            <a:r>
              <a:rPr lang="en-US" sz="1900" b="0" i="1" u="none" dirty="0">
                <a:solidFill>
                  <a:srgbClr val="555B66"/>
                </a:solidFill>
                <a:latin typeface="Calibri"/>
              </a:rPr>
              <a:t> to cover fixed costs</a:t>
            </a:r>
            <a:endParaRPr sz="1900" b="0" i="1" u="none" dirty="0">
              <a:solidFill>
                <a:srgbClr val="555B66"/>
              </a:solidFill>
              <a:latin typeface="Calibri"/>
            </a:endParaRPr>
          </a:p>
        </p:txBody>
      </p:sp>
      <p:sp>
        <p:nvSpPr>
          <p:cNvPr id="14" name="TextBox 13"/>
          <p:cNvSpPr txBox="1"/>
          <p:nvPr/>
        </p:nvSpPr>
        <p:spPr>
          <a:xfrm>
            <a:off x="6309360" y="3675887"/>
            <a:ext cx="5349240" cy="292388"/>
          </a:xfrm>
          <a:prstGeom prst="rect">
            <a:avLst/>
          </a:prstGeom>
          <a:noFill/>
        </p:spPr>
        <p:txBody>
          <a:bodyPr wrap="square" lIns="0" tIns="0" rIns="0" bIns="0">
            <a:spAutoFit/>
          </a:bodyPr>
          <a:lstStyle/>
          <a:p>
            <a:pPr algn="ctr"/>
            <a:r>
              <a:rPr lang="en-US" sz="1900" i="1" dirty="0">
                <a:solidFill>
                  <a:srgbClr val="555B66"/>
                </a:solidFill>
                <a:latin typeface="Calibri"/>
              </a:rPr>
              <a:t>Continue to pay the full</a:t>
            </a:r>
            <a:r>
              <a:rPr sz="1900" b="0" i="1" u="none" dirty="0">
                <a:solidFill>
                  <a:srgbClr val="555B66"/>
                </a:solidFill>
                <a:latin typeface="Calibri"/>
              </a:rPr>
              <a:t> fixed costs</a:t>
            </a:r>
          </a:p>
        </p:txBody>
      </p:sp>
      <p:cxnSp>
        <p:nvCxnSpPr>
          <p:cNvPr id="15" name="Connector 14"/>
          <p:cNvCxnSpPr/>
          <p:nvPr/>
        </p:nvCxnSpPr>
        <p:spPr>
          <a:xfrm>
            <a:off x="3310128" y="4160520"/>
            <a:ext cx="1581912" cy="429768"/>
          </a:xfrm>
          <a:prstGeom prst="line">
            <a:avLst/>
          </a:prstGeom>
          <a:ln w="2857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7397496" y="4160520"/>
            <a:ext cx="1581912" cy="429768"/>
          </a:xfrm>
          <a:prstGeom prst="line">
            <a:avLst/>
          </a:prstGeom>
          <a:ln w="2857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1463040" y="4663440"/>
                <a:ext cx="9235440" cy="704088"/>
              </a:xfrm>
              <a:prstGeom prst="rect">
                <a:avLst/>
              </a:prstGeom>
              <a:noFill/>
            </p:spPr>
            <p:txBody>
              <a:bodyPr wrap="square" lIns="45720" tIns="0" rIns="45720" bIns="0">
                <a:spAutoFit/>
              </a:bodyPr>
              <a:lstStyle/>
              <a:p>
                <a:pPr algn="ctr"/>
                <a:r>
                  <a:rPr lang="en-US" sz="2200">
                    <a:solidFill>
                      <a:srgbClr val="0B2B4E"/>
                    </a:solidFill>
                    <a:latin typeface="Calibri"/>
                  </a:rPr>
                  <a:t>Difference in profits when producing:</a:t>
                </a:r>
                <a:endParaRPr lang="en-US"/>
              </a:p>
              <a:p>
                <a:pPr algn="ctr"/>
                <a14:m>
                  <m:oMathPara xmlns:m="http://schemas.openxmlformats.org/officeDocument/2006/math">
                    <m:oMath>
                      <m:r>
                        <m:rPr>
                          <m:sty m:val="p"/>
                        </m:rPr>
                        <a:rPr lang="en-US" sz="2400" b="0" i="0">
                          <a:solidFill>
                            <a:srgbClr val="0B2B4E"/>
                          </a:solidFill>
                          <a:latin typeface="Cambria Math"/>
                        </a:rPr>
                        <m:t>Δ</m:t>
                      </m:r>
                      <m:r>
                        <a:rPr lang="en-US" sz="2400" b="0" i="1">
                          <a:solidFill>
                            <a:srgbClr val="0B2B4E"/>
                          </a:solidFill>
                          <a:latin typeface="Cambria Math"/>
                          <a:ea typeface="Cambria Math"/>
                        </a:rPr>
                        <m:t>𝜋</m:t>
                      </m:r>
                      <m:r>
                        <a:rPr lang="en-US" sz="2400" b="0" i="0">
                          <a:solidFill>
                            <a:srgbClr val="0B2B4E"/>
                          </a:solidFill>
                          <a:latin typeface="Cambria Math"/>
                        </a:rPr>
                        <m:t> = </m:t>
                      </m:r>
                      <m:r>
                        <a:rPr lang="en-US" sz="2400" b="0" i="1">
                          <a:solidFill>
                            <a:srgbClr val="0B2B4E"/>
                          </a:solidFill>
                          <a:latin typeface="Cambria Math"/>
                          <a:ea typeface="Cambria Math"/>
                        </a:rPr>
                        <m:t>𝑄</m:t>
                      </m:r>
                      <m:r>
                        <a:rPr lang="en-US" sz="2400" b="0" i="0">
                          <a:solidFill>
                            <a:srgbClr val="0B2B4E"/>
                          </a:solidFill>
                          <a:latin typeface="Cambria Math"/>
                        </a:rPr>
                        <m:t> · (</m:t>
                      </m:r>
                      <m:r>
                        <a:rPr lang="en-US" sz="2400" b="0" i="1">
                          <a:solidFill>
                            <a:srgbClr val="0B2B4E"/>
                          </a:solidFill>
                          <a:latin typeface="Cambria Math"/>
                          <a:ea typeface="Cambria Math"/>
                        </a:rPr>
                        <m:t>𝑃</m:t>
                      </m:r>
                      <m:r>
                        <a:rPr lang="en-US" sz="2400" b="0" i="0">
                          <a:solidFill>
                            <a:srgbClr val="0B2B4E"/>
                          </a:solidFill>
                          <a:latin typeface="Cambria Math"/>
                        </a:rPr>
                        <m:t> − </m:t>
                      </m:r>
                      <m:r>
                        <m:rPr>
                          <m:sty m:val="p"/>
                        </m:rPr>
                        <a:rPr lang="en-US" sz="2400" b="0" i="0">
                          <a:solidFill>
                            <a:srgbClr val="0B2B4E"/>
                          </a:solidFill>
                          <a:latin typeface="Cambria Math"/>
                        </a:rPr>
                        <m:t>AVC</m:t>
                      </m:r>
                      <m:r>
                        <a:rPr lang="en-US" sz="2400" b="0" i="0">
                          <a:solidFill>
                            <a:srgbClr val="0B2B4E"/>
                          </a:solidFill>
                          <a:latin typeface="Cambria Math"/>
                        </a:rPr>
                        <m:t>)</m:t>
                      </m:r>
                    </m:oMath>
                  </m:oMathPara>
                </a14:m>
                <a:endParaRPr lang="en-US"/>
              </a:p>
            </p:txBody>
          </p:sp>
        </mc:Choice>
        <mc:Fallback xmlns="">
          <p:sp>
            <p:nvSpPr>
              <p:cNvPr id="17" name="TextBox 16"/>
              <p:cNvSpPr txBox="1">
                <a:spLocks noRot="1" noChangeAspect="1" noMove="1" noResize="1" noEditPoints="1" noAdjustHandles="1" noChangeArrowheads="1" noChangeShapeType="1" noTextEdit="1"/>
              </p:cNvSpPr>
              <p:nvPr/>
            </p:nvSpPr>
            <p:spPr>
              <a:xfrm>
                <a:off x="1463040" y="4663440"/>
                <a:ext cx="9235440" cy="704088"/>
              </a:xfrm>
              <a:prstGeom prst="rect">
                <a:avLst/>
              </a:prstGeom>
              <a:blipFill>
                <a:blip r:embed="rId5"/>
                <a:stretch>
                  <a:fillRect t="-12069" b="-17241"/>
                </a:stretch>
              </a:blipFill>
            </p:spPr>
            <p:txBody>
              <a:bodyPr/>
              <a:lstStyle/>
              <a:p>
                <a:r>
                  <a:rPr lang="en-US">
                    <a:noFill/>
                  </a:rPr>
                  <a:t> </a:t>
                </a:r>
              </a:p>
            </p:txBody>
          </p:sp>
        </mc:Fallback>
      </mc:AlternateContent>
      <p:sp>
        <p:nvSpPr>
          <p:cNvPr id="18" name="Rounded Rectangle 17"/>
          <p:cNvSpPr/>
          <p:nvPr/>
        </p:nvSpPr>
        <p:spPr>
          <a:xfrm>
            <a:off x="1417320" y="5596128"/>
            <a:ext cx="9326880" cy="566928"/>
          </a:xfrm>
          <a:prstGeom prst="roundRect">
            <a:avLst>
              <a:gd name="adj" fmla="val 30000"/>
            </a:avLst>
          </a:prstGeom>
          <a:solidFill>
            <a:srgbClr val="C00000">
              <a:alpha val="22000"/>
            </a:srgbClr>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B2B4E"/>
                </a:solidFill>
                <a:latin typeface="Calibri"/>
              </a:rPr>
              <a:t>⇒   Rule: Continue to produce if  P ≥ AVC        ·        Stop production if  P &lt; AVC</a:t>
            </a:r>
          </a:p>
        </p:txBody>
      </p:sp>
      <p:sp>
        <p:nvSpPr>
          <p:cNvPr id="19" name="Rectangle 1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22" name="TextBox 21"/>
          <p:cNvSpPr txBox="1"/>
          <p:nvPr/>
        </p:nvSpPr>
        <p:spPr>
          <a:xfrm>
            <a:off x="11475720" y="6583680"/>
            <a:ext cx="502920" cy="292608"/>
          </a:xfrm>
          <a:prstGeom prst="rect">
            <a:avLst/>
          </a:prstGeom>
          <a:noFill/>
        </p:spPr>
        <p:txBody>
          <a:bodyPr wrap="none" lIns="0" tIns="0" rIns="0" bIns="0">
            <a:spAutoFit/>
          </a:bodyPr>
          <a:lstStyle/>
          <a:p>
            <a:pPr algn="r"/>
            <a:fld id="{30D31416-194B-5A00-B3A6-15F79A5666DC}" type="slidenum">
              <a:rPr lang="en-US" sz="1200" dirty="0">
                <a:solidFill>
                  <a:srgbClr val="555B66"/>
                </a:solidFill>
                <a:latin typeface="Calibri"/>
              </a:rPr>
              <a:t>18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dirty="0">
                <a:solidFill>
                  <a:srgbClr val="0B2B4E"/>
                </a:solidFill>
                <a:latin typeface="Calibri"/>
              </a:rPr>
              <a:t>Optimizing in the Short Run: A New Market Price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463040"/>
            <a:ext cx="11338560" cy="1188720"/>
          </a:xfrm>
          <a:prstGeom prst="rect">
            <a:avLst/>
          </a:prstGeom>
          <a:noFill/>
        </p:spPr>
        <p:txBody>
          <a:bodyPr wrap="square" lIns="0" tIns="0" rIns="0" bIns="0">
            <a:noAutofit/>
          </a:bodyPr>
          <a:lstStyle>
            <a:lvl1pPr marL="342900" indent="-342900">
              <a:spcBef>
                <a:spcPts val="14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r>
              <a:rPr dirty="0">
                <a:latin typeface="Calibri"/>
              </a:rPr>
              <a:t>The US starts importing large quantities of cabbage from China</a:t>
            </a:r>
          </a:p>
          <a:p>
            <a:pPr algn="l"/>
            <a:r>
              <a:rPr dirty="0">
                <a:latin typeface="Calibri"/>
              </a:rPr>
              <a:t>The US market price drops from $400 to </a:t>
            </a:r>
            <a:r>
              <a:rPr sz="2800" b="1" dirty="0">
                <a:solidFill>
                  <a:srgbClr val="C00000"/>
                </a:solidFill>
                <a:latin typeface="Calibri"/>
              </a:rPr>
              <a:t>$210 per ton</a:t>
            </a:r>
          </a:p>
        </p:txBody>
      </p:sp>
      <mc:AlternateContent xmlns:mc="http://schemas.openxmlformats.org/markup-compatibility/2006" xmlns:a14="http://schemas.microsoft.com/office/drawing/2010/main">
        <mc:Choice Requires="a14">
          <p:sp>
            <p:nvSpPr>
              <p:cNvPr id="8" name="TextBox 7"/>
              <p:cNvSpPr txBox="1"/>
              <p:nvPr/>
            </p:nvSpPr>
            <p:spPr>
              <a:xfrm>
                <a:off x="389159" y="2788920"/>
                <a:ext cx="11338560" cy="502920"/>
              </a:xfrm>
              <a:prstGeom prst="rect">
                <a:avLst/>
              </a:prstGeom>
              <a:noFill/>
            </p:spPr>
            <p:txBody>
              <a:bodyPr wrap="square" lIns="45720" tIns="0" rIns="45720" bIns="0">
                <a:spAutoFit/>
              </a:bodyPr>
              <a:lstStyle/>
              <a:p>
                <a:r>
                  <a:rPr lang="en-US" sz="2400" dirty="0">
                    <a:solidFill>
                      <a:srgbClr val="0B2B4E"/>
                    </a:solidFill>
                    <a:latin typeface="Calibri"/>
                  </a:rPr>
                  <a:t>Remember:   </a:t>
                </a:r>
                <a14:m>
                  <m:oMath xmlns:m="http://schemas.openxmlformats.org/officeDocument/2006/math">
                    <m:r>
                      <m:rPr>
                        <m:sty m:val="p"/>
                      </m:rPr>
                      <a:rPr lang="en-US" sz="2400" b="0" i="0">
                        <a:solidFill>
                          <a:srgbClr val="0B2B4E"/>
                        </a:solidFill>
                        <a:latin typeface="Cambria Math"/>
                      </a:rPr>
                      <m:t>TC</m:t>
                    </m:r>
                    <m:r>
                      <a:rPr lang="en-US" sz="2400" b="0" i="0">
                        <a:solidFill>
                          <a:srgbClr val="0B2B4E"/>
                        </a:solidFill>
                        <a:latin typeface="Cambria Math"/>
                      </a:rPr>
                      <m:t> = 60,000 + 135</m:t>
                    </m:r>
                    <m:r>
                      <a:rPr lang="en-US" sz="2400" b="0" i="1">
                        <a:solidFill>
                          <a:srgbClr val="0B2B4E"/>
                        </a:solidFill>
                        <a:latin typeface="Cambria Math"/>
                        <a:ea typeface="Cambria Math"/>
                      </a:rPr>
                      <m:t>𝑄</m:t>
                    </m:r>
                    <m:r>
                      <a:rPr lang="en-US" sz="2400" b="0" i="0">
                        <a:solidFill>
                          <a:srgbClr val="0B2B4E"/>
                        </a:solidFill>
                        <a:latin typeface="Cambria Math"/>
                      </a:rPr>
                      <m:t> + 0.2</m:t>
                    </m:r>
                    <m:sSup>
                      <m:sSupPr>
                        <m:ctrlPr>
                          <a:rPr lang="en-US" sz="2400" b="0" i="1">
                            <a:solidFill>
                              <a:srgbClr val="0B2B4E"/>
                            </a:solidFill>
                            <a:latin typeface="Cambria Math"/>
                            <a:ea typeface="Cambria Math"/>
                          </a:rPr>
                        </m:ctrlPr>
                      </m:sSupPr>
                      <m:e>
                        <m:r>
                          <a:rPr lang="en-US" sz="2400" b="0" i="1">
                            <a:solidFill>
                              <a:srgbClr val="0B2B4E"/>
                            </a:solidFill>
                            <a:latin typeface="Cambria Math"/>
                            <a:ea typeface="Cambria Math"/>
                          </a:rPr>
                          <m:t>𝑄</m:t>
                        </m:r>
                      </m:e>
                      <m:sup>
                        <m:r>
                          <a:rPr lang="en-US" sz="2400" b="0" i="0">
                            <a:solidFill>
                              <a:srgbClr val="0B2B4E"/>
                            </a:solidFill>
                            <a:latin typeface="Cambria Math"/>
                          </a:rPr>
                          <m:t>2</m:t>
                        </m:r>
                      </m:sup>
                    </m:sSup>
                  </m:oMath>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389159" y="2788920"/>
                <a:ext cx="11338560" cy="502920"/>
              </a:xfrm>
              <a:prstGeom prst="rect">
                <a:avLst/>
              </a:prstGeom>
              <a:blipFill>
                <a:blip r:embed="rId3"/>
                <a:stretch>
                  <a:fillRect l="-1237" t="-19512" b="-9756"/>
                </a:stretch>
              </a:blipFill>
            </p:spPr>
            <p:txBody>
              <a:bodyPr/>
              <a:lstStyle/>
              <a:p>
                <a:r>
                  <a:rPr lang="en-US">
                    <a:noFill/>
                  </a:rPr>
                  <a:t> </a:t>
                </a:r>
              </a:p>
            </p:txBody>
          </p:sp>
        </mc:Fallback>
      </mc:AlternateContent>
      <p:sp>
        <p:nvSpPr>
          <p:cNvPr id="9" name="TextBox 8"/>
          <p:cNvSpPr txBox="1"/>
          <p:nvPr/>
        </p:nvSpPr>
        <p:spPr>
          <a:xfrm>
            <a:off x="389159" y="3529584"/>
            <a:ext cx="11338560" cy="384048"/>
          </a:xfrm>
          <a:prstGeom prst="rect">
            <a:avLst/>
          </a:prstGeom>
          <a:noFill/>
        </p:spPr>
        <p:txBody>
          <a:bodyPr wrap="square" lIns="0" tIns="0" rIns="0" bIns="0">
            <a:spAutoFit/>
          </a:bodyPr>
          <a:lstStyle/>
          <a:p>
            <a:pPr algn="l"/>
            <a:r>
              <a:rPr sz="2500" b="1" i="0" u="none" dirty="0">
                <a:solidFill>
                  <a:srgbClr val="0B2B4E"/>
                </a:solidFill>
                <a:latin typeface="Calibri"/>
              </a:rPr>
              <a:t>Questions</a:t>
            </a:r>
          </a:p>
        </p:txBody>
      </p:sp>
      <p:sp>
        <p:nvSpPr>
          <p:cNvPr id="10" name="TextBox 9"/>
          <p:cNvSpPr txBox="1"/>
          <p:nvPr/>
        </p:nvSpPr>
        <p:spPr>
          <a:xfrm>
            <a:off x="754919" y="4041648"/>
            <a:ext cx="10241280" cy="1737360"/>
          </a:xfrm>
          <a:prstGeom prst="rect">
            <a:avLst/>
          </a:prstGeom>
          <a:noFill/>
        </p:spPr>
        <p:txBody>
          <a:bodyPr wrap="square" lIns="0" tIns="0" rIns="0" bIns="0">
            <a:no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buNone/>
            </a:pPr>
            <a:r>
              <a:rPr sz="2400" dirty="0">
                <a:solidFill>
                  <a:srgbClr val="0B2B4E"/>
                </a:solidFill>
                <a:latin typeface="Calibri"/>
              </a:rPr>
              <a:t>1.   What quantity should the Yi family now produce?</a:t>
            </a:r>
          </a:p>
          <a:p>
            <a:pPr algn="l">
              <a:spcBef>
                <a:spcPts val="1600"/>
              </a:spcBef>
              <a:buNone/>
            </a:pPr>
            <a:r>
              <a:rPr sz="2400" dirty="0">
                <a:solidFill>
                  <a:srgbClr val="0B2B4E"/>
                </a:solidFill>
                <a:latin typeface="Calibri"/>
              </a:rPr>
              <a:t>2.   What profit do they make at that quantity?</a:t>
            </a:r>
          </a:p>
          <a:p>
            <a:pPr algn="l">
              <a:spcBef>
                <a:spcPts val="1600"/>
              </a:spcBef>
              <a:buNone/>
            </a:pPr>
            <a:r>
              <a:rPr sz="2400" dirty="0">
                <a:solidFill>
                  <a:srgbClr val="0B2B4E"/>
                </a:solidFill>
                <a:latin typeface="Calibri"/>
              </a:rPr>
              <a:t>3.   Should they continue to produce in the short run?</a:t>
            </a:r>
          </a:p>
        </p:txBody>
      </p:sp>
      <p:sp>
        <p:nvSpPr>
          <p:cNvPr id="11" name="Rounded Rectangle 10"/>
          <p:cNvSpPr/>
          <p:nvPr/>
        </p:nvSpPr>
        <p:spPr>
          <a:xfrm>
            <a:off x="9253728" y="5577840"/>
            <a:ext cx="2834640" cy="457200"/>
          </a:xfrm>
          <a:prstGeom prst="roundRect">
            <a:avLst>
              <a:gd name="adj" fmla="val 50000"/>
            </a:avLst>
          </a:prstGeom>
          <a:solidFill>
            <a:srgbClr val="B8860B">
              <a:alpha val="35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  Yi Family Example</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FA77B120-AE11-5A98-8297-21B9F13CAFCC}" type="slidenum">
              <a:rPr lang="en-US" sz="1200" dirty="0">
                <a:solidFill>
                  <a:srgbClr val="555B66"/>
                </a:solidFill>
                <a:latin typeface="Calibri"/>
              </a:rPr>
              <a:t>19</a:t>
            </a:fld>
            <a:endParaRPr lang="en-US" sz="1200" dirty="0">
              <a:solidFill>
                <a:srgbClr val="555B66"/>
              </a:solidFill>
              <a:latin typeface="Calibri"/>
            </a:endParaRPr>
          </a:p>
        </p:txBody>
      </p:sp>
      <p:grpSp>
        <p:nvGrpSpPr>
          <p:cNvPr id="9600" name="PollBreakBadge"/>
          <p:cNvGrpSpPr/>
          <p:nvPr/>
        </p:nvGrpSpPr>
        <p:grpSpPr>
          <a:xfrm>
            <a:off x="9361444" y="6190030"/>
            <a:ext cx="2697480" cy="487009"/>
            <a:chOff x="9361444" y="6190030"/>
            <a:chExt cx="2697480" cy="487009"/>
          </a:xfrm>
        </p:grpSpPr>
        <p:sp>
          <p:nvSpPr>
            <p:cNvPr id="9601" name="PollBreakShape"/>
            <p:cNvSpPr/>
            <p:nvPr/>
          </p:nvSpPr>
          <p:spPr>
            <a:xfrm>
              <a:off x="9361444" y="6190030"/>
              <a:ext cx="2697480" cy="487009"/>
            </a:xfrm>
            <a:custGeom>
              <a:avLst/>
              <a:gdLst/>
              <a:ahLst/>
              <a:cxnLst/>
              <a:rect l="24407" t="0" r="75593" b="100000"/>
              <a:pathLst>
                <a:path w="100000" h="100000">
                  <a:moveTo>
                    <a:pt x="29407" y="0"/>
                  </a:moveTo>
                  <a:lnTo>
                    <a:pt x="95000" y="0"/>
                  </a:lnTo>
                  <a:cubicBezTo>
                    <a:pt x="100000" y="0"/>
                    <a:pt x="100000" y="0"/>
                    <a:pt x="98780" y="5000"/>
                  </a:cubicBezTo>
                  <a:lnTo>
                    <a:pt x="76813" y="95000"/>
                  </a:lnTo>
                  <a:cubicBezTo>
                    <a:pt x="75593" y="100000"/>
                    <a:pt x="75593" y="100000"/>
                    <a:pt x="70593" y="100000"/>
                  </a:cubicBezTo>
                  <a:lnTo>
                    <a:pt x="5000" y="100000"/>
                  </a:lnTo>
                  <a:cubicBezTo>
                    <a:pt x="0" y="100000"/>
                    <a:pt x="0" y="100000"/>
                    <a:pt x="1220"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02" name="PollBreakLabel"/>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build="allAtOnce"/>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r>
              <a:rPr lang="en-US" sz="3200" b="1" dirty="0">
                <a:solidFill>
                  <a:srgbClr val="0B2B4E"/>
                </a:solidFill>
              </a:rPr>
              <a:t>Solution: </a:t>
            </a:r>
            <a:r>
              <a:rPr sz="3200" b="1" i="0" u="none" dirty="0">
                <a:solidFill>
                  <a:srgbClr val="0B2B4E"/>
                </a:solidFill>
                <a:latin typeface="Calibri"/>
              </a:rPr>
              <a:t>New Q* and Profit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261872"/>
            <a:ext cx="4108950" cy="369332"/>
          </a:xfrm>
          <a:prstGeom prst="rect">
            <a:avLst/>
          </a:prstGeom>
          <a:noFill/>
        </p:spPr>
        <p:txBody>
          <a:bodyPr wrap="square" lIns="0" tIns="0" rIns="0" bIns="0">
            <a:spAutoFit/>
          </a:bodyPr>
          <a:lstStyle/>
          <a:p>
            <a:pPr algn="l"/>
            <a:r>
              <a:rPr sz="2400" b="1" i="0" u="none" dirty="0">
                <a:solidFill>
                  <a:srgbClr val="0B2B4E"/>
                </a:solidFill>
                <a:latin typeface="Calibri"/>
              </a:rPr>
              <a:t>Question 1:</a:t>
            </a:r>
            <a:r>
              <a:rPr lang="en-US" sz="2400" b="1" i="0" u="none" dirty="0">
                <a:solidFill>
                  <a:srgbClr val="0B2B4E"/>
                </a:solidFill>
                <a:latin typeface="Calibri"/>
              </a:rPr>
              <a:t> Optimal Quantity</a:t>
            </a:r>
            <a:endParaRPr sz="2400" b="1" i="0" u="none" dirty="0">
              <a:solidFill>
                <a:srgbClr val="0B2B4E"/>
              </a:solidFill>
              <a:latin typeface="Calibri"/>
            </a:endParaRPr>
          </a:p>
        </p:txBody>
      </p:sp>
      <p:sp>
        <p:nvSpPr>
          <p:cNvPr id="8" name="TextBox 7"/>
          <p:cNvSpPr txBox="1"/>
          <p:nvPr/>
        </p:nvSpPr>
        <p:spPr>
          <a:xfrm>
            <a:off x="389159" y="2798064"/>
            <a:ext cx="3657600" cy="369332"/>
          </a:xfrm>
          <a:prstGeom prst="rect">
            <a:avLst/>
          </a:prstGeom>
          <a:noFill/>
        </p:spPr>
        <p:txBody>
          <a:bodyPr wrap="square" lIns="0" tIns="0" rIns="0" bIns="0">
            <a:spAutoFit/>
          </a:bodyPr>
          <a:lstStyle/>
          <a:p>
            <a:pPr algn="l"/>
            <a:r>
              <a:rPr sz="2400" b="1" i="0" u="none" dirty="0">
                <a:solidFill>
                  <a:srgbClr val="0B2B4E"/>
                </a:solidFill>
                <a:latin typeface="Calibri"/>
              </a:rPr>
              <a:t>Question 2:</a:t>
            </a:r>
            <a:r>
              <a:rPr lang="en-US" sz="2400" b="1" i="0" u="none" dirty="0">
                <a:solidFill>
                  <a:srgbClr val="0B2B4E"/>
                </a:solidFill>
                <a:latin typeface="Calibri"/>
              </a:rPr>
              <a:t> Profits</a:t>
            </a:r>
            <a:endParaRPr sz="2400" b="1" i="0" u="none" dirty="0">
              <a:solidFill>
                <a:srgbClr val="0B2B4E"/>
              </a:solidFill>
              <a:latin typeface="Calibri"/>
            </a:endParaRPr>
          </a:p>
        </p:txBody>
      </p:sp>
      <mc:AlternateContent xmlns:mc="http://schemas.openxmlformats.org/markup-compatibility/2006" xmlns:a14="http://schemas.microsoft.com/office/drawing/2010/main">
        <mc:Choice Requires="a14">
          <p:sp>
            <p:nvSpPr>
              <p:cNvPr id="9" name="TextBox 8"/>
              <p:cNvSpPr txBox="1"/>
              <p:nvPr/>
            </p:nvSpPr>
            <p:spPr>
              <a:xfrm>
                <a:off x="1417320" y="1645920"/>
                <a:ext cx="9418320" cy="640080"/>
              </a:xfrm>
              <a:prstGeom prst="rect">
                <a:avLst/>
              </a:prstGeom>
              <a:noFill/>
            </p:spPr>
            <p:txBody>
              <a:bodyPr wrap="square" anchor="ctr">
                <a:spAutoFit/>
              </a:bodyPr>
              <a:lstStyle/>
              <a:p>
                <a:pPr algn="ctr">
                  <a:defRPr sz="2600" b="0" i="1">
                    <a:solidFill>
                      <a:srgbClr val="0B2B4E"/>
                    </a:solidFill>
                    <a:latin typeface="Cambria Math"/>
                  </a:defRPr>
                </a:pPr>
                <a14:m>
                  <m:oMathPara xmlns:m="http://schemas.openxmlformats.org/officeDocument/2006/math">
                    <m:oMath>
                      <m:r>
                        <m:rPr>
                          <m:sty m:val="p"/>
                        </m:rPr>
                        <a:rPr lang="en-US" sz="2600" b="0" i="0">
                          <a:solidFill>
                            <a:srgbClr val="0B2B4E"/>
                          </a:solidFill>
                          <a:latin typeface="Cambria Math"/>
                        </a:rPr>
                        <m:t>MC</m:t>
                      </m:r>
                      <m:r>
                        <a:rPr lang="en-US" sz="2600" b="0" i="0">
                          <a:solidFill>
                            <a:srgbClr val="0B2B4E"/>
                          </a:solidFill>
                          <a:latin typeface="Cambria Math"/>
                        </a:rPr>
                        <m:t> = </m:t>
                      </m:r>
                      <m:r>
                        <m:rPr>
                          <m:sty m:val="p"/>
                        </m:rPr>
                        <a:rPr lang="en-US" sz="2600" b="0" i="0">
                          <a:solidFill>
                            <a:srgbClr val="0B2B4E"/>
                          </a:solidFill>
                          <a:latin typeface="Cambria Math"/>
                        </a:rPr>
                        <m:t>MR</m:t>
                      </m:r>
                      <m:r>
                        <a:rPr lang="en-US" sz="2600" b="0" i="0">
                          <a:solidFill>
                            <a:srgbClr val="0B2B4E"/>
                          </a:solidFill>
                          <a:latin typeface="Cambria Math"/>
                        </a:rPr>
                        <m:t> = </m:t>
                      </m:r>
                      <m:r>
                        <a:rPr lang="en-US" sz="2600" b="0" i="1">
                          <a:solidFill>
                            <a:srgbClr val="0B2B4E"/>
                          </a:solidFill>
                          <a:latin typeface="Cambria Math"/>
                          <a:ea typeface="Cambria Math"/>
                        </a:rPr>
                        <m:t>𝑃</m:t>
                      </m:r>
                    </m:oMath>
                  </m:oMathPara>
                </a14:m>
                <a:endParaRPr lang="en-US" sz="2600"/>
              </a:p>
            </p:txBody>
          </p:sp>
        </mc:Choice>
        <mc:Fallback xmlns="">
          <p:sp>
            <p:nvSpPr>
              <p:cNvPr id="9" name="TextBox 8"/>
              <p:cNvSpPr txBox="1">
                <a:spLocks noRot="1" noChangeAspect="1" noMove="1" noResize="1" noEditPoints="1" noAdjustHandles="1" noChangeArrowheads="1" noChangeShapeType="1" noTextEdit="1"/>
              </p:cNvSpPr>
              <p:nvPr/>
            </p:nvSpPr>
            <p:spPr>
              <a:xfrm>
                <a:off x="1417320" y="1645920"/>
                <a:ext cx="9418320" cy="64008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417320" y="2176272"/>
                <a:ext cx="9418320" cy="640080"/>
              </a:xfrm>
              <a:prstGeom prst="rect">
                <a:avLst/>
              </a:prstGeom>
              <a:noFill/>
            </p:spPr>
            <p:txBody>
              <a:bodyPr wrap="square" anchor="ctr">
                <a:spAutoFit/>
              </a:bodyPr>
              <a:lstStyle/>
              <a:p>
                <a:pPr algn="ctr">
                  <a:defRPr sz="2600" b="0" i="1">
                    <a:solidFill>
                      <a:srgbClr val="0B2B4E"/>
                    </a:solidFill>
                    <a:latin typeface="Cambria Math"/>
                  </a:defRPr>
                </a:pPr>
                <a14:m>
                  <m:oMathPara xmlns:m="http://schemas.openxmlformats.org/officeDocument/2006/math">
                    <m:oMath>
                      <m:r>
                        <a:rPr lang="en-US" sz="2600" b="0" i="0">
                          <a:solidFill>
                            <a:srgbClr val="0B2B4E"/>
                          </a:solidFill>
                          <a:latin typeface="Cambria Math"/>
                        </a:rPr>
                        <m:t>135 + 0.4</m:t>
                      </m:r>
                      <m:r>
                        <a:rPr lang="en-US" sz="2600" b="0" i="1">
                          <a:solidFill>
                            <a:srgbClr val="0B2B4E"/>
                          </a:solidFill>
                          <a:latin typeface="Cambria Math"/>
                          <a:ea typeface="Cambria Math"/>
                        </a:rPr>
                        <m:t>𝑄</m:t>
                      </m:r>
                      <m:r>
                        <a:rPr lang="en-US" sz="2600" b="0" i="0">
                          <a:solidFill>
                            <a:srgbClr val="0B2B4E"/>
                          </a:solidFill>
                          <a:latin typeface="Cambria Math"/>
                        </a:rPr>
                        <m:t> = 210     →     </m:t>
                      </m:r>
                      <m:sSup>
                        <m:sSupPr>
                          <m:ctrlPr>
                            <a:rPr lang="en-US" sz="2600" b="0" i="1">
                              <a:solidFill>
                                <a:srgbClr val="C00000"/>
                              </a:solidFill>
                              <a:latin typeface="Cambria Math"/>
                              <a:ea typeface="Cambria Math"/>
                            </a:rPr>
                          </m:ctrlPr>
                        </m:sSupPr>
                        <m:e>
                          <m:r>
                            <a:rPr lang="en-US" sz="2600" b="0" i="1">
                              <a:solidFill>
                                <a:srgbClr val="C00000"/>
                              </a:solidFill>
                              <a:latin typeface="Cambria Math"/>
                              <a:ea typeface="Cambria Math"/>
                            </a:rPr>
                            <m:t>𝑄</m:t>
                          </m:r>
                        </m:e>
                        <m:sup>
                          <m:r>
                            <a:rPr lang="en-US" sz="2600" b="0" i="0">
                              <a:solidFill>
                                <a:srgbClr val="C00000"/>
                              </a:solidFill>
                              <a:latin typeface="Cambria Math"/>
                            </a:rPr>
                            <m:t>∗</m:t>
                          </m:r>
                        </m:sup>
                      </m:sSup>
                      <m:r>
                        <a:rPr lang="en-US" sz="2600" b="0" i="0">
                          <a:solidFill>
                            <a:srgbClr val="C00000"/>
                          </a:solidFill>
                          <a:latin typeface="Cambria Math"/>
                        </a:rPr>
                        <m:t> = 187.5</m:t>
                      </m:r>
                    </m:oMath>
                  </m:oMathPara>
                </a14:m>
                <a:endParaRPr lang="en-US" sz="2600"/>
              </a:p>
            </p:txBody>
          </p:sp>
        </mc:Choice>
        <mc:Fallback xmlns="">
          <p:sp>
            <p:nvSpPr>
              <p:cNvPr id="10" name="TextBox 9"/>
              <p:cNvSpPr txBox="1">
                <a:spLocks noRot="1" noChangeAspect="1" noMove="1" noResize="1" noEditPoints="1" noAdjustHandles="1" noChangeArrowheads="1" noChangeShapeType="1" noTextEdit="1"/>
              </p:cNvSpPr>
              <p:nvPr/>
            </p:nvSpPr>
            <p:spPr>
              <a:xfrm>
                <a:off x="1417320" y="2176272"/>
                <a:ext cx="9418320" cy="64008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417320" y="3182112"/>
                <a:ext cx="9418320" cy="640080"/>
              </a:xfrm>
              <a:prstGeom prst="rect">
                <a:avLst/>
              </a:prstGeom>
              <a:noFill/>
            </p:spPr>
            <p:txBody>
              <a:bodyPr wrap="square" anchor="ctr">
                <a:spAutoFit/>
              </a:bodyPr>
              <a:lstStyle/>
              <a:p>
                <a:pPr algn="ctr">
                  <a:defRPr sz="2600" b="0" i="1">
                    <a:solidFill>
                      <a:srgbClr val="0B2B4E"/>
                    </a:solidFill>
                    <a:latin typeface="Cambria Math"/>
                  </a:defRPr>
                </a:pPr>
                <a14:m>
                  <m:oMathPara xmlns:m="http://schemas.openxmlformats.org/officeDocument/2006/math">
                    <m:oMath>
                      <m:r>
                        <m:rPr>
                          <m:sty m:val="p"/>
                        </m:rPr>
                        <a:rPr lang="en-US" sz="2600" b="0" i="0">
                          <a:solidFill>
                            <a:srgbClr val="0B2B4E"/>
                          </a:solidFill>
                          <a:latin typeface="Cambria Math"/>
                        </a:rPr>
                        <m:t>TR</m:t>
                      </m:r>
                      <m:r>
                        <a:rPr lang="en-US" sz="2600" b="0" i="0">
                          <a:solidFill>
                            <a:srgbClr val="0B2B4E"/>
                          </a:solidFill>
                          <a:latin typeface="Cambria Math"/>
                        </a:rPr>
                        <m:t> = </m:t>
                      </m:r>
                      <m:r>
                        <a:rPr lang="en-US" sz="2600" b="0" i="1">
                          <a:solidFill>
                            <a:srgbClr val="0B2B4E"/>
                          </a:solidFill>
                          <a:latin typeface="Cambria Math"/>
                          <a:ea typeface="Cambria Math"/>
                        </a:rPr>
                        <m:t>𝑃</m:t>
                      </m:r>
                      <m:r>
                        <a:rPr lang="en-US" sz="2600" b="0" i="0">
                          <a:solidFill>
                            <a:srgbClr val="0B2B4E"/>
                          </a:solidFill>
                          <a:latin typeface="Cambria Math"/>
                        </a:rPr>
                        <m:t> · </m:t>
                      </m:r>
                      <m:r>
                        <a:rPr lang="en-US" sz="2600" b="0" i="1">
                          <a:solidFill>
                            <a:srgbClr val="0B2B4E"/>
                          </a:solidFill>
                          <a:latin typeface="Cambria Math"/>
                          <a:ea typeface="Cambria Math"/>
                        </a:rPr>
                        <m:t>𝑄</m:t>
                      </m:r>
                      <m:r>
                        <a:rPr lang="en-US" sz="2600" b="0" i="0">
                          <a:solidFill>
                            <a:srgbClr val="0B2B4E"/>
                          </a:solidFill>
                          <a:latin typeface="Cambria Math"/>
                        </a:rPr>
                        <m:t> = 210 · 187.5 = 39,375</m:t>
                      </m:r>
                    </m:oMath>
                  </m:oMathPara>
                </a14:m>
                <a:endParaRPr lang="en-US" sz="2600"/>
              </a:p>
            </p:txBody>
          </p:sp>
        </mc:Choice>
        <mc:Fallback xmlns="">
          <p:sp>
            <p:nvSpPr>
              <p:cNvPr id="11" name="TextBox 10"/>
              <p:cNvSpPr txBox="1">
                <a:spLocks noRot="1" noChangeAspect="1" noMove="1" noResize="1" noEditPoints="1" noAdjustHandles="1" noChangeArrowheads="1" noChangeShapeType="1" noTextEdit="1"/>
              </p:cNvSpPr>
              <p:nvPr/>
            </p:nvSpPr>
            <p:spPr>
              <a:xfrm>
                <a:off x="1417320" y="3182112"/>
                <a:ext cx="9418320" cy="64008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417320" y="3675887"/>
                <a:ext cx="9418320" cy="640080"/>
              </a:xfrm>
              <a:prstGeom prst="rect">
                <a:avLst/>
              </a:prstGeom>
              <a:noFill/>
            </p:spPr>
            <p:txBody>
              <a:bodyPr wrap="square" anchor="ctr">
                <a:spAutoFit/>
              </a:bodyPr>
              <a:lstStyle/>
              <a:p>
                <a:pPr algn="ctr">
                  <a:defRPr sz="2400" b="0" i="1">
                    <a:solidFill>
                      <a:srgbClr val="0B2B4E"/>
                    </a:solidFill>
                    <a:latin typeface="Cambria Math"/>
                  </a:defRPr>
                </a:pPr>
                <a14:m>
                  <m:oMathPara xmlns:m="http://schemas.openxmlformats.org/officeDocument/2006/math">
                    <m:oMath>
                      <m:r>
                        <m:rPr>
                          <m:sty m:val="p"/>
                        </m:rPr>
                        <a:rPr lang="en-US" sz="2400" b="0" i="0">
                          <a:solidFill>
                            <a:srgbClr val="0B2B4E"/>
                          </a:solidFill>
                          <a:latin typeface="Cambria Math"/>
                        </a:rPr>
                        <m:t>TC</m:t>
                      </m:r>
                      <m:r>
                        <a:rPr lang="en-US" sz="2400" b="0" i="0">
                          <a:solidFill>
                            <a:srgbClr val="0B2B4E"/>
                          </a:solidFill>
                          <a:latin typeface="Cambria Math"/>
                        </a:rPr>
                        <m:t> = 60,000 + 135 · 187.5 + 0.2 · </m:t>
                      </m:r>
                      <m:sSup>
                        <m:sSupPr>
                          <m:ctrlPr>
                            <a:rPr lang="en-US" sz="2400" b="0" i="0">
                              <a:solidFill>
                                <a:srgbClr val="0B2B4E"/>
                              </a:solidFill>
                              <a:latin typeface="Cambria Math"/>
                            </a:rPr>
                          </m:ctrlPr>
                        </m:sSupPr>
                        <m:e>
                          <m:r>
                            <a:rPr lang="en-US" sz="2400" b="0" i="0">
                              <a:solidFill>
                                <a:srgbClr val="0B2B4E"/>
                              </a:solidFill>
                              <a:latin typeface="Cambria Math"/>
                            </a:rPr>
                            <m:t>187.5</m:t>
                          </m:r>
                        </m:e>
                        <m:sup>
                          <m:r>
                            <a:rPr lang="en-US" sz="2400" b="0" i="0">
                              <a:solidFill>
                                <a:srgbClr val="0B2B4E"/>
                              </a:solidFill>
                              <a:latin typeface="Cambria Math"/>
                            </a:rPr>
                            <m:t>2</m:t>
                          </m:r>
                        </m:sup>
                      </m:sSup>
                      <m:r>
                        <a:rPr lang="en-US" sz="2400" b="0" i="0">
                          <a:solidFill>
                            <a:srgbClr val="0B2B4E"/>
                          </a:solidFill>
                          <a:latin typeface="Cambria Math"/>
                        </a:rPr>
                        <m:t> = 92,343.75</m:t>
                      </m:r>
                    </m:oMath>
                  </m:oMathPara>
                </a14:m>
                <a:endParaRPr lang="en-US" sz="2400"/>
              </a:p>
            </p:txBody>
          </p:sp>
        </mc:Choice>
        <mc:Fallback xmlns="">
          <p:sp>
            <p:nvSpPr>
              <p:cNvPr id="12" name="TextBox 11"/>
              <p:cNvSpPr txBox="1">
                <a:spLocks noRot="1" noChangeAspect="1" noMove="1" noResize="1" noEditPoints="1" noAdjustHandles="1" noChangeArrowheads="1" noChangeShapeType="1" noTextEdit="1"/>
              </p:cNvSpPr>
              <p:nvPr/>
            </p:nvSpPr>
            <p:spPr>
              <a:xfrm>
                <a:off x="1417320" y="3675887"/>
                <a:ext cx="9418320" cy="64008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417320" y="4206240"/>
                <a:ext cx="9418320" cy="640080"/>
              </a:xfrm>
              <a:prstGeom prst="rect">
                <a:avLst/>
              </a:prstGeom>
              <a:noFill/>
            </p:spPr>
            <p:txBody>
              <a:bodyPr wrap="square" anchor="ctr">
                <a:spAutoFit/>
              </a:bodyPr>
              <a:lstStyle/>
              <a:p>
                <a:pPr algn="ctr">
                  <a:defRPr sz="2800" b="0" i="1">
                    <a:solidFill>
                      <a:srgbClr val="A2162A"/>
                    </a:solidFill>
                    <a:latin typeface="Cambria Math"/>
                  </a:defRPr>
                </a:pPr>
                <a14:m>
                  <m:oMathPara xmlns:m="http://schemas.openxmlformats.org/officeDocument/2006/math">
                    <m:oMath>
                      <m:r>
                        <a:rPr lang="en-US" sz="2800" b="0" i="1">
                          <a:solidFill>
                            <a:srgbClr val="A2162A"/>
                          </a:solidFill>
                          <a:latin typeface="Cambria Math"/>
                          <a:ea typeface="Cambria Math"/>
                        </a:rPr>
                        <m:t>𝜋</m:t>
                      </m:r>
                      <m:r>
                        <a:rPr lang="en-US" sz="2800" b="0" i="0">
                          <a:solidFill>
                            <a:srgbClr val="A2162A"/>
                          </a:solidFill>
                          <a:latin typeface="Cambria Math"/>
                        </a:rPr>
                        <m:t> = 39,375 − 92,343.75 = −52,968.75</m:t>
                      </m:r>
                    </m:oMath>
                  </m:oMathPara>
                </a14:m>
                <a:endParaRPr lang="en-US" sz="2800"/>
              </a:p>
            </p:txBody>
          </p:sp>
        </mc:Choice>
        <mc:Fallback xmlns="">
          <p:sp>
            <p:nvSpPr>
              <p:cNvPr id="13" name="TextBox 12"/>
              <p:cNvSpPr txBox="1">
                <a:spLocks noRot="1" noChangeAspect="1" noMove="1" noResize="1" noEditPoints="1" noAdjustHandles="1" noChangeArrowheads="1" noChangeShapeType="1" noTextEdit="1"/>
              </p:cNvSpPr>
              <p:nvPr/>
            </p:nvSpPr>
            <p:spPr>
              <a:xfrm>
                <a:off x="1417320" y="4206240"/>
                <a:ext cx="9418320" cy="640080"/>
              </a:xfrm>
              <a:prstGeom prst="rect">
                <a:avLst/>
              </a:prstGeom>
              <a:blipFill>
                <a:blip r:embed="rId7"/>
                <a:stretch>
                  <a:fillRect/>
                </a:stretch>
              </a:blipFill>
            </p:spPr>
            <p:txBody>
              <a:bodyPr/>
              <a:lstStyle/>
              <a:p>
                <a:r>
                  <a:rPr lang="en-US">
                    <a:noFill/>
                  </a:rPr>
                  <a:t> </a:t>
                </a:r>
              </a:p>
            </p:txBody>
          </p:sp>
        </mc:Fallback>
      </mc:AlternateContent>
      <p:sp>
        <p:nvSpPr>
          <p:cNvPr id="14" name="Rounded Rectangle 13"/>
          <p:cNvSpPr/>
          <p:nvPr/>
        </p:nvSpPr>
        <p:spPr>
          <a:xfrm>
            <a:off x="685800" y="4892040"/>
            <a:ext cx="841248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0B2B4E"/>
                </a:solidFill>
                <a:latin typeface="Calibri"/>
              </a:rPr>
              <a:t>At the new price, the Yi family makes a loss at the optimal output level</a:t>
            </a:r>
          </a:p>
        </p:txBody>
      </p:sp>
      <p:sp>
        <p:nvSpPr>
          <p:cNvPr id="15" name="Rounded Rectangle 14"/>
          <p:cNvSpPr/>
          <p:nvPr/>
        </p:nvSpPr>
        <p:spPr>
          <a:xfrm>
            <a:off x="9253728" y="5577840"/>
            <a:ext cx="2834640" cy="457200"/>
          </a:xfrm>
          <a:prstGeom prst="roundRect">
            <a:avLst>
              <a:gd name="adj" fmla="val 50000"/>
            </a:avLst>
          </a:prstGeom>
          <a:solidFill>
            <a:srgbClr val="B8860B">
              <a:alpha val="35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  Yi Family Example</a:t>
            </a:r>
          </a:p>
        </p:txBody>
      </p: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9" name="TextBox 18"/>
          <p:cNvSpPr txBox="1"/>
          <p:nvPr/>
        </p:nvSpPr>
        <p:spPr>
          <a:xfrm>
            <a:off x="11475720" y="6583680"/>
            <a:ext cx="502920" cy="292608"/>
          </a:xfrm>
          <a:prstGeom prst="rect">
            <a:avLst/>
          </a:prstGeom>
          <a:noFill/>
        </p:spPr>
        <p:txBody>
          <a:bodyPr wrap="none" lIns="0" tIns="0" rIns="0" bIns="0">
            <a:spAutoFit/>
          </a:bodyPr>
          <a:lstStyle/>
          <a:p>
            <a:pPr algn="r"/>
            <a:fld id="{C60CDA10-FF3E-5A5D-8B64-443D504D2432}" type="slidenum">
              <a:rPr lang="en-US" sz="1200" dirty="0">
                <a:solidFill>
                  <a:srgbClr val="555B66"/>
                </a:solidFill>
                <a:latin typeface="Calibri"/>
              </a:rPr>
              <a:t>20</a:t>
            </a:fld>
            <a:endParaRPr lang="en-US" sz="1200" dirty="0">
              <a:solidFill>
                <a:srgbClr val="555B66"/>
              </a:solidFill>
              <a:latin typeface="Calibri"/>
            </a:endParaRPr>
          </a:p>
        </p:txBody>
      </p:sp>
      <p:grpSp>
        <p:nvGrpSpPr>
          <p:cNvPr id="9610" name="PollBreakBadge"/>
          <p:cNvGrpSpPr/>
          <p:nvPr/>
        </p:nvGrpSpPr>
        <p:grpSpPr>
          <a:xfrm>
            <a:off x="9361444" y="6190030"/>
            <a:ext cx="2697480" cy="487009"/>
            <a:chOff x="9361444" y="6190030"/>
            <a:chExt cx="2697480" cy="487009"/>
          </a:xfrm>
        </p:grpSpPr>
        <p:sp>
          <p:nvSpPr>
            <p:cNvPr id="9611" name="PollBreakShape"/>
            <p:cNvSpPr/>
            <p:nvPr/>
          </p:nvSpPr>
          <p:spPr>
            <a:xfrm>
              <a:off x="9361444" y="6190030"/>
              <a:ext cx="2697480" cy="487009"/>
            </a:xfrm>
            <a:custGeom>
              <a:avLst/>
              <a:gdLst/>
              <a:ahLst/>
              <a:cxnLst/>
              <a:rect l="24407" t="0" r="75593" b="100000"/>
              <a:pathLst>
                <a:path w="100000" h="100000">
                  <a:moveTo>
                    <a:pt x="29407" y="0"/>
                  </a:moveTo>
                  <a:lnTo>
                    <a:pt x="95000" y="0"/>
                  </a:lnTo>
                  <a:cubicBezTo>
                    <a:pt x="100000" y="0"/>
                    <a:pt x="100000" y="0"/>
                    <a:pt x="98780" y="5000"/>
                  </a:cubicBezTo>
                  <a:lnTo>
                    <a:pt x="76813" y="95000"/>
                  </a:lnTo>
                  <a:cubicBezTo>
                    <a:pt x="75593" y="100000"/>
                    <a:pt x="75593" y="100000"/>
                    <a:pt x="70593" y="100000"/>
                  </a:cubicBezTo>
                  <a:lnTo>
                    <a:pt x="5000" y="100000"/>
                  </a:lnTo>
                  <a:cubicBezTo>
                    <a:pt x="0" y="100000"/>
                    <a:pt x="0" y="100000"/>
                    <a:pt x="1220"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12" name="PollBreakLabel"/>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r>
              <a:rPr lang="en-US" sz="3200" b="1" dirty="0">
                <a:solidFill>
                  <a:srgbClr val="0B2B4E"/>
                </a:solidFill>
              </a:rPr>
              <a:t>Solution to Question </a:t>
            </a:r>
            <a:r>
              <a:rPr lang="en-US" sz="3200" b="1" i="0" u="none" dirty="0">
                <a:solidFill>
                  <a:srgbClr val="0B2B4E"/>
                </a:solidFill>
                <a:latin typeface="Calibri"/>
              </a:rPr>
              <a:t>3: </a:t>
            </a:r>
            <a:r>
              <a:rPr sz="3200" b="1" i="0" u="none" dirty="0">
                <a:solidFill>
                  <a:srgbClr val="0B2B4E"/>
                </a:solidFill>
                <a:latin typeface="Calibri"/>
              </a:rPr>
              <a:t>Decision to Continue Production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p:cNvSpPr txBox="1"/>
              <p:nvPr/>
            </p:nvSpPr>
            <p:spPr>
              <a:xfrm>
                <a:off x="1417320" y="1426464"/>
                <a:ext cx="9418320" cy="914400"/>
              </a:xfrm>
              <a:prstGeom prst="rect">
                <a:avLst/>
              </a:prstGeom>
              <a:noFill/>
            </p:spPr>
            <p:txBody>
              <a:bodyPr wrap="square" anchor="ctr">
                <a:spAutoFit/>
              </a:bodyPr>
              <a:lstStyle/>
              <a:p>
                <a:pPr algn="ctr">
                  <a:defRPr sz="2600" b="0" i="1">
                    <a:solidFill>
                      <a:srgbClr val="0B2B4E"/>
                    </a:solidFill>
                    <a:latin typeface="Cambria Math"/>
                  </a:defRPr>
                </a:pPr>
                <a14:m>
                  <m:oMathPara xmlns:m="http://schemas.openxmlformats.org/officeDocument/2006/math">
                    <m:oMath>
                      <m:r>
                        <m:rPr>
                          <m:sty m:val="p"/>
                        </m:rPr>
                        <a:rPr lang="en-US" sz="2600" b="0" i="0">
                          <a:solidFill>
                            <a:srgbClr val="0B2B4E"/>
                          </a:solidFill>
                          <a:latin typeface="Cambria Math"/>
                        </a:rPr>
                        <m:t>AVC</m:t>
                      </m:r>
                      <m:r>
                        <a:rPr lang="en-US" sz="2600" b="0" i="0">
                          <a:solidFill>
                            <a:srgbClr val="0B2B4E"/>
                          </a:solidFill>
                          <a:latin typeface="Cambria Math"/>
                        </a:rPr>
                        <m:t> = </m:t>
                      </m:r>
                      <m:f>
                        <m:fPr>
                          <m:ctrlPr>
                            <a:rPr lang="en-US" sz="2600" b="0" i="0">
                              <a:solidFill>
                                <a:srgbClr val="0B2B4E"/>
                              </a:solidFill>
                              <a:latin typeface="Cambria Math"/>
                            </a:rPr>
                          </m:ctrlPr>
                        </m:fPr>
                        <m:num>
                          <m:r>
                            <a:rPr lang="en-US" sz="2600" b="0" i="0">
                              <a:solidFill>
                                <a:srgbClr val="0B2B4E"/>
                              </a:solidFill>
                              <a:latin typeface="Cambria Math"/>
                            </a:rPr>
                            <m:t>135</m:t>
                          </m:r>
                          <m:r>
                            <a:rPr lang="en-US" sz="2600" b="0" i="1">
                              <a:solidFill>
                                <a:srgbClr val="0B2B4E"/>
                              </a:solidFill>
                              <a:latin typeface="Cambria Math"/>
                              <a:ea typeface="Cambria Math"/>
                            </a:rPr>
                            <m:t>𝑄</m:t>
                          </m:r>
                          <m:r>
                            <a:rPr lang="en-US" sz="2600" b="0" i="0">
                              <a:solidFill>
                                <a:srgbClr val="0B2B4E"/>
                              </a:solidFill>
                              <a:latin typeface="Cambria Math"/>
                            </a:rPr>
                            <m:t> + 0.2</m:t>
                          </m:r>
                          <m:sSup>
                            <m:sSupPr>
                              <m:ctrlPr>
                                <a:rPr lang="en-US" sz="2600" b="0" i="1">
                                  <a:solidFill>
                                    <a:srgbClr val="0B2B4E"/>
                                  </a:solidFill>
                                  <a:latin typeface="Cambria Math"/>
                                  <a:ea typeface="Cambria Math"/>
                                </a:rPr>
                              </m:ctrlPr>
                            </m:sSupPr>
                            <m:e>
                              <m:r>
                                <a:rPr lang="en-US" sz="2600" b="0" i="1">
                                  <a:solidFill>
                                    <a:srgbClr val="0B2B4E"/>
                                  </a:solidFill>
                                  <a:latin typeface="Cambria Math"/>
                                  <a:ea typeface="Cambria Math"/>
                                </a:rPr>
                                <m:t>𝑄</m:t>
                              </m:r>
                            </m:e>
                            <m:sup>
                              <m:r>
                                <a:rPr lang="en-US" sz="2600" b="0" i="0">
                                  <a:solidFill>
                                    <a:srgbClr val="0B2B4E"/>
                                  </a:solidFill>
                                  <a:latin typeface="Cambria Math"/>
                                </a:rPr>
                                <m:t>2</m:t>
                              </m:r>
                            </m:sup>
                          </m:sSup>
                        </m:num>
                        <m:den>
                          <m:r>
                            <a:rPr lang="en-US" sz="2600" b="0" i="1">
                              <a:solidFill>
                                <a:srgbClr val="0B2B4E"/>
                              </a:solidFill>
                              <a:latin typeface="Cambria Math"/>
                              <a:ea typeface="Cambria Math"/>
                            </a:rPr>
                            <m:t>𝑄</m:t>
                          </m:r>
                        </m:den>
                      </m:f>
                      <m:r>
                        <a:rPr lang="en-US" sz="2600" b="0" i="0">
                          <a:solidFill>
                            <a:srgbClr val="0B2B4E"/>
                          </a:solidFill>
                          <a:latin typeface="Cambria Math"/>
                        </a:rPr>
                        <m:t> = 135 + 0.2</m:t>
                      </m:r>
                      <m:r>
                        <a:rPr lang="en-US" sz="2600" b="0" i="1">
                          <a:solidFill>
                            <a:srgbClr val="0B2B4E"/>
                          </a:solidFill>
                          <a:latin typeface="Cambria Math"/>
                          <a:ea typeface="Cambria Math"/>
                        </a:rPr>
                        <m:t>𝑄</m:t>
                      </m:r>
                    </m:oMath>
                  </m:oMathPara>
                </a14:m>
                <a:endParaRPr lang="en-US" sz="2600"/>
              </a:p>
            </p:txBody>
          </p:sp>
        </mc:Choice>
        <mc:Fallback xmlns="">
          <p:sp>
            <p:nvSpPr>
              <p:cNvPr id="7" name="TextBox 6"/>
              <p:cNvSpPr txBox="1">
                <a:spLocks noRot="1" noChangeAspect="1" noMove="1" noResize="1" noEditPoints="1" noAdjustHandles="1" noChangeArrowheads="1" noChangeShapeType="1" noTextEdit="1"/>
              </p:cNvSpPr>
              <p:nvPr/>
            </p:nvSpPr>
            <p:spPr>
              <a:xfrm>
                <a:off x="1417320" y="1426464"/>
                <a:ext cx="9418320" cy="9144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417320" y="2432304"/>
                <a:ext cx="9418320" cy="713232"/>
              </a:xfrm>
              <a:prstGeom prst="rect">
                <a:avLst/>
              </a:prstGeom>
              <a:noFill/>
            </p:spPr>
            <p:txBody>
              <a:bodyPr wrap="square" anchor="ctr">
                <a:spAutoFit/>
              </a:bodyPr>
              <a:lstStyle/>
              <a:p>
                <a:pPr algn="ctr">
                  <a:defRPr sz="2600" b="0" i="1">
                    <a:solidFill>
                      <a:srgbClr val="0B2B4E"/>
                    </a:solidFill>
                    <a:latin typeface="Cambria Math"/>
                  </a:defRPr>
                </a:pPr>
                <a14:m>
                  <m:oMathPara xmlns:m="http://schemas.openxmlformats.org/officeDocument/2006/math">
                    <m:oMath>
                      <m:r>
                        <m:rPr>
                          <m:sty m:val="p"/>
                        </m:rPr>
                        <a:rPr lang="en-US" sz="2600" b="0" i="0">
                          <a:solidFill>
                            <a:srgbClr val="0B2B4E"/>
                          </a:solidFill>
                          <a:latin typeface="Cambria Math"/>
                        </a:rPr>
                        <m:t>AVC</m:t>
                      </m:r>
                      <m:r>
                        <a:rPr lang="en-US" sz="2600" b="0" i="0">
                          <a:solidFill>
                            <a:srgbClr val="0B2B4E"/>
                          </a:solidFill>
                          <a:latin typeface="Cambria Math"/>
                        </a:rPr>
                        <m:t> </m:t>
                      </m:r>
                      <m:r>
                        <m:rPr>
                          <m:sty m:val="p"/>
                        </m:rPr>
                        <a:rPr lang="en-US" sz="2600" b="0" i="0">
                          <a:solidFill>
                            <a:srgbClr val="0B2B4E"/>
                          </a:solidFill>
                          <a:latin typeface="Cambria Math"/>
                        </a:rPr>
                        <m:t>at</m:t>
                      </m:r>
                      <m:r>
                        <a:rPr lang="en-US" sz="2600" b="0" i="0">
                          <a:solidFill>
                            <a:srgbClr val="0B2B4E"/>
                          </a:solidFill>
                          <a:latin typeface="Cambria Math"/>
                        </a:rPr>
                        <m:t> </m:t>
                      </m:r>
                      <m:sSup>
                        <m:sSupPr>
                          <m:ctrlPr>
                            <a:rPr lang="en-US" sz="2600" b="0" i="1">
                              <a:solidFill>
                                <a:srgbClr val="0B2B4E"/>
                              </a:solidFill>
                              <a:latin typeface="Cambria Math"/>
                              <a:ea typeface="Cambria Math"/>
                            </a:rPr>
                          </m:ctrlPr>
                        </m:sSupPr>
                        <m:e>
                          <m:r>
                            <a:rPr lang="en-US" sz="2600" b="0" i="1">
                              <a:solidFill>
                                <a:srgbClr val="0B2B4E"/>
                              </a:solidFill>
                              <a:latin typeface="Cambria Math"/>
                              <a:ea typeface="Cambria Math"/>
                            </a:rPr>
                            <m:t>𝑄</m:t>
                          </m:r>
                        </m:e>
                        <m:sup>
                          <m:r>
                            <a:rPr lang="en-US" sz="2600" b="0" i="0">
                              <a:solidFill>
                                <a:srgbClr val="0B2B4E"/>
                              </a:solidFill>
                              <a:latin typeface="Cambria Math"/>
                            </a:rPr>
                            <m:t>∗</m:t>
                          </m:r>
                        </m:sup>
                      </m:sSup>
                      <m:r>
                        <a:rPr lang="en-US" sz="2600" b="0" i="0">
                          <a:solidFill>
                            <a:srgbClr val="0B2B4E"/>
                          </a:solidFill>
                          <a:latin typeface="Cambria Math"/>
                        </a:rPr>
                        <m:t> = 187.5  </m:t>
                      </m:r>
                      <m:r>
                        <m:rPr>
                          <m:sty m:val="p"/>
                        </m:rPr>
                        <a:rPr lang="en-US" sz="2600" b="0" i="0">
                          <a:solidFill>
                            <a:srgbClr val="0B2B4E"/>
                          </a:solidFill>
                          <a:latin typeface="Cambria Math"/>
                        </a:rPr>
                        <m:t>is</m:t>
                      </m:r>
                      <m:r>
                        <a:rPr lang="en-US" sz="2600" b="0" i="0">
                          <a:solidFill>
                            <a:srgbClr val="0B2B4E"/>
                          </a:solidFill>
                          <a:latin typeface="Cambria Math"/>
                        </a:rPr>
                        <m:t>  135 + 37.5 = 172.5</m:t>
                      </m:r>
                    </m:oMath>
                  </m:oMathPara>
                </a14:m>
                <a:endParaRPr lang="en-US" sz="2600" dirty="0"/>
              </a:p>
            </p:txBody>
          </p:sp>
        </mc:Choice>
        <mc:Fallback xmlns="">
          <p:sp>
            <p:nvSpPr>
              <p:cNvPr id="8" name="TextBox 7"/>
              <p:cNvSpPr txBox="1">
                <a:spLocks noRot="1" noChangeAspect="1" noMove="1" noResize="1" noEditPoints="1" noAdjustHandles="1" noChangeArrowheads="1" noChangeShapeType="1" noTextEdit="1"/>
              </p:cNvSpPr>
              <p:nvPr/>
            </p:nvSpPr>
            <p:spPr>
              <a:xfrm>
                <a:off x="1417320" y="2432304"/>
                <a:ext cx="9418320" cy="7132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417320" y="3200400"/>
                <a:ext cx="9418320" cy="621792"/>
              </a:xfrm>
              <a:prstGeom prst="rect">
                <a:avLst/>
              </a:prstGeom>
              <a:noFill/>
            </p:spPr>
            <p:txBody>
              <a:bodyPr wrap="square" anchor="ctr">
                <a:spAutoFit/>
              </a:bodyPr>
              <a:lstStyle/>
              <a:p>
                <a:pPr algn="ctr">
                  <a:defRPr sz="2600" b="0" i="1">
                    <a:solidFill>
                      <a:srgbClr val="0B2B4E"/>
                    </a:solidFill>
                    <a:latin typeface="Cambria Math"/>
                  </a:defRPr>
                </a:pPr>
                <a14:m>
                  <m:oMathPara xmlns:m="http://schemas.openxmlformats.org/officeDocument/2006/math">
                    <m:oMath>
                      <m:r>
                        <m:rPr>
                          <m:sty m:val="p"/>
                        </m:rPr>
                        <a:rPr lang="en-US" sz="2600" b="0" i="0">
                          <a:solidFill>
                            <a:srgbClr val="0B2B4E"/>
                          </a:solidFill>
                          <a:latin typeface="Cambria Math"/>
                        </a:rPr>
                        <m:t>Recall</m:t>
                      </m:r>
                      <m:r>
                        <a:rPr lang="en-US" sz="2600" b="0" i="0">
                          <a:solidFill>
                            <a:srgbClr val="0B2B4E"/>
                          </a:solidFill>
                          <a:latin typeface="Cambria Math"/>
                        </a:rPr>
                        <m:t>:   </m:t>
                      </m:r>
                      <m:r>
                        <a:rPr lang="en-US" sz="2600" b="0" i="1">
                          <a:solidFill>
                            <a:srgbClr val="0B2B4E"/>
                          </a:solidFill>
                          <a:latin typeface="Cambria Math"/>
                          <a:ea typeface="Cambria Math"/>
                        </a:rPr>
                        <m:t>𝑃</m:t>
                      </m:r>
                      <m:r>
                        <a:rPr lang="en-US" sz="2600" b="0" i="0">
                          <a:solidFill>
                            <a:srgbClr val="0B2B4E"/>
                          </a:solidFill>
                          <a:latin typeface="Cambria Math"/>
                        </a:rPr>
                        <m:t> = 210</m:t>
                      </m:r>
                    </m:oMath>
                  </m:oMathPara>
                </a14:m>
                <a:endParaRPr lang="en-US" sz="2600" dirty="0"/>
              </a:p>
            </p:txBody>
          </p:sp>
        </mc:Choice>
        <mc:Fallback xmlns="">
          <p:sp>
            <p:nvSpPr>
              <p:cNvPr id="9" name="TextBox 8"/>
              <p:cNvSpPr txBox="1">
                <a:spLocks noRot="1" noChangeAspect="1" noMove="1" noResize="1" noEditPoints="1" noAdjustHandles="1" noChangeArrowheads="1" noChangeShapeType="1" noTextEdit="1"/>
              </p:cNvSpPr>
              <p:nvPr/>
            </p:nvSpPr>
            <p:spPr>
              <a:xfrm>
                <a:off x="1417320" y="3200400"/>
                <a:ext cx="9418320" cy="62179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1417320" y="3926342"/>
                <a:ext cx="9418320" cy="523220"/>
              </a:xfrm>
              <a:prstGeom prst="rect">
                <a:avLst/>
              </a:prstGeom>
              <a:noFill/>
            </p:spPr>
            <p:txBody>
              <a:bodyPr wrap="square" anchor="ctr">
                <a:spAutoFit/>
              </a:bodyPr>
              <a:lstStyle/>
              <a:p>
                <a:pPr algn="ctr">
                  <a:defRPr sz="2800" b="0" i="1">
                    <a:solidFill>
                      <a:srgbClr val="A2162A"/>
                    </a:solidFill>
                    <a:latin typeface="Cambria Math"/>
                  </a:defRPr>
                </a:pPr>
                <a14:m>
                  <m:oMathPara xmlns:m="http://schemas.openxmlformats.org/officeDocument/2006/math">
                    <m:oMath>
                      <m:r>
                        <m:rPr>
                          <m:sty m:val="p"/>
                        </m:rPr>
                        <a:rPr lang="en-US" sz="2800" b="0" i="0" smtClean="0">
                          <a:solidFill>
                            <a:srgbClr val="A2162A"/>
                          </a:solidFill>
                          <a:latin typeface="Cambria Math" panose="02040503050406030204" pitchFamily="18" charset="0"/>
                        </a:rPr>
                        <m:t>Thus</m:t>
                      </m:r>
                      <m:r>
                        <a:rPr lang="en-US" sz="2800" b="0" i="0" smtClean="0">
                          <a:solidFill>
                            <a:srgbClr val="A2162A"/>
                          </a:solidFill>
                          <a:latin typeface="Cambria Math" panose="02040503050406030204" pitchFamily="18" charset="0"/>
                        </a:rPr>
                        <m:t>:   </m:t>
                      </m:r>
                      <m:r>
                        <a:rPr lang="en-US" sz="2800" b="0" i="1">
                          <a:solidFill>
                            <a:srgbClr val="A2162A"/>
                          </a:solidFill>
                          <a:latin typeface="Cambria Math"/>
                          <a:ea typeface="Cambria Math"/>
                        </a:rPr>
                        <m:t>𝑃</m:t>
                      </m:r>
                      <m:r>
                        <a:rPr lang="en-US" sz="2800" b="0" i="0">
                          <a:solidFill>
                            <a:srgbClr val="A2162A"/>
                          </a:solidFill>
                          <a:latin typeface="Cambria Math"/>
                        </a:rPr>
                        <m:t>  &gt;  </m:t>
                      </m:r>
                      <m:r>
                        <m:rPr>
                          <m:sty m:val="p"/>
                        </m:rPr>
                        <a:rPr lang="en-US" sz="2800" b="0" i="0">
                          <a:solidFill>
                            <a:srgbClr val="A2162A"/>
                          </a:solidFill>
                          <a:latin typeface="Cambria Math"/>
                        </a:rPr>
                        <m:t>AVC</m:t>
                      </m:r>
                    </m:oMath>
                  </m:oMathPara>
                </a14:m>
                <a:endParaRPr lang="en-US" sz="2800" dirty="0"/>
              </a:p>
            </p:txBody>
          </p:sp>
        </mc:Choice>
        <mc:Fallback>
          <p:sp>
            <p:nvSpPr>
              <p:cNvPr id="10" name="TextBox 9"/>
              <p:cNvSpPr txBox="1">
                <a:spLocks noRot="1" noChangeAspect="1" noMove="1" noResize="1" noEditPoints="1" noAdjustHandles="1" noChangeArrowheads="1" noChangeShapeType="1" noTextEdit="1"/>
              </p:cNvSpPr>
              <p:nvPr/>
            </p:nvSpPr>
            <p:spPr>
              <a:xfrm>
                <a:off x="1417320" y="3926342"/>
                <a:ext cx="9418320" cy="523220"/>
              </a:xfrm>
              <a:prstGeom prst="rect">
                <a:avLst/>
              </a:prstGeom>
              <a:blipFill>
                <a:blip r:embed="rId6"/>
                <a:stretch>
                  <a:fillRect/>
                </a:stretch>
              </a:blipFill>
            </p:spPr>
            <p:txBody>
              <a:bodyPr/>
              <a:lstStyle/>
              <a:p>
                <a:r>
                  <a:rPr lang="en-US">
                    <a:noFill/>
                  </a:rPr>
                  <a:t> </a:t>
                </a:r>
              </a:p>
            </p:txBody>
          </p:sp>
        </mc:Fallback>
      </mc:AlternateContent>
      <p:sp>
        <p:nvSpPr>
          <p:cNvPr id="11" name="Rounded Rectangle 10"/>
          <p:cNvSpPr/>
          <p:nvPr/>
        </p:nvSpPr>
        <p:spPr>
          <a:xfrm>
            <a:off x="2621127" y="4590288"/>
            <a:ext cx="6949440" cy="548640"/>
          </a:xfrm>
          <a:prstGeom prst="roundRect">
            <a:avLst>
              <a:gd name="adj" fmla="val 14000"/>
            </a:avLst>
          </a:prstGeom>
          <a:solidFill>
            <a:srgbClr val="0070C0">
              <a:alpha val="15000"/>
            </a:srgbClr>
          </a:solidFill>
          <a:ln w="9525">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100" b="1">
                <a:solidFill>
                  <a:srgbClr val="0B2B4E"/>
                </a:solidFill>
                <a:latin typeface="Calibri"/>
              </a:rPr>
              <a:t>⇒   Keep producing in the short run</a:t>
            </a:r>
          </a:p>
        </p:txBody>
      </p:sp>
      <p:sp>
        <p:nvSpPr>
          <p:cNvPr id="12" name="TextBox 11"/>
          <p:cNvSpPr txBox="1"/>
          <p:nvPr/>
        </p:nvSpPr>
        <p:spPr>
          <a:xfrm>
            <a:off x="256032" y="5404104"/>
            <a:ext cx="5705856" cy="1005840"/>
          </a:xfrm>
          <a:prstGeom prst="roundRect">
            <a:avLst>
              <a:gd name="adj" fmla="val 10000"/>
            </a:avLst>
          </a:prstGeom>
          <a:solidFill>
            <a:srgbClr val="FDF6E6"/>
          </a:solidFill>
          <a:ln w="15875">
            <a:solidFill>
              <a:srgbClr val="E09F3E"/>
            </a:solidFill>
          </a:ln>
          <a:effectLst>
            <a:outerShdw blurRad="50800" dist="38100" dir="2700000" algn="tl" rotWithShape="0">
              <a:srgbClr val="000000">
                <a:alpha val="50000"/>
              </a:srgbClr>
            </a:outerShdw>
          </a:effectLst>
        </p:spPr>
        <p:txBody>
          <a:bodyPr wrap="square" lIns="45720" tIns="0" rIns="45720" bIns="0">
            <a:spAutoFit/>
          </a:bodyPr>
          <a:lstStyle/>
          <a:p>
            <a:r>
              <a:rPr lang="en-US" sz="2200" dirty="0">
                <a:solidFill>
                  <a:srgbClr val="0B2B4E"/>
                </a:solidFill>
                <a:latin typeface="Calibri"/>
              </a:rPr>
              <a:t>Alternatively, compare the two options directly:</a:t>
            </a:r>
            <a:endParaRPr lang="en-US" dirty="0"/>
          </a:p>
          <a:p>
            <a:r>
              <a:rPr lang="en-US" sz="2000" dirty="0">
                <a:solidFill>
                  <a:srgbClr val="0B2B4E"/>
                </a:solidFill>
                <a:latin typeface="Calibri"/>
              </a:rPr>
              <a:t>▪   Continue to produce:  loss of 52,968.75</a:t>
            </a:r>
            <a:endParaRPr lang="en-US" dirty="0"/>
          </a:p>
          <a:p>
            <a:r>
              <a:rPr lang="en-US" sz="2000" dirty="0">
                <a:solidFill>
                  <a:srgbClr val="0B2B4E"/>
                </a:solidFill>
                <a:latin typeface="Calibri"/>
              </a:rPr>
              <a:t>▪   Stop production:  loss of 60,000, the whole of TFC</a:t>
            </a:r>
            <a:endParaRPr lang="en-US" dirty="0"/>
          </a:p>
        </p:txBody>
      </p:sp>
      <p:sp>
        <p:nvSpPr>
          <p:cNvPr id="13" name="Rounded Rectangle 12"/>
          <p:cNvSpPr/>
          <p:nvPr/>
        </p:nvSpPr>
        <p:spPr>
          <a:xfrm>
            <a:off x="9253728" y="5577840"/>
            <a:ext cx="2834640" cy="457200"/>
          </a:xfrm>
          <a:prstGeom prst="roundRect">
            <a:avLst>
              <a:gd name="adj" fmla="val 50000"/>
            </a:avLst>
          </a:prstGeom>
          <a:solidFill>
            <a:srgbClr val="B8860B">
              <a:alpha val="35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  Yi Family Example</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7" name="TextBox 16"/>
          <p:cNvSpPr txBox="1"/>
          <p:nvPr/>
        </p:nvSpPr>
        <p:spPr>
          <a:xfrm>
            <a:off x="11475720" y="6583680"/>
            <a:ext cx="502920" cy="292608"/>
          </a:xfrm>
          <a:prstGeom prst="rect">
            <a:avLst/>
          </a:prstGeom>
          <a:noFill/>
        </p:spPr>
        <p:txBody>
          <a:bodyPr wrap="none" lIns="0" tIns="0" rIns="0" bIns="0">
            <a:spAutoFit/>
          </a:bodyPr>
          <a:lstStyle/>
          <a:p>
            <a:pPr algn="r"/>
            <a:fld id="{433A1C14-F9FE-5E90-BC8F-F32C6B24A3E5}" type="slidenum">
              <a:rPr lang="en-US" sz="1200" dirty="0">
                <a:solidFill>
                  <a:srgbClr val="555B66"/>
                </a:solidFill>
                <a:latin typeface="Calibri"/>
              </a:rPr>
              <a:t>21</a:t>
            </a:fld>
            <a:endParaRPr lang="en-US" sz="1200" dirty="0">
              <a:solidFill>
                <a:srgbClr val="555B66"/>
              </a:solidFill>
              <a:latin typeface="Calibri"/>
            </a:endParaRPr>
          </a:p>
        </p:txBody>
      </p:sp>
      <p:grpSp>
        <p:nvGrpSpPr>
          <p:cNvPr id="9620" name="PollBreakBadge"/>
          <p:cNvGrpSpPr/>
          <p:nvPr/>
        </p:nvGrpSpPr>
        <p:grpSpPr>
          <a:xfrm>
            <a:off x="9361444" y="6190030"/>
            <a:ext cx="2697480" cy="487009"/>
            <a:chOff x="9361444" y="6190030"/>
            <a:chExt cx="2697480" cy="487009"/>
          </a:xfrm>
        </p:grpSpPr>
        <p:sp>
          <p:nvSpPr>
            <p:cNvPr id="9621" name="PollBreakShape"/>
            <p:cNvSpPr/>
            <p:nvPr/>
          </p:nvSpPr>
          <p:spPr>
            <a:xfrm>
              <a:off x="9361444" y="6190030"/>
              <a:ext cx="2697480" cy="487009"/>
            </a:xfrm>
            <a:custGeom>
              <a:avLst/>
              <a:gdLst/>
              <a:ahLst/>
              <a:cxnLst/>
              <a:rect l="24407" t="0" r="75593" b="100000"/>
              <a:pathLst>
                <a:path w="100000" h="100000">
                  <a:moveTo>
                    <a:pt x="29407" y="0"/>
                  </a:moveTo>
                  <a:lnTo>
                    <a:pt x="95000" y="0"/>
                  </a:lnTo>
                  <a:cubicBezTo>
                    <a:pt x="100000" y="0"/>
                    <a:pt x="100000" y="0"/>
                    <a:pt x="98780" y="5000"/>
                  </a:cubicBezTo>
                  <a:lnTo>
                    <a:pt x="76813" y="95000"/>
                  </a:lnTo>
                  <a:cubicBezTo>
                    <a:pt x="75593" y="100000"/>
                    <a:pt x="75593" y="100000"/>
                    <a:pt x="70593" y="100000"/>
                  </a:cubicBezTo>
                  <a:lnTo>
                    <a:pt x="5000" y="100000"/>
                  </a:lnTo>
                  <a:cubicBezTo>
                    <a:pt x="0" y="100000"/>
                    <a:pt x="0" y="100000"/>
                    <a:pt x="1220"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22" name="PollBreakLabel"/>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P spid="1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High Price: Positive Profits in the Short Run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2788920" y="1618488"/>
            <a:ext cx="0" cy="341071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88920" y="5029200"/>
            <a:ext cx="688543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518791" y="1485900"/>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0" name="TextBox 9"/>
          <p:cNvSpPr txBox="1"/>
          <p:nvPr/>
        </p:nvSpPr>
        <p:spPr>
          <a:xfrm>
            <a:off x="9561575" y="5074920"/>
            <a:ext cx="225551" cy="265176"/>
          </a:xfrm>
          <a:prstGeom prst="rect">
            <a:avLst/>
          </a:prstGeom>
          <a:noFill/>
        </p:spPr>
        <p:txBody>
          <a:bodyPr wrap="square" lIns="0" tIns="0" rIns="0" bIns="0">
            <a:spAutoFit/>
          </a:bodyPr>
          <a:lstStyle/>
          <a:p>
            <a:pPr algn="l"/>
            <a:r>
              <a:rPr sz="1700" b="1" i="1" u="none">
                <a:solidFill>
                  <a:srgbClr val="0B2B4E"/>
                </a:solidFill>
                <a:latin typeface="Calibri"/>
              </a:rPr>
              <a:t>Q</a:t>
            </a:r>
          </a:p>
        </p:txBody>
      </p:sp>
      <p:sp>
        <p:nvSpPr>
          <p:cNvPr id="11" name="Rectangle 10"/>
          <p:cNvSpPr/>
          <p:nvPr/>
        </p:nvSpPr>
        <p:spPr>
          <a:xfrm>
            <a:off x="2788920" y="2466473"/>
            <a:ext cx="4191644" cy="593916"/>
          </a:xfrm>
          <a:prstGeom prst="rect">
            <a:avLst/>
          </a:prstGeom>
          <a:solidFill>
            <a:srgbClr val="C00000">
              <a:alpha val="22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726711" y="1851419"/>
            <a:ext cx="4532660" cy="2180026"/>
          </a:xfrm>
          <a:custGeom>
            <a:avLst/>
            <a:gdLst/>
            <a:ahLst/>
            <a:cxnLst/>
            <a:rect l="0" t="0" r="r" b="b"/>
            <a:pathLst>
              <a:path w="4532660" h="2180026">
                <a:moveTo>
                  <a:pt x="0" y="2180026"/>
                </a:moveTo>
                <a:cubicBezTo>
                  <a:pt x="188860" y="2089191"/>
                  <a:pt x="755443" y="1816687"/>
                  <a:pt x="1133165" y="1635019"/>
                </a:cubicBezTo>
                <a:cubicBezTo>
                  <a:pt x="1510886" y="1453350"/>
                  <a:pt x="1888608" y="1271681"/>
                  <a:pt x="2266330" y="1090013"/>
                </a:cubicBezTo>
                <a:cubicBezTo>
                  <a:pt x="2644051" y="908344"/>
                  <a:pt x="3021773" y="726674"/>
                  <a:pt x="3399495" y="545006"/>
                </a:cubicBezTo>
                <a:cubicBezTo>
                  <a:pt x="3777216" y="363337"/>
                  <a:pt x="4343799" y="90834"/>
                  <a:pt x="4532660"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726711" y="2406107"/>
            <a:ext cx="4532660" cy="788004"/>
          </a:xfrm>
          <a:custGeom>
            <a:avLst/>
            <a:gdLst/>
            <a:ahLst/>
            <a:cxnLst/>
            <a:rect l="0" t="0" r="r" b="b"/>
            <a:pathLst>
              <a:path w="4532660" h="788004">
                <a:moveTo>
                  <a:pt x="0" y="0"/>
                </a:moveTo>
                <a:cubicBezTo>
                  <a:pt x="94430" y="93470"/>
                  <a:pt x="377722" y="437452"/>
                  <a:pt x="566583" y="560824"/>
                </a:cubicBezTo>
                <a:cubicBezTo>
                  <a:pt x="755443" y="684195"/>
                  <a:pt x="944304" y="703030"/>
                  <a:pt x="1133165" y="740230"/>
                </a:cubicBezTo>
                <a:cubicBezTo>
                  <a:pt x="1322025" y="777429"/>
                  <a:pt x="1510886" y="780035"/>
                  <a:pt x="1699747" y="784020"/>
                </a:cubicBezTo>
                <a:cubicBezTo>
                  <a:pt x="1888607" y="788004"/>
                  <a:pt x="2077469" y="776593"/>
                  <a:pt x="2266330" y="764137"/>
                </a:cubicBezTo>
                <a:cubicBezTo>
                  <a:pt x="2455190" y="751680"/>
                  <a:pt x="2644051" y="731112"/>
                  <a:pt x="2832912" y="709283"/>
                </a:cubicBezTo>
                <a:cubicBezTo>
                  <a:pt x="3021772" y="687453"/>
                  <a:pt x="3210634" y="660851"/>
                  <a:pt x="3399495" y="633162"/>
                </a:cubicBezTo>
                <a:cubicBezTo>
                  <a:pt x="3588355" y="605472"/>
                  <a:pt x="3777216" y="574748"/>
                  <a:pt x="3966077" y="543147"/>
                </a:cubicBezTo>
                <a:cubicBezTo>
                  <a:pt x="4154937" y="511545"/>
                  <a:pt x="4438229" y="460153"/>
                  <a:pt x="4532660" y="443555"/>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726711" y="3166952"/>
            <a:ext cx="4532660" cy="1090013"/>
          </a:xfrm>
          <a:custGeom>
            <a:avLst/>
            <a:gdLst/>
            <a:ahLst/>
            <a:cxnLst/>
            <a:rect l="0" t="0" r="r" b="b"/>
            <a:pathLst>
              <a:path w="4532660" h="1090013">
                <a:moveTo>
                  <a:pt x="0" y="1090013"/>
                </a:moveTo>
                <a:cubicBezTo>
                  <a:pt x="188860" y="1044595"/>
                  <a:pt x="755443" y="908343"/>
                  <a:pt x="1133165" y="817509"/>
                </a:cubicBezTo>
                <a:cubicBezTo>
                  <a:pt x="1510886" y="726674"/>
                  <a:pt x="1888608" y="635840"/>
                  <a:pt x="2266330" y="545006"/>
                </a:cubicBezTo>
                <a:cubicBezTo>
                  <a:pt x="2644051" y="454171"/>
                  <a:pt x="3021773" y="363337"/>
                  <a:pt x="3399495" y="272503"/>
                </a:cubicBezTo>
                <a:cubicBezTo>
                  <a:pt x="3777216" y="181668"/>
                  <a:pt x="4343799" y="45417"/>
                  <a:pt x="4532660" y="0"/>
                </a:cubicBezTo>
              </a:path>
            </a:pathLst>
          </a:custGeom>
          <a:noFill/>
          <a:ln w="31750">
            <a:solidFill>
              <a:srgbClr val="555B6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2788920" y="2466473"/>
            <a:ext cx="5704899" cy="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611043" y="2311025"/>
            <a:ext cx="822960" cy="310896"/>
          </a:xfrm>
          <a:prstGeom prst="rect">
            <a:avLst/>
          </a:prstGeom>
          <a:noFill/>
        </p:spPr>
        <p:txBody>
          <a:bodyPr wrap="square" lIns="0" tIns="0" rIns="0" bIns="0">
            <a:spAutoFit/>
          </a:bodyPr>
          <a:lstStyle/>
          <a:p>
            <a:pPr algn="l"/>
            <a:r>
              <a:rPr sz="1500" b="1" i="1" u="none">
                <a:solidFill>
                  <a:srgbClr val="C00000"/>
                </a:solidFill>
                <a:latin typeface="Calibri"/>
              </a:rPr>
              <a:t>d = MR</a:t>
            </a:r>
          </a:p>
        </p:txBody>
      </p:sp>
      <p:cxnSp>
        <p:nvCxnSpPr>
          <p:cNvPr id="17" name="Connector 16"/>
          <p:cNvCxnSpPr/>
          <p:nvPr/>
        </p:nvCxnSpPr>
        <p:spPr>
          <a:xfrm flipV="1">
            <a:off x="6980564" y="2466473"/>
            <a:ext cx="0" cy="2562727"/>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10638" y="5084064"/>
            <a:ext cx="339852" cy="274320"/>
          </a:xfrm>
          <a:prstGeom prst="rect">
            <a:avLst/>
          </a:prstGeom>
          <a:noFill/>
        </p:spPr>
        <p:txBody>
          <a:bodyPr wrap="square" lIns="0" tIns="0" rIns="0" bIns="0">
            <a:spAutoFit/>
          </a:bodyPr>
          <a:lstStyle/>
          <a:p>
            <a:pPr algn="ctr"/>
            <a:r>
              <a:rPr sz="1700" b="1" i="1" u="none">
                <a:solidFill>
                  <a:srgbClr val="0B2B4E"/>
                </a:solidFill>
                <a:latin typeface="Calibri"/>
              </a:rPr>
              <a:t>Q*</a:t>
            </a:r>
          </a:p>
        </p:txBody>
      </p:sp>
      <p:sp>
        <p:nvSpPr>
          <p:cNvPr id="19" name="TextBox 18"/>
          <p:cNvSpPr txBox="1"/>
          <p:nvPr/>
        </p:nvSpPr>
        <p:spPr>
          <a:xfrm>
            <a:off x="2080641" y="2329313"/>
            <a:ext cx="635127" cy="274320"/>
          </a:xfrm>
          <a:prstGeom prst="rect">
            <a:avLst/>
          </a:prstGeom>
          <a:noFill/>
        </p:spPr>
        <p:txBody>
          <a:bodyPr wrap="square" lIns="0" tIns="0" rIns="0" bIns="0">
            <a:spAutoFit/>
          </a:bodyPr>
          <a:lstStyle/>
          <a:p>
            <a:pPr algn="r"/>
            <a:r>
              <a:rPr sz="1700" b="1" i="1" u="none">
                <a:solidFill>
                  <a:srgbClr val="C00000"/>
                </a:solidFill>
                <a:latin typeface="Calibri"/>
              </a:rPr>
              <a:t>P high</a:t>
            </a:r>
          </a:p>
        </p:txBody>
      </p:sp>
      <p:sp>
        <p:nvSpPr>
          <p:cNvPr id="20" name="TextBox 19"/>
          <p:cNvSpPr txBox="1"/>
          <p:nvPr/>
        </p:nvSpPr>
        <p:spPr>
          <a:xfrm>
            <a:off x="7907699" y="1483012"/>
            <a:ext cx="406527" cy="292608"/>
          </a:xfrm>
          <a:prstGeom prst="rect">
            <a:avLst/>
          </a:prstGeom>
          <a:noFill/>
        </p:spPr>
        <p:txBody>
          <a:bodyPr wrap="square" lIns="0" tIns="0" rIns="0" bIns="0">
            <a:spAutoFit/>
          </a:bodyPr>
          <a:lstStyle/>
          <a:p>
            <a:pPr algn="l"/>
            <a:r>
              <a:rPr sz="1800" b="1" i="1" u="none">
                <a:solidFill>
                  <a:srgbClr val="0B2B4E"/>
                </a:solidFill>
                <a:latin typeface="Calibri"/>
              </a:rPr>
              <a:t>MC</a:t>
            </a:r>
          </a:p>
        </p:txBody>
      </p:sp>
      <p:sp>
        <p:nvSpPr>
          <p:cNvPr id="21" name="TextBox 20"/>
          <p:cNvSpPr txBox="1"/>
          <p:nvPr/>
        </p:nvSpPr>
        <p:spPr>
          <a:xfrm>
            <a:off x="8415669" y="2566679"/>
            <a:ext cx="473201" cy="292608"/>
          </a:xfrm>
          <a:prstGeom prst="rect">
            <a:avLst/>
          </a:prstGeom>
          <a:noFill/>
        </p:spPr>
        <p:txBody>
          <a:bodyPr wrap="square" lIns="0" tIns="0" rIns="0" bIns="0">
            <a:spAutoFit/>
          </a:bodyPr>
          <a:lstStyle/>
          <a:p>
            <a:pPr algn="l"/>
            <a:r>
              <a:rPr sz="1800" b="1" i="1" u="none">
                <a:solidFill>
                  <a:srgbClr val="E09F3E"/>
                </a:solidFill>
                <a:latin typeface="Calibri"/>
              </a:rPr>
              <a:t>ATC</a:t>
            </a:r>
          </a:p>
        </p:txBody>
      </p:sp>
      <p:sp>
        <p:nvSpPr>
          <p:cNvPr id="22" name="TextBox 21"/>
          <p:cNvSpPr txBox="1"/>
          <p:nvPr/>
        </p:nvSpPr>
        <p:spPr>
          <a:xfrm>
            <a:off x="8415669" y="3157326"/>
            <a:ext cx="492252" cy="292608"/>
          </a:xfrm>
          <a:prstGeom prst="rect">
            <a:avLst/>
          </a:prstGeom>
          <a:noFill/>
        </p:spPr>
        <p:txBody>
          <a:bodyPr wrap="square" lIns="0" tIns="0" rIns="0" bIns="0">
            <a:spAutoFit/>
          </a:bodyPr>
          <a:lstStyle/>
          <a:p>
            <a:pPr algn="l"/>
            <a:r>
              <a:rPr sz="1800" b="1" i="1" u="none">
                <a:solidFill>
                  <a:srgbClr val="555B66"/>
                </a:solidFill>
                <a:latin typeface="Calibri"/>
              </a:rPr>
              <a:t>AVC</a:t>
            </a:r>
          </a:p>
        </p:txBody>
      </p:sp>
      <p:sp>
        <p:nvSpPr>
          <p:cNvPr id="23" name="TextBox 22"/>
          <p:cNvSpPr txBox="1"/>
          <p:nvPr/>
        </p:nvSpPr>
        <p:spPr>
          <a:xfrm>
            <a:off x="4244662" y="2589695"/>
            <a:ext cx="1280160" cy="347472"/>
          </a:xfrm>
          <a:prstGeom prst="rect">
            <a:avLst/>
          </a:prstGeom>
          <a:noFill/>
        </p:spPr>
        <p:txBody>
          <a:bodyPr wrap="square" lIns="0" tIns="0" rIns="0" bIns="0">
            <a:spAutoFit/>
          </a:bodyPr>
          <a:lstStyle/>
          <a:p>
            <a:pPr algn="ctr"/>
            <a:r>
              <a:rPr sz="1800" b="1" i="0" u="none">
                <a:solidFill>
                  <a:srgbClr val="0B2B4E"/>
                </a:solidFill>
                <a:latin typeface="Calibri"/>
              </a:rPr>
              <a:t>Profit</a:t>
            </a:r>
          </a:p>
        </p:txBody>
      </p:sp>
      <p:grpSp>
        <p:nvGrpSpPr>
          <p:cNvPr id="129" name="Group pair 129"/>
          <p:cNvGrpSpPr/>
          <p:nvPr/>
        </p:nvGrpSpPr>
        <p:grpSpPr>
          <a:xfrm>
            <a:off x="914400" y="5577840"/>
            <a:ext cx="10332720" cy="731520"/>
            <a:chOff x="914400" y="5577840"/>
            <a:chExt cx="10332720" cy="731520"/>
          </a:xfrm>
        </p:grpSpPr>
        <p:sp>
          <p:nvSpPr>
            <p:cNvPr id="24" name="Rounded Rectangle 23"/>
            <p:cNvSpPr/>
            <p:nvPr/>
          </p:nvSpPr>
          <p:spPr>
            <a:xfrm>
              <a:off x="914400" y="5577840"/>
              <a:ext cx="10332720" cy="731520"/>
            </a:xfrm>
            <a:prstGeom prst="roundRect">
              <a:avLst>
                <a:gd name="adj" fmla="val 12000"/>
              </a:avLst>
            </a:prstGeom>
            <a:solidFill>
              <a:srgbClr val="FDF6E6"/>
            </a:solidFill>
            <a:ln w="222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97280" y="5687568"/>
              <a:ext cx="9966960" cy="512064"/>
            </a:xfrm>
            <a:prstGeom prst="rect">
              <a:avLst/>
            </a:prstGeom>
            <a:noFill/>
          </p:spPr>
          <p:txBody>
            <a:bodyPr wrap="square" lIns="45720" tIns="0" rIns="45720" bIns="0" anchor="ctr">
              <a:spAutoFit/>
            </a:bodyPr>
            <a:lstStyle/>
            <a:p>
              <a:pPr algn="ctr"/>
              <a:r>
                <a:rPr sz="1800" b="0" i="0" u="none">
                  <a:solidFill>
                    <a:srgbClr val="0B2B4E"/>
                  </a:solidFill>
                  <a:latin typeface="Calibri"/>
                </a:rPr>
                <a:t>Optimal output is where </a:t>
              </a:r>
              <a:r>
                <a:rPr sz="1800" b="1" i="0" u="none">
                  <a:solidFill>
                    <a:srgbClr val="0B2B4E"/>
                  </a:solidFill>
                  <a:latin typeface="Calibri"/>
                </a:rPr>
                <a:t>MC = MR = P</a:t>
              </a:r>
              <a:r>
                <a:rPr sz="1800" b="0" i="0" u="none">
                  <a:solidFill>
                    <a:srgbClr val="0B2B4E"/>
                  </a:solidFill>
                  <a:latin typeface="Calibri"/>
                </a:rPr>
                <a:t>.  This occurs at Q*.  At that output positive economic profits are being made because </a:t>
              </a:r>
              <a:r>
                <a:rPr sz="1800" b="1" i="0" u="none">
                  <a:solidFill>
                    <a:srgbClr val="C00000"/>
                  </a:solidFill>
                  <a:latin typeface="Calibri"/>
                </a:rPr>
                <a:t>P &gt; ATC</a:t>
              </a:r>
              <a:r>
                <a:rPr sz="1800" b="0" i="0" u="none">
                  <a:solidFill>
                    <a:srgbClr val="0B2B4E"/>
                  </a:solidFill>
                  <a:latin typeface="Calibri"/>
                </a:rPr>
                <a:t>.</a:t>
              </a:r>
            </a:p>
          </p:txBody>
        </p:sp>
      </p:grpSp>
      <p:sp>
        <p:nvSpPr>
          <p:cNvPr id="26" name="Rectangle 2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29" name="TextBox 28"/>
          <p:cNvSpPr txBox="1"/>
          <p:nvPr/>
        </p:nvSpPr>
        <p:spPr>
          <a:xfrm>
            <a:off x="11475720" y="6583680"/>
            <a:ext cx="502920" cy="292608"/>
          </a:xfrm>
          <a:prstGeom prst="rect">
            <a:avLst/>
          </a:prstGeom>
          <a:noFill/>
        </p:spPr>
        <p:txBody>
          <a:bodyPr wrap="none" lIns="0" tIns="0" rIns="0" bIns="0">
            <a:spAutoFit/>
          </a:bodyPr>
          <a:lstStyle/>
          <a:p>
            <a:pPr algn="r"/>
            <a:fld id="{00273E6D-AA26-540D-9B06-B4F98BEF93DB}" type="slidenum">
              <a:rPr lang="en-US" sz="1200" dirty="0">
                <a:solidFill>
                  <a:srgbClr val="555B66"/>
                </a:solidFill>
                <a:latin typeface="Calibri"/>
              </a:rPr>
              <a:t>22</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par>
                                <p:cTn id="43" presetID="10"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par>
                                <p:cTn id="51" presetID="10"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500"/>
                                        <p:tgtEl>
                                          <p:spTgt spid="2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29"/>
                                        </p:tgtEl>
                                        <p:attrNameLst>
                                          <p:attrName>style.visibility</p:attrName>
                                        </p:attrNameLst>
                                      </p:cBhvr>
                                      <p:to>
                                        <p:strVal val="visible"/>
                                      </p:to>
                                    </p:set>
                                    <p:animEffect transition="in" filter="fade">
                                      <p:cBhvr>
                                        <p:cTn id="58"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High Price: Positive Profits in the Short Run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651760" y="1335024"/>
            <a:ext cx="6903720" cy="512064"/>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Example with more complex cost functions</a:t>
            </a:r>
          </a:p>
        </p:txBody>
      </p:sp>
      <p:grpSp>
        <p:nvGrpSpPr>
          <p:cNvPr id="31" name="Group 30">
            <a:extLst>
              <a:ext uri="{FF2B5EF4-FFF2-40B4-BE49-F238E27FC236}">
                <a16:creationId xmlns:a16="http://schemas.microsoft.com/office/drawing/2014/main" id="{E258E901-31B9-8440-B0BE-1ED8B7B8FD90}"/>
              </a:ext>
            </a:extLst>
          </p:cNvPr>
          <p:cNvGrpSpPr/>
          <p:nvPr/>
        </p:nvGrpSpPr>
        <p:grpSpPr>
          <a:xfrm>
            <a:off x="2518791" y="1897379"/>
            <a:ext cx="7268335" cy="3442717"/>
            <a:chOff x="2518791" y="1897379"/>
            <a:chExt cx="7268335" cy="3442717"/>
          </a:xfrm>
        </p:grpSpPr>
        <p:cxnSp>
          <p:nvCxnSpPr>
            <p:cNvPr id="8" name="Connector 7"/>
            <p:cNvCxnSpPr/>
            <p:nvPr/>
          </p:nvCxnSpPr>
          <p:spPr>
            <a:xfrm flipV="1">
              <a:off x="2788920" y="2029967"/>
              <a:ext cx="0" cy="299923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788920" y="5029200"/>
              <a:ext cx="688543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518791" y="1897379"/>
              <a:ext cx="196976" cy="265176"/>
            </a:xfrm>
            <a:prstGeom prst="rect">
              <a:avLst/>
            </a:prstGeom>
            <a:noFill/>
          </p:spPr>
          <p:txBody>
            <a:bodyPr wrap="square" lIns="0" tIns="0" rIns="0" bIns="0">
              <a:spAutoFit/>
            </a:bodyPr>
            <a:lstStyle/>
            <a:p>
              <a:pPr algn="l"/>
              <a:r>
                <a:rPr sz="1700" b="1" i="1" u="none" dirty="0">
                  <a:solidFill>
                    <a:srgbClr val="0B2B4E"/>
                  </a:solidFill>
                  <a:latin typeface="Calibri"/>
                </a:rPr>
                <a:t>P</a:t>
              </a:r>
            </a:p>
          </p:txBody>
        </p:sp>
        <p:sp>
          <p:nvSpPr>
            <p:cNvPr id="11" name="TextBox 10"/>
            <p:cNvSpPr txBox="1"/>
            <p:nvPr/>
          </p:nvSpPr>
          <p:spPr>
            <a:xfrm>
              <a:off x="9561575" y="5074920"/>
              <a:ext cx="225551" cy="265176"/>
            </a:xfrm>
            <a:prstGeom prst="rect">
              <a:avLst/>
            </a:prstGeom>
            <a:noFill/>
          </p:spPr>
          <p:txBody>
            <a:bodyPr wrap="square" lIns="0" tIns="0" rIns="0" bIns="0">
              <a:spAutoFit/>
            </a:bodyPr>
            <a:lstStyle/>
            <a:p>
              <a:pPr algn="l"/>
              <a:r>
                <a:rPr sz="1700" b="1" i="1" u="none">
                  <a:solidFill>
                    <a:srgbClr val="0B2B4E"/>
                  </a:solidFill>
                  <a:latin typeface="Calibri"/>
                </a:rPr>
                <a:t>Q</a:t>
              </a:r>
            </a:p>
          </p:txBody>
        </p:sp>
      </p:grpSp>
      <p:grpSp>
        <p:nvGrpSpPr>
          <p:cNvPr id="32" name="Group 31">
            <a:extLst>
              <a:ext uri="{FF2B5EF4-FFF2-40B4-BE49-F238E27FC236}">
                <a16:creationId xmlns:a16="http://schemas.microsoft.com/office/drawing/2014/main" id="{093F7129-A83C-73E6-9EEA-82E6E494908C}"/>
              </a:ext>
            </a:extLst>
          </p:cNvPr>
          <p:cNvGrpSpPr/>
          <p:nvPr/>
        </p:nvGrpSpPr>
        <p:grpSpPr>
          <a:xfrm>
            <a:off x="2518791" y="3469930"/>
            <a:ext cx="7106472" cy="310896"/>
            <a:chOff x="2518791" y="3469930"/>
            <a:chExt cx="7106472" cy="310896"/>
          </a:xfrm>
        </p:grpSpPr>
        <p:cxnSp>
          <p:nvCxnSpPr>
            <p:cNvPr id="16" name="Connector 15"/>
            <p:cNvCxnSpPr/>
            <p:nvPr/>
          </p:nvCxnSpPr>
          <p:spPr>
            <a:xfrm>
              <a:off x="2788920" y="3625378"/>
              <a:ext cx="5880735" cy="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802303" y="3469930"/>
              <a:ext cx="822960" cy="310896"/>
            </a:xfrm>
            <a:prstGeom prst="rect">
              <a:avLst/>
            </a:prstGeom>
            <a:noFill/>
          </p:spPr>
          <p:txBody>
            <a:bodyPr wrap="square" lIns="0" tIns="0" rIns="0" bIns="0">
              <a:spAutoFit/>
            </a:bodyPr>
            <a:lstStyle/>
            <a:p>
              <a:pPr algn="l"/>
              <a:r>
                <a:rPr sz="1500" b="1" i="1" u="none">
                  <a:solidFill>
                    <a:srgbClr val="C00000"/>
                  </a:solidFill>
                  <a:latin typeface="Calibri"/>
                </a:rPr>
                <a:t>d = MR</a:t>
              </a:r>
            </a:p>
          </p:txBody>
        </p:sp>
        <p:sp>
          <p:nvSpPr>
            <p:cNvPr id="18" name="TextBox 17"/>
            <p:cNvSpPr txBox="1"/>
            <p:nvPr/>
          </p:nvSpPr>
          <p:spPr>
            <a:xfrm>
              <a:off x="2518791" y="3488218"/>
              <a:ext cx="196976" cy="274320"/>
            </a:xfrm>
            <a:prstGeom prst="rect">
              <a:avLst/>
            </a:prstGeom>
            <a:noFill/>
          </p:spPr>
          <p:txBody>
            <a:bodyPr wrap="square" lIns="0" tIns="0" rIns="0" bIns="0">
              <a:spAutoFit/>
            </a:bodyPr>
            <a:lstStyle/>
            <a:p>
              <a:pPr algn="r"/>
              <a:r>
                <a:rPr sz="1700" b="1" i="1" u="none">
                  <a:solidFill>
                    <a:srgbClr val="C00000"/>
                  </a:solidFill>
                  <a:latin typeface="Calibri"/>
                </a:rPr>
                <a:t>P</a:t>
              </a:r>
            </a:p>
          </p:txBody>
        </p:sp>
      </p:grpSp>
      <p:grpSp>
        <p:nvGrpSpPr>
          <p:cNvPr id="33" name="Group 32">
            <a:extLst>
              <a:ext uri="{FF2B5EF4-FFF2-40B4-BE49-F238E27FC236}">
                <a16:creationId xmlns:a16="http://schemas.microsoft.com/office/drawing/2014/main" id="{90176308-F760-4B5F-FF81-7BE9CA8CC306}"/>
              </a:ext>
            </a:extLst>
          </p:cNvPr>
          <p:cNvGrpSpPr/>
          <p:nvPr/>
        </p:nvGrpSpPr>
        <p:grpSpPr>
          <a:xfrm>
            <a:off x="7089107" y="3625378"/>
            <a:ext cx="339852" cy="1733006"/>
            <a:chOff x="7089107" y="3625378"/>
            <a:chExt cx="339852" cy="1733006"/>
          </a:xfrm>
        </p:grpSpPr>
        <p:cxnSp>
          <p:nvCxnSpPr>
            <p:cNvPr id="19" name="Connector 18"/>
            <p:cNvCxnSpPr/>
            <p:nvPr/>
          </p:nvCxnSpPr>
          <p:spPr>
            <a:xfrm flipV="1">
              <a:off x="7259033" y="3625378"/>
              <a:ext cx="0" cy="1403822"/>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089107" y="5084064"/>
              <a:ext cx="339852" cy="274320"/>
            </a:xfrm>
            <a:prstGeom prst="rect">
              <a:avLst/>
            </a:prstGeom>
            <a:noFill/>
          </p:spPr>
          <p:txBody>
            <a:bodyPr wrap="square" lIns="0" tIns="0" rIns="0" bIns="0">
              <a:spAutoFit/>
            </a:bodyPr>
            <a:lstStyle/>
            <a:p>
              <a:pPr algn="ctr"/>
              <a:r>
                <a:rPr sz="1700" b="1" i="1" u="none">
                  <a:solidFill>
                    <a:srgbClr val="0B2B4E"/>
                  </a:solidFill>
                  <a:latin typeface="Calibri"/>
                </a:rPr>
                <a:t>Q*</a:t>
              </a:r>
            </a:p>
          </p:txBody>
        </p:sp>
      </p:grpSp>
      <p:grpSp>
        <p:nvGrpSpPr>
          <p:cNvPr id="36" name="Group 35">
            <a:extLst>
              <a:ext uri="{FF2B5EF4-FFF2-40B4-BE49-F238E27FC236}">
                <a16:creationId xmlns:a16="http://schemas.microsoft.com/office/drawing/2014/main" id="{4C7645DF-B7D7-9507-D9EF-3F72083C870B}"/>
              </a:ext>
            </a:extLst>
          </p:cNvPr>
          <p:cNvGrpSpPr/>
          <p:nvPr/>
        </p:nvGrpSpPr>
        <p:grpSpPr>
          <a:xfrm>
            <a:off x="3805889" y="2041128"/>
            <a:ext cx="4658205" cy="2688445"/>
            <a:chOff x="3805889" y="2041128"/>
            <a:chExt cx="4658205" cy="2688445"/>
          </a:xfrm>
        </p:grpSpPr>
        <p:sp>
          <p:nvSpPr>
            <p:cNvPr id="13" name="Rectangle 12"/>
            <p:cNvSpPr/>
            <p:nvPr/>
          </p:nvSpPr>
          <p:spPr>
            <a:xfrm>
              <a:off x="3805889" y="2335914"/>
              <a:ext cx="4377389" cy="2393659"/>
            </a:xfrm>
            <a:custGeom>
              <a:avLst/>
              <a:gdLst/>
              <a:ahLst/>
              <a:cxnLst/>
              <a:rect l="0" t="0" r="r" b="b"/>
              <a:pathLst>
                <a:path w="4377389" h="2393659">
                  <a:moveTo>
                    <a:pt x="0" y="1723866"/>
                  </a:moveTo>
                  <a:cubicBezTo>
                    <a:pt x="91195" y="1789241"/>
                    <a:pt x="364781" y="2014308"/>
                    <a:pt x="547173" y="2116120"/>
                  </a:cubicBezTo>
                  <a:cubicBezTo>
                    <a:pt x="729564" y="2217931"/>
                    <a:pt x="911955" y="2290804"/>
                    <a:pt x="1094347" y="2334736"/>
                  </a:cubicBezTo>
                  <a:cubicBezTo>
                    <a:pt x="1276738" y="2378667"/>
                    <a:pt x="1459129" y="2393659"/>
                    <a:pt x="1641521" y="2379711"/>
                  </a:cubicBezTo>
                  <a:cubicBezTo>
                    <a:pt x="1823912" y="2365763"/>
                    <a:pt x="2006302" y="2322875"/>
                    <a:pt x="2188694" y="2251048"/>
                  </a:cubicBezTo>
                  <a:cubicBezTo>
                    <a:pt x="2371085" y="2179220"/>
                    <a:pt x="2553476" y="2078452"/>
                    <a:pt x="2735868" y="1948745"/>
                  </a:cubicBezTo>
                  <a:cubicBezTo>
                    <a:pt x="2918259" y="1819037"/>
                    <a:pt x="3100650" y="1660390"/>
                    <a:pt x="3283042" y="1472803"/>
                  </a:cubicBezTo>
                  <a:cubicBezTo>
                    <a:pt x="3465433" y="1285215"/>
                    <a:pt x="3647823" y="1068688"/>
                    <a:pt x="3830215" y="823221"/>
                  </a:cubicBezTo>
                  <a:cubicBezTo>
                    <a:pt x="4012606" y="577753"/>
                    <a:pt x="4286193" y="137203"/>
                    <a:pt x="4377389"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57567" y="2041128"/>
              <a:ext cx="406527" cy="292608"/>
            </a:xfrm>
            <a:prstGeom prst="rect">
              <a:avLst/>
            </a:prstGeom>
            <a:noFill/>
          </p:spPr>
          <p:txBody>
            <a:bodyPr wrap="square" lIns="0" tIns="0" rIns="0" bIns="0">
              <a:spAutoFit/>
            </a:bodyPr>
            <a:lstStyle/>
            <a:p>
              <a:pPr algn="l"/>
              <a:r>
                <a:rPr sz="1800" b="1" i="1" u="none" dirty="0">
                  <a:solidFill>
                    <a:srgbClr val="0B2B4E"/>
                  </a:solidFill>
                  <a:latin typeface="Calibri"/>
                </a:rPr>
                <a:t>MC</a:t>
              </a:r>
            </a:p>
          </p:txBody>
        </p:sp>
      </p:grpSp>
      <p:grpSp>
        <p:nvGrpSpPr>
          <p:cNvPr id="37" name="Group 36">
            <a:extLst>
              <a:ext uri="{FF2B5EF4-FFF2-40B4-BE49-F238E27FC236}">
                <a16:creationId xmlns:a16="http://schemas.microsoft.com/office/drawing/2014/main" id="{19359268-C86A-2604-B0CB-5AE9B4F1A65B}"/>
              </a:ext>
            </a:extLst>
          </p:cNvPr>
          <p:cNvGrpSpPr/>
          <p:nvPr/>
        </p:nvGrpSpPr>
        <p:grpSpPr>
          <a:xfrm>
            <a:off x="3805889" y="2810352"/>
            <a:ext cx="4904331" cy="1267324"/>
            <a:chOff x="3805889" y="2810352"/>
            <a:chExt cx="4904331" cy="1267324"/>
          </a:xfrm>
        </p:grpSpPr>
        <p:sp>
          <p:nvSpPr>
            <p:cNvPr id="14" name="Rectangle 13"/>
            <p:cNvSpPr/>
            <p:nvPr/>
          </p:nvSpPr>
          <p:spPr>
            <a:xfrm>
              <a:off x="3805889" y="2810352"/>
              <a:ext cx="4377389" cy="1267324"/>
            </a:xfrm>
            <a:custGeom>
              <a:avLst/>
              <a:gdLst/>
              <a:ahLst/>
              <a:cxnLst/>
              <a:rect l="0" t="0" r="r" b="b"/>
              <a:pathLst>
                <a:path w="4377389" h="1267324">
                  <a:moveTo>
                    <a:pt x="0" y="0"/>
                  </a:moveTo>
                  <a:cubicBezTo>
                    <a:pt x="91195" y="85125"/>
                    <a:pt x="364781" y="371430"/>
                    <a:pt x="547173" y="510751"/>
                  </a:cubicBezTo>
                  <a:cubicBezTo>
                    <a:pt x="729564" y="650071"/>
                    <a:pt x="911955" y="745321"/>
                    <a:pt x="1094347" y="835924"/>
                  </a:cubicBezTo>
                  <a:cubicBezTo>
                    <a:pt x="1276738" y="926527"/>
                    <a:pt x="1459129" y="995173"/>
                    <a:pt x="1641521" y="1054369"/>
                  </a:cubicBezTo>
                  <a:cubicBezTo>
                    <a:pt x="1823912" y="1113564"/>
                    <a:pt x="2006302" y="1157403"/>
                    <a:pt x="2188694" y="1191098"/>
                  </a:cubicBezTo>
                  <a:cubicBezTo>
                    <a:pt x="2371085" y="1224793"/>
                    <a:pt x="2553476" y="1245753"/>
                    <a:pt x="2735868" y="1256539"/>
                  </a:cubicBezTo>
                  <a:cubicBezTo>
                    <a:pt x="2918259" y="1267324"/>
                    <a:pt x="3100650" y="1266613"/>
                    <a:pt x="3283042" y="1255810"/>
                  </a:cubicBezTo>
                  <a:cubicBezTo>
                    <a:pt x="3465433" y="1245006"/>
                    <a:pt x="3647823" y="1223363"/>
                    <a:pt x="3830215" y="1191717"/>
                  </a:cubicBezTo>
                  <a:cubicBezTo>
                    <a:pt x="4012606" y="1160070"/>
                    <a:pt x="4286193" y="1086895"/>
                    <a:pt x="4377389" y="1065931"/>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37019" y="3652811"/>
              <a:ext cx="473201" cy="292608"/>
            </a:xfrm>
            <a:prstGeom prst="rect">
              <a:avLst/>
            </a:prstGeom>
            <a:noFill/>
          </p:spPr>
          <p:txBody>
            <a:bodyPr wrap="square" lIns="0" tIns="0" rIns="0" bIns="0">
              <a:spAutoFit/>
            </a:bodyPr>
            <a:lstStyle/>
            <a:p>
              <a:pPr algn="l"/>
              <a:r>
                <a:rPr sz="1800" b="1" i="1" u="none" dirty="0">
                  <a:solidFill>
                    <a:srgbClr val="E09F3E"/>
                  </a:solidFill>
                  <a:latin typeface="Calibri"/>
                </a:rPr>
                <a:t>ATC</a:t>
              </a:r>
            </a:p>
          </p:txBody>
        </p:sp>
      </p:grpSp>
      <p:grpSp>
        <p:nvGrpSpPr>
          <p:cNvPr id="35" name="Group 34">
            <a:extLst>
              <a:ext uri="{FF2B5EF4-FFF2-40B4-BE49-F238E27FC236}">
                <a16:creationId xmlns:a16="http://schemas.microsoft.com/office/drawing/2014/main" id="{9C148E9C-045E-01B0-8E3E-E28D26D7EDD2}"/>
              </a:ext>
            </a:extLst>
          </p:cNvPr>
          <p:cNvGrpSpPr/>
          <p:nvPr/>
        </p:nvGrpSpPr>
        <p:grpSpPr>
          <a:xfrm>
            <a:off x="3805889" y="3514611"/>
            <a:ext cx="4913857" cy="789227"/>
            <a:chOff x="3805889" y="3514611"/>
            <a:chExt cx="4913857" cy="789227"/>
          </a:xfrm>
        </p:grpSpPr>
        <p:sp>
          <p:nvSpPr>
            <p:cNvPr id="15" name="Rectangle 14"/>
            <p:cNvSpPr/>
            <p:nvPr/>
          </p:nvSpPr>
          <p:spPr>
            <a:xfrm>
              <a:off x="3805889" y="3514611"/>
              <a:ext cx="4377389" cy="744433"/>
            </a:xfrm>
            <a:custGeom>
              <a:avLst/>
              <a:gdLst/>
              <a:ahLst/>
              <a:cxnLst/>
              <a:rect l="0" t="0" r="r" b="b"/>
              <a:pathLst>
                <a:path w="4377389" h="744433">
                  <a:moveTo>
                    <a:pt x="0" y="0"/>
                  </a:moveTo>
                  <a:cubicBezTo>
                    <a:pt x="91195" y="44064"/>
                    <a:pt x="364781" y="185902"/>
                    <a:pt x="547173" y="264384"/>
                  </a:cubicBezTo>
                  <a:cubicBezTo>
                    <a:pt x="729564" y="342865"/>
                    <a:pt x="911955" y="411700"/>
                    <a:pt x="1094347" y="470889"/>
                  </a:cubicBezTo>
                  <a:cubicBezTo>
                    <a:pt x="1276738" y="530077"/>
                    <a:pt x="1459129" y="579619"/>
                    <a:pt x="1641521" y="619514"/>
                  </a:cubicBezTo>
                  <a:cubicBezTo>
                    <a:pt x="1823912" y="659409"/>
                    <a:pt x="2006302" y="689657"/>
                    <a:pt x="2188694" y="710259"/>
                  </a:cubicBezTo>
                  <a:cubicBezTo>
                    <a:pt x="2371085" y="730860"/>
                    <a:pt x="2553476" y="741816"/>
                    <a:pt x="2735868" y="743125"/>
                  </a:cubicBezTo>
                  <a:cubicBezTo>
                    <a:pt x="2918259" y="744433"/>
                    <a:pt x="3100650" y="736094"/>
                    <a:pt x="3283042" y="718110"/>
                  </a:cubicBezTo>
                  <a:cubicBezTo>
                    <a:pt x="3465433" y="700125"/>
                    <a:pt x="3647823" y="672494"/>
                    <a:pt x="3830215" y="635216"/>
                  </a:cubicBezTo>
                  <a:cubicBezTo>
                    <a:pt x="4012606" y="597938"/>
                    <a:pt x="4286193" y="517904"/>
                    <a:pt x="4377389" y="494442"/>
                  </a:cubicBezTo>
                </a:path>
              </a:pathLst>
            </a:custGeom>
            <a:noFill/>
            <a:ln w="31750">
              <a:solidFill>
                <a:srgbClr val="555B6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7494" y="4011230"/>
              <a:ext cx="492252" cy="292608"/>
            </a:xfrm>
            <a:prstGeom prst="rect">
              <a:avLst/>
            </a:prstGeom>
            <a:noFill/>
          </p:spPr>
          <p:txBody>
            <a:bodyPr wrap="square" lIns="0" tIns="0" rIns="0" bIns="0">
              <a:spAutoFit/>
            </a:bodyPr>
            <a:lstStyle/>
            <a:p>
              <a:pPr algn="l"/>
              <a:r>
                <a:rPr sz="1800" b="1" i="1" u="none" dirty="0">
                  <a:solidFill>
                    <a:srgbClr val="555B66"/>
                  </a:solidFill>
                  <a:latin typeface="Calibri"/>
                </a:rPr>
                <a:t>AVC</a:t>
              </a:r>
            </a:p>
          </p:txBody>
        </p:sp>
      </p:grpSp>
      <p:grpSp>
        <p:nvGrpSpPr>
          <p:cNvPr id="34" name="Group 33">
            <a:extLst>
              <a:ext uri="{FF2B5EF4-FFF2-40B4-BE49-F238E27FC236}">
                <a16:creationId xmlns:a16="http://schemas.microsoft.com/office/drawing/2014/main" id="{D97C0064-D65F-D442-E621-822416220FD9}"/>
              </a:ext>
            </a:extLst>
          </p:cNvPr>
          <p:cNvGrpSpPr/>
          <p:nvPr/>
        </p:nvGrpSpPr>
        <p:grpSpPr>
          <a:xfrm>
            <a:off x="2788920" y="3625378"/>
            <a:ext cx="4470113" cy="427552"/>
            <a:chOff x="2788920" y="3625378"/>
            <a:chExt cx="4470113" cy="427552"/>
          </a:xfrm>
        </p:grpSpPr>
        <p:sp>
          <p:nvSpPr>
            <p:cNvPr id="12" name="Rectangle 11"/>
            <p:cNvSpPr/>
            <p:nvPr/>
          </p:nvSpPr>
          <p:spPr>
            <a:xfrm>
              <a:off x="2788920" y="3625378"/>
              <a:ext cx="4470113" cy="427552"/>
            </a:xfrm>
            <a:prstGeom prst="rect">
              <a:avLst/>
            </a:prstGeom>
            <a:solidFill>
              <a:srgbClr val="C00000">
                <a:alpha val="25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21508" y="3700166"/>
              <a:ext cx="1280160" cy="277063"/>
            </a:xfrm>
            <a:prstGeom prst="rect">
              <a:avLst/>
            </a:prstGeom>
            <a:noFill/>
          </p:spPr>
          <p:txBody>
            <a:bodyPr wrap="square" lIns="0" tIns="0" rIns="0" bIns="0">
              <a:spAutoFit/>
            </a:bodyPr>
            <a:lstStyle/>
            <a:p>
              <a:pPr algn="ctr"/>
              <a:r>
                <a:rPr sz="1800" b="1" i="0" u="none">
                  <a:solidFill>
                    <a:srgbClr val="A2162A"/>
                  </a:solidFill>
                  <a:latin typeface="Calibri"/>
                </a:rPr>
                <a:t>Profit</a:t>
              </a:r>
            </a:p>
          </p:txBody>
        </p:sp>
      </p:grpSp>
      <p:grpSp>
        <p:nvGrpSpPr>
          <p:cNvPr id="130" name="Group pair 130"/>
          <p:cNvGrpSpPr/>
          <p:nvPr/>
        </p:nvGrpSpPr>
        <p:grpSpPr>
          <a:xfrm>
            <a:off x="914400" y="5577840"/>
            <a:ext cx="10332720" cy="731520"/>
            <a:chOff x="914400" y="5577840"/>
            <a:chExt cx="10332720" cy="731520"/>
          </a:xfrm>
        </p:grpSpPr>
        <p:sp>
          <p:nvSpPr>
            <p:cNvPr id="25" name="Rounded Rectangle 24"/>
            <p:cNvSpPr/>
            <p:nvPr/>
          </p:nvSpPr>
          <p:spPr>
            <a:xfrm>
              <a:off x="914400" y="5577840"/>
              <a:ext cx="10332720" cy="731520"/>
            </a:xfrm>
            <a:prstGeom prst="roundRect">
              <a:avLst>
                <a:gd name="adj" fmla="val 12000"/>
              </a:avLst>
            </a:prstGeom>
            <a:solidFill>
              <a:srgbClr val="FDF6E6"/>
            </a:solidFill>
            <a:ln w="222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97280" y="5687568"/>
              <a:ext cx="9966960" cy="512064"/>
            </a:xfrm>
            <a:prstGeom prst="rect">
              <a:avLst/>
            </a:prstGeom>
            <a:noFill/>
          </p:spPr>
          <p:txBody>
            <a:bodyPr wrap="square" lIns="45720" tIns="0" rIns="45720" bIns="0" anchor="ctr">
              <a:spAutoFit/>
            </a:bodyPr>
            <a:lstStyle/>
            <a:p>
              <a:pPr algn="ctr"/>
              <a:r>
                <a:rPr sz="1800" b="0" i="0" u="none">
                  <a:solidFill>
                    <a:srgbClr val="0B2B4E"/>
                  </a:solidFill>
                  <a:latin typeface="Calibri"/>
                </a:rPr>
                <a:t>Optimal output is where </a:t>
              </a:r>
              <a:r>
                <a:rPr sz="1800" b="1" i="0" u="none">
                  <a:solidFill>
                    <a:srgbClr val="0B2B4E"/>
                  </a:solidFill>
                  <a:latin typeface="Calibri"/>
                </a:rPr>
                <a:t>MC = MR = P</a:t>
              </a:r>
              <a:r>
                <a:rPr sz="1800" b="0" i="0" u="none">
                  <a:solidFill>
                    <a:srgbClr val="0B2B4E"/>
                  </a:solidFill>
                  <a:latin typeface="Calibri"/>
                </a:rPr>
                <a:t>.  This occurs at Q*.  At that output positive economic profits are being made because </a:t>
              </a:r>
              <a:r>
                <a:rPr sz="1800" b="1" i="0" u="none">
                  <a:solidFill>
                    <a:srgbClr val="C00000"/>
                  </a:solidFill>
                  <a:latin typeface="Calibri"/>
                </a:rPr>
                <a:t>P &gt; ATC</a:t>
              </a:r>
              <a:r>
                <a:rPr sz="1800" b="0" i="0" u="none">
                  <a:solidFill>
                    <a:srgbClr val="0B2B4E"/>
                  </a:solidFill>
                  <a:latin typeface="Calibri"/>
                </a:rPr>
                <a:t>.</a:t>
              </a:r>
            </a:p>
          </p:txBody>
        </p:sp>
      </p:grpSp>
      <p:sp>
        <p:nvSpPr>
          <p:cNvPr id="27" name="Rectangle 2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0" name="TextBox 29"/>
          <p:cNvSpPr txBox="1"/>
          <p:nvPr/>
        </p:nvSpPr>
        <p:spPr>
          <a:xfrm>
            <a:off x="11475720" y="6583680"/>
            <a:ext cx="502920" cy="292608"/>
          </a:xfrm>
          <a:prstGeom prst="rect">
            <a:avLst/>
          </a:prstGeom>
          <a:noFill/>
        </p:spPr>
        <p:txBody>
          <a:bodyPr wrap="none" lIns="0" tIns="0" rIns="0" bIns="0">
            <a:spAutoFit/>
          </a:bodyPr>
          <a:lstStyle/>
          <a:p>
            <a:pPr algn="r"/>
            <a:fld id="{47E29B0C-E2C2-52A9-874E-F3FCE5D42D6E}" type="slidenum">
              <a:rPr lang="en-US" sz="1200" dirty="0">
                <a:solidFill>
                  <a:srgbClr val="555B66"/>
                </a:solidFill>
                <a:latin typeface="Calibri"/>
              </a:rPr>
              <a:t>23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Low Price: Producing at a Loss in the Short Run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2788920" y="1618488"/>
            <a:ext cx="0" cy="341071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88920" y="5029200"/>
            <a:ext cx="688543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591944" y="1485900"/>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0" name="TextBox 9"/>
          <p:cNvSpPr txBox="1"/>
          <p:nvPr/>
        </p:nvSpPr>
        <p:spPr>
          <a:xfrm>
            <a:off x="9561575" y="5074920"/>
            <a:ext cx="225551" cy="265176"/>
          </a:xfrm>
          <a:prstGeom prst="rect">
            <a:avLst/>
          </a:prstGeom>
          <a:noFill/>
        </p:spPr>
        <p:txBody>
          <a:bodyPr wrap="square" lIns="0" tIns="0" rIns="0" bIns="0">
            <a:spAutoFit/>
          </a:bodyPr>
          <a:lstStyle/>
          <a:p>
            <a:pPr algn="l"/>
            <a:r>
              <a:rPr sz="1700" b="1" i="1" u="none">
                <a:solidFill>
                  <a:srgbClr val="0B2B4E"/>
                </a:solidFill>
                <a:latin typeface="Calibri"/>
              </a:rPr>
              <a:t>Q</a:t>
            </a:r>
          </a:p>
        </p:txBody>
      </p:sp>
      <p:sp>
        <p:nvSpPr>
          <p:cNvPr id="12" name="Rectangle 11"/>
          <p:cNvSpPr/>
          <p:nvPr/>
        </p:nvSpPr>
        <p:spPr>
          <a:xfrm>
            <a:off x="3726711" y="1851419"/>
            <a:ext cx="4532660" cy="2180026"/>
          </a:xfrm>
          <a:custGeom>
            <a:avLst/>
            <a:gdLst/>
            <a:ahLst/>
            <a:cxnLst/>
            <a:rect l="0" t="0" r="r" b="b"/>
            <a:pathLst>
              <a:path w="4532660" h="2180026">
                <a:moveTo>
                  <a:pt x="0" y="2180026"/>
                </a:moveTo>
                <a:cubicBezTo>
                  <a:pt x="188860" y="2089191"/>
                  <a:pt x="755443" y="1816687"/>
                  <a:pt x="1133165" y="1635019"/>
                </a:cubicBezTo>
                <a:cubicBezTo>
                  <a:pt x="1510886" y="1453350"/>
                  <a:pt x="1888608" y="1271681"/>
                  <a:pt x="2266330" y="1090013"/>
                </a:cubicBezTo>
                <a:cubicBezTo>
                  <a:pt x="2644051" y="908344"/>
                  <a:pt x="3021773" y="726674"/>
                  <a:pt x="3399495" y="545006"/>
                </a:cubicBezTo>
                <a:cubicBezTo>
                  <a:pt x="3777216" y="363337"/>
                  <a:pt x="4343799" y="90834"/>
                  <a:pt x="4532660"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726711" y="2406107"/>
            <a:ext cx="4532660" cy="788004"/>
          </a:xfrm>
          <a:custGeom>
            <a:avLst/>
            <a:gdLst/>
            <a:ahLst/>
            <a:cxnLst/>
            <a:rect l="0" t="0" r="r" b="b"/>
            <a:pathLst>
              <a:path w="4532660" h="788004">
                <a:moveTo>
                  <a:pt x="0" y="0"/>
                </a:moveTo>
                <a:cubicBezTo>
                  <a:pt x="94430" y="93470"/>
                  <a:pt x="377722" y="437452"/>
                  <a:pt x="566583" y="560824"/>
                </a:cubicBezTo>
                <a:cubicBezTo>
                  <a:pt x="755443" y="684195"/>
                  <a:pt x="944304" y="703030"/>
                  <a:pt x="1133165" y="740230"/>
                </a:cubicBezTo>
                <a:cubicBezTo>
                  <a:pt x="1322025" y="777429"/>
                  <a:pt x="1510886" y="780035"/>
                  <a:pt x="1699747" y="784020"/>
                </a:cubicBezTo>
                <a:cubicBezTo>
                  <a:pt x="1888607" y="788004"/>
                  <a:pt x="2077469" y="776593"/>
                  <a:pt x="2266330" y="764137"/>
                </a:cubicBezTo>
                <a:cubicBezTo>
                  <a:pt x="2455190" y="751680"/>
                  <a:pt x="2644051" y="731112"/>
                  <a:pt x="2832912" y="709283"/>
                </a:cubicBezTo>
                <a:cubicBezTo>
                  <a:pt x="3021772" y="687453"/>
                  <a:pt x="3210634" y="660851"/>
                  <a:pt x="3399495" y="633162"/>
                </a:cubicBezTo>
                <a:cubicBezTo>
                  <a:pt x="3588355" y="605472"/>
                  <a:pt x="3777216" y="574748"/>
                  <a:pt x="3966077" y="543147"/>
                </a:cubicBezTo>
                <a:cubicBezTo>
                  <a:pt x="4154937" y="511545"/>
                  <a:pt x="4438229" y="460153"/>
                  <a:pt x="4532660" y="443555"/>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726711" y="3166952"/>
            <a:ext cx="4532660" cy="1090013"/>
          </a:xfrm>
          <a:custGeom>
            <a:avLst/>
            <a:gdLst/>
            <a:ahLst/>
            <a:cxnLst/>
            <a:rect l="0" t="0" r="r" b="b"/>
            <a:pathLst>
              <a:path w="4532660" h="1090013">
                <a:moveTo>
                  <a:pt x="0" y="1090013"/>
                </a:moveTo>
                <a:cubicBezTo>
                  <a:pt x="188860" y="1044595"/>
                  <a:pt x="755443" y="908343"/>
                  <a:pt x="1133165" y="817509"/>
                </a:cubicBezTo>
                <a:cubicBezTo>
                  <a:pt x="1510886" y="726674"/>
                  <a:pt x="1888608" y="635840"/>
                  <a:pt x="2266330" y="545006"/>
                </a:cubicBezTo>
                <a:cubicBezTo>
                  <a:pt x="2644051" y="454171"/>
                  <a:pt x="3021773" y="363337"/>
                  <a:pt x="3399495" y="272503"/>
                </a:cubicBezTo>
                <a:cubicBezTo>
                  <a:pt x="3777216" y="181668"/>
                  <a:pt x="4343799" y="45417"/>
                  <a:pt x="4532660" y="0"/>
                </a:cubicBezTo>
              </a:path>
            </a:pathLst>
          </a:custGeom>
          <a:noFill/>
          <a:ln w="31750">
            <a:solidFill>
              <a:srgbClr val="555B6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1" name="Group 30">
            <a:extLst>
              <a:ext uri="{FF2B5EF4-FFF2-40B4-BE49-F238E27FC236}">
                <a16:creationId xmlns:a16="http://schemas.microsoft.com/office/drawing/2014/main" id="{43D6B979-3216-9451-9755-DDEB562EAE24}"/>
              </a:ext>
            </a:extLst>
          </p:cNvPr>
          <p:cNvGrpSpPr/>
          <p:nvPr/>
        </p:nvGrpSpPr>
        <p:grpSpPr>
          <a:xfrm>
            <a:off x="4324069" y="3662412"/>
            <a:ext cx="339852" cy="1695972"/>
            <a:chOff x="4324069" y="3662412"/>
            <a:chExt cx="339852" cy="1695972"/>
          </a:xfrm>
        </p:grpSpPr>
        <p:cxnSp>
          <p:nvCxnSpPr>
            <p:cNvPr id="17" name="Connector 16"/>
            <p:cNvCxnSpPr/>
            <p:nvPr/>
          </p:nvCxnSpPr>
          <p:spPr>
            <a:xfrm flipV="1">
              <a:off x="4493995" y="3662412"/>
              <a:ext cx="0" cy="1366788"/>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324069" y="5084064"/>
              <a:ext cx="339852" cy="274320"/>
            </a:xfrm>
            <a:prstGeom prst="rect">
              <a:avLst/>
            </a:prstGeom>
            <a:noFill/>
          </p:spPr>
          <p:txBody>
            <a:bodyPr wrap="square" lIns="0" tIns="0" rIns="0" bIns="0">
              <a:spAutoFit/>
            </a:bodyPr>
            <a:lstStyle/>
            <a:p>
              <a:pPr algn="ctr"/>
              <a:r>
                <a:rPr sz="1700" b="1" i="1" u="none" dirty="0">
                  <a:solidFill>
                    <a:srgbClr val="0B2B4E"/>
                  </a:solidFill>
                  <a:latin typeface="Calibri"/>
                </a:rPr>
                <a:t>Q*</a:t>
              </a:r>
            </a:p>
          </p:txBody>
        </p:sp>
      </p:grpSp>
      <p:grpSp>
        <p:nvGrpSpPr>
          <p:cNvPr id="30" name="Group 29">
            <a:extLst>
              <a:ext uri="{FF2B5EF4-FFF2-40B4-BE49-F238E27FC236}">
                <a16:creationId xmlns:a16="http://schemas.microsoft.com/office/drawing/2014/main" id="{79E2DB85-96D1-0735-6EB4-461B5C659171}"/>
              </a:ext>
            </a:extLst>
          </p:cNvPr>
          <p:cNvGrpSpPr/>
          <p:nvPr/>
        </p:nvGrpSpPr>
        <p:grpSpPr>
          <a:xfrm>
            <a:off x="2137791" y="3525252"/>
            <a:ext cx="7258394" cy="356645"/>
            <a:chOff x="2137791" y="3525252"/>
            <a:chExt cx="7258394" cy="356645"/>
          </a:xfrm>
        </p:grpSpPr>
        <p:cxnSp>
          <p:nvCxnSpPr>
            <p:cNvPr id="15" name="Connector 14"/>
            <p:cNvCxnSpPr/>
            <p:nvPr/>
          </p:nvCxnSpPr>
          <p:spPr>
            <a:xfrm>
              <a:off x="2788920" y="3662412"/>
              <a:ext cx="5704899" cy="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573225" y="3571001"/>
              <a:ext cx="822960" cy="310896"/>
            </a:xfrm>
            <a:prstGeom prst="rect">
              <a:avLst/>
            </a:prstGeom>
            <a:noFill/>
          </p:spPr>
          <p:txBody>
            <a:bodyPr wrap="square" lIns="0" tIns="0" rIns="0" bIns="0">
              <a:spAutoFit/>
            </a:bodyPr>
            <a:lstStyle/>
            <a:p>
              <a:pPr algn="l"/>
              <a:r>
                <a:rPr sz="1500" b="1" i="1" u="none" dirty="0">
                  <a:solidFill>
                    <a:srgbClr val="C00000"/>
                  </a:solidFill>
                  <a:latin typeface="Calibri"/>
                </a:rPr>
                <a:t>d = MR</a:t>
              </a:r>
            </a:p>
          </p:txBody>
        </p:sp>
        <p:sp>
          <p:nvSpPr>
            <p:cNvPr id="19" name="TextBox 18"/>
            <p:cNvSpPr txBox="1"/>
            <p:nvPr/>
          </p:nvSpPr>
          <p:spPr>
            <a:xfrm>
              <a:off x="2137791" y="3525252"/>
              <a:ext cx="577977" cy="274320"/>
            </a:xfrm>
            <a:prstGeom prst="rect">
              <a:avLst/>
            </a:prstGeom>
            <a:noFill/>
          </p:spPr>
          <p:txBody>
            <a:bodyPr wrap="square" lIns="0" tIns="0" rIns="0" bIns="0">
              <a:spAutoFit/>
            </a:bodyPr>
            <a:lstStyle/>
            <a:p>
              <a:pPr algn="r"/>
              <a:r>
                <a:rPr sz="1700" b="1" i="1" u="none" dirty="0">
                  <a:solidFill>
                    <a:srgbClr val="C00000"/>
                  </a:solidFill>
                  <a:latin typeface="Calibri"/>
                </a:rPr>
                <a:t>P low</a:t>
              </a:r>
            </a:p>
          </p:txBody>
        </p:sp>
      </p:grpSp>
      <p:sp>
        <p:nvSpPr>
          <p:cNvPr id="20" name="TextBox 19"/>
          <p:cNvSpPr txBox="1"/>
          <p:nvPr/>
        </p:nvSpPr>
        <p:spPr>
          <a:xfrm>
            <a:off x="8327099" y="1630993"/>
            <a:ext cx="406527" cy="292608"/>
          </a:xfrm>
          <a:prstGeom prst="rect">
            <a:avLst/>
          </a:prstGeom>
          <a:noFill/>
        </p:spPr>
        <p:txBody>
          <a:bodyPr wrap="square" lIns="0" tIns="0" rIns="0" bIns="0">
            <a:spAutoFit/>
          </a:bodyPr>
          <a:lstStyle/>
          <a:p>
            <a:pPr algn="l"/>
            <a:r>
              <a:rPr sz="1800" b="1" i="1" u="none" dirty="0">
                <a:solidFill>
                  <a:srgbClr val="0B2B4E"/>
                </a:solidFill>
                <a:latin typeface="Calibri"/>
              </a:rPr>
              <a:t>MC</a:t>
            </a:r>
          </a:p>
        </p:txBody>
      </p:sp>
      <p:sp>
        <p:nvSpPr>
          <p:cNvPr id="21" name="TextBox 20"/>
          <p:cNvSpPr txBox="1"/>
          <p:nvPr/>
        </p:nvSpPr>
        <p:spPr>
          <a:xfrm>
            <a:off x="8314226" y="2686411"/>
            <a:ext cx="473201" cy="292608"/>
          </a:xfrm>
          <a:prstGeom prst="rect">
            <a:avLst/>
          </a:prstGeom>
          <a:noFill/>
        </p:spPr>
        <p:txBody>
          <a:bodyPr wrap="square" lIns="0" tIns="0" rIns="0" bIns="0">
            <a:spAutoFit/>
          </a:bodyPr>
          <a:lstStyle/>
          <a:p>
            <a:pPr algn="l"/>
            <a:r>
              <a:rPr sz="1800" b="1" i="1" u="none" dirty="0">
                <a:solidFill>
                  <a:srgbClr val="E09F3E"/>
                </a:solidFill>
                <a:latin typeface="Calibri"/>
              </a:rPr>
              <a:t>ATC</a:t>
            </a:r>
          </a:p>
        </p:txBody>
      </p:sp>
      <p:sp>
        <p:nvSpPr>
          <p:cNvPr id="22" name="TextBox 21"/>
          <p:cNvSpPr txBox="1"/>
          <p:nvPr/>
        </p:nvSpPr>
        <p:spPr>
          <a:xfrm>
            <a:off x="8327099" y="3083814"/>
            <a:ext cx="492252" cy="292608"/>
          </a:xfrm>
          <a:prstGeom prst="rect">
            <a:avLst/>
          </a:prstGeom>
          <a:noFill/>
        </p:spPr>
        <p:txBody>
          <a:bodyPr wrap="square" lIns="0" tIns="0" rIns="0" bIns="0">
            <a:spAutoFit/>
          </a:bodyPr>
          <a:lstStyle/>
          <a:p>
            <a:pPr algn="l"/>
            <a:r>
              <a:rPr sz="1800" b="1" i="1" u="none" dirty="0" err="1">
                <a:solidFill>
                  <a:srgbClr val="555B66"/>
                </a:solidFill>
                <a:latin typeface="Calibri"/>
              </a:rPr>
              <a:t>AVC</a:t>
            </a:r>
            <a:endParaRPr sz="1800" b="1" i="1" u="none" dirty="0">
              <a:solidFill>
                <a:srgbClr val="555B66"/>
              </a:solidFill>
              <a:latin typeface="Calibri"/>
            </a:endParaRPr>
          </a:p>
        </p:txBody>
      </p:sp>
      <p:grpSp>
        <p:nvGrpSpPr>
          <p:cNvPr id="32" name="Group 31">
            <a:extLst>
              <a:ext uri="{FF2B5EF4-FFF2-40B4-BE49-F238E27FC236}">
                <a16:creationId xmlns:a16="http://schemas.microsoft.com/office/drawing/2014/main" id="{AF0EBD33-72E6-8C15-787B-81784A4A6BDB}"/>
              </a:ext>
            </a:extLst>
          </p:cNvPr>
          <p:cNvGrpSpPr/>
          <p:nvPr/>
        </p:nvGrpSpPr>
        <p:grpSpPr>
          <a:xfrm>
            <a:off x="2788920" y="3054477"/>
            <a:ext cx="1705075" cy="607935"/>
            <a:chOff x="2788920" y="3054477"/>
            <a:chExt cx="1705075" cy="607935"/>
          </a:xfrm>
        </p:grpSpPr>
        <p:sp>
          <p:nvSpPr>
            <p:cNvPr id="11" name="Rectangle 10"/>
            <p:cNvSpPr/>
            <p:nvPr/>
          </p:nvSpPr>
          <p:spPr>
            <a:xfrm>
              <a:off x="2788920" y="3054477"/>
              <a:ext cx="1705075" cy="607935"/>
            </a:xfrm>
            <a:prstGeom prst="rect">
              <a:avLst/>
            </a:prstGeom>
            <a:solidFill>
              <a:srgbClr val="555B66">
                <a:alpha val="22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01377" y="3184708"/>
              <a:ext cx="1280160" cy="347472"/>
            </a:xfrm>
            <a:prstGeom prst="rect">
              <a:avLst/>
            </a:prstGeom>
            <a:noFill/>
          </p:spPr>
          <p:txBody>
            <a:bodyPr wrap="square" lIns="0" tIns="0" rIns="0" bIns="0">
              <a:spAutoFit/>
            </a:bodyPr>
            <a:lstStyle/>
            <a:p>
              <a:pPr algn="ctr"/>
              <a:r>
                <a:rPr sz="1800" b="1" i="0" u="none">
                  <a:solidFill>
                    <a:srgbClr val="0B2B4E"/>
                  </a:solidFill>
                  <a:latin typeface="Calibri"/>
                </a:rPr>
                <a:t>Loss</a:t>
              </a:r>
            </a:p>
          </p:txBody>
        </p:sp>
      </p:grpSp>
      <p:grpSp>
        <p:nvGrpSpPr>
          <p:cNvPr id="129" name="Group pair 129"/>
          <p:cNvGrpSpPr/>
          <p:nvPr/>
        </p:nvGrpSpPr>
        <p:grpSpPr>
          <a:xfrm>
            <a:off x="914400" y="5577840"/>
            <a:ext cx="10332720" cy="731520"/>
            <a:chOff x="914400" y="5577840"/>
            <a:chExt cx="10332720" cy="731520"/>
          </a:xfrm>
        </p:grpSpPr>
        <p:sp>
          <p:nvSpPr>
            <p:cNvPr id="24" name="Rounded Rectangle 23"/>
            <p:cNvSpPr/>
            <p:nvPr/>
          </p:nvSpPr>
          <p:spPr>
            <a:xfrm>
              <a:off x="914400" y="5577840"/>
              <a:ext cx="10332720" cy="731520"/>
            </a:xfrm>
            <a:prstGeom prst="roundRect">
              <a:avLst>
                <a:gd name="adj" fmla="val 12000"/>
              </a:avLst>
            </a:prstGeom>
            <a:solidFill>
              <a:srgbClr val="FDF6E6"/>
            </a:solidFill>
            <a:ln w="222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97280" y="5687568"/>
              <a:ext cx="9966960" cy="512064"/>
            </a:xfrm>
            <a:prstGeom prst="rect">
              <a:avLst/>
            </a:prstGeom>
            <a:noFill/>
          </p:spPr>
          <p:txBody>
            <a:bodyPr wrap="square" lIns="45720" tIns="0" rIns="45720" bIns="0" anchor="ctr">
              <a:spAutoFit/>
            </a:bodyPr>
            <a:lstStyle/>
            <a:p>
              <a:pPr algn="ctr"/>
              <a:r>
                <a:rPr sz="1800" b="0" i="0" u="none">
                  <a:solidFill>
                    <a:srgbClr val="0B2B4E"/>
                  </a:solidFill>
                  <a:latin typeface="Calibri"/>
                </a:rPr>
                <a:t>Negative economic profits (losses) are being made because </a:t>
              </a:r>
              <a:r>
                <a:rPr sz="1800" b="1" i="0" u="none">
                  <a:solidFill>
                    <a:srgbClr val="C00000"/>
                  </a:solidFill>
                  <a:latin typeface="Calibri"/>
                </a:rPr>
                <a:t>P &lt; ATC</a:t>
              </a:r>
              <a:r>
                <a:rPr sz="1800" b="0" i="0" u="none">
                  <a:solidFill>
                    <a:srgbClr val="0B2B4E"/>
                  </a:solidFill>
                  <a:latin typeface="Calibri"/>
                </a:rPr>
                <a:t>.  But </a:t>
              </a:r>
              <a:r>
                <a:rPr sz="1800" b="1" i="0" u="none">
                  <a:solidFill>
                    <a:srgbClr val="C00000"/>
                  </a:solidFill>
                  <a:latin typeface="Calibri"/>
                </a:rPr>
                <a:t>P &gt; AVC</a:t>
              </a:r>
              <a:r>
                <a:rPr sz="1800" b="0" i="0" u="none">
                  <a:solidFill>
                    <a:srgbClr val="0B2B4E"/>
                  </a:solidFill>
                  <a:latin typeface="Calibri"/>
                </a:rPr>
                <a:t>   →   the firm should continue to produce in the short run.</a:t>
              </a:r>
            </a:p>
          </p:txBody>
        </p:sp>
      </p:grpSp>
      <p:sp>
        <p:nvSpPr>
          <p:cNvPr id="26" name="Rectangle 2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29" name="TextBox 28"/>
          <p:cNvSpPr txBox="1"/>
          <p:nvPr/>
        </p:nvSpPr>
        <p:spPr>
          <a:xfrm>
            <a:off x="11475720" y="6583680"/>
            <a:ext cx="502920" cy="292608"/>
          </a:xfrm>
          <a:prstGeom prst="rect">
            <a:avLst/>
          </a:prstGeom>
          <a:noFill/>
        </p:spPr>
        <p:txBody>
          <a:bodyPr wrap="none" lIns="0" tIns="0" rIns="0" bIns="0">
            <a:spAutoFit/>
          </a:bodyPr>
          <a:lstStyle/>
          <a:p>
            <a:pPr algn="r"/>
            <a:fld id="{87FE5336-91BC-514F-BE87-DB3CCAAE3B2B}" type="slidenum">
              <a:rPr lang="en-US" sz="1200" dirty="0">
                <a:solidFill>
                  <a:srgbClr val="555B66"/>
                </a:solidFill>
                <a:latin typeface="Calibri"/>
              </a:rPr>
              <a:t>24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29"/>
                                        </p:tgtEl>
                                        <p:attrNameLst>
                                          <p:attrName>style.visibility</p:attrName>
                                        </p:attrNameLst>
                                      </p:cBhvr>
                                      <p:to>
                                        <p:strVal val="visible"/>
                                      </p:to>
                                    </p:set>
                                    <p:animEffect transition="in" filter="fade">
                                      <p:cBhvr>
                                        <p:cTn id="19"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Low Price: Producing at a Loss in the Short Run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651760" y="1335024"/>
            <a:ext cx="6903720" cy="512064"/>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Example with more complex cost functions</a:t>
            </a:r>
          </a:p>
        </p:txBody>
      </p:sp>
      <p:cxnSp>
        <p:nvCxnSpPr>
          <p:cNvPr id="8" name="Connector 7"/>
          <p:cNvCxnSpPr/>
          <p:nvPr/>
        </p:nvCxnSpPr>
        <p:spPr>
          <a:xfrm flipV="1">
            <a:off x="2788920" y="2029967"/>
            <a:ext cx="0" cy="299923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788920" y="5029200"/>
            <a:ext cx="688543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518791" y="1897379"/>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1" name="TextBox 10"/>
          <p:cNvSpPr txBox="1"/>
          <p:nvPr/>
        </p:nvSpPr>
        <p:spPr>
          <a:xfrm>
            <a:off x="9561575" y="5074920"/>
            <a:ext cx="225551" cy="265176"/>
          </a:xfrm>
          <a:prstGeom prst="rect">
            <a:avLst/>
          </a:prstGeom>
          <a:noFill/>
        </p:spPr>
        <p:txBody>
          <a:bodyPr wrap="square" lIns="0" tIns="0" rIns="0" bIns="0">
            <a:spAutoFit/>
          </a:bodyPr>
          <a:lstStyle/>
          <a:p>
            <a:pPr algn="l"/>
            <a:r>
              <a:rPr sz="1700" b="1" i="1" u="none">
                <a:solidFill>
                  <a:srgbClr val="0B2B4E"/>
                </a:solidFill>
                <a:latin typeface="Calibri"/>
              </a:rPr>
              <a:t>Q</a:t>
            </a:r>
          </a:p>
        </p:txBody>
      </p:sp>
      <p:sp>
        <p:nvSpPr>
          <p:cNvPr id="13" name="Rectangle 12"/>
          <p:cNvSpPr/>
          <p:nvPr/>
        </p:nvSpPr>
        <p:spPr>
          <a:xfrm>
            <a:off x="3805889" y="2335914"/>
            <a:ext cx="4377389" cy="2393659"/>
          </a:xfrm>
          <a:custGeom>
            <a:avLst/>
            <a:gdLst/>
            <a:ahLst/>
            <a:cxnLst/>
            <a:rect l="0" t="0" r="r" b="b"/>
            <a:pathLst>
              <a:path w="4377389" h="2393659">
                <a:moveTo>
                  <a:pt x="0" y="1723866"/>
                </a:moveTo>
                <a:cubicBezTo>
                  <a:pt x="91195" y="1789241"/>
                  <a:pt x="364781" y="2014308"/>
                  <a:pt x="547173" y="2116120"/>
                </a:cubicBezTo>
                <a:cubicBezTo>
                  <a:pt x="729564" y="2217931"/>
                  <a:pt x="911955" y="2290804"/>
                  <a:pt x="1094347" y="2334736"/>
                </a:cubicBezTo>
                <a:cubicBezTo>
                  <a:pt x="1276738" y="2378667"/>
                  <a:pt x="1459129" y="2393659"/>
                  <a:pt x="1641521" y="2379711"/>
                </a:cubicBezTo>
                <a:cubicBezTo>
                  <a:pt x="1823912" y="2365763"/>
                  <a:pt x="2006302" y="2322875"/>
                  <a:pt x="2188694" y="2251048"/>
                </a:cubicBezTo>
                <a:cubicBezTo>
                  <a:pt x="2371085" y="2179220"/>
                  <a:pt x="2553476" y="2078452"/>
                  <a:pt x="2735868" y="1948745"/>
                </a:cubicBezTo>
                <a:cubicBezTo>
                  <a:pt x="2918259" y="1819037"/>
                  <a:pt x="3100650" y="1660390"/>
                  <a:pt x="3283042" y="1472803"/>
                </a:cubicBezTo>
                <a:cubicBezTo>
                  <a:pt x="3465433" y="1285215"/>
                  <a:pt x="3647823" y="1068688"/>
                  <a:pt x="3830215" y="823221"/>
                </a:cubicBezTo>
                <a:cubicBezTo>
                  <a:pt x="4012606" y="577753"/>
                  <a:pt x="4286193" y="137203"/>
                  <a:pt x="4377389"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05889" y="2810352"/>
            <a:ext cx="4377389" cy="1267324"/>
          </a:xfrm>
          <a:custGeom>
            <a:avLst/>
            <a:gdLst/>
            <a:ahLst/>
            <a:cxnLst/>
            <a:rect l="0" t="0" r="r" b="b"/>
            <a:pathLst>
              <a:path w="4377389" h="1267324">
                <a:moveTo>
                  <a:pt x="0" y="0"/>
                </a:moveTo>
                <a:cubicBezTo>
                  <a:pt x="91195" y="85125"/>
                  <a:pt x="364781" y="371430"/>
                  <a:pt x="547173" y="510751"/>
                </a:cubicBezTo>
                <a:cubicBezTo>
                  <a:pt x="729564" y="650071"/>
                  <a:pt x="911955" y="745321"/>
                  <a:pt x="1094347" y="835924"/>
                </a:cubicBezTo>
                <a:cubicBezTo>
                  <a:pt x="1276738" y="926527"/>
                  <a:pt x="1459129" y="995173"/>
                  <a:pt x="1641521" y="1054369"/>
                </a:cubicBezTo>
                <a:cubicBezTo>
                  <a:pt x="1823912" y="1113564"/>
                  <a:pt x="2006302" y="1157403"/>
                  <a:pt x="2188694" y="1191098"/>
                </a:cubicBezTo>
                <a:cubicBezTo>
                  <a:pt x="2371085" y="1224793"/>
                  <a:pt x="2553476" y="1245753"/>
                  <a:pt x="2735868" y="1256539"/>
                </a:cubicBezTo>
                <a:cubicBezTo>
                  <a:pt x="2918259" y="1267324"/>
                  <a:pt x="3100650" y="1266613"/>
                  <a:pt x="3283042" y="1255810"/>
                </a:cubicBezTo>
                <a:cubicBezTo>
                  <a:pt x="3465433" y="1245006"/>
                  <a:pt x="3647823" y="1223363"/>
                  <a:pt x="3830215" y="1191717"/>
                </a:cubicBezTo>
                <a:cubicBezTo>
                  <a:pt x="4012606" y="1160070"/>
                  <a:pt x="4286193" y="1086895"/>
                  <a:pt x="4377389" y="1065931"/>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805889" y="3514611"/>
            <a:ext cx="4377389" cy="744433"/>
          </a:xfrm>
          <a:custGeom>
            <a:avLst/>
            <a:gdLst/>
            <a:ahLst/>
            <a:cxnLst/>
            <a:rect l="0" t="0" r="r" b="b"/>
            <a:pathLst>
              <a:path w="4377389" h="744433">
                <a:moveTo>
                  <a:pt x="0" y="0"/>
                </a:moveTo>
                <a:cubicBezTo>
                  <a:pt x="91195" y="44064"/>
                  <a:pt x="364781" y="185902"/>
                  <a:pt x="547173" y="264384"/>
                </a:cubicBezTo>
                <a:cubicBezTo>
                  <a:pt x="729564" y="342865"/>
                  <a:pt x="911955" y="411700"/>
                  <a:pt x="1094347" y="470889"/>
                </a:cubicBezTo>
                <a:cubicBezTo>
                  <a:pt x="1276738" y="530077"/>
                  <a:pt x="1459129" y="579619"/>
                  <a:pt x="1641521" y="619514"/>
                </a:cubicBezTo>
                <a:cubicBezTo>
                  <a:pt x="1823912" y="659409"/>
                  <a:pt x="2006302" y="689657"/>
                  <a:pt x="2188694" y="710259"/>
                </a:cubicBezTo>
                <a:cubicBezTo>
                  <a:pt x="2371085" y="730860"/>
                  <a:pt x="2553476" y="741816"/>
                  <a:pt x="2735868" y="743125"/>
                </a:cubicBezTo>
                <a:cubicBezTo>
                  <a:pt x="2918259" y="744433"/>
                  <a:pt x="3100650" y="736094"/>
                  <a:pt x="3283042" y="718110"/>
                </a:cubicBezTo>
                <a:cubicBezTo>
                  <a:pt x="3465433" y="700125"/>
                  <a:pt x="3647823" y="672494"/>
                  <a:pt x="3830215" y="635216"/>
                </a:cubicBezTo>
                <a:cubicBezTo>
                  <a:pt x="4012606" y="597938"/>
                  <a:pt x="4286193" y="517904"/>
                  <a:pt x="4377389" y="494442"/>
                </a:cubicBezTo>
              </a:path>
            </a:pathLst>
          </a:custGeom>
          <a:noFill/>
          <a:ln w="31750">
            <a:solidFill>
              <a:srgbClr val="555B6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3" name="Group 32">
            <a:extLst>
              <a:ext uri="{FF2B5EF4-FFF2-40B4-BE49-F238E27FC236}">
                <a16:creationId xmlns:a16="http://schemas.microsoft.com/office/drawing/2014/main" id="{3B9FB607-2B95-1A9E-22D6-EB36A47DBA3D}"/>
              </a:ext>
            </a:extLst>
          </p:cNvPr>
          <p:cNvGrpSpPr/>
          <p:nvPr/>
        </p:nvGrpSpPr>
        <p:grpSpPr>
          <a:xfrm>
            <a:off x="2518791" y="4009861"/>
            <a:ext cx="7106472" cy="310896"/>
            <a:chOff x="2518791" y="4009861"/>
            <a:chExt cx="7106472" cy="310896"/>
          </a:xfrm>
        </p:grpSpPr>
        <p:cxnSp>
          <p:nvCxnSpPr>
            <p:cNvPr id="16" name="Connector 15"/>
            <p:cNvCxnSpPr/>
            <p:nvPr/>
          </p:nvCxnSpPr>
          <p:spPr>
            <a:xfrm>
              <a:off x="2788920" y="4165309"/>
              <a:ext cx="5880735" cy="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802303" y="4009861"/>
              <a:ext cx="822960" cy="310896"/>
            </a:xfrm>
            <a:prstGeom prst="rect">
              <a:avLst/>
            </a:prstGeom>
            <a:noFill/>
          </p:spPr>
          <p:txBody>
            <a:bodyPr wrap="square" lIns="0" tIns="0" rIns="0" bIns="0">
              <a:spAutoFit/>
            </a:bodyPr>
            <a:lstStyle/>
            <a:p>
              <a:pPr algn="l"/>
              <a:r>
                <a:rPr sz="1500" b="1" i="1" u="none">
                  <a:solidFill>
                    <a:srgbClr val="C00000"/>
                  </a:solidFill>
                  <a:latin typeface="Calibri"/>
                </a:rPr>
                <a:t>d = MR</a:t>
              </a:r>
            </a:p>
          </p:txBody>
        </p:sp>
        <p:sp>
          <p:nvSpPr>
            <p:cNvPr id="18" name="TextBox 17"/>
            <p:cNvSpPr txBox="1"/>
            <p:nvPr/>
          </p:nvSpPr>
          <p:spPr>
            <a:xfrm>
              <a:off x="2518791" y="4028149"/>
              <a:ext cx="196976" cy="274320"/>
            </a:xfrm>
            <a:prstGeom prst="rect">
              <a:avLst/>
            </a:prstGeom>
            <a:noFill/>
          </p:spPr>
          <p:txBody>
            <a:bodyPr wrap="square" lIns="0" tIns="0" rIns="0" bIns="0">
              <a:spAutoFit/>
            </a:bodyPr>
            <a:lstStyle/>
            <a:p>
              <a:pPr algn="r"/>
              <a:r>
                <a:rPr sz="1700" b="1" i="1" u="none">
                  <a:solidFill>
                    <a:srgbClr val="C00000"/>
                  </a:solidFill>
                  <a:latin typeface="Calibri"/>
                </a:rPr>
                <a:t>P</a:t>
              </a:r>
            </a:p>
          </p:txBody>
        </p:sp>
      </p:grpSp>
      <p:grpSp>
        <p:nvGrpSpPr>
          <p:cNvPr id="31" name="Group 30">
            <a:extLst>
              <a:ext uri="{FF2B5EF4-FFF2-40B4-BE49-F238E27FC236}">
                <a16:creationId xmlns:a16="http://schemas.microsoft.com/office/drawing/2014/main" id="{E883C68E-6682-F932-C8BC-67A5A3540321}"/>
              </a:ext>
            </a:extLst>
          </p:cNvPr>
          <p:cNvGrpSpPr/>
          <p:nvPr/>
        </p:nvGrpSpPr>
        <p:grpSpPr>
          <a:xfrm>
            <a:off x="6529518" y="4165309"/>
            <a:ext cx="339852" cy="1193075"/>
            <a:chOff x="6529518" y="4165309"/>
            <a:chExt cx="339852" cy="1193075"/>
          </a:xfrm>
        </p:grpSpPr>
        <p:cxnSp>
          <p:nvCxnSpPr>
            <p:cNvPr id="19" name="Connector 18"/>
            <p:cNvCxnSpPr/>
            <p:nvPr/>
          </p:nvCxnSpPr>
          <p:spPr>
            <a:xfrm flipV="1">
              <a:off x="6699444" y="4165309"/>
              <a:ext cx="0" cy="863891"/>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29518" y="5084064"/>
              <a:ext cx="339852" cy="274320"/>
            </a:xfrm>
            <a:prstGeom prst="rect">
              <a:avLst/>
            </a:prstGeom>
            <a:noFill/>
          </p:spPr>
          <p:txBody>
            <a:bodyPr wrap="square" lIns="0" tIns="0" rIns="0" bIns="0">
              <a:spAutoFit/>
            </a:bodyPr>
            <a:lstStyle/>
            <a:p>
              <a:pPr algn="ctr"/>
              <a:r>
                <a:rPr sz="1700" b="1" i="1" u="none">
                  <a:solidFill>
                    <a:srgbClr val="0B2B4E"/>
                  </a:solidFill>
                  <a:latin typeface="Calibri"/>
                </a:rPr>
                <a:t>Q*</a:t>
              </a:r>
            </a:p>
          </p:txBody>
        </p:sp>
      </p:grpSp>
      <p:sp>
        <p:nvSpPr>
          <p:cNvPr id="21" name="TextBox 20"/>
          <p:cNvSpPr txBox="1"/>
          <p:nvPr/>
        </p:nvSpPr>
        <p:spPr>
          <a:xfrm>
            <a:off x="7696901" y="2041128"/>
            <a:ext cx="406527" cy="292608"/>
          </a:xfrm>
          <a:prstGeom prst="rect">
            <a:avLst/>
          </a:prstGeom>
          <a:noFill/>
        </p:spPr>
        <p:txBody>
          <a:bodyPr wrap="square" lIns="0" tIns="0" rIns="0" bIns="0">
            <a:spAutoFit/>
          </a:bodyPr>
          <a:lstStyle/>
          <a:p>
            <a:pPr algn="l"/>
            <a:r>
              <a:rPr sz="1800" b="1" i="1" u="none">
                <a:solidFill>
                  <a:srgbClr val="0B2B4E"/>
                </a:solidFill>
                <a:latin typeface="Calibri"/>
              </a:rPr>
              <a:t>MC</a:t>
            </a:r>
          </a:p>
        </p:txBody>
      </p:sp>
      <p:sp>
        <p:nvSpPr>
          <p:cNvPr id="22" name="TextBox 21"/>
          <p:cNvSpPr txBox="1"/>
          <p:nvPr/>
        </p:nvSpPr>
        <p:spPr>
          <a:xfrm>
            <a:off x="8227494" y="3608494"/>
            <a:ext cx="473201" cy="292608"/>
          </a:xfrm>
          <a:prstGeom prst="rect">
            <a:avLst/>
          </a:prstGeom>
          <a:noFill/>
        </p:spPr>
        <p:txBody>
          <a:bodyPr wrap="square" lIns="0" tIns="0" rIns="0" bIns="0">
            <a:spAutoFit/>
          </a:bodyPr>
          <a:lstStyle/>
          <a:p>
            <a:pPr algn="l"/>
            <a:r>
              <a:rPr sz="1800" b="1" i="1" u="none">
                <a:solidFill>
                  <a:srgbClr val="E09F3E"/>
                </a:solidFill>
                <a:latin typeface="Calibri"/>
              </a:rPr>
              <a:t>ATC</a:t>
            </a:r>
          </a:p>
        </p:txBody>
      </p:sp>
      <p:sp>
        <p:nvSpPr>
          <p:cNvPr id="23" name="TextBox 22"/>
          <p:cNvSpPr txBox="1"/>
          <p:nvPr/>
        </p:nvSpPr>
        <p:spPr>
          <a:xfrm>
            <a:off x="8227494" y="4011230"/>
            <a:ext cx="492252" cy="292608"/>
          </a:xfrm>
          <a:prstGeom prst="rect">
            <a:avLst/>
          </a:prstGeom>
          <a:noFill/>
        </p:spPr>
        <p:txBody>
          <a:bodyPr wrap="square" lIns="0" tIns="0" rIns="0" bIns="0">
            <a:spAutoFit/>
          </a:bodyPr>
          <a:lstStyle/>
          <a:p>
            <a:pPr algn="l"/>
            <a:r>
              <a:rPr sz="1800" b="1" i="1" u="none">
                <a:solidFill>
                  <a:srgbClr val="555B66"/>
                </a:solidFill>
                <a:latin typeface="Calibri"/>
              </a:rPr>
              <a:t>AVC</a:t>
            </a:r>
          </a:p>
        </p:txBody>
      </p:sp>
      <p:grpSp>
        <p:nvGrpSpPr>
          <p:cNvPr id="32" name="Group 31">
            <a:extLst>
              <a:ext uri="{FF2B5EF4-FFF2-40B4-BE49-F238E27FC236}">
                <a16:creationId xmlns:a16="http://schemas.microsoft.com/office/drawing/2014/main" id="{08C79B84-93B8-080A-6617-DC5267AE0341}"/>
              </a:ext>
            </a:extLst>
          </p:cNvPr>
          <p:cNvGrpSpPr/>
          <p:nvPr/>
        </p:nvGrpSpPr>
        <p:grpSpPr>
          <a:xfrm>
            <a:off x="2788920" y="3980324"/>
            <a:ext cx="3910524" cy="277063"/>
            <a:chOff x="2788920" y="3980324"/>
            <a:chExt cx="3910524" cy="277063"/>
          </a:xfrm>
        </p:grpSpPr>
        <p:sp>
          <p:nvSpPr>
            <p:cNvPr id="12" name="Rectangle 11"/>
            <p:cNvSpPr/>
            <p:nvPr/>
          </p:nvSpPr>
          <p:spPr>
            <a:xfrm>
              <a:off x="2788920" y="4073314"/>
              <a:ext cx="3910524" cy="91995"/>
            </a:xfrm>
            <a:prstGeom prst="rect">
              <a:avLst/>
            </a:prstGeom>
            <a:solidFill>
              <a:srgbClr val="555B66">
                <a:alpha val="25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21508" y="3980324"/>
              <a:ext cx="1280160" cy="277063"/>
            </a:xfrm>
            <a:prstGeom prst="rect">
              <a:avLst/>
            </a:prstGeom>
            <a:noFill/>
          </p:spPr>
          <p:txBody>
            <a:bodyPr wrap="square" lIns="0" tIns="0" rIns="0" bIns="0">
              <a:spAutoFit/>
            </a:bodyPr>
            <a:lstStyle/>
            <a:p>
              <a:pPr algn="ctr"/>
              <a:r>
                <a:rPr sz="1800" b="1" i="0" u="none" dirty="0">
                  <a:solidFill>
                    <a:srgbClr val="0B2B4E"/>
                  </a:solidFill>
                  <a:latin typeface="Calibri"/>
                </a:rPr>
                <a:t>Loss</a:t>
              </a:r>
            </a:p>
          </p:txBody>
        </p:sp>
      </p:grpSp>
      <p:grpSp>
        <p:nvGrpSpPr>
          <p:cNvPr id="130" name="Group pair 130"/>
          <p:cNvGrpSpPr/>
          <p:nvPr/>
        </p:nvGrpSpPr>
        <p:grpSpPr>
          <a:xfrm>
            <a:off x="914400" y="5577840"/>
            <a:ext cx="10332720" cy="731520"/>
            <a:chOff x="914400" y="5577840"/>
            <a:chExt cx="10332720" cy="731520"/>
          </a:xfrm>
        </p:grpSpPr>
        <p:sp>
          <p:nvSpPr>
            <p:cNvPr id="25" name="Rounded Rectangle 24"/>
            <p:cNvSpPr/>
            <p:nvPr/>
          </p:nvSpPr>
          <p:spPr>
            <a:xfrm>
              <a:off x="914400" y="5577840"/>
              <a:ext cx="10332720" cy="731520"/>
            </a:xfrm>
            <a:prstGeom prst="roundRect">
              <a:avLst>
                <a:gd name="adj" fmla="val 12000"/>
              </a:avLst>
            </a:prstGeom>
            <a:solidFill>
              <a:srgbClr val="FDF6E6"/>
            </a:solidFill>
            <a:ln w="222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97280" y="5687568"/>
              <a:ext cx="9966960" cy="512064"/>
            </a:xfrm>
            <a:prstGeom prst="rect">
              <a:avLst/>
            </a:prstGeom>
            <a:noFill/>
          </p:spPr>
          <p:txBody>
            <a:bodyPr wrap="square" lIns="45720" tIns="0" rIns="45720" bIns="0" anchor="ctr">
              <a:spAutoFit/>
            </a:bodyPr>
            <a:lstStyle/>
            <a:p>
              <a:pPr algn="ctr"/>
              <a:r>
                <a:rPr sz="1800" b="0" i="0" u="none">
                  <a:solidFill>
                    <a:srgbClr val="0B2B4E"/>
                  </a:solidFill>
                  <a:latin typeface="Calibri"/>
                </a:rPr>
                <a:t>Negative economic profits (losses) are being made because </a:t>
              </a:r>
              <a:r>
                <a:rPr sz="1800" b="1" i="0" u="none">
                  <a:solidFill>
                    <a:srgbClr val="C00000"/>
                  </a:solidFill>
                  <a:latin typeface="Calibri"/>
                </a:rPr>
                <a:t>P &lt; ATC</a:t>
              </a:r>
              <a:r>
                <a:rPr sz="1800" b="0" i="0" u="none">
                  <a:solidFill>
                    <a:srgbClr val="0B2B4E"/>
                  </a:solidFill>
                  <a:latin typeface="Calibri"/>
                </a:rPr>
                <a:t>.  But </a:t>
              </a:r>
              <a:r>
                <a:rPr sz="1800" b="1" i="0" u="none">
                  <a:solidFill>
                    <a:srgbClr val="C00000"/>
                  </a:solidFill>
                  <a:latin typeface="Calibri"/>
                </a:rPr>
                <a:t>P &gt; AVC</a:t>
              </a:r>
              <a:r>
                <a:rPr sz="1800" b="0" i="0" u="none">
                  <a:solidFill>
                    <a:srgbClr val="0B2B4E"/>
                  </a:solidFill>
                  <a:latin typeface="Calibri"/>
                </a:rPr>
                <a:t>   →   the firm should continue to produce in the short run.</a:t>
              </a:r>
            </a:p>
          </p:txBody>
        </p:sp>
      </p:grpSp>
      <p:sp>
        <p:nvSpPr>
          <p:cNvPr id="27" name="Rectangle 2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0" name="TextBox 29"/>
          <p:cNvSpPr txBox="1"/>
          <p:nvPr/>
        </p:nvSpPr>
        <p:spPr>
          <a:xfrm>
            <a:off x="11475720" y="6583680"/>
            <a:ext cx="502920" cy="292608"/>
          </a:xfrm>
          <a:prstGeom prst="rect">
            <a:avLst/>
          </a:prstGeom>
          <a:noFill/>
        </p:spPr>
        <p:txBody>
          <a:bodyPr wrap="none" lIns="0" tIns="0" rIns="0" bIns="0">
            <a:spAutoFit/>
          </a:bodyPr>
          <a:lstStyle/>
          <a:p>
            <a:pPr algn="r"/>
            <a:fld id="{A9745B44-8DC3-5093-8076-16734C04D8AD}" type="slidenum">
              <a:rPr lang="en-US" sz="1200" dirty="0">
                <a:solidFill>
                  <a:srgbClr val="555B66"/>
                </a:solidFill>
                <a:latin typeface="Calibri"/>
              </a:rPr>
              <a:t>25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Very Low Price: Stopping Production in the Short Run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2788920" y="1618488"/>
            <a:ext cx="0" cy="341071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88920" y="5029200"/>
            <a:ext cx="688543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518791" y="1485900"/>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0" name="TextBox 9"/>
          <p:cNvSpPr txBox="1"/>
          <p:nvPr/>
        </p:nvSpPr>
        <p:spPr>
          <a:xfrm>
            <a:off x="9561575" y="5074920"/>
            <a:ext cx="225551" cy="265176"/>
          </a:xfrm>
          <a:prstGeom prst="rect">
            <a:avLst/>
          </a:prstGeom>
          <a:noFill/>
        </p:spPr>
        <p:txBody>
          <a:bodyPr wrap="square" lIns="0" tIns="0" rIns="0" bIns="0">
            <a:spAutoFit/>
          </a:bodyPr>
          <a:lstStyle/>
          <a:p>
            <a:pPr algn="l"/>
            <a:r>
              <a:rPr sz="1700" b="1" i="1" u="none">
                <a:solidFill>
                  <a:srgbClr val="0B2B4E"/>
                </a:solidFill>
                <a:latin typeface="Calibri"/>
              </a:rPr>
              <a:t>Q</a:t>
            </a:r>
          </a:p>
        </p:txBody>
      </p:sp>
      <p:sp>
        <p:nvSpPr>
          <p:cNvPr id="11" name="Rectangle 10"/>
          <p:cNvSpPr/>
          <p:nvPr/>
        </p:nvSpPr>
        <p:spPr>
          <a:xfrm>
            <a:off x="2788920" y="1851419"/>
            <a:ext cx="5470451" cy="2631066"/>
          </a:xfrm>
          <a:custGeom>
            <a:avLst/>
            <a:gdLst/>
            <a:ahLst/>
            <a:cxnLst/>
            <a:rect l="0" t="0" r="r" b="b"/>
            <a:pathLst>
              <a:path w="5470451" h="2631066">
                <a:moveTo>
                  <a:pt x="0" y="2631066"/>
                </a:moveTo>
                <a:cubicBezTo>
                  <a:pt x="227935" y="2521438"/>
                  <a:pt x="911741" y="2192554"/>
                  <a:pt x="1367612" y="1973299"/>
                </a:cubicBezTo>
                <a:cubicBezTo>
                  <a:pt x="1823482" y="1754043"/>
                  <a:pt x="2279354" y="1534788"/>
                  <a:pt x="2735225" y="1315533"/>
                </a:cubicBezTo>
                <a:cubicBezTo>
                  <a:pt x="3191096" y="1096277"/>
                  <a:pt x="3646967" y="877021"/>
                  <a:pt x="4102838" y="657766"/>
                </a:cubicBezTo>
                <a:cubicBezTo>
                  <a:pt x="4558709" y="438510"/>
                  <a:pt x="5242515" y="109627"/>
                  <a:pt x="5470451"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726711" y="2406107"/>
            <a:ext cx="4532660" cy="867586"/>
          </a:xfrm>
          <a:custGeom>
            <a:avLst/>
            <a:gdLst/>
            <a:ahLst/>
            <a:cxnLst/>
            <a:rect l="0" t="0" r="r" b="b"/>
            <a:pathLst>
              <a:path w="4532660" h="867586">
                <a:moveTo>
                  <a:pt x="0" y="0"/>
                </a:moveTo>
                <a:cubicBezTo>
                  <a:pt x="188860" y="123371"/>
                  <a:pt x="755443" y="612873"/>
                  <a:pt x="1133165" y="740230"/>
                </a:cubicBezTo>
                <a:cubicBezTo>
                  <a:pt x="1510886" y="867586"/>
                  <a:pt x="1888608" y="781981"/>
                  <a:pt x="2266330" y="764137"/>
                </a:cubicBezTo>
                <a:cubicBezTo>
                  <a:pt x="2644051" y="746292"/>
                  <a:pt x="3021773" y="686592"/>
                  <a:pt x="3399495" y="633162"/>
                </a:cubicBezTo>
                <a:cubicBezTo>
                  <a:pt x="3777216" y="579731"/>
                  <a:pt x="4343799" y="475156"/>
                  <a:pt x="4532660" y="443555"/>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88920" y="3166952"/>
            <a:ext cx="5470451" cy="1315533"/>
          </a:xfrm>
          <a:custGeom>
            <a:avLst/>
            <a:gdLst/>
            <a:ahLst/>
            <a:cxnLst/>
            <a:rect l="0" t="0" r="r" b="b"/>
            <a:pathLst>
              <a:path w="5470451" h="1315533">
                <a:moveTo>
                  <a:pt x="0" y="1315533"/>
                </a:moveTo>
                <a:cubicBezTo>
                  <a:pt x="227935" y="1260719"/>
                  <a:pt x="911741" y="1096276"/>
                  <a:pt x="1367612" y="986649"/>
                </a:cubicBezTo>
                <a:cubicBezTo>
                  <a:pt x="1823482" y="877021"/>
                  <a:pt x="2279354" y="767393"/>
                  <a:pt x="2735225" y="657766"/>
                </a:cubicBezTo>
                <a:cubicBezTo>
                  <a:pt x="3191096" y="548138"/>
                  <a:pt x="3646967" y="438510"/>
                  <a:pt x="4102838" y="328883"/>
                </a:cubicBezTo>
                <a:cubicBezTo>
                  <a:pt x="4558709" y="219255"/>
                  <a:pt x="5242515" y="54813"/>
                  <a:pt x="5470451" y="0"/>
                </a:cubicBezTo>
              </a:path>
            </a:pathLst>
          </a:custGeom>
          <a:noFill/>
          <a:ln w="31750">
            <a:solidFill>
              <a:srgbClr val="555B6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7" name="Group 26">
            <a:extLst>
              <a:ext uri="{FF2B5EF4-FFF2-40B4-BE49-F238E27FC236}">
                <a16:creationId xmlns:a16="http://schemas.microsoft.com/office/drawing/2014/main" id="{1C47E014-A661-B879-38EC-A045D25D3569}"/>
              </a:ext>
            </a:extLst>
          </p:cNvPr>
          <p:cNvGrpSpPr/>
          <p:nvPr/>
        </p:nvGrpSpPr>
        <p:grpSpPr>
          <a:xfrm>
            <a:off x="1699640" y="4480800"/>
            <a:ext cx="7734363" cy="310896"/>
            <a:chOff x="1699640" y="4480800"/>
            <a:chExt cx="7734363" cy="310896"/>
          </a:xfrm>
        </p:grpSpPr>
        <p:cxnSp>
          <p:nvCxnSpPr>
            <p:cNvPr id="14" name="Connector 13"/>
            <p:cNvCxnSpPr/>
            <p:nvPr/>
          </p:nvCxnSpPr>
          <p:spPr>
            <a:xfrm>
              <a:off x="2788920" y="4636248"/>
              <a:ext cx="5704899" cy="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611043" y="4480800"/>
              <a:ext cx="822960" cy="310896"/>
            </a:xfrm>
            <a:prstGeom prst="rect">
              <a:avLst/>
            </a:prstGeom>
            <a:noFill/>
          </p:spPr>
          <p:txBody>
            <a:bodyPr wrap="square" lIns="0" tIns="0" rIns="0" bIns="0">
              <a:spAutoFit/>
            </a:bodyPr>
            <a:lstStyle/>
            <a:p>
              <a:pPr algn="l"/>
              <a:r>
                <a:rPr sz="1500" b="1" i="1" u="none">
                  <a:solidFill>
                    <a:srgbClr val="C00000"/>
                  </a:solidFill>
                  <a:latin typeface="Calibri"/>
                </a:rPr>
                <a:t>d = MR</a:t>
              </a:r>
            </a:p>
          </p:txBody>
        </p:sp>
        <p:sp>
          <p:nvSpPr>
            <p:cNvPr id="16" name="TextBox 15"/>
            <p:cNvSpPr txBox="1"/>
            <p:nvPr/>
          </p:nvSpPr>
          <p:spPr>
            <a:xfrm>
              <a:off x="1699640" y="4499088"/>
              <a:ext cx="1016127" cy="274320"/>
            </a:xfrm>
            <a:prstGeom prst="rect">
              <a:avLst/>
            </a:prstGeom>
            <a:noFill/>
          </p:spPr>
          <p:txBody>
            <a:bodyPr wrap="square" lIns="0" tIns="0" rIns="0" bIns="0">
              <a:spAutoFit/>
            </a:bodyPr>
            <a:lstStyle/>
            <a:p>
              <a:pPr algn="r"/>
              <a:r>
                <a:rPr sz="1700" b="1" i="1" u="none" dirty="0">
                  <a:solidFill>
                    <a:srgbClr val="C00000"/>
                  </a:solidFill>
                  <a:latin typeface="Calibri"/>
                </a:rPr>
                <a:t>P very low</a:t>
              </a:r>
            </a:p>
          </p:txBody>
        </p:sp>
      </p:grpSp>
      <p:sp>
        <p:nvSpPr>
          <p:cNvPr id="17" name="TextBox 16"/>
          <p:cNvSpPr txBox="1"/>
          <p:nvPr/>
        </p:nvSpPr>
        <p:spPr>
          <a:xfrm>
            <a:off x="7907699" y="1483012"/>
            <a:ext cx="406527" cy="292608"/>
          </a:xfrm>
          <a:prstGeom prst="rect">
            <a:avLst/>
          </a:prstGeom>
          <a:noFill/>
        </p:spPr>
        <p:txBody>
          <a:bodyPr wrap="square" lIns="0" tIns="0" rIns="0" bIns="0">
            <a:spAutoFit/>
          </a:bodyPr>
          <a:lstStyle/>
          <a:p>
            <a:pPr algn="l"/>
            <a:r>
              <a:rPr sz="1800" b="1" i="1" u="none">
                <a:solidFill>
                  <a:srgbClr val="0B2B4E"/>
                </a:solidFill>
                <a:latin typeface="Calibri"/>
              </a:rPr>
              <a:t>MC</a:t>
            </a:r>
          </a:p>
        </p:txBody>
      </p:sp>
      <p:sp>
        <p:nvSpPr>
          <p:cNvPr id="18" name="TextBox 17"/>
          <p:cNvSpPr txBox="1"/>
          <p:nvPr/>
        </p:nvSpPr>
        <p:spPr>
          <a:xfrm>
            <a:off x="8415669" y="2566679"/>
            <a:ext cx="473201" cy="292608"/>
          </a:xfrm>
          <a:prstGeom prst="rect">
            <a:avLst/>
          </a:prstGeom>
          <a:noFill/>
        </p:spPr>
        <p:txBody>
          <a:bodyPr wrap="square" lIns="0" tIns="0" rIns="0" bIns="0">
            <a:spAutoFit/>
          </a:bodyPr>
          <a:lstStyle/>
          <a:p>
            <a:pPr algn="l"/>
            <a:r>
              <a:rPr sz="1800" b="1" i="1" u="none">
                <a:solidFill>
                  <a:srgbClr val="E09F3E"/>
                </a:solidFill>
                <a:latin typeface="Calibri"/>
              </a:rPr>
              <a:t>ATC</a:t>
            </a:r>
          </a:p>
        </p:txBody>
      </p:sp>
      <p:sp>
        <p:nvSpPr>
          <p:cNvPr id="19" name="TextBox 18"/>
          <p:cNvSpPr txBox="1"/>
          <p:nvPr/>
        </p:nvSpPr>
        <p:spPr>
          <a:xfrm>
            <a:off x="8415669" y="3276920"/>
            <a:ext cx="492252" cy="292608"/>
          </a:xfrm>
          <a:prstGeom prst="rect">
            <a:avLst/>
          </a:prstGeom>
          <a:noFill/>
        </p:spPr>
        <p:txBody>
          <a:bodyPr wrap="square" lIns="0" tIns="0" rIns="0" bIns="0">
            <a:spAutoFit/>
          </a:bodyPr>
          <a:lstStyle/>
          <a:p>
            <a:pPr algn="l"/>
            <a:r>
              <a:rPr sz="1800" b="1" i="1" u="none">
                <a:solidFill>
                  <a:srgbClr val="555B66"/>
                </a:solidFill>
                <a:latin typeface="Calibri"/>
              </a:rPr>
              <a:t>AVC</a:t>
            </a:r>
          </a:p>
        </p:txBody>
      </p:sp>
      <p:sp>
        <p:nvSpPr>
          <p:cNvPr id="20" name="TextBox 19"/>
          <p:cNvSpPr txBox="1"/>
          <p:nvPr/>
        </p:nvSpPr>
        <p:spPr>
          <a:xfrm>
            <a:off x="4039308" y="4727688"/>
            <a:ext cx="3291840" cy="310896"/>
          </a:xfrm>
          <a:prstGeom prst="rect">
            <a:avLst/>
          </a:prstGeom>
          <a:noFill/>
        </p:spPr>
        <p:txBody>
          <a:bodyPr wrap="square" lIns="0" tIns="0" rIns="0" bIns="0">
            <a:spAutoFit/>
          </a:bodyPr>
          <a:lstStyle/>
          <a:p>
            <a:pPr algn="l"/>
            <a:r>
              <a:rPr sz="1700" b="1" i="1" u="none" dirty="0">
                <a:solidFill>
                  <a:srgbClr val="3F444C"/>
                </a:solidFill>
                <a:latin typeface="Calibri"/>
              </a:rPr>
              <a:t>P &lt; AVC at every output</a:t>
            </a:r>
          </a:p>
        </p:txBody>
      </p:sp>
      <p:grpSp>
        <p:nvGrpSpPr>
          <p:cNvPr id="126" name="Group pair 126"/>
          <p:cNvGrpSpPr/>
          <p:nvPr/>
        </p:nvGrpSpPr>
        <p:grpSpPr>
          <a:xfrm>
            <a:off x="914400" y="5577840"/>
            <a:ext cx="10332720" cy="731520"/>
            <a:chOff x="914400" y="5577840"/>
            <a:chExt cx="10332720" cy="731520"/>
          </a:xfrm>
        </p:grpSpPr>
        <p:sp>
          <p:nvSpPr>
            <p:cNvPr id="21" name="Rounded Rectangle 20"/>
            <p:cNvSpPr/>
            <p:nvPr/>
          </p:nvSpPr>
          <p:spPr>
            <a:xfrm>
              <a:off x="914400" y="5577840"/>
              <a:ext cx="10332720" cy="731520"/>
            </a:xfrm>
            <a:prstGeom prst="roundRect">
              <a:avLst>
                <a:gd name="adj" fmla="val 12000"/>
              </a:avLst>
            </a:prstGeom>
            <a:solidFill>
              <a:srgbClr val="FDF6E6"/>
            </a:solidFill>
            <a:ln w="222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97280" y="5687568"/>
              <a:ext cx="9966960" cy="512064"/>
            </a:xfrm>
            <a:prstGeom prst="rect">
              <a:avLst/>
            </a:prstGeom>
            <a:noFill/>
          </p:spPr>
          <p:txBody>
            <a:bodyPr wrap="square" lIns="45720" tIns="0" rIns="45720" bIns="0" anchor="ctr">
              <a:spAutoFit/>
            </a:bodyPr>
            <a:lstStyle/>
            <a:p>
              <a:pPr algn="ctr"/>
              <a:r>
                <a:rPr sz="1800" b="0" i="0" u="none">
                  <a:solidFill>
                    <a:srgbClr val="0B2B4E"/>
                  </a:solidFill>
                  <a:latin typeface="Calibri"/>
                </a:rPr>
                <a:t>There is no output at which producing covers variable cost: </a:t>
              </a:r>
              <a:r>
                <a:rPr sz="1800" b="1" i="0" u="none">
                  <a:solidFill>
                    <a:srgbClr val="C00000"/>
                  </a:solidFill>
                  <a:latin typeface="Calibri"/>
                </a:rPr>
                <a:t>P &lt; AVC everywhere</a:t>
              </a:r>
              <a:r>
                <a:rPr sz="1800" b="0" i="0" u="none">
                  <a:solidFill>
                    <a:srgbClr val="0B2B4E"/>
                  </a:solidFill>
                  <a:latin typeface="Calibri"/>
                </a:rPr>
                <a:t>   →   the firm should stop production, and its loss is then </a:t>
              </a:r>
              <a:r>
                <a:rPr sz="1800" b="1" i="0" u="none">
                  <a:solidFill>
                    <a:srgbClr val="C00000"/>
                  </a:solidFill>
                  <a:latin typeface="Calibri"/>
                </a:rPr>
                <a:t>TFC</a:t>
              </a:r>
              <a:r>
                <a:rPr sz="1800" b="0" i="0" u="none">
                  <a:solidFill>
                    <a:srgbClr val="0B2B4E"/>
                  </a:solidFill>
                  <a:latin typeface="Calibri"/>
                </a:rPr>
                <a:t>.</a:t>
              </a:r>
            </a:p>
          </p:txBody>
        </p:sp>
      </p:grpSp>
      <p:sp>
        <p:nvSpPr>
          <p:cNvPr id="23" name="Rectangle 2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26" name="TextBox 25"/>
          <p:cNvSpPr txBox="1"/>
          <p:nvPr/>
        </p:nvSpPr>
        <p:spPr>
          <a:xfrm>
            <a:off x="11475720" y="6583680"/>
            <a:ext cx="502920" cy="292608"/>
          </a:xfrm>
          <a:prstGeom prst="rect">
            <a:avLst/>
          </a:prstGeom>
          <a:noFill/>
        </p:spPr>
        <p:txBody>
          <a:bodyPr wrap="none" lIns="0" tIns="0" rIns="0" bIns="0">
            <a:spAutoFit/>
          </a:bodyPr>
          <a:lstStyle/>
          <a:p>
            <a:pPr algn="r"/>
            <a:fld id="{9F386A92-D12C-5D81-A2EA-B3A7E8744320}" type="slidenum">
              <a:rPr lang="en-US" sz="1200" dirty="0">
                <a:solidFill>
                  <a:srgbClr val="555B66"/>
                </a:solidFill>
                <a:latin typeface="Calibri"/>
              </a:rPr>
              <a:t>26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Very Low Price: Stopping Production in the Short Run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651760" y="1335024"/>
            <a:ext cx="6903720" cy="512064"/>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Example with more complex cost functions</a:t>
            </a:r>
          </a:p>
        </p:txBody>
      </p:sp>
      <p:cxnSp>
        <p:nvCxnSpPr>
          <p:cNvPr id="8" name="Connector 7"/>
          <p:cNvCxnSpPr/>
          <p:nvPr/>
        </p:nvCxnSpPr>
        <p:spPr>
          <a:xfrm flipV="1">
            <a:off x="2788920" y="2029967"/>
            <a:ext cx="0" cy="299923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788920" y="5029200"/>
            <a:ext cx="688543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518791" y="1897379"/>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1" name="TextBox 10"/>
          <p:cNvSpPr txBox="1"/>
          <p:nvPr/>
        </p:nvSpPr>
        <p:spPr>
          <a:xfrm>
            <a:off x="9561575" y="5074920"/>
            <a:ext cx="225551" cy="265176"/>
          </a:xfrm>
          <a:prstGeom prst="rect">
            <a:avLst/>
          </a:prstGeom>
          <a:noFill/>
        </p:spPr>
        <p:txBody>
          <a:bodyPr wrap="square" lIns="0" tIns="0" rIns="0" bIns="0">
            <a:spAutoFit/>
          </a:bodyPr>
          <a:lstStyle/>
          <a:p>
            <a:pPr algn="l"/>
            <a:r>
              <a:rPr sz="1700" b="1" i="1" u="none">
                <a:solidFill>
                  <a:srgbClr val="0B2B4E"/>
                </a:solidFill>
                <a:latin typeface="Calibri"/>
              </a:rPr>
              <a:t>Q</a:t>
            </a:r>
          </a:p>
        </p:txBody>
      </p:sp>
      <p:sp>
        <p:nvSpPr>
          <p:cNvPr id="13" name="Rectangle 12"/>
          <p:cNvSpPr/>
          <p:nvPr/>
        </p:nvSpPr>
        <p:spPr>
          <a:xfrm>
            <a:off x="3805889" y="2335914"/>
            <a:ext cx="4377389" cy="2393659"/>
          </a:xfrm>
          <a:custGeom>
            <a:avLst/>
            <a:gdLst/>
            <a:ahLst/>
            <a:cxnLst/>
            <a:rect l="0" t="0" r="r" b="b"/>
            <a:pathLst>
              <a:path w="4377389" h="2393659">
                <a:moveTo>
                  <a:pt x="0" y="1723866"/>
                </a:moveTo>
                <a:cubicBezTo>
                  <a:pt x="91195" y="1789241"/>
                  <a:pt x="364781" y="2014308"/>
                  <a:pt x="547173" y="2116120"/>
                </a:cubicBezTo>
                <a:cubicBezTo>
                  <a:pt x="729564" y="2217931"/>
                  <a:pt x="911955" y="2290804"/>
                  <a:pt x="1094347" y="2334736"/>
                </a:cubicBezTo>
                <a:cubicBezTo>
                  <a:pt x="1276738" y="2378667"/>
                  <a:pt x="1459129" y="2393659"/>
                  <a:pt x="1641521" y="2379711"/>
                </a:cubicBezTo>
                <a:cubicBezTo>
                  <a:pt x="1823912" y="2365763"/>
                  <a:pt x="2006302" y="2322875"/>
                  <a:pt x="2188694" y="2251048"/>
                </a:cubicBezTo>
                <a:cubicBezTo>
                  <a:pt x="2371085" y="2179220"/>
                  <a:pt x="2553476" y="2078452"/>
                  <a:pt x="2735868" y="1948745"/>
                </a:cubicBezTo>
                <a:cubicBezTo>
                  <a:pt x="2918259" y="1819037"/>
                  <a:pt x="3100650" y="1660390"/>
                  <a:pt x="3283042" y="1472803"/>
                </a:cubicBezTo>
                <a:cubicBezTo>
                  <a:pt x="3465433" y="1285215"/>
                  <a:pt x="3647823" y="1068688"/>
                  <a:pt x="3830215" y="823221"/>
                </a:cubicBezTo>
                <a:cubicBezTo>
                  <a:pt x="4012606" y="577753"/>
                  <a:pt x="4286193" y="137203"/>
                  <a:pt x="4377389"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05889" y="2810352"/>
            <a:ext cx="4377389" cy="1267324"/>
          </a:xfrm>
          <a:custGeom>
            <a:avLst/>
            <a:gdLst/>
            <a:ahLst/>
            <a:cxnLst/>
            <a:rect l="0" t="0" r="r" b="b"/>
            <a:pathLst>
              <a:path w="4377389" h="1267324">
                <a:moveTo>
                  <a:pt x="0" y="0"/>
                </a:moveTo>
                <a:cubicBezTo>
                  <a:pt x="91195" y="85125"/>
                  <a:pt x="364781" y="371430"/>
                  <a:pt x="547173" y="510751"/>
                </a:cubicBezTo>
                <a:cubicBezTo>
                  <a:pt x="729564" y="650071"/>
                  <a:pt x="911955" y="745321"/>
                  <a:pt x="1094347" y="835924"/>
                </a:cubicBezTo>
                <a:cubicBezTo>
                  <a:pt x="1276738" y="926527"/>
                  <a:pt x="1459129" y="995173"/>
                  <a:pt x="1641521" y="1054369"/>
                </a:cubicBezTo>
                <a:cubicBezTo>
                  <a:pt x="1823912" y="1113564"/>
                  <a:pt x="2006302" y="1157403"/>
                  <a:pt x="2188694" y="1191098"/>
                </a:cubicBezTo>
                <a:cubicBezTo>
                  <a:pt x="2371085" y="1224793"/>
                  <a:pt x="2553476" y="1245753"/>
                  <a:pt x="2735868" y="1256539"/>
                </a:cubicBezTo>
                <a:cubicBezTo>
                  <a:pt x="2918259" y="1267324"/>
                  <a:pt x="3100650" y="1266613"/>
                  <a:pt x="3283042" y="1255810"/>
                </a:cubicBezTo>
                <a:cubicBezTo>
                  <a:pt x="3465433" y="1245006"/>
                  <a:pt x="3647823" y="1223363"/>
                  <a:pt x="3830215" y="1191717"/>
                </a:cubicBezTo>
                <a:cubicBezTo>
                  <a:pt x="4012606" y="1160070"/>
                  <a:pt x="4286193" y="1086895"/>
                  <a:pt x="4377389" y="1065931"/>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805889" y="3514611"/>
            <a:ext cx="4377389" cy="744433"/>
          </a:xfrm>
          <a:custGeom>
            <a:avLst/>
            <a:gdLst/>
            <a:ahLst/>
            <a:cxnLst/>
            <a:rect l="0" t="0" r="r" b="b"/>
            <a:pathLst>
              <a:path w="4377389" h="744433">
                <a:moveTo>
                  <a:pt x="0" y="0"/>
                </a:moveTo>
                <a:cubicBezTo>
                  <a:pt x="91195" y="44064"/>
                  <a:pt x="364781" y="185902"/>
                  <a:pt x="547173" y="264384"/>
                </a:cubicBezTo>
                <a:cubicBezTo>
                  <a:pt x="729564" y="342865"/>
                  <a:pt x="911955" y="411700"/>
                  <a:pt x="1094347" y="470889"/>
                </a:cubicBezTo>
                <a:cubicBezTo>
                  <a:pt x="1276738" y="530077"/>
                  <a:pt x="1459129" y="579619"/>
                  <a:pt x="1641521" y="619514"/>
                </a:cubicBezTo>
                <a:cubicBezTo>
                  <a:pt x="1823912" y="659409"/>
                  <a:pt x="2006302" y="689657"/>
                  <a:pt x="2188694" y="710259"/>
                </a:cubicBezTo>
                <a:cubicBezTo>
                  <a:pt x="2371085" y="730860"/>
                  <a:pt x="2553476" y="741816"/>
                  <a:pt x="2735868" y="743125"/>
                </a:cubicBezTo>
                <a:cubicBezTo>
                  <a:pt x="2918259" y="744433"/>
                  <a:pt x="3100650" y="736094"/>
                  <a:pt x="3283042" y="718110"/>
                </a:cubicBezTo>
                <a:cubicBezTo>
                  <a:pt x="3465433" y="700125"/>
                  <a:pt x="3647823" y="672494"/>
                  <a:pt x="3830215" y="635216"/>
                </a:cubicBezTo>
                <a:cubicBezTo>
                  <a:pt x="4012606" y="597938"/>
                  <a:pt x="4286193" y="517904"/>
                  <a:pt x="4377389" y="494442"/>
                </a:cubicBezTo>
              </a:path>
            </a:pathLst>
          </a:custGeom>
          <a:noFill/>
          <a:ln w="31750">
            <a:solidFill>
              <a:srgbClr val="555B6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1" name="Group 30">
            <a:extLst>
              <a:ext uri="{FF2B5EF4-FFF2-40B4-BE49-F238E27FC236}">
                <a16:creationId xmlns:a16="http://schemas.microsoft.com/office/drawing/2014/main" id="{2BC59B8A-0CF7-492B-DFE3-2928B009EF1E}"/>
              </a:ext>
            </a:extLst>
          </p:cNvPr>
          <p:cNvGrpSpPr/>
          <p:nvPr/>
        </p:nvGrpSpPr>
        <p:grpSpPr>
          <a:xfrm>
            <a:off x="2518791" y="4279827"/>
            <a:ext cx="7106472" cy="310896"/>
            <a:chOff x="2518791" y="4279827"/>
            <a:chExt cx="7106472" cy="310896"/>
          </a:xfrm>
        </p:grpSpPr>
        <p:cxnSp>
          <p:nvCxnSpPr>
            <p:cNvPr id="16" name="Connector 15"/>
            <p:cNvCxnSpPr/>
            <p:nvPr/>
          </p:nvCxnSpPr>
          <p:spPr>
            <a:xfrm>
              <a:off x="2788920" y="4435275"/>
              <a:ext cx="5880735" cy="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802303" y="4279827"/>
              <a:ext cx="822960" cy="310896"/>
            </a:xfrm>
            <a:prstGeom prst="rect">
              <a:avLst/>
            </a:prstGeom>
            <a:noFill/>
          </p:spPr>
          <p:txBody>
            <a:bodyPr wrap="square" lIns="0" tIns="0" rIns="0" bIns="0">
              <a:spAutoFit/>
            </a:bodyPr>
            <a:lstStyle/>
            <a:p>
              <a:pPr algn="l"/>
              <a:r>
                <a:rPr sz="1500" b="1" i="1" u="none">
                  <a:solidFill>
                    <a:srgbClr val="C00000"/>
                  </a:solidFill>
                  <a:latin typeface="Calibri"/>
                </a:rPr>
                <a:t>d = MR</a:t>
              </a:r>
            </a:p>
          </p:txBody>
        </p:sp>
        <p:sp>
          <p:nvSpPr>
            <p:cNvPr id="18" name="TextBox 17"/>
            <p:cNvSpPr txBox="1"/>
            <p:nvPr/>
          </p:nvSpPr>
          <p:spPr>
            <a:xfrm>
              <a:off x="2518791" y="4298115"/>
              <a:ext cx="196976" cy="274320"/>
            </a:xfrm>
            <a:prstGeom prst="rect">
              <a:avLst/>
            </a:prstGeom>
            <a:noFill/>
          </p:spPr>
          <p:txBody>
            <a:bodyPr wrap="square" lIns="0" tIns="0" rIns="0" bIns="0">
              <a:spAutoFit/>
            </a:bodyPr>
            <a:lstStyle/>
            <a:p>
              <a:pPr algn="r"/>
              <a:r>
                <a:rPr sz="1700" b="1" i="1" u="none">
                  <a:solidFill>
                    <a:srgbClr val="C00000"/>
                  </a:solidFill>
                  <a:latin typeface="Calibri"/>
                </a:rPr>
                <a:t>P</a:t>
              </a:r>
            </a:p>
          </p:txBody>
        </p:sp>
      </p:grpSp>
      <p:grpSp>
        <p:nvGrpSpPr>
          <p:cNvPr id="32" name="Group 31">
            <a:extLst>
              <a:ext uri="{FF2B5EF4-FFF2-40B4-BE49-F238E27FC236}">
                <a16:creationId xmlns:a16="http://schemas.microsoft.com/office/drawing/2014/main" id="{582B4DC9-8B52-2FAF-9E52-9B5B0DCF1E67}"/>
              </a:ext>
            </a:extLst>
          </p:cNvPr>
          <p:cNvGrpSpPr/>
          <p:nvPr/>
        </p:nvGrpSpPr>
        <p:grpSpPr>
          <a:xfrm>
            <a:off x="6137683" y="4432610"/>
            <a:ext cx="339852" cy="925774"/>
            <a:chOff x="6137683" y="4432610"/>
            <a:chExt cx="339852" cy="925774"/>
          </a:xfrm>
        </p:grpSpPr>
        <p:cxnSp>
          <p:nvCxnSpPr>
            <p:cNvPr id="19" name="Connector 18"/>
            <p:cNvCxnSpPr/>
            <p:nvPr/>
          </p:nvCxnSpPr>
          <p:spPr>
            <a:xfrm flipV="1">
              <a:off x="6307609" y="4432610"/>
              <a:ext cx="0" cy="593925"/>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137683" y="5084064"/>
              <a:ext cx="339852" cy="274320"/>
            </a:xfrm>
            <a:prstGeom prst="rect">
              <a:avLst/>
            </a:prstGeom>
            <a:noFill/>
          </p:spPr>
          <p:txBody>
            <a:bodyPr wrap="square" lIns="0" tIns="0" rIns="0" bIns="0">
              <a:spAutoFit/>
            </a:bodyPr>
            <a:lstStyle/>
            <a:p>
              <a:pPr algn="ctr"/>
              <a:r>
                <a:rPr sz="1700" b="1" i="1" u="none">
                  <a:solidFill>
                    <a:srgbClr val="0B2B4E"/>
                  </a:solidFill>
                  <a:latin typeface="Calibri"/>
                </a:rPr>
                <a:t>Q*</a:t>
              </a:r>
            </a:p>
          </p:txBody>
        </p:sp>
      </p:grpSp>
      <p:sp>
        <p:nvSpPr>
          <p:cNvPr id="21" name="TextBox 20"/>
          <p:cNvSpPr txBox="1"/>
          <p:nvPr/>
        </p:nvSpPr>
        <p:spPr>
          <a:xfrm>
            <a:off x="7696901" y="2041128"/>
            <a:ext cx="406527" cy="292608"/>
          </a:xfrm>
          <a:prstGeom prst="rect">
            <a:avLst/>
          </a:prstGeom>
          <a:noFill/>
        </p:spPr>
        <p:txBody>
          <a:bodyPr wrap="square" lIns="0" tIns="0" rIns="0" bIns="0">
            <a:spAutoFit/>
          </a:bodyPr>
          <a:lstStyle/>
          <a:p>
            <a:pPr algn="l"/>
            <a:r>
              <a:rPr sz="1800" b="1" i="1" u="none">
                <a:solidFill>
                  <a:srgbClr val="0B2B4E"/>
                </a:solidFill>
                <a:latin typeface="Calibri"/>
              </a:rPr>
              <a:t>MC</a:t>
            </a:r>
          </a:p>
        </p:txBody>
      </p:sp>
      <p:sp>
        <p:nvSpPr>
          <p:cNvPr id="22" name="TextBox 21"/>
          <p:cNvSpPr txBox="1"/>
          <p:nvPr/>
        </p:nvSpPr>
        <p:spPr>
          <a:xfrm>
            <a:off x="8227494" y="3608494"/>
            <a:ext cx="473201" cy="292608"/>
          </a:xfrm>
          <a:prstGeom prst="rect">
            <a:avLst/>
          </a:prstGeom>
          <a:noFill/>
        </p:spPr>
        <p:txBody>
          <a:bodyPr wrap="square" lIns="0" tIns="0" rIns="0" bIns="0">
            <a:spAutoFit/>
          </a:bodyPr>
          <a:lstStyle/>
          <a:p>
            <a:pPr algn="l"/>
            <a:r>
              <a:rPr sz="1800" b="1" i="1" u="none">
                <a:solidFill>
                  <a:srgbClr val="E09F3E"/>
                </a:solidFill>
                <a:latin typeface="Calibri"/>
              </a:rPr>
              <a:t>ATC</a:t>
            </a:r>
          </a:p>
        </p:txBody>
      </p:sp>
      <p:sp>
        <p:nvSpPr>
          <p:cNvPr id="23" name="TextBox 22"/>
          <p:cNvSpPr txBox="1"/>
          <p:nvPr/>
        </p:nvSpPr>
        <p:spPr>
          <a:xfrm>
            <a:off x="8227494" y="4011230"/>
            <a:ext cx="492252" cy="292608"/>
          </a:xfrm>
          <a:prstGeom prst="rect">
            <a:avLst/>
          </a:prstGeom>
          <a:noFill/>
        </p:spPr>
        <p:txBody>
          <a:bodyPr wrap="square" lIns="0" tIns="0" rIns="0" bIns="0">
            <a:spAutoFit/>
          </a:bodyPr>
          <a:lstStyle/>
          <a:p>
            <a:pPr algn="l"/>
            <a:r>
              <a:rPr sz="1800" b="1" i="1" u="none">
                <a:solidFill>
                  <a:srgbClr val="555B66"/>
                </a:solidFill>
                <a:latin typeface="Calibri"/>
              </a:rPr>
              <a:t>AVC</a:t>
            </a:r>
          </a:p>
        </p:txBody>
      </p:sp>
      <p:grpSp>
        <p:nvGrpSpPr>
          <p:cNvPr id="33" name="Group 32">
            <a:extLst>
              <a:ext uri="{FF2B5EF4-FFF2-40B4-BE49-F238E27FC236}">
                <a16:creationId xmlns:a16="http://schemas.microsoft.com/office/drawing/2014/main" id="{41494B7C-ABD0-76EE-6107-15F2461526A8}"/>
              </a:ext>
            </a:extLst>
          </p:cNvPr>
          <p:cNvGrpSpPr/>
          <p:nvPr/>
        </p:nvGrpSpPr>
        <p:grpSpPr>
          <a:xfrm>
            <a:off x="2788920" y="4047212"/>
            <a:ext cx="3518689" cy="388063"/>
            <a:chOff x="2788920" y="4047212"/>
            <a:chExt cx="3518689" cy="388063"/>
          </a:xfrm>
        </p:grpSpPr>
        <p:sp>
          <p:nvSpPr>
            <p:cNvPr id="12" name="Rectangle 11"/>
            <p:cNvSpPr/>
            <p:nvPr/>
          </p:nvSpPr>
          <p:spPr>
            <a:xfrm>
              <a:off x="2788920" y="4047212"/>
              <a:ext cx="3518689" cy="388063"/>
            </a:xfrm>
            <a:prstGeom prst="rect">
              <a:avLst/>
            </a:prstGeom>
            <a:solidFill>
              <a:srgbClr val="3F444C">
                <a:alpha val="25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21508" y="4102256"/>
              <a:ext cx="1280160" cy="277063"/>
            </a:xfrm>
            <a:prstGeom prst="rect">
              <a:avLst/>
            </a:prstGeom>
            <a:noFill/>
          </p:spPr>
          <p:txBody>
            <a:bodyPr wrap="square" lIns="0" tIns="0" rIns="0" bIns="0">
              <a:spAutoFit/>
            </a:bodyPr>
            <a:lstStyle/>
            <a:p>
              <a:pPr algn="ctr"/>
              <a:r>
                <a:rPr sz="1800" b="1" i="0" u="none">
                  <a:solidFill>
                    <a:srgbClr val="0B2B4E"/>
                  </a:solidFill>
                  <a:latin typeface="Calibri"/>
                </a:rPr>
                <a:t>Loss</a:t>
              </a:r>
            </a:p>
          </p:txBody>
        </p:sp>
      </p:grpSp>
      <p:grpSp>
        <p:nvGrpSpPr>
          <p:cNvPr id="130" name="Group pair 130"/>
          <p:cNvGrpSpPr/>
          <p:nvPr/>
        </p:nvGrpSpPr>
        <p:grpSpPr>
          <a:xfrm>
            <a:off x="914400" y="5577840"/>
            <a:ext cx="10332720" cy="731520"/>
            <a:chOff x="914400" y="5577840"/>
            <a:chExt cx="10332720" cy="731520"/>
          </a:xfrm>
        </p:grpSpPr>
        <p:sp>
          <p:nvSpPr>
            <p:cNvPr id="25" name="Rounded Rectangle 24"/>
            <p:cNvSpPr/>
            <p:nvPr/>
          </p:nvSpPr>
          <p:spPr>
            <a:xfrm>
              <a:off x="914400" y="5577840"/>
              <a:ext cx="10332720" cy="731520"/>
            </a:xfrm>
            <a:prstGeom prst="roundRect">
              <a:avLst>
                <a:gd name="adj" fmla="val 12000"/>
              </a:avLst>
            </a:prstGeom>
            <a:solidFill>
              <a:srgbClr val="FDF6E6"/>
            </a:solidFill>
            <a:ln w="222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97280" y="5666601"/>
              <a:ext cx="9966960" cy="553998"/>
            </a:xfrm>
            <a:prstGeom prst="rect">
              <a:avLst/>
            </a:prstGeom>
            <a:noFill/>
          </p:spPr>
          <p:txBody>
            <a:bodyPr wrap="square" lIns="45720" tIns="0" rIns="45720" bIns="0" anchor="ctr">
              <a:spAutoFit/>
            </a:bodyPr>
            <a:lstStyle/>
            <a:p>
              <a:pPr algn="ctr"/>
              <a:r>
                <a:rPr sz="1800" b="0" i="0" u="none" dirty="0">
                  <a:solidFill>
                    <a:srgbClr val="0B2B4E"/>
                  </a:solidFill>
                  <a:latin typeface="Calibri"/>
                </a:rPr>
                <a:t>MC really does run below AVC for a while, so there </a:t>
              </a:r>
              <a:r>
                <a:rPr lang="en-US" sz="1800" b="0" i="0" u="sng" dirty="0">
                  <a:solidFill>
                    <a:srgbClr val="0B2B4E"/>
                  </a:solidFill>
                  <a:latin typeface="Calibri"/>
                </a:rPr>
                <a:t>is</a:t>
              </a:r>
              <a:r>
                <a:rPr sz="1800" b="0" i="0" u="none" dirty="0">
                  <a:solidFill>
                    <a:srgbClr val="0B2B4E"/>
                  </a:solidFill>
                  <a:latin typeface="Calibri"/>
                </a:rPr>
                <a:t> a Q* where MC = P.  But </a:t>
              </a:r>
              <a:r>
                <a:rPr sz="1800" b="1" i="0" u="none" dirty="0">
                  <a:solidFill>
                    <a:srgbClr val="C00000"/>
                  </a:solidFill>
                  <a:latin typeface="Calibri"/>
                </a:rPr>
                <a:t>P &lt; AVC at Q*</a:t>
              </a:r>
              <a:r>
                <a:rPr sz="1800" b="0" i="0" u="none" dirty="0">
                  <a:solidFill>
                    <a:srgbClr val="0B2B4E"/>
                  </a:solidFill>
                  <a:latin typeface="Calibri"/>
                </a:rPr>
                <a:t>   →   producing would lose more than TFC, so the firm stops production.</a:t>
              </a:r>
            </a:p>
          </p:txBody>
        </p:sp>
      </p:grpSp>
      <p:sp>
        <p:nvSpPr>
          <p:cNvPr id="27" name="Rectangle 2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0" name="TextBox 29"/>
          <p:cNvSpPr txBox="1"/>
          <p:nvPr/>
        </p:nvSpPr>
        <p:spPr>
          <a:xfrm>
            <a:off x="11475720" y="6583680"/>
            <a:ext cx="502920" cy="292608"/>
          </a:xfrm>
          <a:prstGeom prst="rect">
            <a:avLst/>
          </a:prstGeom>
          <a:noFill/>
        </p:spPr>
        <p:txBody>
          <a:bodyPr wrap="none" lIns="0" tIns="0" rIns="0" bIns="0">
            <a:spAutoFit/>
          </a:bodyPr>
          <a:lstStyle/>
          <a:p>
            <a:pPr algn="r"/>
            <a:fld id="{99DE5288-7E28-53A2-BA5C-A68EAE30E11A}" type="slidenum">
              <a:rPr lang="en-US" sz="1200" dirty="0">
                <a:solidFill>
                  <a:srgbClr val="555B66"/>
                </a:solidFill>
                <a:latin typeface="Calibri"/>
              </a:rPr>
              <a:t>27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Coffee Bean Producer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600200"/>
            <a:ext cx="6949440" cy="1188720"/>
          </a:xfrm>
          <a:prstGeom prst="rect">
            <a:avLst/>
          </a:prstGeom>
          <a:noFill/>
        </p:spPr>
        <p:txBody>
          <a:bodyPr wrap="square" lIns="0" tIns="0" rIns="0" bIns="0">
            <a:noAutofit/>
          </a:bodyPr>
          <a:lstStyle>
            <a:lvl1pPr marL="342900" indent="-342900">
              <a:spcBef>
                <a:spcPts val="16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r>
              <a:rPr>
                <a:latin typeface="Calibri"/>
              </a:rPr>
              <a:t>Your firm is a price taker in the coffee bean market</a:t>
            </a:r>
          </a:p>
          <a:p>
            <a:pPr algn="l"/>
            <a:r>
              <a:rPr>
                <a:latin typeface="Calibri"/>
              </a:rPr>
              <a:t>You have just </a:t>
            </a:r>
            <a:r>
              <a:rPr b="1" u="sng">
                <a:latin typeface="Calibri"/>
              </a:rPr>
              <a:t>optimized</a:t>
            </a:r>
            <a:r>
              <a:rPr>
                <a:latin typeface="Calibri"/>
              </a:rPr>
              <a:t> your output level for the short run</a:t>
            </a:r>
          </a:p>
        </p:txBody>
      </p:sp>
      <p:grpSp>
        <p:nvGrpSpPr>
          <p:cNvPr id="9732" name="Group pair 9732"/>
          <p:cNvGrpSpPr/>
          <p:nvPr/>
        </p:nvGrpSpPr>
        <p:grpSpPr>
          <a:xfrm>
            <a:off x="548640" y="3017520"/>
            <a:ext cx="4480560" cy="2377440"/>
            <a:chOff x="548640" y="3017520"/>
            <a:chExt cx="4480560" cy="2377440"/>
          </a:xfrm>
        </p:grpSpPr>
        <p:sp>
          <p:nvSpPr>
            <p:cNvPr id="8" name="Rectangle 7"/>
            <p:cNvSpPr/>
            <p:nvPr/>
          </p:nvSpPr>
          <p:spPr>
            <a:xfrm>
              <a:off x="548640" y="3017520"/>
              <a:ext cx="4480560" cy="237744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nvGraphicFramePr>
          <p:xfrm>
            <a:off x="685800" y="3154680"/>
            <a:ext cx="4206240" cy="2188464"/>
          </p:xfrm>
          <a:graphic>
            <a:graphicData uri="http://schemas.openxmlformats.org/drawingml/2006/table">
              <a:tbl>
                <a:tblPr/>
                <a:tblGrid>
                  <a:gridCol w="16002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tblGrid>
                <a:tr h="566928">
                  <a:tc>
                    <a:txBody>
                      <a:bodyPr/>
                      <a:lstStyle/>
                      <a:p>
                        <a:pPr algn="ctr"/>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900" b="1">
                            <a:solidFill>
                              <a:srgbClr val="FFFFFF"/>
                            </a:solidFill>
                            <a:latin typeface="Calibri"/>
                          </a:rPr>
                          <a:t>Your costs at that output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512064">
                  <a:tc>
                    <a:txBody>
                      <a:bodyPr/>
                      <a:lstStyle/>
                      <a:p>
                        <a:pPr algn="l"/>
                        <a:r>
                          <a:rPr sz="2000" b="1">
                            <a:solidFill>
                              <a:srgbClr val="0B2B4E"/>
                            </a:solidFill>
                            <a:latin typeface="Calibri"/>
                          </a:rPr>
                          <a:t>AVC</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$12</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512064">
                  <a:tc>
                    <a:txBody>
                      <a:bodyPr/>
                      <a:lstStyle/>
                      <a:p>
                        <a:pPr algn="l"/>
                        <a:r>
                          <a:rPr sz="2000" b="1">
                            <a:solidFill>
                              <a:srgbClr val="0B2B4E"/>
                            </a:solidFill>
                            <a:latin typeface="Calibri"/>
                          </a:rPr>
                          <a:t>ATC</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$15</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512064">
                  <a:tc>
                    <a:txBody>
                      <a:bodyPr/>
                      <a:lstStyle/>
                      <a:p>
                        <a:pPr algn="l"/>
                        <a:r>
                          <a:rPr sz="2000" b="1">
                            <a:solidFill>
                              <a:srgbClr val="0B2B4E"/>
                            </a:solidFill>
                            <a:latin typeface="Calibri"/>
                          </a:rPr>
                          <a:t>MC</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$10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bl>
            </a:graphicData>
          </a:graphic>
        </p:graphicFrame>
      </p:grpSp>
      <p:sp>
        <p:nvSpPr>
          <p:cNvPr id="10" name="Rounded Rectangle 9"/>
          <p:cNvSpPr/>
          <p:nvPr/>
        </p:nvSpPr>
        <p:spPr>
          <a:xfrm>
            <a:off x="685800" y="5504688"/>
            <a:ext cx="6949440" cy="530352"/>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B2B4E"/>
                </a:solidFill>
                <a:latin typeface="Calibri"/>
              </a:rPr>
              <a:t>Should you continue to produce in the short run?</a:t>
            </a:r>
          </a:p>
        </p:txBody>
      </p:sp>
      <p:pic>
        <p:nvPicPr>
          <p:cNvPr id="11" name="Picture 10" descr="NV_s36_4_7cb0fc52.jpg"/>
          <p:cNvPicPr>
            <a:picLocks noChangeAspect="1"/>
          </p:cNvPicPr>
          <p:nvPr/>
        </p:nvPicPr>
        <p:blipFill>
          <a:blip r:embed="rId3"/>
          <a:stretch>
            <a:fillRect/>
          </a:stretch>
        </p:blipFill>
        <p:spPr>
          <a:xfrm>
            <a:off x="8092440" y="1417320"/>
            <a:ext cx="3657600" cy="2440617"/>
          </a:xfrm>
          <a:prstGeom prst="roundRect">
            <a:avLst>
              <a:gd name="adj" fmla="val 8000"/>
            </a:avLst>
          </a:prstGeom>
          <a:effectLst>
            <a:outerShdw blurRad="50800" dist="38100" dir="2700000" algn="tl" rotWithShape="0">
              <a:srgbClr val="000000">
                <a:alpha val="50000"/>
              </a:srgbClr>
            </a:outerShdw>
          </a:effectLst>
        </p:spPr>
      </p:pic>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A5706A8A-BC76-5991-A5F9-3B2D52CD6AB0}" type="slidenum">
              <a:rPr lang="en-US" sz="1200" dirty="0">
                <a:solidFill>
                  <a:srgbClr val="555B66"/>
                </a:solidFill>
                <a:latin typeface="Calibri"/>
              </a:rPr>
              <a:t>28</a:t>
            </a:fld>
            <a:endParaRPr lang="en-US" sz="1200" dirty="0">
              <a:solidFill>
                <a:srgbClr val="555B66"/>
              </a:solidFill>
              <a:latin typeface="Calibri"/>
            </a:endParaRPr>
          </a:p>
        </p:txBody>
      </p:sp>
      <p:grpSp>
        <p:nvGrpSpPr>
          <p:cNvPr id="9630" name="PollBreakBadge"/>
          <p:cNvGrpSpPr/>
          <p:nvPr/>
        </p:nvGrpSpPr>
        <p:grpSpPr>
          <a:xfrm>
            <a:off x="9361444" y="6190030"/>
            <a:ext cx="2697480" cy="487009"/>
            <a:chOff x="9361444" y="6190030"/>
            <a:chExt cx="2697480" cy="487009"/>
          </a:xfrm>
        </p:grpSpPr>
        <p:sp>
          <p:nvSpPr>
            <p:cNvPr id="9631" name="PollBreakShape"/>
            <p:cNvSpPr/>
            <p:nvPr/>
          </p:nvSpPr>
          <p:spPr>
            <a:xfrm>
              <a:off x="9361444" y="6190030"/>
              <a:ext cx="2697480" cy="487009"/>
            </a:xfrm>
            <a:custGeom>
              <a:avLst/>
              <a:gdLst/>
              <a:ahLst/>
              <a:cxnLst/>
              <a:rect l="24407" t="0" r="75593" b="100000"/>
              <a:pathLst>
                <a:path w="100000" h="100000">
                  <a:moveTo>
                    <a:pt x="29407" y="0"/>
                  </a:moveTo>
                  <a:lnTo>
                    <a:pt x="95000" y="0"/>
                  </a:lnTo>
                  <a:cubicBezTo>
                    <a:pt x="100000" y="0"/>
                    <a:pt x="100000" y="0"/>
                    <a:pt x="98780" y="5000"/>
                  </a:cubicBezTo>
                  <a:lnTo>
                    <a:pt x="76813" y="95000"/>
                  </a:lnTo>
                  <a:cubicBezTo>
                    <a:pt x="75593" y="100000"/>
                    <a:pt x="75593" y="100000"/>
                    <a:pt x="70593" y="100000"/>
                  </a:cubicBezTo>
                  <a:lnTo>
                    <a:pt x="5000" y="100000"/>
                  </a:lnTo>
                  <a:cubicBezTo>
                    <a:pt x="0" y="100000"/>
                    <a:pt x="0" y="100000"/>
                    <a:pt x="1220"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32" name="PollBreakLabel"/>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732"/>
                                        </p:tgtEl>
                                        <p:attrNameLst>
                                          <p:attrName>style.visibility</p:attrName>
                                        </p:attrNameLst>
                                      </p:cBhvr>
                                      <p:to>
                                        <p:strVal val="visible"/>
                                      </p:to>
                                    </p:set>
                                    <p:animEffect transition="in" filter="fade">
                                      <p:cBhvr>
                                        <p:cTn id="12" dur="500"/>
                                        <p:tgtEl>
                                          <p:spTgt spid="97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E9F841-4D7C-C8BD-C6E9-2975101F1001}"/>
              </a:ext>
            </a:extLst>
          </p:cNvPr>
          <p:cNvPicPr>
            <a:picLocks/>
          </p:cNvPicPr>
          <p:nvPr>
            <p:custDataLst>
              <p:tags r:id="rId1"/>
            </p:custDataLst>
          </p:nvPr>
        </p:nvPicPr>
        <p:blipFill>
          <a:blip r:embed="rId4"/>
          <a:stretch>
            <a:fillRect/>
          </a:stretch>
        </p:blipFill>
        <p:spPr>
          <a:xfrm>
            <a:off x="190500" y="190500"/>
            <a:ext cx="11811000" cy="6477000"/>
          </a:xfrm>
          <a:prstGeom prst="rect">
            <a:avLst/>
          </a:prstGeom>
        </p:spPr>
      </p:pic>
      <p:sp>
        <p:nvSpPr>
          <p:cNvPr id="7" name="Rounded Rectangle 7">
            <a:extLst>
              <a:ext uri="{FF2B5EF4-FFF2-40B4-BE49-F238E27FC236}">
                <a16:creationId xmlns:a16="http://schemas.microsoft.com/office/drawing/2014/main" id="{D67C4CE3-BFF4-A849-E7FF-D232582B049B}"/>
              </a:ext>
            </a:extLst>
          </p:cNvPr>
          <p:cNvSpPr/>
          <p:nvPr/>
        </p:nvSpPr>
        <p:spPr>
          <a:xfrm>
            <a:off x="10577240" y="5907024"/>
            <a:ext cx="1362456" cy="466344"/>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224B0F7C-D308-0B0C-6743-18760EEAC296}"/>
              </a:ext>
            </a:extLst>
          </p:cNvPr>
          <p:cNvSpPr txBox="1"/>
          <p:nvPr/>
        </p:nvSpPr>
        <p:spPr>
          <a:xfrm>
            <a:off x="10577240" y="5907024"/>
            <a:ext cx="1362456" cy="466344"/>
          </a:xfrm>
          <a:prstGeom prst="rect">
            <a:avLst/>
          </a:prstGeom>
          <a:noFill/>
        </p:spPr>
        <p:txBody>
          <a:bodyPr wrap="square" lIns="0" tIns="0" rIns="0" bIns="0" anchor="ctr">
            <a:spAutoFit/>
          </a:bodyPr>
          <a:lstStyle/>
          <a:p>
            <a:pPr algn="ctr"/>
            <a:r>
              <a:rPr sz="2000" b="1" i="0" u="none">
                <a:solidFill>
                  <a:srgbClr val="0B2B4E"/>
                </a:solidFill>
                <a:latin typeface="Calibri"/>
              </a:rPr>
              <a:t>POLL</a:t>
            </a:r>
          </a:p>
        </p:txBody>
      </p:sp>
    </p:spTree>
    <p:extLst>
      <p:ext uri="{BB962C8B-B14F-4D97-AF65-F5344CB8AC3E}">
        <p14:creationId xmlns:p14="http://schemas.microsoft.com/office/powerpoint/2010/main" val="5432380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Coffee Bean Producer: 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554480"/>
            <a:ext cx="10972800" cy="100584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dirty="0">
                <a:latin typeface="Calibri"/>
              </a:rPr>
              <a:t>The output level is already profit-maximizing, so for a price taker P = MC</a:t>
            </a:r>
          </a:p>
        </p:txBody>
      </p:sp>
      <mc:AlternateContent xmlns:mc="http://schemas.openxmlformats.org/markup-compatibility/2006" xmlns:a14="http://schemas.microsoft.com/office/drawing/2010/main">
        <mc:Choice Requires="a14">
          <p:sp>
            <p:nvSpPr>
              <p:cNvPr id="8" name="TextBox 7"/>
              <p:cNvSpPr txBox="1"/>
              <p:nvPr/>
            </p:nvSpPr>
            <p:spPr>
              <a:xfrm>
                <a:off x="2103120" y="2093976"/>
                <a:ext cx="7955279" cy="731520"/>
              </a:xfrm>
              <a:prstGeom prst="rect">
                <a:avLst/>
              </a:prstGeom>
              <a:noFill/>
            </p:spPr>
            <p:txBody>
              <a:bodyPr wrap="square" anchor="ctr">
                <a:spAutoFit/>
              </a:bodyPr>
              <a:lstStyle/>
              <a:p>
                <a:pPr algn="ctr">
                  <a:defRPr sz="2800" b="0" i="1">
                    <a:solidFill>
                      <a:srgbClr val="0B2B4E"/>
                    </a:solidFill>
                    <a:latin typeface="Cambria Math"/>
                  </a:defRPr>
                </a:pPr>
                <a14:m>
                  <m:oMathPara xmlns:m="http://schemas.openxmlformats.org/officeDocument/2006/math">
                    <m:oMath>
                      <m:r>
                        <m:rPr>
                          <m:sty m:val="p"/>
                        </m:rPr>
                        <a:rPr lang="en-US" sz="2800" b="0" i="0">
                          <a:solidFill>
                            <a:srgbClr val="0B2B4E"/>
                          </a:solidFill>
                          <a:latin typeface="Cambria Math"/>
                        </a:rPr>
                        <m:t>MC</m:t>
                      </m:r>
                      <m:r>
                        <a:rPr lang="en-US" sz="2800" b="0" i="0">
                          <a:solidFill>
                            <a:srgbClr val="0B2B4E"/>
                          </a:solidFill>
                          <a:latin typeface="Cambria Math"/>
                        </a:rPr>
                        <m:t> = 10     →     </m:t>
                      </m:r>
                      <m:r>
                        <a:rPr lang="en-US" sz="2800" b="0" i="1">
                          <a:solidFill>
                            <a:srgbClr val="0B2B4E"/>
                          </a:solidFill>
                          <a:latin typeface="Cambria Math"/>
                          <a:ea typeface="Cambria Math"/>
                        </a:rPr>
                        <m:t>𝑃</m:t>
                      </m:r>
                      <m:r>
                        <a:rPr lang="en-US" sz="2800" b="0" i="0">
                          <a:solidFill>
                            <a:srgbClr val="0B2B4E"/>
                          </a:solidFill>
                          <a:latin typeface="Cambria Math"/>
                        </a:rPr>
                        <m:t> = 10</m:t>
                      </m:r>
                    </m:oMath>
                  </m:oMathPara>
                </a14:m>
                <a:endParaRPr lang="en-US"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2103120" y="2093976"/>
                <a:ext cx="7955279" cy="7315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103120" y="2761488"/>
                <a:ext cx="7955279" cy="731520"/>
              </a:xfrm>
              <a:prstGeom prst="rect">
                <a:avLst/>
              </a:prstGeom>
              <a:noFill/>
            </p:spPr>
            <p:txBody>
              <a:bodyPr wrap="square" anchor="ctr">
                <a:spAutoFit/>
              </a:bodyPr>
              <a:lstStyle/>
              <a:p>
                <a:pPr algn="ctr">
                  <a:defRPr sz="2800" b="0" i="1">
                    <a:solidFill>
                      <a:srgbClr val="0B2B4E"/>
                    </a:solidFill>
                    <a:latin typeface="Cambria Math"/>
                  </a:defRPr>
                </a:pPr>
                <a14:m>
                  <m:oMathPara xmlns:m="http://schemas.openxmlformats.org/officeDocument/2006/math">
                    <m:oMath>
                      <m:r>
                        <m:rPr>
                          <m:sty m:val="p"/>
                        </m:rPr>
                        <a:rPr lang="en-US" sz="2800" b="0" i="0">
                          <a:solidFill>
                            <a:srgbClr val="0B2B4E"/>
                          </a:solidFill>
                          <a:latin typeface="Cambria Math"/>
                        </a:rPr>
                        <m:t>AVC</m:t>
                      </m:r>
                      <m:r>
                        <a:rPr lang="en-US" sz="2800" b="0" i="0">
                          <a:solidFill>
                            <a:srgbClr val="0B2B4E"/>
                          </a:solidFill>
                          <a:latin typeface="Cambria Math"/>
                        </a:rPr>
                        <m:t> = 12</m:t>
                      </m:r>
                    </m:oMath>
                  </m:oMathPara>
                </a14:m>
                <a:endParaRPr lang="en-US" sz="2800" dirty="0"/>
              </a:p>
            </p:txBody>
          </p:sp>
        </mc:Choice>
        <mc:Fallback xmlns="">
          <p:sp>
            <p:nvSpPr>
              <p:cNvPr id="9" name="TextBox 8"/>
              <p:cNvSpPr txBox="1">
                <a:spLocks noRot="1" noChangeAspect="1" noMove="1" noResize="1" noEditPoints="1" noAdjustHandles="1" noChangeArrowheads="1" noChangeShapeType="1" noTextEdit="1"/>
              </p:cNvSpPr>
              <p:nvPr/>
            </p:nvSpPr>
            <p:spPr>
              <a:xfrm>
                <a:off x="2103120" y="2761488"/>
                <a:ext cx="7955279" cy="7315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121408" y="3913632"/>
                <a:ext cx="7955279" cy="521207"/>
              </a:xfrm>
              <a:prstGeom prst="rect">
                <a:avLst/>
              </a:prstGeom>
              <a:noFill/>
            </p:spPr>
            <p:txBody>
              <a:bodyPr wrap="square" anchor="ctr">
                <a:spAutoFit/>
              </a:bodyPr>
              <a:lstStyle/>
              <a:p>
                <a:pPr algn="ctr">
                  <a:defRPr sz="2800" b="0" i="1">
                    <a:solidFill>
                      <a:srgbClr val="A2162A"/>
                    </a:solidFill>
                    <a:latin typeface="Cambria Math"/>
                  </a:defRPr>
                </a:pPr>
                <a14:m>
                  <m:oMathPara xmlns:m="http://schemas.openxmlformats.org/officeDocument/2006/math">
                    <m:oMath>
                      <m:r>
                        <m:rPr>
                          <m:sty m:val="p"/>
                        </m:rPr>
                        <a:rPr lang="en-US" sz="2800" b="0" i="0">
                          <a:solidFill>
                            <a:srgbClr val="A2162A"/>
                          </a:solidFill>
                          <a:latin typeface="Cambria Math"/>
                        </a:rPr>
                        <m:t>Thus</m:t>
                      </m:r>
                      <m:r>
                        <a:rPr lang="en-US" sz="2800" b="0" i="0">
                          <a:solidFill>
                            <a:srgbClr val="A2162A"/>
                          </a:solidFill>
                          <a:latin typeface="Cambria Math"/>
                        </a:rPr>
                        <m:t>:  </m:t>
                      </m:r>
                      <m:r>
                        <a:rPr lang="en-US" sz="2800" b="0" i="1">
                          <a:solidFill>
                            <a:srgbClr val="A2162A"/>
                          </a:solidFill>
                          <a:latin typeface="Cambria Math"/>
                          <a:ea typeface="Cambria Math"/>
                        </a:rPr>
                        <m:t>𝑃</m:t>
                      </m:r>
                      <m:r>
                        <a:rPr lang="en-US" sz="2800" b="0" i="0">
                          <a:solidFill>
                            <a:srgbClr val="A2162A"/>
                          </a:solidFill>
                          <a:latin typeface="Cambria Math"/>
                        </a:rPr>
                        <m:t> &lt; </m:t>
                      </m:r>
                      <m:r>
                        <m:rPr>
                          <m:sty m:val="p"/>
                        </m:rPr>
                        <a:rPr lang="en-US" sz="2800" b="0" i="0">
                          <a:solidFill>
                            <a:srgbClr val="A2162A"/>
                          </a:solidFill>
                          <a:latin typeface="Cambria Math"/>
                        </a:rPr>
                        <m:t>AVC</m:t>
                      </m:r>
                    </m:oMath>
                  </m:oMathPara>
                </a14:m>
                <a:endParaRPr lang="en-US" sz="2800" dirty="0"/>
              </a:p>
            </p:txBody>
          </p:sp>
        </mc:Choice>
        <mc:Fallback xmlns="">
          <p:sp>
            <p:nvSpPr>
              <p:cNvPr id="10" name="TextBox 9"/>
              <p:cNvSpPr txBox="1">
                <a:spLocks noRot="1" noChangeAspect="1" noMove="1" noResize="1" noEditPoints="1" noAdjustHandles="1" noChangeArrowheads="1" noChangeShapeType="1" noTextEdit="1"/>
              </p:cNvSpPr>
              <p:nvPr/>
            </p:nvSpPr>
            <p:spPr>
              <a:xfrm>
                <a:off x="2121408" y="3913632"/>
                <a:ext cx="7955279" cy="52120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2103120" y="4590288"/>
                <a:ext cx="7955279" cy="731520"/>
              </a:xfrm>
              <a:prstGeom prst="rect">
                <a:avLst/>
              </a:prstGeom>
              <a:noFill/>
            </p:spPr>
            <p:txBody>
              <a:bodyPr wrap="square" anchor="ctr">
                <a:spAutoFit/>
              </a:bodyPr>
              <a:lstStyle/>
              <a:p>
                <a:pPr algn="ctr">
                  <a:defRPr sz="3000" b="0" i="1">
                    <a:solidFill>
                      <a:srgbClr val="A2162A"/>
                    </a:solidFill>
                    <a:latin typeface="Cambria Math"/>
                  </a:defRPr>
                </a:pPr>
                <a14:m>
                  <m:oMathPara xmlns:m="http://schemas.openxmlformats.org/officeDocument/2006/math">
                    <m:oMath>
                      <m:r>
                        <m:rPr>
                          <m:sty m:val="p"/>
                        </m:rPr>
                        <a:rPr lang="en-US" sz="3000" b="0" i="0">
                          <a:solidFill>
                            <a:srgbClr val="A2162A"/>
                          </a:solidFill>
                          <a:latin typeface="Cambria Math"/>
                        </a:rPr>
                        <m:t>You</m:t>
                      </m:r>
                      <m:r>
                        <a:rPr lang="en-US" sz="3000" b="0" i="0">
                          <a:solidFill>
                            <a:srgbClr val="A2162A"/>
                          </a:solidFill>
                          <a:latin typeface="Cambria Math"/>
                        </a:rPr>
                        <m:t> </m:t>
                      </m:r>
                      <m:r>
                        <m:rPr>
                          <m:sty m:val="p"/>
                        </m:rPr>
                        <a:rPr lang="en-US" sz="3000" b="0" i="0">
                          <a:solidFill>
                            <a:srgbClr val="A2162A"/>
                          </a:solidFill>
                          <a:latin typeface="Cambria Math"/>
                        </a:rPr>
                        <m:t>lose</m:t>
                      </m:r>
                      <m:r>
                        <a:rPr lang="en-US" sz="3000" b="0" i="0">
                          <a:solidFill>
                            <a:srgbClr val="A2162A"/>
                          </a:solidFill>
                          <a:latin typeface="Cambria Math"/>
                        </a:rPr>
                        <m:t> </m:t>
                      </m:r>
                      <m:r>
                        <m:rPr>
                          <m:sty m:val="p"/>
                        </m:rPr>
                        <a:rPr lang="en-US" sz="3000" b="0" i="0">
                          <a:solidFill>
                            <a:srgbClr val="A2162A"/>
                          </a:solidFill>
                          <a:latin typeface="Cambria Math"/>
                        </a:rPr>
                        <m:t>money</m:t>
                      </m:r>
                      <m:r>
                        <a:rPr lang="en-US" sz="3000" b="0" i="0">
                          <a:solidFill>
                            <a:srgbClr val="A2162A"/>
                          </a:solidFill>
                          <a:latin typeface="Cambria Math"/>
                        </a:rPr>
                        <m:t> </m:t>
                      </m:r>
                      <m:r>
                        <m:rPr>
                          <m:sty m:val="p"/>
                        </m:rPr>
                        <a:rPr lang="en-US" sz="3000" b="0" i="0">
                          <a:solidFill>
                            <a:srgbClr val="A2162A"/>
                          </a:solidFill>
                          <a:latin typeface="Cambria Math"/>
                        </a:rPr>
                        <m:t>on</m:t>
                      </m:r>
                      <m:r>
                        <a:rPr lang="en-US" sz="3000" b="0" i="0">
                          <a:solidFill>
                            <a:srgbClr val="A2162A"/>
                          </a:solidFill>
                          <a:latin typeface="Cambria Math"/>
                        </a:rPr>
                        <m:t> </m:t>
                      </m:r>
                      <m:r>
                        <m:rPr>
                          <m:sty m:val="p"/>
                        </m:rPr>
                        <a:rPr lang="en-US" sz="3000" b="0" i="0">
                          <a:solidFill>
                            <a:srgbClr val="A2162A"/>
                          </a:solidFill>
                          <a:latin typeface="Cambria Math"/>
                        </a:rPr>
                        <m:t>every</m:t>
                      </m:r>
                      <m:r>
                        <a:rPr lang="en-US" sz="3000" b="0" i="0">
                          <a:solidFill>
                            <a:srgbClr val="A2162A"/>
                          </a:solidFill>
                          <a:latin typeface="Cambria Math"/>
                        </a:rPr>
                        <m:t> </m:t>
                      </m:r>
                      <m:r>
                        <m:rPr>
                          <m:sty m:val="p"/>
                        </m:rPr>
                        <a:rPr lang="en-US" sz="3000" b="0" i="0">
                          <a:solidFill>
                            <a:srgbClr val="A2162A"/>
                          </a:solidFill>
                          <a:latin typeface="Cambria Math"/>
                        </a:rPr>
                        <m:t>unit</m:t>
                      </m:r>
                      <m:r>
                        <a:rPr lang="en-US" sz="3000" b="0" i="0">
                          <a:solidFill>
                            <a:srgbClr val="A2162A"/>
                          </a:solidFill>
                          <a:latin typeface="Cambria Math"/>
                        </a:rPr>
                        <m:t> — </m:t>
                      </m:r>
                      <m:r>
                        <m:rPr>
                          <m:sty m:val="p"/>
                        </m:rPr>
                        <a:rPr lang="en-US" sz="3000" b="0" i="0">
                          <a:solidFill>
                            <a:srgbClr val="A2162A"/>
                          </a:solidFill>
                          <a:latin typeface="Cambria Math"/>
                        </a:rPr>
                        <m:t>stop</m:t>
                      </m:r>
                      <m:r>
                        <a:rPr lang="en-US" sz="3000" b="0" i="0">
                          <a:solidFill>
                            <a:srgbClr val="A2162A"/>
                          </a:solidFill>
                          <a:latin typeface="Cambria Math"/>
                        </a:rPr>
                        <m:t> </m:t>
                      </m:r>
                      <m:r>
                        <m:rPr>
                          <m:sty m:val="p"/>
                        </m:rPr>
                        <a:rPr lang="en-US" sz="3000" b="0" i="0">
                          <a:solidFill>
                            <a:srgbClr val="A2162A"/>
                          </a:solidFill>
                          <a:latin typeface="Cambria Math"/>
                        </a:rPr>
                        <m:t>production</m:t>
                      </m:r>
                    </m:oMath>
                  </m:oMathPara>
                </a14:m>
                <a:endParaRPr lang="en-US" sz="3000" dirty="0"/>
              </a:p>
            </p:txBody>
          </p:sp>
        </mc:Choice>
        <mc:Fallback xmlns="">
          <p:sp>
            <p:nvSpPr>
              <p:cNvPr id="11" name="TextBox 10"/>
              <p:cNvSpPr txBox="1">
                <a:spLocks noRot="1" noChangeAspect="1" noMove="1" noResize="1" noEditPoints="1" noAdjustHandles="1" noChangeArrowheads="1" noChangeShapeType="1" noTextEdit="1"/>
              </p:cNvSpPr>
              <p:nvPr/>
            </p:nvSpPr>
            <p:spPr>
              <a:xfrm>
                <a:off x="2103120" y="4590288"/>
                <a:ext cx="7955279" cy="731520"/>
              </a:xfrm>
              <a:prstGeom prst="rect">
                <a:avLst/>
              </a:prstGeom>
              <a:blipFill>
                <a:blip r:embed="rId6"/>
                <a:stretch>
                  <a:fillRect l="-920"/>
                </a:stretch>
              </a:blipFill>
            </p:spPr>
            <p:txBody>
              <a:bodyPr/>
              <a:lstStyle/>
              <a:p>
                <a:r>
                  <a:rPr lang="en-US">
                    <a:noFill/>
                  </a:rPr>
                  <a:t> </a:t>
                </a:r>
              </a:p>
            </p:txBody>
          </p:sp>
        </mc:Fallback>
      </mc:AlternateContent>
      <p:sp>
        <p:nvSpPr>
          <p:cNvPr id="12" name="Rounded Rectangle 11"/>
          <p:cNvSpPr/>
          <p:nvPr/>
        </p:nvSpPr>
        <p:spPr>
          <a:xfrm>
            <a:off x="2501798" y="5385816"/>
            <a:ext cx="6748272" cy="621792"/>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dirty="0">
                <a:solidFill>
                  <a:srgbClr val="0B2B4E"/>
                </a:solidFill>
                <a:latin typeface="Calibri"/>
              </a:rPr>
              <a:t>You will then continue to pay the fixed costs in the short run </a:t>
            </a:r>
          </a:p>
          <a:p>
            <a:pPr algn="ctr"/>
            <a:r>
              <a:rPr sz="1900" b="1" dirty="0">
                <a:solidFill>
                  <a:srgbClr val="0B2B4E"/>
                </a:solidFill>
                <a:latin typeface="Calibri"/>
              </a:rPr>
              <a:t>— that minimizes the loss</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6" name="TextBox 15"/>
          <p:cNvSpPr txBox="1"/>
          <p:nvPr/>
        </p:nvSpPr>
        <p:spPr>
          <a:xfrm>
            <a:off x="11475720" y="6583680"/>
            <a:ext cx="502920" cy="292608"/>
          </a:xfrm>
          <a:prstGeom prst="rect">
            <a:avLst/>
          </a:prstGeom>
          <a:noFill/>
        </p:spPr>
        <p:txBody>
          <a:bodyPr wrap="none" lIns="0" tIns="0" rIns="0" bIns="0">
            <a:spAutoFit/>
          </a:bodyPr>
          <a:lstStyle/>
          <a:p>
            <a:pPr algn="r"/>
            <a:fld id="{B38D1FD4-E120-5B60-A5FE-8016C3F29564}" type="slidenum">
              <a:rPr lang="en-US" sz="1200" dirty="0">
                <a:solidFill>
                  <a:srgbClr val="555B66"/>
                </a:solidFill>
                <a:latin typeface="Calibri"/>
              </a:rPr>
              <a:t>30</a:t>
            </a:fld>
            <a:endParaRPr lang="en-US" sz="1200" dirty="0">
              <a:solidFill>
                <a:srgbClr val="555B66"/>
              </a:solidFill>
              <a:latin typeface="Calibri"/>
            </a:endParaRPr>
          </a:p>
        </p:txBody>
      </p:sp>
      <p:grpSp>
        <p:nvGrpSpPr>
          <p:cNvPr id="9640" name="PollBreakBadge"/>
          <p:cNvGrpSpPr/>
          <p:nvPr/>
        </p:nvGrpSpPr>
        <p:grpSpPr>
          <a:xfrm>
            <a:off x="9361444" y="6190030"/>
            <a:ext cx="2697480" cy="487009"/>
            <a:chOff x="9361444" y="6190030"/>
            <a:chExt cx="2697480" cy="487009"/>
          </a:xfrm>
        </p:grpSpPr>
        <p:sp>
          <p:nvSpPr>
            <p:cNvPr id="9641" name="PollBreakShape"/>
            <p:cNvSpPr/>
            <p:nvPr/>
          </p:nvSpPr>
          <p:spPr>
            <a:xfrm>
              <a:off x="9361444" y="6190030"/>
              <a:ext cx="2697480" cy="487009"/>
            </a:xfrm>
            <a:custGeom>
              <a:avLst/>
              <a:gdLst/>
              <a:ahLst/>
              <a:cxnLst/>
              <a:rect l="24407" t="0" r="75593" b="100000"/>
              <a:pathLst>
                <a:path w="100000" h="100000">
                  <a:moveTo>
                    <a:pt x="29407" y="0"/>
                  </a:moveTo>
                  <a:lnTo>
                    <a:pt x="95000" y="0"/>
                  </a:lnTo>
                  <a:cubicBezTo>
                    <a:pt x="100000" y="0"/>
                    <a:pt x="100000" y="0"/>
                    <a:pt x="98780" y="5000"/>
                  </a:cubicBezTo>
                  <a:lnTo>
                    <a:pt x="76813" y="95000"/>
                  </a:lnTo>
                  <a:cubicBezTo>
                    <a:pt x="75593" y="100000"/>
                    <a:pt x="75593" y="100000"/>
                    <a:pt x="70593" y="100000"/>
                  </a:cubicBezTo>
                  <a:lnTo>
                    <a:pt x="5000" y="100000"/>
                  </a:lnTo>
                  <a:cubicBezTo>
                    <a:pt x="0" y="100000"/>
                    <a:pt x="0" y="100000"/>
                    <a:pt x="1220"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42" name="PollBreakLabel"/>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bg/>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build="allAtOnce"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Summary: Short-Run Decisions for a Price Taker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p:cNvSpPr txBox="1"/>
              <p:nvPr/>
            </p:nvSpPr>
            <p:spPr>
              <a:xfrm>
                <a:off x="2331720" y="1481328"/>
                <a:ext cx="7498079" cy="731520"/>
              </a:xfrm>
              <a:prstGeom prst="rect">
                <a:avLst/>
              </a:prstGeom>
              <a:noFill/>
            </p:spPr>
            <p:txBody>
              <a:bodyPr wrap="square" anchor="ctr">
                <a:spAutoFit/>
              </a:bodyPr>
              <a:lstStyle/>
              <a:p>
                <a:pPr algn="ctr">
                  <a:defRPr sz="2600" b="0" i="1">
                    <a:solidFill>
                      <a:srgbClr val="0B2B4E"/>
                    </a:solidFill>
                    <a:latin typeface="Cambria Math"/>
                  </a:defRPr>
                </a:pPr>
                <a14:m>
                  <m:oMathPara xmlns:m="http://schemas.openxmlformats.org/officeDocument/2006/math">
                    <m:oMath>
                      <m:r>
                        <m:rPr>
                          <m:sty m:val="p"/>
                        </m:rPr>
                        <a:rPr lang="en-US" sz="2600" b="0" i="0">
                          <a:solidFill>
                            <a:srgbClr val="0B2B4E"/>
                          </a:solidFill>
                          <a:latin typeface="Cambria Math"/>
                        </a:rPr>
                        <m:t>Optimal</m:t>
                      </m:r>
                      <m:r>
                        <a:rPr lang="en-US" sz="2600" b="0" i="0">
                          <a:solidFill>
                            <a:srgbClr val="0B2B4E"/>
                          </a:solidFill>
                          <a:latin typeface="Cambria Math"/>
                        </a:rPr>
                        <m:t> </m:t>
                      </m:r>
                      <m:r>
                        <m:rPr>
                          <m:sty m:val="p"/>
                        </m:rPr>
                        <a:rPr lang="en-US" sz="2600" b="0" i="0">
                          <a:solidFill>
                            <a:srgbClr val="0B2B4E"/>
                          </a:solidFill>
                          <a:latin typeface="Cambria Math"/>
                        </a:rPr>
                        <m:t>output</m:t>
                      </m:r>
                      <m:r>
                        <a:rPr lang="en-US" sz="2600" b="0" i="0">
                          <a:solidFill>
                            <a:srgbClr val="0B2B4E"/>
                          </a:solidFill>
                          <a:latin typeface="Cambria Math"/>
                        </a:rPr>
                        <m:t>: </m:t>
                      </m:r>
                      <m:sSup>
                        <m:sSupPr>
                          <m:ctrlPr>
                            <a:rPr lang="en-US" sz="2600" b="0" i="1">
                              <a:solidFill>
                                <a:srgbClr val="0B2B4E"/>
                              </a:solidFill>
                              <a:latin typeface="Cambria Math"/>
                              <a:ea typeface="Cambria Math"/>
                            </a:rPr>
                          </m:ctrlPr>
                        </m:sSupPr>
                        <m:e>
                          <m:r>
                            <a:rPr lang="en-US" sz="2600" b="0" i="1">
                              <a:solidFill>
                                <a:srgbClr val="0B2B4E"/>
                              </a:solidFill>
                              <a:latin typeface="Cambria Math"/>
                              <a:ea typeface="Cambria Math"/>
                            </a:rPr>
                            <m:t>𝑄</m:t>
                          </m:r>
                        </m:e>
                        <m:sup>
                          <m:r>
                            <a:rPr lang="en-US" sz="2600" b="0" i="0">
                              <a:solidFill>
                                <a:srgbClr val="0B2B4E"/>
                              </a:solidFill>
                              <a:latin typeface="Cambria Math"/>
                            </a:rPr>
                            <m:t>∗</m:t>
                          </m:r>
                        </m:sup>
                      </m:sSup>
                      <m:r>
                        <a:rPr lang="en-US" sz="2600" b="0" i="0">
                          <a:solidFill>
                            <a:srgbClr val="0B2B4E"/>
                          </a:solidFill>
                          <a:latin typeface="Cambria Math"/>
                        </a:rPr>
                        <m:t> </m:t>
                      </m:r>
                      <m:r>
                        <m:rPr>
                          <m:sty m:val="p"/>
                        </m:rPr>
                        <a:rPr lang="en-US" sz="2600" b="0" i="0">
                          <a:solidFill>
                            <a:srgbClr val="0B2B4E"/>
                          </a:solidFill>
                          <a:latin typeface="Cambria Math"/>
                        </a:rPr>
                        <m:t>where</m:t>
                      </m:r>
                      <m:r>
                        <a:rPr lang="en-US" sz="2600" b="0" i="0">
                          <a:solidFill>
                            <a:srgbClr val="0B2B4E"/>
                          </a:solidFill>
                          <a:latin typeface="Cambria Math"/>
                        </a:rPr>
                        <m:t>  </m:t>
                      </m:r>
                      <m:r>
                        <m:rPr>
                          <m:sty m:val="p"/>
                        </m:rPr>
                        <a:rPr lang="en-US" sz="2600" b="0" i="0">
                          <a:solidFill>
                            <a:srgbClr val="0B2B4E"/>
                          </a:solidFill>
                          <a:latin typeface="Cambria Math"/>
                        </a:rPr>
                        <m:t>MC</m:t>
                      </m:r>
                      <m:r>
                        <a:rPr lang="en-US" sz="2600" b="0" i="0">
                          <a:solidFill>
                            <a:srgbClr val="0B2B4E"/>
                          </a:solidFill>
                          <a:latin typeface="Cambria Math"/>
                        </a:rPr>
                        <m:t> = </m:t>
                      </m:r>
                      <m:r>
                        <m:rPr>
                          <m:sty m:val="p"/>
                        </m:rPr>
                        <a:rPr lang="en-US" sz="2600" b="0" i="0">
                          <a:solidFill>
                            <a:srgbClr val="0B2B4E"/>
                          </a:solidFill>
                          <a:latin typeface="Cambria Math"/>
                        </a:rPr>
                        <m:t>MR</m:t>
                      </m:r>
                      <m:r>
                        <a:rPr lang="en-US" sz="2600" b="0" i="0">
                          <a:solidFill>
                            <a:srgbClr val="0B2B4E"/>
                          </a:solidFill>
                          <a:latin typeface="Cambria Math"/>
                        </a:rPr>
                        <m:t> = </m:t>
                      </m:r>
                      <m:r>
                        <a:rPr lang="en-US" sz="2600" b="0" i="1">
                          <a:solidFill>
                            <a:srgbClr val="0B2B4E"/>
                          </a:solidFill>
                          <a:latin typeface="Cambria Math"/>
                          <a:ea typeface="Cambria Math"/>
                        </a:rPr>
                        <m:t>𝑃</m:t>
                      </m:r>
                    </m:oMath>
                  </m:oMathPara>
                </a14:m>
                <a:endParaRPr lang="en-US" sz="2600"/>
              </a:p>
            </p:txBody>
          </p:sp>
        </mc:Choice>
        <mc:Fallback xmlns="">
          <p:sp>
            <p:nvSpPr>
              <p:cNvPr id="7" name="TextBox 6"/>
              <p:cNvSpPr txBox="1">
                <a:spLocks noRot="1" noChangeAspect="1" noMove="1" noResize="1" noEditPoints="1" noAdjustHandles="1" noChangeArrowheads="1" noChangeShapeType="1" noTextEdit="1"/>
              </p:cNvSpPr>
              <p:nvPr/>
            </p:nvSpPr>
            <p:spPr>
              <a:xfrm>
                <a:off x="2331720" y="1481328"/>
                <a:ext cx="7498079" cy="731520"/>
              </a:xfrm>
              <a:prstGeom prst="rect">
                <a:avLst/>
              </a:prstGeom>
              <a:blipFill>
                <a:blip r:embed="rId3"/>
                <a:stretch>
                  <a:fillRect/>
                </a:stretch>
              </a:blipFill>
            </p:spPr>
            <p:txBody>
              <a:bodyPr/>
              <a:lstStyle/>
              <a:p>
                <a:r>
                  <a:rPr lang="en-US">
                    <a:noFill/>
                  </a:rPr>
                  <a:t> </a:t>
                </a:r>
              </a:p>
            </p:txBody>
          </p:sp>
        </mc:Fallback>
      </mc:AlternateContent>
      <p:sp>
        <p:nvSpPr>
          <p:cNvPr id="8" name="Rounded Rectangle 7"/>
          <p:cNvSpPr/>
          <p:nvPr/>
        </p:nvSpPr>
        <p:spPr>
          <a:xfrm>
            <a:off x="640080" y="2331720"/>
            <a:ext cx="10881360" cy="658368"/>
          </a:xfrm>
          <a:prstGeom prst="roundRect">
            <a:avLst>
              <a:gd name="adj" fmla="val 10000"/>
            </a:avLst>
          </a:prstGeom>
          <a:solidFill>
            <a:srgbClr val="FDF6E6"/>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0B2B4E"/>
                </a:solidFill>
                <a:latin typeface="Calibri"/>
              </a:rPr>
              <a:t>If P ≥ AVC at Q*:  continue to produce</a:t>
            </a:r>
          </a:p>
        </p:txBody>
      </p:sp>
      <p:sp>
        <p:nvSpPr>
          <p:cNvPr id="9" name="TextBox 8"/>
          <p:cNvSpPr txBox="1"/>
          <p:nvPr/>
        </p:nvSpPr>
        <p:spPr>
          <a:xfrm>
            <a:off x="1188720" y="3118104"/>
            <a:ext cx="9966960" cy="914400"/>
          </a:xfrm>
          <a:prstGeom prst="rect">
            <a:avLst/>
          </a:prstGeom>
          <a:noFill/>
        </p:spPr>
        <p:txBody>
          <a:bodyPr wrap="square" lIns="0" tIns="0" rIns="0" bIns="0">
            <a:noAutofit/>
          </a:bodyPr>
          <a:lstStyle>
            <a:lvl1pPr marL="342900" indent="-342900">
              <a:spcBef>
                <a:spcPts val="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lvl="1" algn="l"/>
            <a:r>
              <a:rPr dirty="0">
                <a:latin typeface="Calibri"/>
              </a:rPr>
              <a:t>Profits can still be positive or negative</a:t>
            </a:r>
          </a:p>
          <a:p>
            <a:pPr lvl="1" algn="l"/>
            <a:r>
              <a:rPr dirty="0">
                <a:latin typeface="Calibri"/>
              </a:rPr>
              <a:t>Positive if P ≥ ATC, negative if P &lt; ATC</a:t>
            </a:r>
          </a:p>
        </p:txBody>
      </p:sp>
      <p:sp>
        <p:nvSpPr>
          <p:cNvPr id="10" name="Rounded Rectangle 9"/>
          <p:cNvSpPr/>
          <p:nvPr/>
        </p:nvSpPr>
        <p:spPr>
          <a:xfrm>
            <a:off x="640080" y="4407408"/>
            <a:ext cx="10881360" cy="658368"/>
          </a:xfrm>
          <a:prstGeom prst="roundRect">
            <a:avLst>
              <a:gd name="adj" fmla="val 10000"/>
            </a:avLst>
          </a:prstGeom>
          <a:solidFill>
            <a:srgbClr val="FDF6E6"/>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0B2B4E"/>
                </a:solidFill>
                <a:latin typeface="Calibri"/>
              </a:rPr>
              <a:t>If P &lt; AVC at Q*:  stop production</a:t>
            </a:r>
          </a:p>
        </p:txBody>
      </p:sp>
      <p:sp>
        <p:nvSpPr>
          <p:cNvPr id="11" name="TextBox 10"/>
          <p:cNvSpPr txBox="1"/>
          <p:nvPr/>
        </p:nvSpPr>
        <p:spPr>
          <a:xfrm>
            <a:off x="1188720" y="5193792"/>
            <a:ext cx="9966960" cy="914400"/>
          </a:xfrm>
          <a:prstGeom prst="rect">
            <a:avLst/>
          </a:prstGeom>
          <a:noFill/>
        </p:spPr>
        <p:txBody>
          <a:bodyPr wrap="square" lIns="0" tIns="0" rIns="0" bIns="0">
            <a:noAutofit/>
          </a:bodyPr>
          <a:lstStyle>
            <a:lvl1pPr marL="342900" indent="-342900">
              <a:spcBef>
                <a:spcPts val="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lvl="1" algn="l"/>
            <a:r>
              <a:rPr dirty="0">
                <a:latin typeface="Calibri"/>
              </a:rPr>
              <a:t>The loss is then TFC</a:t>
            </a:r>
          </a:p>
          <a:p>
            <a:pPr lvl="1" algn="l"/>
            <a:r>
              <a:rPr dirty="0">
                <a:latin typeface="Calibri"/>
              </a:rPr>
              <a:t>Producing anyway would make the loss larger than TFC</a:t>
            </a:r>
          </a:p>
        </p:txBody>
      </p:sp>
      <p:sp>
        <p:nvSpPr>
          <p:cNvPr id="12" name="Rounded Rectangle 11"/>
          <p:cNvSpPr/>
          <p:nvPr/>
        </p:nvSpPr>
        <p:spPr>
          <a:xfrm>
            <a:off x="9299448" y="5971032"/>
            <a:ext cx="228600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600" b="1">
                <a:solidFill>
                  <a:srgbClr val="E09F3E"/>
                </a:solidFill>
                <a:latin typeface="Calibri"/>
              </a:rPr>
              <a:t>✎  </a:t>
            </a:r>
            <a:r>
              <a:rPr sz="1600" b="1">
                <a:solidFill>
                  <a:srgbClr val="0B2B4E"/>
                </a:solidFill>
                <a:latin typeface="Calibri"/>
              </a:rPr>
              <a:t>Problem Set 3</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6" name="TextBox 15"/>
          <p:cNvSpPr txBox="1"/>
          <p:nvPr/>
        </p:nvSpPr>
        <p:spPr>
          <a:xfrm>
            <a:off x="11475720" y="6583680"/>
            <a:ext cx="502920" cy="292608"/>
          </a:xfrm>
          <a:prstGeom prst="rect">
            <a:avLst/>
          </a:prstGeom>
          <a:noFill/>
        </p:spPr>
        <p:txBody>
          <a:bodyPr wrap="none" lIns="0" tIns="0" rIns="0" bIns="0">
            <a:spAutoFit/>
          </a:bodyPr>
          <a:lstStyle/>
          <a:p>
            <a:pPr algn="r"/>
            <a:fld id="{6BF35810-F1C9-5B1B-AF76-36B14C127958}" type="slidenum">
              <a:rPr lang="en-US" sz="1200" dirty="0">
                <a:solidFill>
                  <a:srgbClr val="555B66"/>
                </a:solidFill>
                <a:latin typeface="Calibri"/>
              </a:rPr>
              <a:t>31</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__PE_POLL_EMBED_ID" val="9aba19fa-5507-487c-8824-9ae36fae4faf"/>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4477</Words>
  <Application>Microsoft Office PowerPoint</Application>
  <PresentationFormat>Widescreen</PresentationFormat>
  <Paragraphs>540</Paragraphs>
  <Slides>31</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34</cp:revision>
  <dcterms:created xsi:type="dcterms:W3CDTF">2013-01-27T09:14:16Z</dcterms:created>
  <dcterms:modified xsi:type="dcterms:W3CDTF">2026-08-31T15:56:25Z</dcterms:modified>
  <cp:category/>
</cp:coreProperties>
</file>