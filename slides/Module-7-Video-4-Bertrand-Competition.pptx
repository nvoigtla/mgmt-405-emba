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85" r:id="rId2"/>
    <p:sldId id="286" r:id="rId3"/>
    <p:sldId id="287" r:id="rId4"/>
    <p:sldId id="288" r:id="rId5"/>
    <p:sldId id="291" r:id="rId6"/>
    <p:sldId id="292" r:id="rId7"/>
    <p:sldId id="293" r:id="rId8"/>
    <p:sldId id="29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24A93-ABCD-4C63-96F0-29849A91DE01}"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F47B3-DFFB-4987-AFFF-51E8AEAFC762}" type="slidenum">
              <a:rPr lang="en-US" smtClean="0"/>
              <a:t>‹#›</a:t>
            </a:fld>
            <a:endParaRPr lang="en-US"/>
          </a:p>
        </p:txBody>
      </p:sp>
    </p:spTree>
    <p:extLst>
      <p:ext uri="{BB962C8B-B14F-4D97-AF65-F5344CB8AC3E}">
        <p14:creationId xmlns:p14="http://schemas.microsoft.com/office/powerpoint/2010/main" val="17417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Bertrand assumed that firms choose a price and stand ready to meet all demand at that price. Each firm sets a price that maximizes profits holding constant the price set by the other firm. Contrast this with the Cournot case where the game is played on quantities.</a:t>
            </a:r>
          </a:p>
          <a:p>
            <a:r>
              <a:rPr dirty="0"/>
              <a:t>What is the outcome of Bertrand competition? The only equilibrium is P1 = P2 = MC. If, say P2 &gt;= P1 &gt; MC, P2 will undercut by a small amount, so there are no such equilibria. Proof: starting at P1 = P2 = MC, neither firm gains from raising (sells nothing) or cutting (negative profit). And any price above MC invites undercutting — the situation in the figure (both at $40, one drops to $39: it loses the thin strip on its old sales but gains the whole market).</a:t>
            </a:r>
          </a:p>
          <a:p>
            <a:r>
              <a:rPr dirty="0"/>
              <a:t>Bertrand with identical goods has a clean solution, but the conditions are rare. A market that came close: online retail of computer chips for home-built CPUs — consumers bought the cheapest chip and prices were approximately marginal cost, with retailers trying to escape via obfuscation (loss-leader ads, add-ons). With differentiated goods, equilibrium prices can stay above marginal cost.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 use this graph to understand the welfare consequences of these different forms of competition.</a:t>
            </a:r>
          </a:p>
          <a:p>
            <a:r>
              <a:t>Producer welfare ranks: Perfect Competition = Bertrand &lt; Cournot &lt; Monopoly. Consumer welfare ranks: Perfect Competition = Bertrand &gt; Cournot &gt; Monopoly. Total surplus ranks: Perfect Competition = Bertrand &gt; Cournot &gt; Monopoly.</a:t>
            </a:r>
          </a:p>
          <a:p>
            <a:r>
              <a:t>These last two comparisons (consumer welfare and total surplus decrease with market power) are the reason why the Federal Trade Commission cares about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algebra behind the comparison chart, all with the same market demand P = 100 − Q and MC = 10. The monopolist (or cartel) sets MR = MC and produces 45 at a price of 55. The Cournot duopoly ends up at 60 and a price of 40 — between monopoly and competition. Bertrand price competition drives the price all the way down to marginal cost: 90 units at a price of 10, the perfectly competitive outcome.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Bertrand with identical goods has a nice solution but the conditions that give rise to this outcome are rare in the real world. A market that was close was the online market for computer chips for consumers that like to build their own CPUs. Consumers bought the cheapest chip. Researchers found that prices were approx. marginal cost. An interesting wrinkle is that computer chip retailers attempted to differentiate their goods through obfuscation: either by advertising an inferior chip as a loss leader and then redirecting the consumer to their website or by offering product add-ons. In a Bertrand model with differentiated goods, there is the potential for the equilibrium price to be above marginal cost.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Bertrand Competition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7  ·  Video 4</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82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41065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401146"/>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Oligopoly and Game Theory</a:t>
            </a:r>
          </a:p>
        </p:txBody>
      </p:sp>
      <p:sp>
        <p:nvSpPr>
          <p:cNvPr id="10" name="Oval 9"/>
          <p:cNvSpPr/>
          <p:nvPr/>
        </p:nvSpPr>
        <p:spPr>
          <a:xfrm>
            <a:off x="1051560" y="1950152"/>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07816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068658"/>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Collusion and Cartels</a:t>
            </a:r>
          </a:p>
        </p:txBody>
      </p:sp>
      <p:sp>
        <p:nvSpPr>
          <p:cNvPr id="13" name="Oval 12"/>
          <p:cNvSpPr/>
          <p:nvPr/>
        </p:nvSpPr>
        <p:spPr>
          <a:xfrm>
            <a:off x="1051560" y="26176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Rounded Rectangle 13"/>
          <p:cNvSpPr/>
          <p:nvPr/>
        </p:nvSpPr>
        <p:spPr>
          <a:xfrm>
            <a:off x="10332720" y="274568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1874519" y="2736170"/>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Cournot Competition</a:t>
            </a:r>
          </a:p>
        </p:txBody>
      </p:sp>
      <p:sp>
        <p:nvSpPr>
          <p:cNvPr id="16" name="Rounded Rectangle 15"/>
          <p:cNvSpPr/>
          <p:nvPr/>
        </p:nvSpPr>
        <p:spPr>
          <a:xfrm>
            <a:off x="822960" y="3221168"/>
            <a:ext cx="11109960" cy="7269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1560" y="328517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8" name="Rounded Rectangle 17"/>
          <p:cNvSpPr/>
          <p:nvPr/>
        </p:nvSpPr>
        <p:spPr>
          <a:xfrm>
            <a:off x="10332720" y="341319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9" name="TextBox 18"/>
          <p:cNvSpPr txBox="1"/>
          <p:nvPr/>
        </p:nvSpPr>
        <p:spPr>
          <a:xfrm>
            <a:off x="1874519" y="3266888"/>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a:p>
            <a:pPr algn="l">
              <a:spcBef>
                <a:spcPts val="0"/>
              </a:spcBef>
              <a:buNone/>
            </a:pPr>
            <a:r>
              <a:rPr sz="2000">
                <a:solidFill>
                  <a:srgbClr val="555B66"/>
                </a:solidFill>
                <a:latin typeface="Calibri"/>
              </a:rPr>
              <a:t>Competing by setting prices, and why it can compete profits away</a:t>
            </a:r>
          </a:p>
        </p:txBody>
      </p:sp>
      <p:sp>
        <p:nvSpPr>
          <p:cNvPr id="20" name="Oval 19"/>
          <p:cNvSpPr/>
          <p:nvPr/>
        </p:nvSpPr>
        <p:spPr>
          <a:xfrm>
            <a:off x="1051560" y="3952688"/>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Rounded Rectangle 20"/>
          <p:cNvSpPr/>
          <p:nvPr/>
        </p:nvSpPr>
        <p:spPr>
          <a:xfrm>
            <a:off x="10332720" y="408070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1874519" y="4071194"/>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Bertrand Competition with Differentiated Goods</a:t>
            </a:r>
          </a:p>
        </p:txBody>
      </p:sp>
      <p:sp>
        <p:nvSpPr>
          <p:cNvPr id="23" name="Oval 22"/>
          <p:cNvSpPr/>
          <p:nvPr/>
        </p:nvSpPr>
        <p:spPr>
          <a:xfrm>
            <a:off x="1051560" y="4711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Rounded Rectangle 23"/>
          <p:cNvSpPr/>
          <p:nvPr/>
        </p:nvSpPr>
        <p:spPr>
          <a:xfrm>
            <a:off x="10332720" y="4741163"/>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4693352"/>
            <a:ext cx="8293609" cy="424807"/>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Game Theory</a:t>
            </a:r>
          </a:p>
        </p:txBody>
      </p:sp>
      <p:sp>
        <p:nvSpPr>
          <p:cNvPr id="26" name="Oval 25"/>
          <p:cNvSpPr/>
          <p:nvPr/>
        </p:nvSpPr>
        <p:spPr>
          <a:xfrm>
            <a:off x="1481328" y="5218743"/>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6a</a:t>
            </a:r>
          </a:p>
        </p:txBody>
      </p:sp>
      <p:sp>
        <p:nvSpPr>
          <p:cNvPr id="27" name="Rounded Rectangle 26"/>
          <p:cNvSpPr/>
          <p:nvPr/>
        </p:nvSpPr>
        <p:spPr>
          <a:xfrm>
            <a:off x="10707625" y="5310183"/>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2084831" y="5300673"/>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Strategic Thinking: Key Concepts</a:t>
            </a:r>
          </a:p>
        </p:txBody>
      </p:sp>
      <p:sp>
        <p:nvSpPr>
          <p:cNvPr id="29" name="Oval 28"/>
          <p:cNvSpPr/>
          <p:nvPr/>
        </p:nvSpPr>
        <p:spPr>
          <a:xfrm>
            <a:off x="1481328" y="5886255"/>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6b</a:t>
            </a:r>
          </a:p>
        </p:txBody>
      </p:sp>
      <p:sp>
        <p:nvSpPr>
          <p:cNvPr id="30" name="Rounded Rectangle 29"/>
          <p:cNvSpPr/>
          <p:nvPr/>
        </p:nvSpPr>
        <p:spPr>
          <a:xfrm>
            <a:off x="10707625" y="5977695"/>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FC3F1D96-2A4D-5580-946B-FD165C06AC8D}" type="slidenum">
              <a:rPr lang="en-US" sz="1200" dirty="0">
                <a:solidFill>
                  <a:srgbClr val="555B66"/>
                </a:solidFill>
                <a:latin typeface="Calibri"/>
              </a:rPr>
              <a:t>2</a:t>
            </a:fld>
            <a:endParaRPr lang="en-US" sz="1200" dirty="0">
              <a:solidFill>
                <a:srgbClr val="555B66"/>
              </a:solidFill>
              <a:latin typeface="Calibri"/>
            </a:endParaRPr>
          </a:p>
        </p:txBody>
      </p:sp>
      <p:sp>
        <p:nvSpPr>
          <p:cNvPr id="31" name="TextBox 30"/>
          <p:cNvSpPr txBox="1"/>
          <p:nvPr/>
        </p:nvSpPr>
        <p:spPr>
          <a:xfrm>
            <a:off x="2084831" y="5968185"/>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Prisoner’s Dilemma, Game of Chicken…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Bertrand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8604504" cy="2761488"/>
          </a:xfrm>
          <a:prstGeom prst="rect">
            <a:avLst/>
          </a:prstGeom>
          <a:noFill/>
        </p:spPr>
        <p:txBody>
          <a:bodyPr wrap="square" lIns="0" tIns="0" rIns="0" bIns="0">
            <a:spAutoFit/>
          </a:bodyPr>
          <a:lstStyle>
            <a:lvl1pPr marL="342900" indent="-342900">
              <a:spcBef>
                <a:spcPts val="2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Bertrand assumed that firms choose a </a:t>
            </a:r>
            <a:r>
              <a:rPr>
                <a:solidFill>
                  <a:srgbClr val="FF0000"/>
                </a:solidFill>
                <a:latin typeface="Calibri"/>
              </a:rPr>
              <a:t>price</a:t>
            </a:r>
            <a:r>
              <a:rPr>
                <a:latin typeface="Calibri"/>
              </a:rPr>
              <a:t> and stand ready to meet all demand at that price</a:t>
            </a:r>
          </a:p>
          <a:p>
            <a:pPr algn="l"/>
            <a:r>
              <a:rPr>
                <a:latin typeface="Calibri"/>
              </a:rPr>
              <a:t>Each firm sets a price that maximizes profits, conditional on the price set by the other firm</a:t>
            </a:r>
          </a:p>
          <a:p>
            <a:pPr algn="l"/>
            <a:r>
              <a:rPr>
                <a:latin typeface="Calibri"/>
              </a:rPr>
              <a:t>Contrast this with the Cournot case, where the game was played on quantities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82D3A271-AB8A-57DF-B5F2-B198215DE772}"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s30_image43.png"/>
          <p:cNvPicPr>
            <a:picLocks noChangeAspect="1"/>
          </p:cNvPicPr>
          <p:nvPr/>
        </p:nvPicPr>
        <p:blipFill>
          <a:blip r:embed="rId2"/>
          <a:stretch>
            <a:fillRect/>
          </a:stretch>
        </p:blipFill>
        <p:spPr>
          <a:xfrm>
            <a:off x="3658" y="0"/>
            <a:ext cx="12185294" cy="6858000"/>
          </a:xfrm>
          <a:prstGeom prst="rect">
            <a:avLst/>
          </a:prstGeom>
        </p:spPr>
      </p:pic>
      <p:sp>
        <p:nvSpPr>
          <p:cNvPr id="3" name="Rectangle 2"/>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5" name="TextBox 4"/>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Bertrand Competition (with Identical Goods)</a:t>
            </a:r>
          </a:p>
        </p:txBody>
      </p:sp>
      <p:sp>
        <p:nvSpPr>
          <p:cNvPr id="6" name="Rectangle 5"/>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600" name="Group 12">
            <a:extLst>
              <a:ext uri="{FF2B5EF4-FFF2-40B4-BE49-F238E27FC236}">
                <a16:creationId xmlns:a16="http://schemas.microsoft.com/office/drawing/2014/main" id="{B93B62C4-CFD2-993E-9390-63E18F36D3A0}"/>
              </a:ext>
            </a:extLst>
          </p:cNvPr>
          <p:cNvGrpSpPr/>
          <p:nvPr/>
        </p:nvGrpSpPr>
        <p:grpSpPr>
          <a:xfrm>
            <a:off x="3444087" y="1051660"/>
            <a:ext cx="5480457" cy="1615373"/>
            <a:chOff x="1066647" y="2549581"/>
            <a:chExt cx="10058400" cy="1963218"/>
          </a:xfrm>
        </p:grpSpPr>
        <p:sp>
          <p:nvSpPr>
            <p:cNvPr id="9601" name="Rounded Rectangle 6"/>
            <p:cNvSpPr/>
            <p:nvPr/>
          </p:nvSpPr>
          <p:spPr>
            <a:xfrm>
              <a:off x="1066647" y="2651760"/>
              <a:ext cx="10058400" cy="1861039"/>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7"/>
            <p:cNvSpPr txBox="1"/>
            <p:nvPr/>
          </p:nvSpPr>
          <p:spPr>
            <a:xfrm>
              <a:off x="1249528" y="2549581"/>
              <a:ext cx="9692641" cy="1946549"/>
            </a:xfrm>
            <a:prstGeom prst="rect">
              <a:avLst/>
            </a:prstGeom>
            <a:noFill/>
          </p:spPr>
          <p:txBody>
            <a:bodyPr wrap="square" lIns="45720" tIns="0" rIns="45720" bIns="0" anchor="ctr">
              <a:spAutoFit/>
            </a:bodyPr>
            <a:lstStyle/>
            <a:p>
              <a:pPr algn="l">
                <a:lnSpc>
                  <a:spcPct val="140000"/>
                </a:lnSpc>
              </a:pPr>
              <a:r>
                <a:rPr sz="2600" b="1" i="0" dirty="0">
                  <a:solidFill>
                    <a:srgbClr val="0B2B4E"/>
                  </a:solidFill>
                  <a:latin typeface="Calibri"/>
                </a:rPr>
                <a:t>Assumptions:</a:t>
              </a:r>
            </a:p>
            <a:p>
              <a:pPr algn="l"/>
              <a:r>
                <a:rPr sz="2400" b="0" i="0" dirty="0">
                  <a:solidFill>
                    <a:srgbClr val="0B2B4E"/>
                  </a:solidFill>
                  <a:latin typeface="Calibri"/>
                </a:rPr>
                <a:t>▪  Firms make identical products</a:t>
              </a:r>
            </a:p>
            <a:p>
              <a:pPr algn="l"/>
              <a:r>
                <a:rPr sz="2400" b="0" i="0" dirty="0">
                  <a:solidFill>
                    <a:srgbClr val="0B2B4E"/>
                  </a:solidFill>
                  <a:latin typeface="Calibri"/>
                </a:rPr>
                <a:t>▪  Firms compete by choosing the </a:t>
              </a:r>
              <a:r>
                <a:rPr sz="2400" b="0" i="0" u="sng" dirty="0">
                  <a:solidFill>
                    <a:srgbClr val="FF0000"/>
                  </a:solidFill>
                  <a:latin typeface="Calibri"/>
                </a:rPr>
                <a:t>price</a:t>
              </a:r>
              <a:r>
                <a:rPr sz="2400" b="0" i="0" dirty="0">
                  <a:solidFill>
                    <a:srgbClr val="0B2B4E"/>
                  </a:solidFill>
                  <a:latin typeface="Calibri"/>
                </a:rPr>
                <a:t> at</a:t>
              </a:r>
              <a:endParaRPr lang="en-US" sz="2400" b="0" i="0" dirty="0">
                <a:solidFill>
                  <a:srgbClr val="0B2B4E"/>
                </a:solidFill>
                <a:latin typeface="Calibri"/>
              </a:endParaRPr>
            </a:p>
            <a:p>
              <a:pPr algn="l">
                <a:lnSpc>
                  <a:spcPct val="80000"/>
                </a:lnSpc>
              </a:pPr>
              <a:r>
                <a:rPr lang="en-US" sz="2400" dirty="0">
                  <a:solidFill>
                    <a:srgbClr val="0B2B4E"/>
                  </a:solidFill>
                  <a:latin typeface="Calibri"/>
                </a:rPr>
                <a:t> </a:t>
              </a:r>
              <a:r>
                <a:rPr lang="en-US" sz="2400" b="0" i="0" dirty="0">
                  <a:solidFill>
                    <a:srgbClr val="0B2B4E"/>
                  </a:solidFill>
                  <a:latin typeface="Calibri"/>
                </a:rPr>
                <a:t>   </a:t>
              </a:r>
              <a:r>
                <a:rPr sz="2400" b="0" i="0" dirty="0">
                  <a:solidFill>
                    <a:srgbClr val="0B2B4E"/>
                  </a:solidFill>
                  <a:latin typeface="Calibri"/>
                </a:rPr>
                <a:t>which they sell their products</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5" name="TextBox 96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9606" name="TextBox 9605"/>
          <p:cNvSpPr txBox="1"/>
          <p:nvPr/>
        </p:nvSpPr>
        <p:spPr>
          <a:xfrm>
            <a:off x="11475720" y="6583680"/>
            <a:ext cx="502920" cy="292608"/>
          </a:xfrm>
          <a:prstGeom prst="rect">
            <a:avLst/>
          </a:prstGeom>
          <a:noFill/>
        </p:spPr>
        <p:txBody>
          <a:bodyPr wrap="none" lIns="0" tIns="0" rIns="0" bIns="0">
            <a:spAutoFit/>
          </a:bodyPr>
          <a:lstStyle/>
          <a:p>
            <a:pPr algn="r"/>
            <a:fld id="{B44339DE-2B94-57D5-B685-59C11540A8A2}"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Bertrand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417320"/>
            <a:ext cx="7269480" cy="48463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554480" y="4326940"/>
            <a:ext cx="1567281" cy="173736"/>
          </a:xfrm>
          <a:prstGeom prst="rect">
            <a:avLst/>
          </a:prstGeom>
          <a:solidFill>
            <a:srgbClr val="F2B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121761" y="4500676"/>
            <a:ext cx="1829061" cy="867765"/>
          </a:xfrm>
          <a:prstGeom prst="rect">
            <a:avLst/>
          </a:prstGeom>
          <a:solidFill>
            <a:srgbClr val="0070C0">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sdaxis:y"/>
          <p:cNvCxnSpPr/>
          <p:nvPr/>
        </p:nvCxnSpPr>
        <p:spPr>
          <a:xfrm flipV="1">
            <a:off x="1554480" y="1664208"/>
            <a:ext cx="0" cy="405079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554480" y="5715000"/>
            <a:ext cx="601675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1347978" y="1524762"/>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3" name="sdaxistitle:x"/>
          <p:cNvSpPr txBox="1"/>
          <p:nvPr/>
        </p:nvSpPr>
        <p:spPr>
          <a:xfrm>
            <a:off x="7495031" y="5760720"/>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cxnSp>
        <p:nvCxnSpPr>
          <p:cNvPr id="14" name="Connector 13"/>
          <p:cNvCxnSpPr/>
          <p:nvPr/>
        </p:nvCxnSpPr>
        <p:spPr>
          <a:xfrm>
            <a:off x="1554480" y="2245178"/>
            <a:ext cx="5225142" cy="3469822"/>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1999792" y="2366467"/>
                <a:ext cx="1828800" cy="365760"/>
              </a:xfrm>
              <a:prstGeom prst="rect">
                <a:avLst/>
              </a:prstGeom>
              <a:noFill/>
            </p:spPr>
            <p:txBody>
              <a:bodyPr wrap="square" anchor="ctr">
                <a:spAutoFit/>
              </a:bodyPr>
              <a:lstStyle/>
              <a:p>
                <a:pPr algn="ctr">
                  <a:defRPr sz="1600" b="0" i="1">
                    <a:solidFill>
                      <a:srgbClr val="C00000"/>
                    </a:solidFill>
                    <a:latin typeface="Cambria Math"/>
                  </a:defRPr>
                </a:pPr>
                <a14:m>
                  <m:oMathPara xmlns:m="http://schemas.openxmlformats.org/officeDocument/2006/math">
                    <m:oMath>
                      <m:r>
                        <a:rPr lang="en-US" sz="1600" b="0" i="1">
                          <a:solidFill>
                            <a:srgbClr val="C00000"/>
                          </a:solidFill>
                          <a:latin typeface="Cambria Math"/>
                          <a:ea typeface="Cambria Math"/>
                        </a:rPr>
                        <m:t>𝑃</m:t>
                      </m:r>
                      <m:r>
                        <a:rPr lang="en-US" sz="1600" b="0" i="0">
                          <a:solidFill>
                            <a:srgbClr val="C00000"/>
                          </a:solidFill>
                          <a:latin typeface="Cambria Math"/>
                        </a:rPr>
                        <m:t> = 100 − </m:t>
                      </m:r>
                      <m:sSub>
                        <m:sSubPr>
                          <m:ctrlPr>
                            <a:rPr lang="en-US" sz="1600" b="0" i="1">
                              <a:solidFill>
                                <a:srgbClr val="C00000"/>
                              </a:solidFill>
                              <a:latin typeface="Cambria Math"/>
                              <a:ea typeface="Cambria Math"/>
                            </a:rPr>
                          </m:ctrlPr>
                        </m:sSubPr>
                        <m:e>
                          <m:r>
                            <a:rPr lang="en-US" sz="1600" b="0" i="1">
                              <a:solidFill>
                                <a:srgbClr val="C00000"/>
                              </a:solidFill>
                              <a:latin typeface="Cambria Math"/>
                              <a:ea typeface="Cambria Math"/>
                            </a:rPr>
                            <m:t>𝑄</m:t>
                          </m:r>
                        </m:e>
                        <m:sub>
                          <m:r>
                            <m:rPr>
                              <m:sty m:val="p"/>
                            </m:rPr>
                            <a:rPr lang="en-US" sz="1600" b="0" i="0">
                              <a:solidFill>
                                <a:srgbClr val="C00000"/>
                              </a:solidFill>
                              <a:latin typeface="Cambria Math"/>
                            </a:rPr>
                            <m:t>M</m:t>
                          </m:r>
                        </m:sub>
                      </m:sSub>
                    </m:oMath>
                  </m:oMathPara>
                </a14:m>
                <a:endParaRPr lang="en-US" sz="1600"/>
              </a:p>
            </p:txBody>
          </p:sp>
        </mc:Choice>
        <mc:Fallback xmlns="">
          <p:sp>
            <p:nvSpPr>
              <p:cNvPr id="15" name="TextBox 14"/>
              <p:cNvSpPr txBox="1">
                <a:spLocks noRot="1" noChangeAspect="1" noMove="1" noResize="1" noEditPoints="1" noAdjustHandles="1" noChangeArrowheads="1" noChangeShapeType="1" noTextEdit="1"/>
              </p:cNvSpPr>
              <p:nvPr/>
            </p:nvSpPr>
            <p:spPr>
              <a:xfrm>
                <a:off x="1999792" y="2366467"/>
                <a:ext cx="1828800" cy="365760"/>
              </a:xfrm>
              <a:prstGeom prst="rect">
                <a:avLst/>
              </a:prstGeom>
              <a:blipFill>
                <a:blip r:embed="rId3"/>
                <a:stretch>
                  <a:fillRect b="-5000"/>
                </a:stretch>
              </a:blipFill>
            </p:spPr>
            <p:txBody>
              <a:bodyPr/>
              <a:lstStyle/>
              <a:p>
                <a:r>
                  <a:rPr lang="en-US">
                    <a:noFill/>
                  </a:rPr>
                  <a:t> </a:t>
                </a:r>
              </a:p>
            </p:txBody>
          </p:sp>
        </mc:Fallback>
      </mc:AlternateContent>
      <p:cxnSp>
        <p:nvCxnSpPr>
          <p:cNvPr id="16" name="Connector 15"/>
          <p:cNvCxnSpPr/>
          <p:nvPr/>
        </p:nvCxnSpPr>
        <p:spPr>
          <a:xfrm>
            <a:off x="1554480" y="5368017"/>
            <a:ext cx="5486400"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9790" y="5039258"/>
            <a:ext cx="349377" cy="274320"/>
          </a:xfrm>
          <a:prstGeom prst="rect">
            <a:avLst/>
          </a:prstGeom>
          <a:noFill/>
        </p:spPr>
        <p:txBody>
          <a:bodyPr wrap="square" lIns="0" tIns="0" rIns="0" bIns="0">
            <a:spAutoFit/>
          </a:bodyPr>
          <a:lstStyle/>
          <a:p>
            <a:pPr algn="ctr"/>
            <a:r>
              <a:rPr sz="1600" b="1" i="0" u="none">
                <a:solidFill>
                  <a:srgbClr val="0B2B4E"/>
                </a:solidFill>
                <a:latin typeface="Calibri"/>
              </a:rPr>
              <a:t>MC</a:t>
            </a:r>
          </a:p>
        </p:txBody>
      </p:sp>
      <p:cxnSp>
        <p:nvCxnSpPr>
          <p:cNvPr id="18" name="Connector 17"/>
          <p:cNvCxnSpPr/>
          <p:nvPr/>
        </p:nvCxnSpPr>
        <p:spPr>
          <a:xfrm>
            <a:off x="1554480" y="4327071"/>
            <a:ext cx="3135085"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89565" y="4327071"/>
            <a:ext cx="0" cy="1387929"/>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554480" y="4500562"/>
            <a:ext cx="3396342"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950822" y="4500562"/>
            <a:ext cx="0" cy="1214438"/>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639273" y="4276779"/>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900530" y="4450270"/>
            <a:ext cx="100584" cy="100584"/>
          </a:xfrm>
          <a:prstGeom prst="ellipse">
            <a:avLst/>
          </a:prstGeom>
          <a:solidFill>
            <a:srgbClr val="0070C0"/>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0" name="Undercutting 30"/>
          <p:cNvGrpSpPr/>
          <p:nvPr/>
        </p:nvGrpSpPr>
        <p:grpSpPr>
          <a:xfrm>
            <a:off x="5033137" y="4468850"/>
            <a:ext cx="1230112" cy="816871"/>
            <a:chOff x="4923149" y="4624880"/>
            <a:chExt cx="1230112" cy="816871"/>
          </a:xfrm>
        </p:grpSpPr>
        <p:cxnSp>
          <p:nvCxnSpPr>
            <p:cNvPr id="25" name="Connector 24"/>
            <p:cNvCxnSpPr/>
            <p:nvPr/>
          </p:nvCxnSpPr>
          <p:spPr>
            <a:xfrm>
              <a:off x="4923149" y="4624880"/>
              <a:ext cx="185083" cy="122907"/>
            </a:xfrm>
            <a:prstGeom prst="line">
              <a:avLst/>
            </a:prstGeom>
            <a:ln w="28575">
              <a:solidFill>
                <a:srgbClr val="007A33"/>
              </a:solidFill>
              <a:tailEnd type="triangle" w="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84406" y="4798371"/>
              <a:ext cx="185083" cy="122907"/>
            </a:xfrm>
            <a:prstGeom prst="line">
              <a:avLst/>
            </a:prstGeom>
            <a:ln w="28575">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45663" y="4971862"/>
              <a:ext cx="185083" cy="122907"/>
            </a:xfrm>
            <a:prstGeom prst="line">
              <a:avLst/>
            </a:prstGeom>
            <a:ln w="28575">
              <a:solidFill>
                <a:srgbClr val="007A33"/>
              </a:solidFill>
              <a:tailEnd type="triangle" w="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06921" y="5145353"/>
              <a:ext cx="185083" cy="122907"/>
            </a:xfrm>
            <a:prstGeom prst="line">
              <a:avLst/>
            </a:prstGeom>
            <a:ln w="28575">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968178" y="5318844"/>
              <a:ext cx="185083" cy="122907"/>
            </a:xfrm>
            <a:prstGeom prst="line">
              <a:avLst/>
            </a:prstGeom>
            <a:ln w="28575">
              <a:solidFill>
                <a:srgbClr val="007A33"/>
              </a:solidFill>
              <a:tailEnd type="triangle" w="sm"/>
            </a:ln>
          </p:spPr>
          <p:style>
            <a:lnRef idx="2">
              <a:schemeClr val="accent1"/>
            </a:lnRef>
            <a:fillRef idx="0">
              <a:schemeClr val="accent1"/>
            </a:fillRef>
            <a:effectRef idx="1">
              <a:schemeClr val="accent1"/>
            </a:effectRef>
            <a:fontRef idx="minor">
              <a:schemeClr val="tx1"/>
            </a:fontRef>
          </p:style>
        </p:cxnSp>
      </p:grpSp>
      <p:sp>
        <p:nvSpPr>
          <p:cNvPr id="31" name="TextBox 30"/>
          <p:cNvSpPr txBox="1"/>
          <p:nvPr/>
        </p:nvSpPr>
        <p:spPr>
          <a:xfrm>
            <a:off x="1658721" y="4308652"/>
            <a:ext cx="1463040" cy="237744"/>
          </a:xfrm>
          <a:prstGeom prst="rect">
            <a:avLst/>
          </a:prstGeom>
          <a:noFill/>
        </p:spPr>
        <p:txBody>
          <a:bodyPr wrap="square" lIns="0" tIns="0" rIns="0" bIns="0">
            <a:spAutoFit/>
          </a:bodyPr>
          <a:lstStyle/>
          <a:p>
            <a:pPr algn="l"/>
            <a:r>
              <a:rPr sz="1300" b="1" i="0" u="none">
                <a:solidFill>
                  <a:srgbClr val="C00000"/>
                </a:solidFill>
                <a:latin typeface="Calibri"/>
              </a:rPr>
              <a:t>Lost by A</a:t>
            </a:r>
          </a:p>
        </p:txBody>
      </p:sp>
      <p:sp>
        <p:nvSpPr>
          <p:cNvPr id="32" name="TextBox 31"/>
          <p:cNvSpPr txBox="1"/>
          <p:nvPr/>
        </p:nvSpPr>
        <p:spPr>
          <a:xfrm>
            <a:off x="3279038" y="4803343"/>
            <a:ext cx="1645920" cy="292608"/>
          </a:xfrm>
          <a:prstGeom prst="rect">
            <a:avLst/>
          </a:prstGeom>
          <a:noFill/>
        </p:spPr>
        <p:txBody>
          <a:bodyPr wrap="square" lIns="0" tIns="0" rIns="0" bIns="0">
            <a:spAutoFit/>
          </a:bodyPr>
          <a:lstStyle/>
          <a:p>
            <a:pPr algn="l"/>
            <a:r>
              <a:rPr sz="1600" b="1" i="0" u="none">
                <a:solidFill>
                  <a:srgbClr val="0070C0"/>
                </a:solidFill>
                <a:latin typeface="Calibri"/>
              </a:rPr>
              <a:t>Gained by A</a:t>
            </a:r>
          </a:p>
        </p:txBody>
      </p:sp>
      <p:grpSp>
        <p:nvGrpSpPr>
          <p:cNvPr id="53" name="Group 52">
            <a:extLst>
              <a:ext uri="{FF2B5EF4-FFF2-40B4-BE49-F238E27FC236}">
                <a16:creationId xmlns:a16="http://schemas.microsoft.com/office/drawing/2014/main" id="{83681E60-2CA4-B1F1-3A4E-AE8D35E94E80}"/>
              </a:ext>
            </a:extLst>
          </p:cNvPr>
          <p:cNvGrpSpPr/>
          <p:nvPr/>
        </p:nvGrpSpPr>
        <p:grpSpPr>
          <a:xfrm>
            <a:off x="5157216" y="3728033"/>
            <a:ext cx="2267712" cy="1708564"/>
            <a:chOff x="5157216" y="3728033"/>
            <a:chExt cx="2267712" cy="1708564"/>
          </a:xfrm>
        </p:grpSpPr>
        <p:sp>
          <p:nvSpPr>
            <p:cNvPr id="24" name="Oval 23"/>
            <p:cNvSpPr/>
            <p:nvPr/>
          </p:nvSpPr>
          <p:spPr>
            <a:xfrm>
              <a:off x="6188528" y="5299437"/>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157216" y="3728033"/>
              <a:ext cx="2267712" cy="438912"/>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Bertrand Equilibrium</a:t>
              </a:r>
            </a:p>
          </p:txBody>
        </p:sp>
        <p:cxnSp>
          <p:nvCxnSpPr>
            <p:cNvPr id="34" name="Connector 33"/>
            <p:cNvCxnSpPr>
              <a:cxnSpLocks/>
            </p:cNvCxnSpPr>
            <p:nvPr/>
          </p:nvCxnSpPr>
          <p:spPr>
            <a:xfrm flipH="1">
              <a:off x="6291072" y="4180661"/>
              <a:ext cx="201690" cy="1119201"/>
            </a:xfrm>
            <a:prstGeom prst="line">
              <a:avLst/>
            </a:prstGeom>
            <a:ln w="1587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5" name="TextBox 34"/>
          <p:cNvSpPr txBox="1"/>
          <p:nvPr/>
        </p:nvSpPr>
        <p:spPr>
          <a:xfrm>
            <a:off x="952500" y="2117162"/>
            <a:ext cx="492252" cy="274320"/>
          </a:xfrm>
          <a:prstGeom prst="rect">
            <a:avLst/>
          </a:prstGeom>
          <a:noFill/>
        </p:spPr>
        <p:txBody>
          <a:bodyPr wrap="none" lIns="0" tIns="0" rIns="0" bIns="0">
            <a:spAutoFit/>
          </a:bodyPr>
          <a:lstStyle/>
          <a:p>
            <a:pPr algn="r"/>
            <a:r>
              <a:rPr sz="1600" b="0" i="0" u="none">
                <a:solidFill>
                  <a:srgbClr val="0B2B4E"/>
                </a:solidFill>
                <a:latin typeface="Calibri"/>
              </a:rPr>
              <a:t>$100</a:t>
            </a:r>
          </a:p>
        </p:txBody>
      </p:sp>
      <p:sp>
        <p:nvSpPr>
          <p:cNvPr id="36" name="TextBox 35"/>
          <p:cNvSpPr txBox="1"/>
          <p:nvPr/>
        </p:nvSpPr>
        <p:spPr>
          <a:xfrm>
            <a:off x="1057275" y="4199055"/>
            <a:ext cx="387477" cy="274320"/>
          </a:xfrm>
          <a:prstGeom prst="rect">
            <a:avLst/>
          </a:prstGeom>
          <a:noFill/>
        </p:spPr>
        <p:txBody>
          <a:bodyPr wrap="none" lIns="0" tIns="0" rIns="0" bIns="0">
            <a:spAutoFit/>
          </a:bodyPr>
          <a:lstStyle/>
          <a:p>
            <a:pPr algn="r"/>
            <a:r>
              <a:rPr sz="1600" b="1" i="0" u="none">
                <a:solidFill>
                  <a:srgbClr val="0B2B4E"/>
                </a:solidFill>
                <a:latin typeface="Calibri"/>
              </a:rPr>
              <a:t>$40</a:t>
            </a:r>
          </a:p>
        </p:txBody>
      </p:sp>
      <p:sp>
        <p:nvSpPr>
          <p:cNvPr id="37" name="TextBox 36"/>
          <p:cNvSpPr txBox="1"/>
          <p:nvPr/>
        </p:nvSpPr>
        <p:spPr>
          <a:xfrm>
            <a:off x="1057275" y="4372546"/>
            <a:ext cx="387477" cy="274320"/>
          </a:xfrm>
          <a:prstGeom prst="rect">
            <a:avLst/>
          </a:prstGeom>
          <a:noFill/>
        </p:spPr>
        <p:txBody>
          <a:bodyPr wrap="none" lIns="0" tIns="0" rIns="0" bIns="0">
            <a:spAutoFit/>
          </a:bodyPr>
          <a:lstStyle/>
          <a:p>
            <a:pPr algn="r"/>
            <a:r>
              <a:rPr sz="1600" b="1" i="0" u="none">
                <a:solidFill>
                  <a:srgbClr val="0070C0"/>
                </a:solidFill>
                <a:latin typeface="Calibri"/>
              </a:rPr>
              <a:t>$39</a:t>
            </a:r>
          </a:p>
        </p:txBody>
      </p:sp>
      <p:sp>
        <p:nvSpPr>
          <p:cNvPr id="38" name="TextBox 37"/>
          <p:cNvSpPr txBox="1"/>
          <p:nvPr/>
        </p:nvSpPr>
        <p:spPr>
          <a:xfrm>
            <a:off x="1057275" y="5240001"/>
            <a:ext cx="387477" cy="274320"/>
          </a:xfrm>
          <a:prstGeom prst="rect">
            <a:avLst/>
          </a:prstGeom>
          <a:noFill/>
        </p:spPr>
        <p:txBody>
          <a:bodyPr wrap="none" lIns="0" tIns="0" rIns="0" bIns="0">
            <a:spAutoFit/>
          </a:bodyPr>
          <a:lstStyle/>
          <a:p>
            <a:pPr algn="r"/>
            <a:r>
              <a:rPr sz="1600" b="0" i="0" u="none">
                <a:solidFill>
                  <a:srgbClr val="0B2B4E"/>
                </a:solidFill>
                <a:latin typeface="Calibri"/>
              </a:rPr>
              <a:t>$10</a:t>
            </a:r>
          </a:p>
        </p:txBody>
      </p:sp>
      <p:sp>
        <p:nvSpPr>
          <p:cNvPr id="39" name="TextBox 38"/>
          <p:cNvSpPr txBox="1"/>
          <p:nvPr/>
        </p:nvSpPr>
        <p:spPr>
          <a:xfrm>
            <a:off x="2980671" y="5769864"/>
            <a:ext cx="282702" cy="274320"/>
          </a:xfrm>
          <a:prstGeom prst="rect">
            <a:avLst/>
          </a:prstGeom>
          <a:noFill/>
        </p:spPr>
        <p:txBody>
          <a:bodyPr wrap="none" lIns="0" tIns="0" rIns="0" bIns="0">
            <a:spAutoFit/>
          </a:bodyPr>
          <a:lstStyle/>
          <a:p>
            <a:pPr algn="ctr"/>
            <a:r>
              <a:rPr sz="1600" b="0" i="0" u="none">
                <a:solidFill>
                  <a:srgbClr val="0B2B4E"/>
                </a:solidFill>
                <a:latin typeface="Calibri"/>
              </a:rPr>
              <a:t>30</a:t>
            </a:r>
          </a:p>
        </p:txBody>
      </p:sp>
      <p:sp>
        <p:nvSpPr>
          <p:cNvPr id="40" name="TextBox 39"/>
          <p:cNvSpPr txBox="1"/>
          <p:nvPr/>
        </p:nvSpPr>
        <p:spPr>
          <a:xfrm>
            <a:off x="4462272" y="5769864"/>
            <a:ext cx="329184" cy="246888"/>
          </a:xfrm>
          <a:prstGeom prst="rect">
            <a:avLst/>
          </a:prstGeom>
          <a:noFill/>
        </p:spPr>
        <p:txBody>
          <a:bodyPr wrap="square" lIns="0" tIns="0" rIns="0" bIns="0">
            <a:spAutoFit/>
          </a:bodyPr>
          <a:lstStyle/>
          <a:p>
            <a:pPr algn="ctr"/>
            <a:r>
              <a:rPr sz="1600" b="0" i="0" u="none">
                <a:solidFill>
                  <a:srgbClr val="0B2B4E"/>
                </a:solidFill>
                <a:latin typeface="Calibri"/>
              </a:rPr>
              <a:t>60</a:t>
            </a:r>
          </a:p>
        </p:txBody>
      </p:sp>
      <p:sp>
        <p:nvSpPr>
          <p:cNvPr id="41" name="TextBox 40"/>
          <p:cNvSpPr txBox="1"/>
          <p:nvPr/>
        </p:nvSpPr>
        <p:spPr>
          <a:xfrm>
            <a:off x="4763370" y="5779008"/>
            <a:ext cx="374904" cy="246888"/>
          </a:xfrm>
          <a:prstGeom prst="rect">
            <a:avLst/>
          </a:prstGeom>
          <a:noFill/>
        </p:spPr>
        <p:txBody>
          <a:bodyPr wrap="square" lIns="0" tIns="0" rIns="0" bIns="0">
            <a:spAutoFit/>
          </a:bodyPr>
          <a:lstStyle/>
          <a:p>
            <a:pPr algn="ctr"/>
            <a:r>
              <a:rPr sz="1600" b="0" i="0" u="none">
                <a:solidFill>
                  <a:srgbClr val="0070C0"/>
                </a:solidFill>
                <a:latin typeface="Calibri"/>
              </a:rPr>
              <a:t>61</a:t>
            </a:r>
          </a:p>
        </p:txBody>
      </p:sp>
      <p:sp>
        <p:nvSpPr>
          <p:cNvPr id="42" name="TextBox 41"/>
          <p:cNvSpPr txBox="1"/>
          <p:nvPr/>
        </p:nvSpPr>
        <p:spPr>
          <a:xfrm>
            <a:off x="6115757" y="5769864"/>
            <a:ext cx="282702" cy="274320"/>
          </a:xfrm>
          <a:prstGeom prst="rect">
            <a:avLst/>
          </a:prstGeom>
          <a:noFill/>
        </p:spPr>
        <p:txBody>
          <a:bodyPr wrap="none" lIns="0" tIns="0" rIns="0" bIns="0">
            <a:spAutoFit/>
          </a:bodyPr>
          <a:lstStyle/>
          <a:p>
            <a:pPr algn="ctr"/>
            <a:r>
              <a:rPr sz="1600" b="1" i="0" u="none">
                <a:solidFill>
                  <a:srgbClr val="0B2B4E"/>
                </a:solidFill>
                <a:latin typeface="Calibri"/>
              </a:rPr>
              <a:t>90</a:t>
            </a:r>
          </a:p>
        </p:txBody>
      </p:sp>
      <p:sp>
        <p:nvSpPr>
          <p:cNvPr id="43" name="TextBox 42"/>
          <p:cNvSpPr txBox="1"/>
          <p:nvPr/>
        </p:nvSpPr>
        <p:spPr>
          <a:xfrm>
            <a:off x="6585884" y="5769864"/>
            <a:ext cx="387477" cy="274320"/>
          </a:xfrm>
          <a:prstGeom prst="rect">
            <a:avLst/>
          </a:prstGeom>
          <a:noFill/>
        </p:spPr>
        <p:txBody>
          <a:bodyPr wrap="none" lIns="0" tIns="0" rIns="0" bIns="0">
            <a:spAutoFit/>
          </a:bodyPr>
          <a:lstStyle/>
          <a:p>
            <a:pPr algn="ctr"/>
            <a:r>
              <a:rPr sz="1600" b="0" i="0" u="none">
                <a:solidFill>
                  <a:srgbClr val="0B2B4E"/>
                </a:solidFill>
                <a:latin typeface="Calibri"/>
              </a:rPr>
              <a:t>100</a:t>
            </a:r>
          </a:p>
        </p:txBody>
      </p:sp>
      <p:grpSp>
        <p:nvGrpSpPr>
          <p:cNvPr id="150" name="sdpair:box:150"/>
          <p:cNvGrpSpPr/>
          <p:nvPr/>
        </p:nvGrpSpPr>
        <p:grpSpPr>
          <a:xfrm>
            <a:off x="7863840" y="1691640"/>
            <a:ext cx="3977639" cy="2286000"/>
            <a:chOff x="7863840" y="1691640"/>
            <a:chExt cx="3977639" cy="2286000"/>
          </a:xfrm>
        </p:grpSpPr>
        <p:sp>
          <p:nvSpPr>
            <p:cNvPr id="44" name="Rounded Rectangle 43"/>
            <p:cNvSpPr/>
            <p:nvPr/>
          </p:nvSpPr>
          <p:spPr>
            <a:xfrm>
              <a:off x="7863840" y="1691640"/>
              <a:ext cx="3977639" cy="2286000"/>
            </a:xfrm>
            <a:prstGeom prst="roundRect">
              <a:avLst>
                <a:gd name="adj" fmla="val 12000"/>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0" y="1801368"/>
              <a:ext cx="3611879" cy="2066544"/>
            </a:xfrm>
            <a:prstGeom prst="rect">
              <a:avLst/>
            </a:prstGeom>
            <a:noFill/>
          </p:spPr>
          <p:txBody>
            <a:bodyPr wrap="square" lIns="45720" tIns="0" rIns="45720" bIns="0" anchor="ctr">
              <a:spAutoFit/>
            </a:bodyPr>
            <a:lstStyle/>
            <a:p>
              <a:pPr algn="l">
                <a:lnSpc>
                  <a:spcPct val="110000"/>
                </a:lnSpc>
              </a:pPr>
              <a:r>
                <a:rPr sz="1800" b="0" i="0" u="none">
                  <a:solidFill>
                    <a:srgbClr val="0B2B4E"/>
                  </a:solidFill>
                  <a:latin typeface="Calibri"/>
                </a:rPr>
                <a:t>Suppose Firms A and B start at a price of $40, where each supplies Q=30</a:t>
              </a:r>
            </a:p>
            <a:p>
              <a:pPr algn="l">
                <a:lnSpc>
                  <a:spcPct val="110000"/>
                </a:lnSpc>
              </a:pPr>
              <a:r>
                <a:rPr sz="1800" b="1" i="0" u="none">
                  <a:solidFill>
                    <a:srgbClr val="0B2B4E"/>
                  </a:solidFill>
                  <a:latin typeface="Calibri"/>
                </a:rPr>
                <a:t>A believes that B will maintain its price. What will A do? How will B respond?</a:t>
              </a:r>
            </a:p>
          </p:txBody>
        </p:sp>
      </p:grpSp>
      <p:sp>
        <p:nvSpPr>
          <p:cNvPr id="46" name="Rounded Rectangle 45"/>
          <p:cNvSpPr/>
          <p:nvPr/>
        </p:nvSpPr>
        <p:spPr>
          <a:xfrm>
            <a:off x="7863840" y="4846320"/>
            <a:ext cx="3977639" cy="1143000"/>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0B2B4E"/>
                </a:solidFill>
                <a:latin typeface="Calibri"/>
              </a:rPr>
              <a:t>→  A and B will continue to lower their price until they reach P = MC</a:t>
            </a:r>
          </a:p>
        </p:txBody>
      </p:sp>
      <p:sp>
        <p:nvSpPr>
          <p:cNvPr id="47" name="Rectangle 4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50" name="TextBox 49"/>
          <p:cNvSpPr txBox="1"/>
          <p:nvPr/>
        </p:nvSpPr>
        <p:spPr>
          <a:xfrm>
            <a:off x="11475720" y="6583680"/>
            <a:ext cx="502920" cy="292608"/>
          </a:xfrm>
          <a:prstGeom prst="rect">
            <a:avLst/>
          </a:prstGeom>
          <a:noFill/>
        </p:spPr>
        <p:txBody>
          <a:bodyPr wrap="none" lIns="0" tIns="0" rIns="0" bIns="0">
            <a:spAutoFit/>
          </a:bodyPr>
          <a:lstStyle/>
          <a:p>
            <a:pPr algn="r"/>
            <a:fld id="{2B5B4370-7704-5A3F-BB10-FD5703AAD1AC}" type="slidenum">
              <a:rPr lang="en-US" sz="1200" dirty="0">
                <a:solidFill>
                  <a:srgbClr val="555B66"/>
                </a:solidFill>
                <a:latin typeface="Calibri"/>
              </a:rPr>
              <a:t>5</a:t>
            </a:fld>
            <a:endParaRPr lang="en-US" sz="1200" dirty="0">
              <a:solidFill>
                <a:srgbClr val="555B66"/>
              </a:solidFill>
              <a:latin typeface="Calibri"/>
            </a:endParaRPr>
          </a:p>
        </p:txBody>
      </p:sp>
      <p:cxnSp>
        <p:nvCxnSpPr>
          <p:cNvPr id="51" name="Connector 25">
            <a:extLst>
              <a:ext uri="{FF2B5EF4-FFF2-40B4-BE49-F238E27FC236}">
                <a16:creationId xmlns:a16="http://schemas.microsoft.com/office/drawing/2014/main" id="{3EBF48E6-5551-DE97-3AEA-3CC5164274D3}"/>
              </a:ext>
            </a:extLst>
          </p:cNvPr>
          <p:cNvCxnSpPr/>
          <p:nvPr/>
        </p:nvCxnSpPr>
        <p:spPr>
          <a:xfrm>
            <a:off x="4752024" y="4309859"/>
            <a:ext cx="185083" cy="122907"/>
          </a:xfrm>
          <a:prstGeom prst="line">
            <a:avLst/>
          </a:prstGeom>
          <a:ln w="28575">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0"/>
                                        </p:tgtEl>
                                        <p:attrNameLst>
                                          <p:attrName>style.visibility</p:attrName>
                                        </p:attrNameLst>
                                      </p:cBhvr>
                                      <p:to>
                                        <p:strVal val="visible"/>
                                      </p:to>
                                    </p:set>
                                    <p:animEffect transition="in" filter="fade">
                                      <p:cBhvr>
                                        <p:cTn id="32" dur="500"/>
                                        <p:tgtEl>
                                          <p:spTgt spid="1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par>
                                <p:cTn id="47" presetID="10"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500"/>
                                        <p:tgtEl>
                                          <p:spTgt spid="37"/>
                                        </p:tgtEl>
                                      </p:cBhvr>
                                    </p:animEffect>
                                  </p:childTnLst>
                                </p:cTn>
                              </p:par>
                              <p:par>
                                <p:cTn id="64" presetID="1" presetClass="entr" presetSubtype="0" fill="hold" nodeType="withEffect">
                                  <p:stCondLst>
                                    <p:cond delay="0"/>
                                  </p:stCondLst>
                                  <p:childTnLst>
                                    <p:set>
                                      <p:cBhvr>
                                        <p:cTn id="65" dur="1" fill="hold">
                                          <p:stCondLst>
                                            <p:cond delay="0"/>
                                          </p:stCondLst>
                                        </p:cTn>
                                        <p:tgtEl>
                                          <p:spTgt spid="51"/>
                                        </p:tgtEl>
                                        <p:attrNameLst>
                                          <p:attrName>style.visibility</p:attrName>
                                        </p:attrNameLst>
                                      </p:cBhvr>
                                      <p:to>
                                        <p:strVal val="visible"/>
                                      </p:to>
                                    </p:set>
                                  </p:childTnLst>
                                </p:cTn>
                              </p:par>
                              <p:par>
                                <p:cTn id="66" presetID="10" presetClass="entr" presetSubtype="0" fill="hold"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500"/>
                                        <p:tgtEl>
                                          <p:spTgt spid="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fade">
                                      <p:cBhvr>
                                        <p:cTn id="73" dur="500"/>
                                        <p:tgtEl>
                                          <p:spTgt spid="8"/>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fade">
                                      <p:cBhvr>
                                        <p:cTn id="79" dur="500"/>
                                        <p:tgtEl>
                                          <p:spTgt spid="9"/>
                                        </p:tgtEl>
                                      </p:cBhvr>
                                    </p:animEffect>
                                  </p:childTnLst>
                                </p:cTn>
                              </p:par>
                              <p:par>
                                <p:cTn id="80" presetID="10" presetClass="entr" presetSubtype="0"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5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500"/>
                                        <p:tgtEl>
                                          <p:spTgt spid="3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par>
                                <p:cTn id="94" presetID="10" presetClass="entr" presetSubtype="0" fill="hold" nodeType="withEffect">
                                  <p:stCondLst>
                                    <p:cond delay="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500"/>
                                        <p:tgtEl>
                                          <p:spTgt spid="46"/>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Oligopoly Outcomes: Comparison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417320"/>
            <a:ext cx="694944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sdaxis:y"/>
          <p:cNvCxnSpPr/>
          <p:nvPr/>
        </p:nvCxnSpPr>
        <p:spPr>
          <a:xfrm flipV="1">
            <a:off x="1554480" y="1664208"/>
            <a:ext cx="0" cy="405079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554480" y="5715000"/>
            <a:ext cx="56509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1347978" y="1524762"/>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1" name="sdaxistitle:x"/>
          <p:cNvSpPr txBox="1"/>
          <p:nvPr/>
        </p:nvSpPr>
        <p:spPr>
          <a:xfrm>
            <a:off x="7129272" y="5760720"/>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cxnSp>
        <p:nvCxnSpPr>
          <p:cNvPr id="12" name="Connector 11"/>
          <p:cNvCxnSpPr/>
          <p:nvPr/>
        </p:nvCxnSpPr>
        <p:spPr>
          <a:xfrm>
            <a:off x="1554480" y="2245178"/>
            <a:ext cx="4898571" cy="3469822"/>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1664208" y="2060143"/>
                <a:ext cx="1828800" cy="365760"/>
              </a:xfrm>
              <a:prstGeom prst="rect">
                <a:avLst/>
              </a:prstGeom>
              <a:noFill/>
            </p:spPr>
            <p:txBody>
              <a:bodyPr wrap="square" anchor="ctr">
                <a:spAutoFit/>
              </a:bodyPr>
              <a:lstStyle/>
              <a:p>
                <a:pPr algn="ctr">
                  <a:defRPr sz="1600" b="0" i="1">
                    <a:solidFill>
                      <a:srgbClr val="C00000"/>
                    </a:solidFill>
                    <a:latin typeface="Cambria Math"/>
                  </a:defRPr>
                </a:pPr>
                <a14:m>
                  <m:oMathPara xmlns:m="http://schemas.openxmlformats.org/officeDocument/2006/math">
                    <m:oMath>
                      <m:r>
                        <a:rPr lang="en-US" sz="1600" b="0" i="1">
                          <a:solidFill>
                            <a:srgbClr val="C00000"/>
                          </a:solidFill>
                          <a:latin typeface="Cambria Math"/>
                          <a:ea typeface="Cambria Math"/>
                        </a:rPr>
                        <m:t>𝑃</m:t>
                      </m:r>
                      <m:r>
                        <a:rPr lang="en-US" sz="1600" b="0" i="0">
                          <a:solidFill>
                            <a:srgbClr val="C00000"/>
                          </a:solidFill>
                          <a:latin typeface="Cambria Math"/>
                        </a:rPr>
                        <m:t> = 100 − </m:t>
                      </m:r>
                      <m:sSub>
                        <m:sSubPr>
                          <m:ctrlPr>
                            <a:rPr lang="en-US" sz="1600" b="0" i="1">
                              <a:solidFill>
                                <a:srgbClr val="C00000"/>
                              </a:solidFill>
                              <a:latin typeface="Cambria Math"/>
                              <a:ea typeface="Cambria Math"/>
                            </a:rPr>
                          </m:ctrlPr>
                        </m:sSubPr>
                        <m:e>
                          <m:r>
                            <a:rPr lang="en-US" sz="1600" b="0" i="1">
                              <a:solidFill>
                                <a:srgbClr val="C00000"/>
                              </a:solidFill>
                              <a:latin typeface="Cambria Math"/>
                              <a:ea typeface="Cambria Math"/>
                            </a:rPr>
                            <m:t>𝑄</m:t>
                          </m:r>
                        </m:e>
                        <m:sub>
                          <m:r>
                            <m:rPr>
                              <m:sty m:val="p"/>
                            </m:rPr>
                            <a:rPr lang="en-US" sz="1600" b="0" i="0">
                              <a:solidFill>
                                <a:srgbClr val="C00000"/>
                              </a:solidFill>
                              <a:latin typeface="Cambria Math"/>
                            </a:rPr>
                            <m:t>M</m:t>
                          </m:r>
                        </m:sub>
                      </m:sSub>
                    </m:oMath>
                  </m:oMathPara>
                </a14:m>
                <a:endParaRPr lang="en-US" sz="1600"/>
              </a:p>
            </p:txBody>
          </p:sp>
        </mc:Choice>
        <mc:Fallback xmlns="">
          <p:sp>
            <p:nvSpPr>
              <p:cNvPr id="13" name="TextBox 12"/>
              <p:cNvSpPr txBox="1">
                <a:spLocks noRot="1" noChangeAspect="1" noMove="1" noResize="1" noEditPoints="1" noAdjustHandles="1" noChangeArrowheads="1" noChangeShapeType="1" noTextEdit="1"/>
              </p:cNvSpPr>
              <p:nvPr/>
            </p:nvSpPr>
            <p:spPr>
              <a:xfrm>
                <a:off x="1664208" y="2060143"/>
                <a:ext cx="1828800" cy="365760"/>
              </a:xfrm>
              <a:prstGeom prst="rect">
                <a:avLst/>
              </a:prstGeom>
              <a:blipFill>
                <a:blip r:embed="rId3"/>
                <a:stretch>
                  <a:fillRect b="-3333"/>
                </a:stretch>
              </a:blipFill>
            </p:spPr>
            <p:txBody>
              <a:bodyPr/>
              <a:lstStyle/>
              <a:p>
                <a:r>
                  <a:rPr lang="en-US">
                    <a:noFill/>
                  </a:rPr>
                  <a:t> </a:t>
                </a:r>
              </a:p>
            </p:txBody>
          </p:sp>
        </mc:Fallback>
      </mc:AlternateContent>
      <p:cxnSp>
        <p:nvCxnSpPr>
          <p:cNvPr id="14" name="Connector 13"/>
          <p:cNvCxnSpPr/>
          <p:nvPr/>
        </p:nvCxnSpPr>
        <p:spPr>
          <a:xfrm>
            <a:off x="1554480" y="2245178"/>
            <a:ext cx="2449285" cy="3469822"/>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72384" y="4992624"/>
            <a:ext cx="358902" cy="274320"/>
          </a:xfrm>
          <a:prstGeom prst="rect">
            <a:avLst/>
          </a:prstGeom>
          <a:noFill/>
        </p:spPr>
        <p:txBody>
          <a:bodyPr wrap="square" lIns="0" tIns="0" rIns="0" bIns="0">
            <a:spAutoFit/>
          </a:bodyPr>
          <a:lstStyle/>
          <a:p>
            <a:pPr algn="l"/>
            <a:r>
              <a:rPr sz="1600" b="1" i="0" u="none">
                <a:solidFill>
                  <a:srgbClr val="C00000"/>
                </a:solidFill>
                <a:latin typeface="Calibri"/>
              </a:rPr>
              <a:t>MR</a:t>
            </a:r>
          </a:p>
        </p:txBody>
      </p:sp>
      <p:cxnSp>
        <p:nvCxnSpPr>
          <p:cNvPr id="16" name="Connector 15"/>
          <p:cNvCxnSpPr/>
          <p:nvPr/>
        </p:nvCxnSpPr>
        <p:spPr>
          <a:xfrm>
            <a:off x="1554480" y="5368017"/>
            <a:ext cx="5143500"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2493" y="5039258"/>
            <a:ext cx="349377" cy="274320"/>
          </a:xfrm>
          <a:prstGeom prst="rect">
            <a:avLst/>
          </a:prstGeom>
          <a:noFill/>
        </p:spPr>
        <p:txBody>
          <a:bodyPr wrap="square" lIns="0" tIns="0" rIns="0" bIns="0">
            <a:spAutoFit/>
          </a:bodyPr>
          <a:lstStyle/>
          <a:p>
            <a:pPr algn="ctr"/>
            <a:r>
              <a:rPr sz="1600" b="1" i="0" u="none">
                <a:solidFill>
                  <a:srgbClr val="0B2B4E"/>
                </a:solidFill>
                <a:latin typeface="Calibri"/>
              </a:rPr>
              <a:t>MC</a:t>
            </a:r>
          </a:p>
        </p:txBody>
      </p:sp>
      <p:cxnSp>
        <p:nvCxnSpPr>
          <p:cNvPr id="18" name="Connector 17"/>
          <p:cNvCxnSpPr/>
          <p:nvPr/>
        </p:nvCxnSpPr>
        <p:spPr>
          <a:xfrm>
            <a:off x="1554480" y="3806598"/>
            <a:ext cx="2204357"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758837" y="3806598"/>
            <a:ext cx="0" cy="1908402"/>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708545" y="3756306"/>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554480" y="4327071"/>
            <a:ext cx="2939142"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93622" y="4327071"/>
            <a:ext cx="0" cy="1387929"/>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443330" y="4276779"/>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554480" y="5368017"/>
            <a:ext cx="4408714"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52500" y="2117162"/>
            <a:ext cx="492252" cy="274320"/>
          </a:xfrm>
          <a:prstGeom prst="rect">
            <a:avLst/>
          </a:prstGeom>
          <a:noFill/>
        </p:spPr>
        <p:txBody>
          <a:bodyPr wrap="none" lIns="0" tIns="0" rIns="0" bIns="0">
            <a:spAutoFit/>
          </a:bodyPr>
          <a:lstStyle/>
          <a:p>
            <a:pPr algn="r"/>
            <a:r>
              <a:rPr sz="1600" b="0" i="0" u="none">
                <a:solidFill>
                  <a:srgbClr val="0B2B4E"/>
                </a:solidFill>
                <a:latin typeface="Calibri"/>
              </a:rPr>
              <a:t>$100</a:t>
            </a:r>
          </a:p>
        </p:txBody>
      </p:sp>
      <p:sp>
        <p:nvSpPr>
          <p:cNvPr id="26" name="TextBox 25"/>
          <p:cNvSpPr txBox="1"/>
          <p:nvPr/>
        </p:nvSpPr>
        <p:spPr>
          <a:xfrm>
            <a:off x="1057275" y="3678582"/>
            <a:ext cx="387477" cy="274320"/>
          </a:xfrm>
          <a:prstGeom prst="rect">
            <a:avLst/>
          </a:prstGeom>
          <a:noFill/>
        </p:spPr>
        <p:txBody>
          <a:bodyPr wrap="none" lIns="0" tIns="0" rIns="0" bIns="0">
            <a:spAutoFit/>
          </a:bodyPr>
          <a:lstStyle/>
          <a:p>
            <a:pPr algn="r"/>
            <a:r>
              <a:rPr sz="1600" b="1" i="0" u="none">
                <a:solidFill>
                  <a:srgbClr val="0B2B4E"/>
                </a:solidFill>
                <a:latin typeface="Calibri"/>
              </a:rPr>
              <a:t>$55</a:t>
            </a:r>
          </a:p>
        </p:txBody>
      </p:sp>
      <p:sp>
        <p:nvSpPr>
          <p:cNvPr id="27" name="TextBox 26"/>
          <p:cNvSpPr txBox="1"/>
          <p:nvPr/>
        </p:nvSpPr>
        <p:spPr>
          <a:xfrm>
            <a:off x="1057275" y="4199055"/>
            <a:ext cx="387477" cy="274320"/>
          </a:xfrm>
          <a:prstGeom prst="rect">
            <a:avLst/>
          </a:prstGeom>
          <a:noFill/>
        </p:spPr>
        <p:txBody>
          <a:bodyPr wrap="none" lIns="0" tIns="0" rIns="0" bIns="0">
            <a:spAutoFit/>
          </a:bodyPr>
          <a:lstStyle/>
          <a:p>
            <a:pPr algn="r"/>
            <a:r>
              <a:rPr sz="1600" b="1" i="0" u="none">
                <a:solidFill>
                  <a:srgbClr val="0B2B4E"/>
                </a:solidFill>
                <a:latin typeface="Calibri"/>
              </a:rPr>
              <a:t>$40</a:t>
            </a:r>
          </a:p>
        </p:txBody>
      </p:sp>
      <p:sp>
        <p:nvSpPr>
          <p:cNvPr id="28" name="TextBox 27"/>
          <p:cNvSpPr txBox="1"/>
          <p:nvPr/>
        </p:nvSpPr>
        <p:spPr>
          <a:xfrm>
            <a:off x="1057275" y="5240001"/>
            <a:ext cx="387477" cy="274320"/>
          </a:xfrm>
          <a:prstGeom prst="rect">
            <a:avLst/>
          </a:prstGeom>
          <a:noFill/>
        </p:spPr>
        <p:txBody>
          <a:bodyPr wrap="none" lIns="0" tIns="0" rIns="0" bIns="0">
            <a:spAutoFit/>
          </a:bodyPr>
          <a:lstStyle/>
          <a:p>
            <a:pPr algn="r"/>
            <a:r>
              <a:rPr sz="1600" b="0" i="0" u="none">
                <a:solidFill>
                  <a:srgbClr val="0B2B4E"/>
                </a:solidFill>
                <a:latin typeface="Calibri"/>
              </a:rPr>
              <a:t>$10</a:t>
            </a:r>
          </a:p>
        </p:txBody>
      </p:sp>
      <p:sp>
        <p:nvSpPr>
          <p:cNvPr id="29" name="TextBox 28"/>
          <p:cNvSpPr txBox="1"/>
          <p:nvPr/>
        </p:nvSpPr>
        <p:spPr>
          <a:xfrm>
            <a:off x="3617486" y="5769864"/>
            <a:ext cx="282702" cy="274320"/>
          </a:xfrm>
          <a:prstGeom prst="rect">
            <a:avLst/>
          </a:prstGeom>
          <a:noFill/>
        </p:spPr>
        <p:txBody>
          <a:bodyPr wrap="none" lIns="0" tIns="0" rIns="0" bIns="0">
            <a:spAutoFit/>
          </a:bodyPr>
          <a:lstStyle/>
          <a:p>
            <a:pPr algn="ctr"/>
            <a:r>
              <a:rPr sz="1600" b="0" i="0" u="none">
                <a:solidFill>
                  <a:srgbClr val="0B2B4E"/>
                </a:solidFill>
                <a:latin typeface="Calibri"/>
              </a:rPr>
              <a:t>45</a:t>
            </a:r>
          </a:p>
        </p:txBody>
      </p:sp>
      <p:sp>
        <p:nvSpPr>
          <p:cNvPr id="30" name="TextBox 29"/>
          <p:cNvSpPr txBox="1"/>
          <p:nvPr/>
        </p:nvSpPr>
        <p:spPr>
          <a:xfrm>
            <a:off x="4352271" y="5769864"/>
            <a:ext cx="282702" cy="274320"/>
          </a:xfrm>
          <a:prstGeom prst="rect">
            <a:avLst/>
          </a:prstGeom>
          <a:noFill/>
        </p:spPr>
        <p:txBody>
          <a:bodyPr wrap="none" lIns="0" tIns="0" rIns="0" bIns="0">
            <a:spAutoFit/>
          </a:bodyPr>
          <a:lstStyle/>
          <a:p>
            <a:pPr algn="ctr"/>
            <a:r>
              <a:rPr sz="1600" b="0" i="0" u="none">
                <a:solidFill>
                  <a:srgbClr val="0B2B4E"/>
                </a:solidFill>
                <a:latin typeface="Calibri"/>
              </a:rPr>
              <a:t>60</a:t>
            </a:r>
          </a:p>
        </p:txBody>
      </p:sp>
      <p:sp>
        <p:nvSpPr>
          <p:cNvPr id="31" name="TextBox 30"/>
          <p:cNvSpPr txBox="1"/>
          <p:nvPr/>
        </p:nvSpPr>
        <p:spPr>
          <a:xfrm>
            <a:off x="6208776" y="5769864"/>
            <a:ext cx="493776" cy="246888"/>
          </a:xfrm>
          <a:prstGeom prst="rect">
            <a:avLst/>
          </a:prstGeom>
          <a:noFill/>
        </p:spPr>
        <p:txBody>
          <a:bodyPr wrap="square" lIns="0" tIns="0" rIns="0" bIns="0">
            <a:spAutoFit/>
          </a:bodyPr>
          <a:lstStyle/>
          <a:p>
            <a:pPr algn="ctr"/>
            <a:r>
              <a:rPr sz="1600" b="0" i="0" u="none">
                <a:solidFill>
                  <a:srgbClr val="0B2B4E"/>
                </a:solidFill>
                <a:latin typeface="Calibri"/>
              </a:rPr>
              <a:t>100</a:t>
            </a:r>
          </a:p>
        </p:txBody>
      </p:sp>
      <p:sp>
        <p:nvSpPr>
          <p:cNvPr id="32" name="TextBox 31"/>
          <p:cNvSpPr txBox="1"/>
          <p:nvPr/>
        </p:nvSpPr>
        <p:spPr>
          <a:xfrm>
            <a:off x="4258360" y="2121408"/>
            <a:ext cx="2828239" cy="256032"/>
          </a:xfrm>
          <a:prstGeom prst="rect">
            <a:avLst/>
          </a:prstGeom>
          <a:noFill/>
        </p:spPr>
        <p:txBody>
          <a:bodyPr wrap="square" lIns="0" tIns="0" rIns="0" bIns="0">
            <a:spAutoFit/>
          </a:bodyPr>
          <a:lstStyle/>
          <a:p>
            <a:pPr algn="l"/>
            <a:r>
              <a:rPr sz="1600" b="1" i="0" u="none">
                <a:solidFill>
                  <a:srgbClr val="0B2B4E"/>
                </a:solidFill>
                <a:latin typeface="Calibri"/>
              </a:rPr>
              <a:t>Monopoly Equilibrium</a:t>
            </a:r>
          </a:p>
        </p:txBody>
      </p:sp>
      <p:sp>
        <p:nvSpPr>
          <p:cNvPr id="33" name="TextBox 32"/>
          <p:cNvSpPr txBox="1"/>
          <p:nvPr/>
        </p:nvSpPr>
        <p:spPr>
          <a:xfrm>
            <a:off x="4258360" y="2395728"/>
            <a:ext cx="2870301" cy="245973"/>
          </a:xfrm>
          <a:prstGeom prst="rect">
            <a:avLst/>
          </a:prstGeom>
          <a:noFill/>
        </p:spPr>
        <p:txBody>
          <a:bodyPr wrap="square" lIns="0" tIns="0" rIns="0" bIns="0">
            <a:spAutoFit/>
          </a:bodyPr>
          <a:lstStyle/>
          <a:p>
            <a:pPr algn="l"/>
            <a:r>
              <a:rPr sz="1600" b="0" i="0" u="none">
                <a:solidFill>
                  <a:srgbClr val="0B2B4E"/>
                </a:solidFill>
                <a:latin typeface="Calibri"/>
              </a:rPr>
              <a:t>(also collusive/cartel equilibrium)</a:t>
            </a:r>
          </a:p>
        </p:txBody>
      </p:sp>
      <p:cxnSp>
        <p:nvCxnSpPr>
          <p:cNvPr id="34" name="Connector 33"/>
          <p:cNvCxnSpPr/>
          <p:nvPr/>
        </p:nvCxnSpPr>
        <p:spPr>
          <a:xfrm flipH="1">
            <a:off x="3850538" y="2770632"/>
            <a:ext cx="735178" cy="985723"/>
          </a:xfrm>
          <a:prstGeom prst="line">
            <a:avLst/>
          </a:prstGeom>
          <a:ln w="12700">
            <a:solidFill>
              <a:srgbClr val="0B2B4E"/>
            </a:solidFill>
            <a:tailEnd type="triangle" w="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15560" y="3621938"/>
            <a:ext cx="2080260" cy="245973"/>
          </a:xfrm>
          <a:prstGeom prst="rect">
            <a:avLst/>
          </a:prstGeom>
          <a:noFill/>
        </p:spPr>
        <p:txBody>
          <a:bodyPr wrap="square" lIns="0" tIns="0" rIns="0" bIns="0">
            <a:spAutoFit/>
          </a:bodyPr>
          <a:lstStyle/>
          <a:p>
            <a:pPr algn="l"/>
            <a:r>
              <a:rPr sz="1600" b="1" i="0" u="none">
                <a:solidFill>
                  <a:srgbClr val="0B2B4E"/>
                </a:solidFill>
                <a:latin typeface="Calibri"/>
              </a:rPr>
              <a:t>Cournot Equilibrium</a:t>
            </a:r>
          </a:p>
        </p:txBody>
      </p:sp>
      <p:cxnSp>
        <p:nvCxnSpPr>
          <p:cNvPr id="36" name="Connector 35"/>
          <p:cNvCxnSpPr/>
          <p:nvPr/>
        </p:nvCxnSpPr>
        <p:spPr>
          <a:xfrm flipH="1">
            <a:off x="4529023" y="3925519"/>
            <a:ext cx="695858" cy="367589"/>
          </a:xfrm>
          <a:prstGeom prst="line">
            <a:avLst/>
          </a:prstGeom>
          <a:ln w="12700">
            <a:solidFill>
              <a:srgbClr val="0B2B4E"/>
            </a:solidFill>
            <a:tailEnd type="triangle" w="sm"/>
          </a:ln>
        </p:spPr>
        <p:style>
          <a:lnRef idx="2">
            <a:schemeClr val="accent1"/>
          </a:lnRef>
          <a:fillRef idx="0">
            <a:schemeClr val="accent1"/>
          </a:fillRef>
          <a:effectRef idx="1">
            <a:schemeClr val="accent1"/>
          </a:effectRef>
          <a:fontRef idx="minor">
            <a:schemeClr val="tx1"/>
          </a:fontRef>
        </p:style>
      </p:cxnSp>
      <p:grpSp>
        <p:nvGrpSpPr>
          <p:cNvPr id="44" name="BertrandCluster 44"/>
          <p:cNvGrpSpPr/>
          <p:nvPr/>
        </p:nvGrpSpPr>
        <p:grpSpPr>
          <a:xfrm>
            <a:off x="5821843" y="4050791"/>
            <a:ext cx="5900765" cy="1993393"/>
            <a:chOff x="5821843" y="4050791"/>
            <a:chExt cx="5900765" cy="1993393"/>
          </a:xfrm>
        </p:grpSpPr>
        <p:cxnSp>
          <p:nvCxnSpPr>
            <p:cNvPr id="37" name="Connector 36"/>
            <p:cNvCxnSpPr/>
            <p:nvPr/>
          </p:nvCxnSpPr>
          <p:spPr>
            <a:xfrm>
              <a:off x="5963194" y="5368017"/>
              <a:ext cx="0" cy="346983"/>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5912902" y="5317725"/>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821843" y="5769864"/>
              <a:ext cx="282702" cy="274320"/>
            </a:xfrm>
            <a:prstGeom prst="rect">
              <a:avLst/>
            </a:prstGeom>
            <a:noFill/>
          </p:spPr>
          <p:txBody>
            <a:bodyPr wrap="none" lIns="0" tIns="0" rIns="0" bIns="0">
              <a:spAutoFit/>
            </a:bodyPr>
            <a:lstStyle/>
            <a:p>
              <a:pPr algn="ctr"/>
              <a:r>
                <a:rPr sz="1600" b="0" i="0" u="none">
                  <a:solidFill>
                    <a:srgbClr val="0B2B4E"/>
                  </a:solidFill>
                  <a:latin typeface="Calibri"/>
                </a:rPr>
                <a:t>90</a:t>
              </a:r>
            </a:p>
          </p:txBody>
        </p:sp>
        <p:sp>
          <p:nvSpPr>
            <p:cNvPr id="40" name="TextBox 39"/>
            <p:cNvSpPr txBox="1"/>
            <p:nvPr/>
          </p:nvSpPr>
          <p:spPr>
            <a:xfrm>
              <a:off x="7333488" y="4050791"/>
              <a:ext cx="4389120" cy="292608"/>
            </a:xfrm>
            <a:prstGeom prst="rect">
              <a:avLst/>
            </a:prstGeom>
            <a:noFill/>
          </p:spPr>
          <p:txBody>
            <a:bodyPr wrap="square" lIns="0" tIns="0" rIns="0" bIns="0">
              <a:spAutoFit/>
            </a:bodyPr>
            <a:lstStyle/>
            <a:p>
              <a:pPr algn="l"/>
              <a:r>
                <a:rPr sz="1600" b="1" i="0" u="none">
                  <a:solidFill>
                    <a:srgbClr val="0B2B4E"/>
                  </a:solidFill>
                  <a:latin typeface="Calibri"/>
                </a:rPr>
                <a:t>Bertrand Equilibrium</a:t>
              </a:r>
            </a:p>
          </p:txBody>
        </p:sp>
        <p:sp>
          <p:nvSpPr>
            <p:cNvPr id="41" name="TextBox 40"/>
            <p:cNvSpPr txBox="1"/>
            <p:nvPr/>
          </p:nvSpPr>
          <p:spPr>
            <a:xfrm>
              <a:off x="7333488" y="4325112"/>
              <a:ext cx="4389120" cy="292608"/>
            </a:xfrm>
            <a:prstGeom prst="rect">
              <a:avLst/>
            </a:prstGeom>
            <a:noFill/>
          </p:spPr>
          <p:txBody>
            <a:bodyPr wrap="square" lIns="0" tIns="0" rIns="0" bIns="0">
              <a:spAutoFit/>
            </a:bodyPr>
            <a:lstStyle/>
            <a:p>
              <a:pPr algn="l"/>
              <a:r>
                <a:rPr sz="1600" b="0" i="0" u="none">
                  <a:solidFill>
                    <a:srgbClr val="0B2B4E"/>
                  </a:solidFill>
                  <a:latin typeface="Calibri"/>
                </a:rPr>
                <a:t>(same as Perfect Competition</a:t>
              </a:r>
            </a:p>
          </p:txBody>
        </p:sp>
        <p:sp>
          <p:nvSpPr>
            <p:cNvPr id="42" name="TextBox 41"/>
            <p:cNvSpPr txBox="1"/>
            <p:nvPr/>
          </p:nvSpPr>
          <p:spPr>
            <a:xfrm>
              <a:off x="7333488" y="4599432"/>
              <a:ext cx="4389120" cy="292608"/>
            </a:xfrm>
            <a:prstGeom prst="rect">
              <a:avLst/>
            </a:prstGeom>
            <a:noFill/>
          </p:spPr>
          <p:txBody>
            <a:bodyPr wrap="square" lIns="0" tIns="0" rIns="0" bIns="0">
              <a:spAutoFit/>
            </a:bodyPr>
            <a:lstStyle/>
            <a:p>
              <a:pPr algn="l"/>
              <a:r>
                <a:rPr sz="1600" b="0" i="0" u="none">
                  <a:solidFill>
                    <a:srgbClr val="0B2B4E"/>
                  </a:solidFill>
                  <a:latin typeface="Calibri"/>
                </a:rPr>
                <a:t>when both firms have same MC)</a:t>
              </a:r>
            </a:p>
          </p:txBody>
        </p:sp>
        <p:cxnSp>
          <p:nvCxnSpPr>
            <p:cNvPr id="43" name="Connector 42"/>
            <p:cNvCxnSpPr/>
            <p:nvPr/>
          </p:nvCxnSpPr>
          <p:spPr>
            <a:xfrm flipH="1">
              <a:off x="5985662" y="4251960"/>
              <a:ext cx="1251814" cy="1061618"/>
            </a:xfrm>
            <a:prstGeom prst="line">
              <a:avLst/>
            </a:prstGeom>
            <a:ln w="12700">
              <a:solidFill>
                <a:srgbClr val="0B2B4E"/>
              </a:solidFill>
              <a:tailEnd type="triangle" w="sm"/>
            </a:ln>
          </p:spPr>
          <p:style>
            <a:lnRef idx="2">
              <a:schemeClr val="accent1"/>
            </a:lnRef>
            <a:fillRef idx="0">
              <a:schemeClr val="accent1"/>
            </a:fillRef>
            <a:effectRef idx="1">
              <a:schemeClr val="accent1"/>
            </a:effectRef>
            <a:fontRef idx="minor">
              <a:schemeClr val="tx1"/>
            </a:fontRef>
          </p:style>
        </p:cxnSp>
      </p:grpSp>
      <p:sp>
        <p:nvSpPr>
          <p:cNvPr id="45" name="Rectangle 4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8" name="TextBox 47"/>
          <p:cNvSpPr txBox="1"/>
          <p:nvPr/>
        </p:nvSpPr>
        <p:spPr>
          <a:xfrm>
            <a:off x="11475720" y="6583680"/>
            <a:ext cx="502920" cy="292608"/>
          </a:xfrm>
          <a:prstGeom prst="rect">
            <a:avLst/>
          </a:prstGeom>
          <a:noFill/>
        </p:spPr>
        <p:txBody>
          <a:bodyPr wrap="none" lIns="0" tIns="0" rIns="0" bIns="0">
            <a:spAutoFit/>
          </a:bodyPr>
          <a:lstStyle/>
          <a:p>
            <a:pPr algn="r"/>
            <a:fld id="{13E27167-12E7-5B98-9571-2FFD3E6BA233}"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500"/>
                                        <p:tgtEl>
                                          <p:spTgt spid="35"/>
                                        </p:tgtEl>
                                      </p:cBhvr>
                                    </p:animEffect>
                                  </p:childTnLst>
                                </p:cTn>
                              </p:par>
                              <p:par>
                                <p:cTn id="82" presetID="10" presetClass="entr" presetSubtype="0" fill="hold"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5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fade">
                                      <p:cBhvr>
                                        <p:cTn id="9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Comparison of Outcomes: </a:t>
            </a:r>
            <a:r>
              <a:rPr lang="en-US" sz="3200" b="1" i="0" u="none" dirty="0">
                <a:solidFill>
                  <a:srgbClr val="0B2B4E"/>
                </a:solidFill>
                <a:latin typeface="Calibri"/>
              </a:rPr>
              <a:t>(The Numbers)</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3749039" y="1444752"/>
                <a:ext cx="4663440" cy="457200"/>
              </a:xfrm>
              <a:prstGeom prst="rect">
                <a:avLst/>
              </a:prstGeom>
              <a:noFill/>
            </p:spPr>
            <p:txBody>
              <a:bodyPr wrap="square" anchor="ctr">
                <a:spAutoFit/>
              </a:bodyPr>
              <a:lstStyle/>
              <a:p>
                <a:pPr algn="ctr">
                  <a:defRPr sz="2000" b="0" i="1">
                    <a:solidFill>
                      <a:srgbClr val="555B66"/>
                    </a:solidFill>
                    <a:latin typeface="Cambria Math"/>
                  </a:defRPr>
                </a:pPr>
                <a14:m>
                  <m:oMathPara xmlns:m="http://schemas.openxmlformats.org/officeDocument/2006/math">
                    <m:oMath>
                      <m:r>
                        <a:rPr lang="en-US" sz="2000" b="1" i="1">
                          <a:solidFill>
                            <a:srgbClr val="555B66"/>
                          </a:solidFill>
                          <a:latin typeface="Cambria Math"/>
                          <a:ea typeface="Cambria Math"/>
                        </a:rPr>
                        <m:t>𝑷</m:t>
                      </m:r>
                      <m:r>
                        <a:rPr lang="en-US" sz="2000" b="1" i="0">
                          <a:solidFill>
                            <a:srgbClr val="555B66"/>
                          </a:solidFill>
                          <a:latin typeface="Cambria Math"/>
                        </a:rPr>
                        <m:t> = </m:t>
                      </m:r>
                      <m:r>
                        <a:rPr lang="en-US" sz="2000" b="1" i="0">
                          <a:solidFill>
                            <a:srgbClr val="555B66"/>
                          </a:solidFill>
                          <a:latin typeface="Cambria Math"/>
                        </a:rPr>
                        <m:t>𝟏𝟎𝟎</m:t>
                      </m:r>
                      <m:r>
                        <a:rPr lang="en-US" sz="2000" b="1" i="0">
                          <a:solidFill>
                            <a:srgbClr val="555B66"/>
                          </a:solidFill>
                          <a:latin typeface="Cambria Math"/>
                        </a:rPr>
                        <m:t> − </m:t>
                      </m:r>
                      <m:r>
                        <a:rPr lang="en-US" sz="2000" b="1" i="1">
                          <a:solidFill>
                            <a:srgbClr val="555B66"/>
                          </a:solidFill>
                          <a:latin typeface="Cambria Math"/>
                          <a:ea typeface="Cambria Math"/>
                        </a:rPr>
                        <m:t>𝑸</m:t>
                      </m:r>
                      <m:r>
                        <a:rPr lang="en-US" sz="2000" b="1" i="0">
                          <a:solidFill>
                            <a:srgbClr val="555B66"/>
                          </a:solidFill>
                          <a:latin typeface="Cambria Math"/>
                        </a:rPr>
                        <m:t>   </m:t>
                      </m:r>
                      <m:r>
                        <a:rPr lang="en-US" sz="2000" b="1" i="0">
                          <a:solidFill>
                            <a:srgbClr val="555B66"/>
                          </a:solidFill>
                          <a:latin typeface="Cambria Math"/>
                        </a:rPr>
                        <m:t>𝐚𝐧𝐝</m:t>
                      </m:r>
                      <m:r>
                        <a:rPr lang="en-US" sz="2000" b="1" i="0">
                          <a:solidFill>
                            <a:srgbClr val="555B66"/>
                          </a:solidFill>
                          <a:latin typeface="Cambria Math"/>
                        </a:rPr>
                        <m:t>   </m:t>
                      </m:r>
                      <m:r>
                        <a:rPr lang="en-US" sz="2000" b="1" i="0">
                          <a:solidFill>
                            <a:srgbClr val="555B66"/>
                          </a:solidFill>
                          <a:latin typeface="Cambria Math"/>
                        </a:rPr>
                        <m:t>𝐌𝐂</m:t>
                      </m:r>
                      <m:r>
                        <a:rPr lang="en-US" sz="2000" b="1" i="0">
                          <a:solidFill>
                            <a:srgbClr val="555B66"/>
                          </a:solidFill>
                          <a:latin typeface="Cambria Math"/>
                        </a:rPr>
                        <m:t> = </m:t>
                      </m:r>
                      <m:r>
                        <a:rPr lang="en-US" sz="2000" b="1" i="0">
                          <a:solidFill>
                            <a:srgbClr val="555B66"/>
                          </a:solidFill>
                          <a:latin typeface="Cambria Math"/>
                        </a:rPr>
                        <m:t>𝟏𝟎</m:t>
                      </m:r>
                    </m:oMath>
                  </m:oMathPara>
                </a14:m>
                <a:endParaRPr lang="en-US" sz="2000"/>
              </a:p>
            </p:txBody>
          </p:sp>
        </mc:Choice>
        <mc:Fallback xmlns="">
          <p:sp>
            <p:nvSpPr>
              <p:cNvPr id="7" name="TextBox 6"/>
              <p:cNvSpPr txBox="1">
                <a:spLocks noRot="1" noChangeAspect="1" noMove="1" noResize="1" noEditPoints="1" noAdjustHandles="1" noChangeArrowheads="1" noChangeShapeType="1" noTextEdit="1"/>
              </p:cNvSpPr>
              <p:nvPr/>
            </p:nvSpPr>
            <p:spPr>
              <a:xfrm>
                <a:off x="3749039" y="1444752"/>
                <a:ext cx="4663440" cy="457200"/>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76072" y="2075688"/>
                <a:ext cx="8686800" cy="4251960"/>
              </a:xfrm>
              <a:prstGeom prst="rect">
                <a:avLst/>
              </a:prstGeom>
              <a:noFill/>
            </p:spPr>
            <p:txBody>
              <a:bodyPr wrap="square" lIns="45720" tIns="0" rIns="45720" bIns="0">
                <a:spAutoFit/>
              </a:bodyPr>
              <a:lstStyle/>
              <a:p>
                <a:r>
                  <a:rPr lang="en-US" sz="2400" b="1" dirty="0">
                    <a:solidFill>
                      <a:srgbClr val="0B2B4E"/>
                    </a:solidFill>
                    <a:latin typeface="Calibri"/>
                  </a:rPr>
                  <a:t>Monopoly:</a:t>
                </a:r>
                <a:endParaRPr lang="en-US" dirty="0"/>
              </a:p>
              <a:p>
                <a:pPr/>
                <a14:m>
                  <m:oMathPara xmlns:m="http://schemas.openxmlformats.org/officeDocument/2006/math">
                    <m:oMath>
                      <m:r>
                        <m:rPr>
                          <m:sty m:val="p"/>
                        </m:rPr>
                        <a:rPr lang="en-US" sz="2000" b="0" i="0">
                          <a:solidFill>
                            <a:srgbClr val="0B2B4E"/>
                          </a:solidFill>
                          <a:latin typeface="Cambria Math"/>
                        </a:rPr>
                        <m:t>TR</m:t>
                      </m:r>
                      <m:r>
                        <a:rPr lang="en-US" sz="2000" b="0" i="0">
                          <a:solidFill>
                            <a:srgbClr val="0B2B4E"/>
                          </a:solidFill>
                          <a:latin typeface="Cambria Math"/>
                        </a:rPr>
                        <m:t> = </m:t>
                      </m:r>
                      <m:r>
                        <a:rPr lang="en-US" sz="2000" b="0" i="1">
                          <a:solidFill>
                            <a:srgbClr val="0B2B4E"/>
                          </a:solidFill>
                          <a:latin typeface="Cambria Math"/>
                          <a:ea typeface="Cambria Math"/>
                        </a:rPr>
                        <m:t>𝑃</m:t>
                      </m:r>
                      <m:r>
                        <a:rPr lang="en-US" sz="2000" b="0" i="0">
                          <a:solidFill>
                            <a:srgbClr val="0B2B4E"/>
                          </a:solidFill>
                          <a:latin typeface="Cambria Math"/>
                        </a:rPr>
                        <m:t>·</m:t>
                      </m:r>
                      <m:r>
                        <a:rPr lang="en-US" sz="2000" b="0" i="1">
                          <a:solidFill>
                            <a:srgbClr val="0B2B4E"/>
                          </a:solidFill>
                          <a:latin typeface="Cambria Math"/>
                          <a:ea typeface="Cambria Math"/>
                        </a:rPr>
                        <m:t>𝑄</m:t>
                      </m:r>
                      <m:r>
                        <a:rPr lang="en-US" sz="2000" b="0" i="0">
                          <a:solidFill>
                            <a:srgbClr val="0B2B4E"/>
                          </a:solidFill>
                          <a:latin typeface="Cambria Math"/>
                        </a:rPr>
                        <m:t> = (100 − </m:t>
                      </m:r>
                      <m:r>
                        <a:rPr lang="en-US" sz="2000" b="0" i="1">
                          <a:solidFill>
                            <a:srgbClr val="0B2B4E"/>
                          </a:solidFill>
                          <a:latin typeface="Cambria Math"/>
                          <a:ea typeface="Cambria Math"/>
                        </a:rPr>
                        <m:t>𝑄</m:t>
                      </m:r>
                      <m:r>
                        <a:rPr lang="en-US" sz="2000" b="0" i="0">
                          <a:solidFill>
                            <a:srgbClr val="0B2B4E"/>
                          </a:solidFill>
                          <a:latin typeface="Cambria Math"/>
                        </a:rPr>
                        <m:t>)·</m:t>
                      </m:r>
                      <m:r>
                        <a:rPr lang="en-US" sz="2000" b="0" i="1">
                          <a:solidFill>
                            <a:srgbClr val="0B2B4E"/>
                          </a:solidFill>
                          <a:latin typeface="Cambria Math"/>
                          <a:ea typeface="Cambria Math"/>
                        </a:rPr>
                        <m:t>𝑄</m:t>
                      </m:r>
                      <m:r>
                        <a:rPr lang="en-US" sz="2000" b="0" i="0">
                          <a:solidFill>
                            <a:srgbClr val="0B2B4E"/>
                          </a:solidFill>
                          <a:latin typeface="Cambria Math"/>
                        </a:rPr>
                        <m:t> = 100</m:t>
                      </m:r>
                      <m:r>
                        <a:rPr lang="en-US" sz="2000" b="0" i="1">
                          <a:solidFill>
                            <a:srgbClr val="0B2B4E"/>
                          </a:solidFill>
                          <a:latin typeface="Cambria Math"/>
                          <a:ea typeface="Cambria Math"/>
                        </a:rPr>
                        <m:t>𝑄</m:t>
                      </m:r>
                      <m:r>
                        <a:rPr lang="en-US" sz="2000" b="0" i="0">
                          <a:solidFill>
                            <a:srgbClr val="0B2B4E"/>
                          </a:solidFill>
                          <a:latin typeface="Cambria Math"/>
                        </a:rPr>
                        <m:t> − </m:t>
                      </m:r>
                      <m:sSup>
                        <m:sSupPr>
                          <m:ctrlPr>
                            <a:rPr lang="en-US" sz="2000" b="0" i="1">
                              <a:solidFill>
                                <a:srgbClr val="0B2B4E"/>
                              </a:solidFill>
                              <a:latin typeface="Cambria Math"/>
                              <a:ea typeface="Cambria Math"/>
                            </a:rPr>
                          </m:ctrlPr>
                        </m:sSupPr>
                        <m:e>
                          <m:r>
                            <a:rPr lang="en-US" sz="2000" b="0" i="1">
                              <a:solidFill>
                                <a:srgbClr val="0B2B4E"/>
                              </a:solidFill>
                              <a:latin typeface="Cambria Math"/>
                              <a:ea typeface="Cambria Math"/>
                            </a:rPr>
                            <m:t>𝑄</m:t>
                          </m:r>
                        </m:e>
                        <m:sup>
                          <m:r>
                            <a:rPr lang="en-US" sz="2000" b="0" i="0">
                              <a:solidFill>
                                <a:srgbClr val="0B2B4E"/>
                              </a:solidFill>
                              <a:latin typeface="Cambria Math"/>
                            </a:rPr>
                            <m:t>2</m:t>
                          </m:r>
                        </m:sup>
                      </m:sSup>
                    </m:oMath>
                  </m:oMathPara>
                </a14:m>
                <a:endParaRPr lang="en-US" dirty="0"/>
              </a:p>
              <a:p>
                <a:pPr/>
                <a14:m>
                  <m:oMathPara xmlns:m="http://schemas.openxmlformats.org/officeDocument/2006/math">
                    <m:oMath>
                      <m:r>
                        <m:rPr>
                          <m:sty m:val="p"/>
                        </m:rPr>
                        <a:rPr lang="en-US" sz="2000" b="0" i="0">
                          <a:solidFill>
                            <a:srgbClr val="0B2B4E"/>
                          </a:solidFill>
                          <a:latin typeface="Cambria Math"/>
                        </a:rPr>
                        <m:t>MR</m:t>
                      </m:r>
                      <m:r>
                        <a:rPr lang="en-US" sz="2000" b="0" i="0">
                          <a:solidFill>
                            <a:srgbClr val="0B2B4E"/>
                          </a:solidFill>
                          <a:latin typeface="Cambria Math"/>
                        </a:rPr>
                        <m:t> = 100 − 2</m:t>
                      </m:r>
                      <m:r>
                        <a:rPr lang="en-US" sz="2000" b="0" i="1">
                          <a:solidFill>
                            <a:srgbClr val="0B2B4E"/>
                          </a:solidFill>
                          <a:latin typeface="Cambria Math"/>
                          <a:ea typeface="Cambria Math"/>
                        </a:rPr>
                        <m:t>𝑄</m:t>
                      </m:r>
                    </m:oMath>
                  </m:oMathPara>
                </a14:m>
                <a:endParaRPr lang="en-US" dirty="0"/>
              </a:p>
              <a:p>
                <a:pPr/>
                <a14:m>
                  <m:oMathPara xmlns:m="http://schemas.openxmlformats.org/officeDocument/2006/math">
                    <m:oMath>
                      <m:r>
                        <m:rPr>
                          <m:sty m:val="p"/>
                        </m:rPr>
                        <a:rPr lang="en-US" sz="2000" b="0" i="0">
                          <a:solidFill>
                            <a:srgbClr val="0B2B4E"/>
                          </a:solidFill>
                          <a:latin typeface="Cambria Math"/>
                        </a:rPr>
                        <m:t>MR</m:t>
                      </m:r>
                      <m:r>
                        <a:rPr lang="en-US" sz="2000" b="0" i="0">
                          <a:solidFill>
                            <a:srgbClr val="0B2B4E"/>
                          </a:solidFill>
                          <a:latin typeface="Cambria Math"/>
                        </a:rPr>
                        <m:t> = </m:t>
                      </m:r>
                      <m:r>
                        <m:rPr>
                          <m:sty m:val="p"/>
                        </m:rPr>
                        <a:rPr lang="en-US" sz="2000" b="0" i="0">
                          <a:solidFill>
                            <a:srgbClr val="0B2B4E"/>
                          </a:solidFill>
                          <a:latin typeface="Cambria Math"/>
                        </a:rPr>
                        <m:t>MC</m:t>
                      </m:r>
                      <m:r>
                        <a:rPr lang="en-US" sz="2000" b="0" i="0">
                          <a:solidFill>
                            <a:srgbClr val="0B2B4E"/>
                          </a:solidFill>
                          <a:latin typeface="Cambria Math"/>
                        </a:rPr>
                        <m:t>   →   100 − 2</m:t>
                      </m:r>
                      <m:r>
                        <a:rPr lang="en-US" sz="2000" b="0" i="1">
                          <a:solidFill>
                            <a:srgbClr val="0B2B4E"/>
                          </a:solidFill>
                          <a:latin typeface="Cambria Math"/>
                          <a:ea typeface="Cambria Math"/>
                        </a:rPr>
                        <m:t>𝑄</m:t>
                      </m:r>
                      <m:r>
                        <a:rPr lang="en-US" sz="2000" b="0" i="0">
                          <a:solidFill>
                            <a:srgbClr val="0B2B4E"/>
                          </a:solidFill>
                          <a:latin typeface="Cambria Math"/>
                        </a:rPr>
                        <m:t> = 10</m:t>
                      </m:r>
                    </m:oMath>
                  </m:oMathPara>
                </a14:m>
                <a:endParaRPr lang="en-US" dirty="0"/>
              </a:p>
              <a:p>
                <a:r>
                  <a:rPr lang="en-US" sz="2000" b="1" dirty="0">
                    <a:solidFill>
                      <a:srgbClr val="C00000"/>
                    </a:solidFill>
                    <a:latin typeface="Calibri"/>
                  </a:rPr>
                  <a:t>➜  Q = 45,  P = 55</a:t>
                </a:r>
                <a:endParaRPr lang="en-US" dirty="0"/>
              </a:p>
              <a:p>
                <a:endParaRPr lang="en-US" dirty="0"/>
              </a:p>
              <a:p>
                <a:endParaRPr lang="en-US" dirty="0"/>
              </a:p>
              <a:p>
                <a:r>
                  <a:rPr lang="en-US" sz="2400" b="1" dirty="0">
                    <a:solidFill>
                      <a:srgbClr val="0B2B4E"/>
                    </a:solidFill>
                    <a:latin typeface="Calibri"/>
                  </a:rPr>
                  <a:t>Cournot:  </a:t>
                </a:r>
                <a:r>
                  <a:rPr lang="en-US" sz="2000" b="1" dirty="0">
                    <a:solidFill>
                      <a:srgbClr val="C00000"/>
                    </a:solidFill>
                    <a:latin typeface="Calibri"/>
                  </a:rPr>
                  <a:t>Q = 60,  P = 40</a:t>
                </a:r>
                <a:endParaRPr lang="en-US" dirty="0"/>
              </a:p>
              <a:p>
                <a:endParaRPr lang="en-US" dirty="0"/>
              </a:p>
              <a:p>
                <a:endParaRPr lang="en-US" dirty="0"/>
              </a:p>
              <a:p>
                <a:r>
                  <a:rPr lang="en-US" sz="2400" b="1" dirty="0">
                    <a:solidFill>
                      <a:srgbClr val="0B2B4E"/>
                    </a:solidFill>
                    <a:latin typeface="Calibri"/>
                  </a:rPr>
                  <a:t>Perfect competition / Bertrand:</a:t>
                </a:r>
                <a:endParaRPr lang="en-US" dirty="0"/>
              </a:p>
              <a:p>
                <a:pPr/>
                <a14:m>
                  <m:oMathPara xmlns:m="http://schemas.openxmlformats.org/officeDocument/2006/math">
                    <m:oMath>
                      <m:r>
                        <a:rPr lang="en-US" sz="2000" b="0" i="1">
                          <a:solidFill>
                            <a:srgbClr val="0B2B4E"/>
                          </a:solidFill>
                          <a:latin typeface="Cambria Math"/>
                          <a:ea typeface="Cambria Math"/>
                        </a:rPr>
                        <m:t>𝑃</m:t>
                      </m:r>
                      <m:r>
                        <a:rPr lang="en-US" sz="2000" b="0" i="0">
                          <a:solidFill>
                            <a:srgbClr val="0B2B4E"/>
                          </a:solidFill>
                          <a:latin typeface="Cambria Math"/>
                        </a:rPr>
                        <m:t> = </m:t>
                      </m:r>
                      <m:r>
                        <m:rPr>
                          <m:sty m:val="p"/>
                        </m:rPr>
                        <a:rPr lang="en-US" sz="2000" b="0" i="0">
                          <a:solidFill>
                            <a:srgbClr val="0B2B4E"/>
                          </a:solidFill>
                          <a:latin typeface="Cambria Math"/>
                        </a:rPr>
                        <m:t>MC</m:t>
                      </m:r>
                      <m:r>
                        <a:rPr lang="en-US" sz="2000" b="0" i="0">
                          <a:solidFill>
                            <a:srgbClr val="0B2B4E"/>
                          </a:solidFill>
                          <a:latin typeface="Cambria Math"/>
                        </a:rPr>
                        <m:t>   →   100 − </m:t>
                      </m:r>
                      <m:r>
                        <a:rPr lang="en-US" sz="2000" b="0" i="1">
                          <a:solidFill>
                            <a:srgbClr val="0B2B4E"/>
                          </a:solidFill>
                          <a:latin typeface="Cambria Math"/>
                          <a:ea typeface="Cambria Math"/>
                        </a:rPr>
                        <m:t>𝑄</m:t>
                      </m:r>
                      <m:r>
                        <a:rPr lang="en-US" sz="2000" b="0" i="0">
                          <a:solidFill>
                            <a:srgbClr val="0B2B4E"/>
                          </a:solidFill>
                          <a:latin typeface="Cambria Math"/>
                        </a:rPr>
                        <m:t> = 10</m:t>
                      </m:r>
                    </m:oMath>
                  </m:oMathPara>
                </a14:m>
                <a:endParaRPr lang="en-US" dirty="0"/>
              </a:p>
              <a:p>
                <a:r>
                  <a:rPr lang="en-US" sz="2000" b="1" dirty="0">
                    <a:solidFill>
                      <a:srgbClr val="C00000"/>
                    </a:solidFill>
                    <a:latin typeface="Calibri"/>
                  </a:rPr>
                  <a:t>➜  Q = 90,  P = 10</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76072" y="2075688"/>
                <a:ext cx="8686800" cy="4251960"/>
              </a:xfrm>
              <a:prstGeom prst="rect">
                <a:avLst/>
              </a:prstGeom>
              <a:blipFill>
                <a:blip r:embed="rId4"/>
                <a:stretch>
                  <a:fillRect l="-1614" t="-2296"/>
                </a:stretch>
              </a:blipFill>
            </p:spPr>
            <p:txBody>
              <a:bodyPr/>
              <a:lstStyle/>
              <a:p>
                <a:r>
                  <a:rPr lang="en-US">
                    <a:noFill/>
                  </a:rPr>
                  <a:t> </a:t>
                </a:r>
              </a:p>
            </p:txBody>
          </p:sp>
        </mc:Fallback>
      </mc:AlternateContent>
      <p:sp>
        <p:nvSpPr>
          <p:cNvPr id="9" name="Rectangle 8"/>
          <p:cNvSpPr/>
          <p:nvPr/>
        </p:nvSpPr>
        <p:spPr>
          <a:xfrm>
            <a:off x="576072" y="2011680"/>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6072" y="4133087"/>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6072" y="5056632"/>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4D4FB6AD-DCAF-58D5-B9CC-24BEF5C8C788}" type="slidenum">
              <a:rPr lang="en-US" sz="1200" dirty="0">
                <a:solidFill>
                  <a:srgbClr val="555B66"/>
                </a:solidFill>
                <a:latin typeface="Calibri"/>
              </a:rPr>
              <a:t>7</a:t>
            </a:fld>
            <a:endParaRPr lang="en-US" sz="1200" dirty="0">
              <a:solidFill>
                <a:srgbClr val="555B66"/>
              </a:solidFill>
              <a:latin typeface="Calibri"/>
            </a:endParaRPr>
          </a:p>
        </p:txBody>
      </p:sp>
      <p:grpSp>
        <p:nvGrpSpPr>
          <p:cNvPr id="18" name="PracticeVideoBox"/>
          <p:cNvGrpSpPr/>
          <p:nvPr/>
        </p:nvGrpSpPr>
        <p:grpSpPr>
          <a:xfrm>
            <a:off x="6455664" y="4354373"/>
            <a:ext cx="5349240" cy="530352"/>
            <a:chOff x="6327648" y="6245352"/>
            <a:chExt cx="5349240" cy="530352"/>
          </a:xfrm>
        </p:grpSpPr>
        <p:sp>
          <p:nvSpPr>
            <p:cNvPr id="16" name="Rounded Rectangle 15"/>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1600" b="1">
                  <a:solidFill>
                    <a:srgbClr val="0B2B4E"/>
                  </a:solidFill>
                  <a:latin typeface="Calibri"/>
                </a:rPr>
                <a:t>Practice Video “Cournot Competition Math”</a:t>
              </a:r>
            </a:p>
          </p:txBody>
        </p:sp>
        <p:sp>
          <p:nvSpPr>
            <p:cNvPr id="17" name="Action Button: Movie 16"/>
            <p:cNvSpPr/>
            <p:nvPr/>
          </p:nvSpPr>
          <p:spPr>
            <a:xfrm>
              <a:off x="6455664" y="6373368"/>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4 · Bertrand Competition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u="none" dirty="0">
                <a:solidFill>
                  <a:srgbClr val="0B2B4E"/>
                </a:solidFill>
                <a:latin typeface="Calibri"/>
              </a:rPr>
              <a:t>Wrapping Up</a:t>
            </a:r>
            <a:r>
              <a:rPr sz="3200" b="1" i="0" u="none" dirty="0">
                <a:solidFill>
                  <a:srgbClr val="0B2B4E"/>
                </a:solidFill>
                <a:latin typeface="Calibri"/>
              </a:rPr>
              <a:t>: Cournot vs. Bertrand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942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Cournot: quantity competition</a:t>
            </a:r>
          </a:p>
        </p:txBody>
      </p:sp>
      <p:sp>
        <p:nvSpPr>
          <p:cNvPr id="8" name="Rounded Rectangle 7"/>
          <p:cNvSpPr/>
          <p:nvPr/>
        </p:nvSpPr>
        <p:spPr>
          <a:xfrm>
            <a:off x="630158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Bertrand: price competition</a:t>
            </a:r>
          </a:p>
        </p:txBody>
      </p:sp>
      <p:sp>
        <p:nvSpPr>
          <p:cNvPr id="9" name="TextBox 8"/>
          <p:cNvSpPr txBox="1"/>
          <p:nvPr/>
        </p:nvSpPr>
        <p:spPr>
          <a:xfrm>
            <a:off x="540867" y="2468880"/>
            <a:ext cx="5257800" cy="338554"/>
          </a:xfrm>
          <a:prstGeom prst="rect">
            <a:avLst/>
          </a:prstGeom>
          <a:noFill/>
        </p:spPr>
        <p:txBody>
          <a:bodyPr wrap="square" lIns="0" tIns="0" rIns="0" bIns="0">
            <a:spAutoFit/>
          </a:bodyPr>
          <a:lstStyle/>
          <a:p>
            <a:pPr marL="342900" indent="-342900" algn="l">
              <a:buClr>
                <a:srgbClr val="0B2B4E"/>
              </a:buClr>
              <a:buFont typeface="Calibri"/>
              <a:buChar char="▪"/>
            </a:pPr>
            <a:r>
              <a:rPr sz="2200" b="0" dirty="0">
                <a:solidFill>
                  <a:srgbClr val="0B2B4E"/>
                </a:solidFill>
                <a:latin typeface="Calibri"/>
              </a:rPr>
              <a:t>Firms set </a:t>
            </a:r>
            <a:r>
              <a:rPr lang="en-US" sz="2200" b="0" dirty="0">
                <a:solidFill>
                  <a:srgbClr val="C00000"/>
                </a:solidFill>
                <a:latin typeface="Calibri"/>
              </a:rPr>
              <a:t>quantity/</a:t>
            </a:r>
            <a:r>
              <a:rPr sz="2200" b="0" dirty="0">
                <a:solidFill>
                  <a:srgbClr val="C00000"/>
                </a:solidFill>
                <a:latin typeface="Calibri"/>
              </a:rPr>
              <a:t>capacity </a:t>
            </a:r>
            <a:r>
              <a:rPr sz="2200" b="0" dirty="0">
                <a:solidFill>
                  <a:srgbClr val="0B2B4E"/>
                </a:solidFill>
                <a:latin typeface="Calibri"/>
              </a:rPr>
              <a:t>strategically</a:t>
            </a:r>
          </a:p>
        </p:txBody>
      </p:sp>
      <p:sp>
        <p:nvSpPr>
          <p:cNvPr id="10" name="TextBox 9"/>
          <p:cNvSpPr txBox="1"/>
          <p:nvPr/>
        </p:nvSpPr>
        <p:spPr>
          <a:xfrm>
            <a:off x="6393027" y="2468880"/>
            <a:ext cx="5257800" cy="338554"/>
          </a:xfrm>
          <a:prstGeom prst="rect">
            <a:avLst/>
          </a:prstGeom>
          <a:noFill/>
        </p:spPr>
        <p:txBody>
          <a:bodyPr wrap="square" lIns="0" tIns="0" rIns="0" bIns="0">
            <a:spAutoFit/>
          </a:bodyPr>
          <a:lstStyle/>
          <a:p>
            <a:pPr marL="342900" indent="-342900" algn="l">
              <a:buClr>
                <a:srgbClr val="0B2B4E"/>
              </a:buClr>
              <a:buFont typeface="Calibri"/>
              <a:buChar char="▪"/>
            </a:pPr>
            <a:r>
              <a:rPr sz="2200" b="0" dirty="0">
                <a:solidFill>
                  <a:srgbClr val="0B2B4E"/>
                </a:solidFill>
                <a:latin typeface="Calibri"/>
              </a:rPr>
              <a:t>Firms set </a:t>
            </a:r>
            <a:r>
              <a:rPr sz="2200" b="0" dirty="0">
                <a:solidFill>
                  <a:srgbClr val="C00000"/>
                </a:solidFill>
                <a:latin typeface="Calibri"/>
              </a:rPr>
              <a:t>price</a:t>
            </a:r>
            <a:r>
              <a:rPr sz="2200" b="0" dirty="0">
                <a:solidFill>
                  <a:srgbClr val="0B2B4E"/>
                </a:solidFill>
                <a:latin typeface="Calibri"/>
              </a:rPr>
              <a:t> strategically</a:t>
            </a:r>
          </a:p>
        </p:txBody>
      </p:sp>
      <p:sp>
        <p:nvSpPr>
          <p:cNvPr id="11" name="TextBox 10"/>
          <p:cNvSpPr txBox="1"/>
          <p:nvPr/>
        </p:nvSpPr>
        <p:spPr>
          <a:xfrm>
            <a:off x="434879" y="3566160"/>
            <a:ext cx="11155680" cy="2377440"/>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There isn't a “correct” and an “incorrect” model, they just make different assumptions</a:t>
            </a:r>
          </a:p>
          <a:p>
            <a:pPr lvl="1" algn="l"/>
            <a:r>
              <a:rPr>
                <a:latin typeface="Calibri"/>
              </a:rPr>
              <a:t>Often Bertrand (price) competition in the short run</a:t>
            </a:r>
          </a:p>
          <a:p>
            <a:pPr lvl="1" algn="l"/>
            <a:r>
              <a:rPr>
                <a:latin typeface="Calibri"/>
              </a:rPr>
              <a:t>Cournot (quantity) competition in the long run (e.g., by setting up production capacities)</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8242E1E5-89AE-558D-9248-EBAECAC371A0}"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1124</Words>
  <Application>Microsoft Office PowerPoint</Application>
  <PresentationFormat>Widescreen</PresentationFormat>
  <Paragraphs>132</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7</cp:revision>
  <dcterms:created xsi:type="dcterms:W3CDTF">2013-01-27T09:14:16Z</dcterms:created>
  <dcterms:modified xsi:type="dcterms:W3CDTF">2026-09-28T19:53:18Z</dcterms:modified>
  <cp:category/>
</cp:coreProperties>
</file>