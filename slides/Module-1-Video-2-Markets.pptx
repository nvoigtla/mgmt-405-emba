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325" r:id="rId2"/>
    <p:sldId id="326" r:id="rId3"/>
    <p:sldId id="327" r:id="rId4"/>
    <p:sldId id="355" r:id="rId5"/>
    <p:sldId id="356" r:id="rId6"/>
    <p:sldId id="328" r:id="rId7"/>
    <p:sldId id="329"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4239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Video 2 is about markets: what a market is, and how you decide where its boundaries lie.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Markets is the topic of this video. The question sounds simple and is not: which products, and which places, belong in the same market as yours?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company has to know three things about its market: who its customers are, who its competitors are, both actual and potential, and how far the market extends. The practical test for the product boundary is whether a price change elsewhere moves demand for your product. The geographic boundary varies enormously: a coffee shop in Venice competes with the next street, gasoline retail with the next few miles, gold with the whole world.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Expanded from the candidate list (research verified 2026-08-20). Preliminary injunction: Judge Jennifer Rochon, S.D.N.Y., 24 Oct 2024 (169-page opinion); FTC administrative suit filed 22 Apr 2024; merger agreement terminated 13 Nov 2024. The defense called the FTC's market 'gerrymandered'; the court found the 'accessible luxury' segment real — distinct prices, customers, discounting, outlet distribution.</a:t>
            </a:r>
          </a:p>
          <a:p>
            <a:r>
              <a:t>Photos: Wikimedia Commons (Coach store, Tenmaya Fukuyama; Michael Kors store, Rehoboth Beach 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Share figures (per the Clifford Chance briefing citing the Opinion at 97, verified 2026-08-20): 58.7% per the FTC's economic expert 'from largely third-party data'; 77% calculated in Capri's internal documents; 83% calculated from Tapestry's internal data. Provenance: ordinary-course internal documents that 'come to light during a merger investigation' — compulsory production, not leaks. The term 'accessible luxury' was the firms' own: used extensively in SEC filings and investor presentations before and after the acquisition, 'only for the term to disappear from their lexicon' after the FTC sued (they then preferred 'expressive luxury'). On-slide source line dropped for space — cite: Judge Rochon opinion, S.D.N.Y. (Oct 24, 2024); Clifford Chance &amp; MoFo case notes. Teaching beat (chronological, per Nico 2026-08-20): the previous slide ends on 'market definition would turn out to be crucial'; here reveal the ladder, then the share cards, then the internal quote, and close with the court decision as the punchline.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Think about Netflix before class. Is the market online streaming, all films, or all entertainment? And did Covid change the answer, when theatres closed and streaming was the only option? Come with a view, because we will argue about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kinds of actor, each with an objective. Consumers maximize utility from goods and services under a limited income. Workers choose jobs, trading off pay against leisure and flexibility. Firms hire those workers to produce for those consumers, and aim to maximize profit. Almost every model in this course is some combination of these three.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874519"/>
            <a:ext cx="10545775" cy="1005840"/>
          </a:xfrm>
          <a:prstGeom prst="rect">
            <a:avLst/>
          </a:prstGeom>
          <a:noFill/>
        </p:spPr>
        <p:txBody>
          <a:bodyPr wrap="square" lIns="0" tIns="0" rIns="0" bIns="0">
            <a:spAutoFit/>
          </a:bodyPr>
          <a:lstStyle/>
          <a:p>
            <a:pPr algn="ctr"/>
            <a:r>
              <a:rPr sz="5400" b="1" i="0" u="none">
                <a:solidFill>
                  <a:srgbClr val="0B2B4E"/>
                </a:solidFill>
                <a:latin typeface="Calibri"/>
              </a:rPr>
              <a:t>Markets</a:t>
            </a:r>
          </a:p>
        </p:txBody>
      </p:sp>
      <p:sp>
        <p:nvSpPr>
          <p:cNvPr id="3" name="TextBox 2"/>
          <p:cNvSpPr txBox="1"/>
          <p:nvPr/>
        </p:nvSpPr>
        <p:spPr>
          <a:xfrm>
            <a:off x="0" y="315468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1 – Video 2</a:t>
            </a:r>
          </a:p>
        </p:txBody>
      </p:sp>
      <p:sp>
        <p:nvSpPr>
          <p:cNvPr id="4" name="Rectangle 3"/>
          <p:cNvSpPr/>
          <p:nvPr/>
        </p:nvSpPr>
        <p:spPr>
          <a:xfrm>
            <a:off x="4267047" y="409651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434840"/>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5029200"/>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2 · Markets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1</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1440180"/>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1</a:t>
            </a:r>
          </a:p>
        </p:txBody>
      </p:sp>
      <p:sp>
        <p:nvSpPr>
          <p:cNvPr id="9" name="TextBox 8"/>
          <p:cNvSpPr txBox="1"/>
          <p:nvPr/>
        </p:nvSpPr>
        <p:spPr>
          <a:xfrm>
            <a:off x="1874519" y="1495044"/>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0B2B4E"/>
                </a:solidFill>
                <a:latin typeface="Calibri"/>
              </a:rPr>
              <a:t>Markets</a:t>
            </a:r>
          </a:p>
          <a:p>
            <a:pPr algn="l">
              <a:spcBef>
                <a:spcPts val="0"/>
              </a:spcBef>
              <a:buNone/>
            </a:pPr>
            <a:r>
              <a:rPr sz="2200">
                <a:solidFill>
                  <a:srgbClr val="555B66"/>
                </a:solidFill>
                <a:latin typeface="Calibri"/>
              </a:rPr>
              <a:t>Video 2: what a market is, and how far it extends</a:t>
            </a:r>
          </a:p>
        </p:txBody>
      </p:sp>
      <p:sp>
        <p:nvSpPr>
          <p:cNvPr id="10" name="Oval 9"/>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2</a:t>
            </a:r>
          </a:p>
        </p:txBody>
      </p:sp>
      <p:sp>
        <p:nvSpPr>
          <p:cNvPr id="11" name="TextBox 10"/>
          <p:cNvSpPr txBox="1"/>
          <p:nvPr/>
        </p:nvSpPr>
        <p:spPr>
          <a:xfrm>
            <a:off x="1874519" y="2327148"/>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Demand and supply</a:t>
            </a:r>
          </a:p>
        </p:txBody>
      </p:sp>
      <p:sp>
        <p:nvSpPr>
          <p:cNvPr id="12" name="Oval 11"/>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3</a:t>
            </a:r>
          </a:p>
        </p:txBody>
      </p:sp>
      <p:sp>
        <p:nvSpPr>
          <p:cNvPr id="13" name="TextBox 12"/>
          <p:cNvSpPr txBox="1"/>
          <p:nvPr/>
        </p:nvSpPr>
        <p:spPr>
          <a:xfrm>
            <a:off x="1874519" y="3159252"/>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Equilibrium</a:t>
            </a:r>
          </a:p>
        </p:txBody>
      </p:sp>
      <p:sp>
        <p:nvSpPr>
          <p:cNvPr id="14" name="Oval 13"/>
          <p:cNvSpPr/>
          <p:nvPr/>
        </p:nvSpPr>
        <p:spPr>
          <a:xfrm>
            <a:off x="1051560" y="4009644"/>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4</a:t>
            </a:r>
          </a:p>
        </p:txBody>
      </p:sp>
      <p:sp>
        <p:nvSpPr>
          <p:cNvPr id="15" name="TextBox 14"/>
          <p:cNvSpPr txBox="1"/>
          <p:nvPr/>
        </p:nvSpPr>
        <p:spPr>
          <a:xfrm>
            <a:off x="1874519" y="3991356"/>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Economic costs include opportunity costs</a:t>
            </a:r>
          </a:p>
        </p:txBody>
      </p:sp>
      <p:sp>
        <p:nvSpPr>
          <p:cNvPr id="16" name="Oval 15"/>
          <p:cNvSpPr/>
          <p:nvPr/>
        </p:nvSpPr>
        <p:spPr>
          <a:xfrm>
            <a:off x="1051560" y="4841748"/>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5</a:t>
            </a:r>
          </a:p>
        </p:txBody>
      </p:sp>
      <p:sp>
        <p:nvSpPr>
          <p:cNvPr id="17" name="TextBox 16"/>
          <p:cNvSpPr txBox="1"/>
          <p:nvPr/>
        </p:nvSpPr>
        <p:spPr>
          <a:xfrm>
            <a:off x="1874519" y="4823460"/>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Ignore sunk costs</a:t>
            </a:r>
          </a:p>
        </p:txBody>
      </p:sp>
      <p:sp>
        <p:nvSpPr>
          <p:cNvPr id="18" name="Oval 17"/>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chemeClr val="bg1">
                    <a:lumMod val="75000"/>
                  </a:schemeClr>
                </a:solidFill>
                <a:latin typeface="Calibri"/>
              </a:rPr>
              <a:t>6</a:t>
            </a:r>
          </a:p>
        </p:txBody>
      </p:sp>
      <p:sp>
        <p:nvSpPr>
          <p:cNvPr id="19" name="TextBox 18"/>
          <p:cNvSpPr txBox="1"/>
          <p:nvPr/>
        </p:nvSpPr>
        <p:spPr>
          <a:xfrm>
            <a:off x="1874519" y="5655564"/>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chemeClr val="bg1">
                    <a:lumMod val="75000"/>
                  </a:schemeClr>
                </a:solidFill>
                <a:latin typeface="Calibri"/>
              </a:rPr>
              <a:t>Use cost-benefit and marginal analysis</a:t>
            </a:r>
          </a:p>
        </p:txBody>
      </p:sp>
      <p:sp>
        <p:nvSpPr>
          <p:cNvPr id="20" name="Rectangle 1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23" name="TextBox 22"/>
          <p:cNvSpPr txBox="1"/>
          <p:nvPr/>
        </p:nvSpPr>
        <p:spPr>
          <a:xfrm>
            <a:off x="11475720" y="6583680"/>
            <a:ext cx="502920" cy="292608"/>
          </a:xfrm>
          <a:prstGeom prst="rect">
            <a:avLst/>
          </a:prstGeom>
          <a:noFill/>
        </p:spPr>
        <p:txBody>
          <a:bodyPr wrap="none" lIns="0" tIns="0" rIns="0" bIns="0">
            <a:spAutoFit/>
          </a:bodyPr>
          <a:lstStyle/>
          <a:p>
            <a:pPr algn="r"/>
            <a:fld id="{C6B2407C-84A4-5AB5-8015-477A8A4534C9}" type="slidenum">
              <a:rPr lang="en-US" sz="1200" dirty="0">
                <a:solidFill>
                  <a:srgbClr val="555B66"/>
                </a:solidFill>
                <a:latin typeface="Calibri"/>
              </a:rPr>
              <a:t>2</a:t>
            </a:fld>
            <a:endParaRPr lang="en-US" sz="1200" dirty="0">
              <a:solidFill>
                <a:srgbClr val="555B66"/>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2 · Markets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Market Definition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694351"/>
            <a:ext cx="11687697" cy="4429418"/>
          </a:xfrm>
          <a:prstGeom prst="rect">
            <a:avLst/>
          </a:prstGeom>
          <a:noFill/>
        </p:spPr>
        <p:txBody>
          <a:bodyPr wrap="square" lIns="0" tIns="0" rIns="0" bIns="0" anchor="ctr">
            <a:spAutoFit/>
          </a:bodyPr>
          <a:lstStyle>
            <a:lvl1pPr marL="342900" indent="-342900">
              <a:spcBef>
                <a:spcPts val="10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buNone/>
            </a:pPr>
            <a:r>
              <a:rPr sz="2400" b="1" dirty="0">
                <a:solidFill>
                  <a:srgbClr val="0B2B4E"/>
                </a:solidFill>
                <a:latin typeface="Calibri"/>
              </a:rPr>
              <a:t>A company must understand its market</a:t>
            </a:r>
          </a:p>
          <a:p>
            <a:pPr algn="l"/>
            <a:r>
              <a:rPr dirty="0">
                <a:latin typeface="Calibri"/>
              </a:rPr>
              <a:t>Customers</a:t>
            </a:r>
          </a:p>
          <a:p>
            <a:pPr algn="l"/>
            <a:r>
              <a:rPr dirty="0">
                <a:latin typeface="Calibri"/>
              </a:rPr>
              <a:t>Competitors (actual and potential)</a:t>
            </a:r>
          </a:p>
          <a:p>
            <a:pPr algn="l">
              <a:spcBef>
                <a:spcPts val="1800"/>
              </a:spcBef>
              <a:buNone/>
            </a:pPr>
            <a:r>
              <a:rPr sz="2400" b="1" dirty="0">
                <a:solidFill>
                  <a:srgbClr val="0B2B4E"/>
                </a:solidFill>
                <a:latin typeface="Calibri"/>
              </a:rPr>
              <a:t>Extent of market</a:t>
            </a:r>
          </a:p>
          <a:p>
            <a:pPr algn="l"/>
            <a:r>
              <a:rPr dirty="0">
                <a:latin typeface="Calibri"/>
              </a:rPr>
              <a:t>Which products belong to a market?</a:t>
            </a:r>
          </a:p>
          <a:p>
            <a:pPr lvl="1" algn="l"/>
            <a:r>
              <a:rPr b="1" dirty="0">
                <a:latin typeface="Calibri"/>
              </a:rPr>
              <a:t>Simple test </a:t>
            </a:r>
            <a:r>
              <a:rPr dirty="0">
                <a:latin typeface="Calibri"/>
              </a:rPr>
              <a:t>to identify the range of products in your market: If the price of another product changes, will demand for your product change?</a:t>
            </a:r>
          </a:p>
          <a:p>
            <a:pPr lvl="1" algn="l"/>
            <a:r>
              <a:rPr dirty="0">
                <a:latin typeface="Calibri"/>
              </a:rPr>
              <a:t>Relevant for antitrust litigation (in mergers &amp; acquisitions)</a:t>
            </a:r>
          </a:p>
          <a:p>
            <a:pPr algn="l"/>
            <a:r>
              <a:rPr dirty="0">
                <a:latin typeface="Calibri"/>
              </a:rPr>
              <a:t>Geograph</a:t>
            </a:r>
            <a:r>
              <a:rPr lang="en-US" dirty="0">
                <a:latin typeface="Calibri"/>
              </a:rPr>
              <a:t>ic</a:t>
            </a:r>
            <a:r>
              <a:rPr dirty="0">
                <a:latin typeface="Calibri"/>
              </a:rPr>
              <a:t> boundaries</a:t>
            </a:r>
          </a:p>
          <a:p>
            <a:pPr lvl="1" algn="l"/>
            <a:r>
              <a:rPr dirty="0">
                <a:latin typeface="Calibri"/>
              </a:rPr>
              <a:t>Coffee shop in Venice (CA) v</a:t>
            </a:r>
            <a:r>
              <a:rPr lang="en-US" dirty="0">
                <a:latin typeface="Calibri"/>
              </a:rPr>
              <a:t>s</a:t>
            </a:r>
            <a:r>
              <a:rPr dirty="0">
                <a:latin typeface="Calibri"/>
              </a:rPr>
              <a:t>. gasoline retail v</a:t>
            </a:r>
            <a:r>
              <a:rPr lang="en-US" dirty="0">
                <a:latin typeface="Calibri"/>
              </a:rPr>
              <a:t>s</a:t>
            </a:r>
            <a:r>
              <a:rPr dirty="0">
                <a:latin typeface="Calibri"/>
              </a:rPr>
              <a:t>. </a:t>
            </a:r>
            <a:r>
              <a:rPr lang="en-US" dirty="0">
                <a:latin typeface="Calibri"/>
              </a:rPr>
              <a:t>App purchases</a:t>
            </a:r>
            <a:endParaRPr dirty="0">
              <a:latin typeface="Calibri"/>
            </a:endParaRPr>
          </a:p>
        </p:txBody>
      </p:sp>
      <p:sp>
        <p:nvSpPr>
          <p:cNvPr id="8" name="Rectangle 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1" name="TextBox 10"/>
          <p:cNvSpPr txBox="1"/>
          <p:nvPr/>
        </p:nvSpPr>
        <p:spPr>
          <a:xfrm>
            <a:off x="11475720" y="6583680"/>
            <a:ext cx="502920" cy="292608"/>
          </a:xfrm>
          <a:prstGeom prst="rect">
            <a:avLst/>
          </a:prstGeom>
          <a:noFill/>
        </p:spPr>
        <p:txBody>
          <a:bodyPr wrap="none" lIns="0" tIns="0" rIns="0" bIns="0">
            <a:spAutoFit/>
          </a:bodyPr>
          <a:lstStyle/>
          <a:p>
            <a:pPr algn="r"/>
            <a:fld id="{A8010BAA-C654-50BB-8399-63D01C1D2EDA}"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fade">
                                      <p:cBhvr>
                                        <p:cTn id="17" dur="500"/>
                                        <p:tgtEl>
                                          <p:spTgt spid="7">
                                            <p:txEl>
                                              <p:pRg st="3" end="3"/>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xEl>
                                              <p:pRg st="4" end="4"/>
                                            </p:txEl>
                                          </p:spTgt>
                                        </p:tgtEl>
                                        <p:attrNameLst>
                                          <p:attrName>style.visibility</p:attrName>
                                        </p:attrNameLst>
                                      </p:cBhvr>
                                      <p:to>
                                        <p:strVal val="visible"/>
                                      </p:to>
                                    </p:set>
                                    <p:animEffect transition="in" filter="fade">
                                      <p:cBhvr>
                                        <p:cTn id="20" dur="500"/>
                                        <p:tgtEl>
                                          <p:spTgt spid="7">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5" end="5"/>
                                            </p:txEl>
                                          </p:spTgt>
                                        </p:tgtEl>
                                        <p:attrNameLst>
                                          <p:attrName>style.visibility</p:attrName>
                                        </p:attrNameLst>
                                      </p:cBhvr>
                                      <p:to>
                                        <p:strVal val="visible"/>
                                      </p:to>
                                    </p:set>
                                    <p:animEffect transition="in" filter="fade">
                                      <p:cBhvr>
                                        <p:cTn id="25" dur="500"/>
                                        <p:tgtEl>
                                          <p:spTgt spid="7">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6" end="6"/>
                                            </p:txEl>
                                          </p:spTgt>
                                        </p:tgtEl>
                                        <p:attrNameLst>
                                          <p:attrName>style.visibility</p:attrName>
                                        </p:attrNameLst>
                                      </p:cBhvr>
                                      <p:to>
                                        <p:strVal val="visible"/>
                                      </p:to>
                                    </p:set>
                                    <p:animEffect transition="in" filter="fade">
                                      <p:cBhvr>
                                        <p:cTn id="30" dur="500"/>
                                        <p:tgtEl>
                                          <p:spTgt spid="7">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animEffect transition="in" filter="fade">
                                      <p:cBhvr>
                                        <p:cTn id="35" dur="500"/>
                                        <p:tgtEl>
                                          <p:spTgt spid="7">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7">
                                            <p:txEl>
                                              <p:pRg st="8" end="8"/>
                                            </p:txEl>
                                          </p:spTgt>
                                        </p:tgtEl>
                                        <p:attrNameLst>
                                          <p:attrName>style.visibility</p:attrName>
                                        </p:attrNameLst>
                                      </p:cBhvr>
                                      <p:to>
                                        <p:strVal val="visible"/>
                                      </p:to>
                                    </p:set>
                                    <p:animEffect transition="in" filter="fade">
                                      <p:cBhvr>
                                        <p:cTn id="38"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Market Definition Mini-Case: Tapestry–Capri</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371600"/>
            <a:ext cx="7315200" cy="4846320"/>
          </a:xfrm>
          <a:prstGeom prst="rect">
            <a:avLst/>
          </a:prstGeom>
          <a:noFill/>
        </p:spPr>
        <p:txBody>
          <a:bodyPr wrap="square" lIns="0" tIns="0" rIns="0" bIns="0" anchor="ctr">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800"/>
              </a:spcBef>
              <a:buClr>
                <a:srgbClr val="555B66"/>
              </a:buClr>
              <a:buFont typeface="Calibri"/>
              <a:buChar char="–"/>
              <a:defRPr sz="2200" b="0">
                <a:solidFill>
                  <a:srgbClr val="555B66"/>
                </a:solidFill>
                <a:latin typeface="Calibri"/>
              </a:defRPr>
            </a:lvl2pPr>
          </a:lstStyle>
          <a:p>
            <a:pPr algn="l"/>
            <a:r>
              <a:rPr dirty="0">
                <a:latin typeface="Calibri"/>
              </a:rPr>
              <a:t>Aug 2023: Tapestry (Coach, Kate Spade) agrees to buy Capri (Michael Kors, Versace) for $8.5B</a:t>
            </a:r>
          </a:p>
          <a:p>
            <a:pPr algn="l"/>
            <a:r>
              <a:rPr b="1" dirty="0">
                <a:latin typeface="Calibri"/>
              </a:rPr>
              <a:t>The definition of the market</a:t>
            </a:r>
            <a:r>
              <a:rPr dirty="0">
                <a:latin typeface="Calibri"/>
              </a:rPr>
              <a:t> would turn out to be crucial for the case:</a:t>
            </a:r>
          </a:p>
          <a:p>
            <a:pPr lvl="1" algn="l"/>
            <a:r>
              <a:rPr dirty="0">
                <a:latin typeface="Calibri"/>
              </a:rPr>
              <a:t>FTC: the market is </a:t>
            </a:r>
            <a:r>
              <a:rPr dirty="0">
                <a:solidFill>
                  <a:srgbClr val="C00000"/>
                </a:solidFill>
                <a:latin typeface="Calibri"/>
              </a:rPr>
              <a:t>“accessible luxury” handbags</a:t>
            </a:r>
            <a:r>
              <a:rPr dirty="0">
                <a:latin typeface="Calibri"/>
              </a:rPr>
              <a:t> — roughly $100 to under $1,000</a:t>
            </a:r>
          </a:p>
          <a:p>
            <a:pPr lvl="1" algn="l"/>
            <a:r>
              <a:rPr dirty="0">
                <a:latin typeface="Calibri"/>
              </a:rPr>
              <a:t>The firms: the market is </a:t>
            </a:r>
            <a:r>
              <a:rPr dirty="0">
                <a:solidFill>
                  <a:srgbClr val="C00000"/>
                </a:solidFill>
                <a:latin typeface="Calibri"/>
              </a:rPr>
              <a:t>all handbags</a:t>
            </a:r>
            <a:r>
              <a:rPr dirty="0">
                <a:latin typeface="Calibri"/>
              </a:rPr>
              <a:t> — from fast fashion to Hermès — and entry is easy</a:t>
            </a:r>
          </a:p>
        </p:txBody>
      </p:sp>
      <p:pic>
        <p:nvPicPr>
          <p:cNvPr id="8" name="Picture 7" descr="web_coach.jpg"/>
          <p:cNvPicPr>
            <a:picLocks noChangeAspect="1"/>
          </p:cNvPicPr>
          <p:nvPr/>
        </p:nvPicPr>
        <p:blipFill>
          <a:blip r:embed="rId3"/>
          <a:stretch>
            <a:fillRect/>
          </a:stretch>
        </p:blipFill>
        <p:spPr>
          <a:xfrm>
            <a:off x="7818120" y="1554480"/>
            <a:ext cx="3355848" cy="2237232"/>
          </a:xfrm>
          <a:prstGeom prst="roundRect">
            <a:avLst>
              <a:gd name="adj" fmla="val 8000"/>
            </a:avLst>
          </a:prstGeom>
          <a:effectLst>
            <a:outerShdw blurRad="50800" dist="38100" dir="2700000" algn="tl" rotWithShape="0">
              <a:srgbClr val="000000">
                <a:alpha val="50000"/>
              </a:srgbClr>
            </a:outerShdw>
          </a:effectLst>
        </p:spPr>
      </p:pic>
      <p:pic>
        <p:nvPicPr>
          <p:cNvPr id="9" name="Picture 8" descr="web_michaelkors.jpg"/>
          <p:cNvPicPr>
            <a:picLocks noChangeAspect="1"/>
          </p:cNvPicPr>
          <p:nvPr/>
        </p:nvPicPr>
        <p:blipFill>
          <a:blip r:embed="rId4"/>
          <a:stretch>
            <a:fillRect/>
          </a:stretch>
        </p:blipFill>
        <p:spPr>
          <a:xfrm>
            <a:off x="8001000" y="3931920"/>
            <a:ext cx="2990088" cy="2242566"/>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7818120" y="6217920"/>
            <a:ext cx="3355848" cy="256032"/>
          </a:xfrm>
          <a:prstGeom prst="rect">
            <a:avLst/>
          </a:prstGeom>
          <a:noFill/>
        </p:spPr>
        <p:txBody>
          <a:bodyPr wrap="square" lIns="0" tIns="0" rIns="0" bIns="0">
            <a:spAutoFit/>
          </a:bodyPr>
          <a:lstStyle/>
          <a:p>
            <a:pPr algn="ctr"/>
            <a:r>
              <a:rPr sz="1100" b="0" i="1" u="none">
                <a:solidFill>
                  <a:srgbClr val="555B66"/>
                </a:solidFill>
                <a:latin typeface="Calibri"/>
              </a:rPr>
              <a:t>Photos: Wikimedia Commons</a:t>
            </a:r>
          </a:p>
        </p:txBody>
      </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Example Candidates (for review)</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92B64BE3-EAA0-5B55-B44E-8B588CEF81A4}"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Candidates · Market Definition</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The Firms' Own Documents Drew the Market Boundary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85800" y="1417320"/>
            <a:ext cx="3246120" cy="118872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latin typeface="Calibri"/>
              </a:rPr>
              <a:t>Mass market
under $100</a:t>
            </a:r>
          </a:p>
        </p:txBody>
      </p:sp>
      <p:sp>
        <p:nvSpPr>
          <p:cNvPr id="8" name="Rounded Rectangle 7"/>
          <p:cNvSpPr/>
          <p:nvPr/>
        </p:nvSpPr>
        <p:spPr>
          <a:xfrm>
            <a:off x="4160520" y="1417320"/>
            <a:ext cx="3886200" cy="1188720"/>
          </a:xfrm>
          <a:prstGeom prst="roundRect">
            <a:avLst>
              <a:gd name="adj" fmla="val 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dirty="0">
                <a:solidFill>
                  <a:srgbClr val="0B2B4E"/>
                </a:solidFill>
                <a:latin typeface="Calibri"/>
              </a:rPr>
              <a:t>“Accessible luxury”
$100 – under $1,000
Coach · Kate Spade · Michael Kors</a:t>
            </a:r>
          </a:p>
        </p:txBody>
      </p:sp>
      <p:sp>
        <p:nvSpPr>
          <p:cNvPr id="9" name="Rounded Rectangle 8"/>
          <p:cNvSpPr/>
          <p:nvPr/>
        </p:nvSpPr>
        <p:spPr>
          <a:xfrm>
            <a:off x="8275320" y="1417320"/>
            <a:ext cx="3246120" cy="1188720"/>
          </a:xfrm>
          <a:prstGeom prst="roundRect">
            <a:avLst>
              <a:gd name="adj" fmla="val 6000"/>
            </a:avLst>
          </a:prstGeom>
          <a:solidFill>
            <a:srgbClr val="B0B5BC"/>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FFFFFF"/>
                </a:solidFill>
                <a:latin typeface="Calibri"/>
              </a:rPr>
              <a:t>True luxury
$1,000+ · LV · Hermès · Chanel</a:t>
            </a:r>
          </a:p>
        </p:txBody>
      </p:sp>
      <p:sp>
        <p:nvSpPr>
          <p:cNvPr id="11" name="TextBox 10"/>
          <p:cNvSpPr txBox="1"/>
          <p:nvPr/>
        </p:nvSpPr>
        <p:spPr>
          <a:xfrm>
            <a:off x="251999" y="3035808"/>
            <a:ext cx="11687697" cy="320040"/>
          </a:xfrm>
          <a:prstGeom prst="rect">
            <a:avLst/>
          </a:prstGeom>
          <a:noFill/>
        </p:spPr>
        <p:txBody>
          <a:bodyPr wrap="square" lIns="0" tIns="0" rIns="0" bIns="0">
            <a:spAutoFit/>
          </a:bodyPr>
          <a:lstStyle/>
          <a:p>
            <a:pPr algn="ctr"/>
            <a:r>
              <a:rPr sz="1800" b="1" i="0" u="none" dirty="0">
                <a:solidFill>
                  <a:srgbClr val="0B2B4E"/>
                </a:solidFill>
                <a:latin typeface="Calibri"/>
              </a:rPr>
              <a:t>Combined Tapestry + Capri share of “accessible luxury” handbags:</a:t>
            </a:r>
          </a:p>
        </p:txBody>
      </p:sp>
      <p:sp>
        <p:nvSpPr>
          <p:cNvPr id="12" name="Rounded Rectangle 11"/>
          <p:cNvSpPr/>
          <p:nvPr/>
        </p:nvSpPr>
        <p:spPr>
          <a:xfrm>
            <a:off x="1234440" y="3401568"/>
            <a:ext cx="3063240" cy="1005840"/>
          </a:xfrm>
          <a:prstGeom prst="roundRect">
            <a:avLst>
              <a:gd name="adj" fmla="val 6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a:solidFill>
                  <a:srgbClr val="0B2B4E"/>
                </a:solidFill>
                <a:latin typeface="Calibri"/>
              </a:rPr>
              <a:t>59%   </a:t>
            </a:r>
            <a:r>
              <a:rPr sz="1800">
                <a:solidFill>
                  <a:srgbClr val="555B66"/>
                </a:solidFill>
                <a:latin typeface="Calibri"/>
              </a:rPr>
              <a:t>FTC's expert (third-party data)</a:t>
            </a:r>
          </a:p>
        </p:txBody>
      </p:sp>
      <p:sp>
        <p:nvSpPr>
          <p:cNvPr id="13" name="Rounded Rectangle 12"/>
          <p:cNvSpPr/>
          <p:nvPr/>
        </p:nvSpPr>
        <p:spPr>
          <a:xfrm>
            <a:off x="4572000" y="3401568"/>
            <a:ext cx="3063240" cy="1005840"/>
          </a:xfrm>
          <a:prstGeom prst="roundRect">
            <a:avLst>
              <a:gd name="adj" fmla="val 6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a:solidFill>
                  <a:srgbClr val="0B2B4E"/>
                </a:solidFill>
                <a:latin typeface="Calibri"/>
              </a:rPr>
              <a:t>77%   </a:t>
            </a:r>
            <a:r>
              <a:rPr sz="1800">
                <a:solidFill>
                  <a:srgbClr val="555B66"/>
                </a:solidFill>
                <a:latin typeface="Calibri"/>
              </a:rPr>
              <a:t>Capri's internal documents</a:t>
            </a:r>
          </a:p>
        </p:txBody>
      </p:sp>
      <p:sp>
        <p:nvSpPr>
          <p:cNvPr id="14" name="Rounded Rectangle 13"/>
          <p:cNvSpPr/>
          <p:nvPr/>
        </p:nvSpPr>
        <p:spPr>
          <a:xfrm>
            <a:off x="7909560" y="3401568"/>
            <a:ext cx="3063240" cy="1005840"/>
          </a:xfrm>
          <a:prstGeom prst="roundRect">
            <a:avLst>
              <a:gd name="adj" fmla="val 6000"/>
            </a:avLst>
          </a:prstGeom>
          <a:solidFill>
            <a:srgbClr val="FFFFFF"/>
          </a:solidFill>
          <a:ln w="1905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a:solidFill>
                  <a:srgbClr val="0B2B4E"/>
                </a:solidFill>
                <a:latin typeface="Calibri"/>
              </a:rPr>
              <a:t>83%   </a:t>
            </a:r>
            <a:r>
              <a:rPr sz="1800">
                <a:solidFill>
                  <a:srgbClr val="555B66"/>
                </a:solidFill>
                <a:latin typeface="Calibri"/>
              </a:rPr>
              <a:t>Tapestry's internal data</a:t>
            </a:r>
          </a:p>
        </p:txBody>
      </p:sp>
      <p:sp>
        <p:nvSpPr>
          <p:cNvPr id="15" name="TextBox 14"/>
          <p:cNvSpPr txBox="1"/>
          <p:nvPr/>
        </p:nvSpPr>
        <p:spPr>
          <a:xfrm>
            <a:off x="251999" y="4498848"/>
            <a:ext cx="11687697" cy="274320"/>
          </a:xfrm>
          <a:prstGeom prst="rect">
            <a:avLst/>
          </a:prstGeom>
          <a:noFill/>
        </p:spPr>
        <p:txBody>
          <a:bodyPr wrap="square" lIns="0" tIns="0" rIns="0" bIns="0">
            <a:spAutoFit/>
          </a:bodyPr>
          <a:lstStyle/>
          <a:p>
            <a:pPr algn="ctr"/>
            <a:r>
              <a:rPr sz="1800" b="0" i="1" u="none" dirty="0">
                <a:solidFill>
                  <a:srgbClr val="555B66"/>
                </a:solidFill>
                <a:latin typeface="Calibri"/>
              </a:rPr>
              <a:t>(figures from documents the companies had to hand over in the merger review)</a:t>
            </a:r>
          </a:p>
        </p:txBody>
      </p:sp>
      <p:grpSp>
        <p:nvGrpSpPr>
          <p:cNvPr id="23" name="Group 22">
            <a:extLst>
              <a:ext uri="{FF2B5EF4-FFF2-40B4-BE49-F238E27FC236}">
                <a16:creationId xmlns:a16="http://schemas.microsoft.com/office/drawing/2014/main" id="{13752B2F-874B-EEDD-6D32-5CBC0497DED6}"/>
              </a:ext>
            </a:extLst>
          </p:cNvPr>
          <p:cNvGrpSpPr/>
          <p:nvPr/>
        </p:nvGrpSpPr>
        <p:grpSpPr>
          <a:xfrm>
            <a:off x="572039" y="4882896"/>
            <a:ext cx="11047617" cy="914400"/>
            <a:chOff x="572039" y="4882896"/>
            <a:chExt cx="11047617" cy="914400"/>
          </a:xfrm>
        </p:grpSpPr>
        <p:sp>
          <p:nvSpPr>
            <p:cNvPr id="16" name="Rounded Rectangle 15"/>
            <p:cNvSpPr/>
            <p:nvPr/>
          </p:nvSpPr>
          <p:spPr>
            <a:xfrm>
              <a:off x="572039" y="4882896"/>
              <a:ext cx="11047617" cy="914400"/>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4919" y="4992624"/>
              <a:ext cx="10681857" cy="694944"/>
            </a:xfrm>
            <a:prstGeom prst="rect">
              <a:avLst/>
            </a:prstGeom>
            <a:noFill/>
          </p:spPr>
          <p:txBody>
            <a:bodyPr wrap="square" lIns="45720" tIns="0" rIns="45720" bIns="0" anchor="ctr">
              <a:spAutoFit/>
            </a:bodyPr>
            <a:lstStyle/>
            <a:p>
              <a:pPr algn="l"/>
              <a:r>
                <a:rPr sz="1800" b="0" i="1" u="none" dirty="0">
                  <a:solidFill>
                    <a:srgbClr val="0B2B4E"/>
                  </a:solidFill>
                  <a:latin typeface="Calibri"/>
                </a:rPr>
                <a:t>“Bottom line, saying we're in the same market with true luxury is a joke. … Nobody says ‘should I buy a LV bag or a Coach bag?’”</a:t>
              </a:r>
            </a:p>
            <a:p>
              <a:pPr algn="l"/>
              <a:r>
                <a:rPr sz="1600" b="1" i="0" u="none" dirty="0">
                  <a:solidFill>
                    <a:srgbClr val="0B2B4E"/>
                  </a:solidFill>
                  <a:latin typeface="Calibri"/>
                </a:rPr>
                <a:t>   — internal Tapestry message cited by the court</a:t>
              </a:r>
            </a:p>
          </p:txBody>
        </p:sp>
      </p:grpSp>
      <p:sp>
        <p:nvSpPr>
          <p:cNvPr id="18" name="Rounded Rectangle 17"/>
          <p:cNvSpPr/>
          <p:nvPr/>
        </p:nvSpPr>
        <p:spPr>
          <a:xfrm>
            <a:off x="822960" y="5888736"/>
            <a:ext cx="10543032" cy="548640"/>
          </a:xfrm>
          <a:prstGeom prst="roundRect">
            <a:avLst>
              <a:gd name="adj" fmla="val 18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900" b="1">
                <a:solidFill>
                  <a:srgbClr val="0B2B4E"/>
                </a:solidFill>
                <a:latin typeface="Calibri"/>
              </a:rPr>
              <a:t>Oct 2024: the court sides with the FTC and blocks the deal — merger abandoned Nov 2024</a:t>
            </a:r>
          </a:p>
        </p:txBody>
      </p:sp>
      <p:sp>
        <p:nvSpPr>
          <p:cNvPr id="19" name="Rectangle 1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Example Candidates (for review)</a:t>
            </a:r>
          </a:p>
        </p:txBody>
      </p:sp>
      <p:sp>
        <p:nvSpPr>
          <p:cNvPr id="22" name="TextBox 21"/>
          <p:cNvSpPr txBox="1"/>
          <p:nvPr/>
        </p:nvSpPr>
        <p:spPr>
          <a:xfrm>
            <a:off x="11475720" y="6583680"/>
            <a:ext cx="502920" cy="292608"/>
          </a:xfrm>
          <a:prstGeom prst="rect">
            <a:avLst/>
          </a:prstGeom>
          <a:noFill/>
        </p:spPr>
        <p:txBody>
          <a:bodyPr wrap="none" lIns="0" tIns="0" rIns="0" bIns="0">
            <a:spAutoFit/>
          </a:bodyPr>
          <a:lstStyle/>
          <a:p>
            <a:pPr algn="r"/>
            <a:fld id="{A45A4D84-7183-56C5-AAA9-0FBCD4EF9048}"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p:bldP spid="12" grpId="0" animBg="1"/>
      <p:bldP spid="13" grpId="0" animBg="1"/>
      <p:bldP spid="14" grpId="0" animBg="1"/>
      <p:bldP spid="15" grpId="0"/>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2 · Markets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Market Definition: the Case of Netflix</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2213729"/>
            <a:ext cx="6400800" cy="2339102"/>
          </a:xfrm>
          <a:prstGeom prst="rect">
            <a:avLst/>
          </a:prstGeom>
          <a:noFill/>
        </p:spPr>
        <p:txBody>
          <a:bodyPr wrap="square" lIns="0" tIns="0" rIns="0" bIns="0" anchor="ctr">
            <a:spAutoFit/>
          </a:bodyPr>
          <a:lstStyle>
            <a:lvl1pPr marL="342900" indent="-342900">
              <a:spcBef>
                <a:spcPts val="16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buNone/>
            </a:pPr>
            <a:r>
              <a:rPr sz="2800" b="1" dirty="0">
                <a:solidFill>
                  <a:srgbClr val="0B2B4E"/>
                </a:solidFill>
                <a:latin typeface="Calibri"/>
              </a:rPr>
              <a:t>Define Netflix’s market</a:t>
            </a:r>
          </a:p>
          <a:p>
            <a:pPr algn="l"/>
            <a:r>
              <a:rPr dirty="0">
                <a:latin typeface="Calibri"/>
              </a:rPr>
              <a:t>Online streaming?</a:t>
            </a:r>
          </a:p>
          <a:p>
            <a:pPr algn="l"/>
            <a:r>
              <a:rPr dirty="0">
                <a:latin typeface="Calibri"/>
              </a:rPr>
              <a:t>All films?</a:t>
            </a:r>
          </a:p>
          <a:p>
            <a:pPr algn="l"/>
            <a:r>
              <a:rPr dirty="0">
                <a:latin typeface="Calibri"/>
              </a:rPr>
              <a:t>All entertainment?</a:t>
            </a:r>
          </a:p>
        </p:txBody>
      </p:sp>
      <p:pic>
        <p:nvPicPr>
          <p:cNvPr id="8" name="Picture 7" descr="ic_s20_rId2.png"/>
          <p:cNvPicPr>
            <a:picLocks noChangeAspect="1"/>
          </p:cNvPicPr>
          <p:nvPr/>
        </p:nvPicPr>
        <p:blipFill>
          <a:blip r:embed="rId3"/>
          <a:stretch>
            <a:fillRect/>
          </a:stretch>
        </p:blipFill>
        <p:spPr>
          <a:xfrm>
            <a:off x="7178040" y="2240280"/>
            <a:ext cx="4434840" cy="3065257"/>
          </a:xfrm>
          <a:prstGeom prst="roundRect">
            <a:avLst>
              <a:gd name="adj" fmla="val 8000"/>
            </a:avLst>
          </a:prstGeom>
          <a:effectLst>
            <a:outerShdw blurRad="50800" dist="38100" dir="2700000" algn="tl" rotWithShape="0">
              <a:srgbClr val="000000">
                <a:alpha val="50000"/>
              </a:srgbClr>
            </a:outerShdw>
          </a:effectLst>
        </p:spPr>
      </p:pic>
      <p:grpSp>
        <p:nvGrpSpPr>
          <p:cNvPr id="15" name="Group 14">
            <a:extLst>
              <a:ext uri="{FF2B5EF4-FFF2-40B4-BE49-F238E27FC236}">
                <a16:creationId xmlns:a16="http://schemas.microsoft.com/office/drawing/2014/main" id="{A76E8C28-D9C0-ACAF-DE3D-12FA82C6F1FB}"/>
              </a:ext>
            </a:extLst>
          </p:cNvPr>
          <p:cNvGrpSpPr/>
          <p:nvPr/>
        </p:nvGrpSpPr>
        <p:grpSpPr>
          <a:xfrm>
            <a:off x="6544736" y="5715000"/>
            <a:ext cx="5394960" cy="658368"/>
            <a:chOff x="6544736" y="5715000"/>
            <a:chExt cx="5394960" cy="658368"/>
          </a:xfrm>
        </p:grpSpPr>
        <p:sp>
          <p:nvSpPr>
            <p:cNvPr id="9" name="Rectangle 8"/>
            <p:cNvSpPr/>
            <p:nvPr/>
          </p:nvSpPr>
          <p:spPr>
            <a:xfrm>
              <a:off x="6544736" y="5715000"/>
              <a:ext cx="5394960" cy="658368"/>
            </a:xfrm>
            <a:custGeom>
              <a:avLst/>
              <a:gdLst/>
              <a:ahLst/>
              <a:cxnLst/>
              <a:rect l="12203" t="0" r="87797" b="100000"/>
              <a:pathLst>
                <a:path w="100000" h="100000">
                  <a:moveTo>
                    <a:pt x="17203" y="0"/>
                  </a:moveTo>
                  <a:lnTo>
                    <a:pt x="95000" y="0"/>
                  </a:lnTo>
                  <a:cubicBezTo>
                    <a:pt x="100000" y="0"/>
                    <a:pt x="100000" y="0"/>
                    <a:pt x="99390" y="5000"/>
                  </a:cubicBezTo>
                  <a:lnTo>
                    <a:pt x="88407" y="95000"/>
                  </a:lnTo>
                  <a:cubicBezTo>
                    <a:pt x="87797" y="100000"/>
                    <a:pt x="87797" y="100000"/>
                    <a:pt x="82797" y="100000"/>
                  </a:cubicBezTo>
                  <a:lnTo>
                    <a:pt x="5000" y="100000"/>
                  </a:lnTo>
                  <a:cubicBezTo>
                    <a:pt x="0" y="100000"/>
                    <a:pt x="0" y="100000"/>
                    <a:pt x="610" y="95000"/>
                  </a:cubicBezTo>
                  <a:lnTo>
                    <a:pt x="11593" y="5000"/>
                  </a:lnTo>
                  <a:cubicBezTo>
                    <a:pt x="12203" y="0"/>
                    <a:pt x="12203" y="0"/>
                    <a:pt x="17203"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203104" y="5715000"/>
              <a:ext cx="4078224" cy="658368"/>
            </a:xfrm>
            <a:prstGeom prst="rect">
              <a:avLst/>
            </a:prstGeom>
            <a:noFill/>
          </p:spPr>
          <p:txBody>
            <a:bodyPr wrap="none" lIns="45720" tIns="18288" rIns="45720" bIns="18288" anchor="ctr">
              <a:spAutoFit/>
            </a:bodyPr>
            <a:lstStyle/>
            <a:p>
              <a:pPr algn="ctr"/>
              <a:r>
                <a:rPr sz="2800" b="1">
                  <a:solidFill>
                    <a:srgbClr val="0B2B4E"/>
                  </a:solidFill>
                  <a:latin typeface="Calibri"/>
                </a:rPr>
                <a:t>Prepare for Class Discussion</a:t>
              </a:r>
            </a:p>
          </p:txBody>
        </p:sp>
      </p:grpSp>
      <p:sp>
        <p:nvSpPr>
          <p:cNvPr id="11" name="Rectangle 1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4" name="TextBox 13"/>
          <p:cNvSpPr txBox="1"/>
          <p:nvPr/>
        </p:nvSpPr>
        <p:spPr>
          <a:xfrm>
            <a:off x="11475720" y="6583680"/>
            <a:ext cx="502920" cy="292608"/>
          </a:xfrm>
          <a:prstGeom prst="rect">
            <a:avLst/>
          </a:prstGeom>
          <a:noFill/>
        </p:spPr>
        <p:txBody>
          <a:bodyPr wrap="none" lIns="0" tIns="0" rIns="0" bIns="0">
            <a:spAutoFit/>
          </a:bodyPr>
          <a:lstStyle/>
          <a:p>
            <a:pPr algn="r"/>
            <a:fld id="{693E6277-CDA5-5C83-80DB-FFFD2EA37ECF}"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1 · Video 2 · Markets</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Actors in the Market</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80847" y="1783080"/>
            <a:ext cx="3657600" cy="566928"/>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CONSUMERS</a:t>
            </a:r>
          </a:p>
        </p:txBody>
      </p:sp>
      <p:sp>
        <p:nvSpPr>
          <p:cNvPr id="8" name="TextBox 7"/>
          <p:cNvSpPr txBox="1"/>
          <p:nvPr/>
        </p:nvSpPr>
        <p:spPr>
          <a:xfrm>
            <a:off x="490575" y="2560320"/>
            <a:ext cx="3438144" cy="3291840"/>
          </a:xfrm>
          <a:prstGeom prst="rect">
            <a:avLst/>
          </a:prstGeom>
          <a:noFill/>
        </p:spPr>
        <p:txBody>
          <a:bodyPr wrap="square" lIns="0" tIns="0" rIns="0" bIns="0" anchor="t">
            <a:spAutoFit/>
          </a:bodyPr>
          <a:lstStyle>
            <a:lvl1pPr marL="342900" indent="-342900">
              <a:spcBef>
                <a:spcPts val="10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Objective: Maximize “utility” from goods and services, given their limited income</a:t>
            </a:r>
          </a:p>
        </p:txBody>
      </p:sp>
      <p:sp>
        <p:nvSpPr>
          <p:cNvPr id="9" name="Rounded Rectangle 8"/>
          <p:cNvSpPr/>
          <p:nvPr/>
        </p:nvSpPr>
        <p:spPr>
          <a:xfrm>
            <a:off x="4267047" y="1783080"/>
            <a:ext cx="3657600" cy="566928"/>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WORKERS</a:t>
            </a:r>
          </a:p>
        </p:txBody>
      </p:sp>
      <p:sp>
        <p:nvSpPr>
          <p:cNvPr id="10" name="TextBox 9"/>
          <p:cNvSpPr txBox="1"/>
          <p:nvPr/>
        </p:nvSpPr>
        <p:spPr>
          <a:xfrm>
            <a:off x="4376775" y="2560320"/>
            <a:ext cx="3438144" cy="3291840"/>
          </a:xfrm>
          <a:prstGeom prst="rect">
            <a:avLst/>
          </a:prstGeom>
          <a:noFill/>
        </p:spPr>
        <p:txBody>
          <a:bodyPr wrap="square" lIns="0" tIns="0" rIns="0" bIns="0" anchor="t">
            <a:spAutoFit/>
          </a:bodyPr>
          <a:lstStyle>
            <a:lvl1pPr marL="342900" indent="-342900">
              <a:spcBef>
                <a:spcPts val="10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Choose a job to earn income</a:t>
            </a:r>
          </a:p>
          <a:p>
            <a:pPr algn="l"/>
            <a:r>
              <a:rPr>
                <a:latin typeface="Calibri"/>
              </a:rPr>
              <a:t>Face trade-offs in their choice of employment</a:t>
            </a:r>
          </a:p>
          <a:p>
            <a:pPr lvl="1" algn="l"/>
            <a:r>
              <a:rPr>
                <a:latin typeface="Calibri"/>
              </a:rPr>
              <a:t>E.g. labor income vs. leisure time / flexibility</a:t>
            </a:r>
          </a:p>
        </p:txBody>
      </p:sp>
      <p:sp>
        <p:nvSpPr>
          <p:cNvPr id="11" name="Rounded Rectangle 10"/>
          <p:cNvSpPr/>
          <p:nvPr/>
        </p:nvSpPr>
        <p:spPr>
          <a:xfrm>
            <a:off x="8153247" y="1783080"/>
            <a:ext cx="3657600" cy="566928"/>
          </a:xfrm>
          <a:prstGeom prst="roundRect">
            <a:avLst>
              <a:gd name="adj" fmla="val 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FFFFF"/>
                </a:solidFill>
                <a:latin typeface="Calibri"/>
              </a:rPr>
              <a:t>FIRMS</a:t>
            </a:r>
          </a:p>
        </p:txBody>
      </p:sp>
      <p:sp>
        <p:nvSpPr>
          <p:cNvPr id="12" name="TextBox 11"/>
          <p:cNvSpPr txBox="1"/>
          <p:nvPr/>
        </p:nvSpPr>
        <p:spPr>
          <a:xfrm>
            <a:off x="8262975" y="2560320"/>
            <a:ext cx="3438144" cy="3291840"/>
          </a:xfrm>
          <a:prstGeom prst="rect">
            <a:avLst/>
          </a:prstGeom>
          <a:noFill/>
        </p:spPr>
        <p:txBody>
          <a:bodyPr wrap="square" lIns="0" tIns="0" rIns="0" bIns="0" anchor="t">
            <a:spAutoFit/>
          </a:bodyPr>
          <a:lstStyle>
            <a:lvl1pPr marL="342900" indent="-342900">
              <a:spcBef>
                <a:spcPts val="10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a:latin typeface="Calibri"/>
              </a:rPr>
              <a:t>Employ workers to produce goods and services for consumers</a:t>
            </a:r>
          </a:p>
          <a:p>
            <a:pPr algn="l"/>
            <a:r>
              <a:rPr>
                <a:latin typeface="Calibri"/>
              </a:rPr>
              <a:t>Objective: Maximize profits (value of the firm)</a:t>
            </a:r>
          </a:p>
        </p:txBody>
      </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1  ·  Basic Concepts and Economic Principles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859291FE-DB9D-5F65-9427-6E3356439D96}"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1112</Words>
  <Application>Microsoft Office PowerPoint</Application>
  <PresentationFormat>Widescreen</PresentationFormat>
  <Paragraphs>88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12</cp:revision>
  <dcterms:created xsi:type="dcterms:W3CDTF">2013-01-27T09:14:16Z</dcterms:created>
  <dcterms:modified xsi:type="dcterms:W3CDTF">2026-08-24T16:00:53Z</dcterms:modified>
  <cp:category/>
</cp:coreProperties>
</file>