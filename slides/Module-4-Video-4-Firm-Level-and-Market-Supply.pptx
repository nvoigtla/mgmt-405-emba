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304" r:id="rId2"/>
    <p:sldId id="305" r:id="rId3"/>
    <p:sldId id="306" r:id="rId4"/>
    <p:sldId id="307" r:id="rId5"/>
    <p:sldId id="308"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11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505D57-B5B1-42E8-9F79-99CE7754156E}"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A79474-3F6C-4F5A-AEB7-943304FF46E0}" type="slidenum">
              <a:rPr lang="en-US" smtClean="0"/>
              <a:t>‹#›</a:t>
            </a:fld>
            <a:endParaRPr lang="en-US"/>
          </a:p>
        </p:txBody>
      </p:sp>
    </p:spTree>
    <p:extLst>
      <p:ext uri="{BB962C8B-B14F-4D97-AF65-F5344CB8AC3E}">
        <p14:creationId xmlns:p14="http://schemas.microsoft.com/office/powerpoint/2010/main" val="1969772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price taker’s supply curve. We can trace out the supply curve of the firm.</a:t>
            </a:r>
          </a:p>
          <a:p>
            <a:r>
              <a:t>At P = 210, you maximize profits by producing 187.5 tons.</a:t>
            </a:r>
          </a:p>
          <a:p>
            <a:r>
              <a:t>At P = 400, you expand more.</a:t>
            </a:r>
          </a:p>
          <a:p>
            <a:r>
              <a:t>Bottom line: the MC curve is the firm’s short-run supply curve. We can draw the supply curve.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change the firm's costs and watch what happens. High-yield seeds cut the marginal cost of every ton by the same amount, so the MC curve shifts down in parallel. At the unchanged market price the farmer's optimum moves out from q0 to q1 - lower costs mean more output, not just more profit per ton.</a:t>
            </a:r>
          </a:p>
          <a:p>
            <a:endParaRPr/>
          </a:p>
          <a:p>
            <a:r>
              <a:t>Example: the Yi family starts using new high-yield seeds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assume every farmers are using those new high-yield seeds.</a:t>
            </a:r>
          </a:p>
          <a:p>
            <a:r>
              <a:t>First, you see the effect on the individual farmer we just saw on the previous slide. However, because all farmers face lower costs, this changes the market supply: downward shift of the market supply curve, leading to a lower market price and higher aggregate quantity.</a:t>
            </a:r>
          </a:p>
          <a:p>
            <a:r>
              <a:t>New market price = new demand curve for the individual farmer, so that the new quantity provided by the farmer is the intersection of this new D curve with the new MC curve (MC’ and MR’). The farmer produces more than before, but less than if he/she was the only one to have the new seeds (which would be the quantity given by the intersection of MC’ and MR)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999" y="1920240"/>
            <a:ext cx="11687697" cy="914400"/>
          </a:xfrm>
          <a:prstGeom prst="rect">
            <a:avLst/>
          </a:prstGeom>
          <a:noFill/>
        </p:spPr>
        <p:txBody>
          <a:bodyPr wrap="square" lIns="0" tIns="0" rIns="0" bIns="0">
            <a:spAutoFit/>
          </a:bodyPr>
          <a:lstStyle/>
          <a:p>
            <a:pPr algn="ctr"/>
            <a:r>
              <a:rPr sz="6000" b="1" i="0" u="none" dirty="0">
                <a:solidFill>
                  <a:srgbClr val="0B2B4E"/>
                </a:solidFill>
                <a:latin typeface="Calibri"/>
              </a:rPr>
              <a:t>Firm-Level and Market Supply</a:t>
            </a:r>
          </a:p>
        </p:txBody>
      </p:sp>
      <p:sp>
        <p:nvSpPr>
          <p:cNvPr id="3" name="TextBox 2"/>
          <p:cNvSpPr txBox="1"/>
          <p:nvPr/>
        </p:nvSpPr>
        <p:spPr>
          <a:xfrm>
            <a:off x="251999" y="2971800"/>
            <a:ext cx="11687697" cy="640080"/>
          </a:xfrm>
          <a:prstGeom prst="rect">
            <a:avLst/>
          </a:prstGeom>
          <a:noFill/>
        </p:spPr>
        <p:txBody>
          <a:bodyPr wrap="square" lIns="0" tIns="0" rIns="0" bIns="0">
            <a:spAutoFit/>
          </a:bodyPr>
          <a:lstStyle/>
          <a:p>
            <a:pPr algn="ctr"/>
            <a:r>
              <a:rPr sz="4000" b="1" i="0" u="none">
                <a:solidFill>
                  <a:srgbClr val="E09F3E"/>
                </a:solidFill>
                <a:latin typeface="Calibri"/>
              </a:rPr>
              <a:t>Module 4  ·  Video 4</a:t>
            </a:r>
          </a:p>
        </p:txBody>
      </p:sp>
      <p:sp>
        <p:nvSpPr>
          <p:cNvPr id="4" name="Rectangle 3"/>
          <p:cNvSpPr/>
          <p:nvPr/>
        </p:nvSpPr>
        <p:spPr>
          <a:xfrm>
            <a:off x="4267047" y="3913632"/>
            <a:ext cx="365760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1999" y="4224528"/>
            <a:ext cx="11687697" cy="41148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251999" y="4864608"/>
            <a:ext cx="11687697" cy="36576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4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Rounded Rectangle 7"/>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1</a:t>
            </a:r>
          </a:p>
        </p:txBody>
      </p:sp>
      <p:sp>
        <p:nvSpPr>
          <p:cNvPr id="9" name="TextBox 8"/>
          <p:cNvSpPr txBox="1"/>
          <p:nvPr/>
        </p:nvSpPr>
        <p:spPr>
          <a:xfrm>
            <a:off x="1874519" y="1552194"/>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Market Structures</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Rounded Rectangle 10"/>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12" name="TextBox 11"/>
          <p:cNvSpPr txBox="1"/>
          <p:nvPr/>
        </p:nvSpPr>
        <p:spPr>
          <a:xfrm>
            <a:off x="1874519" y="226999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Perfect Competition</a:t>
            </a:r>
          </a:p>
        </p:txBody>
      </p:sp>
      <p:sp>
        <p:nvSpPr>
          <p:cNvPr id="13" name="Oval 12"/>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2a</a:t>
            </a:r>
          </a:p>
        </p:txBody>
      </p:sp>
      <p:sp>
        <p:nvSpPr>
          <p:cNvPr id="14" name="Rounded Rectangle 13"/>
          <p:cNvSpPr/>
          <p:nvPr/>
        </p:nvSpPr>
        <p:spPr>
          <a:xfrm>
            <a:off x="10707625" y="297865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5" name="TextBox 14"/>
          <p:cNvSpPr txBox="1"/>
          <p:nvPr/>
        </p:nvSpPr>
        <p:spPr>
          <a:xfrm>
            <a:off x="2148840" y="2987802"/>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Profit Maximization of a Price Taker in the Short Run</a:t>
            </a:r>
          </a:p>
        </p:txBody>
      </p:sp>
      <p:sp>
        <p:nvSpPr>
          <p:cNvPr id="16" name="Rounded Rectangle 15"/>
          <p:cNvSpPr/>
          <p:nvPr/>
        </p:nvSpPr>
        <p:spPr>
          <a:xfrm>
            <a:off x="822960" y="3477006"/>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0B2B4E"/>
                </a:solidFill>
                <a:latin typeface="Calibri"/>
              </a:rPr>
              <a:t>2b</a:t>
            </a:r>
          </a:p>
        </p:txBody>
      </p:sp>
      <p:sp>
        <p:nvSpPr>
          <p:cNvPr id="18" name="Rounded Rectangle 17"/>
          <p:cNvSpPr/>
          <p:nvPr/>
        </p:nvSpPr>
        <p:spPr>
          <a:xfrm>
            <a:off x="10707625" y="3696462"/>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4</a:t>
            </a:r>
          </a:p>
        </p:txBody>
      </p:sp>
      <p:sp>
        <p:nvSpPr>
          <p:cNvPr id="19" name="TextBox 18"/>
          <p:cNvSpPr txBox="1"/>
          <p:nvPr/>
        </p:nvSpPr>
        <p:spPr>
          <a:xfrm>
            <a:off x="2148840" y="3531870"/>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Firm-Level and Market Supply</a:t>
            </a:r>
          </a:p>
          <a:p>
            <a:pPr algn="l">
              <a:spcBef>
                <a:spcPts val="0"/>
              </a:spcBef>
              <a:buNone/>
            </a:pPr>
            <a:r>
              <a:rPr sz="2000">
                <a:solidFill>
                  <a:srgbClr val="555B66"/>
                </a:solidFill>
                <a:latin typeface="Calibri"/>
              </a:rPr>
              <a:t>Marginal cost is one firm’s supply curve; market supply sums across firms</a:t>
            </a:r>
          </a:p>
        </p:txBody>
      </p:sp>
      <p:sp>
        <p:nvSpPr>
          <p:cNvPr id="20" name="Oval 19"/>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2c</a:t>
            </a:r>
          </a:p>
        </p:txBody>
      </p:sp>
      <p:sp>
        <p:nvSpPr>
          <p:cNvPr id="21" name="Rounded Rectangle 20"/>
          <p:cNvSpPr/>
          <p:nvPr/>
        </p:nvSpPr>
        <p:spPr>
          <a:xfrm>
            <a:off x="10707625" y="441426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2" name="TextBox 21"/>
          <p:cNvSpPr txBox="1"/>
          <p:nvPr/>
        </p:nvSpPr>
        <p:spPr>
          <a:xfrm>
            <a:off x="2148840" y="4423410"/>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Long-Run Competitive Equilibrium</a:t>
            </a:r>
          </a:p>
        </p:txBody>
      </p:sp>
      <p:sp>
        <p:nvSpPr>
          <p:cNvPr id="23" name="Oval 22"/>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24" name="Rounded Rectangle 23"/>
          <p:cNvSpPr/>
          <p:nvPr/>
        </p:nvSpPr>
        <p:spPr>
          <a:xfrm>
            <a:off x="10332720" y="513207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5" name="TextBox 24"/>
          <p:cNvSpPr txBox="1"/>
          <p:nvPr/>
        </p:nvSpPr>
        <p:spPr>
          <a:xfrm>
            <a:off x="1874519" y="5141214"/>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Market Distortions and Regulations</a:t>
            </a: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27" name="Rounded Rectangle 26"/>
          <p:cNvSpPr/>
          <p:nvPr/>
        </p:nvSpPr>
        <p:spPr>
          <a:xfrm>
            <a:off x="10332720" y="584987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8" name="TextBox 27"/>
          <p:cNvSpPr txBox="1"/>
          <p:nvPr/>
        </p:nvSpPr>
        <p:spPr>
          <a:xfrm>
            <a:off x="1874519" y="585901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Externalities</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88267FBA-0D55-5805-AC0F-6C0CD68EDD40}"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4 · Firm-Level and Market Supply</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MC Curve Is the Price Taker's Short-Run Supply Curve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188720" y="1984247"/>
            <a:ext cx="0" cy="354787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5532120"/>
            <a:ext cx="43251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08991" y="1851659"/>
            <a:ext cx="806577" cy="265176"/>
          </a:xfrm>
          <a:prstGeom prst="rect">
            <a:avLst/>
          </a:prstGeom>
          <a:noFill/>
        </p:spPr>
        <p:txBody>
          <a:bodyPr wrap="square" lIns="0" tIns="0" rIns="0" bIns="0">
            <a:spAutoFit/>
          </a:bodyPr>
          <a:lstStyle/>
          <a:p>
            <a:pPr algn="l"/>
            <a:r>
              <a:rPr sz="1700" b="1" i="1" u="none">
                <a:solidFill>
                  <a:srgbClr val="0B2B4E"/>
                </a:solidFill>
                <a:latin typeface="Calibri"/>
              </a:rPr>
              <a:t>Price ($)</a:t>
            </a:r>
          </a:p>
        </p:txBody>
      </p:sp>
      <p:sp>
        <p:nvSpPr>
          <p:cNvPr id="10" name="TextBox 9"/>
          <p:cNvSpPr txBox="1"/>
          <p:nvPr/>
        </p:nvSpPr>
        <p:spPr>
          <a:xfrm>
            <a:off x="5401056" y="5577840"/>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cxnSp>
        <p:nvCxnSpPr>
          <p:cNvPr id="11" name="Connector 10"/>
          <p:cNvCxnSpPr/>
          <p:nvPr/>
        </p:nvCxnSpPr>
        <p:spPr>
          <a:xfrm flipV="1">
            <a:off x="1188720" y="2561600"/>
            <a:ext cx="3856091" cy="2057034"/>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43335" y="2239365"/>
            <a:ext cx="416052" cy="292608"/>
          </a:xfrm>
          <a:prstGeom prst="rect">
            <a:avLst/>
          </a:prstGeom>
          <a:noFill/>
        </p:spPr>
        <p:txBody>
          <a:bodyPr wrap="square" lIns="0" tIns="0" rIns="0" bIns="0">
            <a:spAutoFit/>
          </a:bodyPr>
          <a:lstStyle/>
          <a:p>
            <a:pPr algn="l"/>
            <a:r>
              <a:rPr sz="1900" b="1" i="1" u="none">
                <a:solidFill>
                  <a:srgbClr val="0B2B4E"/>
                </a:solidFill>
                <a:latin typeface="Calibri"/>
              </a:rPr>
              <a:t>MC</a:t>
            </a:r>
          </a:p>
        </p:txBody>
      </p:sp>
      <p:cxnSp>
        <p:nvCxnSpPr>
          <p:cNvPr id="13" name="Connector 12"/>
          <p:cNvCxnSpPr/>
          <p:nvPr/>
        </p:nvCxnSpPr>
        <p:spPr>
          <a:xfrm>
            <a:off x="1188720" y="4111142"/>
            <a:ext cx="951338"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140058" y="4111142"/>
            <a:ext cx="0" cy="1420978"/>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28091" y="3973982"/>
            <a:ext cx="387477" cy="274320"/>
          </a:xfrm>
          <a:prstGeom prst="rect">
            <a:avLst/>
          </a:prstGeom>
          <a:noFill/>
        </p:spPr>
        <p:txBody>
          <a:bodyPr wrap="square" lIns="0" tIns="0" rIns="0" bIns="0">
            <a:spAutoFit/>
          </a:bodyPr>
          <a:lstStyle/>
          <a:p>
            <a:pPr algn="r"/>
            <a:r>
              <a:rPr sz="1600" b="0" i="1" u="none">
                <a:solidFill>
                  <a:srgbClr val="0B2B4E"/>
                </a:solidFill>
                <a:latin typeface="Calibri"/>
              </a:rPr>
              <a:t>210</a:t>
            </a:r>
          </a:p>
        </p:txBody>
      </p:sp>
      <p:sp>
        <p:nvSpPr>
          <p:cNvPr id="16" name="TextBox 15"/>
          <p:cNvSpPr txBox="1"/>
          <p:nvPr/>
        </p:nvSpPr>
        <p:spPr>
          <a:xfrm>
            <a:off x="1746866" y="5586983"/>
            <a:ext cx="786384" cy="274320"/>
          </a:xfrm>
          <a:prstGeom prst="rect">
            <a:avLst/>
          </a:prstGeom>
          <a:noFill/>
        </p:spPr>
        <p:txBody>
          <a:bodyPr wrap="square" lIns="0" tIns="0" rIns="0" bIns="0">
            <a:spAutoFit/>
          </a:bodyPr>
          <a:lstStyle/>
          <a:p>
            <a:pPr algn="ctr"/>
            <a:r>
              <a:rPr sz="1600" b="0" i="1" u="none">
                <a:solidFill>
                  <a:srgbClr val="0B2B4E"/>
                </a:solidFill>
                <a:latin typeface="Calibri"/>
              </a:rPr>
              <a:t>187.5</a:t>
            </a:r>
          </a:p>
        </p:txBody>
      </p:sp>
      <p:sp>
        <p:nvSpPr>
          <p:cNvPr id="17" name="Oval 16"/>
          <p:cNvSpPr/>
          <p:nvPr/>
        </p:nvSpPr>
        <p:spPr>
          <a:xfrm>
            <a:off x="2080622" y="4051706"/>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1188720" y="2825496"/>
            <a:ext cx="3361395"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550115" y="2825496"/>
            <a:ext cx="0" cy="2706624"/>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28091" y="2688336"/>
            <a:ext cx="387477" cy="274320"/>
          </a:xfrm>
          <a:prstGeom prst="rect">
            <a:avLst/>
          </a:prstGeom>
          <a:noFill/>
        </p:spPr>
        <p:txBody>
          <a:bodyPr wrap="square" lIns="0" tIns="0" rIns="0" bIns="0">
            <a:spAutoFit/>
          </a:bodyPr>
          <a:lstStyle/>
          <a:p>
            <a:pPr algn="r"/>
            <a:r>
              <a:rPr sz="1600" b="0" i="1" u="none">
                <a:solidFill>
                  <a:srgbClr val="0B2B4E"/>
                </a:solidFill>
                <a:latin typeface="Calibri"/>
              </a:rPr>
              <a:t>400</a:t>
            </a:r>
          </a:p>
        </p:txBody>
      </p:sp>
      <p:sp>
        <p:nvSpPr>
          <p:cNvPr id="21" name="TextBox 20"/>
          <p:cNvSpPr txBox="1"/>
          <p:nvPr/>
        </p:nvSpPr>
        <p:spPr>
          <a:xfrm>
            <a:off x="4156923" y="5586983"/>
            <a:ext cx="786384" cy="274320"/>
          </a:xfrm>
          <a:prstGeom prst="rect">
            <a:avLst/>
          </a:prstGeom>
          <a:noFill/>
        </p:spPr>
        <p:txBody>
          <a:bodyPr wrap="square" lIns="0" tIns="0" rIns="0" bIns="0">
            <a:spAutoFit/>
          </a:bodyPr>
          <a:lstStyle/>
          <a:p>
            <a:pPr algn="ctr"/>
            <a:r>
              <a:rPr sz="1600" b="0" i="1" u="none">
                <a:solidFill>
                  <a:srgbClr val="0B2B4E"/>
                </a:solidFill>
                <a:latin typeface="Calibri"/>
              </a:rPr>
              <a:t>662.5</a:t>
            </a:r>
          </a:p>
        </p:txBody>
      </p:sp>
      <p:sp>
        <p:nvSpPr>
          <p:cNvPr id="22" name="Oval 21"/>
          <p:cNvSpPr/>
          <p:nvPr/>
        </p:nvSpPr>
        <p:spPr>
          <a:xfrm>
            <a:off x="4490679" y="2766060"/>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flipV="1">
            <a:off x="6903720" y="1984247"/>
            <a:ext cx="0" cy="354787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03720" y="5532120"/>
            <a:ext cx="432511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23991" y="1851659"/>
            <a:ext cx="806577" cy="265176"/>
          </a:xfrm>
          <a:prstGeom prst="rect">
            <a:avLst/>
          </a:prstGeom>
          <a:noFill/>
        </p:spPr>
        <p:txBody>
          <a:bodyPr wrap="square" lIns="0" tIns="0" rIns="0" bIns="0">
            <a:spAutoFit/>
          </a:bodyPr>
          <a:lstStyle/>
          <a:p>
            <a:pPr algn="l"/>
            <a:r>
              <a:rPr sz="1700" b="1" i="1" u="none">
                <a:solidFill>
                  <a:srgbClr val="0B2B4E"/>
                </a:solidFill>
                <a:latin typeface="Calibri"/>
              </a:rPr>
              <a:t>Price ($)</a:t>
            </a:r>
          </a:p>
        </p:txBody>
      </p:sp>
      <p:sp>
        <p:nvSpPr>
          <p:cNvPr id="26" name="TextBox 25"/>
          <p:cNvSpPr txBox="1"/>
          <p:nvPr/>
        </p:nvSpPr>
        <p:spPr>
          <a:xfrm>
            <a:off x="11116056" y="5577840"/>
            <a:ext cx="225551" cy="265176"/>
          </a:xfrm>
          <a:prstGeom prst="rect">
            <a:avLst/>
          </a:prstGeom>
          <a:noFill/>
        </p:spPr>
        <p:txBody>
          <a:bodyPr wrap="square" lIns="0" tIns="0" rIns="0" bIns="0">
            <a:spAutoFit/>
          </a:bodyPr>
          <a:lstStyle/>
          <a:p>
            <a:pPr algn="l"/>
            <a:r>
              <a:rPr lang="en-US" sz="1700" b="1" i="1" u="none" dirty="0">
                <a:solidFill>
                  <a:srgbClr val="0B2B4E"/>
                </a:solidFill>
                <a:latin typeface="Calibri"/>
              </a:rPr>
              <a:t>q</a:t>
            </a:r>
            <a:endParaRPr sz="1700" b="1" i="1" u="none" dirty="0">
              <a:solidFill>
                <a:srgbClr val="0B2B4E"/>
              </a:solidFill>
              <a:latin typeface="Calibri"/>
            </a:endParaRPr>
          </a:p>
        </p:txBody>
      </p:sp>
      <p:cxnSp>
        <p:nvCxnSpPr>
          <p:cNvPr id="27" name="Connector 26"/>
          <p:cNvCxnSpPr/>
          <p:nvPr/>
        </p:nvCxnSpPr>
        <p:spPr>
          <a:xfrm flipV="1">
            <a:off x="6903720" y="2561600"/>
            <a:ext cx="3856091" cy="2057034"/>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658335" y="2239365"/>
            <a:ext cx="196976" cy="292608"/>
          </a:xfrm>
          <a:prstGeom prst="rect">
            <a:avLst/>
          </a:prstGeom>
          <a:noFill/>
        </p:spPr>
        <p:txBody>
          <a:bodyPr wrap="square" lIns="0" tIns="0" rIns="0" bIns="0">
            <a:spAutoFit/>
          </a:bodyPr>
          <a:lstStyle/>
          <a:p>
            <a:pPr algn="l"/>
            <a:r>
              <a:rPr sz="1900" b="1" i="1" u="none" dirty="0">
                <a:solidFill>
                  <a:srgbClr val="0B2B4E"/>
                </a:solidFill>
                <a:latin typeface="Calibri"/>
              </a:rPr>
              <a:t>S</a:t>
            </a:r>
          </a:p>
        </p:txBody>
      </p:sp>
      <p:cxnSp>
        <p:nvCxnSpPr>
          <p:cNvPr id="29" name="Connector 28"/>
          <p:cNvCxnSpPr/>
          <p:nvPr/>
        </p:nvCxnSpPr>
        <p:spPr>
          <a:xfrm>
            <a:off x="6903720" y="4111142"/>
            <a:ext cx="951338"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855058" y="4111142"/>
            <a:ext cx="0" cy="1420978"/>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43091" y="3973982"/>
            <a:ext cx="387477" cy="274320"/>
          </a:xfrm>
          <a:prstGeom prst="rect">
            <a:avLst/>
          </a:prstGeom>
          <a:noFill/>
        </p:spPr>
        <p:txBody>
          <a:bodyPr wrap="square" lIns="0" tIns="0" rIns="0" bIns="0">
            <a:spAutoFit/>
          </a:bodyPr>
          <a:lstStyle/>
          <a:p>
            <a:pPr algn="r"/>
            <a:r>
              <a:rPr sz="1600" b="0" i="1" u="none">
                <a:solidFill>
                  <a:srgbClr val="0B2B4E"/>
                </a:solidFill>
                <a:latin typeface="Calibri"/>
              </a:rPr>
              <a:t>210</a:t>
            </a:r>
          </a:p>
        </p:txBody>
      </p:sp>
      <p:sp>
        <p:nvSpPr>
          <p:cNvPr id="32" name="TextBox 31"/>
          <p:cNvSpPr txBox="1"/>
          <p:nvPr/>
        </p:nvSpPr>
        <p:spPr>
          <a:xfrm>
            <a:off x="7461866" y="5586983"/>
            <a:ext cx="786384" cy="274320"/>
          </a:xfrm>
          <a:prstGeom prst="rect">
            <a:avLst/>
          </a:prstGeom>
          <a:noFill/>
        </p:spPr>
        <p:txBody>
          <a:bodyPr wrap="square" lIns="0" tIns="0" rIns="0" bIns="0">
            <a:spAutoFit/>
          </a:bodyPr>
          <a:lstStyle/>
          <a:p>
            <a:pPr algn="ctr"/>
            <a:r>
              <a:rPr sz="1600" b="0" i="1" u="none">
                <a:solidFill>
                  <a:srgbClr val="0B2B4E"/>
                </a:solidFill>
                <a:latin typeface="Calibri"/>
              </a:rPr>
              <a:t>187.5</a:t>
            </a:r>
          </a:p>
        </p:txBody>
      </p:sp>
      <p:sp>
        <p:nvSpPr>
          <p:cNvPr id="33" name="Oval 32"/>
          <p:cNvSpPr/>
          <p:nvPr/>
        </p:nvSpPr>
        <p:spPr>
          <a:xfrm>
            <a:off x="7795622" y="4051706"/>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a:off x="6903720" y="2825496"/>
            <a:ext cx="3361395"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0265115" y="2825496"/>
            <a:ext cx="0" cy="2706624"/>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43091" y="2688336"/>
            <a:ext cx="387477" cy="274320"/>
          </a:xfrm>
          <a:prstGeom prst="rect">
            <a:avLst/>
          </a:prstGeom>
          <a:noFill/>
        </p:spPr>
        <p:txBody>
          <a:bodyPr wrap="square" lIns="0" tIns="0" rIns="0" bIns="0">
            <a:spAutoFit/>
          </a:bodyPr>
          <a:lstStyle/>
          <a:p>
            <a:pPr algn="r"/>
            <a:r>
              <a:rPr sz="1600" b="0" i="1" u="none">
                <a:solidFill>
                  <a:srgbClr val="0B2B4E"/>
                </a:solidFill>
                <a:latin typeface="Calibri"/>
              </a:rPr>
              <a:t>400</a:t>
            </a:r>
          </a:p>
        </p:txBody>
      </p:sp>
      <p:sp>
        <p:nvSpPr>
          <p:cNvPr id="37" name="TextBox 36"/>
          <p:cNvSpPr txBox="1"/>
          <p:nvPr/>
        </p:nvSpPr>
        <p:spPr>
          <a:xfrm>
            <a:off x="9871923" y="5586983"/>
            <a:ext cx="786384" cy="274320"/>
          </a:xfrm>
          <a:prstGeom prst="rect">
            <a:avLst/>
          </a:prstGeom>
          <a:noFill/>
        </p:spPr>
        <p:txBody>
          <a:bodyPr wrap="square" lIns="0" tIns="0" rIns="0" bIns="0">
            <a:spAutoFit/>
          </a:bodyPr>
          <a:lstStyle/>
          <a:p>
            <a:pPr algn="ctr"/>
            <a:r>
              <a:rPr sz="1600" b="0" i="1" u="none">
                <a:solidFill>
                  <a:srgbClr val="0B2B4E"/>
                </a:solidFill>
                <a:latin typeface="Calibri"/>
              </a:rPr>
              <a:t>662.5</a:t>
            </a:r>
          </a:p>
        </p:txBody>
      </p:sp>
      <p:sp>
        <p:nvSpPr>
          <p:cNvPr id="38" name="Oval 37"/>
          <p:cNvSpPr/>
          <p:nvPr/>
        </p:nvSpPr>
        <p:spPr>
          <a:xfrm>
            <a:off x="10205679" y="2766060"/>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38"/>
          <p:cNvCxnSpPr/>
          <p:nvPr/>
        </p:nvCxnSpPr>
        <p:spPr>
          <a:xfrm flipV="1">
            <a:off x="1188720" y="3590117"/>
            <a:ext cx="3856091" cy="1028517"/>
          </a:xfrm>
          <a:prstGeom prst="line">
            <a:avLst/>
          </a:prstGeom>
          <a:ln w="28575">
            <a:solidFill>
              <a:srgbClr val="555B66"/>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943335" y="3267882"/>
            <a:ext cx="473201" cy="292608"/>
          </a:xfrm>
          <a:prstGeom prst="rect">
            <a:avLst/>
          </a:prstGeom>
          <a:noFill/>
        </p:spPr>
        <p:txBody>
          <a:bodyPr wrap="square" lIns="0" tIns="0" rIns="0" bIns="0">
            <a:spAutoFit/>
          </a:bodyPr>
          <a:lstStyle/>
          <a:p>
            <a:pPr algn="l"/>
            <a:r>
              <a:rPr sz="1700" b="1" i="1" u="none">
                <a:solidFill>
                  <a:srgbClr val="555B66"/>
                </a:solidFill>
                <a:latin typeface="Calibri"/>
              </a:rPr>
              <a:t>AVC</a:t>
            </a:r>
          </a:p>
        </p:txBody>
      </p:sp>
      <p:sp>
        <p:nvSpPr>
          <p:cNvPr id="41" name="TextBox 40"/>
          <p:cNvSpPr txBox="1"/>
          <p:nvPr/>
        </p:nvSpPr>
        <p:spPr>
          <a:xfrm>
            <a:off x="1188720" y="1444752"/>
            <a:ext cx="4160520" cy="347472"/>
          </a:xfrm>
          <a:prstGeom prst="rect">
            <a:avLst/>
          </a:prstGeom>
          <a:noFill/>
        </p:spPr>
        <p:txBody>
          <a:bodyPr wrap="square" lIns="0" tIns="0" rIns="0" bIns="0">
            <a:spAutoFit/>
          </a:bodyPr>
          <a:lstStyle/>
          <a:p>
            <a:pPr algn="ctr"/>
            <a:r>
              <a:rPr sz="2000" b="1" i="0" u="none">
                <a:solidFill>
                  <a:srgbClr val="0B2B4E"/>
                </a:solidFill>
                <a:latin typeface="Calibri"/>
              </a:rPr>
              <a:t>The firm's cost curves</a:t>
            </a:r>
          </a:p>
        </p:txBody>
      </p:sp>
      <p:sp>
        <p:nvSpPr>
          <p:cNvPr id="42" name="TextBox 41"/>
          <p:cNvSpPr txBox="1"/>
          <p:nvPr/>
        </p:nvSpPr>
        <p:spPr>
          <a:xfrm>
            <a:off x="6903720" y="1444752"/>
            <a:ext cx="4160520" cy="347472"/>
          </a:xfrm>
          <a:prstGeom prst="rect">
            <a:avLst/>
          </a:prstGeom>
          <a:noFill/>
        </p:spPr>
        <p:txBody>
          <a:bodyPr wrap="square" lIns="0" tIns="0" rIns="0" bIns="0">
            <a:spAutoFit/>
          </a:bodyPr>
          <a:lstStyle/>
          <a:p>
            <a:pPr algn="ctr"/>
            <a:r>
              <a:rPr sz="2000" b="1" i="0" u="none">
                <a:solidFill>
                  <a:srgbClr val="0B2B4E"/>
                </a:solidFill>
                <a:latin typeface="Calibri"/>
              </a:rPr>
              <a:t>The firm's supply curve</a:t>
            </a:r>
          </a:p>
        </p:txBody>
      </p:sp>
      <p:sp>
        <p:nvSpPr>
          <p:cNvPr id="43" name="Rectangle 4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46" name="TextBox 45"/>
          <p:cNvSpPr txBox="1"/>
          <p:nvPr/>
        </p:nvSpPr>
        <p:spPr>
          <a:xfrm>
            <a:off x="11475720" y="6583680"/>
            <a:ext cx="502920" cy="292608"/>
          </a:xfrm>
          <a:prstGeom prst="rect">
            <a:avLst/>
          </a:prstGeom>
          <a:noFill/>
        </p:spPr>
        <p:txBody>
          <a:bodyPr wrap="none" lIns="0" tIns="0" rIns="0" bIns="0">
            <a:spAutoFit/>
          </a:bodyPr>
          <a:lstStyle/>
          <a:p>
            <a:pPr algn="r"/>
            <a:fld id="{AE1A0E2C-A5F1-53C8-BA1B-63E6B0B179FF}" type="slidenum">
              <a:rPr lang="en-US" sz="1200" dirty="0">
                <a:solidFill>
                  <a:srgbClr val="555B66"/>
                </a:solidFill>
                <a:latin typeface="Calibri"/>
              </a:rPr>
              <a:t>3</a:t>
            </a:fld>
            <a:endParaRPr lang="en-US" sz="1200" dirty="0">
              <a:solidFill>
                <a:srgbClr val="555B66"/>
              </a:solidFill>
              <a:latin typeface="Calibri"/>
            </a:endParaRPr>
          </a:p>
        </p:txBody>
      </p:sp>
      <p:sp>
        <p:nvSpPr>
          <p:cNvPr id="47" name="TextBox 46"/>
          <p:cNvSpPr txBox="1"/>
          <p:nvPr/>
        </p:nvSpPr>
        <p:spPr>
          <a:xfrm>
            <a:off x="594360" y="5936766"/>
            <a:ext cx="8138160" cy="370284"/>
          </a:xfrm>
          <a:prstGeom prst="roundRect">
            <a:avLst>
              <a:gd name="adj" fmla="val 30000"/>
            </a:avLst>
          </a:prstGeom>
          <a:solidFill>
            <a:srgbClr val="E09F3E"/>
          </a:solidFill>
          <a:ln>
            <a:noFill/>
          </a:ln>
          <a:effectLst>
            <a:outerShdw blurRad="50800" dist="38100" dir="2700000" algn="tl" rotWithShape="0">
              <a:srgbClr val="000000">
                <a:alpha val="50000"/>
              </a:srgbClr>
            </a:outerShdw>
          </a:effectLst>
        </p:spPr>
        <p:txBody>
          <a:bodyPr wrap="square" lIns="45720" tIns="0" rIns="45720" bIns="0" anchor="ctr">
            <a:spAutoFit/>
          </a:bodyPr>
          <a:lstStyle/>
          <a:p>
            <a:pPr algn="ctr"/>
            <a:r>
              <a:rPr lang="en-US" sz="2000" b="1" dirty="0">
                <a:solidFill>
                  <a:srgbClr val="0B2B4E"/>
                </a:solidFill>
                <a:latin typeface="Calibri"/>
              </a:rPr>
              <a:t>The MC curve </a:t>
            </a:r>
            <a:r>
              <a:rPr lang="en-US" sz="2000" b="1" u="sng" dirty="0">
                <a:solidFill>
                  <a:srgbClr val="0B2B4E"/>
                </a:solidFill>
                <a:latin typeface="Calibri"/>
              </a:rPr>
              <a:t>is</a:t>
            </a:r>
            <a:r>
              <a:rPr lang="en-US" sz="2000" b="1" dirty="0">
                <a:solidFill>
                  <a:srgbClr val="0B2B4E"/>
                </a:solidFill>
                <a:latin typeface="Calibri"/>
              </a:rPr>
              <a:t> the firm's short-run supply curve</a:t>
            </a:r>
            <a:endParaRPr lang="en-US" dirty="0"/>
          </a:p>
        </p:txBody>
      </p:sp>
      <p:sp>
        <p:nvSpPr>
          <p:cNvPr id="48" name="Rounded Rectangle 47"/>
          <p:cNvSpPr/>
          <p:nvPr/>
        </p:nvSpPr>
        <p:spPr>
          <a:xfrm>
            <a:off x="9098280" y="5961888"/>
            <a:ext cx="2834640" cy="457200"/>
          </a:xfrm>
          <a:prstGeom prst="roundRect">
            <a:avLst>
              <a:gd name="adj" fmla="val 50000"/>
            </a:avLst>
          </a:prstGeom>
          <a:solidFill>
            <a:srgbClr val="B8860B">
              <a:alpha val="35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  Yi Family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par>
                                <p:cTn id="14" presetID="10" presetClass="entr" presetSubtype="0" fill="hold"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5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6" presetID="10" presetClass="entr" presetSubtype="0" fill="hold"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500"/>
                                        <p:tgtEl>
                                          <p:spTgt spid="29"/>
                                        </p:tgtEl>
                                      </p:cBhvr>
                                    </p:animEffect>
                                  </p:childTnLst>
                                </p:cTn>
                              </p:par>
                              <p:par>
                                <p:cTn id="64" presetID="10" presetClass="entr" presetSubtype="0" fill="hold" nodeType="with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500"/>
                                        <p:tgtEl>
                                          <p:spTgt spid="30"/>
                                        </p:tgtEl>
                                      </p:cBhvr>
                                    </p:animEffect>
                                  </p:childTnLst>
                                </p:cTn>
                              </p:par>
                              <p:par>
                                <p:cTn id="67" presetID="10" presetClass="entr" presetSubtype="0" fill="hold" nodeType="with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500"/>
                                        <p:tgtEl>
                                          <p:spTgt spid="31"/>
                                        </p:tgtEl>
                                      </p:cBhvr>
                                    </p:animEffect>
                                  </p:childTnLst>
                                </p:cTn>
                              </p:par>
                              <p:par>
                                <p:cTn id="70" presetID="10" presetClass="entr" presetSubtype="0" fill="hold" nodeType="with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par>
                                <p:cTn id="73" presetID="10" presetClass="entr" presetSubtype="0" fill="hold" nodeType="with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500"/>
                                        <p:tgtEl>
                                          <p:spTgt spid="33"/>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34"/>
                                        </p:tgtEl>
                                        <p:attrNameLst>
                                          <p:attrName>style.visibility</p:attrName>
                                        </p:attrNameLst>
                                      </p:cBhvr>
                                      <p:to>
                                        <p:strVal val="visible"/>
                                      </p:to>
                                    </p:set>
                                    <p:animEffect transition="in" filter="fade">
                                      <p:cBhvr>
                                        <p:cTn id="80" dur="500"/>
                                        <p:tgtEl>
                                          <p:spTgt spid="34"/>
                                        </p:tgtEl>
                                      </p:cBhvr>
                                    </p:animEffect>
                                  </p:childTnLst>
                                </p:cTn>
                              </p:par>
                              <p:par>
                                <p:cTn id="81" presetID="10" presetClass="entr" presetSubtype="0" fill="hold"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500"/>
                                        <p:tgtEl>
                                          <p:spTgt spid="35"/>
                                        </p:tgtEl>
                                      </p:cBhvr>
                                    </p:animEffect>
                                  </p:childTnLst>
                                </p:cTn>
                              </p:par>
                              <p:par>
                                <p:cTn id="84" presetID="10" presetClass="entr" presetSubtype="0" fill="hold" nodeType="with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fade">
                                      <p:cBhvr>
                                        <p:cTn id="86" dur="500"/>
                                        <p:tgtEl>
                                          <p:spTgt spid="36"/>
                                        </p:tgtEl>
                                      </p:cBhvr>
                                    </p:animEffect>
                                  </p:childTnLst>
                                </p:cTn>
                              </p:par>
                              <p:par>
                                <p:cTn id="87" presetID="10" presetClass="entr" presetSubtype="0" fill="hold" nodeType="withEffect">
                                  <p:stCondLst>
                                    <p:cond delay="0"/>
                                  </p:stCondLst>
                                  <p:childTnLst>
                                    <p:set>
                                      <p:cBhvr>
                                        <p:cTn id="88" dur="1" fill="hold">
                                          <p:stCondLst>
                                            <p:cond delay="0"/>
                                          </p:stCondLst>
                                        </p:cTn>
                                        <p:tgtEl>
                                          <p:spTgt spid="37"/>
                                        </p:tgtEl>
                                        <p:attrNameLst>
                                          <p:attrName>style.visibility</p:attrName>
                                        </p:attrNameLst>
                                      </p:cBhvr>
                                      <p:to>
                                        <p:strVal val="visible"/>
                                      </p:to>
                                    </p:set>
                                    <p:animEffect transition="in" filter="fade">
                                      <p:cBhvr>
                                        <p:cTn id="89" dur="500"/>
                                        <p:tgtEl>
                                          <p:spTgt spid="37"/>
                                        </p:tgtEl>
                                      </p:cBhvr>
                                    </p:animEffect>
                                  </p:childTnLst>
                                </p:cTn>
                              </p:par>
                              <p:par>
                                <p:cTn id="90" presetID="10" presetClass="entr" presetSubtype="0" fill="hold" nodeType="withEffect">
                                  <p:stCondLst>
                                    <p:cond delay="0"/>
                                  </p:stCondLst>
                                  <p:childTnLst>
                                    <p:set>
                                      <p:cBhvr>
                                        <p:cTn id="91" dur="1" fill="hold">
                                          <p:stCondLst>
                                            <p:cond delay="0"/>
                                          </p:stCondLst>
                                        </p:cTn>
                                        <p:tgtEl>
                                          <p:spTgt spid="38"/>
                                        </p:tgtEl>
                                        <p:attrNameLst>
                                          <p:attrName>style.visibility</p:attrName>
                                        </p:attrNameLst>
                                      </p:cBhvr>
                                      <p:to>
                                        <p:strVal val="visible"/>
                                      </p:to>
                                    </p:set>
                                    <p:animEffect transition="in" filter="fade">
                                      <p:cBhvr>
                                        <p:cTn id="92" dur="500"/>
                                        <p:tgtEl>
                                          <p:spTgt spid="38"/>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47"/>
                                        </p:tgtEl>
                                        <p:attrNameLst>
                                          <p:attrName>style.visibility</p:attrName>
                                        </p:attrNameLst>
                                      </p:cBhvr>
                                      <p:to>
                                        <p:strVal val="visible"/>
                                      </p:to>
                                    </p:set>
                                    <p:animEffect transition="in" filter="fade">
                                      <p:cBhvr>
                                        <p:cTn id="9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4 · Firm-Level and Market Supply</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Effect of Changing Marginal Costs on a Price Taker's Supply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2331720" y="1801368"/>
            <a:ext cx="0" cy="359359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331720" y="5394960"/>
            <a:ext cx="683971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052066" y="1668780"/>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0" name="TextBox 9"/>
          <p:cNvSpPr txBox="1"/>
          <p:nvPr/>
        </p:nvSpPr>
        <p:spPr>
          <a:xfrm>
            <a:off x="9072943" y="5440680"/>
            <a:ext cx="196976"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cxnSp>
        <p:nvCxnSpPr>
          <p:cNvPr id="11" name="Connector 10"/>
          <p:cNvCxnSpPr/>
          <p:nvPr/>
        </p:nvCxnSpPr>
        <p:spPr>
          <a:xfrm flipV="1">
            <a:off x="2331720" y="2192403"/>
            <a:ext cx="5224006" cy="2329132"/>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39637" y="1852005"/>
            <a:ext cx="501776" cy="292608"/>
          </a:xfrm>
          <a:prstGeom prst="rect">
            <a:avLst/>
          </a:prstGeom>
          <a:noFill/>
        </p:spPr>
        <p:txBody>
          <a:bodyPr wrap="square" lIns="0" tIns="0" rIns="0" bIns="0">
            <a:spAutoFit/>
          </a:bodyPr>
          <a:lstStyle/>
          <a:p>
            <a:pPr algn="l"/>
            <a:r>
              <a:rPr sz="1900" b="1" i="1" u="none">
                <a:solidFill>
                  <a:srgbClr val="0B2B4E"/>
                </a:solidFill>
                <a:latin typeface="Calibri"/>
              </a:rPr>
              <a:t>MC₀</a:t>
            </a:r>
          </a:p>
        </p:txBody>
      </p:sp>
      <p:cxnSp>
        <p:nvCxnSpPr>
          <p:cNvPr id="13" name="Connector 12"/>
          <p:cNvCxnSpPr/>
          <p:nvPr/>
        </p:nvCxnSpPr>
        <p:spPr>
          <a:xfrm flipV="1">
            <a:off x="2331720" y="2308860"/>
            <a:ext cx="6268808" cy="2794958"/>
          </a:xfrm>
          <a:prstGeom prst="line">
            <a:avLst/>
          </a:prstGeom>
          <a:ln w="38100">
            <a:solidFill>
              <a:srgbClr val="E09F3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484439" y="1968461"/>
            <a:ext cx="463677" cy="292608"/>
          </a:xfrm>
          <a:prstGeom prst="rect">
            <a:avLst/>
          </a:prstGeom>
          <a:noFill/>
        </p:spPr>
        <p:txBody>
          <a:bodyPr wrap="square" lIns="0" tIns="0" rIns="0" bIns="0">
            <a:spAutoFit/>
          </a:bodyPr>
          <a:lstStyle/>
          <a:p>
            <a:pPr algn="l"/>
            <a:r>
              <a:rPr sz="1900" b="1" i="1" u="none">
                <a:solidFill>
                  <a:srgbClr val="E09F3E"/>
                </a:solidFill>
                <a:latin typeface="Calibri"/>
              </a:rPr>
              <a:t>MC₁</a:t>
            </a:r>
          </a:p>
        </p:txBody>
      </p:sp>
      <p:cxnSp>
        <p:nvCxnSpPr>
          <p:cNvPr id="15" name="Connector 14"/>
          <p:cNvCxnSpPr/>
          <p:nvPr/>
        </p:nvCxnSpPr>
        <p:spPr>
          <a:xfrm>
            <a:off x="2331720" y="2807035"/>
            <a:ext cx="6500986"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890750" y="2651587"/>
            <a:ext cx="1463040" cy="310896"/>
          </a:xfrm>
          <a:prstGeom prst="rect">
            <a:avLst/>
          </a:prstGeom>
          <a:noFill/>
        </p:spPr>
        <p:txBody>
          <a:bodyPr wrap="square" lIns="0" tIns="0" rIns="0" bIns="0">
            <a:spAutoFit/>
          </a:bodyPr>
          <a:lstStyle/>
          <a:p>
            <a:pPr algn="l"/>
            <a:r>
              <a:rPr sz="1800" b="1" i="1" u="none">
                <a:solidFill>
                  <a:srgbClr val="C00000"/>
                </a:solidFill>
                <a:latin typeface="Calibri"/>
              </a:rPr>
              <a:t>P = MR</a:t>
            </a:r>
          </a:p>
        </p:txBody>
      </p:sp>
      <p:cxnSp>
        <p:nvCxnSpPr>
          <p:cNvPr id="17" name="Connector 16"/>
          <p:cNvCxnSpPr/>
          <p:nvPr/>
        </p:nvCxnSpPr>
        <p:spPr>
          <a:xfrm flipV="1">
            <a:off x="6177169" y="2807035"/>
            <a:ext cx="0" cy="2587925"/>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6117733" y="2747599"/>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V="1">
            <a:off x="7483171" y="2807035"/>
            <a:ext cx="0" cy="2587925"/>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7423735" y="2747599"/>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28529" y="5486400"/>
            <a:ext cx="502920" cy="310896"/>
          </a:xfrm>
          <a:prstGeom prst="rect">
            <a:avLst/>
          </a:prstGeom>
          <a:noFill/>
        </p:spPr>
        <p:txBody>
          <a:bodyPr wrap="square" lIns="0" tIns="0" rIns="0" bIns="0">
            <a:spAutoFit/>
          </a:bodyPr>
          <a:lstStyle/>
          <a:p>
            <a:pPr algn="r"/>
            <a:r>
              <a:rPr sz="1800" b="1" i="1" u="none">
                <a:solidFill>
                  <a:srgbClr val="0B2B4E"/>
                </a:solidFill>
                <a:latin typeface="Calibri"/>
              </a:rPr>
              <a:t>q₀</a:t>
            </a:r>
          </a:p>
        </p:txBody>
      </p:sp>
      <p:sp>
        <p:nvSpPr>
          <p:cNvPr id="22" name="TextBox 21"/>
          <p:cNvSpPr txBox="1"/>
          <p:nvPr/>
        </p:nvSpPr>
        <p:spPr>
          <a:xfrm>
            <a:off x="7556323" y="5486400"/>
            <a:ext cx="502920" cy="310896"/>
          </a:xfrm>
          <a:prstGeom prst="rect">
            <a:avLst/>
          </a:prstGeom>
          <a:noFill/>
        </p:spPr>
        <p:txBody>
          <a:bodyPr wrap="square" lIns="0" tIns="0" rIns="0" bIns="0">
            <a:spAutoFit/>
          </a:bodyPr>
          <a:lstStyle/>
          <a:p>
            <a:pPr algn="l"/>
            <a:r>
              <a:rPr sz="1800" b="1" i="1" u="none">
                <a:solidFill>
                  <a:srgbClr val="0B2B4E"/>
                </a:solidFill>
                <a:latin typeface="Calibri"/>
              </a:rPr>
              <a:t>q₁</a:t>
            </a:r>
          </a:p>
        </p:txBody>
      </p:sp>
      <p:cxnSp>
        <p:nvCxnSpPr>
          <p:cNvPr id="23" name="Connector 22"/>
          <p:cNvCxnSpPr/>
          <p:nvPr/>
        </p:nvCxnSpPr>
        <p:spPr>
          <a:xfrm>
            <a:off x="6158881" y="5641848"/>
            <a:ext cx="1342578" cy="0"/>
          </a:xfrm>
          <a:prstGeom prst="line">
            <a:avLst/>
          </a:prstGeom>
          <a:ln w="2857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30480" y="3033478"/>
            <a:ext cx="0" cy="349370"/>
          </a:xfrm>
          <a:prstGeom prst="line">
            <a:avLst/>
          </a:prstGeom>
          <a:ln w="38100">
            <a:solidFill>
              <a:srgbClr val="E09F3E"/>
            </a:solidFill>
            <a:tailEnd type="triangle" w="lg"/>
          </a:ln>
        </p:spPr>
        <p:style>
          <a:lnRef idx="2">
            <a:schemeClr val="accent1"/>
          </a:lnRef>
          <a:fillRef idx="0">
            <a:schemeClr val="accent1"/>
          </a:fillRef>
          <a:effectRef idx="1">
            <a:schemeClr val="accent1"/>
          </a:effectRef>
          <a:fontRef idx="minor">
            <a:schemeClr val="tx1"/>
          </a:fontRef>
        </p:style>
      </p:cxnSp>
      <p:grpSp>
        <p:nvGrpSpPr>
          <p:cNvPr id="130" name="Group pair 130"/>
          <p:cNvGrpSpPr/>
          <p:nvPr/>
        </p:nvGrpSpPr>
        <p:grpSpPr>
          <a:xfrm>
            <a:off x="4222699" y="3771900"/>
            <a:ext cx="1792224" cy="585216"/>
            <a:chOff x="4222699" y="3771900"/>
            <a:chExt cx="1792224" cy="585216"/>
          </a:xfrm>
        </p:grpSpPr>
        <p:sp>
          <p:nvSpPr>
            <p:cNvPr id="25" name="Rounded Rectangle 24"/>
            <p:cNvSpPr/>
            <p:nvPr/>
          </p:nvSpPr>
          <p:spPr>
            <a:xfrm>
              <a:off x="4222699" y="3771900"/>
              <a:ext cx="1792224" cy="585216"/>
            </a:xfrm>
            <a:prstGeom prst="roundRect">
              <a:avLst>
                <a:gd name="adj" fmla="val 14000"/>
              </a:avLst>
            </a:prstGeom>
            <a:solidFill>
              <a:srgbClr val="FDF6E6"/>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22699" y="3771900"/>
              <a:ext cx="1792224" cy="585216"/>
            </a:xfrm>
            <a:prstGeom prst="rect">
              <a:avLst/>
            </a:prstGeom>
            <a:noFill/>
          </p:spPr>
          <p:txBody>
            <a:bodyPr wrap="square" lIns="45720" tIns="0" rIns="45720" bIns="0" anchor="ctr">
              <a:spAutoFit/>
            </a:bodyPr>
            <a:lstStyle/>
            <a:p>
              <a:pPr algn="l"/>
              <a:r>
                <a:rPr sz="1900" b="1" i="0" u="none" dirty="0">
                  <a:solidFill>
                    <a:srgbClr val="E09F3E"/>
                  </a:solidFill>
                  <a:latin typeface="Calibri"/>
                </a:rPr>
                <a:t>High-yield seeds</a:t>
              </a:r>
            </a:p>
            <a:p>
              <a:pPr algn="l"/>
              <a:r>
                <a:rPr sz="1900" b="1" i="0" u="none" dirty="0">
                  <a:solidFill>
                    <a:srgbClr val="E09F3E"/>
                  </a:solidFill>
                  <a:latin typeface="Calibri"/>
                </a:rPr>
                <a:t>reduce MC</a:t>
              </a:r>
            </a:p>
          </p:txBody>
        </p:sp>
      </p:grpSp>
      <p:sp>
        <p:nvSpPr>
          <p:cNvPr id="27" name="Rectangle 2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0" name="TextBox 29"/>
          <p:cNvSpPr txBox="1"/>
          <p:nvPr/>
        </p:nvSpPr>
        <p:spPr>
          <a:xfrm>
            <a:off x="11475720" y="6583680"/>
            <a:ext cx="502920" cy="292608"/>
          </a:xfrm>
          <a:prstGeom prst="rect">
            <a:avLst/>
          </a:prstGeom>
          <a:noFill/>
        </p:spPr>
        <p:txBody>
          <a:bodyPr wrap="none" lIns="0" tIns="0" rIns="0" bIns="0">
            <a:spAutoFit/>
          </a:bodyPr>
          <a:lstStyle/>
          <a:p>
            <a:pPr algn="r"/>
            <a:fld id="{575638B4-5400-58A4-8BD9-C9DF1FBBA574}"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27" presetID="10"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30"/>
                                        </p:tgtEl>
                                        <p:attrNameLst>
                                          <p:attrName>style.visibility</p:attrName>
                                        </p:attrNameLst>
                                      </p:cBhvr>
                                      <p:to>
                                        <p:strVal val="visible"/>
                                      </p:to>
                                    </p:set>
                                    <p:animEffect transition="in" filter="fade">
                                      <p:cBhvr>
                                        <p:cTn id="34" dur="500"/>
                                        <p:tgtEl>
                                          <p:spTgt spid="130"/>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4 · Firm-Level and Market Supply</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Firm and Market Dynamics When MC Falls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810512"/>
            <a:ext cx="3977639" cy="347472"/>
          </a:xfrm>
          <a:prstGeom prst="rect">
            <a:avLst/>
          </a:prstGeom>
          <a:noFill/>
        </p:spPr>
        <p:txBody>
          <a:bodyPr wrap="square" lIns="0" tIns="0" rIns="0" bIns="0">
            <a:spAutoFit/>
          </a:bodyPr>
          <a:lstStyle/>
          <a:p>
            <a:pPr algn="ctr"/>
            <a:r>
              <a:rPr sz="2100" b="1" i="0" u="none">
                <a:solidFill>
                  <a:srgbClr val="0B2B4E"/>
                </a:solidFill>
                <a:latin typeface="Calibri"/>
              </a:rPr>
              <a:t>Market</a:t>
            </a:r>
          </a:p>
        </p:txBody>
      </p:sp>
      <p:sp>
        <p:nvSpPr>
          <p:cNvPr id="8" name="TextBox 7"/>
          <p:cNvSpPr txBox="1"/>
          <p:nvPr/>
        </p:nvSpPr>
        <p:spPr>
          <a:xfrm>
            <a:off x="6720840" y="1810512"/>
            <a:ext cx="4069080" cy="347472"/>
          </a:xfrm>
          <a:prstGeom prst="rect">
            <a:avLst/>
          </a:prstGeom>
          <a:noFill/>
        </p:spPr>
        <p:txBody>
          <a:bodyPr wrap="square" lIns="0" tIns="0" rIns="0" bIns="0">
            <a:spAutoFit/>
          </a:bodyPr>
          <a:lstStyle/>
          <a:p>
            <a:pPr algn="ctr"/>
            <a:r>
              <a:rPr sz="2100" b="1" i="0" u="none">
                <a:solidFill>
                  <a:srgbClr val="0B2B4E"/>
                </a:solidFill>
                <a:latin typeface="Calibri"/>
              </a:rPr>
              <a:t>Firm (farmer)</a:t>
            </a:r>
          </a:p>
        </p:txBody>
      </p:sp>
      <p:cxnSp>
        <p:nvCxnSpPr>
          <p:cNvPr id="9" name="Connector 8"/>
          <p:cNvCxnSpPr/>
          <p:nvPr/>
        </p:nvCxnSpPr>
        <p:spPr>
          <a:xfrm flipV="1">
            <a:off x="960120" y="2276855"/>
            <a:ext cx="0" cy="322783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60120" y="5504688"/>
            <a:ext cx="414223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9991" y="2144267"/>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2" name="TextBox 11"/>
          <p:cNvSpPr txBox="1"/>
          <p:nvPr/>
        </p:nvSpPr>
        <p:spPr>
          <a:xfrm>
            <a:off x="4989575" y="5550407"/>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cxnSp>
        <p:nvCxnSpPr>
          <p:cNvPr id="13" name="Connector 12"/>
          <p:cNvCxnSpPr/>
          <p:nvPr/>
        </p:nvCxnSpPr>
        <p:spPr>
          <a:xfrm flipV="1">
            <a:off x="6720840" y="2276855"/>
            <a:ext cx="0" cy="322783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720840" y="5504688"/>
            <a:ext cx="423367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50710" y="2144267"/>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6" name="TextBox 15"/>
          <p:cNvSpPr txBox="1"/>
          <p:nvPr/>
        </p:nvSpPr>
        <p:spPr>
          <a:xfrm>
            <a:off x="10841736" y="5550407"/>
            <a:ext cx="225551" cy="265176"/>
          </a:xfrm>
          <a:prstGeom prst="rect">
            <a:avLst/>
          </a:prstGeom>
          <a:noFill/>
        </p:spPr>
        <p:txBody>
          <a:bodyPr wrap="square" lIns="0" tIns="0" rIns="0" bIns="0">
            <a:spAutoFit/>
          </a:bodyPr>
          <a:lstStyle/>
          <a:p>
            <a:pPr algn="l"/>
            <a:r>
              <a:rPr lang="en-US" sz="1700" b="1" i="1" u="none" dirty="0">
                <a:solidFill>
                  <a:srgbClr val="0B2B4E"/>
                </a:solidFill>
                <a:latin typeface="Calibri"/>
              </a:rPr>
              <a:t>q</a:t>
            </a:r>
            <a:endParaRPr sz="1700" b="1" i="1" u="none" dirty="0">
              <a:solidFill>
                <a:srgbClr val="0B2B4E"/>
              </a:solidFill>
              <a:latin typeface="Calibri"/>
            </a:endParaRPr>
          </a:p>
        </p:txBody>
      </p:sp>
      <p:cxnSp>
        <p:nvCxnSpPr>
          <p:cNvPr id="17" name="Connector 16"/>
          <p:cNvCxnSpPr/>
          <p:nvPr/>
        </p:nvCxnSpPr>
        <p:spPr>
          <a:xfrm flipV="1">
            <a:off x="1321723" y="2887010"/>
            <a:ext cx="3037471" cy="2339201"/>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41114" y="2657163"/>
            <a:ext cx="282702" cy="292608"/>
          </a:xfrm>
          <a:prstGeom prst="rect">
            <a:avLst/>
          </a:prstGeom>
          <a:noFill/>
        </p:spPr>
        <p:txBody>
          <a:bodyPr wrap="square" lIns="0" tIns="0" rIns="0" bIns="0">
            <a:spAutoFit/>
          </a:bodyPr>
          <a:lstStyle/>
          <a:p>
            <a:pPr algn="l"/>
            <a:r>
              <a:rPr sz="1800" b="1" i="1" u="none">
                <a:solidFill>
                  <a:srgbClr val="0B2B4E"/>
                </a:solidFill>
                <a:latin typeface="Calibri"/>
              </a:rPr>
              <a:t>S₀</a:t>
            </a:r>
          </a:p>
        </p:txBody>
      </p:sp>
      <p:cxnSp>
        <p:nvCxnSpPr>
          <p:cNvPr id="19" name="Connector 18"/>
          <p:cNvCxnSpPr/>
          <p:nvPr/>
        </p:nvCxnSpPr>
        <p:spPr>
          <a:xfrm flipV="1">
            <a:off x="2189572" y="3276877"/>
            <a:ext cx="2531225" cy="1949334"/>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84637" y="3019182"/>
            <a:ext cx="244602" cy="292608"/>
          </a:xfrm>
          <a:prstGeom prst="rect">
            <a:avLst/>
          </a:prstGeom>
          <a:noFill/>
        </p:spPr>
        <p:txBody>
          <a:bodyPr wrap="square" lIns="0" tIns="0" rIns="0" bIns="0">
            <a:spAutoFit/>
          </a:bodyPr>
          <a:lstStyle/>
          <a:p>
            <a:pPr algn="l"/>
            <a:r>
              <a:rPr sz="1800" b="1" i="1" u="none">
                <a:solidFill>
                  <a:srgbClr val="E09F3E"/>
                </a:solidFill>
                <a:latin typeface="Calibri"/>
              </a:rPr>
              <a:t>S₁</a:t>
            </a:r>
          </a:p>
        </p:txBody>
      </p:sp>
      <p:cxnSp>
        <p:nvCxnSpPr>
          <p:cNvPr id="21" name="Connector 20"/>
          <p:cNvCxnSpPr/>
          <p:nvPr/>
        </p:nvCxnSpPr>
        <p:spPr>
          <a:xfrm>
            <a:off x="1321723" y="2998400"/>
            <a:ext cx="3109791" cy="2394897"/>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95354" y="5107755"/>
            <a:ext cx="216027" cy="292608"/>
          </a:xfrm>
          <a:prstGeom prst="rect">
            <a:avLst/>
          </a:prstGeom>
          <a:noFill/>
        </p:spPr>
        <p:txBody>
          <a:bodyPr wrap="square" lIns="0" tIns="0" rIns="0" bIns="0">
            <a:spAutoFit/>
          </a:bodyPr>
          <a:lstStyle/>
          <a:p>
            <a:pPr algn="l"/>
            <a:r>
              <a:rPr sz="1800" b="1" i="1" u="none">
                <a:solidFill>
                  <a:srgbClr val="C00000"/>
                </a:solidFill>
                <a:latin typeface="Calibri"/>
              </a:rPr>
              <a:t>D</a:t>
            </a:r>
          </a:p>
        </p:txBody>
      </p:sp>
      <p:cxnSp>
        <p:nvCxnSpPr>
          <p:cNvPr id="23" name="Connector 22"/>
          <p:cNvCxnSpPr/>
          <p:nvPr/>
        </p:nvCxnSpPr>
        <p:spPr>
          <a:xfrm>
            <a:off x="960120" y="4112306"/>
            <a:ext cx="1808018"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768138" y="4112306"/>
            <a:ext cx="0" cy="1392382"/>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516678" y="5559551"/>
            <a:ext cx="502920" cy="274320"/>
          </a:xfrm>
          <a:prstGeom prst="rect">
            <a:avLst/>
          </a:prstGeom>
          <a:noFill/>
        </p:spPr>
        <p:txBody>
          <a:bodyPr wrap="square" lIns="0" tIns="0" rIns="0" bIns="0">
            <a:spAutoFit/>
          </a:bodyPr>
          <a:lstStyle/>
          <a:p>
            <a:pPr algn="ctr"/>
            <a:r>
              <a:rPr sz="1700" b="1" i="1" u="none">
                <a:solidFill>
                  <a:srgbClr val="0B2B4E"/>
                </a:solidFill>
                <a:latin typeface="Calibri"/>
              </a:rPr>
              <a:t>Q₀</a:t>
            </a:r>
          </a:p>
        </p:txBody>
      </p:sp>
      <p:sp>
        <p:nvSpPr>
          <p:cNvPr id="26" name="Oval 25"/>
          <p:cNvSpPr/>
          <p:nvPr/>
        </p:nvSpPr>
        <p:spPr>
          <a:xfrm>
            <a:off x="2708702" y="4052870"/>
            <a:ext cx="118872" cy="118872"/>
          </a:xfrm>
          <a:prstGeom prst="ellipse">
            <a:avLst/>
          </a:prstGeom>
          <a:solidFill>
            <a:srgbClr val="C00000"/>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Connector 26"/>
          <p:cNvCxnSpPr/>
          <p:nvPr/>
        </p:nvCxnSpPr>
        <p:spPr>
          <a:xfrm>
            <a:off x="960120" y="4446477"/>
            <a:ext cx="2241942"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202062" y="4446477"/>
            <a:ext cx="0" cy="1058211"/>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950602" y="5559551"/>
            <a:ext cx="502920" cy="274320"/>
          </a:xfrm>
          <a:prstGeom prst="rect">
            <a:avLst/>
          </a:prstGeom>
          <a:noFill/>
        </p:spPr>
        <p:txBody>
          <a:bodyPr wrap="square" lIns="0" tIns="0" rIns="0" bIns="0">
            <a:spAutoFit/>
          </a:bodyPr>
          <a:lstStyle/>
          <a:p>
            <a:pPr algn="ctr"/>
            <a:r>
              <a:rPr sz="1700" b="1" i="1" u="none">
                <a:solidFill>
                  <a:srgbClr val="0B2B4E"/>
                </a:solidFill>
                <a:latin typeface="Calibri"/>
              </a:rPr>
              <a:t>Q₁</a:t>
            </a:r>
          </a:p>
        </p:txBody>
      </p:sp>
      <p:sp>
        <p:nvSpPr>
          <p:cNvPr id="30" name="Oval 29"/>
          <p:cNvSpPr/>
          <p:nvPr/>
        </p:nvSpPr>
        <p:spPr>
          <a:xfrm>
            <a:off x="3142626" y="4387041"/>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3852949" y="3346496"/>
            <a:ext cx="0" cy="529105"/>
          </a:xfrm>
          <a:prstGeom prst="line">
            <a:avLst/>
          </a:prstGeom>
          <a:ln w="38100">
            <a:solidFill>
              <a:srgbClr val="E09F3E"/>
            </a:solidFill>
            <a:tailEnd type="triangle" w="lg"/>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13791" y="3975146"/>
            <a:ext cx="273177" cy="274320"/>
          </a:xfrm>
          <a:prstGeom prst="rect">
            <a:avLst/>
          </a:prstGeom>
          <a:noFill/>
        </p:spPr>
        <p:txBody>
          <a:bodyPr wrap="square" lIns="0" tIns="0" rIns="0" bIns="0">
            <a:spAutoFit/>
          </a:bodyPr>
          <a:lstStyle/>
          <a:p>
            <a:pPr algn="r"/>
            <a:r>
              <a:rPr sz="1700" b="1" i="1" u="none">
                <a:solidFill>
                  <a:srgbClr val="C00000"/>
                </a:solidFill>
                <a:latin typeface="Calibri"/>
              </a:rPr>
              <a:t>P₀</a:t>
            </a:r>
          </a:p>
        </p:txBody>
      </p:sp>
      <p:sp>
        <p:nvSpPr>
          <p:cNvPr id="33" name="TextBox 32"/>
          <p:cNvSpPr txBox="1"/>
          <p:nvPr/>
        </p:nvSpPr>
        <p:spPr>
          <a:xfrm>
            <a:off x="642366" y="4309317"/>
            <a:ext cx="244602" cy="274320"/>
          </a:xfrm>
          <a:prstGeom prst="rect">
            <a:avLst/>
          </a:prstGeom>
          <a:noFill/>
        </p:spPr>
        <p:txBody>
          <a:bodyPr wrap="square" lIns="0" tIns="0" rIns="0" bIns="0">
            <a:spAutoFit/>
          </a:bodyPr>
          <a:lstStyle/>
          <a:p>
            <a:pPr algn="r"/>
            <a:r>
              <a:rPr sz="1700" b="1" i="1" u="none">
                <a:solidFill>
                  <a:srgbClr val="E09F3E"/>
                </a:solidFill>
                <a:latin typeface="Calibri"/>
              </a:rPr>
              <a:t>P₁</a:t>
            </a:r>
          </a:p>
        </p:txBody>
      </p:sp>
      <p:cxnSp>
        <p:nvCxnSpPr>
          <p:cNvPr id="34" name="Connector 33"/>
          <p:cNvCxnSpPr/>
          <p:nvPr/>
        </p:nvCxnSpPr>
        <p:spPr>
          <a:xfrm flipV="1">
            <a:off x="6720840" y="2764480"/>
            <a:ext cx="3033314" cy="2740208"/>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698666" y="2517925"/>
            <a:ext cx="482727" cy="292608"/>
          </a:xfrm>
          <a:prstGeom prst="rect">
            <a:avLst/>
          </a:prstGeom>
          <a:noFill/>
        </p:spPr>
        <p:txBody>
          <a:bodyPr wrap="square" lIns="0" tIns="0" rIns="0" bIns="0">
            <a:spAutoFit/>
          </a:bodyPr>
          <a:lstStyle/>
          <a:p>
            <a:pPr algn="l"/>
            <a:r>
              <a:rPr sz="1800" b="1" i="1" u="none">
                <a:solidFill>
                  <a:srgbClr val="0B2B4E"/>
                </a:solidFill>
                <a:latin typeface="Calibri"/>
              </a:rPr>
              <a:t>MC₀</a:t>
            </a:r>
          </a:p>
        </p:txBody>
      </p:sp>
      <p:cxnSp>
        <p:nvCxnSpPr>
          <p:cNvPr id="36" name="Connector 35"/>
          <p:cNvCxnSpPr/>
          <p:nvPr/>
        </p:nvCxnSpPr>
        <p:spPr>
          <a:xfrm flipV="1">
            <a:off x="7460672" y="3138752"/>
            <a:ext cx="2619008" cy="2365936"/>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161062" y="2988550"/>
            <a:ext cx="444627" cy="292608"/>
          </a:xfrm>
          <a:prstGeom prst="rect">
            <a:avLst/>
          </a:prstGeom>
          <a:noFill/>
        </p:spPr>
        <p:txBody>
          <a:bodyPr wrap="square" lIns="0" tIns="0" rIns="0" bIns="0">
            <a:spAutoFit/>
          </a:bodyPr>
          <a:lstStyle/>
          <a:p>
            <a:pPr algn="l"/>
            <a:r>
              <a:rPr sz="1800" b="1" i="1" u="none">
                <a:solidFill>
                  <a:srgbClr val="E09F3E"/>
                </a:solidFill>
                <a:latin typeface="Calibri"/>
              </a:rPr>
              <a:t>MC₁</a:t>
            </a:r>
          </a:p>
        </p:txBody>
      </p:sp>
      <p:cxnSp>
        <p:nvCxnSpPr>
          <p:cNvPr id="38" name="Connector 37"/>
          <p:cNvCxnSpPr/>
          <p:nvPr/>
        </p:nvCxnSpPr>
        <p:spPr>
          <a:xfrm>
            <a:off x="6720840" y="4112306"/>
            <a:ext cx="3921113"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720840" y="4446477"/>
            <a:ext cx="3921113" cy="0"/>
          </a:xfrm>
          <a:prstGeom prst="line">
            <a:avLst/>
          </a:prstGeom>
          <a:ln w="28575">
            <a:solidFill>
              <a:srgbClr val="E09F3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789920" y="3956858"/>
            <a:ext cx="1371600" cy="310896"/>
          </a:xfrm>
          <a:prstGeom prst="rect">
            <a:avLst/>
          </a:prstGeom>
          <a:noFill/>
        </p:spPr>
        <p:txBody>
          <a:bodyPr wrap="square" lIns="0" tIns="0" rIns="0" bIns="0">
            <a:spAutoFit/>
          </a:bodyPr>
          <a:lstStyle/>
          <a:p>
            <a:pPr algn="l"/>
            <a:r>
              <a:rPr sz="1500" b="1" i="0" u="none">
                <a:solidFill>
                  <a:srgbClr val="C00000"/>
                </a:solidFill>
                <a:latin typeface="Calibri"/>
              </a:rPr>
              <a:t>MR₀ = P₀</a:t>
            </a:r>
          </a:p>
        </p:txBody>
      </p:sp>
      <p:sp>
        <p:nvSpPr>
          <p:cNvPr id="41" name="TextBox 40"/>
          <p:cNvSpPr txBox="1"/>
          <p:nvPr/>
        </p:nvSpPr>
        <p:spPr>
          <a:xfrm>
            <a:off x="10789920" y="4291029"/>
            <a:ext cx="1371600" cy="310896"/>
          </a:xfrm>
          <a:prstGeom prst="rect">
            <a:avLst/>
          </a:prstGeom>
          <a:noFill/>
        </p:spPr>
        <p:txBody>
          <a:bodyPr wrap="square" lIns="0" tIns="0" rIns="0" bIns="0">
            <a:spAutoFit/>
          </a:bodyPr>
          <a:lstStyle/>
          <a:p>
            <a:pPr algn="l"/>
            <a:r>
              <a:rPr sz="1500" b="1" i="0" u="none">
                <a:solidFill>
                  <a:srgbClr val="E09F3E"/>
                </a:solidFill>
                <a:latin typeface="Calibri"/>
              </a:rPr>
              <a:t>MR₁ = P₁</a:t>
            </a:r>
          </a:p>
        </p:txBody>
      </p:sp>
      <p:cxnSp>
        <p:nvCxnSpPr>
          <p:cNvPr id="42" name="Connector 41"/>
          <p:cNvCxnSpPr/>
          <p:nvPr/>
        </p:nvCxnSpPr>
        <p:spPr>
          <a:xfrm flipV="1">
            <a:off x="8262158" y="4112306"/>
            <a:ext cx="0" cy="1392382"/>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125570" y="5559551"/>
            <a:ext cx="273177" cy="274320"/>
          </a:xfrm>
          <a:prstGeom prst="rect">
            <a:avLst/>
          </a:prstGeom>
          <a:noFill/>
        </p:spPr>
        <p:txBody>
          <a:bodyPr wrap="square" lIns="0" tIns="0" rIns="0" bIns="0">
            <a:spAutoFit/>
          </a:bodyPr>
          <a:lstStyle/>
          <a:p>
            <a:pPr algn="ctr"/>
            <a:r>
              <a:rPr sz="1700" b="1" i="1" u="none">
                <a:solidFill>
                  <a:srgbClr val="0B2B4E"/>
                </a:solidFill>
                <a:latin typeface="Calibri"/>
              </a:rPr>
              <a:t>q₀</a:t>
            </a:r>
          </a:p>
        </p:txBody>
      </p:sp>
      <p:cxnSp>
        <p:nvCxnSpPr>
          <p:cNvPr id="44" name="Connector 43"/>
          <p:cNvCxnSpPr/>
          <p:nvPr/>
        </p:nvCxnSpPr>
        <p:spPr>
          <a:xfrm flipV="1">
            <a:off x="8632074" y="4446477"/>
            <a:ext cx="0" cy="1058211"/>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500248" y="5559551"/>
            <a:ext cx="263652" cy="274320"/>
          </a:xfrm>
          <a:prstGeom prst="rect">
            <a:avLst/>
          </a:prstGeom>
          <a:noFill/>
        </p:spPr>
        <p:txBody>
          <a:bodyPr wrap="square" lIns="0" tIns="0" rIns="0" bIns="0">
            <a:spAutoFit/>
          </a:bodyPr>
          <a:lstStyle/>
          <a:p>
            <a:pPr algn="ctr"/>
            <a:r>
              <a:rPr sz="1700" b="1" i="1" u="none">
                <a:solidFill>
                  <a:srgbClr val="0B2B4E"/>
                </a:solidFill>
                <a:latin typeface="Calibri"/>
              </a:rPr>
              <a:t>q₂</a:t>
            </a:r>
          </a:p>
        </p:txBody>
      </p:sp>
      <p:cxnSp>
        <p:nvCxnSpPr>
          <p:cNvPr id="46" name="Connector 45"/>
          <p:cNvCxnSpPr/>
          <p:nvPr/>
        </p:nvCxnSpPr>
        <p:spPr>
          <a:xfrm flipV="1">
            <a:off x="9001990" y="4112306"/>
            <a:ext cx="0" cy="1392382"/>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879689" y="5559551"/>
            <a:ext cx="244602" cy="274320"/>
          </a:xfrm>
          <a:prstGeom prst="rect">
            <a:avLst/>
          </a:prstGeom>
          <a:noFill/>
        </p:spPr>
        <p:txBody>
          <a:bodyPr wrap="square" lIns="0" tIns="0" rIns="0" bIns="0">
            <a:spAutoFit/>
          </a:bodyPr>
          <a:lstStyle/>
          <a:p>
            <a:pPr algn="ctr"/>
            <a:r>
              <a:rPr sz="1700" b="1" i="1" u="none">
                <a:solidFill>
                  <a:srgbClr val="0B2B4E"/>
                </a:solidFill>
                <a:latin typeface="Calibri"/>
              </a:rPr>
              <a:t>q₁</a:t>
            </a:r>
          </a:p>
        </p:txBody>
      </p:sp>
      <p:sp>
        <p:nvSpPr>
          <p:cNvPr id="49" name="Rectangle 4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52" name="TextBox 51"/>
          <p:cNvSpPr txBox="1"/>
          <p:nvPr/>
        </p:nvSpPr>
        <p:spPr>
          <a:xfrm>
            <a:off x="11475720" y="6583680"/>
            <a:ext cx="502920" cy="292608"/>
          </a:xfrm>
          <a:prstGeom prst="rect">
            <a:avLst/>
          </a:prstGeom>
          <a:noFill/>
        </p:spPr>
        <p:txBody>
          <a:bodyPr wrap="none" lIns="0" tIns="0" rIns="0" bIns="0">
            <a:spAutoFit/>
          </a:bodyPr>
          <a:lstStyle/>
          <a:p>
            <a:pPr algn="r"/>
            <a:fld id="{15974B3E-5559-500D-AAEF-02DA76F24ED1}" type="slidenum">
              <a:rPr lang="en-US" sz="1200" dirty="0">
                <a:solidFill>
                  <a:srgbClr val="555B66"/>
                </a:solidFill>
                <a:latin typeface="Calibri"/>
              </a:rPr>
              <a:t>5</a:t>
            </a:fld>
            <a:endParaRPr lang="en-US" sz="1200" dirty="0">
              <a:solidFill>
                <a:srgbClr val="555B66"/>
              </a:solidFill>
              <a:latin typeface="Calibri"/>
            </a:endParaRPr>
          </a:p>
        </p:txBody>
      </p:sp>
      <p:sp>
        <p:nvSpPr>
          <p:cNvPr id="53" name="Rounded Rectangle 52"/>
          <p:cNvSpPr/>
          <p:nvPr/>
        </p:nvSpPr>
        <p:spPr>
          <a:xfrm>
            <a:off x="3667238" y="5916167"/>
            <a:ext cx="4857217"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dirty="0">
                <a:solidFill>
                  <a:srgbClr val="0B2B4E"/>
                </a:solidFill>
                <a:latin typeface="Calibri"/>
              </a:rPr>
              <a:t>If all firms’ costs fall, </a:t>
            </a:r>
            <a:r>
              <a:rPr sz="1800" b="1" dirty="0">
                <a:solidFill>
                  <a:srgbClr val="0B2B4E"/>
                </a:solidFill>
                <a:latin typeface="Calibri"/>
              </a:rPr>
              <a:t>the </a:t>
            </a:r>
            <a:r>
              <a:rPr lang="en-US" sz="1800" b="1" dirty="0">
                <a:solidFill>
                  <a:srgbClr val="0B2B4E"/>
                </a:solidFill>
                <a:latin typeface="Calibri"/>
              </a:rPr>
              <a:t>market </a:t>
            </a:r>
            <a:r>
              <a:rPr sz="1800" b="1" dirty="0">
                <a:solidFill>
                  <a:srgbClr val="0B2B4E"/>
                </a:solidFill>
                <a:latin typeface="Calibri"/>
              </a:rPr>
              <a:t>price falls too</a:t>
            </a:r>
          </a:p>
        </p:txBody>
      </p:sp>
      <p:grpSp>
        <p:nvGrpSpPr>
          <p:cNvPr id="59" name="Group 58">
            <a:extLst>
              <a:ext uri="{FF2B5EF4-FFF2-40B4-BE49-F238E27FC236}">
                <a16:creationId xmlns:a16="http://schemas.microsoft.com/office/drawing/2014/main" id="{3F006826-2EA6-7AD5-60BD-97D3166A0A04}"/>
              </a:ext>
            </a:extLst>
          </p:cNvPr>
          <p:cNvGrpSpPr/>
          <p:nvPr/>
        </p:nvGrpSpPr>
        <p:grpSpPr>
          <a:xfrm>
            <a:off x="4736314" y="4623053"/>
            <a:ext cx="1792224" cy="881635"/>
            <a:chOff x="4736314" y="4623053"/>
            <a:chExt cx="1792224" cy="881635"/>
          </a:xfrm>
        </p:grpSpPr>
        <p:cxnSp>
          <p:nvCxnSpPr>
            <p:cNvPr id="54" name="Connector 23">
              <a:extLst>
                <a:ext uri="{FF2B5EF4-FFF2-40B4-BE49-F238E27FC236}">
                  <a16:creationId xmlns:a16="http://schemas.microsoft.com/office/drawing/2014/main" id="{97E45BFD-DDB3-8FE5-E7EE-CE4420453EF8}"/>
                </a:ext>
              </a:extLst>
            </p:cNvPr>
            <p:cNvCxnSpPr>
              <a:cxnSpLocks/>
            </p:cNvCxnSpPr>
            <p:nvPr/>
          </p:nvCxnSpPr>
          <p:spPr>
            <a:xfrm flipH="1">
              <a:off x="5192862" y="5226211"/>
              <a:ext cx="220386" cy="278477"/>
            </a:xfrm>
            <a:prstGeom prst="line">
              <a:avLst/>
            </a:prstGeom>
            <a:ln w="38100">
              <a:solidFill>
                <a:schemeClr val="tx2">
                  <a:lumMod val="50000"/>
                </a:schemeClr>
              </a:solidFill>
              <a:tailEnd type="triangle" w="lg"/>
            </a:ln>
          </p:spPr>
          <p:style>
            <a:lnRef idx="2">
              <a:schemeClr val="accent1"/>
            </a:lnRef>
            <a:fillRef idx="0">
              <a:schemeClr val="accent1"/>
            </a:fillRef>
            <a:effectRef idx="1">
              <a:schemeClr val="accent1"/>
            </a:effectRef>
            <a:fontRef idx="minor">
              <a:schemeClr val="tx1"/>
            </a:fontRef>
          </p:style>
        </p:cxnSp>
        <p:grpSp>
          <p:nvGrpSpPr>
            <p:cNvPr id="55" name="Group pair 130">
              <a:extLst>
                <a:ext uri="{FF2B5EF4-FFF2-40B4-BE49-F238E27FC236}">
                  <a16:creationId xmlns:a16="http://schemas.microsoft.com/office/drawing/2014/main" id="{AC0A5D3D-2E95-6D26-60ED-06CB0B501790}"/>
                </a:ext>
              </a:extLst>
            </p:cNvPr>
            <p:cNvGrpSpPr/>
            <p:nvPr/>
          </p:nvGrpSpPr>
          <p:grpSpPr>
            <a:xfrm>
              <a:off x="4736314" y="4623053"/>
              <a:ext cx="1792224" cy="585216"/>
              <a:chOff x="4222699" y="3771900"/>
              <a:chExt cx="1792224" cy="585216"/>
            </a:xfrm>
          </p:grpSpPr>
          <p:sp>
            <p:nvSpPr>
              <p:cNvPr id="56" name="Rounded Rectangle 24">
                <a:extLst>
                  <a:ext uri="{FF2B5EF4-FFF2-40B4-BE49-F238E27FC236}">
                    <a16:creationId xmlns:a16="http://schemas.microsoft.com/office/drawing/2014/main" id="{92B72393-23E4-E3CD-7CB6-ACECB150B035}"/>
                  </a:ext>
                </a:extLst>
              </p:cNvPr>
              <p:cNvSpPr/>
              <p:nvPr/>
            </p:nvSpPr>
            <p:spPr>
              <a:xfrm>
                <a:off x="4222699" y="3771900"/>
                <a:ext cx="1792224" cy="585216"/>
              </a:xfrm>
              <a:prstGeom prst="roundRect">
                <a:avLst>
                  <a:gd name="adj" fmla="val 14000"/>
                </a:avLst>
              </a:prstGeom>
              <a:solidFill>
                <a:srgbClr val="FDF6E6"/>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E33AC5FC-1C71-34E1-C688-42621695401C}"/>
                  </a:ext>
                </a:extLst>
              </p:cNvPr>
              <p:cNvSpPr txBox="1"/>
              <p:nvPr/>
            </p:nvSpPr>
            <p:spPr>
              <a:xfrm>
                <a:off x="4222699" y="3772121"/>
                <a:ext cx="1666668" cy="584775"/>
              </a:xfrm>
              <a:prstGeom prst="rect">
                <a:avLst/>
              </a:prstGeom>
              <a:noFill/>
            </p:spPr>
            <p:txBody>
              <a:bodyPr wrap="square" lIns="45720" tIns="0" rIns="45720" bIns="0" anchor="ctr">
                <a:spAutoFit/>
              </a:bodyPr>
              <a:lstStyle/>
              <a:p>
                <a:pPr algn="l"/>
                <a:r>
                  <a:rPr lang="en-US" sz="1900" i="0" u="none" dirty="0">
                    <a:solidFill>
                      <a:schemeClr val="tx2">
                        <a:lumMod val="50000"/>
                      </a:schemeClr>
                    </a:solidFill>
                    <a:latin typeface="Calibri"/>
                  </a:rPr>
                  <a:t>Capital </a:t>
                </a:r>
                <a:r>
                  <a:rPr lang="en-US" sz="1900" b="1" i="0" u="none" dirty="0">
                    <a:solidFill>
                      <a:schemeClr val="tx2">
                        <a:lumMod val="50000"/>
                      </a:schemeClr>
                    </a:solidFill>
                    <a:latin typeface="Calibri"/>
                  </a:rPr>
                  <a:t>Q</a:t>
                </a:r>
                <a:r>
                  <a:rPr lang="en-US" sz="1900" i="0" u="none" dirty="0">
                    <a:solidFill>
                      <a:schemeClr val="tx2">
                        <a:lumMod val="50000"/>
                      </a:schemeClr>
                    </a:solidFill>
                    <a:latin typeface="Calibri"/>
                  </a:rPr>
                  <a:t> for market quantity</a:t>
                </a:r>
                <a:endParaRPr sz="1900" i="0" u="none" dirty="0">
                  <a:solidFill>
                    <a:schemeClr val="tx2">
                      <a:lumMod val="50000"/>
                    </a:schemeClr>
                  </a:solidFill>
                  <a:latin typeface="Calibri"/>
                </a:endParaRPr>
              </a:p>
            </p:txBody>
          </p:sp>
        </p:grpSp>
      </p:grpSp>
      <p:grpSp>
        <p:nvGrpSpPr>
          <p:cNvPr id="60" name="Group 59">
            <a:extLst>
              <a:ext uri="{FF2B5EF4-FFF2-40B4-BE49-F238E27FC236}">
                <a16:creationId xmlns:a16="http://schemas.microsoft.com/office/drawing/2014/main" id="{281A1B40-BB45-6E8A-4568-40B14CE4C912}"/>
              </a:ext>
            </a:extLst>
          </p:cNvPr>
          <p:cNvGrpSpPr/>
          <p:nvPr/>
        </p:nvGrpSpPr>
        <p:grpSpPr>
          <a:xfrm>
            <a:off x="9940029" y="4767231"/>
            <a:ext cx="1466880" cy="859606"/>
            <a:chOff x="4736314" y="4623053"/>
            <a:chExt cx="1466880" cy="859606"/>
          </a:xfrm>
        </p:grpSpPr>
        <p:cxnSp>
          <p:nvCxnSpPr>
            <p:cNvPr id="61" name="Connector 23">
              <a:extLst>
                <a:ext uri="{FF2B5EF4-FFF2-40B4-BE49-F238E27FC236}">
                  <a16:creationId xmlns:a16="http://schemas.microsoft.com/office/drawing/2014/main" id="{F53A88B1-D110-5B05-2136-FC05CD920C6D}"/>
                </a:ext>
              </a:extLst>
            </p:cNvPr>
            <p:cNvCxnSpPr>
              <a:cxnSpLocks/>
            </p:cNvCxnSpPr>
            <p:nvPr/>
          </p:nvCxnSpPr>
          <p:spPr>
            <a:xfrm>
              <a:off x="5377702" y="5170053"/>
              <a:ext cx="224773" cy="312606"/>
            </a:xfrm>
            <a:prstGeom prst="line">
              <a:avLst/>
            </a:prstGeom>
            <a:ln w="38100">
              <a:solidFill>
                <a:schemeClr val="tx2">
                  <a:lumMod val="50000"/>
                </a:schemeClr>
              </a:solidFill>
              <a:tailEnd type="triangle" w="lg"/>
            </a:ln>
          </p:spPr>
          <p:style>
            <a:lnRef idx="2">
              <a:schemeClr val="accent1"/>
            </a:lnRef>
            <a:fillRef idx="0">
              <a:schemeClr val="accent1"/>
            </a:fillRef>
            <a:effectRef idx="1">
              <a:schemeClr val="accent1"/>
            </a:effectRef>
            <a:fontRef idx="minor">
              <a:schemeClr val="tx1"/>
            </a:fontRef>
          </p:style>
        </p:cxnSp>
        <p:grpSp>
          <p:nvGrpSpPr>
            <p:cNvPr id="62" name="Group pair 130">
              <a:extLst>
                <a:ext uri="{FF2B5EF4-FFF2-40B4-BE49-F238E27FC236}">
                  <a16:creationId xmlns:a16="http://schemas.microsoft.com/office/drawing/2014/main" id="{311EF8E4-7548-CECF-EF68-9B046EF05E13}"/>
                </a:ext>
              </a:extLst>
            </p:cNvPr>
            <p:cNvGrpSpPr/>
            <p:nvPr/>
          </p:nvGrpSpPr>
          <p:grpSpPr>
            <a:xfrm>
              <a:off x="4736314" y="4623053"/>
              <a:ext cx="1466880" cy="585216"/>
              <a:chOff x="4222699" y="3771900"/>
              <a:chExt cx="1466880" cy="585216"/>
            </a:xfrm>
          </p:grpSpPr>
          <p:sp>
            <p:nvSpPr>
              <p:cNvPr id="63" name="Rounded Rectangle 24">
                <a:extLst>
                  <a:ext uri="{FF2B5EF4-FFF2-40B4-BE49-F238E27FC236}">
                    <a16:creationId xmlns:a16="http://schemas.microsoft.com/office/drawing/2014/main" id="{C49B66D9-CC2C-743A-484E-9812A46E99D9}"/>
                  </a:ext>
                </a:extLst>
              </p:cNvPr>
              <p:cNvSpPr/>
              <p:nvPr/>
            </p:nvSpPr>
            <p:spPr>
              <a:xfrm>
                <a:off x="4222699" y="3771900"/>
                <a:ext cx="1367898" cy="585216"/>
              </a:xfrm>
              <a:prstGeom prst="roundRect">
                <a:avLst>
                  <a:gd name="adj" fmla="val 14000"/>
                </a:avLst>
              </a:prstGeom>
              <a:solidFill>
                <a:srgbClr val="FDF6E6"/>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a:extLst>
                  <a:ext uri="{FF2B5EF4-FFF2-40B4-BE49-F238E27FC236}">
                    <a16:creationId xmlns:a16="http://schemas.microsoft.com/office/drawing/2014/main" id="{D874B867-AD7E-697E-E423-CCE6509E4E68}"/>
                  </a:ext>
                </a:extLst>
              </p:cNvPr>
              <p:cNvSpPr txBox="1"/>
              <p:nvPr/>
            </p:nvSpPr>
            <p:spPr>
              <a:xfrm>
                <a:off x="4222699" y="3772121"/>
                <a:ext cx="1466880" cy="584775"/>
              </a:xfrm>
              <a:prstGeom prst="rect">
                <a:avLst/>
              </a:prstGeom>
              <a:noFill/>
            </p:spPr>
            <p:txBody>
              <a:bodyPr wrap="square" lIns="45720" tIns="0" rIns="45720" bIns="0" anchor="ctr">
                <a:spAutoFit/>
              </a:bodyPr>
              <a:lstStyle/>
              <a:p>
                <a:pPr algn="l"/>
                <a:r>
                  <a:rPr lang="en-US" sz="1900" i="0" u="none" dirty="0">
                    <a:solidFill>
                      <a:schemeClr val="tx2">
                        <a:lumMod val="50000"/>
                      </a:schemeClr>
                    </a:solidFill>
                    <a:latin typeface="Calibri"/>
                  </a:rPr>
                  <a:t>Small </a:t>
                </a:r>
                <a:r>
                  <a:rPr lang="en-US" sz="1900" b="1" i="0" u="none" dirty="0">
                    <a:solidFill>
                      <a:schemeClr val="tx2">
                        <a:lumMod val="50000"/>
                      </a:schemeClr>
                    </a:solidFill>
                    <a:latin typeface="Calibri"/>
                  </a:rPr>
                  <a:t>q</a:t>
                </a:r>
                <a:r>
                  <a:rPr lang="en-US" sz="1900" i="0" u="none" dirty="0">
                    <a:solidFill>
                      <a:schemeClr val="tx2">
                        <a:lumMod val="50000"/>
                      </a:schemeClr>
                    </a:solidFill>
                    <a:latin typeface="Calibri"/>
                  </a:rPr>
                  <a:t> for firm quantity</a:t>
                </a:r>
                <a:endParaRPr sz="1900" i="0" u="none" dirty="0">
                  <a:solidFill>
                    <a:schemeClr val="tx2">
                      <a:lumMod val="50000"/>
                    </a:schemeClr>
                  </a:solidFill>
                  <a:latin typeface="Calibri"/>
                </a:endParaRPr>
              </a:p>
            </p:txBody>
          </p:sp>
        </p:grpSp>
      </p:grpSp>
      <p:grpSp>
        <p:nvGrpSpPr>
          <p:cNvPr id="74" name="Group 73">
            <a:extLst>
              <a:ext uri="{FF2B5EF4-FFF2-40B4-BE49-F238E27FC236}">
                <a16:creationId xmlns:a16="http://schemas.microsoft.com/office/drawing/2014/main" id="{D3EB2C31-87BB-14FA-8C55-56F883BE93DA}"/>
              </a:ext>
            </a:extLst>
          </p:cNvPr>
          <p:cNvGrpSpPr/>
          <p:nvPr/>
        </p:nvGrpSpPr>
        <p:grpSpPr>
          <a:xfrm>
            <a:off x="7581830" y="2764480"/>
            <a:ext cx="1913382" cy="832644"/>
            <a:chOff x="7581830" y="2764480"/>
            <a:chExt cx="1913382" cy="832644"/>
          </a:xfrm>
        </p:grpSpPr>
        <p:cxnSp>
          <p:nvCxnSpPr>
            <p:cNvPr id="48" name="Connector 47"/>
            <p:cNvCxnSpPr/>
            <p:nvPr/>
          </p:nvCxnSpPr>
          <p:spPr>
            <a:xfrm>
              <a:off x="9495212" y="3068019"/>
              <a:ext cx="0" cy="529105"/>
            </a:xfrm>
            <a:prstGeom prst="line">
              <a:avLst/>
            </a:prstGeom>
            <a:ln w="38100">
              <a:solidFill>
                <a:srgbClr val="E09F3E"/>
              </a:solidFill>
              <a:tailEnd type="triangle" w="lg"/>
            </a:ln>
          </p:spPr>
          <p:style>
            <a:lnRef idx="2">
              <a:schemeClr val="accent1"/>
            </a:lnRef>
            <a:fillRef idx="0">
              <a:schemeClr val="accent1"/>
            </a:fillRef>
            <a:effectRef idx="1">
              <a:schemeClr val="accent1"/>
            </a:effectRef>
            <a:fontRef idx="minor">
              <a:schemeClr val="tx1"/>
            </a:fontRef>
          </p:style>
        </p:cxnSp>
        <p:grpSp>
          <p:nvGrpSpPr>
            <p:cNvPr id="71" name="Group pair 130">
              <a:extLst>
                <a:ext uri="{FF2B5EF4-FFF2-40B4-BE49-F238E27FC236}">
                  <a16:creationId xmlns:a16="http://schemas.microsoft.com/office/drawing/2014/main" id="{296A0E84-3155-4BD5-7A03-F2CDBDCA03DC}"/>
                </a:ext>
              </a:extLst>
            </p:cNvPr>
            <p:cNvGrpSpPr/>
            <p:nvPr/>
          </p:nvGrpSpPr>
          <p:grpSpPr>
            <a:xfrm>
              <a:off x="7581830" y="2764480"/>
              <a:ext cx="1792224" cy="585216"/>
              <a:chOff x="4222699" y="3771900"/>
              <a:chExt cx="1792224" cy="585216"/>
            </a:xfrm>
          </p:grpSpPr>
          <p:sp>
            <p:nvSpPr>
              <p:cNvPr id="72" name="Rounded Rectangle 24">
                <a:extLst>
                  <a:ext uri="{FF2B5EF4-FFF2-40B4-BE49-F238E27FC236}">
                    <a16:creationId xmlns:a16="http://schemas.microsoft.com/office/drawing/2014/main" id="{75C640CC-8F9E-30CA-38D8-C7217F40AB30}"/>
                  </a:ext>
                </a:extLst>
              </p:cNvPr>
              <p:cNvSpPr/>
              <p:nvPr/>
            </p:nvSpPr>
            <p:spPr>
              <a:xfrm>
                <a:off x="4222699" y="3771900"/>
                <a:ext cx="1792224" cy="585216"/>
              </a:xfrm>
              <a:prstGeom prst="roundRect">
                <a:avLst>
                  <a:gd name="adj" fmla="val 14000"/>
                </a:avLst>
              </a:prstGeom>
              <a:solidFill>
                <a:srgbClr val="FDF6E6"/>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128B6F7E-28C3-2B1F-2108-7DB3D3B7EDE1}"/>
                  </a:ext>
                </a:extLst>
              </p:cNvPr>
              <p:cNvSpPr txBox="1"/>
              <p:nvPr/>
            </p:nvSpPr>
            <p:spPr>
              <a:xfrm>
                <a:off x="4222699" y="3771900"/>
                <a:ext cx="1792224" cy="585216"/>
              </a:xfrm>
              <a:prstGeom prst="rect">
                <a:avLst/>
              </a:prstGeom>
              <a:noFill/>
            </p:spPr>
            <p:txBody>
              <a:bodyPr wrap="square" lIns="45720" tIns="0" rIns="45720" bIns="0" anchor="ctr">
                <a:spAutoFit/>
              </a:bodyPr>
              <a:lstStyle/>
              <a:p>
                <a:pPr algn="l"/>
                <a:r>
                  <a:rPr sz="1900" b="1" i="0" u="none" dirty="0">
                    <a:solidFill>
                      <a:srgbClr val="E09F3E"/>
                    </a:solidFill>
                    <a:latin typeface="Calibri"/>
                  </a:rPr>
                  <a:t>High-yield seeds</a:t>
                </a:r>
              </a:p>
              <a:p>
                <a:pPr algn="l"/>
                <a:r>
                  <a:rPr sz="1900" b="1" i="0" u="none" dirty="0">
                    <a:solidFill>
                      <a:srgbClr val="E09F3E"/>
                    </a:solidFill>
                    <a:latin typeface="Calibri"/>
                  </a:rPr>
                  <a:t>reduce MC</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par>
                                <p:cTn id="12" presetID="10"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par>
                                <p:cTn id="15" presetID="10"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par>
                                <p:cTn id="18" presetID="10"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par>
                                <p:cTn id="35" presetID="10"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6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childTnLst>
                                </p:cTn>
                              </p:par>
                              <p:par>
                                <p:cTn id="47" presetID="10" presetClass="entr" presetSubtype="0" fill="hold"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500"/>
                                        <p:tgtEl>
                                          <p:spTgt spid="35"/>
                                        </p:tgtEl>
                                      </p:cBhvr>
                                    </p:animEffect>
                                  </p:childTnLst>
                                </p:cTn>
                              </p:par>
                              <p:par>
                                <p:cTn id="50" presetID="10" presetClass="entr" presetSubtype="0" fill="hold" nodeType="with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500"/>
                                        <p:tgtEl>
                                          <p:spTgt spid="38"/>
                                        </p:tgtEl>
                                      </p:cBhvr>
                                    </p:animEffect>
                                  </p:childTnLst>
                                </p:cTn>
                              </p:par>
                              <p:par>
                                <p:cTn id="53" presetID="10" presetClass="entr" presetSubtype="0" fill="hold"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500"/>
                                        <p:tgtEl>
                                          <p:spTgt spid="4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fade">
                                      <p:cBhvr>
                                        <p:cTn id="60" dur="500"/>
                                        <p:tgtEl>
                                          <p:spTgt spid="42"/>
                                        </p:tgtEl>
                                      </p:cBhvr>
                                    </p:animEffect>
                                  </p:childTnLst>
                                </p:cTn>
                              </p:par>
                              <p:par>
                                <p:cTn id="61" presetID="10" presetClass="entr" presetSubtype="0" fill="hold" nodeType="with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500"/>
                                        <p:tgtEl>
                                          <p:spTgt spid="43"/>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7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500"/>
                                        <p:tgtEl>
                                          <p:spTgt spid="36"/>
                                        </p:tgtEl>
                                      </p:cBhvr>
                                    </p:animEffect>
                                  </p:childTnLst>
                                </p:cTn>
                              </p:par>
                              <p:par>
                                <p:cTn id="73" presetID="10" presetClass="entr" presetSubtype="0" fill="hold" nodeType="with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500"/>
                                        <p:tgtEl>
                                          <p:spTgt spid="37"/>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46"/>
                                        </p:tgtEl>
                                        <p:attrNameLst>
                                          <p:attrName>style.visibility</p:attrName>
                                        </p:attrNameLst>
                                      </p:cBhvr>
                                      <p:to>
                                        <p:strVal val="visible"/>
                                      </p:to>
                                    </p:set>
                                    <p:animEffect transition="in" filter="fade">
                                      <p:cBhvr>
                                        <p:cTn id="80" dur="500"/>
                                        <p:tgtEl>
                                          <p:spTgt spid="46"/>
                                        </p:tgtEl>
                                      </p:cBhvr>
                                    </p:animEffect>
                                  </p:childTnLst>
                                </p:cTn>
                              </p:par>
                              <p:par>
                                <p:cTn id="81" presetID="10" presetClass="entr" presetSubtype="0" fill="hold" nodeType="withEffect">
                                  <p:stCondLst>
                                    <p:cond delay="0"/>
                                  </p:stCondLst>
                                  <p:childTnLst>
                                    <p:set>
                                      <p:cBhvr>
                                        <p:cTn id="82" dur="1" fill="hold">
                                          <p:stCondLst>
                                            <p:cond delay="0"/>
                                          </p:stCondLst>
                                        </p:cTn>
                                        <p:tgtEl>
                                          <p:spTgt spid="47"/>
                                        </p:tgtEl>
                                        <p:attrNameLst>
                                          <p:attrName>style.visibility</p:attrName>
                                        </p:attrNameLst>
                                      </p:cBhvr>
                                      <p:to>
                                        <p:strVal val="visible"/>
                                      </p:to>
                                    </p:set>
                                    <p:animEffect transition="in" filter="fade">
                                      <p:cBhvr>
                                        <p:cTn id="83" dur="500"/>
                                        <p:tgtEl>
                                          <p:spTgt spid="47"/>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500"/>
                                        <p:tgtEl>
                                          <p:spTgt spid="19"/>
                                        </p:tgtEl>
                                      </p:cBhvr>
                                    </p:animEffect>
                                  </p:childTnLst>
                                </p:cTn>
                              </p:par>
                              <p:par>
                                <p:cTn id="89" presetID="10" presetClass="entr" presetSubtype="0" fill="hold" nodeType="with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500"/>
                                        <p:tgtEl>
                                          <p:spTgt spid="20"/>
                                        </p:tgtEl>
                                      </p:cBhvr>
                                    </p:animEffect>
                                  </p:childTnLst>
                                </p:cTn>
                              </p:par>
                              <p:par>
                                <p:cTn id="92" presetID="10" presetClass="entr" presetSubtype="0" fill="hold"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27"/>
                                        </p:tgtEl>
                                        <p:attrNameLst>
                                          <p:attrName>style.visibility</p:attrName>
                                        </p:attrNameLst>
                                      </p:cBhvr>
                                      <p:to>
                                        <p:strVal val="visible"/>
                                      </p:to>
                                    </p:set>
                                    <p:animEffect transition="in" filter="fade">
                                      <p:cBhvr>
                                        <p:cTn id="99" dur="500"/>
                                        <p:tgtEl>
                                          <p:spTgt spid="27"/>
                                        </p:tgtEl>
                                      </p:cBhvr>
                                    </p:animEffect>
                                  </p:childTnLst>
                                </p:cTn>
                              </p:par>
                              <p:par>
                                <p:cTn id="100" presetID="10" presetClass="entr" presetSubtype="0" fill="hold" nodeType="with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fade">
                                      <p:cBhvr>
                                        <p:cTn id="102" dur="500"/>
                                        <p:tgtEl>
                                          <p:spTgt spid="28"/>
                                        </p:tgtEl>
                                      </p:cBhvr>
                                    </p:animEffect>
                                  </p:childTnLst>
                                </p:cTn>
                              </p:par>
                              <p:par>
                                <p:cTn id="103" presetID="10" presetClass="entr" presetSubtype="0" fill="hold" nodeType="withEffect">
                                  <p:stCondLst>
                                    <p:cond delay="0"/>
                                  </p:stCondLst>
                                  <p:childTnLst>
                                    <p:set>
                                      <p:cBhvr>
                                        <p:cTn id="104" dur="1" fill="hold">
                                          <p:stCondLst>
                                            <p:cond delay="0"/>
                                          </p:stCondLst>
                                        </p:cTn>
                                        <p:tgtEl>
                                          <p:spTgt spid="29"/>
                                        </p:tgtEl>
                                        <p:attrNameLst>
                                          <p:attrName>style.visibility</p:attrName>
                                        </p:attrNameLst>
                                      </p:cBhvr>
                                      <p:to>
                                        <p:strVal val="visible"/>
                                      </p:to>
                                    </p:set>
                                    <p:animEffect transition="in" filter="fade">
                                      <p:cBhvr>
                                        <p:cTn id="105" dur="500"/>
                                        <p:tgtEl>
                                          <p:spTgt spid="29"/>
                                        </p:tgtEl>
                                      </p:cBhvr>
                                    </p:animEffect>
                                  </p:childTnLst>
                                </p:cTn>
                              </p:par>
                              <p:par>
                                <p:cTn id="106" presetID="10" presetClass="entr" presetSubtype="0" fill="hold" nodeType="withEffect">
                                  <p:stCondLst>
                                    <p:cond delay="0"/>
                                  </p:stCondLst>
                                  <p:childTnLst>
                                    <p:set>
                                      <p:cBhvr>
                                        <p:cTn id="107" dur="1" fill="hold">
                                          <p:stCondLst>
                                            <p:cond delay="0"/>
                                          </p:stCondLst>
                                        </p:cTn>
                                        <p:tgtEl>
                                          <p:spTgt spid="33"/>
                                        </p:tgtEl>
                                        <p:attrNameLst>
                                          <p:attrName>style.visibility</p:attrName>
                                        </p:attrNameLst>
                                      </p:cBhvr>
                                      <p:to>
                                        <p:strVal val="visible"/>
                                      </p:to>
                                    </p:set>
                                    <p:animEffect transition="in" filter="fade">
                                      <p:cBhvr>
                                        <p:cTn id="108" dur="500"/>
                                        <p:tgtEl>
                                          <p:spTgt spid="33"/>
                                        </p:tgtEl>
                                      </p:cBhvr>
                                    </p:animEffect>
                                  </p:childTnLst>
                                </p:cTn>
                              </p:par>
                              <p:par>
                                <p:cTn id="109" presetID="10" presetClass="entr" presetSubtype="0" fill="hold" nodeType="withEffect">
                                  <p:stCondLst>
                                    <p:cond delay="0"/>
                                  </p:stCondLst>
                                  <p:childTnLst>
                                    <p:set>
                                      <p:cBhvr>
                                        <p:cTn id="110" dur="1" fill="hold">
                                          <p:stCondLst>
                                            <p:cond delay="0"/>
                                          </p:stCondLst>
                                        </p:cTn>
                                        <p:tgtEl>
                                          <p:spTgt spid="30"/>
                                        </p:tgtEl>
                                        <p:attrNameLst>
                                          <p:attrName>style.visibility</p:attrName>
                                        </p:attrNameLst>
                                      </p:cBhvr>
                                      <p:to>
                                        <p:strVal val="visible"/>
                                      </p:to>
                                    </p:set>
                                    <p:animEffect transition="in" filter="fade">
                                      <p:cBhvr>
                                        <p:cTn id="111" dur="500"/>
                                        <p:tgtEl>
                                          <p:spTgt spid="30"/>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39"/>
                                        </p:tgtEl>
                                        <p:attrNameLst>
                                          <p:attrName>style.visibility</p:attrName>
                                        </p:attrNameLst>
                                      </p:cBhvr>
                                      <p:to>
                                        <p:strVal val="visible"/>
                                      </p:to>
                                    </p:set>
                                    <p:animEffect transition="in" filter="fade">
                                      <p:cBhvr>
                                        <p:cTn id="116" dur="500"/>
                                        <p:tgtEl>
                                          <p:spTgt spid="39"/>
                                        </p:tgtEl>
                                      </p:cBhvr>
                                    </p:animEffect>
                                  </p:childTnLst>
                                </p:cTn>
                              </p:par>
                              <p:par>
                                <p:cTn id="117" presetID="10" presetClass="entr" presetSubtype="0" fill="hold" nodeType="withEffect">
                                  <p:stCondLst>
                                    <p:cond delay="0"/>
                                  </p:stCondLst>
                                  <p:childTnLst>
                                    <p:set>
                                      <p:cBhvr>
                                        <p:cTn id="118" dur="1" fill="hold">
                                          <p:stCondLst>
                                            <p:cond delay="0"/>
                                          </p:stCondLst>
                                        </p:cTn>
                                        <p:tgtEl>
                                          <p:spTgt spid="41"/>
                                        </p:tgtEl>
                                        <p:attrNameLst>
                                          <p:attrName>style.visibility</p:attrName>
                                        </p:attrNameLst>
                                      </p:cBhvr>
                                      <p:to>
                                        <p:strVal val="visible"/>
                                      </p:to>
                                    </p:set>
                                    <p:animEffect transition="in" filter="fade">
                                      <p:cBhvr>
                                        <p:cTn id="119" dur="500"/>
                                        <p:tgtEl>
                                          <p:spTgt spid="41"/>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nodeType="withEffect">
                                  <p:stCondLst>
                                    <p:cond delay="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53"/>
                                        </p:tgtEl>
                                        <p:attrNameLst>
                                          <p:attrName>style.visibility</p:attrName>
                                        </p:attrNameLst>
                                      </p:cBhvr>
                                      <p:to>
                                        <p:strVal val="visible"/>
                                      </p:to>
                                    </p:set>
                                    <p:animEffect transition="in" filter="fade">
                                      <p:cBhvr>
                                        <p:cTn id="13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592</Words>
  <Application>Microsoft Office PowerPoint</Application>
  <PresentationFormat>Widescreen</PresentationFormat>
  <Paragraphs>105</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12</cp:revision>
  <dcterms:created xsi:type="dcterms:W3CDTF">2013-01-27T09:14:16Z</dcterms:created>
  <dcterms:modified xsi:type="dcterms:W3CDTF">2026-08-31T16:07:28Z</dcterms:modified>
  <cp:category/>
</cp:coreProperties>
</file>