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1.xml" ContentType="application/vnd.openxmlformats-officedocument.presentationml.tag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2.xml" ContentType="application/vnd.openxmlformats-officedocument.presentationml.tag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324" r:id="rId30"/>
    <p:sldId id="285" r:id="rId31"/>
    <p:sldId id="286" r:id="rId32"/>
    <p:sldId id="287" r:id="rId33"/>
    <p:sldId id="288" r:id="rId34"/>
    <p:sldId id="289" r:id="rId35"/>
    <p:sldId id="290" r:id="rId36"/>
    <p:sldId id="325" r:id="rId37"/>
    <p:sldId id="292" r:id="rId38"/>
    <p:sldId id="293" r:id="rId39"/>
    <p:sldId id="327" r:id="rId40"/>
    <p:sldId id="294" r:id="rId41"/>
    <p:sldId id="295" r:id="rId42"/>
    <p:sldId id="296" r:id="rId43"/>
    <p:sldId id="297" r:id="rId44"/>
    <p:sldId id="298" r:id="rId45"/>
    <p:sldId id="299" r:id="rId46"/>
    <p:sldId id="300" r:id="rId47"/>
    <p:sldId id="301" r:id="rId48"/>
    <p:sldId id="302" r:id="rId49"/>
    <p:sldId id="303" r:id="rId50"/>
    <p:sldId id="326" r:id="rId51"/>
    <p:sldId id="305" r:id="rId52"/>
    <p:sldId id="306" r:id="rId53"/>
    <p:sldId id="310" r:id="rId54"/>
    <p:sldId id="311" r:id="rId55"/>
    <p:sldId id="312" r:id="rId56"/>
    <p:sldId id="313" r:id="rId57"/>
    <p:sldId id="314" r:id="rId58"/>
    <p:sldId id="315" r:id="rId59"/>
    <p:sldId id="316" r:id="rId60"/>
    <p:sldId id="317" r:id="rId61"/>
    <p:sldId id="318" r:id="rId62"/>
    <p:sldId id="319" r:id="rId63"/>
    <p:sldId id="320" r:id="rId6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DC140E3-F876-B46A-0CF5-0EE4E8EFCE02}" name="Voigtlaender, Nico" initials="NV" userId="S::mrnico@ucla.edu::de02af66-eed0-4290-a37c-4568be2a7a88"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768" autoAdjust="0"/>
  </p:normalViewPr>
  <p:slideViewPr>
    <p:cSldViewPr snapToGrid="0" snapToObjects="1">
      <p:cViewPr varScale="1">
        <p:scale>
          <a:sx n="101" d="100"/>
          <a:sy n="101" d="100"/>
        </p:scale>
        <p:origin x="954"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AF7F70-24ED-44E4-91C2-9B3F92125073}" type="datetimeFigureOut">
              <a:rPr lang="en-US" smtClean="0"/>
              <a:t>10/23/2026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4C3372-AD6F-4495-A562-01A2B1581368}" type="slidenum">
              <a:rPr lang="en-US" smtClean="0"/>
              <a:t>‹#›</a:t>
            </a:fld>
            <a:endParaRPr lang="en-US"/>
          </a:p>
        </p:txBody>
      </p:sp>
    </p:spTree>
    <p:extLst>
      <p:ext uri="{BB962C8B-B14F-4D97-AF65-F5344CB8AC3E}">
        <p14:creationId xmlns:p14="http://schemas.microsoft.com/office/powerpoint/2010/main" val="24627337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where we are in the course. After value and demand, and supply and cost, we are now in the last part: markets, pricing and strategy. In this module we look at firms that have market power.</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plan for Module 5. We start with how a firm with market power picks its price and quantity, and how far its price sits above marginal cost. Then we look at what monopoly does to consumers and to total welfare, at rising market concentration and how governments respond, and finally at monopolistic competition, where entry erodes profits.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the four market structures we use in the course. They differ in the number of firms, in how different the products are, and in how hard it is to enter. Moving to the left, there is more competition.</a:t>
            </a:r>
          </a:p>
          <a:p>
            <a:r>
              <a:t>In this module we look at the two red circles: monopoly and monopolistic competition. Both are price searchers, and we use the same analytics for both to find the optimal price and quantity. Oligopoly follows in Module 7.</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begin with the basic question: how does a firm that faces a downward-sloping demand curve choose its price and quantity?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the left is the price taker from Module 4. It can sell as much as it wants at the market price, so its demand curve is flat at that price, and each extra unit adds exactly the price to revenue: demand equals marginal revenue.</a:t>
            </a:r>
          </a:p>
          <a:p>
            <a:r>
              <a:t>On the right is a price searcher. Its demand curve slopes down: to sell one more unit, it has to lower the price on all units. That is why marginal revenue lies below demand, and this one difference drives everything in this module.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a simple test for market power. Ask what happens if we raise our price a little. If we would lose all our customers, we are a price taker and have no market power, like a wheat farmer.</a:t>
            </a:r>
          </a:p>
          <a:p>
            <a:r>
              <a:t>If we keep some customers, we are a price searcher. We have market power, which is the same as saying that we face a downward-sloping demand curve. Most firms you will manage are in this second group.</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rule for a price searcher is the same marginal rule as always: produce where marginal revenue equals marginal cost.</a:t>
            </a:r>
          </a:p>
          <a:p>
            <a:r>
              <a:t>In the example, the firm estimates its demand as Q = 1,600 minus 4P. To plot it we solve for price: P = 400 minus a quarter of Q. Marginal revenue starts at the same intercept of 400 but falls twice as fast. With a marginal cost of $200, MR equals MC at 400 units. We then go up to the demand curve to read off the price customers will pay for 400 units: $300.</a:t>
            </a:r>
          </a:p>
          <a:p>
            <a:r>
              <a:t>The teaching note on MR = MC has the full derivation.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same example as algebra, in four steps. First, we turn the estimated demand around so that price is on the left: P = 400 minus 0.25 Q.</a:t>
            </a:r>
          </a:p>
          <a:p>
            <a:r>
              <a:t>Second, total revenue is price times quantity, 400Q minus 0.25 Q squared, so marginal revenue is 400 minus 0.5 Q. Notice that the slope doubles.</a:t>
            </a:r>
          </a:p>
          <a:p>
            <a:r>
              <a:t>Third, we set MR equal to the marginal cost of 200 and get Q* = 400. Fourth, we go back to the demand curve to find the price at which customers buy 400 units: $300.</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running example is Gracias Madre, a plant-based Mexican restaurant with locations in West Hollywood and Newport Beach. The practice video works through its profit maximization step by step, and the next slides use the same numbers to build the graphs and the intuition.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problem from the practice video. Demand per day is P = 60 minus 0.1 Q, and daily total cost is 2,000 plus 10Q plus 0.15 Q squared, where the 2,000 is the fixed cost, the rent. The steps are always the same: compute MR, compute MC, set them equal to get Q*, read P* off demand, and then compute the profit at that point.</a:t>
            </a:r>
          </a:p>
          <a:p>
            <a:r>
              <a:t>In class we focus on the graphs and the intuition. The practice video does the algebra, and it is the best preparation for the exam.</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On the left are total revenue and total cost for the restaurant. Profit is the vertical gap between them, and it is largest at 100 meals a day.</a:t>
            </a:r>
          </a:p>
          <a:p>
            <a:r>
              <a:rPr dirty="0"/>
              <a:t>The right panel plots that gap directly. Profit peaks at $500 a day at Q* = 100. At the peak, the slope of the profit curve is zero, which is the same as saying that the slopes of TR and TC are equal: marginal revenue equals marginal cost. Marginal analysis finds this point without plotting anything.</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restaurant's problem in a graph. The restaurant picks the output where marginal revenue meets marginal cost, Q*, and then charges the price on the demand curve at that output, P*.</a:t>
            </a:r>
          </a:p>
          <a:p>
            <a:r>
              <a:t>At Q*, average total cost is well below the price, so the restaurant earns a profit: the red rectangle. Notice that Q* is not where average total cost is lowest. In this graph, the minimum of ATC is where MC cuts it, at a lower output. The firm does not care about minimizing average cost; it cares about maximizing profit. The only difference from perfect competition is that MR is no longer equal to the price.</a:t>
            </a:r>
          </a:p>
          <a:p>
            <a:endParaRPr/>
          </a:p>
          <a:p>
            <a:r>
              <a:t>Gracias Madre is a plant-based Mexican restaurant in West Hollywood.</a:t>
            </a:r>
          </a:p>
          <a:p>
            <a:r>
              <a:t>https://www.graciasmadre.co/</a:t>
            </a:r>
          </a:p>
          <a:p>
            <a:endParaRPr/>
          </a:p>
          <a:p>
            <a:r>
              <a:t>To maximize profit, monopolist sets MC=MR — only difference with respect to perfect competition is that under perfect competition MR=P, but that is no longer the case for a monopolist.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the rent rises. Nothing about MR or MC changes, so the best output and price stay where they were, at Q* and P*. But average total cost now lies above the price at Q*, so the restaurant makes a loss on every meal: the gray rectangle.</a:t>
            </a:r>
          </a:p>
          <a:p>
            <a:r>
              <a:t>Should it keep producing? Compare the price with average variable cost. Every meal brings in more than it costs to make, and that margin is a contribution to the rent it owes anyway: the gold rectangle, which is much larger than the loss. So in the short run it continues to produce, as long as P is at least AVC.</a:t>
            </a:r>
          </a:p>
          <a:p>
            <a:r>
              <a:t>The last line of the legend puts the two rectangles together. Stacked on top of each other, the loss and the contribution make up the whole fixed cost: TFC = (ATC − AVC) × Q. That is the rectangle on the next slide.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if the restaurant stopped serving customers instead? It would still owe the rent, so its loss would be the whole fixed cost: the dark rectangle, which is the loss rectangle plus the contribution rectangle from the previous slide.</a:t>
            </a:r>
          </a:p>
          <a:p>
            <a:r>
              <a:t>Producing loses only the small gray rectangle, stopping loses the whole rent. So the restaurant continues to produce in the short run. In the long run, when the lease can be ended, a loss like this is a reason to shut down.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Put the two cases side by side. A higher rent pushes average total cost up, but it does not change marginal cost or marginal revenue. So the best output and the best price stay exactly where they were.</a:t>
            </a:r>
          </a:p>
          <a:p>
            <a:r>
              <a:t>This is a common mistake in practice: raising prices to cover a rent increase. The fixed cost changes how much profit the restaurant makes, and whether it should stay in the location in the long run, but not the price it should charge.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are the same two panels with a low rent of $1,000 a day. Total cost sits low, the gap between revenue and cost is wide, and profit peaks at $1,500 a day at 100 meals.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With a rent of $2,000, the total cost curve shifts up by $1,000 at every output. The profit curve shifts down by the same amount, to a peak of $500, but the peak is still at 100 meals.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With a rent of $3,000, the restaurant cannot make a profit at any output. The best it can do is lose $500 a day, and that best output is again 100 meals. A fixed cost moves the profit curve up or down, never sideways, so it never changes the profit-maximizing quantity, and so never the price.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practice video has one more exercise for this part of the module. It asks whether Gracias Madre should buy a liquor license: serving drinks raises demand, but also variable cost, so what is the most the restaurant would pay for the license each day? The video works through it with the same MR = MC steps we just used.</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Next, how far above marginal cost does such a firm set its price? The Lerner index measures this, and it links the markup to the elasticity of demand.</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firm charges a markup when its price is above its marginal cost. One way to measure it is the ratio of price to marginal cost. We follow the textbook and use the Lerner index instead: price minus marginal cost, divided by price.</a:t>
            </a:r>
          </a:p>
          <a:p>
            <a:r>
              <a:t>The Lerner index is the share of the price that is markup. If the price is $2 and marginal cost is $1.50, 50 cents of every $2, or 25%, is markup. It is zero under perfect competition, where price equals marginal cost, and it rises with market power.</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are Lerner indexes for well-known US companies. For Pfizer, 78% of the price is markup over marginal cost; for Whole Foods, 19%. Drug patents and strong brands show up as high markups. Grocery retail and airlines, where customers compare prices easily, show up low.</a:t>
            </a:r>
          </a:p>
          <a:p>
            <a:endParaRPr/>
          </a:p>
          <a:p>
            <a:r>
              <a:t>Reference: https://www.janeeckhout.com/wp-content/uploads/RMP.pdf Table 5.1.</a:t>
            </a:r>
          </a:p>
          <a:p>
            <a:endParaRPr/>
          </a:p>
          <a:p>
            <a:r>
              <a:t>Note that markup refers to MC and not AVC</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a formula that links the markup to the elasticity of demand. At the profit-maximizing point, the Lerner index equals one over the absolute value of the firm's demand elasticity. The minus sign is there because the elasticity is negative.</a:t>
            </a:r>
          </a:p>
          <a:p>
            <a:r>
              <a:t>The more elastic demand is, the smaller the markup. When demand becomes perfectly elastic, as for a price taker, the markup goes to zero. And the relationship only holds at the optimum, where MR equals MC.</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Back to our example. At the optimum the price is $300 and marginal cost is $200, so $100 of the $300 price is markup. The Lerner index is 100 over 300, or 33%.</a:t>
            </a:r>
          </a:p>
          <a:p>
            <a:r>
              <a:rPr dirty="0"/>
              <a:t>Now compute the elasticity at the same point. The slope </a:t>
            </a:r>
            <a:r>
              <a:rPr dirty="0" err="1"/>
              <a:t>dQ</a:t>
            </a:r>
            <a:r>
              <a:rPr dirty="0"/>
              <a:t>/</a:t>
            </a:r>
            <a:r>
              <a:rPr dirty="0" err="1"/>
              <a:t>dP</a:t>
            </a:r>
            <a:r>
              <a:rPr dirty="0"/>
              <a:t> is minus 4 from the demand equation, and P over Q is 300 over 400, so the elasticity is minus 3. One over 3 is 33%, the same number. The formula works, but only at the profit-maximizing point.</a:t>
            </a:r>
          </a:p>
          <a:p>
            <a:r>
              <a:rPr dirty="0"/>
              <a:t>The dashed arrow on the slide marks this check: the markup computed from price and marginal cost, and the markup computed from the elasticity, give the same result.</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is for later, when you take accounting. Accountants report the gross margin: revenue minus cost of goods sold, divided by revenue. Cost of goods sold is close to total variable cost.</a:t>
            </a:r>
          </a:p>
          <a:p>
            <a:r>
              <a:t>Divide top and bottom by quantity and the gross margin becomes price minus AVERAGE variable cost, over price. That looks like the Lerner index, except that the Lerner index uses MARGINAL cost. The two are close when marginal cost is roughly flat, but for decisions about one more unit, the marginal number is the one that matters.</a:t>
            </a:r>
          </a:p>
          <a:p>
            <a:endParaRPr/>
          </a:p>
          <a:p>
            <a:r>
              <a:t>From Henry Friedman (Accounting Prof):</a:t>
            </a:r>
          </a:p>
          <a:p>
            <a:endParaRPr/>
          </a:p>
          <a:p>
            <a:r>
              <a:t>COGS is cost of goods sold. It’s about as close to a pure variable cost as you’re going to get. It’s basically what it cost the firm to get the stuff that it sells. For a merchandising or wholesaling firm, it’s basically the purchase price of inventory, though some shipping and warehousing costs might be included. For a manufacturing firm, you’d also have some fixed costs (e.g., assembly facility rent, production line manager and insurance) included, as these are allocated to inventory.</a:t>
            </a:r>
          </a:p>
          <a:p>
            <a:endParaRPr/>
          </a:p>
          <a:p>
            <a:r>
              <a:t>For a service company, you might have a similar Cost of Services Sold (or cost of revenue) line, which for instance, would be the cost of consultants on a consulting team, but not the cost of the consulting firm’s management.</a:t>
            </a:r>
          </a:p>
          <a:p>
            <a:endParaRPr/>
          </a:p>
          <a:p>
            <a:r>
              <a:t>Linking back to markups, Gross margins, or (Revenue – COGS)/Revenue are close to the Lerner index, as dividing the numerator and denominator by Q gets you to (P – AVC)/P, though the AVC here is average variable cost related to inventory specifically. There could be other variable costs, like sales commissions, that come into play. Still though, Gross margins are really close to the Lerner Index.</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caution: the elasticity in the Lerner formula is the elasticity of demand for the FIRM's product, not for the whole market. Demand for soft drinks as a category is fairly inelastic, but demand for one brand is much more elastic, because customers can switch to another brand.</a:t>
            </a:r>
          </a:p>
          <a:p>
            <a:r>
              <a:t>The more firms compete in an industry, the bigger that gap. And firms whose products are more differentiated face less elastic demand, so they can charge higher markups. The next example makes this concrete.</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soft drinks. Coca-Cola faces a demand elasticity of minus 4.1, and Dr. Brown's Cel-Ray, a celery soda you find in New York delis, minus 2. Use the Lerner index to find what share of each price is markup, and answer in the poll.</a:t>
            </a:r>
          </a:p>
          <a:p>
            <a:endParaRPr/>
          </a:p>
          <a:p>
            <a:r>
              <a:t>Prepare poll-ev Consider Coca-Cola and Dr Brown, which has the higher mark-up?</a:t>
            </a:r>
          </a:p>
          <a:p>
            <a:r>
              <a:t>Elasticity is lower because of niche product</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Poll Title: Do not modify the notes in this section to avoid tampering with the Poll Everywhere activity.
More info at polleverywhere.com/support
What is the % of the Price that is due to Markup?
https://www.polleverywhere.com/multiple_choice_polls/N7b4Z8mD8cUApKIyTWkWe?state=opened&amp;flow=Default&amp;onscreen=persist</a:t>
            </a:r>
          </a:p>
        </p:txBody>
      </p:sp>
      <p:sp>
        <p:nvSpPr>
          <p:cNvPr id="4" name="Slide Number Placeholder 3"/>
          <p:cNvSpPr>
            <a:spLocks noGrp="1"/>
          </p:cNvSpPr>
          <p:nvPr>
            <p:ph type="sldNum" sz="quarter" idx="5"/>
          </p:nvPr>
        </p:nvSpPr>
        <p:spPr/>
        <p:txBody>
          <a:bodyPr/>
          <a:lstStyle/>
          <a:p>
            <a:fld id="{4E4C3372-AD6F-4495-A562-01A2B1581368}" type="slidenum">
              <a:rPr lang="en-US" smtClean="0"/>
              <a:t>29</a:t>
            </a:fld>
            <a:endParaRPr lang="en-US"/>
          </a:p>
        </p:txBody>
      </p:sp>
      <p:sp>
        <p:nvSpPr>
          <p:cNvPr id="5" name="TextBox 4">
            <a:extLst>
              <a:ext uri="{FF2B5EF4-FFF2-40B4-BE49-F238E27FC236}">
                <a16:creationId xmlns:a16="http://schemas.microsoft.com/office/drawing/2014/main" id="{5AA9EC2C-AC82-2BB2-3E9E-39603BFAF5F9}"/>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5655091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sum up the first part. A price searcher uses the same rule as every firm: produce where MR equals MC, and in the short run continue to produce as long as the price covers average variable cost.</a:t>
            </a:r>
          </a:p>
          <a:p>
            <a:r>
              <a:t>What is different from a price taker is that the price ends up above marginal cost. How far above depends on the elasticity of the firm's demand.</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we look at monopoly: what it does to profits, to consumers and to total welfare.</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spectrum of market power. On the left, perfect competition: commodity markets, where every firm is a price taker. On the right, monopoly: a single seller, like the city's water and power utility.</a:t>
            </a:r>
          </a:p>
          <a:p>
            <a:r>
              <a:t>Everything to the right of perfect competition is a price searcher. We start at the far right with monopoly, and later in this module we come back to monopolistic competition.</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monopoly is a single seller of a product with no close substitutes, protected by barriers to entry. Because nobody can come in, it can earn profits in the short run and in the long run. Think of Microsoft's operating system before Apple's rise, or a local water utility.</a:t>
            </a:r>
          </a:p>
          <a:p>
            <a:endParaRPr/>
          </a:p>
          <a:p>
            <a:r>
              <a:t>Article on att-time-warner merger</a:t>
            </a:r>
          </a:p>
          <a:p>
            <a:r>
              <a:t>https://www.cnn.com/2019/02/26/media/att-time-warner-merger-ruling/index.html</a:t>
            </a:r>
          </a:p>
          <a:p>
            <a:endParaRPr/>
          </a:p>
          <a:p>
            <a:r>
              <a:t>Live Nation / Ticketmaster merger</a:t>
            </a:r>
          </a:p>
          <a:p>
            <a:r>
              <a:t>https://www.nytimes.com/2010/04/25/business/25ticket.html</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March 2022 Amazon closed its purchase of the MGM film studio, with its James Bond and Rocky libraries, for $8.45 billion. Before we look at the economics of monopoly, what is your instinct: was this deal bad for consumers?</a:t>
            </a:r>
          </a:p>
          <a:p>
            <a:endParaRPr/>
          </a:p>
          <a:p>
            <a:r>
              <a:t>Do not modify the notes in this section to avoid tampering with the Poll Everywhere activity.</a:t>
            </a:r>
          </a:p>
          <a:p>
            <a:r>
              <a:t>More info at polleverywhere.com/support</a:t>
            </a:r>
          </a:p>
          <a:p>
            <a:endParaRPr/>
          </a:p>
          <a:p>
            <a:r>
              <a:t>In March 2022, Amazon completed its acquisition of MGM Studios for $8.45 billion. This merger:</a:t>
            </a:r>
          </a:p>
          <a:p>
            <a:r>
              <a:t>https://www.polleverywhere.com/multiple_choice_polls/IJ8aUfND9oCGPDbgSvELK?display_state=instructions&amp;activity_state=opened&amp;state=opened&amp;flow=Engagement&amp;onscreen=persist</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Poll Title: Do not modify the notes in this section to avoid tampering with the Poll Everywhere activity.
More info at polleverywhere.com/support
Was the Amazon–MGM Merger Bad for Consumers?
https://www.polleverywhere.com/multiple_choice_polls/YTzPU9mXqUgAiCqRAfrFw?state=opened&amp;flow=Default&amp;onscreen=persist</a:t>
            </a:r>
          </a:p>
        </p:txBody>
      </p:sp>
      <p:sp>
        <p:nvSpPr>
          <p:cNvPr id="4" name="Slide Number Placeholder 3"/>
          <p:cNvSpPr>
            <a:spLocks noGrp="1"/>
          </p:cNvSpPr>
          <p:nvPr>
            <p:ph type="sldNum" sz="quarter" idx="5"/>
          </p:nvPr>
        </p:nvSpPr>
        <p:spPr/>
        <p:txBody>
          <a:bodyPr/>
          <a:lstStyle/>
          <a:p>
            <a:fld id="{4E4C3372-AD6F-4495-A562-01A2B1581368}" type="slidenum">
              <a:rPr lang="en-US" smtClean="0"/>
              <a:t>36</a:t>
            </a:fld>
            <a:endParaRPr lang="en-US"/>
          </a:p>
        </p:txBody>
      </p:sp>
      <p:sp>
        <p:nvSpPr>
          <p:cNvPr id="5" name="TextBox 4">
            <a:extLst>
              <a:ext uri="{FF2B5EF4-FFF2-40B4-BE49-F238E27FC236}">
                <a16:creationId xmlns:a16="http://schemas.microsoft.com/office/drawing/2014/main" id="{BE155259-369D-01FD-66D8-D08C8C70F2CB}"/>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227322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we look at monopoly, recall the competitive benchmark from Module 4. Under competition the market produces where demand meets marginal cost. Consumer surplus is the area under the demand curve and above the price: what buyers would have paid minus what they do pay. Producer surplus is the area above marginal cost and below the price. Under competition, the sum of the two is as large as it can be. The next slide shows what a monopolist does to it.</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Since a monopolist charges a price above the MC, you might suspect that having market power is beneficial for firms. It is! We can characterize the welfare consequences of market power and specify how it affects consumers and the firm.</a:t>
            </a:r>
          </a:p>
          <a:p>
            <a:endParaRPr/>
          </a:p>
          <a:p>
            <a:r>
              <a:t>We compute consumer and producer surplus similar to the competitive market setting.</a:t>
            </a:r>
          </a:p>
          <a:p>
            <a:endParaRPr/>
          </a:p>
          <a:p>
            <a:r>
              <a:t>Consumer surplus: the area under the demand curve and above the price</a:t>
            </a:r>
          </a:p>
          <a:p>
            <a:r>
              <a:t>Producer surplus: the area above the MC curve and below the price. (Recall that a firm’s short run supply curve in a perfectly competitive market is where the MC curve is above AVC.)</a:t>
            </a:r>
          </a:p>
          <a:p>
            <a:endParaRPr/>
          </a:p>
          <a:p>
            <a:r>
              <a:t>Under monopoly (relative to perfect competition):</a:t>
            </a:r>
          </a:p>
          <a:p>
            <a:r>
              <a:t>--consumer surplus declines.</a:t>
            </a:r>
          </a:p>
          <a:p>
            <a:r>
              <a:t>--producer surplus rises.</a:t>
            </a:r>
          </a:p>
          <a:p>
            <a:r>
              <a:t>--total welfare is reduced (deadweight loss of market power).</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other side of the merger question. Demand is the same as on the previous slide. The pale areas are consumer and producer surplus under competition, with the original marginal cost MC1.</a:t>
            </a:r>
          </a:p>
          <a:p>
            <a:r>
              <a:t>Now suppose that one large producer, for example the firm created by a merger, can produce at a lower and flatter marginal cost, MC2. It is still a monopolist, so it sets MR equal to its own marginal cost and charges a price above it. But because its costs are lower, its price is lower and its quantity higher than those of the high-cost monopolist on the previous slide, so consumer surplus is larger than there. In this example it is still smaller than the pale consumer surplus under competition.</a:t>
            </a:r>
          </a:p>
          <a:p>
            <a:r>
              <a:t>If mergers reduce costs, then consumers can also benefit, and the net effect depends on the tradeoff between market power (higher prices) and cost efficiencies due to scale (lower prices).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15257291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60 Minutes segment asks who actually makes your glasses. The link starts at 9:49. Watch it with the question in mind: where does Luxottica's market power come from?</a:t>
            </a:r>
          </a:p>
          <a:p>
            <a:endParaRPr/>
          </a:p>
          <a:p>
            <a:r>
              <a:t>https://www.youtube.com/watch?v=gDdq2rIqAlM&amp;t=589s</a:t>
            </a:r>
          </a:p>
          <a:p>
            <a:endParaRPr/>
          </a:p>
          <a:p>
            <a:r>
              <a:t>Watch 0:55 (if time)</a:t>
            </a:r>
          </a:p>
          <a:p>
            <a:r>
              <a:t>Watch from 5:00 –  (if less time)</a:t>
            </a:r>
          </a:p>
          <a:p>
            <a:r>
              <a:t>Watch from 6:45 if previously assigned video</a:t>
            </a:r>
          </a:p>
          <a:p>
            <a:endParaRPr/>
          </a:p>
          <a:p>
            <a:r>
              <a:t>Note: Merger with Essilor in 2018: EssilorLuxottica</a:t>
            </a:r>
          </a:p>
          <a:p>
            <a:r>
              <a:t>New entrant: Warby Parker</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 visited EssilorLuxottica with an Executive MBA class on its International Business Residency (IBR). This is our group in front of the company's building.</a:t>
            </a:r>
          </a:p>
          <a:p>
            <a:r>
              <a:t>The visit is a good way into the questions on Luxottica: the company you just saw in the clip is now one firm with the lens maker Essilor.</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During the visit, the company showed us this chart of its history. Look at how many entries are acquisitions: Persol and LensCrafters in 1995, Ray-Ban in 1999, Sunglass Hut in 2001, OPSM in 2003, Pearle Vision and Target Optical in 2004, Oakley in 2007, Satisloh in 2008, Salmoiraghi &amp; Viganò in 2016, Óticas Carol in 2017, Barberini in 2019 and GrandVision in 2021. In 2018 Essilor and Luxottica merged into EssilorLuxottica.</a:t>
            </a:r>
          </a:p>
          <a:p>
            <a:r>
              <a:t>Much of the company's market power was built by buying brands, retailers and suppliers. Keep this in mind for the antitrust question on the next slide.</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Some questions to discuss after the clip. Luxottica owns Ray-Ban and Oakley, makes glasses for most luxury brands, and owns retail chains like LensCrafters and Sunglass Hut, and since the 2018 merger with Essilor also the lens maker. How does that structure give it market power, and does it show up in markups?</a:t>
            </a:r>
          </a:p>
          <a:p>
            <a:r>
              <a:t>The CEO's line, everything is worth what people are ready to pay, is a description of a price searcher reading its demand curve.</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monopolist has a lot of market power. That is good for its profits, bad for consumers, and bad for society as a whole, because of the deadweight loss.</a:t>
            </a:r>
          </a:p>
          <a:p>
            <a:r>
              <a:t>There is a silver lining. Patents, licenses and copyrights create monopolies on purpose, because the prospect of that power is what pays for innovation, new drugs being the standard example. A new drug sold at a high price can still create more consumer surplus than the deadweight loss it causes.</a:t>
            </a:r>
          </a:p>
          <a:p>
            <a:endParaRPr/>
          </a:p>
          <a:p>
            <a:r>
              <a:t>Visual Elements:</a:t>
            </a:r>
          </a:p>
          <a:p>
            <a:r>
              <a:t>Market Monopolist (Left/Center): A massive, dominant corporate tower anchored by a four-panel grid emblem, representing Microsoft's entrenched OS platform and market control.</a:t>
            </a:r>
          </a:p>
          <a:p>
            <a:r>
              <a:t>Competitive Entry (Right): A sleek silver Apple silhouette entering from the right, dynamically cutting into the market space to illustrate how innovative competitors challenge an incumbent monopolist.</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Market power does not last forever. The chart shows the share of the computing industry held by its leaders over time: IBM dominated, then Microsoft, then Apple. Each looked unbeatable in its time.</a:t>
            </a:r>
          </a:p>
          <a:p>
            <a:endParaRPr/>
          </a:p>
          <a:p>
            <a:r>
              <a:t>Even if you are the only player on a market, you have to worry about potential entry: contestable markets.</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Ultra-low-cost carriers such as Allegiant, Frontier and Spirit undercut the fares of the incumbent airlines. A study of US markets found that in 2015 fares were about 21% lower than average in markets where an ultra-low-cost carrier flew, against 8% lower where another low-cost carrier was present. Even the threat of entry matters. When Southwest began serving both ends of a route, the airlines already flying it cut their fares, and more than half of the total fare drop came before Southwest started flying the route. Entry, and even the prospect of it, disciplines the prices of firms that look powerful.</a:t>
            </a:r>
          </a:p>
          <a:p>
            <a:endParaRPr/>
          </a:p>
          <a:p>
            <a:r>
              <a:t>Sources. Earlier versions of this slide listed airport figures from the textbook discussion (p. 321: O'Hare 23%, Newark 22%, IAH 21%, DFW 20%, Las Vegas 20%); their original source could not be traced, so the slide now uses the published study: Bachwich, A. R. and Wittman, M. D. (2017), "The emergence and effects of the ultra-low cost carrier (ULCC) business model in the U.S. airline industry", Journal of Air Transport Management 62: 155-164, https://doi.org/10.1016/j.jairtraman.2017.03.012. In 2015, ULCC presence in a market was associated with base fares 21% lower than average, against 8% for low-cost carriers.</a:t>
            </a:r>
          </a:p>
          <a:p>
            <a:r>
              <a:t>The threat of entry: Goolsbee, A. and Syverson, C. (2008), "How Do Incumbents Respond to the Threat of Entry? Evidence from the Major Airlines", Quarterly Journal of Economics 123(4): 1611-1633, https://doi.org/10.1162/qjec.2008.123.4.1611. Abstract: "incumbents cut fares significantly when threatened by Southwest's entry. Over half of Southwest's total impact on incumbent fares occurs before Southwest starts flying." A route counts as threatened once Southwest operates at both endpoint airports. The entrant in the paper is Southwest, a low-cost carrier, not an ultra-low-cost one; a search found no published ULCC version of this result.</a:t>
            </a:r>
          </a:p>
          <a:p>
            <a:endParaRPr/>
          </a:p>
          <a:p>
            <a:r>
              <a:t>My original notes, kept for reference (the airport figures in them could not be traced): ULCC: discussion on page 321 of the textbook</a:t>
            </a:r>
          </a:p>
          <a:p>
            <a:r>
              <a:t>Allegiant, Frontier and Spirit, undercut fares offered by incumbent carriers.</a:t>
            </a:r>
          </a:p>
          <a:p>
            <a:r>
              <a:t>Prices can fall by double digit, number of passengers goes up.</a:t>
            </a:r>
          </a:p>
          <a:p>
            <a:r>
              <a:t>Drop in prices: Chicago O’Hare (23%), Newark (22%), Houston George Bush Intercontinental (21%), Dallas/Fort Worth (20%), Las Vegas McCarran (20%)</a:t>
            </a:r>
          </a:p>
          <a:p>
            <a:r>
              <a:t>The airline sector is very concentrated: Delta (22%), American (21%), United (18%), Southwest (15%)</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Next, the evidence that market power has been rising in the US, and what governments do about it.</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best-known estimate of how markups have changed. The average US firm charged prices about 20% above marginal cost in 1980 and about 60% above by the late 2010s, on this measure.</a:t>
            </a:r>
          </a:p>
          <a:p>
            <a:endParaRPr/>
          </a:p>
          <a:p>
            <a:r>
              <a:t>Source: DeLoecker et al, QJE 2020: The Rise of Market Power and the Macroeconomic Implications</a:t>
            </a:r>
          </a:p>
          <a:p>
            <a:endParaRPr/>
          </a:p>
          <a:p>
            <a:r>
              <a:t>Note: 𝐿=(𝑃/𝑀𝐶  − 1)/(𝑃/𝑀𝐶) . So if 𝑃/𝑀𝐶 = 1.5  L=0.33  [Not needed for exam!]</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United States spends far more per person on health care than any other rich country. Part of the reason is concentration: in many local markets a few hospital systems and insurers dominate.</a:t>
            </a:r>
          </a:p>
          <a:p>
            <a:endParaRPr/>
          </a:p>
          <a:p>
            <a:r>
              <a:t>This website is really cool: https://concentrationcrisis.openmarketsinstitute.org/</a:t>
            </a:r>
          </a:p>
          <a:p>
            <a:r>
              <a:t>You can click on the sector and see how  concentrated each market is:</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Here are prices for two common heart procedures in several countries. The same procedure costs several times as much in the United States as elsewhere, which is what you expect when sellers have market power.</a:t>
            </a:r>
          </a:p>
          <a:p>
            <a:endParaRPr lang="en-US"/>
          </a:p>
          <a:p>
            <a:r>
              <a:rPr lang="en-US"/>
              <a:t>More price comparisons for medical procedures: https://www.nytimes.com/2019/12/27/upshot/expensive-health-care-world-comparison.html</a:t>
            </a:r>
          </a:p>
          <a:p>
            <a:endParaRPr lang="en-US"/>
          </a:p>
          <a:p>
            <a:r>
              <a:rPr lang="en-US"/>
              <a:t>The chart uses the most recent data, from the International Federation of Health Plans and the Health Care Cost Institute (International Healthcare Cost Comparison Report 2024, 2022 data). These are median claims costs paid by private insurers, in US dollars; the US figures come from commercial claims. An angioplasty cost about 34,500 dollars in the US against about 10,000 to 11,000 in the UK and Australia and about 3,300 in Germany. A coronary bypass cost about 89,000 dollars in the US against roughly 17,000 to 26,000 in the other three countries.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Open Markets Institute tracks concentration industry by industry. A common rule of thumb calls a market concentrated when the four largest firms have more than half of its sales.</a:t>
            </a:r>
          </a:p>
          <a:p>
            <a:endParaRPr/>
          </a:p>
          <a:p>
            <a:r>
              <a:t>This website is really cool: https://concentrationcrisis.openmarketsinstitute.org/</a:t>
            </a:r>
          </a:p>
          <a:p>
            <a:r>
              <a:t>You can click on the sector and see how  concentrated each market is:</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Governments have two main tools against market power. Price regulation is used for natural monopolies, like the electricity or gas utility, where one network serves everyone and competition is not practical.</a:t>
            </a:r>
          </a:p>
          <a:p>
            <a:r>
              <a:rPr lang="en-US" dirty="0"/>
              <a:t>Antitrust law reviews mergers that would reduce competition and bans price collusion. In December 2024 the FTC won its case to block Kroger's $24.6 billion takeover of Albertsons, the largest supermarket merger ever proposed. Even so, concentration in many US industries is high and rising, as the previous slides showed.</a:t>
            </a:r>
          </a:p>
          <a:p>
            <a:r>
              <a:rPr lang="en-US" dirty="0"/>
              <a:t>The picture on the right refers to the paper “Killer Acquisitions” by Colleen Cunningham, Florian Ederer and Song Ma (Journal of Political Economy, 2021). They argue that an incumbent firm may buy an innovative startup not to develop its product, but to shut the project down so that it never becomes a competitor. Using data on more than 16,000 drug projects in the pharmaceutical industry, they show that projects bought by a firm with an overlapping drug (same therapeutic class and mechanism) are 23.4% less likely to continue in development than projects bought by firms without such an overlap. By their conservative estimate, 5.3% to 7.4% of the acquisitions in their sample are killer acquisitions, and these deals cluster just below the size thresholds that trigger antitrust review. The paper can be downloaded at https://florianederer.github.io/pdf/killer.pdf</a:t>
            </a:r>
          </a:p>
          <a:p>
            <a:endParaRPr lang="en-US" dirty="0"/>
          </a:p>
          <a:p>
            <a:r>
              <a:rPr lang="en-US" dirty="0"/>
              <a:t>Two rationales for regulating monopoly:</a:t>
            </a:r>
          </a:p>
          <a:p>
            <a:r>
              <a:rPr lang="en-US" dirty="0"/>
              <a:t>-- total welfare</a:t>
            </a:r>
          </a:p>
          <a:p>
            <a:r>
              <a:rPr lang="en-US" dirty="0"/>
              <a:t>-- allocation of surplus among consumers and producers</a:t>
            </a:r>
          </a:p>
          <a:p>
            <a:endParaRPr lang="en-US" dirty="0"/>
          </a:p>
          <a:p>
            <a:r>
              <a:rPr lang="en-US"/>
              <a:t>For more on the AT&amp;T breakup: http://articles.latimes.com/1995-09-21/business/fi-48462_1_system-breakup</a:t>
            </a:r>
          </a:p>
          <a:p>
            <a:endParaRPr lang="en-US"/>
          </a:p>
          <a:p>
            <a:r>
              <a:rPr lang="en-US" dirty="0"/>
              <a:t>…but many mergers that limit competition still go through. CF Live </a:t>
            </a:r>
            <a:r>
              <a:rPr lang="en-US" dirty="0" err="1"/>
              <a:t>Nation+Ticketmaster</a:t>
            </a:r>
            <a:r>
              <a:rPr lang="en-US" dirty="0"/>
              <a:t> merger in 2010: https://www.vox.com/the-goods/23569504/ticketmaster-monopoly-live-nation-taylor-swift-antitrust-clyde-Lawrence</a:t>
            </a:r>
          </a:p>
          <a:p>
            <a:endParaRPr lang="en-US" dirty="0"/>
          </a:p>
          <a:p>
            <a:r>
              <a:rPr lang="en-US" dirty="0"/>
              <a:t>(About the picture): It uses a funnel composition showing dozens of small, scattered startup icons on the left consolidating and being absorbed into three massive dominant tech logos on the right that take up 90% of the market space, visually conveying market power without using words.</a:t>
            </a:r>
          </a:p>
          <a:p>
            <a:endParaRPr lang="en-US" dirty="0"/>
          </a:p>
          <a:p>
            <a:r>
              <a:rPr lang="en-US" dirty="0"/>
              <a:t>The three symbols stand for Anthropic (the A with the brain), ChatGPT/OpenAI (the green C) and Google with its Gemini models (the G with the ring). They are stylized, AI-generated letters, not the companies' actual logos.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last part is monopolistic competition: many firms with differentiated products, where entry erodes profits in the long run.</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 to the spectrum. We now move to monopolistic competition: many firms selling products that are similar but not identical, like the restaurants in West Hollywood. Each restaurant is a price searcher, but entry is easy, and that changes what happens to profits in the long run.</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Monopolistic competition combines many sellers with products that customers see as somewhat different, like restaurants, plumbers or clothing brands. Each firm has a little market power. The key feature is the red box: there are no major barriers to entry, so profits attract new firms and do not last.</a:t>
            </a:r>
          </a:p>
          <a:p>
            <a:r>
              <a:t>The Palessi clip shows how much perceived differentiation can be worth: Payless sold its discount shoes as a fake luxury brand at many times the price.</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Take gas stations, for example. Even in small towns, there can be dozens of them. While their marketing departments try really hard to tell you otherwise, all the different stations sell the exact same product. However, there is a bit of product differentiation through their locations. The customers prefer to drive to the closest one. For a given customer, this makes some stations more attractive than others.</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Under monopolistic competition there are many firms and no major barriers to entry. Each firm has some market power, so in the short run it can earn profits, exactly like a monopolist. In the long run, though, those profits attract new firms, and entry erodes them. The next three graphs show how.</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the short run a monopolistically competitive firm looks exactly like a monopolist. Gracias Madre faces a downward-sloping demand curve, sets MR equal to MC, charges the price on its demand curve, and earns a profit, the red rectangle. Notice where marginal cost cuts the average total cost curve: at its lowest point. Below that output, the extra meal costs less than the average, so it pulls the average down; above it, it pushes the average up.</a:t>
            </a:r>
          </a:p>
          <a:p>
            <a:endParaRPr/>
          </a:p>
          <a:p>
            <a:r>
              <a:t>Short run. Firms that differentiate are perpetually looking for those short term profits.</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New restaurants open nearby, such as Guisados and Mercado. Gracias Madre's demand curve shifts down from D1 to D2 and becomes flatter, because its customers now have more alternatives. It still sets MR equal to MC and still makes a profit, but a smaller one than before.</a:t>
            </a:r>
          </a:p>
          <a:p>
            <a:endParaRPr/>
          </a:p>
          <a:p>
            <a:r>
              <a:t>Long run: Entry of new firms makes the incumbent firm’s demand more elastic (less steep) due to the availability of substitutes. Entry of new firms also shifts the incumbent firm’s demand curve down due to the fact that the firm is now splitting the market. The MR curve shifts accordingly.</a:t>
            </a:r>
          </a:p>
          <a:p>
            <a:endParaRPr/>
          </a:p>
          <a:p>
            <a:r>
              <a:t>As long as there are positive profits, more firms will enter. The demand curve will shift down to where it meets average total cost, so that profits are zero.</a:t>
            </a:r>
          </a:p>
          <a:p>
            <a:endParaRPr/>
          </a:p>
          <a:p>
            <a:r>
              <a:t>Note that the entry of firms does not lead to the perfectly competitive outcome. There is still a price mark up over the MC due to downward sloping demand.</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 long as there are profits, more restaurants open, and each new one takes customers from the incumbent. Its demand curve keeps shifting down and becoming flatter, until it just touches the average total cost curve. At that point the best the firm can do is charge a price equal to average total cost: zero economic profit, and no reason for anyone else to enter.</a:t>
            </a:r>
          </a:p>
          <a:p>
            <a:r>
              <a:t>Notice that this is not perfect competition. The demand curve still slopes down, so the price is still above marginal cost: there is still a markup, it just no longer produces a profit.</a:t>
            </a:r>
          </a:p>
          <a:p>
            <a:r>
              <a:t>The note in the box matters. Zero profit for every firm assumes that all firms have the same costs and differ only in their products. A restaurant with lower costs than its rivals can keep earning a profit even in the long run.</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entry erodes profits under monopolistic competition, but not under monopoly. The difference is barriers to entry. Which raises the question every manager cares about: can a firm build its own barriers?</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are five structural barriers. Legal barriers: drug approval by the FDA, patents, licenses. Network effects: a social network is worth more the more people are on it, so a newcomer starts at a disadvantage. Economies of scale: a national wireless network has enormous fixed costs. Learning: Boeing has built wide-body jets for decades, and that know-how is hard to copy. And control of resources: only grapes from the Champagne region can be sold as champagne.</a:t>
            </a:r>
          </a:p>
          <a:p>
            <a:endParaRPr/>
          </a:p>
          <a:p>
            <a:r>
              <a:t>Example of legal barriers include:</a:t>
            </a:r>
          </a:p>
          <a:p>
            <a:r>
              <a:t>-- licensing requirements</a:t>
            </a:r>
          </a:p>
          <a:p>
            <a:r>
              <a:t>-- taxi medallions</a:t>
            </a:r>
          </a:p>
          <a:p>
            <a:r>
              <a:t>-- patents and copyrights</a:t>
            </a:r>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Firms can also build barriers by making it costly for customers to leave. Loyalty programs: airline miles you lose if you switch carriers. Compatibility: once your phone, laptop and tablet all work together, a rival device is less attractive. And learning: once your staff is trained on Oracle's software, moving to a competitor means retraining everyone. Each makes demand less elastic, which supports a higher markup.</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5" r:id="rId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hyperlink" Target="https://ucla-anderson.hosted.panopto.com/Panopto/Pages/Viewer.aspx?id=ae24e2ef-3b63-4b5d-a968-b08b0133a07a"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hyperlink" Target="https://ucla-anderson.hosted.panopto.com/Panopto/Pages/Viewer.aspx?id=ae24e2ef-3b63-4b5d-a968-b08b0133a07a" TargetMode="Externa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hyperlink" Target="https://ucla-anderson.hosted.panopto.com/Panopto/Pages/Viewer.aspx?id=ae24e2ef-3b63-4b5d-a968-b08b0133a07a" TargetMode="External"/><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8" Type="http://schemas.openxmlformats.org/officeDocument/2006/relationships/image" Target="../media/image23.png"/><Relationship Id="rId7"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7"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tags" Target="../tags/tag1.xml"/><Relationship Id="rId4" Type="http://schemas.openxmlformats.org/officeDocument/2006/relationships/image" Target="../media/image31.png"/></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4.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0.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2.jpg"/><Relationship Id="rId7" Type="http://schemas.openxmlformats.org/officeDocument/2006/relationships/image" Target="../media/image38.jp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jpg"/><Relationship Id="rId4" Type="http://schemas.openxmlformats.org/officeDocument/2006/relationships/image" Target="../media/image35.png"/></Relationships>
</file>

<file path=ppt/slides/_rels/slide3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41.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hyperlink" Target="https://www.youtube.com/watch?v=gDdq2rIqAlM&amp;t=589s" TargetMode="External"/><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41.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46.png"/></Relationships>
</file>

<file path=ppt/slides/_rels/slide4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hyperlink" Target="http://www.economist.com/techfirms" TargetMode="External"/></Relationships>
</file>

<file path=ppt/slides/_rels/slide4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0.xml"/><Relationship Id="rId1" Type="http://schemas.openxmlformats.org/officeDocument/2006/relationships/slideLayout" Target="../slideLayouts/slideLayout1.xml"/><Relationship Id="rId4" Type="http://schemas.openxmlformats.org/officeDocument/2006/relationships/hyperlink" Target="https://concentrationcrisis.openmarketsinstitute.org/" TargetMode="External"/></Relationships>
</file>

<file path=ppt/slides/_rels/slide5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1.xml"/><Relationship Id="rId1" Type="http://schemas.openxmlformats.org/officeDocument/2006/relationships/slideLayout" Target="../slideLayouts/slideLayout1.xml"/><Relationship Id="rId4" Type="http://schemas.openxmlformats.org/officeDocument/2006/relationships/hyperlink" Target="https://florianederer.github.io/pdf/killer.pdf" TargetMode="Externa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32.jpg"/><Relationship Id="rId7" Type="http://schemas.openxmlformats.org/officeDocument/2006/relationships/image" Target="../media/image38.jpg"/><Relationship Id="rId2" Type="http://schemas.openxmlformats.org/officeDocument/2006/relationships/notesSlide" Target="../notesSlides/notesSlide53.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jpg"/><Relationship Id="rId4" Type="http://schemas.openxmlformats.org/officeDocument/2006/relationships/image" Target="../media/image35.png"/></Relationships>
</file>

<file path=ppt/slides/_rels/slide55.xml.rels><?xml version="1.0" encoding="UTF-8" standalone="yes"?>
<Relationships xmlns="http://schemas.openxmlformats.org/package/2006/relationships"><Relationship Id="rId3" Type="http://schemas.openxmlformats.org/officeDocument/2006/relationships/hyperlink" Target="https://www.youtube.com/watch?v=LPLWTT3ZVMo" TargetMode="External"/><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56.jpg"/><Relationship Id="rId2" Type="http://schemas.openxmlformats.org/officeDocument/2006/relationships/notesSlide" Target="../notesSlides/notesSlide58.xml"/><Relationship Id="rId1" Type="http://schemas.openxmlformats.org/officeDocument/2006/relationships/slideLayout" Target="../slideLayouts/slideLayout1.xml"/><Relationship Id="rId5" Type="http://schemas.openxmlformats.org/officeDocument/2006/relationships/image" Target="../media/image58.png"/><Relationship Id="rId4" Type="http://schemas.openxmlformats.org/officeDocument/2006/relationships/image" Target="../media/image57.jpg"/></Relationships>
</file>

<file path=ppt/slides/_rels/slide60.xml.rels><?xml version="1.0" encoding="UTF-8" standalone="yes"?>
<Relationships xmlns="http://schemas.openxmlformats.org/package/2006/relationships"><Relationship Id="rId3" Type="http://schemas.openxmlformats.org/officeDocument/2006/relationships/image" Target="../media/image56.jpg"/><Relationship Id="rId2" Type="http://schemas.openxmlformats.org/officeDocument/2006/relationships/notesSlide" Target="../notesSlides/notesSlide59.xml"/><Relationship Id="rId1" Type="http://schemas.openxmlformats.org/officeDocument/2006/relationships/slideLayout" Target="../slideLayouts/slideLayout1.xml"/><Relationship Id="rId5" Type="http://schemas.openxmlformats.org/officeDocument/2006/relationships/image" Target="../media/image58.png"/><Relationship Id="rId4" Type="http://schemas.openxmlformats.org/officeDocument/2006/relationships/image" Target="../media/image57.jp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59.jpg"/><Relationship Id="rId7" Type="http://schemas.openxmlformats.org/officeDocument/2006/relationships/image" Target="../media/image63.png"/><Relationship Id="rId2" Type="http://schemas.openxmlformats.org/officeDocument/2006/relationships/notesSlide" Target="../notesSlides/notesSlide61.xml"/><Relationship Id="rId1" Type="http://schemas.openxmlformats.org/officeDocument/2006/relationships/slideLayout" Target="../slideLayouts/slideLayout1.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 Id="rId9" Type="http://schemas.openxmlformats.org/officeDocument/2006/relationships/image" Target="../media/image65.png"/></Relationships>
</file>

<file path=ppt/slides/_rels/slide63.xml.rels><?xml version="1.0" encoding="UTF-8" standalone="yes"?>
<Relationships xmlns="http://schemas.openxmlformats.org/package/2006/relationships"><Relationship Id="rId3" Type="http://schemas.openxmlformats.org/officeDocument/2006/relationships/image" Target="../media/image66.jpg"/><Relationship Id="rId2" Type="http://schemas.openxmlformats.org/officeDocument/2006/relationships/notesSlide" Target="../notesSlides/notesSlide62.xml"/><Relationship Id="rId1" Type="http://schemas.openxmlformats.org/officeDocument/2006/relationships/slideLayout" Target="../slideLayouts/slideLayout1.xml"/><Relationship Id="rId5" Type="http://schemas.openxmlformats.org/officeDocument/2006/relationships/image" Target="../media/image68.png"/><Relationship Id="rId4" Type="http://schemas.openxmlformats.org/officeDocument/2006/relationships/image" Target="../media/image6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148840"/>
            <a:ext cx="12191695" cy="1097280"/>
          </a:xfrm>
          <a:prstGeom prst="rect">
            <a:avLst/>
          </a:prstGeom>
          <a:noFill/>
        </p:spPr>
        <p:txBody>
          <a:bodyPr wrap="square" lIns="0" tIns="0" rIns="0" bIns="0">
            <a:spAutoFit/>
          </a:bodyPr>
          <a:lstStyle/>
          <a:p>
            <a:pPr algn="ctr"/>
            <a:r>
              <a:rPr sz="6000" b="1" i="0" u="none">
                <a:solidFill>
                  <a:srgbClr val="0B2B4E"/>
                </a:solidFill>
                <a:latin typeface="Calibri"/>
              </a:rPr>
              <a:t>Price Searchers</a:t>
            </a:r>
          </a:p>
        </p:txBody>
      </p:sp>
      <p:sp>
        <p:nvSpPr>
          <p:cNvPr id="3" name="TextBox 2"/>
          <p:cNvSpPr txBox="1"/>
          <p:nvPr/>
        </p:nvSpPr>
        <p:spPr>
          <a:xfrm>
            <a:off x="0" y="3310128"/>
            <a:ext cx="12191695" cy="731520"/>
          </a:xfrm>
          <a:prstGeom prst="rect">
            <a:avLst/>
          </a:prstGeom>
          <a:noFill/>
        </p:spPr>
        <p:txBody>
          <a:bodyPr wrap="square" lIns="0" tIns="0" rIns="0" bIns="0">
            <a:spAutoFit/>
          </a:bodyPr>
          <a:lstStyle/>
          <a:p>
            <a:pPr algn="ctr"/>
            <a:r>
              <a:rPr sz="4000" b="1" i="0" u="none">
                <a:solidFill>
                  <a:srgbClr val="E09F3E"/>
                </a:solidFill>
                <a:latin typeface="Calibri"/>
              </a:rPr>
              <a:t>Monopoly and Monopolistic Competition</a:t>
            </a:r>
          </a:p>
        </p:txBody>
      </p:sp>
      <p:sp>
        <p:nvSpPr>
          <p:cNvPr id="4" name="Rectangle 3"/>
          <p:cNvSpPr/>
          <p:nvPr/>
        </p:nvSpPr>
        <p:spPr>
          <a:xfrm>
            <a:off x="4267047" y="4224528"/>
            <a:ext cx="3657600" cy="54864"/>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0" y="4535424"/>
            <a:ext cx="12191695" cy="502920"/>
          </a:xfrm>
          <a:prstGeom prst="rect">
            <a:avLst/>
          </a:prstGeom>
          <a:noFill/>
        </p:spPr>
        <p:txBody>
          <a:bodyPr wrap="square" lIns="0" tIns="0" rIns="0" bIns="0">
            <a:spAutoFit/>
          </a:bodyPr>
          <a:lstStyle/>
          <a:p>
            <a:pPr algn="ctr"/>
            <a:r>
              <a:rPr sz="2600" b="1" i="0" u="none">
                <a:solidFill>
                  <a:srgbClr val="555B66"/>
                </a:solidFill>
                <a:latin typeface="Calibri"/>
              </a:rPr>
              <a:t>Management 405</a:t>
            </a:r>
          </a:p>
        </p:txBody>
      </p:sp>
      <p:sp>
        <p:nvSpPr>
          <p:cNvPr id="6" name="TextBox 5"/>
          <p:cNvSpPr txBox="1"/>
          <p:nvPr/>
        </p:nvSpPr>
        <p:spPr>
          <a:xfrm>
            <a:off x="0" y="5175504"/>
            <a:ext cx="12191695" cy="457200"/>
          </a:xfrm>
          <a:prstGeom prst="rect">
            <a:avLst/>
          </a:prstGeom>
          <a:noFill/>
        </p:spPr>
        <p:txBody>
          <a:bodyPr wrap="square" lIns="0" tIns="0" rIns="0" bIns="0">
            <a:spAutoFit/>
          </a:bodyPr>
          <a:lstStyle/>
          <a:p>
            <a:pPr algn="ctr"/>
            <a:r>
              <a:rPr sz="2200" b="0" i="0" u="none">
                <a:solidFill>
                  <a:srgbClr val="555B66"/>
                </a:solidFill>
                <a:latin typeface="Calibri"/>
              </a:rPr>
              <a:t>Prof. Nico Voigtländer  ·  UCLA Anderson</a:t>
            </a:r>
          </a:p>
        </p:txBody>
      </p:sp>
      <p:sp>
        <p:nvSpPr>
          <p:cNvPr id="7" name="Rectangle 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5 · Course Roadmap</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Agenda for the Class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2163927" y="1828800"/>
            <a:ext cx="7863840" cy="777240"/>
          </a:xfrm>
          <a:prstGeom prst="roundRect">
            <a:avLst>
              <a:gd name="adj" fmla="val 6000"/>
            </a:avLst>
          </a:prstGeom>
          <a:solidFill>
            <a:srgbClr val="B0B5BC"/>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a:solidFill>
                  <a:srgbClr val="FFFFFF"/>
                </a:solidFill>
                <a:latin typeface="Calibri"/>
              </a:rPr>
              <a:t>1. Basic Principles and Economic Way of Thinking</a:t>
            </a:r>
          </a:p>
        </p:txBody>
      </p:sp>
      <p:sp>
        <p:nvSpPr>
          <p:cNvPr id="8" name="Rounded Rectangle 7"/>
          <p:cNvSpPr/>
          <p:nvPr/>
        </p:nvSpPr>
        <p:spPr>
          <a:xfrm>
            <a:off x="1752447" y="3337560"/>
            <a:ext cx="4206240" cy="777240"/>
          </a:xfrm>
          <a:prstGeom prst="roundRect">
            <a:avLst>
              <a:gd name="adj" fmla="val 6000"/>
            </a:avLst>
          </a:prstGeom>
          <a:solidFill>
            <a:srgbClr val="B0B5BC"/>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b="1">
                <a:solidFill>
                  <a:srgbClr val="FFFFFF"/>
                </a:solidFill>
                <a:latin typeface="Calibri"/>
              </a:rPr>
              <a:t>2. Value and Demand</a:t>
            </a:r>
          </a:p>
        </p:txBody>
      </p:sp>
      <p:sp>
        <p:nvSpPr>
          <p:cNvPr id="9" name="Rounded Rectangle 8"/>
          <p:cNvSpPr/>
          <p:nvPr/>
        </p:nvSpPr>
        <p:spPr>
          <a:xfrm>
            <a:off x="6233007" y="3337560"/>
            <a:ext cx="4206240" cy="777240"/>
          </a:xfrm>
          <a:prstGeom prst="roundRect">
            <a:avLst>
              <a:gd name="adj" fmla="val 6000"/>
            </a:avLst>
          </a:prstGeom>
          <a:solidFill>
            <a:srgbClr val="B0B5BC"/>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b="1">
                <a:solidFill>
                  <a:srgbClr val="FFFFFF"/>
                </a:solidFill>
                <a:latin typeface="Calibri"/>
              </a:rPr>
              <a:t>3. Supply and Cost</a:t>
            </a:r>
          </a:p>
        </p:txBody>
      </p:sp>
      <p:sp>
        <p:nvSpPr>
          <p:cNvPr id="10" name="Rounded Rectangle 9"/>
          <p:cNvSpPr/>
          <p:nvPr/>
        </p:nvSpPr>
        <p:spPr>
          <a:xfrm>
            <a:off x="2163927" y="5029200"/>
            <a:ext cx="7863840" cy="777240"/>
          </a:xfrm>
          <a:prstGeom prst="roundRect">
            <a:avLst>
              <a:gd name="adj" fmla="val 6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a:solidFill>
                  <a:srgbClr val="FFFFFF"/>
                </a:solidFill>
                <a:latin typeface="Calibri"/>
              </a:rPr>
              <a:t>4. Markets, Pricing, and Strategy</a:t>
            </a:r>
          </a:p>
        </p:txBody>
      </p:sp>
      <p:cxnSp>
        <p:nvCxnSpPr>
          <p:cNvPr id="11" name="Connector 10"/>
          <p:cNvCxnSpPr/>
          <p:nvPr/>
        </p:nvCxnSpPr>
        <p:spPr>
          <a:xfrm flipH="1">
            <a:off x="3855567" y="2606040"/>
            <a:ext cx="2240280" cy="731520"/>
          </a:xfrm>
          <a:prstGeom prst="line">
            <a:avLst/>
          </a:prstGeom>
          <a:ln w="38100">
            <a:solidFill>
              <a:srgbClr val="B0B5BC"/>
            </a:solidFill>
            <a:tailEnd type="triangle" w="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5847" y="2606040"/>
            <a:ext cx="2240280" cy="731520"/>
          </a:xfrm>
          <a:prstGeom prst="line">
            <a:avLst/>
          </a:prstGeom>
          <a:ln w="38100">
            <a:solidFill>
              <a:srgbClr val="B0B5BC"/>
            </a:solidFill>
            <a:tailEnd type="triangle" w="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855567" y="4114800"/>
            <a:ext cx="2240280" cy="914400"/>
          </a:xfrm>
          <a:prstGeom prst="line">
            <a:avLst/>
          </a:prstGeom>
          <a:ln w="38100">
            <a:solidFill>
              <a:srgbClr val="B0B5BC"/>
            </a:solidFill>
            <a:tailEnd type="triangle" w="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6095847" y="4114800"/>
            <a:ext cx="2240280" cy="914400"/>
          </a:xfrm>
          <a:prstGeom prst="line">
            <a:avLst/>
          </a:prstGeom>
          <a:ln w="38100">
            <a:solidFill>
              <a:srgbClr val="B0B5BC"/>
            </a:solidFill>
            <a:tailEnd type="triangle" w="med"/>
          </a:ln>
        </p:spPr>
        <p:style>
          <a:lnRef idx="2">
            <a:schemeClr val="accent1"/>
          </a:lnRef>
          <a:fillRef idx="0">
            <a:schemeClr val="accent1"/>
          </a:fillRef>
          <a:effectRef idx="1">
            <a:schemeClr val="accent1"/>
          </a:effectRef>
          <a:fontRef idx="minor">
            <a:schemeClr val="tx1"/>
          </a:fontRef>
        </p:style>
      </p:cxnSp>
      <p:sp>
        <p:nvSpPr>
          <p:cNvPr id="15" name="Right Arrow 14"/>
          <p:cNvSpPr/>
          <p:nvPr/>
        </p:nvSpPr>
        <p:spPr>
          <a:xfrm>
            <a:off x="1505559" y="5189220"/>
            <a:ext cx="548640" cy="457200"/>
          </a:xfrm>
          <a:prstGeom prst="rightArrow">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8239" y="5271516"/>
            <a:ext cx="1325880" cy="292608"/>
          </a:xfrm>
          <a:prstGeom prst="rect">
            <a:avLst/>
          </a:prstGeom>
          <a:noFill/>
        </p:spPr>
        <p:txBody>
          <a:bodyPr wrap="square" lIns="0" tIns="0" rIns="0" bIns="0">
            <a:spAutoFit/>
          </a:bodyPr>
          <a:lstStyle/>
          <a:p>
            <a:pPr algn="r"/>
            <a:r>
              <a:rPr sz="1600" b="1" i="1" u="none">
                <a:solidFill>
                  <a:srgbClr val="E09F3E"/>
                </a:solidFill>
                <a:latin typeface="Calibri"/>
              </a:rPr>
              <a:t>we are here</a:t>
            </a:r>
          </a:p>
        </p:txBody>
      </p:sp>
      <p:sp>
        <p:nvSpPr>
          <p:cNvPr id="17" name="Rectangle 1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5  ·  Monopoly and Monopolistic Competition</a:t>
            </a:r>
          </a:p>
        </p:txBody>
      </p:sp>
      <p:sp>
        <p:nvSpPr>
          <p:cNvPr id="20" name="TextBox 19"/>
          <p:cNvSpPr txBox="1"/>
          <p:nvPr/>
        </p:nvSpPr>
        <p:spPr>
          <a:xfrm>
            <a:off x="11475720" y="6583680"/>
            <a:ext cx="502920" cy="292608"/>
          </a:xfrm>
          <a:prstGeom prst="rect">
            <a:avLst/>
          </a:prstGeom>
          <a:noFill/>
        </p:spPr>
        <p:txBody>
          <a:bodyPr wrap="none" lIns="0" tIns="0" rIns="0" bIns="0">
            <a:spAutoFit/>
          </a:bodyPr>
          <a:lstStyle/>
          <a:p>
            <a:pPr algn="r"/>
            <a:fld id="{92B64BE3-EAA0-5B55-B44E-8B588CEF81A4}" type="slidenum">
              <a:rPr lang="en-US" sz="1200" dirty="0">
                <a:solidFill>
                  <a:srgbClr val="555B66"/>
                </a:solidFill>
                <a:latin typeface="Calibri"/>
              </a:rPr>
              <a:t>2</a:t>
            </a:fld>
            <a:endParaRPr lang="en-US" sz="1200" dirty="0">
              <a:solidFill>
                <a:srgbClr val="555B66"/>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5 · Agenda</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Outline of Module 5</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1560" y="1929384"/>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0B2B4E"/>
                </a:solidFill>
                <a:latin typeface="Calibri"/>
              </a:rPr>
              <a:t>1</a:t>
            </a:r>
          </a:p>
        </p:txBody>
      </p:sp>
      <p:sp>
        <p:nvSpPr>
          <p:cNvPr id="8" name="Rounded Rectangle 7"/>
          <p:cNvSpPr/>
          <p:nvPr/>
        </p:nvSpPr>
        <p:spPr>
          <a:xfrm>
            <a:off x="10332720" y="2057400"/>
            <a:ext cx="1417320" cy="329184"/>
          </a:xfrm>
          <a:prstGeom prst="roundRect">
            <a:avLst>
              <a:gd name="adj" fmla="val 30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In class</a:t>
            </a:r>
          </a:p>
        </p:txBody>
      </p:sp>
      <p:sp>
        <p:nvSpPr>
          <p:cNvPr id="9" name="TextBox 8"/>
          <p:cNvSpPr txBox="1"/>
          <p:nvPr/>
        </p:nvSpPr>
        <p:spPr>
          <a:xfrm>
            <a:off x="1874519" y="1911096"/>
            <a:ext cx="8293609" cy="731520"/>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0B2B4E"/>
              </a:buClr>
              <a:buFont typeface="Calibri"/>
              <a:buChar char="–"/>
              <a:defRPr sz="2100" b="0">
                <a:solidFill>
                  <a:srgbClr val="0B2B4E"/>
                </a:solidFill>
                <a:latin typeface="Calibri"/>
              </a:defRPr>
            </a:lvl2pPr>
          </a:lstStyle>
          <a:p>
            <a:pPr algn="l">
              <a:buNone/>
            </a:pPr>
            <a:r>
              <a:rPr sz="2500" b="1">
                <a:solidFill>
                  <a:srgbClr val="0B2B4E"/>
                </a:solidFill>
                <a:latin typeface="Calibri"/>
              </a:rPr>
              <a:t>Profit Maximization for Price Searchers</a:t>
            </a:r>
          </a:p>
          <a:p>
            <a:pPr algn="l">
              <a:spcBef>
                <a:spcPts val="0"/>
              </a:spcBef>
              <a:buNone/>
            </a:pPr>
            <a:r>
              <a:rPr sz="2200">
                <a:solidFill>
                  <a:srgbClr val="555B66"/>
                </a:solidFill>
                <a:latin typeface="Calibri"/>
              </a:rPr>
              <a:t>How a firm with market power picks its price and quantity</a:t>
            </a:r>
          </a:p>
        </p:txBody>
      </p:sp>
      <p:sp>
        <p:nvSpPr>
          <p:cNvPr id="10" name="Oval 9"/>
          <p:cNvSpPr/>
          <p:nvPr/>
        </p:nvSpPr>
        <p:spPr>
          <a:xfrm>
            <a:off x="1481328" y="2798064"/>
            <a:ext cx="438912" cy="43891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0B2B4E"/>
                </a:solidFill>
                <a:latin typeface="Calibri"/>
              </a:rPr>
              <a:t>1b</a:t>
            </a:r>
          </a:p>
        </p:txBody>
      </p:sp>
      <p:sp>
        <p:nvSpPr>
          <p:cNvPr id="11" name="Rounded Rectangle 10"/>
          <p:cNvSpPr/>
          <p:nvPr/>
        </p:nvSpPr>
        <p:spPr>
          <a:xfrm>
            <a:off x="10707625" y="2889504"/>
            <a:ext cx="1042415" cy="329184"/>
          </a:xfrm>
          <a:prstGeom prst="roundRect">
            <a:avLst>
              <a:gd name="adj" fmla="val 30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In class</a:t>
            </a:r>
          </a:p>
        </p:txBody>
      </p:sp>
      <p:sp>
        <p:nvSpPr>
          <p:cNvPr id="12" name="TextBox 11"/>
          <p:cNvSpPr txBox="1"/>
          <p:nvPr/>
        </p:nvSpPr>
        <p:spPr>
          <a:xfrm>
            <a:off x="2084831" y="2743200"/>
            <a:ext cx="8458202" cy="731520"/>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300" b="0">
                <a:solidFill>
                  <a:srgbClr val="0B2B4E"/>
                </a:solidFill>
                <a:latin typeface="Calibri"/>
              </a:defRPr>
            </a:lvl1pPr>
            <a:lvl2pPr marL="685800" indent="-228600">
              <a:spcBef>
                <a:spcPts val="300"/>
              </a:spcBef>
              <a:buClr>
                <a:srgbClr val="0B2B4E"/>
              </a:buClr>
              <a:buFont typeface="Calibri"/>
              <a:buChar char="–"/>
              <a:defRPr sz="1900" b="0">
                <a:solidFill>
                  <a:srgbClr val="0B2B4E"/>
                </a:solidFill>
                <a:latin typeface="Calibri"/>
              </a:defRPr>
            </a:lvl2pPr>
          </a:lstStyle>
          <a:p>
            <a:pPr algn="l">
              <a:buNone/>
            </a:pPr>
            <a:r>
              <a:rPr sz="2300" b="1">
                <a:solidFill>
                  <a:srgbClr val="0B2B4E"/>
                </a:solidFill>
                <a:latin typeface="Calibri"/>
              </a:rPr>
              <a:t>Markup and Lerner Index</a:t>
            </a:r>
          </a:p>
          <a:p>
            <a:pPr algn="l">
              <a:spcBef>
                <a:spcPts val="0"/>
              </a:spcBef>
              <a:buNone/>
            </a:pPr>
            <a:r>
              <a:rPr sz="2200">
                <a:solidFill>
                  <a:srgbClr val="555B66"/>
                </a:solidFill>
                <a:latin typeface="Calibri"/>
              </a:rPr>
              <a:t>How far price sits above marginal cost</a:t>
            </a:r>
          </a:p>
        </p:txBody>
      </p:sp>
      <p:sp>
        <p:nvSpPr>
          <p:cNvPr id="13" name="Oval 12"/>
          <p:cNvSpPr/>
          <p:nvPr/>
        </p:nvSpPr>
        <p:spPr>
          <a:xfrm>
            <a:off x="1051560" y="3593592"/>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0B2B4E"/>
                </a:solidFill>
                <a:latin typeface="Calibri"/>
              </a:rPr>
              <a:t>2</a:t>
            </a:r>
          </a:p>
        </p:txBody>
      </p:sp>
      <p:sp>
        <p:nvSpPr>
          <p:cNvPr id="14" name="Rounded Rectangle 13"/>
          <p:cNvSpPr/>
          <p:nvPr/>
        </p:nvSpPr>
        <p:spPr>
          <a:xfrm>
            <a:off x="10332720" y="3721608"/>
            <a:ext cx="1417320" cy="329184"/>
          </a:xfrm>
          <a:prstGeom prst="roundRect">
            <a:avLst>
              <a:gd name="adj" fmla="val 30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In class</a:t>
            </a:r>
          </a:p>
        </p:txBody>
      </p:sp>
      <p:sp>
        <p:nvSpPr>
          <p:cNvPr id="15" name="TextBox 14"/>
          <p:cNvSpPr txBox="1"/>
          <p:nvPr/>
        </p:nvSpPr>
        <p:spPr>
          <a:xfrm>
            <a:off x="1874519" y="3575304"/>
            <a:ext cx="8293609" cy="731520"/>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0B2B4E"/>
              </a:buClr>
              <a:buFont typeface="Calibri"/>
              <a:buChar char="–"/>
              <a:defRPr sz="2100" b="0">
                <a:solidFill>
                  <a:srgbClr val="0B2B4E"/>
                </a:solidFill>
                <a:latin typeface="Calibri"/>
              </a:defRPr>
            </a:lvl2pPr>
          </a:lstStyle>
          <a:p>
            <a:pPr algn="l">
              <a:buNone/>
            </a:pPr>
            <a:r>
              <a:rPr sz="2500" b="1">
                <a:solidFill>
                  <a:srgbClr val="0B2B4E"/>
                </a:solidFill>
                <a:latin typeface="Calibri"/>
              </a:rPr>
              <a:t>Monopoly and Welfare Impact</a:t>
            </a:r>
          </a:p>
          <a:p>
            <a:pPr algn="l">
              <a:spcBef>
                <a:spcPts val="0"/>
              </a:spcBef>
              <a:buNone/>
            </a:pPr>
            <a:r>
              <a:rPr sz="2200">
                <a:solidFill>
                  <a:srgbClr val="555B66"/>
                </a:solidFill>
                <a:latin typeface="Calibri"/>
              </a:rPr>
              <a:t>Monopoly profits come at consumers' expense</a:t>
            </a:r>
          </a:p>
        </p:txBody>
      </p:sp>
      <p:sp>
        <p:nvSpPr>
          <p:cNvPr id="16" name="Oval 15"/>
          <p:cNvSpPr/>
          <p:nvPr/>
        </p:nvSpPr>
        <p:spPr>
          <a:xfrm>
            <a:off x="1051560" y="442569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0B2B4E"/>
                </a:solidFill>
                <a:latin typeface="Calibri"/>
              </a:rPr>
              <a:t>3</a:t>
            </a:r>
          </a:p>
        </p:txBody>
      </p:sp>
      <p:sp>
        <p:nvSpPr>
          <p:cNvPr id="17" name="Rounded Rectangle 16"/>
          <p:cNvSpPr/>
          <p:nvPr/>
        </p:nvSpPr>
        <p:spPr>
          <a:xfrm>
            <a:off x="10332720" y="4553712"/>
            <a:ext cx="1417320" cy="329184"/>
          </a:xfrm>
          <a:prstGeom prst="roundRect">
            <a:avLst>
              <a:gd name="adj" fmla="val 30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In class</a:t>
            </a:r>
          </a:p>
        </p:txBody>
      </p:sp>
      <p:sp>
        <p:nvSpPr>
          <p:cNvPr id="18" name="TextBox 17"/>
          <p:cNvSpPr txBox="1"/>
          <p:nvPr/>
        </p:nvSpPr>
        <p:spPr>
          <a:xfrm>
            <a:off x="1874519" y="4407408"/>
            <a:ext cx="8293609" cy="731520"/>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0B2B4E"/>
              </a:buClr>
              <a:buFont typeface="Calibri"/>
              <a:buChar char="–"/>
              <a:defRPr sz="2100" b="0">
                <a:solidFill>
                  <a:srgbClr val="0B2B4E"/>
                </a:solidFill>
                <a:latin typeface="Calibri"/>
              </a:defRPr>
            </a:lvl2pPr>
          </a:lstStyle>
          <a:p>
            <a:pPr algn="l">
              <a:buNone/>
            </a:pPr>
            <a:r>
              <a:rPr sz="2500" b="1">
                <a:solidFill>
                  <a:srgbClr val="0B2B4E"/>
                </a:solidFill>
                <a:latin typeface="Calibri"/>
              </a:rPr>
              <a:t>Rising Market Power and Regulations</a:t>
            </a:r>
          </a:p>
          <a:p>
            <a:pPr algn="l">
              <a:spcBef>
                <a:spcPts val="0"/>
              </a:spcBef>
              <a:buNone/>
            </a:pPr>
            <a:r>
              <a:rPr sz="2200">
                <a:solidFill>
                  <a:srgbClr val="555B66"/>
                </a:solidFill>
                <a:latin typeface="Calibri"/>
              </a:rPr>
              <a:t>Rising market concentration and government responses</a:t>
            </a:r>
          </a:p>
        </p:txBody>
      </p:sp>
      <p:sp>
        <p:nvSpPr>
          <p:cNvPr id="19" name="Oval 18"/>
          <p:cNvSpPr/>
          <p:nvPr/>
        </p:nvSpPr>
        <p:spPr>
          <a:xfrm>
            <a:off x="1051560" y="525780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0B2B4E"/>
                </a:solidFill>
                <a:latin typeface="Calibri"/>
              </a:rPr>
              <a:t>4</a:t>
            </a:r>
          </a:p>
        </p:txBody>
      </p:sp>
      <p:sp>
        <p:nvSpPr>
          <p:cNvPr id="20" name="Rounded Rectangle 19"/>
          <p:cNvSpPr/>
          <p:nvPr/>
        </p:nvSpPr>
        <p:spPr>
          <a:xfrm>
            <a:off x="10332720" y="5385816"/>
            <a:ext cx="1417320" cy="329184"/>
          </a:xfrm>
          <a:prstGeom prst="roundRect">
            <a:avLst>
              <a:gd name="adj" fmla="val 30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In class</a:t>
            </a:r>
          </a:p>
        </p:txBody>
      </p:sp>
      <p:sp>
        <p:nvSpPr>
          <p:cNvPr id="21" name="TextBox 20"/>
          <p:cNvSpPr txBox="1"/>
          <p:nvPr/>
        </p:nvSpPr>
        <p:spPr>
          <a:xfrm>
            <a:off x="1874519" y="5239512"/>
            <a:ext cx="8293609" cy="731520"/>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0B2B4E"/>
              </a:buClr>
              <a:buFont typeface="Calibri"/>
              <a:buChar char="–"/>
              <a:defRPr sz="2100" b="0">
                <a:solidFill>
                  <a:srgbClr val="0B2B4E"/>
                </a:solidFill>
                <a:latin typeface="Calibri"/>
              </a:defRPr>
            </a:lvl2pPr>
          </a:lstStyle>
          <a:p>
            <a:pPr algn="l">
              <a:buNone/>
            </a:pPr>
            <a:r>
              <a:rPr sz="2500" b="1">
                <a:solidFill>
                  <a:srgbClr val="0B2B4E"/>
                </a:solidFill>
                <a:latin typeface="Calibri"/>
              </a:rPr>
              <a:t>Monopolistic Competition</a:t>
            </a:r>
          </a:p>
          <a:p>
            <a:pPr algn="l">
              <a:spcBef>
                <a:spcPts val="0"/>
              </a:spcBef>
              <a:buNone/>
            </a:pPr>
            <a:r>
              <a:rPr sz="2200">
                <a:solidFill>
                  <a:srgbClr val="555B66"/>
                </a:solidFill>
                <a:latin typeface="Calibri"/>
              </a:rPr>
              <a:t>Many firms, differentiated products: entry erodes profits</a:t>
            </a:r>
          </a:p>
        </p:txBody>
      </p:sp>
      <p:sp>
        <p:nvSpPr>
          <p:cNvPr id="22" name="Rectangle 2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5  ·  Monopoly and Monopolistic Competition</a:t>
            </a:r>
          </a:p>
        </p:txBody>
      </p:sp>
      <p:sp>
        <p:nvSpPr>
          <p:cNvPr id="25" name="TextBox 24"/>
          <p:cNvSpPr txBox="1"/>
          <p:nvPr/>
        </p:nvSpPr>
        <p:spPr>
          <a:xfrm>
            <a:off x="11475720" y="6583680"/>
            <a:ext cx="502920" cy="292608"/>
          </a:xfrm>
          <a:prstGeom prst="rect">
            <a:avLst/>
          </a:prstGeom>
          <a:noFill/>
        </p:spPr>
        <p:txBody>
          <a:bodyPr wrap="none" lIns="0" tIns="0" rIns="0" bIns="0">
            <a:spAutoFit/>
          </a:bodyPr>
          <a:lstStyle/>
          <a:p>
            <a:pPr algn="r"/>
            <a:fld id="{A45A4D84-7183-56C5-AAA9-0FBCD4EF9048}" type="slidenum">
              <a:rPr lang="en-US" sz="1200" dirty="0">
                <a:solidFill>
                  <a:srgbClr val="555B66"/>
                </a:solidFill>
                <a:latin typeface="Calibri"/>
              </a:rPr>
              <a:t>3</a:t>
            </a:fld>
            <a:endParaRPr lang="en-US" sz="1200" dirty="0">
              <a:solidFill>
                <a:srgbClr val="555B66"/>
              </a:solidFill>
              <a:latin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5 · Market Structures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The Four Basic Market Structures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20" name="Group pair 120"/>
          <p:cNvGrpSpPr/>
          <p:nvPr/>
        </p:nvGrpSpPr>
        <p:grpSpPr>
          <a:xfrm>
            <a:off x="380847" y="2103120"/>
            <a:ext cx="11430000" cy="3246120"/>
            <a:chOff x="380847" y="2103120"/>
            <a:chExt cx="11430000" cy="3246120"/>
          </a:xfrm>
        </p:grpSpPr>
        <p:sp>
          <p:nvSpPr>
            <p:cNvPr id="7" name="Rectangle 6"/>
            <p:cNvSpPr/>
            <p:nvPr/>
          </p:nvSpPr>
          <p:spPr>
            <a:xfrm>
              <a:off x="380847" y="2103120"/>
              <a:ext cx="11430000" cy="3246120"/>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nvGraphicFramePr>
          <p:xfrm>
            <a:off x="518007" y="2240280"/>
            <a:ext cx="11155680" cy="2971800"/>
          </p:xfrm>
          <a:graphic>
            <a:graphicData uri="http://schemas.openxmlformats.org/drawingml/2006/table">
              <a:tbl>
                <a:tblPr/>
                <a:tblGrid>
                  <a:gridCol w="274320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gridCol w="2103120">
                    <a:extLst>
                      <a:ext uri="{9D8B030D-6E8A-4147-A177-3AD203B41FA5}">
                        <a16:colId xmlns:a16="http://schemas.microsoft.com/office/drawing/2014/main" val="20004"/>
                      </a:ext>
                    </a:extLst>
                  </a:gridCol>
                </a:tblGrid>
                <a:tr h="914400">
                  <a:tc>
                    <a:txBody>
                      <a:bodyPr/>
                      <a:lstStyle/>
                      <a:p>
                        <a:pPr algn="ctr"/>
                        <a:endParaRP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a:lstStyle/>
                      <a:p>
                        <a:pPr algn="ctr"/>
                        <a:r>
                          <a:rPr sz="2000" b="1">
                            <a:solidFill>
                              <a:srgbClr val="FFFFFF"/>
                            </a:solidFill>
                            <a:latin typeface="Calibri"/>
                          </a:rPr>
                          <a:t>Perfect
Competition</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a:lstStyle/>
                      <a:p>
                        <a:pPr algn="ctr"/>
                        <a:r>
                          <a:rPr sz="2000" b="1">
                            <a:solidFill>
                              <a:srgbClr val="FFFFFF"/>
                            </a:solidFill>
                            <a:latin typeface="Calibri"/>
                          </a:rPr>
                          <a:t>Monopolistic
Competition</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a:lstStyle/>
                      <a:p>
                        <a:pPr algn="ctr"/>
                        <a:r>
                          <a:rPr sz="2000" b="1">
                            <a:solidFill>
                              <a:srgbClr val="FFFFFF"/>
                            </a:solidFill>
                            <a:latin typeface="Calibri"/>
                          </a:rPr>
                          <a:t>Oligopoly</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a:lstStyle/>
                      <a:p>
                        <a:pPr algn="ctr"/>
                        <a:r>
                          <a:rPr sz="2000" b="1">
                            <a:solidFill>
                              <a:srgbClr val="FFFFFF"/>
                            </a:solidFill>
                            <a:latin typeface="Calibri"/>
                          </a:rPr>
                          <a:t>Monopoly</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extLst>
                    <a:ext uri="{0D108BD9-81ED-4DB2-BD59-A6C34878D82A}">
                      <a16:rowId xmlns:a16="http://schemas.microsoft.com/office/drawing/2014/main" val="10000"/>
                    </a:ext>
                  </a:extLst>
                </a:tr>
                <a:tr h="685800">
                  <a:tc>
                    <a:txBody>
                      <a:bodyPr/>
                      <a:lstStyle/>
                      <a:p>
                        <a:pPr algn="l"/>
                        <a:r>
                          <a:rPr sz="2000" b="1">
                            <a:solidFill>
                              <a:srgbClr val="0B2B4E"/>
                            </a:solidFill>
                            <a:latin typeface="Calibri"/>
                          </a:rPr>
                          <a:t>Number of firms</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2000" b="0">
                            <a:solidFill>
                              <a:srgbClr val="0B2B4E"/>
                            </a:solidFill>
                            <a:latin typeface="Calibri"/>
                          </a:rPr>
                          <a:t>Many</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2000" b="0">
                            <a:solidFill>
                              <a:srgbClr val="0B2B4E"/>
                            </a:solidFill>
                            <a:latin typeface="Calibri"/>
                          </a:rPr>
                          <a:t>Many</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2000" b="0">
                            <a:solidFill>
                              <a:srgbClr val="0B2B4E"/>
                            </a:solidFill>
                            <a:latin typeface="Calibri"/>
                          </a:rPr>
                          <a:t>Few</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2000" b="0">
                            <a:solidFill>
                              <a:srgbClr val="0B2B4E"/>
                            </a:solidFill>
                            <a:latin typeface="Calibri"/>
                          </a:rPr>
                          <a:t>One</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1"/>
                    </a:ext>
                  </a:extLst>
                </a:tr>
                <a:tr h="685800">
                  <a:tc>
                    <a:txBody>
                      <a:bodyPr/>
                      <a:lstStyle/>
                      <a:p>
                        <a:pPr algn="l"/>
                        <a:r>
                          <a:rPr sz="2000" b="1">
                            <a:solidFill>
                              <a:srgbClr val="0B2B4E"/>
                            </a:solidFill>
                            <a:latin typeface="Calibri"/>
                          </a:rPr>
                          <a:t>Type of products sold</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2000" b="0">
                            <a:solidFill>
                              <a:srgbClr val="0B2B4E"/>
                            </a:solidFill>
                            <a:latin typeface="Calibri"/>
                          </a:rPr>
                          <a:t>Identical</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2000" b="0">
                            <a:solidFill>
                              <a:srgbClr val="0B2B4E"/>
                            </a:solidFill>
                            <a:latin typeface="Calibri"/>
                          </a:rPr>
                          <a:t>Differentiated</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2000" b="0">
                            <a:solidFill>
                              <a:srgbClr val="0B2B4E"/>
                            </a:solidFill>
                            <a:latin typeface="Calibri"/>
                          </a:rPr>
                          <a:t>Identical or
Differentiated</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2000" b="0">
                            <a:solidFill>
                              <a:srgbClr val="0B2B4E"/>
                            </a:solidFill>
                            <a:latin typeface="Calibri"/>
                          </a:rPr>
                          <a:t>“Unique”</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extLst>
                    <a:ext uri="{0D108BD9-81ED-4DB2-BD59-A6C34878D82A}">
                      <a16:rowId xmlns:a16="http://schemas.microsoft.com/office/drawing/2014/main" val="10002"/>
                    </a:ext>
                  </a:extLst>
                </a:tr>
                <a:tr h="685800">
                  <a:tc>
                    <a:txBody>
                      <a:bodyPr/>
                      <a:lstStyle/>
                      <a:p>
                        <a:pPr algn="l"/>
                        <a:r>
                          <a:rPr sz="2000" b="1">
                            <a:solidFill>
                              <a:srgbClr val="0B2B4E"/>
                            </a:solidFill>
                            <a:latin typeface="Calibri"/>
                          </a:rPr>
                          <a:t>Barriers to entry</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2000" b="0">
                            <a:solidFill>
                              <a:srgbClr val="0B2B4E"/>
                            </a:solidFill>
                            <a:latin typeface="Calibri"/>
                          </a:rPr>
                          <a:t>None</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2000" b="0">
                            <a:solidFill>
                              <a:srgbClr val="0B2B4E"/>
                            </a:solidFill>
                            <a:latin typeface="Calibri"/>
                          </a:rPr>
                          <a:t>None</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2000" b="0">
                            <a:solidFill>
                              <a:srgbClr val="0B2B4E"/>
                            </a:solidFill>
                            <a:latin typeface="Calibri"/>
                          </a:rPr>
                          <a:t>Some</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2000" b="0">
                            <a:solidFill>
                              <a:srgbClr val="0B2B4E"/>
                            </a:solidFill>
                            <a:latin typeface="Calibri"/>
                          </a:rPr>
                          <a:t>Many</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3"/>
                    </a:ext>
                  </a:extLst>
                </a:tr>
              </a:tbl>
            </a:graphicData>
          </a:graphic>
        </p:graphicFrame>
      </p:grpSp>
      <p:grpSp>
        <p:nvGrpSpPr>
          <p:cNvPr id="14" name="StructCallout"/>
          <p:cNvGrpSpPr/>
          <p:nvPr/>
        </p:nvGrpSpPr>
        <p:grpSpPr>
          <a:xfrm>
            <a:off x="5254599" y="1389888"/>
            <a:ext cx="6528816" cy="1883664"/>
            <a:chOff x="5254599" y="1389888"/>
            <a:chExt cx="6528816" cy="1883664"/>
          </a:xfrm>
        </p:grpSpPr>
        <p:sp>
          <p:nvSpPr>
            <p:cNvPr id="9" name="Oval 8"/>
            <p:cNvSpPr/>
            <p:nvPr/>
          </p:nvSpPr>
          <p:spPr>
            <a:xfrm>
              <a:off x="5254599" y="2121408"/>
              <a:ext cx="2322576" cy="1152144"/>
            </a:xfrm>
            <a:prstGeom prst="ellipse">
              <a:avLst/>
            </a:prstGeom>
            <a:noFill/>
            <a:ln w="317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9460839" y="2121408"/>
              <a:ext cx="2322576" cy="1152144"/>
            </a:xfrm>
            <a:prstGeom prst="ellipse">
              <a:avLst/>
            </a:prstGeom>
            <a:noFill/>
            <a:ln w="317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893917" y="1389888"/>
              <a:ext cx="5250180" cy="329184"/>
            </a:xfrm>
            <a:prstGeom prst="rect">
              <a:avLst/>
            </a:prstGeom>
            <a:noFill/>
          </p:spPr>
          <p:txBody>
            <a:bodyPr wrap="square" lIns="0" tIns="0" rIns="0" bIns="0">
              <a:spAutoFit/>
            </a:bodyPr>
            <a:lstStyle/>
            <a:p>
              <a:pPr algn="ctr"/>
              <a:r>
                <a:rPr sz="1800" b="1" i="0" u="none">
                  <a:solidFill>
                    <a:srgbClr val="C00000"/>
                  </a:solidFill>
                  <a:latin typeface="Calibri"/>
                </a:rPr>
                <a:t>Use the same analytics to find optimal price/quantity</a:t>
              </a:r>
            </a:p>
          </p:txBody>
        </p:sp>
        <p:cxnSp>
          <p:nvCxnSpPr>
            <p:cNvPr id="12" name="Connector 11"/>
            <p:cNvCxnSpPr/>
            <p:nvPr/>
          </p:nvCxnSpPr>
          <p:spPr>
            <a:xfrm>
              <a:off x="6415887" y="1755648"/>
              <a:ext cx="0" cy="347472"/>
            </a:xfrm>
            <a:prstGeom prst="line">
              <a:avLst/>
            </a:prstGeom>
            <a:ln w="25400">
              <a:solidFill>
                <a:srgbClr val="C00000"/>
              </a:solidFill>
              <a:tailEnd type="triangle" w="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622127" y="1755648"/>
              <a:ext cx="0" cy="347472"/>
            </a:xfrm>
            <a:prstGeom prst="line">
              <a:avLst/>
            </a:prstGeom>
            <a:ln w="25400">
              <a:solidFill>
                <a:srgbClr val="C00000"/>
              </a:solidFill>
              <a:tailEnd type="triangle" w="med"/>
            </a:ln>
          </p:spPr>
          <p:style>
            <a:lnRef idx="2">
              <a:schemeClr val="accent1"/>
            </a:lnRef>
            <a:fillRef idx="0">
              <a:schemeClr val="accent1"/>
            </a:fillRef>
            <a:effectRef idx="1">
              <a:schemeClr val="accent1"/>
            </a:effectRef>
            <a:fontRef idx="minor">
              <a:schemeClr val="tx1"/>
            </a:fontRef>
          </p:style>
        </p:cxnSp>
      </p:grpSp>
      <p:sp>
        <p:nvSpPr>
          <p:cNvPr id="15" name="StructBar"/>
          <p:cNvSpPr/>
          <p:nvPr/>
        </p:nvSpPr>
        <p:spPr>
          <a:xfrm>
            <a:off x="3867911" y="5394960"/>
            <a:ext cx="7531455" cy="932688"/>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bIns="109728" rtlCol="0" anchor="b"/>
          <a:lstStyle/>
          <a:p>
            <a:pPr algn="ctr"/>
            <a:r>
              <a:rPr sz="1900" b="1" dirty="0">
                <a:solidFill>
                  <a:srgbClr val="0B2B4E"/>
                </a:solidFill>
                <a:latin typeface="Calibri"/>
              </a:rPr>
              <a:t>More firms, more similar products, easier entry</a:t>
            </a:r>
            <a:r>
              <a:rPr lang="en-US" sz="1900" b="1" dirty="0">
                <a:solidFill>
                  <a:srgbClr val="0B2B4E"/>
                </a:solidFill>
                <a:latin typeface="Calibri"/>
              </a:rPr>
              <a:t>, </a:t>
            </a:r>
            <a:r>
              <a:rPr sz="1900" b="1" dirty="0">
                <a:solidFill>
                  <a:srgbClr val="0B2B4E"/>
                </a:solidFill>
                <a:latin typeface="Calibri"/>
              </a:rPr>
              <a:t>more competition</a:t>
            </a:r>
          </a:p>
        </p:txBody>
      </p:sp>
      <p:cxnSp>
        <p:nvCxnSpPr>
          <p:cNvPr id="16" name="Connector 15"/>
          <p:cNvCxnSpPr/>
          <p:nvPr/>
        </p:nvCxnSpPr>
        <p:spPr>
          <a:xfrm flipH="1">
            <a:off x="4626864" y="5687568"/>
            <a:ext cx="6144768" cy="0"/>
          </a:xfrm>
          <a:prstGeom prst="line">
            <a:avLst/>
          </a:prstGeom>
          <a:ln w="63500">
            <a:solidFill>
              <a:srgbClr val="0B2B4E"/>
            </a:solidFill>
            <a:tailEnd type="triangle" w="lg"/>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5  ·  Monopoly and Monopolistic Competition</a:t>
            </a:r>
          </a:p>
        </p:txBody>
      </p:sp>
      <p:sp>
        <p:nvSpPr>
          <p:cNvPr id="20" name="TextBox 19"/>
          <p:cNvSpPr txBox="1"/>
          <p:nvPr/>
        </p:nvSpPr>
        <p:spPr>
          <a:xfrm>
            <a:off x="11475720" y="6583680"/>
            <a:ext cx="502920" cy="292608"/>
          </a:xfrm>
          <a:prstGeom prst="rect">
            <a:avLst/>
          </a:prstGeom>
          <a:noFill/>
        </p:spPr>
        <p:txBody>
          <a:bodyPr wrap="none" lIns="0" tIns="0" rIns="0" bIns="0">
            <a:spAutoFit/>
          </a:bodyPr>
          <a:lstStyle/>
          <a:p>
            <a:pPr algn="r"/>
            <a:fld id="{15B941D9-D594-59B7-AD0C-322EB1EE6C39}" type="slidenum">
              <a:rPr lang="en-US" sz="1200" dirty="0">
                <a:solidFill>
                  <a:srgbClr val="555B66"/>
                </a:solidFill>
                <a:latin typeface="Calibri"/>
              </a:rPr>
              <a:t>4</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5 · Agenda</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Outline of Module 5</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22960" y="1856232"/>
            <a:ext cx="11109960" cy="841248"/>
          </a:xfrm>
          <a:prstGeom prst="roundRect">
            <a:avLst>
              <a:gd name="adj" fmla="val 35000"/>
            </a:avLst>
          </a:prstGeom>
          <a:solidFill>
            <a:srgbClr val="FDF6E6"/>
          </a:solidFill>
          <a:ln w="127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51560" y="1929384"/>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0B2B4E"/>
                </a:solidFill>
                <a:latin typeface="Calibri"/>
              </a:rPr>
              <a:t>1</a:t>
            </a:r>
          </a:p>
        </p:txBody>
      </p:sp>
      <p:sp>
        <p:nvSpPr>
          <p:cNvPr id="9" name="Rounded Rectangle 8"/>
          <p:cNvSpPr/>
          <p:nvPr/>
        </p:nvSpPr>
        <p:spPr>
          <a:xfrm>
            <a:off x="10332720" y="2057400"/>
            <a:ext cx="1417320" cy="329184"/>
          </a:xfrm>
          <a:prstGeom prst="roundRect">
            <a:avLst>
              <a:gd name="adj" fmla="val 30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In class</a:t>
            </a:r>
          </a:p>
        </p:txBody>
      </p:sp>
      <p:sp>
        <p:nvSpPr>
          <p:cNvPr id="10" name="TextBox 9"/>
          <p:cNvSpPr txBox="1"/>
          <p:nvPr/>
        </p:nvSpPr>
        <p:spPr>
          <a:xfrm>
            <a:off x="1874519" y="1911096"/>
            <a:ext cx="8293609" cy="731520"/>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0B2B4E"/>
              </a:buClr>
              <a:buFont typeface="Calibri"/>
              <a:buChar char="–"/>
              <a:defRPr sz="2100" b="0">
                <a:solidFill>
                  <a:srgbClr val="0B2B4E"/>
                </a:solidFill>
                <a:latin typeface="Calibri"/>
              </a:defRPr>
            </a:lvl2pPr>
          </a:lstStyle>
          <a:p>
            <a:pPr algn="l">
              <a:buNone/>
            </a:pPr>
            <a:r>
              <a:rPr sz="2500" b="1">
                <a:solidFill>
                  <a:srgbClr val="0B2B4E"/>
                </a:solidFill>
                <a:latin typeface="Calibri"/>
              </a:rPr>
              <a:t>Profit Maximization for Price Searchers</a:t>
            </a:r>
          </a:p>
          <a:p>
            <a:pPr algn="l">
              <a:spcBef>
                <a:spcPts val="0"/>
              </a:spcBef>
              <a:buNone/>
            </a:pPr>
            <a:r>
              <a:rPr sz="2200">
                <a:solidFill>
                  <a:srgbClr val="555B66"/>
                </a:solidFill>
                <a:latin typeface="Calibri"/>
              </a:rPr>
              <a:t>How a firm with market power picks its price and quantity</a:t>
            </a:r>
          </a:p>
        </p:txBody>
      </p:sp>
      <p:sp>
        <p:nvSpPr>
          <p:cNvPr id="11" name="Oval 10"/>
          <p:cNvSpPr/>
          <p:nvPr/>
        </p:nvSpPr>
        <p:spPr>
          <a:xfrm>
            <a:off x="1481328" y="2798064"/>
            <a:ext cx="438912" cy="43891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BFBFBF"/>
                </a:solidFill>
                <a:latin typeface="Calibri"/>
              </a:rPr>
              <a:t>1b</a:t>
            </a:r>
          </a:p>
        </p:txBody>
      </p:sp>
      <p:sp>
        <p:nvSpPr>
          <p:cNvPr id="12" name="Rounded Rectangle 11"/>
          <p:cNvSpPr/>
          <p:nvPr/>
        </p:nvSpPr>
        <p:spPr>
          <a:xfrm>
            <a:off x="10707625" y="2889504"/>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In class</a:t>
            </a:r>
          </a:p>
        </p:txBody>
      </p:sp>
      <p:sp>
        <p:nvSpPr>
          <p:cNvPr id="13" name="TextBox 12"/>
          <p:cNvSpPr txBox="1"/>
          <p:nvPr/>
        </p:nvSpPr>
        <p:spPr>
          <a:xfrm>
            <a:off x="2084831" y="2916936"/>
            <a:ext cx="8458202" cy="731520"/>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300" b="0">
                <a:solidFill>
                  <a:srgbClr val="0B2B4E"/>
                </a:solidFill>
                <a:latin typeface="Calibri"/>
              </a:defRPr>
            </a:lvl1pPr>
            <a:lvl2pPr marL="685800" indent="-228600">
              <a:spcBef>
                <a:spcPts val="300"/>
              </a:spcBef>
              <a:buClr>
                <a:srgbClr val="0B2B4E"/>
              </a:buClr>
              <a:buFont typeface="Calibri"/>
              <a:buChar char="–"/>
              <a:defRPr sz="1900" b="0">
                <a:solidFill>
                  <a:srgbClr val="0B2B4E"/>
                </a:solidFill>
                <a:latin typeface="Calibri"/>
              </a:defRPr>
            </a:lvl2pPr>
          </a:lstStyle>
          <a:p>
            <a:pPr algn="l">
              <a:buNone/>
            </a:pPr>
            <a:r>
              <a:rPr sz="2300" b="1">
                <a:solidFill>
                  <a:srgbClr val="BFBFBF"/>
                </a:solidFill>
                <a:latin typeface="Calibri"/>
              </a:rPr>
              <a:t>Markup and Lerner Index</a:t>
            </a:r>
          </a:p>
        </p:txBody>
      </p:sp>
      <p:sp>
        <p:nvSpPr>
          <p:cNvPr id="14" name="Oval 13"/>
          <p:cNvSpPr/>
          <p:nvPr/>
        </p:nvSpPr>
        <p:spPr>
          <a:xfrm>
            <a:off x="1051560" y="3593592"/>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2</a:t>
            </a:r>
          </a:p>
        </p:txBody>
      </p:sp>
      <p:sp>
        <p:nvSpPr>
          <p:cNvPr id="15" name="Rounded Rectangle 14"/>
          <p:cNvSpPr/>
          <p:nvPr/>
        </p:nvSpPr>
        <p:spPr>
          <a:xfrm>
            <a:off x="10332720" y="3721608"/>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In class</a:t>
            </a:r>
          </a:p>
        </p:txBody>
      </p:sp>
      <p:sp>
        <p:nvSpPr>
          <p:cNvPr id="16" name="TextBox 15"/>
          <p:cNvSpPr txBox="1"/>
          <p:nvPr/>
        </p:nvSpPr>
        <p:spPr>
          <a:xfrm>
            <a:off x="1874519" y="3749040"/>
            <a:ext cx="8293609" cy="731520"/>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0B2B4E"/>
              </a:buClr>
              <a:buFont typeface="Calibri"/>
              <a:buChar char="–"/>
              <a:defRPr sz="2100" b="0">
                <a:solidFill>
                  <a:srgbClr val="0B2B4E"/>
                </a:solidFill>
                <a:latin typeface="Calibri"/>
              </a:defRPr>
            </a:lvl2pPr>
          </a:lstStyle>
          <a:p>
            <a:pPr algn="l">
              <a:buNone/>
            </a:pPr>
            <a:r>
              <a:rPr sz="2500" b="1">
                <a:solidFill>
                  <a:srgbClr val="BFBFBF"/>
                </a:solidFill>
                <a:latin typeface="Calibri"/>
              </a:rPr>
              <a:t>Monopoly and Welfare Impact</a:t>
            </a:r>
          </a:p>
        </p:txBody>
      </p:sp>
      <p:sp>
        <p:nvSpPr>
          <p:cNvPr id="17" name="Oval 16"/>
          <p:cNvSpPr/>
          <p:nvPr/>
        </p:nvSpPr>
        <p:spPr>
          <a:xfrm>
            <a:off x="1051560" y="442569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3</a:t>
            </a:r>
          </a:p>
        </p:txBody>
      </p:sp>
      <p:sp>
        <p:nvSpPr>
          <p:cNvPr id="18" name="Rounded Rectangle 17"/>
          <p:cNvSpPr/>
          <p:nvPr/>
        </p:nvSpPr>
        <p:spPr>
          <a:xfrm>
            <a:off x="10332720" y="4553712"/>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In class</a:t>
            </a:r>
          </a:p>
        </p:txBody>
      </p:sp>
      <p:sp>
        <p:nvSpPr>
          <p:cNvPr id="19" name="TextBox 18"/>
          <p:cNvSpPr txBox="1"/>
          <p:nvPr/>
        </p:nvSpPr>
        <p:spPr>
          <a:xfrm>
            <a:off x="1874519" y="4581144"/>
            <a:ext cx="8293609" cy="731520"/>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0B2B4E"/>
              </a:buClr>
              <a:buFont typeface="Calibri"/>
              <a:buChar char="–"/>
              <a:defRPr sz="2100" b="0">
                <a:solidFill>
                  <a:srgbClr val="0B2B4E"/>
                </a:solidFill>
                <a:latin typeface="Calibri"/>
              </a:defRPr>
            </a:lvl2pPr>
          </a:lstStyle>
          <a:p>
            <a:pPr algn="l">
              <a:buNone/>
            </a:pPr>
            <a:r>
              <a:rPr sz="2500" b="1">
                <a:solidFill>
                  <a:srgbClr val="BFBFBF"/>
                </a:solidFill>
                <a:latin typeface="Calibri"/>
              </a:rPr>
              <a:t>Rising Market Power and Regulations</a:t>
            </a:r>
          </a:p>
        </p:txBody>
      </p:sp>
      <p:sp>
        <p:nvSpPr>
          <p:cNvPr id="20" name="Oval 19"/>
          <p:cNvSpPr/>
          <p:nvPr/>
        </p:nvSpPr>
        <p:spPr>
          <a:xfrm>
            <a:off x="1051560" y="525780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4</a:t>
            </a:r>
          </a:p>
        </p:txBody>
      </p:sp>
      <p:sp>
        <p:nvSpPr>
          <p:cNvPr id="21" name="Rounded Rectangle 20"/>
          <p:cNvSpPr/>
          <p:nvPr/>
        </p:nvSpPr>
        <p:spPr>
          <a:xfrm>
            <a:off x="10332720" y="5385816"/>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In class</a:t>
            </a:r>
          </a:p>
        </p:txBody>
      </p:sp>
      <p:sp>
        <p:nvSpPr>
          <p:cNvPr id="22" name="TextBox 21"/>
          <p:cNvSpPr txBox="1"/>
          <p:nvPr/>
        </p:nvSpPr>
        <p:spPr>
          <a:xfrm>
            <a:off x="1874519" y="5413248"/>
            <a:ext cx="8293609" cy="731520"/>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0B2B4E"/>
              </a:buClr>
              <a:buFont typeface="Calibri"/>
              <a:buChar char="–"/>
              <a:defRPr sz="2100" b="0">
                <a:solidFill>
                  <a:srgbClr val="0B2B4E"/>
                </a:solidFill>
                <a:latin typeface="Calibri"/>
              </a:defRPr>
            </a:lvl2pPr>
          </a:lstStyle>
          <a:p>
            <a:pPr algn="l">
              <a:buNone/>
            </a:pPr>
            <a:r>
              <a:rPr sz="2500" b="1">
                <a:solidFill>
                  <a:srgbClr val="BFBFBF"/>
                </a:solidFill>
                <a:latin typeface="Calibri"/>
              </a:rPr>
              <a:t>Monopolistic Competition</a:t>
            </a:r>
          </a:p>
        </p:txBody>
      </p:sp>
      <p:sp>
        <p:nvSpPr>
          <p:cNvPr id="23" name="Rectangle 2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5  ·  Monopoly and Monopolistic Competition</a:t>
            </a:r>
          </a:p>
        </p:txBody>
      </p:sp>
      <p:sp>
        <p:nvSpPr>
          <p:cNvPr id="26" name="TextBox 25"/>
          <p:cNvSpPr txBox="1"/>
          <p:nvPr/>
        </p:nvSpPr>
        <p:spPr>
          <a:xfrm>
            <a:off x="11475720" y="6583680"/>
            <a:ext cx="502920" cy="292608"/>
          </a:xfrm>
          <a:prstGeom prst="rect">
            <a:avLst/>
          </a:prstGeom>
          <a:noFill/>
        </p:spPr>
        <p:txBody>
          <a:bodyPr wrap="none" lIns="0" tIns="0" rIns="0" bIns="0">
            <a:spAutoFit/>
          </a:bodyPr>
          <a:lstStyle/>
          <a:p>
            <a:pPr algn="r"/>
            <a:fld id="{93248381-6920-52FA-A239-9A7875F0D053}" type="slidenum">
              <a:rPr lang="en-US" sz="1200" dirty="0">
                <a:solidFill>
                  <a:srgbClr val="555B66"/>
                </a:solidFill>
                <a:latin typeface="Calibri"/>
              </a:rPr>
              <a:t>5</a:t>
            </a:fld>
            <a:endParaRPr lang="en-US" sz="1200" dirty="0">
              <a:solidFill>
                <a:srgbClr val="555B66"/>
              </a:solidFill>
              <a:latin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5 · Profit Maximization for Price Searchers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Firm Demand: Price Takers vs. Price Searchers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371600"/>
            <a:ext cx="4754880" cy="411480"/>
          </a:xfrm>
          <a:prstGeom prst="rect">
            <a:avLst/>
          </a:prstGeom>
          <a:noFill/>
        </p:spPr>
        <p:txBody>
          <a:bodyPr wrap="square" lIns="0" tIns="0" rIns="0" bIns="0">
            <a:spAutoFit/>
          </a:bodyPr>
          <a:lstStyle/>
          <a:p>
            <a:pPr algn="ctr"/>
            <a:r>
              <a:rPr sz="2400" b="1" i="0" u="sng">
                <a:solidFill>
                  <a:srgbClr val="0B2B4E"/>
                </a:solidFill>
                <a:latin typeface="Calibri"/>
              </a:rPr>
              <a:t>Price taker</a:t>
            </a:r>
          </a:p>
        </p:txBody>
      </p:sp>
      <p:cxnSp>
        <p:nvCxnSpPr>
          <p:cNvPr id="8" name="sdaxis:y"/>
          <p:cNvCxnSpPr/>
          <p:nvPr/>
        </p:nvCxnSpPr>
        <p:spPr>
          <a:xfrm flipV="1">
            <a:off x="1143000" y="1938528"/>
            <a:ext cx="0" cy="2770632"/>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9" name="sdaxis:x"/>
          <p:cNvCxnSpPr/>
          <p:nvPr/>
        </p:nvCxnSpPr>
        <p:spPr>
          <a:xfrm>
            <a:off x="1143000" y="4709160"/>
            <a:ext cx="418795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0" name="sdaxistitle:y"/>
          <p:cNvSpPr txBox="1"/>
          <p:nvPr/>
        </p:nvSpPr>
        <p:spPr>
          <a:xfrm>
            <a:off x="863346" y="1805940"/>
            <a:ext cx="206502" cy="265176"/>
          </a:xfrm>
          <a:prstGeom prst="rect">
            <a:avLst/>
          </a:prstGeom>
          <a:noFill/>
        </p:spPr>
        <p:txBody>
          <a:bodyPr wrap="square" lIns="0" tIns="0" rIns="0" bIns="0">
            <a:spAutoFit/>
          </a:bodyPr>
          <a:lstStyle/>
          <a:p>
            <a:pPr algn="l"/>
            <a:r>
              <a:rPr sz="1800" b="1" i="1" u="none">
                <a:solidFill>
                  <a:srgbClr val="0B2B4E"/>
                </a:solidFill>
                <a:latin typeface="Calibri"/>
              </a:rPr>
              <a:t>P</a:t>
            </a:r>
          </a:p>
        </p:txBody>
      </p:sp>
      <p:sp>
        <p:nvSpPr>
          <p:cNvPr id="11" name="sdaxistitle:x"/>
          <p:cNvSpPr txBox="1"/>
          <p:nvPr/>
        </p:nvSpPr>
        <p:spPr>
          <a:xfrm>
            <a:off x="4951476" y="4754880"/>
            <a:ext cx="758952" cy="265176"/>
          </a:xfrm>
          <a:prstGeom prst="rect">
            <a:avLst/>
          </a:prstGeom>
          <a:noFill/>
        </p:spPr>
        <p:txBody>
          <a:bodyPr wrap="square" lIns="0" tIns="0" rIns="0" bIns="0">
            <a:spAutoFit/>
          </a:bodyPr>
          <a:lstStyle/>
          <a:p>
            <a:pPr algn="l"/>
            <a:r>
              <a:rPr sz="1800" b="1" i="1" u="none">
                <a:solidFill>
                  <a:srgbClr val="0B2B4E"/>
                </a:solidFill>
                <a:latin typeface="Calibri"/>
              </a:rPr>
              <a:t>Output</a:t>
            </a:r>
          </a:p>
        </p:txBody>
      </p:sp>
      <p:sp>
        <p:nvSpPr>
          <p:cNvPr id="12" name="TextBox 11"/>
          <p:cNvSpPr txBox="1"/>
          <p:nvPr/>
        </p:nvSpPr>
        <p:spPr>
          <a:xfrm>
            <a:off x="6537959" y="1371600"/>
            <a:ext cx="4754880" cy="411480"/>
          </a:xfrm>
          <a:prstGeom prst="rect">
            <a:avLst/>
          </a:prstGeom>
          <a:noFill/>
        </p:spPr>
        <p:txBody>
          <a:bodyPr wrap="square" lIns="0" tIns="0" rIns="0" bIns="0">
            <a:spAutoFit/>
          </a:bodyPr>
          <a:lstStyle/>
          <a:p>
            <a:pPr algn="ctr"/>
            <a:r>
              <a:rPr sz="2400" b="1" i="0" u="sng">
                <a:solidFill>
                  <a:srgbClr val="0B2B4E"/>
                </a:solidFill>
                <a:latin typeface="Calibri"/>
              </a:rPr>
              <a:t>Price searcher</a:t>
            </a:r>
          </a:p>
        </p:txBody>
      </p:sp>
      <p:cxnSp>
        <p:nvCxnSpPr>
          <p:cNvPr id="13" name="sdaxis:y"/>
          <p:cNvCxnSpPr/>
          <p:nvPr/>
        </p:nvCxnSpPr>
        <p:spPr>
          <a:xfrm flipV="1">
            <a:off x="6903720" y="1938528"/>
            <a:ext cx="0" cy="2770632"/>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14" name="sdaxis:x"/>
          <p:cNvCxnSpPr/>
          <p:nvPr/>
        </p:nvCxnSpPr>
        <p:spPr>
          <a:xfrm>
            <a:off x="6903720" y="4709160"/>
            <a:ext cx="418795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5" name="sdaxistitle:y"/>
          <p:cNvSpPr txBox="1"/>
          <p:nvPr/>
        </p:nvSpPr>
        <p:spPr>
          <a:xfrm>
            <a:off x="6624066" y="1805940"/>
            <a:ext cx="206502" cy="265176"/>
          </a:xfrm>
          <a:prstGeom prst="rect">
            <a:avLst/>
          </a:prstGeom>
          <a:noFill/>
        </p:spPr>
        <p:txBody>
          <a:bodyPr wrap="square" lIns="0" tIns="0" rIns="0" bIns="0">
            <a:spAutoFit/>
          </a:bodyPr>
          <a:lstStyle/>
          <a:p>
            <a:pPr algn="l"/>
            <a:r>
              <a:rPr sz="1800" b="1" i="1" u="none">
                <a:solidFill>
                  <a:srgbClr val="0B2B4E"/>
                </a:solidFill>
                <a:latin typeface="Calibri"/>
              </a:rPr>
              <a:t>P</a:t>
            </a:r>
          </a:p>
        </p:txBody>
      </p:sp>
      <p:sp>
        <p:nvSpPr>
          <p:cNvPr id="16" name="sdaxistitle:x"/>
          <p:cNvSpPr txBox="1"/>
          <p:nvPr/>
        </p:nvSpPr>
        <p:spPr>
          <a:xfrm>
            <a:off x="10712196" y="4754880"/>
            <a:ext cx="758952" cy="265176"/>
          </a:xfrm>
          <a:prstGeom prst="rect">
            <a:avLst/>
          </a:prstGeom>
          <a:noFill/>
        </p:spPr>
        <p:txBody>
          <a:bodyPr wrap="square" lIns="0" tIns="0" rIns="0" bIns="0">
            <a:spAutoFit/>
          </a:bodyPr>
          <a:lstStyle/>
          <a:p>
            <a:pPr algn="l"/>
            <a:r>
              <a:rPr sz="1800" b="1" i="1" u="none">
                <a:solidFill>
                  <a:srgbClr val="0B2B4E"/>
                </a:solidFill>
                <a:latin typeface="Calibri"/>
              </a:rPr>
              <a:t>Output</a:t>
            </a:r>
          </a:p>
        </p:txBody>
      </p:sp>
      <p:grpSp>
        <p:nvGrpSpPr>
          <p:cNvPr id="133" name="sdpair:curve:d"/>
          <p:cNvGrpSpPr/>
          <p:nvPr/>
        </p:nvGrpSpPr>
        <p:grpSpPr>
          <a:xfrm>
            <a:off x="1143000" y="2934081"/>
            <a:ext cx="3901135" cy="472059"/>
            <a:chOff x="1143000" y="2934081"/>
            <a:chExt cx="3901135" cy="472059"/>
          </a:xfrm>
        </p:grpSpPr>
        <p:cxnSp>
          <p:nvCxnSpPr>
            <p:cNvPr id="17" name="sdcurve:d"/>
            <p:cNvCxnSpPr/>
            <p:nvPr/>
          </p:nvCxnSpPr>
          <p:spPr>
            <a:xfrm>
              <a:off x="1143000" y="3406140"/>
              <a:ext cx="3460089" cy="0"/>
            </a:xfrm>
            <a:prstGeom prst="line">
              <a:avLst/>
            </a:prstGeom>
            <a:ln w="34925">
              <a:solidFill>
                <a:srgbClr val="C00000"/>
              </a:solidFill>
            </a:ln>
          </p:spPr>
          <p:style>
            <a:lnRef idx="2">
              <a:schemeClr val="accent1"/>
            </a:lnRef>
            <a:fillRef idx="0">
              <a:schemeClr val="accent1"/>
            </a:fillRef>
            <a:effectRef idx="1">
              <a:schemeClr val="accent1"/>
            </a:effectRef>
            <a:fontRef idx="minor">
              <a:schemeClr val="tx1"/>
            </a:fontRef>
          </p:style>
        </p:cxnSp>
        <p:sp>
          <p:nvSpPr>
            <p:cNvPr id="18" name="sdcurvelab:d"/>
            <p:cNvSpPr txBox="1"/>
            <p:nvPr/>
          </p:nvSpPr>
          <p:spPr>
            <a:xfrm>
              <a:off x="3637483" y="2934081"/>
              <a:ext cx="1406652" cy="292608"/>
            </a:xfrm>
            <a:prstGeom prst="rect">
              <a:avLst/>
            </a:prstGeom>
            <a:noFill/>
          </p:spPr>
          <p:txBody>
            <a:bodyPr wrap="square" lIns="0" tIns="0" rIns="0" bIns="0">
              <a:spAutoFit/>
            </a:bodyPr>
            <a:lstStyle/>
            <a:p>
              <a:pPr algn="l"/>
              <a:r>
                <a:rPr sz="1800" b="1" i="1" u="none">
                  <a:solidFill>
                    <a:srgbClr val="C00000"/>
                  </a:solidFill>
                  <a:latin typeface="Calibri"/>
                </a:rPr>
                <a:t>D = P</a:t>
              </a:r>
              <a:r>
                <a:rPr sz="1800" b="1" i="1" u="none" baseline="-25000">
                  <a:solidFill>
                    <a:srgbClr val="C00000"/>
                  </a:solidFill>
                  <a:latin typeface="Calibri"/>
                </a:rPr>
                <a:t>M</a:t>
              </a:r>
              <a:r>
                <a:rPr sz="1800" b="1" i="1" u="none">
                  <a:solidFill>
                    <a:srgbClr val="C00000"/>
                  </a:solidFill>
                  <a:latin typeface="Calibri"/>
                </a:rPr>
                <a:t> = MR</a:t>
              </a:r>
            </a:p>
          </p:txBody>
        </p:sp>
      </p:grpSp>
      <p:sp>
        <p:nvSpPr>
          <p:cNvPr id="19" name="TextBox 18"/>
          <p:cNvSpPr txBox="1"/>
          <p:nvPr/>
        </p:nvSpPr>
        <p:spPr>
          <a:xfrm>
            <a:off x="549021" y="3268980"/>
            <a:ext cx="520827" cy="274320"/>
          </a:xfrm>
          <a:prstGeom prst="rect">
            <a:avLst/>
          </a:prstGeom>
          <a:noFill/>
        </p:spPr>
        <p:txBody>
          <a:bodyPr wrap="square" lIns="0" tIns="0" rIns="0" bIns="0">
            <a:spAutoFit/>
          </a:bodyPr>
          <a:lstStyle/>
          <a:p>
            <a:pPr algn="r"/>
            <a:r>
              <a:rPr sz="1800" b="1" i="1" u="none">
                <a:solidFill>
                  <a:srgbClr val="0B2B4E"/>
                </a:solidFill>
                <a:latin typeface="Calibri"/>
              </a:rPr>
              <a:t>P</a:t>
            </a:r>
            <a:r>
              <a:rPr sz="1800" b="1" i="1" u="none" baseline="-25000">
                <a:solidFill>
                  <a:srgbClr val="0B2B4E"/>
                </a:solidFill>
                <a:latin typeface="Calibri"/>
              </a:rPr>
              <a:t>M</a:t>
            </a:r>
          </a:p>
        </p:txBody>
      </p:sp>
      <p:grpSp>
        <p:nvGrpSpPr>
          <p:cNvPr id="134" name="sdpair:curve:D"/>
          <p:cNvGrpSpPr/>
          <p:nvPr/>
        </p:nvGrpSpPr>
        <p:grpSpPr>
          <a:xfrm>
            <a:off x="6903720" y="2363724"/>
            <a:ext cx="3896334" cy="2189073"/>
            <a:chOff x="6903720" y="2363724"/>
            <a:chExt cx="3896334" cy="2189073"/>
          </a:xfrm>
        </p:grpSpPr>
        <p:cxnSp>
          <p:nvCxnSpPr>
            <p:cNvPr id="20" name="sdcurve:D"/>
            <p:cNvCxnSpPr/>
            <p:nvPr/>
          </p:nvCxnSpPr>
          <p:spPr>
            <a:xfrm>
              <a:off x="6903720" y="2363724"/>
              <a:ext cx="3862425" cy="2189073"/>
            </a:xfrm>
            <a:prstGeom prst="line">
              <a:avLst/>
            </a:prstGeom>
            <a:ln w="34925">
              <a:solidFill>
                <a:srgbClr val="C00000"/>
              </a:solidFill>
            </a:ln>
          </p:spPr>
          <p:style>
            <a:lnRef idx="2">
              <a:schemeClr val="accent1"/>
            </a:lnRef>
            <a:fillRef idx="0">
              <a:schemeClr val="accent1"/>
            </a:fillRef>
            <a:effectRef idx="1">
              <a:schemeClr val="accent1"/>
            </a:effectRef>
            <a:fontRef idx="minor">
              <a:schemeClr val="tx1"/>
            </a:fontRef>
          </p:style>
        </p:cxnSp>
        <p:sp>
          <p:nvSpPr>
            <p:cNvPr id="21" name="sdcurvelab:D"/>
            <p:cNvSpPr txBox="1"/>
            <p:nvPr/>
          </p:nvSpPr>
          <p:spPr>
            <a:xfrm>
              <a:off x="10564977" y="3950436"/>
              <a:ext cx="235077" cy="292608"/>
            </a:xfrm>
            <a:prstGeom prst="rect">
              <a:avLst/>
            </a:prstGeom>
            <a:noFill/>
          </p:spPr>
          <p:txBody>
            <a:bodyPr wrap="square" lIns="0" tIns="0" rIns="0" bIns="0">
              <a:spAutoFit/>
            </a:bodyPr>
            <a:lstStyle/>
            <a:p>
              <a:pPr algn="l"/>
              <a:r>
                <a:rPr sz="2000" b="1" i="1" u="none">
                  <a:solidFill>
                    <a:srgbClr val="C00000"/>
                  </a:solidFill>
                  <a:latin typeface="Calibri"/>
                </a:rPr>
                <a:t>D</a:t>
              </a:r>
            </a:p>
          </p:txBody>
        </p:sp>
      </p:grpSp>
      <p:grpSp>
        <p:nvGrpSpPr>
          <p:cNvPr id="135" name="sdpair:curve:MR"/>
          <p:cNvGrpSpPr/>
          <p:nvPr/>
        </p:nvGrpSpPr>
        <p:grpSpPr>
          <a:xfrm>
            <a:off x="6903720" y="2363724"/>
            <a:ext cx="2614367" cy="2345436"/>
            <a:chOff x="6903720" y="2363724"/>
            <a:chExt cx="2614367" cy="2345436"/>
          </a:xfrm>
        </p:grpSpPr>
        <p:cxnSp>
          <p:nvCxnSpPr>
            <p:cNvPr id="22" name="sdcurve:MR"/>
            <p:cNvCxnSpPr/>
            <p:nvPr/>
          </p:nvCxnSpPr>
          <p:spPr>
            <a:xfrm>
              <a:off x="6903720" y="2363724"/>
              <a:ext cx="2069156" cy="2345436"/>
            </a:xfrm>
            <a:prstGeom prst="line">
              <a:avLst/>
            </a:prstGeom>
            <a:ln w="28575">
              <a:solidFill>
                <a:srgbClr val="C00000"/>
              </a:solidFill>
              <a:prstDash val="dash"/>
            </a:ln>
          </p:spPr>
          <p:style>
            <a:lnRef idx="2">
              <a:schemeClr val="accent1"/>
            </a:lnRef>
            <a:fillRef idx="0">
              <a:schemeClr val="accent1"/>
            </a:fillRef>
            <a:effectRef idx="1">
              <a:schemeClr val="accent1"/>
            </a:effectRef>
            <a:fontRef idx="minor">
              <a:schemeClr val="tx1"/>
            </a:fontRef>
          </p:style>
        </p:cxnSp>
        <p:sp>
          <p:nvSpPr>
            <p:cNvPr id="23" name="sdcurvelab:MR"/>
            <p:cNvSpPr txBox="1"/>
            <p:nvPr/>
          </p:nvSpPr>
          <p:spPr>
            <a:xfrm>
              <a:off x="9073460" y="4341342"/>
              <a:ext cx="444627" cy="292608"/>
            </a:xfrm>
            <a:prstGeom prst="rect">
              <a:avLst/>
            </a:prstGeom>
            <a:noFill/>
          </p:spPr>
          <p:txBody>
            <a:bodyPr wrap="square" lIns="0" tIns="0" rIns="0" bIns="0">
              <a:spAutoFit/>
            </a:bodyPr>
            <a:lstStyle/>
            <a:p>
              <a:pPr algn="l"/>
              <a:r>
                <a:rPr sz="2000" b="1" i="1" u="none">
                  <a:solidFill>
                    <a:srgbClr val="C00000"/>
                  </a:solidFill>
                  <a:latin typeface="Calibri"/>
                </a:rPr>
                <a:t>MR</a:t>
              </a:r>
            </a:p>
          </p:txBody>
        </p:sp>
      </p:grpSp>
      <p:grpSp>
        <p:nvGrpSpPr>
          <p:cNvPr id="131" name="Group pair 131"/>
          <p:cNvGrpSpPr/>
          <p:nvPr/>
        </p:nvGrpSpPr>
        <p:grpSpPr>
          <a:xfrm>
            <a:off x="502920" y="5138928"/>
            <a:ext cx="5440680" cy="1243584"/>
            <a:chOff x="502920" y="5138928"/>
            <a:chExt cx="5440680" cy="1243584"/>
          </a:xfrm>
        </p:grpSpPr>
        <p:sp>
          <p:nvSpPr>
            <p:cNvPr id="24" name="Rounded Rectangle 23"/>
            <p:cNvSpPr/>
            <p:nvPr/>
          </p:nvSpPr>
          <p:spPr>
            <a:xfrm>
              <a:off x="502920" y="5138928"/>
              <a:ext cx="5440680" cy="1243584"/>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85800" y="5248656"/>
              <a:ext cx="5074920" cy="1024128"/>
            </a:xfrm>
            <a:prstGeom prst="rect">
              <a:avLst/>
            </a:prstGeom>
            <a:noFill/>
          </p:spPr>
          <p:txBody>
            <a:bodyPr wrap="square" lIns="45720" tIns="0" rIns="45720" bIns="0" anchor="ctr">
              <a:spAutoFit/>
            </a:bodyPr>
            <a:lstStyle/>
            <a:p>
              <a:pPr algn="ctr"/>
              <a:r>
                <a:rPr sz="1800" b="0" i="0" u="none">
                  <a:solidFill>
                    <a:srgbClr val="0B2B4E"/>
                  </a:solidFill>
                  <a:latin typeface="Calibri"/>
                </a:rPr>
                <a:t>The demand curve faced by a price taker is the market price (which in turn equals </a:t>
              </a:r>
              <a:r>
                <a:rPr sz="1800" b="0" i="1" u="none">
                  <a:solidFill>
                    <a:srgbClr val="0B2B4E"/>
                  </a:solidFill>
                  <a:latin typeface="Calibri"/>
                </a:rPr>
                <a:t>MR</a:t>
              </a:r>
              <a:r>
                <a:rPr sz="1800" b="0" i="0" u="none">
                  <a:solidFill>
                    <a:srgbClr val="0B2B4E"/>
                  </a:solidFill>
                  <a:latin typeface="Calibri"/>
                </a:rPr>
                <a:t> for a price taker)</a:t>
              </a:r>
            </a:p>
          </p:txBody>
        </p:sp>
      </p:grpSp>
      <p:grpSp>
        <p:nvGrpSpPr>
          <p:cNvPr id="132" name="Group pair 132"/>
          <p:cNvGrpSpPr/>
          <p:nvPr/>
        </p:nvGrpSpPr>
        <p:grpSpPr>
          <a:xfrm>
            <a:off x="6263640" y="5138928"/>
            <a:ext cx="5440680" cy="1243584"/>
            <a:chOff x="6263640" y="5138928"/>
            <a:chExt cx="5440680" cy="1243584"/>
          </a:xfrm>
        </p:grpSpPr>
        <p:sp>
          <p:nvSpPr>
            <p:cNvPr id="26" name="Rounded Rectangle 25"/>
            <p:cNvSpPr/>
            <p:nvPr/>
          </p:nvSpPr>
          <p:spPr>
            <a:xfrm>
              <a:off x="6263640" y="5138928"/>
              <a:ext cx="5440680" cy="1243584"/>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46520" y="5248656"/>
              <a:ext cx="5074920" cy="1024128"/>
            </a:xfrm>
            <a:prstGeom prst="rect">
              <a:avLst/>
            </a:prstGeom>
            <a:noFill/>
          </p:spPr>
          <p:txBody>
            <a:bodyPr wrap="square" lIns="45720" tIns="0" rIns="45720" bIns="0" anchor="ctr">
              <a:spAutoFit/>
            </a:bodyPr>
            <a:lstStyle/>
            <a:p>
              <a:pPr algn="ctr"/>
              <a:r>
                <a:rPr sz="1800" b="0" i="0" u="none">
                  <a:solidFill>
                    <a:srgbClr val="0B2B4E"/>
                  </a:solidFill>
                  <a:latin typeface="Calibri"/>
                </a:rPr>
                <a:t>The demand curve faced by a price searcher is downward-sloping</a:t>
              </a:r>
            </a:p>
            <a:p>
              <a:pPr algn="ctr"/>
              <a:r>
                <a:rPr sz="1800" b="1" i="0" u="none">
                  <a:solidFill>
                    <a:srgbClr val="0B2B4E"/>
                  </a:solidFill>
                  <a:latin typeface="Calibri"/>
                </a:rPr>
                <a:t>Marginal revenue (MR) is different from the demand curve (D)</a:t>
              </a:r>
            </a:p>
          </p:txBody>
        </p:sp>
      </p:grpSp>
      <p:sp>
        <p:nvSpPr>
          <p:cNvPr id="28" name="Rectangle 2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5  ·  Monopoly and Monopolistic Competition</a:t>
            </a:r>
          </a:p>
        </p:txBody>
      </p:sp>
      <p:sp>
        <p:nvSpPr>
          <p:cNvPr id="31" name="TextBox 30"/>
          <p:cNvSpPr txBox="1"/>
          <p:nvPr/>
        </p:nvSpPr>
        <p:spPr>
          <a:xfrm>
            <a:off x="11475720" y="6583680"/>
            <a:ext cx="502920" cy="292608"/>
          </a:xfrm>
          <a:prstGeom prst="rect">
            <a:avLst/>
          </a:prstGeom>
          <a:noFill/>
        </p:spPr>
        <p:txBody>
          <a:bodyPr wrap="none" lIns="0" tIns="0" rIns="0" bIns="0">
            <a:spAutoFit/>
          </a:bodyPr>
          <a:lstStyle/>
          <a:p>
            <a:pPr algn="r"/>
            <a:fld id="{9AF6752B-E42B-5771-9B4C-30619DDD446A}" type="slidenum">
              <a:rPr lang="en-US" sz="1200" dirty="0">
                <a:solidFill>
                  <a:srgbClr val="555B66"/>
                </a:solidFill>
                <a:latin typeface="Calibri"/>
              </a:rPr>
              <a:t>6</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1"/>
                                        </p:tgtEl>
                                        <p:attrNameLst>
                                          <p:attrName>style.visibility</p:attrName>
                                        </p:attrNameLst>
                                      </p:cBhvr>
                                      <p:to>
                                        <p:strVal val="visible"/>
                                      </p:to>
                                    </p:set>
                                    <p:animEffect transition="in" filter="fade">
                                      <p:cBhvr>
                                        <p:cTn id="7" dur="500"/>
                                        <p:tgtEl>
                                          <p:spTgt spid="13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4"/>
                                        </p:tgtEl>
                                        <p:attrNameLst>
                                          <p:attrName>style.visibility</p:attrName>
                                        </p:attrNameLst>
                                      </p:cBhvr>
                                      <p:to>
                                        <p:strVal val="visible"/>
                                      </p:to>
                                    </p:set>
                                    <p:animEffect transition="in" filter="fade">
                                      <p:cBhvr>
                                        <p:cTn id="12" dur="500"/>
                                        <p:tgtEl>
                                          <p:spTgt spid="13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2"/>
                                        </p:tgtEl>
                                        <p:attrNameLst>
                                          <p:attrName>style.visibility</p:attrName>
                                        </p:attrNameLst>
                                      </p:cBhvr>
                                      <p:to>
                                        <p:strVal val="visible"/>
                                      </p:to>
                                    </p:set>
                                    <p:animEffect transition="in" filter="fade">
                                      <p:cBhvr>
                                        <p:cTn id="17" dur="500"/>
                                        <p:tgtEl>
                                          <p:spTgt spid="13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5"/>
                                        </p:tgtEl>
                                        <p:attrNameLst>
                                          <p:attrName>style.visibility</p:attrName>
                                        </p:attrNameLst>
                                      </p:cBhvr>
                                      <p:to>
                                        <p:strVal val="visible"/>
                                      </p:to>
                                    </p:set>
                                    <p:animEffect transition="in" filter="fade">
                                      <p:cBhvr>
                                        <p:cTn id="22" dur="500"/>
                                        <p:tgtEl>
                                          <p:spTgt spid="1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5 · Profit Maximization for Price Searchers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Test of Market Power</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80599" y="1417320"/>
            <a:ext cx="11230497" cy="4937760"/>
          </a:xfrm>
          <a:prstGeom prst="rect">
            <a:avLst/>
          </a:prstGeom>
          <a:noFill/>
        </p:spPr>
        <p:txBody>
          <a:bodyPr wrap="square" lIns="0" tIns="0" rIns="0" bIns="0" anchor="ctr">
            <a:noAutofit/>
          </a:bodyPr>
          <a:lstStyle>
            <a:lvl1pPr marL="342900" indent="-342900">
              <a:spcBef>
                <a:spcPts val="1800"/>
              </a:spcBef>
              <a:buClr>
                <a:srgbClr val="0B2B4E"/>
              </a:buClr>
              <a:buFont typeface="Calibri"/>
              <a:buChar char="▪"/>
              <a:defRPr sz="3000" b="0">
                <a:solidFill>
                  <a:srgbClr val="0B2B4E"/>
                </a:solidFill>
                <a:latin typeface="Calibri"/>
              </a:defRPr>
            </a:lvl1pPr>
            <a:lvl2pPr marL="685800" indent="-228600">
              <a:spcBef>
                <a:spcPts val="300"/>
              </a:spcBef>
              <a:buClr>
                <a:srgbClr val="0B2B4E"/>
              </a:buClr>
              <a:buFont typeface="Calibri"/>
              <a:buChar char="–"/>
              <a:defRPr sz="2800" b="0">
                <a:solidFill>
                  <a:srgbClr val="0B2B4E"/>
                </a:solidFill>
                <a:latin typeface="Calibri"/>
              </a:defRPr>
            </a:lvl2pPr>
          </a:lstStyle>
          <a:p>
            <a:pPr algn="l"/>
            <a:r>
              <a:rPr>
                <a:latin typeface="Calibri"/>
              </a:rPr>
              <a:t>If we raise our price, will we lose </a:t>
            </a:r>
            <a:r>
              <a:rPr u="sng">
                <a:latin typeface="Calibri"/>
              </a:rPr>
              <a:t>all</a:t>
            </a:r>
            <a:r>
              <a:rPr>
                <a:latin typeface="Calibri"/>
              </a:rPr>
              <a:t> our customers?</a:t>
            </a:r>
          </a:p>
          <a:p>
            <a:pPr lvl="1" algn="l"/>
            <a:r>
              <a:rPr>
                <a:latin typeface="Calibri"/>
              </a:rPr>
              <a:t>“yes” → Price </a:t>
            </a:r>
            <a:r>
              <a:rPr b="1">
                <a:solidFill>
                  <a:srgbClr val="C00000"/>
                </a:solidFill>
                <a:latin typeface="Calibri"/>
              </a:rPr>
              <a:t>taker</a:t>
            </a:r>
          </a:p>
          <a:p>
            <a:pPr marL="1028700" lvl="2" indent="-228600" algn="l">
              <a:spcBef>
                <a:spcPts val="300"/>
              </a:spcBef>
              <a:buClr>
                <a:srgbClr val="0B2B4E"/>
              </a:buClr>
              <a:buFont typeface="Calibri"/>
              <a:buChar char="–"/>
            </a:pPr>
            <a:r>
              <a:rPr sz="2400">
                <a:solidFill>
                  <a:srgbClr val="0B2B4E"/>
                </a:solidFill>
                <a:latin typeface="Calibri"/>
              </a:rPr>
              <a:t>We have </a:t>
            </a:r>
            <a:r>
              <a:rPr sz="2400" u="sng">
                <a:solidFill>
                  <a:srgbClr val="0B2B4E"/>
                </a:solidFill>
                <a:latin typeface="Calibri"/>
              </a:rPr>
              <a:t>no</a:t>
            </a:r>
            <a:r>
              <a:rPr sz="2400">
                <a:solidFill>
                  <a:srgbClr val="0B2B4E"/>
                </a:solidFill>
                <a:latin typeface="Calibri"/>
              </a:rPr>
              <a:t> market power</a:t>
            </a:r>
          </a:p>
          <a:p>
            <a:pPr lvl="1" algn="l">
              <a:spcBef>
                <a:spcPts val="1400"/>
              </a:spcBef>
            </a:pPr>
            <a:r>
              <a:rPr>
                <a:latin typeface="Calibri"/>
              </a:rPr>
              <a:t>“no” → Price </a:t>
            </a:r>
            <a:r>
              <a:rPr b="1">
                <a:solidFill>
                  <a:srgbClr val="C00000"/>
                </a:solidFill>
                <a:latin typeface="Calibri"/>
              </a:rPr>
              <a:t>searcher</a:t>
            </a:r>
          </a:p>
          <a:p>
            <a:pPr marL="1028700" lvl="2" indent="-228600" algn="l">
              <a:spcBef>
                <a:spcPts val="300"/>
              </a:spcBef>
              <a:buClr>
                <a:srgbClr val="0B2B4E"/>
              </a:buClr>
              <a:buFont typeface="Calibri"/>
              <a:buChar char="–"/>
            </a:pPr>
            <a:r>
              <a:rPr sz="2400">
                <a:solidFill>
                  <a:srgbClr val="0B2B4E"/>
                </a:solidFill>
                <a:latin typeface="Calibri"/>
              </a:rPr>
              <a:t>We have market power!</a:t>
            </a:r>
          </a:p>
          <a:p>
            <a:pPr marL="1028700" lvl="2" indent="-228600" algn="l">
              <a:spcBef>
                <a:spcPts val="300"/>
              </a:spcBef>
              <a:buClr>
                <a:srgbClr val="0B2B4E"/>
              </a:buClr>
              <a:buFont typeface="Calibri"/>
              <a:buChar char="–"/>
            </a:pPr>
            <a:r>
              <a:rPr sz="2400">
                <a:solidFill>
                  <a:srgbClr val="0B2B4E"/>
                </a:solidFill>
                <a:latin typeface="Calibri"/>
              </a:rPr>
              <a:t>We face a downward-sloping demand curve</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5  ·  Monopoly and Monopolistic Competition</a:t>
            </a:r>
          </a:p>
        </p:txBody>
      </p:sp>
      <p:sp>
        <p:nvSpPr>
          <p:cNvPr id="11" name="TextBox 10"/>
          <p:cNvSpPr txBox="1"/>
          <p:nvPr/>
        </p:nvSpPr>
        <p:spPr>
          <a:xfrm>
            <a:off x="11475720" y="6583680"/>
            <a:ext cx="502920" cy="292608"/>
          </a:xfrm>
          <a:prstGeom prst="rect">
            <a:avLst/>
          </a:prstGeom>
          <a:noFill/>
        </p:spPr>
        <p:txBody>
          <a:bodyPr wrap="none" lIns="0" tIns="0" rIns="0" bIns="0">
            <a:spAutoFit/>
          </a:bodyPr>
          <a:lstStyle/>
          <a:p>
            <a:pPr algn="r"/>
            <a:fld id="{7D93220A-BEE9-5825-A0F6-F5D6DED4371C}" type="slidenum">
              <a:rPr lang="en-US" sz="1200" dirty="0">
                <a:solidFill>
                  <a:srgbClr val="555B66"/>
                </a:solidFill>
                <a:latin typeface="Calibri"/>
              </a:rPr>
              <a:t>7</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xEl>
                                              <p:pRg st="2" end="2"/>
                                            </p:txEl>
                                          </p:spTgt>
                                        </p:tgtEl>
                                        <p:attrNameLst>
                                          <p:attrName>style.visibility</p:attrName>
                                        </p:attrNameLst>
                                      </p:cBhvr>
                                      <p:to>
                                        <p:strVal val="visible"/>
                                      </p:to>
                                    </p:set>
                                    <p:animEffect transition="in" filter="fade">
                                      <p:cBhvr>
                                        <p:cTn id="10" dur="500"/>
                                        <p:tgtEl>
                                          <p:spTgt spid="7">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animEffect transition="in" filter="fade">
                                      <p:cBhvr>
                                        <p:cTn id="15" dur="500"/>
                                        <p:tgtEl>
                                          <p:spTgt spid="7">
                                            <p:txEl>
                                              <p:pRg st="3" end="3"/>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xEl>
                                              <p:pRg st="4" end="4"/>
                                            </p:txEl>
                                          </p:spTgt>
                                        </p:tgtEl>
                                        <p:attrNameLst>
                                          <p:attrName>style.visibility</p:attrName>
                                        </p:attrNameLst>
                                      </p:cBhvr>
                                      <p:to>
                                        <p:strVal val="visible"/>
                                      </p:to>
                                    </p:set>
                                    <p:animEffect transition="in" filter="fade">
                                      <p:cBhvr>
                                        <p:cTn id="18" dur="500"/>
                                        <p:tgtEl>
                                          <p:spTgt spid="7">
                                            <p:txEl>
                                              <p:pRg st="4" end="4"/>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xEl>
                                              <p:pRg st="5" end="5"/>
                                            </p:txEl>
                                          </p:spTgt>
                                        </p:tgtEl>
                                        <p:attrNameLst>
                                          <p:attrName>style.visibility</p:attrName>
                                        </p:attrNameLst>
                                      </p:cBhvr>
                                      <p:to>
                                        <p:strVal val="visible"/>
                                      </p:to>
                                    </p:set>
                                    <p:animEffect transition="in" filter="fade">
                                      <p:cBhvr>
                                        <p:cTn id="21"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5 · Profit Maximization for Price Searchers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Profit Maximization for Price Searcher</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1371600"/>
            <a:ext cx="5852160" cy="457200"/>
          </a:xfrm>
          <a:prstGeom prst="rect">
            <a:avLst/>
          </a:prstGeom>
          <a:noFill/>
        </p:spPr>
        <p:txBody>
          <a:bodyPr wrap="square" lIns="0" tIns="0" rIns="0" bIns="0">
            <a:noAutofit/>
          </a:bodyPr>
          <a:lstStyle>
            <a:lvl1pPr marL="342900" indent="-342900">
              <a:spcBef>
                <a:spcPts val="1800"/>
              </a:spcBef>
              <a:buClr>
                <a:srgbClr val="0B2B4E"/>
              </a:buClr>
              <a:buFont typeface="Calibri"/>
              <a:buChar char="▪"/>
              <a:defRPr sz="2400" b="0">
                <a:solidFill>
                  <a:srgbClr val="0B2B4E"/>
                </a:solidFill>
                <a:latin typeface="Calibri"/>
              </a:defRPr>
            </a:lvl1pPr>
            <a:lvl2pPr marL="685800" indent="-228600">
              <a:spcBef>
                <a:spcPts val="300"/>
              </a:spcBef>
              <a:buClr>
                <a:srgbClr val="0B2B4E"/>
              </a:buClr>
              <a:buFont typeface="Calibri"/>
              <a:buChar char="–"/>
              <a:defRPr sz="2000" b="0">
                <a:solidFill>
                  <a:srgbClr val="0B2B4E"/>
                </a:solidFill>
                <a:latin typeface="Calibri"/>
              </a:defRPr>
            </a:lvl2pPr>
          </a:lstStyle>
          <a:p>
            <a:pPr algn="l"/>
            <a:r>
              <a:rPr>
                <a:latin typeface="Calibri"/>
              </a:rPr>
              <a:t>Profit maximization for price searchers:</a:t>
            </a:r>
          </a:p>
        </p:txBody>
      </p:sp>
      <mc:AlternateContent xmlns:mc="http://schemas.openxmlformats.org/markup-compatibility/2006" xmlns:a14="http://schemas.microsoft.com/office/drawing/2010/main">
        <mc:Choice Requires="a14">
          <p:sp>
            <p:nvSpPr>
              <p:cNvPr id="8" name="HeroMRMC"/>
              <p:cNvSpPr txBox="1"/>
              <p:nvPr/>
            </p:nvSpPr>
            <p:spPr>
              <a:xfrm>
                <a:off x="1143000" y="1993392"/>
                <a:ext cx="3108960" cy="777240"/>
              </a:xfrm>
              <a:prstGeom prst="roundRect">
                <a:avLst>
                  <a:gd name="adj" fmla="val 16000"/>
                </a:avLst>
              </a:prstGeom>
              <a:solidFill>
                <a:srgbClr val="0B2B4E"/>
              </a:solidFill>
              <a:effectLst>
                <a:outerShdw blurRad="50800" dist="38100" dir="2700000" algn="tl" rotWithShape="0">
                  <a:srgbClr val="000000">
                    <a:alpha val="45000"/>
                  </a:srgbClr>
                </a:outerShdw>
              </a:effectLst>
            </p:spPr>
            <p:txBody>
              <a:bodyPr wrap="square" anchor="ctr">
                <a:spAutoFit/>
              </a:bodyPr>
              <a:lstStyle/>
              <a:p>
                <a:pPr algn="ctr">
                  <a:defRPr sz="3400" b="0" i="1">
                    <a:solidFill>
                      <a:srgbClr val="FFFFFF"/>
                    </a:solidFill>
                    <a:latin typeface="Cambria Math"/>
                  </a:defRPr>
                </a:pPr>
                <a14:m>
                  <m:oMathPara xmlns:m="http://schemas.openxmlformats.org/officeDocument/2006/math">
                    <m:oMath>
                      <m:r>
                        <m:rPr>
                          <m:sty m:val="p"/>
                        </m:rPr>
                        <a:rPr lang="en-US" sz="3400" b="0" i="0">
                          <a:solidFill>
                            <a:srgbClr val="FFFFFF"/>
                          </a:solidFill>
                          <a:latin typeface="Cambria Math"/>
                        </a:rPr>
                        <m:t>MR</m:t>
                      </m:r>
                      <m:r>
                        <a:rPr lang="en-US" sz="3400" b="0" i="0">
                          <a:solidFill>
                            <a:srgbClr val="FFFFFF"/>
                          </a:solidFill>
                          <a:latin typeface="Cambria Math"/>
                        </a:rPr>
                        <m:t> = </m:t>
                      </m:r>
                      <m:r>
                        <m:rPr>
                          <m:sty m:val="p"/>
                        </m:rPr>
                        <a:rPr lang="en-US" sz="3400" b="0" i="0">
                          <a:solidFill>
                            <a:srgbClr val="FFFFFF"/>
                          </a:solidFill>
                          <a:latin typeface="Cambria Math"/>
                        </a:rPr>
                        <m:t>MC</m:t>
                      </m:r>
                    </m:oMath>
                  </m:oMathPara>
                </a14:m>
                <a:endParaRPr lang="en-US" sz="3400"/>
              </a:p>
            </p:txBody>
          </p:sp>
        </mc:Choice>
        <mc:Fallback xmlns="">
          <p:sp>
            <p:nvSpPr>
              <p:cNvPr id="8" name="HeroMRMC"/>
              <p:cNvSpPr txBox="1">
                <a:spLocks noRot="1" noChangeAspect="1" noMove="1" noResize="1" noEditPoints="1" noAdjustHandles="1" noChangeArrowheads="1" noChangeShapeType="1" noTextEdit="1"/>
              </p:cNvSpPr>
              <p:nvPr/>
            </p:nvSpPr>
            <p:spPr>
              <a:xfrm>
                <a:off x="1143000" y="1993392"/>
                <a:ext cx="3108960" cy="777240"/>
              </a:xfrm>
              <a:prstGeom prst="roundRect">
                <a:avLst>
                  <a:gd name="adj" fmla="val 16000"/>
                </a:avLst>
              </a:prstGeom>
              <a:blipFill>
                <a:blip r:embed="rId3"/>
                <a:stretch>
                  <a:fillRect/>
                </a:stretch>
              </a:blipFill>
              <a:effectLst>
                <a:outerShdw blurRad="50800" dist="38100" dir="2700000" algn="tl" rotWithShape="0">
                  <a:srgbClr val="000000">
                    <a:alpha val="45000"/>
                  </a:srgbClr>
                </a:outerShdw>
              </a:effectLst>
            </p:spPr>
            <p:txBody>
              <a:bodyPr/>
              <a:lstStyle/>
              <a:p>
                <a:r>
                  <a:rPr lang="en-US">
                    <a:noFill/>
                  </a:rPr>
                  <a:t> </a:t>
                </a:r>
              </a:p>
            </p:txBody>
          </p:sp>
        </mc:Fallback>
      </mc:AlternateContent>
      <p:grpSp>
        <p:nvGrpSpPr>
          <p:cNvPr id="138" name="Group pair 138"/>
          <p:cNvGrpSpPr/>
          <p:nvPr/>
        </p:nvGrpSpPr>
        <p:grpSpPr>
          <a:xfrm>
            <a:off x="411480" y="3017520"/>
            <a:ext cx="4800600" cy="1874519"/>
            <a:chOff x="411480" y="3017520"/>
            <a:chExt cx="4800600" cy="1874519"/>
          </a:xfrm>
        </p:grpSpPr>
        <p:sp>
          <p:nvSpPr>
            <p:cNvPr id="9" name="DemandCard"/>
            <p:cNvSpPr/>
            <p:nvPr/>
          </p:nvSpPr>
          <p:spPr>
            <a:xfrm>
              <a:off x="411480" y="3017520"/>
              <a:ext cx="4800600" cy="1874519"/>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1" name="EqDemand"/>
                <p:cNvSpPr txBox="1"/>
                <p:nvPr/>
              </p:nvSpPr>
              <p:spPr>
                <a:xfrm>
                  <a:off x="548640" y="3108960"/>
                  <a:ext cx="4572000" cy="822960"/>
                </a:xfrm>
                <a:prstGeom prst="rect">
                  <a:avLst/>
                </a:prstGeom>
                <a:noFill/>
              </p:spPr>
              <p:txBody>
                <a:bodyPr wrap="square" lIns="45720" tIns="0" rIns="45720" bIns="0">
                  <a:spAutoFit/>
                </a:bodyPr>
                <a:lstStyle/>
                <a:p>
                  <a:pPr/>
                  <a14:m>
                    <m:oMathPara xmlns:m="http://schemas.openxmlformats.org/officeDocument/2006/math">
                      <m:oMath>
                        <m:r>
                          <a:rPr lang="en-US" sz="2600" b="0" i="1">
                            <a:solidFill>
                              <a:srgbClr val="0B2B4E"/>
                            </a:solidFill>
                            <a:latin typeface="Cambria Math"/>
                            <a:ea typeface="Cambria Math"/>
                          </a:rPr>
                          <m:t>𝑄</m:t>
                        </m:r>
                        <m:r>
                          <a:rPr lang="en-US" sz="2600" b="0" i="0">
                            <a:solidFill>
                              <a:srgbClr val="0B2B4E"/>
                            </a:solidFill>
                            <a:latin typeface="Cambria Math"/>
                          </a:rPr>
                          <m:t> = 1,600 − 4</m:t>
                        </m:r>
                        <m:r>
                          <a:rPr lang="en-US" sz="2600" b="0" i="1">
                            <a:solidFill>
                              <a:srgbClr val="0B2B4E"/>
                            </a:solidFill>
                            <a:latin typeface="Cambria Math"/>
                            <a:ea typeface="Cambria Math"/>
                          </a:rPr>
                          <m:t>𝑃</m:t>
                        </m:r>
                      </m:oMath>
                    </m:oMathPara>
                  </a14:m>
                  <a:endParaRPr lang="en-US"/>
                </a:p>
                <a:p>
                  <a:r>
                    <a:rPr lang="en-US" sz="1800" i="1">
                      <a:solidFill>
                        <a:srgbClr val="0B2B4E"/>
                      </a:solidFill>
                      <a:latin typeface="Calibri"/>
                    </a:rPr>
                    <a:t>(estimated demand curve)</a:t>
                  </a:r>
                  <a:endParaRPr lang="en-US"/>
                </a:p>
              </p:txBody>
            </p:sp>
          </mc:Choice>
          <mc:Fallback xmlns="">
            <p:sp>
              <p:nvSpPr>
                <p:cNvPr id="11" name="EqDemand"/>
                <p:cNvSpPr txBox="1">
                  <a:spLocks noRot="1" noChangeAspect="1" noMove="1" noResize="1" noEditPoints="1" noAdjustHandles="1" noChangeArrowheads="1" noChangeShapeType="1" noTextEdit="1"/>
                </p:cNvSpPr>
                <p:nvPr/>
              </p:nvSpPr>
              <p:spPr>
                <a:xfrm>
                  <a:off x="548640" y="3108960"/>
                  <a:ext cx="4572000" cy="822960"/>
                </a:xfrm>
                <a:prstGeom prst="rect">
                  <a:avLst/>
                </a:prstGeom>
                <a:blipFill>
                  <a:blip r:embed="rId4"/>
                  <a:stretch>
                    <a:fillRect l="-2133"/>
                  </a:stretch>
                </a:blipFill>
              </p:spPr>
              <p:txBody>
                <a:bodyPr/>
                <a:lstStyle/>
                <a:p>
                  <a:r>
                    <a:rPr lang="en-US">
                      <a:noFill/>
                    </a:rPr>
                    <a:t> </a:t>
                  </a:r>
                </a:p>
              </p:txBody>
            </p:sp>
          </mc:Fallback>
        </mc:AlternateContent>
      </p:grpSp>
      <p:sp>
        <p:nvSpPr>
          <p:cNvPr id="10" name="TextBox 9"/>
          <p:cNvSpPr txBox="1"/>
          <p:nvPr/>
        </p:nvSpPr>
        <p:spPr>
          <a:xfrm>
            <a:off x="594360" y="3127248"/>
            <a:ext cx="4434840" cy="1655063"/>
          </a:xfrm>
          <a:prstGeom prst="rect">
            <a:avLst/>
          </a:prstGeom>
          <a:noFill/>
        </p:spPr>
        <p:txBody>
          <a:bodyPr wrap="square" lIns="45720" tIns="0" rIns="45720" bIns="0" anchor="ctr">
            <a:spAutoFit/>
          </a:bodyPr>
          <a:lstStyle/>
          <a:p>
            <a:pPr algn="l"/>
            <a:endParaRPr/>
          </a:p>
        </p:txBody>
      </p:sp>
      <mc:AlternateContent xmlns:mc="http://schemas.openxmlformats.org/markup-compatibility/2006" xmlns:a14="http://schemas.microsoft.com/office/drawing/2010/main">
        <mc:Choice Requires="a14">
          <p:sp>
            <p:nvSpPr>
              <p:cNvPr id="12" name="EqInverse"/>
              <p:cNvSpPr txBox="1"/>
              <p:nvPr/>
            </p:nvSpPr>
            <p:spPr>
              <a:xfrm>
                <a:off x="548640" y="4005072"/>
                <a:ext cx="4572000" cy="822960"/>
              </a:xfrm>
              <a:prstGeom prst="rect">
                <a:avLst/>
              </a:prstGeom>
              <a:noFill/>
            </p:spPr>
            <p:txBody>
              <a:bodyPr wrap="square" lIns="45720" tIns="0" rIns="45720" bIns="0">
                <a:spAutoFit/>
              </a:bodyPr>
              <a:lstStyle/>
              <a:p>
                <a:r>
                  <a:rPr lang="en-US" sz="2600">
                    <a:solidFill>
                      <a:srgbClr val="0B2B4E"/>
                    </a:solidFill>
                    <a:latin typeface="Calibri"/>
                  </a:rPr>
                  <a:t>→ </a:t>
                </a:r>
                <a14:m>
                  <m:oMath xmlns:m="http://schemas.openxmlformats.org/officeDocument/2006/math">
                    <m:r>
                      <a:rPr lang="en-US" sz="2600" b="0" i="1">
                        <a:solidFill>
                          <a:srgbClr val="0B2B4E"/>
                        </a:solidFill>
                        <a:latin typeface="Cambria Math"/>
                        <a:ea typeface="Cambria Math"/>
                      </a:rPr>
                      <m:t>𝑃</m:t>
                    </m:r>
                    <m:r>
                      <a:rPr lang="en-US" sz="2600" b="0" i="0">
                        <a:solidFill>
                          <a:srgbClr val="0B2B4E"/>
                        </a:solidFill>
                        <a:latin typeface="Cambria Math"/>
                      </a:rPr>
                      <m:t> = 400 − 0.25</m:t>
                    </m:r>
                    <m:r>
                      <a:rPr lang="en-US" sz="2600" b="0" i="1">
                        <a:solidFill>
                          <a:srgbClr val="0B2B4E"/>
                        </a:solidFill>
                        <a:latin typeface="Cambria Math"/>
                        <a:ea typeface="Cambria Math"/>
                      </a:rPr>
                      <m:t>𝑄</m:t>
                    </m:r>
                  </m:oMath>
                </a14:m>
                <a:endParaRPr lang="en-US"/>
              </a:p>
              <a:p>
                <a:r>
                  <a:rPr lang="en-US" sz="1800" i="1">
                    <a:solidFill>
                      <a:srgbClr val="C00000"/>
                    </a:solidFill>
                    <a:latin typeface="Calibri"/>
                  </a:rPr>
                  <a:t>(inverse demand → what we plot)</a:t>
                </a:r>
                <a:endParaRPr lang="en-US"/>
              </a:p>
            </p:txBody>
          </p:sp>
        </mc:Choice>
        <mc:Fallback xmlns="">
          <p:sp>
            <p:nvSpPr>
              <p:cNvPr id="12" name="EqInverse"/>
              <p:cNvSpPr txBox="1">
                <a:spLocks noRot="1" noChangeAspect="1" noMove="1" noResize="1" noEditPoints="1" noAdjustHandles="1" noChangeArrowheads="1" noChangeShapeType="1" noTextEdit="1"/>
              </p:cNvSpPr>
              <p:nvPr/>
            </p:nvSpPr>
            <p:spPr>
              <a:xfrm>
                <a:off x="548640" y="4005072"/>
                <a:ext cx="4572000" cy="822960"/>
              </a:xfrm>
              <a:prstGeom prst="rect">
                <a:avLst/>
              </a:prstGeom>
              <a:blipFill>
                <a:blip r:embed="rId5"/>
                <a:stretch>
                  <a:fillRect l="-3333" t="-11852"/>
                </a:stretch>
              </a:blipFill>
            </p:spPr>
            <p:txBody>
              <a:bodyPr/>
              <a:lstStyle/>
              <a:p>
                <a:r>
                  <a:rPr lang="en-US">
                    <a:noFill/>
                  </a:rPr>
                  <a:t> </a:t>
                </a:r>
              </a:p>
            </p:txBody>
          </p:sp>
        </mc:Fallback>
      </mc:AlternateContent>
      <p:grpSp>
        <p:nvGrpSpPr>
          <p:cNvPr id="139" name="Group pair 139"/>
          <p:cNvGrpSpPr/>
          <p:nvPr/>
        </p:nvGrpSpPr>
        <p:grpSpPr>
          <a:xfrm>
            <a:off x="411480" y="5074920"/>
            <a:ext cx="4800600" cy="658368"/>
            <a:chOff x="411480" y="5074920"/>
            <a:chExt cx="4800600" cy="658368"/>
          </a:xfrm>
        </p:grpSpPr>
        <p:sp>
          <p:nvSpPr>
            <p:cNvPr id="13" name="MRNote"/>
            <p:cNvSpPr/>
            <p:nvPr/>
          </p:nvSpPr>
          <p:spPr>
            <a:xfrm>
              <a:off x="411480" y="5074920"/>
              <a:ext cx="4800600" cy="658368"/>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5184648"/>
              <a:ext cx="4434840" cy="438912"/>
            </a:xfrm>
            <a:prstGeom prst="rect">
              <a:avLst/>
            </a:prstGeom>
            <a:noFill/>
          </p:spPr>
          <p:txBody>
            <a:bodyPr wrap="square" lIns="45720" tIns="0" rIns="45720" bIns="0" anchor="ctr">
              <a:spAutoFit/>
            </a:bodyPr>
            <a:lstStyle/>
            <a:p>
              <a:pPr algn="l"/>
              <a:r>
                <a:rPr sz="1800" b="1" i="1" u="none">
                  <a:solidFill>
                    <a:srgbClr val="C00000"/>
                  </a:solidFill>
                  <a:latin typeface="Calibri"/>
                </a:rPr>
                <a:t>MR</a:t>
              </a:r>
              <a:r>
                <a:rPr sz="1800" b="0" i="0" u="none">
                  <a:solidFill>
                    <a:srgbClr val="C00000"/>
                  </a:solidFill>
                  <a:latin typeface="Calibri"/>
                </a:rPr>
                <a:t> is derived from the (inverse) demand curve</a:t>
              </a:r>
            </a:p>
          </p:txBody>
        </p:sp>
      </p:grpSp>
      <p:cxnSp>
        <p:nvCxnSpPr>
          <p:cNvPr id="15" name="sdaxis:y"/>
          <p:cNvCxnSpPr/>
          <p:nvPr/>
        </p:nvCxnSpPr>
        <p:spPr>
          <a:xfrm flipV="1">
            <a:off x="6720840" y="1481328"/>
            <a:ext cx="0" cy="4233672"/>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16" name="sdaxis:x"/>
          <p:cNvCxnSpPr/>
          <p:nvPr/>
        </p:nvCxnSpPr>
        <p:spPr>
          <a:xfrm>
            <a:off x="6720840" y="5715000"/>
            <a:ext cx="496519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7" name="sdaxistitle:y"/>
          <p:cNvSpPr txBox="1"/>
          <p:nvPr/>
        </p:nvSpPr>
        <p:spPr>
          <a:xfrm>
            <a:off x="6441186" y="1348739"/>
            <a:ext cx="206502" cy="265176"/>
          </a:xfrm>
          <a:prstGeom prst="rect">
            <a:avLst/>
          </a:prstGeom>
          <a:noFill/>
        </p:spPr>
        <p:txBody>
          <a:bodyPr wrap="square" lIns="0" tIns="0" rIns="0" bIns="0">
            <a:spAutoFit/>
          </a:bodyPr>
          <a:lstStyle/>
          <a:p>
            <a:pPr algn="l"/>
            <a:r>
              <a:rPr sz="1800" b="1" i="1" u="none">
                <a:solidFill>
                  <a:srgbClr val="0B2B4E"/>
                </a:solidFill>
                <a:latin typeface="Calibri"/>
              </a:rPr>
              <a:t>P</a:t>
            </a:r>
          </a:p>
        </p:txBody>
      </p:sp>
      <p:sp>
        <p:nvSpPr>
          <p:cNvPr id="18" name="sdaxistitle:x"/>
          <p:cNvSpPr txBox="1"/>
          <p:nvPr/>
        </p:nvSpPr>
        <p:spPr>
          <a:xfrm>
            <a:off x="11573256" y="5760720"/>
            <a:ext cx="225551" cy="265176"/>
          </a:xfrm>
          <a:prstGeom prst="rect">
            <a:avLst/>
          </a:prstGeom>
          <a:noFill/>
        </p:spPr>
        <p:txBody>
          <a:bodyPr wrap="square" lIns="0" tIns="0" rIns="0" bIns="0">
            <a:spAutoFit/>
          </a:bodyPr>
          <a:lstStyle/>
          <a:p>
            <a:pPr algn="l"/>
            <a:r>
              <a:rPr sz="1800" b="1" i="1" u="none">
                <a:solidFill>
                  <a:srgbClr val="0B2B4E"/>
                </a:solidFill>
                <a:latin typeface="Calibri"/>
              </a:rPr>
              <a:t>Q</a:t>
            </a:r>
          </a:p>
        </p:txBody>
      </p:sp>
      <p:grpSp>
        <p:nvGrpSpPr>
          <p:cNvPr id="140" name="sdpair:curve:D"/>
          <p:cNvGrpSpPr/>
          <p:nvPr/>
        </p:nvGrpSpPr>
        <p:grpSpPr>
          <a:xfrm>
            <a:off x="6720840" y="2015836"/>
            <a:ext cx="4457699" cy="3699164"/>
            <a:chOff x="6720840" y="2015836"/>
            <a:chExt cx="4457699" cy="3699164"/>
          </a:xfrm>
        </p:grpSpPr>
        <p:cxnSp>
          <p:nvCxnSpPr>
            <p:cNvPr id="19" name="sdcurve:D"/>
            <p:cNvCxnSpPr/>
            <p:nvPr/>
          </p:nvCxnSpPr>
          <p:spPr>
            <a:xfrm>
              <a:off x="6720840" y="2015836"/>
              <a:ext cx="4389119" cy="3699164"/>
            </a:xfrm>
            <a:prstGeom prst="line">
              <a:avLst/>
            </a:prstGeom>
            <a:ln w="34925">
              <a:solidFill>
                <a:srgbClr val="C00000"/>
              </a:solidFill>
            </a:ln>
          </p:spPr>
          <p:style>
            <a:lnRef idx="2">
              <a:schemeClr val="accent1"/>
            </a:lnRef>
            <a:fillRef idx="0">
              <a:schemeClr val="accent1"/>
            </a:fillRef>
            <a:effectRef idx="1">
              <a:schemeClr val="accent1"/>
            </a:effectRef>
            <a:fontRef idx="minor">
              <a:schemeClr val="tx1"/>
            </a:fontRef>
          </p:style>
        </p:cxnSp>
        <p:sp>
          <p:nvSpPr>
            <p:cNvPr id="20" name="sdcurvelab:D"/>
            <p:cNvSpPr txBox="1"/>
            <p:nvPr/>
          </p:nvSpPr>
          <p:spPr>
            <a:xfrm>
              <a:off x="10943462" y="5218732"/>
              <a:ext cx="235077" cy="292608"/>
            </a:xfrm>
            <a:prstGeom prst="rect">
              <a:avLst/>
            </a:prstGeom>
            <a:noFill/>
          </p:spPr>
          <p:txBody>
            <a:bodyPr wrap="square" lIns="0" tIns="0" rIns="0" bIns="0">
              <a:spAutoFit/>
            </a:bodyPr>
            <a:lstStyle/>
            <a:p>
              <a:pPr algn="l"/>
              <a:r>
                <a:rPr sz="2000" b="1" i="1" u="none" dirty="0">
                  <a:solidFill>
                    <a:srgbClr val="C00000"/>
                  </a:solidFill>
                  <a:latin typeface="Calibri"/>
                </a:rPr>
                <a:t>D</a:t>
              </a:r>
            </a:p>
          </p:txBody>
        </p:sp>
      </p:grpSp>
      <p:grpSp>
        <p:nvGrpSpPr>
          <p:cNvPr id="141" name="sdpair:curve:MC"/>
          <p:cNvGrpSpPr/>
          <p:nvPr/>
        </p:nvGrpSpPr>
        <p:grpSpPr>
          <a:xfrm>
            <a:off x="6720840" y="3608139"/>
            <a:ext cx="4815840" cy="292608"/>
            <a:chOff x="6720840" y="3608139"/>
            <a:chExt cx="4815840" cy="292608"/>
          </a:xfrm>
        </p:grpSpPr>
        <p:cxnSp>
          <p:nvCxnSpPr>
            <p:cNvPr id="21" name="sdcurve:MC"/>
            <p:cNvCxnSpPr/>
            <p:nvPr/>
          </p:nvCxnSpPr>
          <p:spPr>
            <a:xfrm>
              <a:off x="6720840" y="3865418"/>
              <a:ext cx="4279392" cy="0"/>
            </a:xfrm>
            <a:prstGeom prst="line">
              <a:avLst/>
            </a:prstGeom>
            <a:ln w="34925">
              <a:solidFill>
                <a:srgbClr val="0B2B4E"/>
              </a:solidFill>
            </a:ln>
          </p:spPr>
          <p:style>
            <a:lnRef idx="2">
              <a:schemeClr val="accent1"/>
            </a:lnRef>
            <a:fillRef idx="0">
              <a:schemeClr val="accent1"/>
            </a:fillRef>
            <a:effectRef idx="1">
              <a:schemeClr val="accent1"/>
            </a:effectRef>
            <a:fontRef idx="minor">
              <a:schemeClr val="tx1"/>
            </a:fontRef>
          </p:style>
        </p:cxnSp>
        <p:sp>
          <p:nvSpPr>
            <p:cNvPr id="22" name="sdcurvelab:MC"/>
            <p:cNvSpPr txBox="1"/>
            <p:nvPr/>
          </p:nvSpPr>
          <p:spPr>
            <a:xfrm>
              <a:off x="11082528" y="3608139"/>
              <a:ext cx="454152" cy="292608"/>
            </a:xfrm>
            <a:prstGeom prst="rect">
              <a:avLst/>
            </a:prstGeom>
            <a:noFill/>
          </p:spPr>
          <p:txBody>
            <a:bodyPr wrap="square" lIns="0" tIns="0" rIns="0" bIns="0">
              <a:spAutoFit/>
            </a:bodyPr>
            <a:lstStyle/>
            <a:p>
              <a:pPr algn="l"/>
              <a:r>
                <a:rPr sz="2000" b="1" i="1" u="none">
                  <a:solidFill>
                    <a:srgbClr val="0B2B4E"/>
                  </a:solidFill>
                  <a:latin typeface="Calibri"/>
                </a:rPr>
                <a:t>MC</a:t>
              </a:r>
            </a:p>
          </p:txBody>
        </p:sp>
      </p:grpSp>
      <p:grpSp>
        <p:nvGrpSpPr>
          <p:cNvPr id="142" name="sdpair:curve:MR"/>
          <p:cNvGrpSpPr/>
          <p:nvPr/>
        </p:nvGrpSpPr>
        <p:grpSpPr>
          <a:xfrm>
            <a:off x="6720840" y="2015836"/>
            <a:ext cx="2721483" cy="3699164"/>
            <a:chOff x="6720840" y="2015836"/>
            <a:chExt cx="2721483" cy="3699164"/>
          </a:xfrm>
        </p:grpSpPr>
        <p:cxnSp>
          <p:nvCxnSpPr>
            <p:cNvPr id="23" name="sdcurve:MR"/>
            <p:cNvCxnSpPr/>
            <p:nvPr/>
          </p:nvCxnSpPr>
          <p:spPr>
            <a:xfrm>
              <a:off x="6720840" y="2015836"/>
              <a:ext cx="2194560" cy="3699164"/>
            </a:xfrm>
            <a:prstGeom prst="line">
              <a:avLst/>
            </a:prstGeom>
            <a:ln w="28575">
              <a:solidFill>
                <a:srgbClr val="C00000"/>
              </a:solidFill>
              <a:prstDash val="dash"/>
            </a:ln>
          </p:spPr>
          <p:style>
            <a:lnRef idx="2">
              <a:schemeClr val="accent1"/>
            </a:lnRef>
            <a:fillRef idx="0">
              <a:schemeClr val="accent1"/>
            </a:fillRef>
            <a:effectRef idx="1">
              <a:schemeClr val="accent1"/>
            </a:effectRef>
            <a:fontRef idx="minor">
              <a:schemeClr val="tx1"/>
            </a:fontRef>
          </p:style>
        </p:cxnSp>
        <p:sp>
          <p:nvSpPr>
            <p:cNvPr id="24" name="sdcurvelab:MR"/>
            <p:cNvSpPr txBox="1"/>
            <p:nvPr/>
          </p:nvSpPr>
          <p:spPr>
            <a:xfrm>
              <a:off x="8997696" y="5235771"/>
              <a:ext cx="444627" cy="292608"/>
            </a:xfrm>
            <a:prstGeom prst="rect">
              <a:avLst/>
            </a:prstGeom>
            <a:noFill/>
          </p:spPr>
          <p:txBody>
            <a:bodyPr wrap="square" lIns="0" tIns="0" rIns="0" bIns="0">
              <a:spAutoFit/>
            </a:bodyPr>
            <a:lstStyle/>
            <a:p>
              <a:pPr algn="l"/>
              <a:r>
                <a:rPr sz="2000" b="1" i="1" u="none">
                  <a:solidFill>
                    <a:srgbClr val="C00000"/>
                  </a:solidFill>
                  <a:latin typeface="Calibri"/>
                </a:rPr>
                <a:t>MR</a:t>
              </a:r>
            </a:p>
          </p:txBody>
        </p:sp>
      </p:grpSp>
      <p:sp>
        <p:nvSpPr>
          <p:cNvPr id="25" name="PtMRMC"/>
          <p:cNvSpPr/>
          <p:nvPr/>
        </p:nvSpPr>
        <p:spPr>
          <a:xfrm>
            <a:off x="7749539" y="3796838"/>
            <a:ext cx="137160" cy="137160"/>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6" name="gP"/>
          <p:cNvCxnSpPr/>
          <p:nvPr/>
        </p:nvCxnSpPr>
        <p:spPr>
          <a:xfrm>
            <a:off x="6720840" y="2940627"/>
            <a:ext cx="1097279"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27" name="gQ"/>
          <p:cNvCxnSpPr/>
          <p:nvPr/>
        </p:nvCxnSpPr>
        <p:spPr>
          <a:xfrm>
            <a:off x="7818119" y="2940627"/>
            <a:ext cx="0" cy="2774373"/>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grpSp>
        <p:nvGrpSpPr>
          <p:cNvPr id="30" name="LblMRMC"/>
          <p:cNvGrpSpPr/>
          <p:nvPr/>
        </p:nvGrpSpPr>
        <p:grpSpPr>
          <a:xfrm>
            <a:off x="6789420" y="3911138"/>
            <a:ext cx="1188720" cy="800723"/>
            <a:chOff x="6789420" y="3911138"/>
            <a:chExt cx="1188720" cy="800723"/>
          </a:xfrm>
        </p:grpSpPr>
        <p:sp>
          <p:nvSpPr>
            <p:cNvPr id="28" name="Rounded Rectangle 27"/>
            <p:cNvSpPr/>
            <p:nvPr/>
          </p:nvSpPr>
          <p:spPr>
            <a:xfrm>
              <a:off x="6789420" y="4327813"/>
              <a:ext cx="1188720" cy="384048"/>
            </a:xfrm>
            <a:prstGeom prst="roundRect">
              <a:avLst>
                <a:gd name="adj" fmla="val 25000"/>
              </a:avLst>
            </a:prstGeom>
            <a:solidFill>
              <a:srgbClr val="F6E2C5"/>
            </a:solidFill>
            <a:ln w="15875">
              <a:solidFill>
                <a:srgbClr val="E09F3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i="1">
                  <a:solidFill>
                    <a:srgbClr val="0B2B4E"/>
                  </a:solidFill>
                  <a:latin typeface="Calibri"/>
                </a:rPr>
                <a:t>MR = MC</a:t>
              </a:r>
            </a:p>
          </p:txBody>
        </p:sp>
        <p:cxnSp>
          <p:nvCxnSpPr>
            <p:cNvPr id="29" name="sdleader:30"/>
            <p:cNvCxnSpPr/>
            <p:nvPr/>
          </p:nvCxnSpPr>
          <p:spPr>
            <a:xfrm flipV="1">
              <a:off x="7535899" y="3911138"/>
              <a:ext cx="236500" cy="370431"/>
            </a:xfrm>
            <a:prstGeom prst="line">
              <a:avLst/>
            </a:prstGeom>
            <a:ln w="25400">
              <a:solidFill>
                <a:srgbClr val="E09F3E"/>
              </a:solidFill>
              <a:tailEnd type="triangle" w="med"/>
            </a:ln>
          </p:spPr>
          <p:style>
            <a:lnRef idx="2">
              <a:schemeClr val="accent1"/>
            </a:lnRef>
            <a:fillRef idx="0">
              <a:schemeClr val="accent1"/>
            </a:fillRef>
            <a:effectRef idx="1">
              <a:schemeClr val="accent1"/>
            </a:effectRef>
            <a:fontRef idx="minor">
              <a:schemeClr val="tx1"/>
            </a:fontRef>
          </p:style>
        </p:cxnSp>
      </p:grpSp>
      <p:sp>
        <p:nvSpPr>
          <p:cNvPr id="31" name="TextBox 30"/>
          <p:cNvSpPr txBox="1"/>
          <p:nvPr/>
        </p:nvSpPr>
        <p:spPr>
          <a:xfrm>
            <a:off x="5660136" y="2803467"/>
            <a:ext cx="987552" cy="274320"/>
          </a:xfrm>
          <a:prstGeom prst="rect">
            <a:avLst/>
          </a:prstGeom>
          <a:noFill/>
        </p:spPr>
        <p:txBody>
          <a:bodyPr wrap="square" lIns="0" tIns="0" rIns="0" bIns="0">
            <a:spAutoFit/>
          </a:bodyPr>
          <a:lstStyle/>
          <a:p>
            <a:pPr algn="r"/>
            <a:r>
              <a:rPr sz="1800" b="1" i="1" u="none">
                <a:solidFill>
                  <a:srgbClr val="0B2B4E"/>
                </a:solidFill>
                <a:latin typeface="Calibri"/>
              </a:rPr>
              <a:t>P* = $300</a:t>
            </a:r>
          </a:p>
        </p:txBody>
      </p:sp>
      <p:sp>
        <p:nvSpPr>
          <p:cNvPr id="32" name="TextBox 31"/>
          <p:cNvSpPr txBox="1"/>
          <p:nvPr/>
        </p:nvSpPr>
        <p:spPr>
          <a:xfrm>
            <a:off x="5574411" y="3728258"/>
            <a:ext cx="1073277" cy="274320"/>
          </a:xfrm>
          <a:prstGeom prst="rect">
            <a:avLst/>
          </a:prstGeom>
          <a:noFill/>
        </p:spPr>
        <p:txBody>
          <a:bodyPr wrap="square" lIns="0" tIns="0" rIns="0" bIns="0">
            <a:spAutoFit/>
          </a:bodyPr>
          <a:lstStyle/>
          <a:p>
            <a:pPr algn="r"/>
            <a:r>
              <a:rPr sz="1800" b="0" i="1" u="none">
                <a:solidFill>
                  <a:srgbClr val="0B2B4E"/>
                </a:solidFill>
                <a:latin typeface="Calibri"/>
              </a:rPr>
              <a:t>MC = $200</a:t>
            </a:r>
          </a:p>
        </p:txBody>
      </p:sp>
      <p:sp>
        <p:nvSpPr>
          <p:cNvPr id="33" name="TextBox 32"/>
          <p:cNvSpPr txBox="1"/>
          <p:nvPr/>
        </p:nvSpPr>
        <p:spPr>
          <a:xfrm>
            <a:off x="7367206" y="5769864"/>
            <a:ext cx="901827" cy="274320"/>
          </a:xfrm>
          <a:prstGeom prst="rect">
            <a:avLst/>
          </a:prstGeom>
          <a:noFill/>
        </p:spPr>
        <p:txBody>
          <a:bodyPr wrap="square" lIns="0" tIns="0" rIns="0" bIns="0">
            <a:spAutoFit/>
          </a:bodyPr>
          <a:lstStyle/>
          <a:p>
            <a:pPr algn="ctr"/>
            <a:r>
              <a:rPr sz="1800" b="1" i="1" u="none">
                <a:solidFill>
                  <a:srgbClr val="0B2B4E"/>
                </a:solidFill>
                <a:latin typeface="Calibri"/>
              </a:rPr>
              <a:t>Q* = 400</a:t>
            </a:r>
          </a:p>
        </p:txBody>
      </p:sp>
      <p:sp>
        <p:nvSpPr>
          <p:cNvPr id="34" name="Rounded Rectangle 33"/>
          <p:cNvSpPr/>
          <p:nvPr/>
        </p:nvSpPr>
        <p:spPr>
          <a:xfrm>
            <a:off x="8897112" y="5971032"/>
            <a:ext cx="3154680" cy="457200"/>
          </a:xfrm>
          <a:prstGeom prst="roundRect">
            <a:avLst>
              <a:gd name="adj" fmla="val 25000"/>
            </a:avLst>
          </a:prstGeom>
          <a:solidFill>
            <a:srgbClr val="FFFFFF"/>
          </a:solidFill>
          <a:ln w="1905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none" lIns="73152" tIns="0" rIns="73152" bIns="0" rtlCol="0" anchor="ctr"/>
          <a:lstStyle/>
          <a:p>
            <a:pPr algn="ctr"/>
            <a:r>
              <a:rPr sz="1600" b="1">
                <a:solidFill>
                  <a:srgbClr val="E09F3E"/>
                </a:solidFill>
                <a:latin typeface="Calibri"/>
              </a:rPr>
              <a:t>▤  </a:t>
            </a:r>
            <a:r>
              <a:rPr sz="1600" b="1">
                <a:solidFill>
                  <a:srgbClr val="0B2B4E"/>
                </a:solidFill>
                <a:latin typeface="Calibri"/>
              </a:rPr>
              <a:t>Teaching Note: MR = MC</a:t>
            </a:r>
          </a:p>
        </p:txBody>
      </p:sp>
      <p:sp>
        <p:nvSpPr>
          <p:cNvPr id="35" name="Rectangle 34"/>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5  ·  Monopoly and Monopolistic Competition</a:t>
            </a:r>
          </a:p>
        </p:txBody>
      </p:sp>
      <p:sp>
        <p:nvSpPr>
          <p:cNvPr id="38" name="TextBox 37"/>
          <p:cNvSpPr txBox="1"/>
          <p:nvPr/>
        </p:nvSpPr>
        <p:spPr>
          <a:xfrm>
            <a:off x="11475720" y="6583680"/>
            <a:ext cx="502920" cy="292608"/>
          </a:xfrm>
          <a:prstGeom prst="rect">
            <a:avLst/>
          </a:prstGeom>
          <a:noFill/>
        </p:spPr>
        <p:txBody>
          <a:bodyPr wrap="none" lIns="0" tIns="0" rIns="0" bIns="0">
            <a:spAutoFit/>
          </a:bodyPr>
          <a:lstStyle/>
          <a:p>
            <a:pPr algn="r"/>
            <a:fld id="{FDE0808A-C7B3-55BB-BE33-D789A22A62C4}" type="slidenum">
              <a:rPr lang="en-US" sz="1200" dirty="0">
                <a:solidFill>
                  <a:srgbClr val="555B66"/>
                </a:solidFill>
                <a:latin typeface="Calibri"/>
              </a:rPr>
              <a:t>8</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8"/>
                                        </p:tgtEl>
                                        <p:attrNameLst>
                                          <p:attrName>style.visibility</p:attrName>
                                        </p:attrNameLst>
                                      </p:cBhvr>
                                      <p:to>
                                        <p:strVal val="visible"/>
                                      </p:to>
                                    </p:set>
                                    <p:animEffect transition="in" filter="fade">
                                      <p:cBhvr>
                                        <p:cTn id="12" dur="500"/>
                                        <p:tgtEl>
                                          <p:spTgt spid="13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0"/>
                                        </p:tgtEl>
                                        <p:attrNameLst>
                                          <p:attrName>style.visibility</p:attrName>
                                        </p:attrNameLst>
                                      </p:cBhvr>
                                      <p:to>
                                        <p:strVal val="visible"/>
                                      </p:to>
                                    </p:set>
                                    <p:animEffect transition="in" filter="fade">
                                      <p:cBhvr>
                                        <p:cTn id="22" dur="500"/>
                                        <p:tgtEl>
                                          <p:spTgt spid="14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1"/>
                                        </p:tgtEl>
                                        <p:attrNameLst>
                                          <p:attrName>style.visibility</p:attrName>
                                        </p:attrNameLst>
                                      </p:cBhvr>
                                      <p:to>
                                        <p:strVal val="visible"/>
                                      </p:to>
                                    </p:set>
                                    <p:animEffect transition="in" filter="fade">
                                      <p:cBhvr>
                                        <p:cTn id="27" dur="500"/>
                                        <p:tgtEl>
                                          <p:spTgt spid="141"/>
                                        </p:tgtEl>
                                      </p:cBhvr>
                                    </p:animEffect>
                                  </p:childTnLst>
                                </p:cTn>
                              </p:par>
                              <p:par>
                                <p:cTn id="28" presetID="10" presetClass="entr" presetSubtype="0" fill="hold" nodeType="withEffect">
                                  <p:stCondLst>
                                    <p:cond delay="0"/>
                                  </p:stCondLst>
                                  <p:childTnLst>
                                    <p:set>
                                      <p:cBhvr>
                                        <p:cTn id="29" dur="1" fill="hold">
                                          <p:stCondLst>
                                            <p:cond delay="0"/>
                                          </p:stCondLst>
                                        </p:cTn>
                                        <p:tgtEl>
                                          <p:spTgt spid="32"/>
                                        </p:tgtEl>
                                        <p:attrNameLst>
                                          <p:attrName>style.visibility</p:attrName>
                                        </p:attrNameLst>
                                      </p:cBhvr>
                                      <p:to>
                                        <p:strVal val="visible"/>
                                      </p:to>
                                    </p:set>
                                    <p:animEffect transition="in" filter="fade">
                                      <p:cBhvr>
                                        <p:cTn id="30" dur="500"/>
                                        <p:tgtEl>
                                          <p:spTgt spid="3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42"/>
                                        </p:tgtEl>
                                        <p:attrNameLst>
                                          <p:attrName>style.visibility</p:attrName>
                                        </p:attrNameLst>
                                      </p:cBhvr>
                                      <p:to>
                                        <p:strVal val="visible"/>
                                      </p:to>
                                    </p:set>
                                    <p:animEffect transition="in" filter="fade">
                                      <p:cBhvr>
                                        <p:cTn id="35" dur="500"/>
                                        <p:tgtEl>
                                          <p:spTgt spid="142"/>
                                        </p:tgtEl>
                                      </p:cBhvr>
                                    </p:animEffect>
                                  </p:childTnLst>
                                </p:cTn>
                              </p:par>
                              <p:par>
                                <p:cTn id="36" presetID="10" presetClass="entr" presetSubtype="0" fill="hold" nodeType="withEffect">
                                  <p:stCondLst>
                                    <p:cond delay="0"/>
                                  </p:stCondLst>
                                  <p:childTnLst>
                                    <p:set>
                                      <p:cBhvr>
                                        <p:cTn id="37" dur="1" fill="hold">
                                          <p:stCondLst>
                                            <p:cond delay="0"/>
                                          </p:stCondLst>
                                        </p:cTn>
                                        <p:tgtEl>
                                          <p:spTgt spid="139"/>
                                        </p:tgtEl>
                                        <p:attrNameLst>
                                          <p:attrName>style.visibility</p:attrName>
                                        </p:attrNameLst>
                                      </p:cBhvr>
                                      <p:to>
                                        <p:strVal val="visible"/>
                                      </p:to>
                                    </p:set>
                                    <p:animEffect transition="in" filter="fade">
                                      <p:cBhvr>
                                        <p:cTn id="38" dur="500"/>
                                        <p:tgtEl>
                                          <p:spTgt spid="139"/>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par>
                                <p:cTn id="44" presetID="10" presetClass="entr" presetSubtype="0" fill="hold"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500"/>
                                        <p:tgtEl>
                                          <p:spTgt spid="30"/>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fade">
                                      <p:cBhvr>
                                        <p:cTn id="51" dur="500"/>
                                        <p:tgtEl>
                                          <p:spTgt spid="26"/>
                                        </p:tgtEl>
                                      </p:cBhvr>
                                    </p:animEffect>
                                  </p:childTnLst>
                                </p:cTn>
                              </p:par>
                              <p:par>
                                <p:cTn id="52" presetID="10" presetClass="entr" presetSubtype="0" fill="hold" nodeType="with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500"/>
                                        <p:tgtEl>
                                          <p:spTgt spid="27"/>
                                        </p:tgtEl>
                                      </p:cBhvr>
                                    </p:animEffect>
                                  </p:childTnLst>
                                </p:cTn>
                              </p:par>
                              <p:par>
                                <p:cTn id="55" presetID="10" presetClass="entr" presetSubtype="0" fill="hold" nodeType="withEffect">
                                  <p:stCondLst>
                                    <p:cond delay="0"/>
                                  </p:stCondLst>
                                  <p:childTnLst>
                                    <p:set>
                                      <p:cBhvr>
                                        <p:cTn id="56" dur="1" fill="hold">
                                          <p:stCondLst>
                                            <p:cond delay="0"/>
                                          </p:stCondLst>
                                        </p:cTn>
                                        <p:tgtEl>
                                          <p:spTgt spid="31"/>
                                        </p:tgtEl>
                                        <p:attrNameLst>
                                          <p:attrName>style.visibility</p:attrName>
                                        </p:attrNameLst>
                                      </p:cBhvr>
                                      <p:to>
                                        <p:strVal val="visible"/>
                                      </p:to>
                                    </p:set>
                                    <p:animEffect transition="in" filter="fade">
                                      <p:cBhvr>
                                        <p:cTn id="57" dur="500"/>
                                        <p:tgtEl>
                                          <p:spTgt spid="31"/>
                                        </p:tgtEl>
                                      </p:cBhvr>
                                    </p:animEffect>
                                  </p:childTnLst>
                                </p:cTn>
                              </p:par>
                              <p:par>
                                <p:cTn id="58" presetID="10" presetClass="entr" presetSubtype="0" fill="hold" nodeType="withEffect">
                                  <p:stCondLst>
                                    <p:cond delay="0"/>
                                  </p:stCondLst>
                                  <p:childTnLst>
                                    <p:set>
                                      <p:cBhvr>
                                        <p:cTn id="59" dur="1" fill="hold">
                                          <p:stCondLst>
                                            <p:cond delay="0"/>
                                          </p:stCondLst>
                                        </p:cTn>
                                        <p:tgtEl>
                                          <p:spTgt spid="33"/>
                                        </p:tgtEl>
                                        <p:attrNameLst>
                                          <p:attrName>style.visibility</p:attrName>
                                        </p:attrNameLst>
                                      </p:cBhvr>
                                      <p:to>
                                        <p:strVal val="visible"/>
                                      </p:to>
                                    </p:set>
                                    <p:animEffect transition="in" filter="fade">
                                      <p:cBhvr>
                                        <p:cTn id="60"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5 · Profit Maximization for Price Searchers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MR = MC: Computation Example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stepeq1"/>
              <p:cNvSpPr txBox="1"/>
              <p:nvPr/>
            </p:nvSpPr>
            <p:spPr>
              <a:xfrm>
                <a:off x="1554480" y="1892808"/>
                <a:ext cx="9875520" cy="640080"/>
              </a:xfrm>
              <a:prstGeom prst="rect">
                <a:avLst/>
              </a:prstGeom>
              <a:noFill/>
            </p:spPr>
            <p:txBody>
              <a:bodyPr wrap="square" anchor="ctr">
                <a:spAutoFit/>
              </a:bodyPr>
              <a:lstStyle/>
              <a:p>
                <a:pPr algn="l">
                  <a:defRPr sz="2600" b="0" i="1">
                    <a:solidFill>
                      <a:srgbClr val="0B2B4E"/>
                    </a:solidFill>
                    <a:latin typeface="Cambria Math"/>
                  </a:defRPr>
                </a:pPr>
                <a14:m>
                  <m:oMathPara xmlns:m="http://schemas.openxmlformats.org/officeDocument/2006/math">
                    <m:oMathParaPr>
                      <m:jc m:val="left"/>
                    </m:oMathParaPr>
                    <m:oMath>
                      <m:r>
                        <a:rPr lang="en-US" sz="2600" b="0" i="1">
                          <a:solidFill>
                            <a:srgbClr val="0B2B4E"/>
                          </a:solidFill>
                          <a:latin typeface="Cambria Math"/>
                          <a:ea typeface="Cambria Math"/>
                        </a:rPr>
                        <m:t>𝑄</m:t>
                      </m:r>
                      <m:r>
                        <a:rPr lang="en-US" sz="2600" b="0" i="0">
                          <a:solidFill>
                            <a:srgbClr val="0B2B4E"/>
                          </a:solidFill>
                          <a:latin typeface="Cambria Math"/>
                        </a:rPr>
                        <m:t> = 1,600 − 4</m:t>
                      </m:r>
                      <m:r>
                        <a:rPr lang="en-US" sz="2600" b="0" i="1">
                          <a:solidFill>
                            <a:srgbClr val="0B2B4E"/>
                          </a:solidFill>
                          <a:latin typeface="Cambria Math"/>
                          <a:ea typeface="Cambria Math"/>
                        </a:rPr>
                        <m:t>𝑃</m:t>
                      </m:r>
                      <m:r>
                        <a:rPr lang="en-US" sz="2600" b="0" i="0">
                          <a:solidFill>
                            <a:srgbClr val="0B2B4E"/>
                          </a:solidFill>
                          <a:latin typeface="Cambria Math"/>
                        </a:rPr>
                        <m:t>     ⇒     </m:t>
                      </m:r>
                      <m:r>
                        <a:rPr lang="en-US" sz="2600" b="0" i="1">
                          <a:solidFill>
                            <a:srgbClr val="0B2B4E"/>
                          </a:solidFill>
                          <a:latin typeface="Cambria Math"/>
                          <a:ea typeface="Cambria Math"/>
                        </a:rPr>
                        <m:t>𝑃</m:t>
                      </m:r>
                      <m:r>
                        <a:rPr lang="en-US" sz="2600" b="0" i="0">
                          <a:solidFill>
                            <a:srgbClr val="0B2B4E"/>
                          </a:solidFill>
                          <a:latin typeface="Cambria Math"/>
                        </a:rPr>
                        <m:t> = 400 − 0.25</m:t>
                      </m:r>
                      <m:r>
                        <a:rPr lang="en-US" sz="2600" b="0" i="1">
                          <a:solidFill>
                            <a:srgbClr val="0B2B4E"/>
                          </a:solidFill>
                          <a:latin typeface="Cambria Math"/>
                          <a:ea typeface="Cambria Math"/>
                        </a:rPr>
                        <m:t>𝑄</m:t>
                      </m:r>
                    </m:oMath>
                  </m:oMathPara>
                </a14:m>
                <a:endParaRPr lang="en-US" sz="2600"/>
              </a:p>
            </p:txBody>
          </p:sp>
        </mc:Choice>
        <mc:Fallback xmlns="">
          <p:sp>
            <p:nvSpPr>
              <p:cNvPr id="9" name="stepeq1"/>
              <p:cNvSpPr txBox="1">
                <a:spLocks noRot="1" noChangeAspect="1" noMove="1" noResize="1" noEditPoints="1" noAdjustHandles="1" noChangeArrowheads="1" noChangeShapeType="1" noTextEdit="1"/>
              </p:cNvSpPr>
              <p:nvPr/>
            </p:nvSpPr>
            <p:spPr>
              <a:xfrm>
                <a:off x="1554480" y="1892808"/>
                <a:ext cx="9875520" cy="640080"/>
              </a:xfrm>
              <a:prstGeom prst="rect">
                <a:avLst/>
              </a:prstGeom>
              <a:blipFill>
                <a:blip r:embed="rId3"/>
                <a:stretch>
                  <a:fillRect/>
                </a:stretch>
              </a:blipFill>
            </p:spPr>
            <p:txBody>
              <a:bodyPr/>
              <a:lstStyle/>
              <a:p>
                <a:r>
                  <a:rPr lang="en-US">
                    <a:noFill/>
                  </a:rPr>
                  <a:t> </a:t>
                </a:r>
              </a:p>
            </p:txBody>
          </p:sp>
        </mc:Fallback>
      </mc:AlternateContent>
      <p:grpSp>
        <p:nvGrpSpPr>
          <p:cNvPr id="10" name="step1"/>
          <p:cNvGrpSpPr/>
          <p:nvPr/>
        </p:nvGrpSpPr>
        <p:grpSpPr>
          <a:xfrm>
            <a:off x="777240" y="1481328"/>
            <a:ext cx="10378440" cy="548640"/>
            <a:chOff x="777240" y="1481328"/>
            <a:chExt cx="10378440" cy="548640"/>
          </a:xfrm>
        </p:grpSpPr>
        <p:sp>
          <p:nvSpPr>
            <p:cNvPr id="7" name="Oval 6"/>
            <p:cNvSpPr/>
            <p:nvPr/>
          </p:nvSpPr>
          <p:spPr>
            <a:xfrm>
              <a:off x="777240" y="1499616"/>
              <a:ext cx="530352" cy="530352"/>
            </a:xfrm>
            <a:prstGeom prst="ellipse">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FFFFFF"/>
                  </a:solidFill>
                  <a:latin typeface="Calibri"/>
                </a:rPr>
                <a:t>1</a:t>
              </a:r>
            </a:p>
          </p:txBody>
        </p:sp>
        <p:sp>
          <p:nvSpPr>
            <p:cNvPr id="8" name="TextBox 7"/>
            <p:cNvSpPr txBox="1"/>
            <p:nvPr/>
          </p:nvSpPr>
          <p:spPr>
            <a:xfrm>
              <a:off x="1554480" y="1481328"/>
              <a:ext cx="9601200" cy="411480"/>
            </a:xfrm>
            <a:prstGeom prst="rect">
              <a:avLst/>
            </a:prstGeom>
            <a:noFill/>
          </p:spPr>
          <p:txBody>
            <a:bodyPr wrap="square" lIns="0" tIns="0" rIns="0" bIns="0">
              <a:spAutoFit/>
            </a:bodyPr>
            <a:lstStyle/>
            <a:p>
              <a:pPr algn="l"/>
              <a:r>
                <a:rPr sz="2400" b="1" i="0" u="none">
                  <a:solidFill>
                    <a:srgbClr val="0B2B4E"/>
                  </a:solidFill>
                  <a:latin typeface="Calibri"/>
                </a:rPr>
                <a:t>Demand and inverse demand</a:t>
              </a:r>
            </a:p>
          </p:txBody>
        </p:sp>
      </p:grpSp>
      <mc:AlternateContent xmlns:mc="http://schemas.openxmlformats.org/markup-compatibility/2006" xmlns:a14="http://schemas.microsoft.com/office/drawing/2010/main">
        <mc:Choice Requires="a14">
          <p:sp>
            <p:nvSpPr>
              <p:cNvPr id="13" name="stepeq2"/>
              <p:cNvSpPr txBox="1"/>
              <p:nvPr/>
            </p:nvSpPr>
            <p:spPr>
              <a:xfrm>
                <a:off x="1554480" y="3108960"/>
                <a:ext cx="9875520" cy="640080"/>
              </a:xfrm>
              <a:prstGeom prst="rect">
                <a:avLst/>
              </a:prstGeom>
              <a:noFill/>
            </p:spPr>
            <p:txBody>
              <a:bodyPr wrap="square" anchor="ctr">
                <a:spAutoFit/>
              </a:bodyPr>
              <a:lstStyle/>
              <a:p>
                <a:pPr algn="l">
                  <a:defRPr sz="2600" b="0" i="1">
                    <a:solidFill>
                      <a:srgbClr val="0B2B4E"/>
                    </a:solidFill>
                    <a:latin typeface="Cambria Math"/>
                  </a:defRPr>
                </a:pPr>
                <a14:m>
                  <m:oMathPara xmlns:m="http://schemas.openxmlformats.org/officeDocument/2006/math">
                    <m:oMathParaPr>
                      <m:jc m:val="left"/>
                    </m:oMathParaPr>
                    <m:oMath>
                      <m:r>
                        <m:rPr>
                          <m:sty m:val="p"/>
                        </m:rPr>
                        <a:rPr lang="en-US" sz="2600" b="0" i="0">
                          <a:solidFill>
                            <a:srgbClr val="0B2B4E"/>
                          </a:solidFill>
                          <a:latin typeface="Cambria Math"/>
                        </a:rPr>
                        <m:t>TR</m:t>
                      </m:r>
                      <m:r>
                        <a:rPr lang="en-US" sz="2600" b="0" i="0">
                          <a:solidFill>
                            <a:srgbClr val="0B2B4E"/>
                          </a:solidFill>
                          <a:latin typeface="Cambria Math"/>
                        </a:rPr>
                        <m:t> = </m:t>
                      </m:r>
                      <m:r>
                        <a:rPr lang="en-US" sz="2600" b="0" i="1">
                          <a:solidFill>
                            <a:srgbClr val="0B2B4E"/>
                          </a:solidFill>
                          <a:latin typeface="Cambria Math"/>
                          <a:ea typeface="Cambria Math"/>
                        </a:rPr>
                        <m:t>𝑃</m:t>
                      </m:r>
                      <m:r>
                        <a:rPr lang="en-US" sz="2600" b="0" i="0">
                          <a:solidFill>
                            <a:srgbClr val="0B2B4E"/>
                          </a:solidFill>
                          <a:latin typeface="Cambria Math"/>
                        </a:rPr>
                        <m:t>·</m:t>
                      </m:r>
                      <m:r>
                        <a:rPr lang="en-US" sz="2600" b="0" i="1">
                          <a:solidFill>
                            <a:srgbClr val="0B2B4E"/>
                          </a:solidFill>
                          <a:latin typeface="Cambria Math"/>
                          <a:ea typeface="Cambria Math"/>
                        </a:rPr>
                        <m:t>𝑄</m:t>
                      </m:r>
                      <m:r>
                        <a:rPr lang="en-US" sz="2600" b="0" i="0">
                          <a:solidFill>
                            <a:srgbClr val="0B2B4E"/>
                          </a:solidFill>
                          <a:latin typeface="Cambria Math"/>
                        </a:rPr>
                        <m:t> = 400</m:t>
                      </m:r>
                      <m:r>
                        <a:rPr lang="en-US" sz="2600" b="0" i="1">
                          <a:solidFill>
                            <a:srgbClr val="0B2B4E"/>
                          </a:solidFill>
                          <a:latin typeface="Cambria Math"/>
                          <a:ea typeface="Cambria Math"/>
                        </a:rPr>
                        <m:t>𝑄</m:t>
                      </m:r>
                      <m:r>
                        <a:rPr lang="en-US" sz="2600" b="0" i="0">
                          <a:solidFill>
                            <a:srgbClr val="0B2B4E"/>
                          </a:solidFill>
                          <a:latin typeface="Cambria Math"/>
                        </a:rPr>
                        <m:t> − 0.25</m:t>
                      </m:r>
                      <m:sSup>
                        <m:sSupPr>
                          <m:ctrlPr>
                            <a:rPr lang="en-US" sz="2600" b="0" i="1">
                              <a:solidFill>
                                <a:srgbClr val="0B2B4E"/>
                              </a:solidFill>
                              <a:latin typeface="Cambria Math"/>
                              <a:ea typeface="Cambria Math"/>
                            </a:rPr>
                          </m:ctrlPr>
                        </m:sSupPr>
                        <m:e>
                          <m:r>
                            <a:rPr lang="en-US" sz="2600" b="0" i="1">
                              <a:solidFill>
                                <a:srgbClr val="0B2B4E"/>
                              </a:solidFill>
                              <a:latin typeface="Cambria Math"/>
                              <a:ea typeface="Cambria Math"/>
                            </a:rPr>
                            <m:t>𝑄</m:t>
                          </m:r>
                        </m:e>
                        <m:sup>
                          <m:r>
                            <a:rPr lang="en-US" sz="2600" b="0" i="0">
                              <a:solidFill>
                                <a:srgbClr val="0B2B4E"/>
                              </a:solidFill>
                              <a:latin typeface="Cambria Math"/>
                            </a:rPr>
                            <m:t>2</m:t>
                          </m:r>
                        </m:sup>
                      </m:sSup>
                      <m:r>
                        <a:rPr lang="en-US" sz="2600" b="0" i="0">
                          <a:solidFill>
                            <a:srgbClr val="0B2B4E"/>
                          </a:solidFill>
                          <a:latin typeface="Cambria Math"/>
                        </a:rPr>
                        <m:t>     ⇒     </m:t>
                      </m:r>
                      <m:r>
                        <m:rPr>
                          <m:sty m:val="p"/>
                        </m:rPr>
                        <a:rPr lang="en-US" sz="2600" b="0" i="0">
                          <a:solidFill>
                            <a:srgbClr val="0B2B4E"/>
                          </a:solidFill>
                          <a:latin typeface="Cambria Math"/>
                        </a:rPr>
                        <m:t>MR</m:t>
                      </m:r>
                      <m:r>
                        <a:rPr lang="en-US" sz="2600" b="0" i="0">
                          <a:solidFill>
                            <a:srgbClr val="0B2B4E"/>
                          </a:solidFill>
                          <a:latin typeface="Cambria Math"/>
                        </a:rPr>
                        <m:t> = 400 − 0.5</m:t>
                      </m:r>
                      <m:r>
                        <a:rPr lang="en-US" sz="2600" b="0" i="1">
                          <a:solidFill>
                            <a:srgbClr val="0B2B4E"/>
                          </a:solidFill>
                          <a:latin typeface="Cambria Math"/>
                          <a:ea typeface="Cambria Math"/>
                        </a:rPr>
                        <m:t>𝑄</m:t>
                      </m:r>
                    </m:oMath>
                  </m:oMathPara>
                </a14:m>
                <a:endParaRPr lang="en-US" sz="2600"/>
              </a:p>
            </p:txBody>
          </p:sp>
        </mc:Choice>
        <mc:Fallback xmlns="">
          <p:sp>
            <p:nvSpPr>
              <p:cNvPr id="13" name="stepeq2"/>
              <p:cNvSpPr txBox="1">
                <a:spLocks noRot="1" noChangeAspect="1" noMove="1" noResize="1" noEditPoints="1" noAdjustHandles="1" noChangeArrowheads="1" noChangeShapeType="1" noTextEdit="1"/>
              </p:cNvSpPr>
              <p:nvPr/>
            </p:nvSpPr>
            <p:spPr>
              <a:xfrm>
                <a:off x="1554480" y="3108960"/>
                <a:ext cx="9875520" cy="640080"/>
              </a:xfrm>
              <a:prstGeom prst="rect">
                <a:avLst/>
              </a:prstGeom>
              <a:blipFill>
                <a:blip r:embed="rId4"/>
                <a:stretch>
                  <a:fillRect/>
                </a:stretch>
              </a:blipFill>
            </p:spPr>
            <p:txBody>
              <a:bodyPr/>
              <a:lstStyle/>
              <a:p>
                <a:r>
                  <a:rPr lang="en-US">
                    <a:noFill/>
                  </a:rPr>
                  <a:t> </a:t>
                </a:r>
              </a:p>
            </p:txBody>
          </p:sp>
        </mc:Fallback>
      </mc:AlternateContent>
      <p:grpSp>
        <p:nvGrpSpPr>
          <p:cNvPr id="14" name="step2"/>
          <p:cNvGrpSpPr/>
          <p:nvPr/>
        </p:nvGrpSpPr>
        <p:grpSpPr>
          <a:xfrm>
            <a:off x="777240" y="2697480"/>
            <a:ext cx="10378440" cy="548640"/>
            <a:chOff x="777240" y="2697480"/>
            <a:chExt cx="10378440" cy="548640"/>
          </a:xfrm>
        </p:grpSpPr>
        <p:sp>
          <p:nvSpPr>
            <p:cNvPr id="11" name="Oval 10"/>
            <p:cNvSpPr/>
            <p:nvPr/>
          </p:nvSpPr>
          <p:spPr>
            <a:xfrm>
              <a:off x="777240" y="2715768"/>
              <a:ext cx="530352" cy="530352"/>
            </a:xfrm>
            <a:prstGeom prst="ellipse">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FFFFFF"/>
                  </a:solidFill>
                  <a:latin typeface="Calibri"/>
                </a:rPr>
                <a:t>2</a:t>
              </a:r>
            </a:p>
          </p:txBody>
        </p:sp>
        <p:sp>
          <p:nvSpPr>
            <p:cNvPr id="12" name="TextBox 11"/>
            <p:cNvSpPr txBox="1"/>
            <p:nvPr/>
          </p:nvSpPr>
          <p:spPr>
            <a:xfrm>
              <a:off x="1554480" y="2697480"/>
              <a:ext cx="9601200" cy="411480"/>
            </a:xfrm>
            <a:prstGeom prst="rect">
              <a:avLst/>
            </a:prstGeom>
            <a:noFill/>
          </p:spPr>
          <p:txBody>
            <a:bodyPr wrap="square" lIns="0" tIns="0" rIns="0" bIns="0">
              <a:spAutoFit/>
            </a:bodyPr>
            <a:lstStyle/>
            <a:p>
              <a:pPr algn="l"/>
              <a:r>
                <a:rPr sz="2400" b="1" i="0" u="none">
                  <a:solidFill>
                    <a:srgbClr val="0B2B4E"/>
                  </a:solidFill>
                  <a:latin typeface="Calibri"/>
                </a:rPr>
                <a:t>Total and marginal revenue</a:t>
              </a:r>
            </a:p>
          </p:txBody>
        </p:sp>
      </p:grpSp>
      <mc:AlternateContent xmlns:mc="http://schemas.openxmlformats.org/markup-compatibility/2006" xmlns:a14="http://schemas.microsoft.com/office/drawing/2010/main">
        <mc:Choice Requires="a14">
          <p:sp>
            <p:nvSpPr>
              <p:cNvPr id="17" name="stepeq3"/>
              <p:cNvSpPr txBox="1"/>
              <p:nvPr/>
            </p:nvSpPr>
            <p:spPr>
              <a:xfrm>
                <a:off x="1554480" y="4325112"/>
                <a:ext cx="9875520" cy="640080"/>
              </a:xfrm>
              <a:prstGeom prst="rect">
                <a:avLst/>
              </a:prstGeom>
              <a:noFill/>
            </p:spPr>
            <p:txBody>
              <a:bodyPr wrap="square" anchor="ctr">
                <a:spAutoFit/>
              </a:bodyPr>
              <a:lstStyle/>
              <a:p>
                <a:pPr algn="l">
                  <a:defRPr sz="2600" b="0" i="1">
                    <a:solidFill>
                      <a:srgbClr val="0B2B4E"/>
                    </a:solidFill>
                    <a:latin typeface="Cambria Math"/>
                  </a:defRPr>
                </a:pPr>
                <a14:m>
                  <m:oMathPara xmlns:m="http://schemas.openxmlformats.org/officeDocument/2006/math">
                    <m:oMathParaPr>
                      <m:jc m:val="left"/>
                    </m:oMathParaPr>
                    <m:oMath>
                      <m:r>
                        <a:rPr lang="en-US" sz="2600" b="0" i="0">
                          <a:solidFill>
                            <a:srgbClr val="0B2B4E"/>
                          </a:solidFill>
                          <a:latin typeface="Cambria Math"/>
                        </a:rPr>
                        <m:t>400 − 0.5</m:t>
                      </m:r>
                      <m:r>
                        <a:rPr lang="en-US" sz="2600" b="0" i="1">
                          <a:solidFill>
                            <a:srgbClr val="0B2B4E"/>
                          </a:solidFill>
                          <a:latin typeface="Cambria Math"/>
                          <a:ea typeface="Cambria Math"/>
                        </a:rPr>
                        <m:t>𝑄</m:t>
                      </m:r>
                      <m:r>
                        <a:rPr lang="en-US" sz="2600" b="0" i="0">
                          <a:solidFill>
                            <a:srgbClr val="0B2B4E"/>
                          </a:solidFill>
                          <a:latin typeface="Cambria Math"/>
                        </a:rPr>
                        <m:t> = 200     ⇒     </m:t>
                      </m:r>
                      <m:sSup>
                        <m:sSupPr>
                          <m:ctrlPr>
                            <a:rPr lang="en-US" sz="2600" b="0" i="1">
                              <a:solidFill>
                                <a:srgbClr val="0B2B4E"/>
                              </a:solidFill>
                              <a:latin typeface="Cambria Math"/>
                              <a:ea typeface="Cambria Math"/>
                            </a:rPr>
                          </m:ctrlPr>
                        </m:sSupPr>
                        <m:e>
                          <m:r>
                            <a:rPr lang="en-US" sz="2600" b="0" i="1">
                              <a:solidFill>
                                <a:srgbClr val="0B2B4E"/>
                              </a:solidFill>
                              <a:latin typeface="Cambria Math"/>
                              <a:ea typeface="Cambria Math"/>
                            </a:rPr>
                            <m:t>𝑄</m:t>
                          </m:r>
                        </m:e>
                        <m:sup>
                          <m:r>
                            <a:rPr lang="en-US" sz="2600" b="0" i="0">
                              <a:solidFill>
                                <a:srgbClr val="0B2B4E"/>
                              </a:solidFill>
                              <a:latin typeface="Cambria Math"/>
                            </a:rPr>
                            <m:t>∗</m:t>
                          </m:r>
                        </m:sup>
                      </m:sSup>
                      <m:r>
                        <a:rPr lang="en-US" sz="2600" b="0" i="0">
                          <a:solidFill>
                            <a:srgbClr val="0B2B4E"/>
                          </a:solidFill>
                          <a:latin typeface="Cambria Math"/>
                        </a:rPr>
                        <m:t> = 400</m:t>
                      </m:r>
                    </m:oMath>
                  </m:oMathPara>
                </a14:m>
                <a:endParaRPr lang="en-US" sz="2600"/>
              </a:p>
            </p:txBody>
          </p:sp>
        </mc:Choice>
        <mc:Fallback xmlns="">
          <p:sp>
            <p:nvSpPr>
              <p:cNvPr id="17" name="stepeq3"/>
              <p:cNvSpPr txBox="1">
                <a:spLocks noRot="1" noChangeAspect="1" noMove="1" noResize="1" noEditPoints="1" noAdjustHandles="1" noChangeArrowheads="1" noChangeShapeType="1" noTextEdit="1"/>
              </p:cNvSpPr>
              <p:nvPr/>
            </p:nvSpPr>
            <p:spPr>
              <a:xfrm>
                <a:off x="1554480" y="4325112"/>
                <a:ext cx="9875520" cy="640080"/>
              </a:xfrm>
              <a:prstGeom prst="rect">
                <a:avLst/>
              </a:prstGeom>
              <a:blipFill>
                <a:blip r:embed="rId5"/>
                <a:stretch>
                  <a:fillRect/>
                </a:stretch>
              </a:blipFill>
            </p:spPr>
            <p:txBody>
              <a:bodyPr/>
              <a:lstStyle/>
              <a:p>
                <a:r>
                  <a:rPr lang="en-US">
                    <a:noFill/>
                  </a:rPr>
                  <a:t> </a:t>
                </a:r>
              </a:p>
            </p:txBody>
          </p:sp>
        </mc:Fallback>
      </mc:AlternateContent>
      <p:grpSp>
        <p:nvGrpSpPr>
          <p:cNvPr id="18" name="step3"/>
          <p:cNvGrpSpPr/>
          <p:nvPr/>
        </p:nvGrpSpPr>
        <p:grpSpPr>
          <a:xfrm>
            <a:off x="777240" y="3913632"/>
            <a:ext cx="10378440" cy="548640"/>
            <a:chOff x="777240" y="3913632"/>
            <a:chExt cx="10378440" cy="548640"/>
          </a:xfrm>
        </p:grpSpPr>
        <p:sp>
          <p:nvSpPr>
            <p:cNvPr id="15" name="Oval 14"/>
            <p:cNvSpPr/>
            <p:nvPr/>
          </p:nvSpPr>
          <p:spPr>
            <a:xfrm>
              <a:off x="777240" y="3931920"/>
              <a:ext cx="530352" cy="530352"/>
            </a:xfrm>
            <a:prstGeom prst="ellipse">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FFFFFF"/>
                  </a:solidFill>
                  <a:latin typeface="Calibri"/>
                </a:rPr>
                <a:t>3</a:t>
              </a:r>
            </a:p>
          </p:txBody>
        </p:sp>
        <p:sp>
          <p:nvSpPr>
            <p:cNvPr id="16" name="TextBox 15"/>
            <p:cNvSpPr txBox="1"/>
            <p:nvPr/>
          </p:nvSpPr>
          <p:spPr>
            <a:xfrm>
              <a:off x="1554480" y="3913632"/>
              <a:ext cx="9601200" cy="411480"/>
            </a:xfrm>
            <a:prstGeom prst="rect">
              <a:avLst/>
            </a:prstGeom>
            <a:noFill/>
          </p:spPr>
          <p:txBody>
            <a:bodyPr wrap="square" lIns="0" tIns="0" rIns="0" bIns="0">
              <a:spAutoFit/>
            </a:bodyPr>
            <a:lstStyle/>
            <a:p>
              <a:pPr algn="l"/>
              <a:r>
                <a:rPr sz="2400" b="1" i="0" u="none">
                  <a:solidFill>
                    <a:srgbClr val="0B2B4E"/>
                  </a:solidFill>
                  <a:latin typeface="Calibri"/>
                </a:rPr>
                <a:t>Set MR = MC  (MC = 200)</a:t>
              </a:r>
            </a:p>
          </p:txBody>
        </p:sp>
      </p:grpSp>
      <mc:AlternateContent xmlns:mc="http://schemas.openxmlformats.org/markup-compatibility/2006" xmlns:a14="http://schemas.microsoft.com/office/drawing/2010/main">
        <mc:Choice Requires="a14">
          <p:sp>
            <p:nvSpPr>
              <p:cNvPr id="21" name="stepeq4"/>
              <p:cNvSpPr txBox="1"/>
              <p:nvPr/>
            </p:nvSpPr>
            <p:spPr>
              <a:xfrm>
                <a:off x="1554480" y="5541264"/>
                <a:ext cx="9875520" cy="640080"/>
              </a:xfrm>
              <a:prstGeom prst="rect">
                <a:avLst/>
              </a:prstGeom>
              <a:noFill/>
            </p:spPr>
            <p:txBody>
              <a:bodyPr wrap="square" anchor="ctr">
                <a:spAutoFit/>
              </a:bodyPr>
              <a:lstStyle/>
              <a:p>
                <a:pPr algn="l">
                  <a:defRPr sz="2600" b="0" i="1">
                    <a:solidFill>
                      <a:srgbClr val="C00000"/>
                    </a:solidFill>
                    <a:latin typeface="Cambria Math"/>
                  </a:defRPr>
                </a:pPr>
                <a14:m>
                  <m:oMathPara xmlns:m="http://schemas.openxmlformats.org/officeDocument/2006/math">
                    <m:oMathParaPr>
                      <m:jc m:val="left"/>
                    </m:oMathParaPr>
                    <m:oMath>
                      <m:sSup>
                        <m:sSupPr>
                          <m:ctrlPr>
                            <a:rPr lang="en-US" sz="2600" b="0" i="1">
                              <a:solidFill>
                                <a:srgbClr val="C00000"/>
                              </a:solidFill>
                              <a:latin typeface="Cambria Math"/>
                              <a:ea typeface="Cambria Math"/>
                            </a:rPr>
                          </m:ctrlPr>
                        </m:sSupPr>
                        <m:e>
                          <m:r>
                            <a:rPr lang="en-US" sz="2600" b="0" i="1">
                              <a:solidFill>
                                <a:srgbClr val="C00000"/>
                              </a:solidFill>
                              <a:latin typeface="Cambria Math"/>
                              <a:ea typeface="Cambria Math"/>
                            </a:rPr>
                            <m:t>𝑃</m:t>
                          </m:r>
                        </m:e>
                        <m:sup>
                          <m:r>
                            <a:rPr lang="en-US" sz="2600" b="0" i="0">
                              <a:solidFill>
                                <a:srgbClr val="C00000"/>
                              </a:solidFill>
                              <a:latin typeface="Cambria Math"/>
                            </a:rPr>
                            <m:t>∗</m:t>
                          </m:r>
                        </m:sup>
                      </m:sSup>
                      <m:r>
                        <a:rPr lang="en-US" sz="2600" b="0" i="0">
                          <a:solidFill>
                            <a:srgbClr val="C00000"/>
                          </a:solidFill>
                          <a:latin typeface="Cambria Math"/>
                        </a:rPr>
                        <m:t> = 400 − 0.25 · 400 = $300</m:t>
                      </m:r>
                    </m:oMath>
                  </m:oMathPara>
                </a14:m>
                <a:endParaRPr lang="en-US" sz="2600"/>
              </a:p>
            </p:txBody>
          </p:sp>
        </mc:Choice>
        <mc:Fallback xmlns="">
          <p:sp>
            <p:nvSpPr>
              <p:cNvPr id="21" name="stepeq4"/>
              <p:cNvSpPr txBox="1">
                <a:spLocks noRot="1" noChangeAspect="1" noMove="1" noResize="1" noEditPoints="1" noAdjustHandles="1" noChangeArrowheads="1" noChangeShapeType="1" noTextEdit="1"/>
              </p:cNvSpPr>
              <p:nvPr/>
            </p:nvSpPr>
            <p:spPr>
              <a:xfrm>
                <a:off x="1554480" y="5541264"/>
                <a:ext cx="9875520" cy="640080"/>
              </a:xfrm>
              <a:prstGeom prst="rect">
                <a:avLst/>
              </a:prstGeom>
              <a:blipFill>
                <a:blip r:embed="rId6"/>
                <a:stretch>
                  <a:fillRect/>
                </a:stretch>
              </a:blipFill>
            </p:spPr>
            <p:txBody>
              <a:bodyPr/>
              <a:lstStyle/>
              <a:p>
                <a:r>
                  <a:rPr lang="en-US">
                    <a:noFill/>
                  </a:rPr>
                  <a:t> </a:t>
                </a:r>
              </a:p>
            </p:txBody>
          </p:sp>
        </mc:Fallback>
      </mc:AlternateContent>
      <p:grpSp>
        <p:nvGrpSpPr>
          <p:cNvPr id="22" name="step4"/>
          <p:cNvGrpSpPr/>
          <p:nvPr/>
        </p:nvGrpSpPr>
        <p:grpSpPr>
          <a:xfrm>
            <a:off x="777240" y="5129784"/>
            <a:ext cx="10378440" cy="548640"/>
            <a:chOff x="777240" y="5129784"/>
            <a:chExt cx="10378440" cy="548640"/>
          </a:xfrm>
        </p:grpSpPr>
        <p:sp>
          <p:nvSpPr>
            <p:cNvPr id="19" name="Oval 18"/>
            <p:cNvSpPr/>
            <p:nvPr/>
          </p:nvSpPr>
          <p:spPr>
            <a:xfrm>
              <a:off x="777240" y="5148072"/>
              <a:ext cx="530352" cy="530352"/>
            </a:xfrm>
            <a:prstGeom prst="ellipse">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FFFFFF"/>
                  </a:solidFill>
                  <a:latin typeface="Calibri"/>
                </a:rPr>
                <a:t>4</a:t>
              </a:r>
            </a:p>
          </p:txBody>
        </p:sp>
        <p:sp>
          <p:nvSpPr>
            <p:cNvPr id="20" name="TextBox 19"/>
            <p:cNvSpPr txBox="1"/>
            <p:nvPr/>
          </p:nvSpPr>
          <p:spPr>
            <a:xfrm>
              <a:off x="1554480" y="5129784"/>
              <a:ext cx="9601200" cy="411480"/>
            </a:xfrm>
            <a:prstGeom prst="rect">
              <a:avLst/>
            </a:prstGeom>
            <a:noFill/>
          </p:spPr>
          <p:txBody>
            <a:bodyPr wrap="square" lIns="0" tIns="0" rIns="0" bIns="0">
              <a:spAutoFit/>
            </a:bodyPr>
            <a:lstStyle/>
            <a:p>
              <a:pPr algn="l"/>
              <a:r>
                <a:rPr sz="2400" b="1" i="0" u="none">
                  <a:solidFill>
                    <a:srgbClr val="0B2B4E"/>
                  </a:solidFill>
                  <a:latin typeface="Calibri"/>
                </a:rPr>
                <a:t>Optimal price: go up to the demand curve</a:t>
              </a:r>
            </a:p>
          </p:txBody>
        </p:sp>
      </p:grpSp>
      <p:sp>
        <p:nvSpPr>
          <p:cNvPr id="23" name="Rectangle 2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5  ·  Monopoly and Monopolistic Competition</a:t>
            </a:r>
          </a:p>
        </p:txBody>
      </p:sp>
      <p:sp>
        <p:nvSpPr>
          <p:cNvPr id="26" name="TextBox 25"/>
          <p:cNvSpPr txBox="1"/>
          <p:nvPr/>
        </p:nvSpPr>
        <p:spPr>
          <a:xfrm>
            <a:off x="11475720" y="6583680"/>
            <a:ext cx="502920" cy="292608"/>
          </a:xfrm>
          <a:prstGeom prst="rect">
            <a:avLst/>
          </a:prstGeom>
          <a:noFill/>
        </p:spPr>
        <p:txBody>
          <a:bodyPr wrap="none" lIns="0" tIns="0" rIns="0" bIns="0">
            <a:spAutoFit/>
          </a:bodyPr>
          <a:lstStyle/>
          <a:p>
            <a:pPr algn="r"/>
            <a:fld id="{1D9370A3-FA17-5659-A86A-2BA5B8731561}" type="slidenum">
              <a:rPr lang="en-US" sz="1200" dirty="0">
                <a:solidFill>
                  <a:srgbClr val="555B66"/>
                </a:solidFill>
                <a:latin typeface="Calibri"/>
              </a:rPr>
              <a:t>9</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par>
                                <p:cTn id="16" presetID="10" presetClass="entr" presetSubtype="0" fill="hold"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500"/>
                                        <p:tgtEl>
                                          <p:spTgt spid="1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500"/>
                                        <p:tgtEl>
                                          <p:spTgt spid="22"/>
                                        </p:tgtEl>
                                      </p:cBhvr>
                                    </p:animEffect>
                                  </p:childTnLst>
                                </p:cTn>
                              </p:par>
                              <p:par>
                                <p:cTn id="24" presetID="10" presetClass="entr" presetSubtype="0" fill="hold" nodeType="with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5 · Profit Maximization for Price Searchers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Profit Maximization of a Restaurant</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NV_s09_rId3.png"/>
          <p:cNvPicPr>
            <a:picLocks noChangeAspect="1"/>
          </p:cNvPicPr>
          <p:nvPr/>
        </p:nvPicPr>
        <p:blipFill>
          <a:blip r:embed="rId3"/>
          <a:stretch>
            <a:fillRect/>
          </a:stretch>
        </p:blipFill>
        <p:spPr>
          <a:xfrm>
            <a:off x="2267712" y="1417320"/>
            <a:ext cx="7692165" cy="4617720"/>
          </a:xfrm>
          <a:prstGeom prst="roundRect">
            <a:avLst>
              <a:gd name="adj" fmla="val 8000"/>
            </a:avLst>
          </a:prstGeom>
          <a:effectLst>
            <a:outerShdw blurRad="50800" dist="38100" dir="2700000" algn="tl" rotWithShape="0">
              <a:srgbClr val="000000">
                <a:alpha val="50000"/>
              </a:srgbClr>
            </a:outerShdw>
          </a:effectLst>
        </p:spPr>
      </p:pic>
      <p:sp>
        <p:nvSpPr>
          <p:cNvPr id="10" name="Rectangle 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5  ·  Monopoly and Monopolistic Competition</a:t>
            </a:r>
          </a:p>
        </p:txBody>
      </p:sp>
      <p:sp>
        <p:nvSpPr>
          <p:cNvPr id="13" name="TextBox 12"/>
          <p:cNvSpPr txBox="1"/>
          <p:nvPr/>
        </p:nvSpPr>
        <p:spPr>
          <a:xfrm>
            <a:off x="11475720" y="6583680"/>
            <a:ext cx="502920" cy="292608"/>
          </a:xfrm>
          <a:prstGeom prst="rect">
            <a:avLst/>
          </a:prstGeom>
          <a:noFill/>
        </p:spPr>
        <p:txBody>
          <a:bodyPr wrap="none" lIns="0" tIns="0" rIns="0" bIns="0">
            <a:spAutoFit/>
          </a:bodyPr>
          <a:lstStyle/>
          <a:p>
            <a:pPr algn="r"/>
            <a:fld id="{26EFB99A-B290-50B4-9E80-1277B2FA641F}" type="slidenum">
              <a:rPr lang="en-US" sz="1200" dirty="0">
                <a:solidFill>
                  <a:srgbClr val="555B66"/>
                </a:solidFill>
                <a:latin typeface="Calibri"/>
              </a:rPr>
              <a:t>10</a:t>
            </a:fld>
            <a:endParaRPr lang="en-US" sz="1200" dirty="0">
              <a:solidFill>
                <a:srgbClr val="555B66"/>
              </a:solidFill>
              <a:latin typeface="Calibri"/>
            </a:endParaRPr>
          </a:p>
        </p:txBody>
      </p:sp>
      <p:grpSp>
        <p:nvGrpSpPr>
          <p:cNvPr id="113" name="sdpair:btn:113"/>
          <p:cNvGrpSpPr/>
          <p:nvPr/>
        </p:nvGrpSpPr>
        <p:grpSpPr>
          <a:xfrm>
            <a:off x="6327648" y="6245352"/>
            <a:ext cx="5349240" cy="530352"/>
            <a:chOff x="6327648" y="6245352"/>
            <a:chExt cx="5349240" cy="530352"/>
          </a:xfrm>
        </p:grpSpPr>
        <p:sp>
          <p:nvSpPr>
            <p:cNvPr id="8" name="Rounded Rectangle 7">
              <a:hlinkClick r:id="rId4"/>
            </p:cNvPr>
            <p:cNvSpPr/>
            <p:nvPr/>
          </p:nvSpPr>
          <p:spPr>
            <a:xfrm>
              <a:off x="6327648" y="6245352"/>
              <a:ext cx="5349240" cy="530352"/>
            </a:xfrm>
            <a:prstGeom prst="roundRect">
              <a:avLst>
                <a:gd name="adj" fmla="val 28000"/>
              </a:avLst>
            </a:prstGeom>
            <a:solidFill>
              <a:srgbClr val="F1F2F4"/>
            </a:solidFill>
            <a:ln w="22225">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none" lIns="658368" tIns="0" rIns="64008" bIns="0" rtlCol="0" anchor="ctr"/>
            <a:lstStyle/>
            <a:p>
              <a:pPr algn="l"/>
              <a:r>
                <a:rPr sz="1600" b="1">
                  <a:solidFill>
                    <a:srgbClr val="0B2B4E"/>
                  </a:solidFill>
                  <a:latin typeface="Calibri"/>
                </a:rPr>
                <a:t>Practice Video: Optimization of a Price Searcher</a:t>
              </a:r>
            </a:p>
          </p:txBody>
        </p:sp>
        <p:sp>
          <p:nvSpPr>
            <p:cNvPr id="9" name="Action Button: Movie 8">
              <a:hlinkClick r:id="rId4"/>
            </p:cNvPr>
            <p:cNvSpPr/>
            <p:nvPr/>
          </p:nvSpPr>
          <p:spPr>
            <a:xfrm>
              <a:off x="6464808" y="6382512"/>
              <a:ext cx="420624" cy="256032"/>
            </a:xfrm>
            <a:prstGeom prst="actionButtonMovie">
              <a:avLst/>
            </a:prstGeom>
            <a:solidFill>
              <a:srgbClr val="0B2B4E"/>
            </a:solidFill>
            <a:ln w="15875">
              <a:solidFill>
                <a:srgbClr val="FFFFFF"/>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5 · Profit Maximization for Price Searchers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This Is from the Practice Video: Profit Maximization for a Restaurant</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7" name="TextBox 6"/>
              <p:cNvSpPr txBox="1"/>
              <p:nvPr/>
            </p:nvSpPr>
            <p:spPr>
              <a:xfrm>
                <a:off x="480599" y="1371600"/>
                <a:ext cx="8138160" cy="1965960"/>
              </a:xfrm>
              <a:prstGeom prst="rect">
                <a:avLst/>
              </a:prstGeom>
              <a:noFill/>
            </p:spPr>
            <p:txBody>
              <a:bodyPr wrap="square" lIns="0" tIns="0" rIns="0" bIns="0" anchor="ctr">
                <a:noAutofit/>
              </a:bodyPr>
              <a:lstStyle>
                <a:lvl1pPr marL="342900" indent="-342900">
                  <a:spcBef>
                    <a:spcPts val="1000"/>
                  </a:spcBef>
                  <a:buClr>
                    <a:srgbClr val="0B2B4E"/>
                  </a:buClr>
                  <a:buFont typeface="Calibri"/>
                  <a:buChar char="▪"/>
                  <a:defRPr sz="2400" b="0">
                    <a:solidFill>
                      <a:srgbClr val="0B2B4E"/>
                    </a:solidFill>
                    <a:latin typeface="Calibri"/>
                  </a:defRPr>
                </a:lvl1pPr>
                <a:lvl2pPr marL="685800" indent="-228600">
                  <a:spcBef>
                    <a:spcPts val="300"/>
                  </a:spcBef>
                  <a:buClr>
                    <a:srgbClr val="0B2B4E"/>
                  </a:buClr>
                  <a:buFont typeface="Calibri"/>
                  <a:buChar char="–"/>
                  <a:defRPr sz="2400" b="0">
                    <a:solidFill>
                      <a:srgbClr val="0B2B4E"/>
                    </a:solidFill>
                    <a:latin typeface="Calibri"/>
                  </a:defRPr>
                </a:lvl2pPr>
              </a:lstStyle>
              <a:p>
                <a:pPr algn="l"/>
                <a:r>
                  <a:rPr>
                    <a:latin typeface="Calibri"/>
                  </a:rPr>
                  <a:t>The restaurant demand (on a daily basis) is:</a:t>
                </a:r>
              </a:p>
              <a:p>
                <a:pPr marL="1371600" lvl="1" algn="l">
                  <a:spcBef>
                    <a:spcPts val="300"/>
                  </a:spcBef>
                  <a:buNone/>
                </a:pPr>
                <a14:m>
                  <m:oMathPara xmlns:m="http://schemas.openxmlformats.org/officeDocument/2006/math">
                    <m:oMath>
                      <m:r>
                        <a:rPr lang="en-US" sz="2400" b="0" i="1">
                          <a:solidFill>
                            <a:srgbClr val="0B2B4E"/>
                          </a:solidFill>
                          <a:latin typeface="Cambria Math"/>
                          <a:ea typeface="Cambria Math"/>
                        </a:rPr>
                        <m:t>𝑃</m:t>
                      </m:r>
                      <m:r>
                        <a:rPr lang="en-US" sz="2400" b="0" i="0">
                          <a:solidFill>
                            <a:srgbClr val="0B2B4E"/>
                          </a:solidFill>
                          <a:latin typeface="Cambria Math"/>
                        </a:rPr>
                        <m:t> = 60 − 0.1</m:t>
                      </m:r>
                      <m:r>
                        <a:rPr lang="en-US" sz="2400" b="0" i="1">
                          <a:solidFill>
                            <a:srgbClr val="0B2B4E"/>
                          </a:solidFill>
                          <a:latin typeface="Cambria Math"/>
                          <a:ea typeface="Cambria Math"/>
                        </a:rPr>
                        <m:t>𝑄</m:t>
                      </m:r>
                    </m:oMath>
                  </m:oMathPara>
                </a14:m>
                <a:endParaRPr>
                  <a:latin typeface="Calibri"/>
                </a:endParaRPr>
              </a:p>
              <a:p>
                <a:pPr algn="l"/>
                <a:r>
                  <a:rPr>
                    <a:latin typeface="Calibri"/>
                  </a:rPr>
                  <a:t>The total cost is (also daily; fixed cost = rent of $2,000):</a:t>
                </a:r>
              </a:p>
              <a:p>
                <a:pPr marL="1371600" lvl="1" algn="l">
                  <a:spcBef>
                    <a:spcPts val="300"/>
                  </a:spcBef>
                  <a:buNone/>
                </a:pPr>
                <a14:m>
                  <m:oMathPara xmlns:m="http://schemas.openxmlformats.org/officeDocument/2006/math">
                    <m:oMath>
                      <m:r>
                        <m:rPr>
                          <m:sty m:val="p"/>
                        </m:rPr>
                        <a:rPr lang="en-US" sz="2400" b="0" i="0">
                          <a:solidFill>
                            <a:srgbClr val="0B2B4E"/>
                          </a:solidFill>
                          <a:latin typeface="Cambria Math"/>
                        </a:rPr>
                        <m:t>TC</m:t>
                      </m:r>
                      <m:r>
                        <a:rPr lang="en-US" sz="2400" b="0" i="0">
                          <a:solidFill>
                            <a:srgbClr val="0B2B4E"/>
                          </a:solidFill>
                          <a:latin typeface="Cambria Math"/>
                        </a:rPr>
                        <m:t> = 2,000 + 10</m:t>
                      </m:r>
                      <m:r>
                        <a:rPr lang="en-US" sz="2400" b="0" i="1">
                          <a:solidFill>
                            <a:srgbClr val="0B2B4E"/>
                          </a:solidFill>
                          <a:latin typeface="Cambria Math"/>
                          <a:ea typeface="Cambria Math"/>
                        </a:rPr>
                        <m:t>𝑄</m:t>
                      </m:r>
                      <m:r>
                        <a:rPr lang="en-US" sz="2400" b="0" i="0">
                          <a:solidFill>
                            <a:srgbClr val="0B2B4E"/>
                          </a:solidFill>
                          <a:latin typeface="Cambria Math"/>
                        </a:rPr>
                        <m:t> + 0.15</m:t>
                      </m:r>
                      <m:sSup>
                        <m:sSupPr>
                          <m:ctrlPr>
                            <a:rPr lang="en-US" sz="2400" b="0" i="1">
                              <a:solidFill>
                                <a:srgbClr val="0B2B4E"/>
                              </a:solidFill>
                              <a:latin typeface="Cambria Math"/>
                              <a:ea typeface="Cambria Math"/>
                            </a:rPr>
                          </m:ctrlPr>
                        </m:sSupPr>
                        <m:e>
                          <m:r>
                            <a:rPr lang="en-US" sz="2400" b="0" i="1">
                              <a:solidFill>
                                <a:srgbClr val="0B2B4E"/>
                              </a:solidFill>
                              <a:latin typeface="Cambria Math"/>
                              <a:ea typeface="Cambria Math"/>
                            </a:rPr>
                            <m:t>𝑄</m:t>
                          </m:r>
                        </m:e>
                        <m:sup>
                          <m:r>
                            <a:rPr lang="en-US" sz="2400" b="0" i="0">
                              <a:solidFill>
                                <a:srgbClr val="0B2B4E"/>
                              </a:solidFill>
                              <a:latin typeface="Cambria Math"/>
                            </a:rPr>
                            <m:t>2</m:t>
                          </m:r>
                        </m:sup>
                      </m:sSup>
                    </m:oMath>
                  </m:oMathPara>
                </a14:m>
                <a:endParaRPr>
                  <a:latin typeface="Calibri"/>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480599" y="1371600"/>
                <a:ext cx="8138160" cy="1965960"/>
              </a:xfrm>
              <a:prstGeom prst="rect">
                <a:avLst/>
              </a:prstGeom>
              <a:blipFill>
                <a:blip r:embed="rId3"/>
                <a:stretch>
                  <a:fillRect l="-2322"/>
                </a:stretch>
              </a:blipFill>
            </p:spPr>
            <p:txBody>
              <a:bodyPr/>
              <a:lstStyle/>
              <a:p>
                <a:r>
                  <a:rPr lang="en-US">
                    <a:noFill/>
                  </a:rPr>
                  <a:t> </a:t>
                </a:r>
              </a:p>
            </p:txBody>
          </p:sp>
        </mc:Fallback>
      </mc:AlternateContent>
      <p:pic>
        <p:nvPicPr>
          <p:cNvPr id="8" name="Picture 7" descr="NV_s10_rId4.png"/>
          <p:cNvPicPr>
            <a:picLocks noChangeAspect="1"/>
          </p:cNvPicPr>
          <p:nvPr/>
        </p:nvPicPr>
        <p:blipFill>
          <a:blip r:embed="rId4"/>
          <a:stretch>
            <a:fillRect/>
          </a:stretch>
        </p:blipFill>
        <p:spPr>
          <a:xfrm>
            <a:off x="9464040" y="1298448"/>
            <a:ext cx="2331720" cy="507225"/>
          </a:xfrm>
          <a:prstGeom prst="rect">
            <a:avLst/>
          </a:prstGeom>
        </p:spPr>
      </p:pic>
      <p:cxnSp>
        <p:nvCxnSpPr>
          <p:cNvPr id="9" name="sdaxis:y"/>
          <p:cNvCxnSpPr/>
          <p:nvPr/>
        </p:nvCxnSpPr>
        <p:spPr>
          <a:xfrm flipV="1">
            <a:off x="8732520" y="2852928"/>
            <a:ext cx="0" cy="2313432"/>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10" name="sdaxis:x"/>
          <p:cNvCxnSpPr/>
          <p:nvPr/>
        </p:nvCxnSpPr>
        <p:spPr>
          <a:xfrm>
            <a:off x="8732520" y="5166360"/>
            <a:ext cx="290779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1" name="sdaxistitle:y"/>
          <p:cNvSpPr txBox="1"/>
          <p:nvPr/>
        </p:nvSpPr>
        <p:spPr>
          <a:xfrm>
            <a:off x="8376666" y="2720340"/>
            <a:ext cx="282702" cy="265176"/>
          </a:xfrm>
          <a:prstGeom prst="rect">
            <a:avLst/>
          </a:prstGeom>
          <a:noFill/>
        </p:spPr>
        <p:txBody>
          <a:bodyPr wrap="square" lIns="0" tIns="0" rIns="0" bIns="0">
            <a:spAutoFit/>
          </a:bodyPr>
          <a:lstStyle/>
          <a:p>
            <a:pPr algn="l"/>
            <a:r>
              <a:rPr sz="1600" b="1" i="1" u="none">
                <a:solidFill>
                  <a:srgbClr val="0B2B4E"/>
                </a:solidFill>
                <a:latin typeface="Calibri"/>
              </a:rPr>
              <a:t>TC</a:t>
            </a:r>
          </a:p>
        </p:txBody>
      </p:sp>
      <p:sp>
        <p:nvSpPr>
          <p:cNvPr id="12" name="sdaxistitle:x"/>
          <p:cNvSpPr txBox="1"/>
          <p:nvPr/>
        </p:nvSpPr>
        <p:spPr>
          <a:xfrm>
            <a:off x="11537061" y="5212080"/>
            <a:ext cx="206502" cy="265176"/>
          </a:xfrm>
          <a:prstGeom prst="rect">
            <a:avLst/>
          </a:prstGeom>
          <a:noFill/>
        </p:spPr>
        <p:txBody>
          <a:bodyPr wrap="square" lIns="0" tIns="0" rIns="0" bIns="0">
            <a:spAutoFit/>
          </a:bodyPr>
          <a:lstStyle/>
          <a:p>
            <a:pPr algn="l"/>
            <a:r>
              <a:rPr sz="1600" b="1" i="1" u="none">
                <a:solidFill>
                  <a:srgbClr val="0B2B4E"/>
                </a:solidFill>
                <a:latin typeface="Calibri"/>
              </a:rPr>
              <a:t>Q</a:t>
            </a:r>
          </a:p>
        </p:txBody>
      </p:sp>
      <p:sp>
        <p:nvSpPr>
          <p:cNvPr id="13" name="sdcurve:TC"/>
          <p:cNvSpPr/>
          <p:nvPr/>
        </p:nvSpPr>
        <p:spPr>
          <a:xfrm>
            <a:off x="8732520" y="3447288"/>
            <a:ext cx="2493818" cy="1375257"/>
          </a:xfrm>
          <a:custGeom>
            <a:avLst/>
            <a:gdLst/>
            <a:ahLst/>
            <a:cxnLst/>
            <a:rect l="0" t="0" r="r" b="b"/>
            <a:pathLst>
              <a:path w="2493818" h="1375257" fill="none">
                <a:moveTo>
                  <a:pt x="0" y="1375257"/>
                </a:moveTo>
                <a:cubicBezTo>
                  <a:pt x="103909" y="1350187"/>
                  <a:pt x="415635" y="1296466"/>
                  <a:pt x="623454" y="1224838"/>
                </a:cubicBezTo>
                <a:cubicBezTo>
                  <a:pt x="831272" y="1153210"/>
                  <a:pt x="1039090" y="1060093"/>
                  <a:pt x="1246909" y="945489"/>
                </a:cubicBezTo>
                <a:cubicBezTo>
                  <a:pt x="1454727" y="830884"/>
                  <a:pt x="1662544" y="694791"/>
                  <a:pt x="1870363" y="537210"/>
                </a:cubicBezTo>
                <a:cubicBezTo>
                  <a:pt x="2078181" y="379628"/>
                  <a:pt x="2389908" y="89535"/>
                  <a:pt x="2493818" y="0"/>
                </a:cubicBezTo>
              </a:path>
            </a:pathLst>
          </a:custGeom>
          <a:noFill/>
          <a:ln w="31750">
            <a:solidFill>
              <a:srgbClr val="0B2B4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6" name="SetupQ"/>
          <p:cNvGrpSpPr/>
          <p:nvPr/>
        </p:nvGrpSpPr>
        <p:grpSpPr>
          <a:xfrm>
            <a:off x="411480" y="3456432"/>
            <a:ext cx="7498079" cy="566928"/>
            <a:chOff x="411480" y="3456432"/>
            <a:chExt cx="7498079" cy="566928"/>
          </a:xfrm>
        </p:grpSpPr>
        <p:sp>
          <p:nvSpPr>
            <p:cNvPr id="14" name="Rounded Rectangle 13"/>
            <p:cNvSpPr/>
            <p:nvPr/>
          </p:nvSpPr>
          <p:spPr>
            <a:xfrm>
              <a:off x="411480" y="3456432"/>
              <a:ext cx="7498079" cy="566928"/>
            </a:xfrm>
            <a:prstGeom prst="roundRect">
              <a:avLst>
                <a:gd name="adj" fmla="val 10000"/>
              </a:avLst>
            </a:prstGeom>
            <a:solidFill>
              <a:srgbClr val="FDF6E6"/>
            </a:solidFill>
            <a:ln w="15875">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502920" y="3493008"/>
              <a:ext cx="7315199" cy="493776"/>
            </a:xfrm>
            <a:prstGeom prst="rect">
              <a:avLst/>
            </a:prstGeom>
            <a:noFill/>
          </p:spPr>
          <p:txBody>
            <a:bodyPr wrap="square" lIns="0" tIns="0" rIns="0" bIns="0" anchor="ctr">
              <a:noAutofit/>
            </a:bodyPr>
            <a:lstStyle>
              <a:lvl1pPr marL="342900" indent="-342900">
                <a:spcBef>
                  <a:spcPts val="800"/>
                </a:spcBef>
                <a:buClr>
                  <a:srgbClr val="0B2B4E"/>
                </a:buClr>
                <a:buFont typeface="Calibri"/>
                <a:buChar char="▪"/>
                <a:defRPr sz="2400" b="0">
                  <a:solidFill>
                    <a:srgbClr val="0B2B4E"/>
                  </a:solidFill>
                  <a:latin typeface="Calibri"/>
                </a:defRPr>
              </a:lvl1pPr>
              <a:lvl2pPr marL="685800" indent="-228600">
                <a:spcBef>
                  <a:spcPts val="300"/>
                </a:spcBef>
                <a:buClr>
                  <a:srgbClr val="0B2B4E"/>
                </a:buClr>
                <a:buFont typeface="Calibri"/>
                <a:buChar char="–"/>
                <a:defRPr sz="2000" b="0">
                  <a:solidFill>
                    <a:srgbClr val="0B2B4E"/>
                  </a:solidFill>
                  <a:latin typeface="Calibri"/>
                </a:defRPr>
              </a:lvl2pPr>
            </a:lstStyle>
            <a:p>
              <a:pPr algn="l"/>
              <a:r>
                <a:rPr b="1" dirty="0">
                  <a:latin typeface="Calibri"/>
                </a:rPr>
                <a:t>What are </a:t>
              </a:r>
              <a:r>
                <a:rPr b="1" i="1" dirty="0">
                  <a:latin typeface="Calibri"/>
                </a:rPr>
                <a:t>P*</a:t>
              </a:r>
              <a:r>
                <a:rPr b="1" dirty="0">
                  <a:latin typeface="Calibri"/>
                </a:rPr>
                <a:t> and </a:t>
              </a:r>
              <a:r>
                <a:rPr b="1" i="1" dirty="0">
                  <a:latin typeface="Calibri"/>
                </a:rPr>
                <a:t>Q</a:t>
              </a:r>
              <a:r>
                <a:rPr b="1" i="1">
                  <a:latin typeface="Calibri"/>
                </a:rPr>
                <a:t>*</a:t>
              </a:r>
              <a:r>
                <a:rPr b="1">
                  <a:latin typeface="Calibri"/>
                </a:rPr>
                <a:t>?</a:t>
              </a:r>
              <a:r>
                <a:rPr lang="en-US" b="1">
                  <a:latin typeface="Calibri"/>
                </a:rPr>
                <a:t>  What are profits?</a:t>
              </a:r>
              <a:endParaRPr b="1" dirty="0">
                <a:latin typeface="Calibri"/>
              </a:endParaRPr>
            </a:p>
          </p:txBody>
        </p:sp>
      </p:grpSp>
      <p:grpSp>
        <p:nvGrpSpPr>
          <p:cNvPr id="124" name="Group pair 124"/>
          <p:cNvGrpSpPr/>
          <p:nvPr/>
        </p:nvGrpSpPr>
        <p:grpSpPr>
          <a:xfrm>
            <a:off x="411480" y="4434840"/>
            <a:ext cx="7498079" cy="1325880"/>
            <a:chOff x="411480" y="4434840"/>
            <a:chExt cx="7498079" cy="1325880"/>
          </a:xfrm>
        </p:grpSpPr>
        <p:sp>
          <p:nvSpPr>
            <p:cNvPr id="17" name="PVNote"/>
            <p:cNvSpPr/>
            <p:nvPr/>
          </p:nvSpPr>
          <p:spPr>
            <a:xfrm>
              <a:off x="411480" y="4434840"/>
              <a:ext cx="7498079" cy="1325880"/>
            </a:xfrm>
            <a:prstGeom prst="roundRect">
              <a:avLst>
                <a:gd name="adj" fmla="val 12000"/>
              </a:avLst>
            </a:prstGeom>
            <a:solidFill>
              <a:srgbClr val="0B2B4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94360" y="4544568"/>
              <a:ext cx="7132319" cy="1106424"/>
            </a:xfrm>
            <a:prstGeom prst="rect">
              <a:avLst/>
            </a:prstGeom>
            <a:noFill/>
          </p:spPr>
          <p:txBody>
            <a:bodyPr wrap="square" lIns="45720" tIns="0" rIns="45720" bIns="0" anchor="ctr">
              <a:spAutoFit/>
            </a:bodyPr>
            <a:lstStyle/>
            <a:p>
              <a:pPr algn="l"/>
              <a:r>
                <a:rPr sz="2400" b="0" i="0" u="none">
                  <a:solidFill>
                    <a:srgbClr val="FFFFFF"/>
                  </a:solidFill>
                  <a:latin typeface="Calibri"/>
                </a:rPr>
                <a:t>In class, we will focus on the graphics/intuition. </a:t>
              </a:r>
              <a:r>
                <a:rPr sz="2400" b="1" i="0" u="none">
                  <a:solidFill>
                    <a:srgbClr val="FFFFFF"/>
                  </a:solidFill>
                  <a:latin typeface="Calibri"/>
                </a:rPr>
                <a:t>Watch the Practice Video for exam prep!</a:t>
              </a:r>
            </a:p>
          </p:txBody>
        </p:sp>
      </p:grpSp>
      <p:sp>
        <p:nvSpPr>
          <p:cNvPr id="21" name="Rectangle 2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5  ·  Monopoly and Monopolistic Competition</a:t>
            </a:r>
          </a:p>
        </p:txBody>
      </p:sp>
      <p:sp>
        <p:nvSpPr>
          <p:cNvPr id="24" name="TextBox 23"/>
          <p:cNvSpPr txBox="1"/>
          <p:nvPr/>
        </p:nvSpPr>
        <p:spPr>
          <a:xfrm>
            <a:off x="11475720" y="6583680"/>
            <a:ext cx="502920" cy="292608"/>
          </a:xfrm>
          <a:prstGeom prst="rect">
            <a:avLst/>
          </a:prstGeom>
          <a:noFill/>
        </p:spPr>
        <p:txBody>
          <a:bodyPr wrap="none" lIns="0" tIns="0" rIns="0" bIns="0">
            <a:spAutoFit/>
          </a:bodyPr>
          <a:lstStyle/>
          <a:p>
            <a:pPr algn="r"/>
            <a:fld id="{DD9ABE14-3AE8-5115-8866-7D6C21C4E047}" type="slidenum">
              <a:rPr lang="en-US" sz="1200" dirty="0">
                <a:solidFill>
                  <a:srgbClr val="555B66"/>
                </a:solidFill>
                <a:latin typeface="Calibri"/>
              </a:rPr>
              <a:t>11</a:t>
            </a:fld>
            <a:endParaRPr lang="en-US" sz="1200" dirty="0">
              <a:solidFill>
                <a:srgbClr val="555B66"/>
              </a:solidFill>
              <a:latin typeface="Calibri"/>
            </a:endParaRPr>
          </a:p>
        </p:txBody>
      </p:sp>
      <p:grpSp>
        <p:nvGrpSpPr>
          <p:cNvPr id="125" name="sdpair:btn:125"/>
          <p:cNvGrpSpPr/>
          <p:nvPr/>
        </p:nvGrpSpPr>
        <p:grpSpPr>
          <a:xfrm>
            <a:off x="6327648" y="6245352"/>
            <a:ext cx="5349240" cy="530352"/>
            <a:chOff x="6327648" y="6245352"/>
            <a:chExt cx="5349240" cy="530352"/>
          </a:xfrm>
        </p:grpSpPr>
        <p:sp>
          <p:nvSpPr>
            <p:cNvPr id="19" name="Rounded Rectangle 18">
              <a:hlinkClick r:id="rId5"/>
            </p:cNvPr>
            <p:cNvSpPr/>
            <p:nvPr/>
          </p:nvSpPr>
          <p:spPr>
            <a:xfrm>
              <a:off x="6327648" y="6245352"/>
              <a:ext cx="5349240" cy="530352"/>
            </a:xfrm>
            <a:prstGeom prst="roundRect">
              <a:avLst>
                <a:gd name="adj" fmla="val 28000"/>
              </a:avLst>
            </a:prstGeom>
            <a:solidFill>
              <a:srgbClr val="F1F2F4"/>
            </a:solidFill>
            <a:ln w="22225">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none" lIns="658368" tIns="0" rIns="64008" bIns="0" rtlCol="0" anchor="ctr"/>
            <a:lstStyle/>
            <a:p>
              <a:pPr algn="l"/>
              <a:r>
                <a:rPr sz="1600" b="1">
                  <a:solidFill>
                    <a:srgbClr val="0B2B4E"/>
                  </a:solidFill>
                  <a:latin typeface="Calibri"/>
                </a:rPr>
                <a:t>Practice Video: Optimization of a Price Searcher</a:t>
              </a:r>
            </a:p>
          </p:txBody>
        </p:sp>
        <p:sp>
          <p:nvSpPr>
            <p:cNvPr id="20" name="Action Button: Movie 19">
              <a:hlinkClick r:id="rId5"/>
            </p:cNvPr>
            <p:cNvSpPr/>
            <p:nvPr/>
          </p:nvSpPr>
          <p:spPr>
            <a:xfrm>
              <a:off x="6464808" y="6382512"/>
              <a:ext cx="420624" cy="256032"/>
            </a:xfrm>
            <a:prstGeom prst="actionButtonMovie">
              <a:avLst/>
            </a:prstGeom>
            <a:solidFill>
              <a:srgbClr val="0B2B4E"/>
            </a:solidFill>
            <a:ln w="15875">
              <a:solidFill>
                <a:srgbClr val="FFFFFF"/>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4"/>
                                        </p:tgtEl>
                                        <p:attrNameLst>
                                          <p:attrName>style.visibility</p:attrName>
                                        </p:attrNameLst>
                                      </p:cBhvr>
                                      <p:to>
                                        <p:strVal val="visible"/>
                                      </p:to>
                                    </p:set>
                                    <p:animEffect transition="in" filter="fade">
                                      <p:cBhvr>
                                        <p:cTn id="12" dur="500"/>
                                        <p:tgtEl>
                                          <p:spTgt spid="1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5 · Profit Maximization for Price Searchers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Illustration of the Practice Video Example: Profit Maximization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NV_s10_rId4.png"/>
          <p:cNvPicPr>
            <a:picLocks noChangeAspect="1"/>
          </p:cNvPicPr>
          <p:nvPr/>
        </p:nvPicPr>
        <p:blipFill>
          <a:blip r:embed="rId3"/>
          <a:stretch>
            <a:fillRect/>
          </a:stretch>
        </p:blipFill>
        <p:spPr>
          <a:xfrm>
            <a:off x="4928616" y="1280160"/>
            <a:ext cx="2331720" cy="507225"/>
          </a:xfrm>
          <a:prstGeom prst="rect">
            <a:avLst/>
          </a:prstGeom>
        </p:spPr>
      </p:pic>
      <p:sp>
        <p:nvSpPr>
          <p:cNvPr id="8" name="sdpanelhdr:L"/>
          <p:cNvSpPr txBox="1"/>
          <p:nvPr/>
        </p:nvSpPr>
        <p:spPr>
          <a:xfrm>
            <a:off x="822960" y="1828799"/>
            <a:ext cx="5120640" cy="276999"/>
          </a:xfrm>
          <a:prstGeom prst="rect">
            <a:avLst/>
          </a:prstGeom>
          <a:noFill/>
        </p:spPr>
        <p:txBody>
          <a:bodyPr wrap="square" lIns="0" tIns="0" rIns="0" bIns="0">
            <a:spAutoFit/>
          </a:bodyPr>
          <a:lstStyle/>
          <a:p>
            <a:pPr algn="ctr"/>
            <a:r>
              <a:rPr sz="1800" b="1" i="1" u="sng" dirty="0">
                <a:solidFill>
                  <a:srgbClr val="0B2B4E"/>
                </a:solidFill>
                <a:highlight>
                  <a:srgbClr val="FFFF00"/>
                </a:highlight>
                <a:latin typeface="Calibri"/>
              </a:rPr>
              <a:t>Total</a:t>
            </a:r>
            <a:r>
              <a:rPr sz="1800" b="1" i="1" u="none" dirty="0">
                <a:solidFill>
                  <a:srgbClr val="0B2B4E"/>
                </a:solidFill>
                <a:latin typeface="Calibri"/>
              </a:rPr>
              <a:t> </a:t>
            </a:r>
            <a:r>
              <a:rPr lang="en-US" sz="1800" b="1" i="1" u="none" dirty="0">
                <a:solidFill>
                  <a:srgbClr val="0B2B4E"/>
                </a:solidFill>
                <a:latin typeface="Calibri"/>
              </a:rPr>
              <a:t>R</a:t>
            </a:r>
            <a:r>
              <a:rPr sz="1800" b="1" i="1" u="none" dirty="0">
                <a:solidFill>
                  <a:srgbClr val="0B2B4E"/>
                </a:solidFill>
                <a:latin typeface="Calibri"/>
              </a:rPr>
              <a:t>evenue and </a:t>
            </a:r>
            <a:r>
              <a:rPr lang="en-US" sz="1800" b="1" i="1" u="sng" dirty="0">
                <a:solidFill>
                  <a:srgbClr val="0B2B4E"/>
                </a:solidFill>
                <a:highlight>
                  <a:srgbClr val="FFFF00"/>
                </a:highlight>
                <a:latin typeface="Calibri"/>
              </a:rPr>
              <a:t>T</a:t>
            </a:r>
            <a:r>
              <a:rPr sz="1800" b="1" i="1" u="sng" dirty="0">
                <a:solidFill>
                  <a:srgbClr val="0B2B4E"/>
                </a:solidFill>
                <a:highlight>
                  <a:srgbClr val="FFFF00"/>
                </a:highlight>
                <a:latin typeface="Calibri"/>
              </a:rPr>
              <a:t>otal</a:t>
            </a:r>
            <a:r>
              <a:rPr sz="1800" b="1" i="1" u="none" dirty="0">
                <a:solidFill>
                  <a:srgbClr val="0B2B4E"/>
                </a:solidFill>
                <a:latin typeface="Calibri"/>
              </a:rPr>
              <a:t> </a:t>
            </a:r>
            <a:r>
              <a:rPr lang="en-US" sz="1800" b="1" i="1" u="none" dirty="0">
                <a:solidFill>
                  <a:srgbClr val="0B2B4E"/>
                </a:solidFill>
                <a:latin typeface="Calibri"/>
              </a:rPr>
              <a:t>C</a:t>
            </a:r>
            <a:r>
              <a:rPr sz="1800" b="1" i="1" u="none" dirty="0">
                <a:solidFill>
                  <a:srgbClr val="0B2B4E"/>
                </a:solidFill>
                <a:latin typeface="Calibri"/>
              </a:rPr>
              <a:t>ost</a:t>
            </a:r>
          </a:p>
        </p:txBody>
      </p:sp>
      <p:cxnSp>
        <p:nvCxnSpPr>
          <p:cNvPr id="9" name="sdaxis:y"/>
          <p:cNvCxnSpPr/>
          <p:nvPr/>
        </p:nvCxnSpPr>
        <p:spPr>
          <a:xfrm flipV="1">
            <a:off x="1325880" y="2487168"/>
            <a:ext cx="0" cy="3090672"/>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10" name="sdaxis:x"/>
          <p:cNvCxnSpPr/>
          <p:nvPr/>
        </p:nvCxnSpPr>
        <p:spPr>
          <a:xfrm>
            <a:off x="1325880" y="5577840"/>
            <a:ext cx="441655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1" name="sdaxistitle:y"/>
          <p:cNvSpPr txBox="1"/>
          <p:nvPr/>
        </p:nvSpPr>
        <p:spPr>
          <a:xfrm>
            <a:off x="1065275" y="2354579"/>
            <a:ext cx="187452" cy="265176"/>
          </a:xfrm>
          <a:prstGeom prst="rect">
            <a:avLst/>
          </a:prstGeom>
          <a:noFill/>
        </p:spPr>
        <p:txBody>
          <a:bodyPr wrap="square" lIns="0" tIns="0" rIns="0" bIns="0">
            <a:spAutoFit/>
          </a:bodyPr>
          <a:lstStyle/>
          <a:p>
            <a:pPr algn="l"/>
            <a:r>
              <a:rPr sz="1800" b="1" i="1" u="none">
                <a:solidFill>
                  <a:srgbClr val="0B2B4E"/>
                </a:solidFill>
                <a:latin typeface="Calibri"/>
              </a:rPr>
              <a:t>$</a:t>
            </a:r>
          </a:p>
        </p:txBody>
      </p:sp>
      <p:sp>
        <p:nvSpPr>
          <p:cNvPr id="12" name="sdaxistitle:x"/>
          <p:cNvSpPr txBox="1"/>
          <p:nvPr/>
        </p:nvSpPr>
        <p:spPr>
          <a:xfrm>
            <a:off x="5629656" y="5623559"/>
            <a:ext cx="225551" cy="265176"/>
          </a:xfrm>
          <a:prstGeom prst="rect">
            <a:avLst/>
          </a:prstGeom>
          <a:noFill/>
        </p:spPr>
        <p:txBody>
          <a:bodyPr wrap="square" lIns="0" tIns="0" rIns="0" bIns="0">
            <a:spAutoFit/>
          </a:bodyPr>
          <a:lstStyle/>
          <a:p>
            <a:pPr algn="l"/>
            <a:r>
              <a:rPr sz="1800" b="1" i="1" u="none">
                <a:solidFill>
                  <a:srgbClr val="0B2B4E"/>
                </a:solidFill>
                <a:latin typeface="Calibri"/>
              </a:rPr>
              <a:t>Q</a:t>
            </a:r>
          </a:p>
        </p:txBody>
      </p:sp>
      <p:sp>
        <p:nvSpPr>
          <p:cNvPr id="13" name="TextBox 12"/>
          <p:cNvSpPr txBox="1"/>
          <p:nvPr/>
        </p:nvSpPr>
        <p:spPr>
          <a:xfrm>
            <a:off x="970026" y="5440680"/>
            <a:ext cx="282702" cy="274320"/>
          </a:xfrm>
          <a:prstGeom prst="rect">
            <a:avLst/>
          </a:prstGeom>
          <a:noFill/>
        </p:spPr>
        <p:txBody>
          <a:bodyPr wrap="square" lIns="0" tIns="0" rIns="0" bIns="0">
            <a:spAutoFit/>
          </a:bodyPr>
          <a:lstStyle/>
          <a:p>
            <a:pPr algn="r"/>
            <a:r>
              <a:rPr sz="1600" b="0" i="1" u="none">
                <a:solidFill>
                  <a:srgbClr val="0B2B4E"/>
                </a:solidFill>
                <a:latin typeface="Calibri"/>
              </a:rPr>
              <a:t>$0</a:t>
            </a:r>
          </a:p>
        </p:txBody>
      </p:sp>
      <p:sp>
        <p:nvSpPr>
          <p:cNvPr id="14" name="TextBox 13"/>
          <p:cNvSpPr txBox="1"/>
          <p:nvPr/>
        </p:nvSpPr>
        <p:spPr>
          <a:xfrm>
            <a:off x="608076" y="4972507"/>
            <a:ext cx="644652" cy="274320"/>
          </a:xfrm>
          <a:prstGeom prst="rect">
            <a:avLst/>
          </a:prstGeom>
          <a:noFill/>
        </p:spPr>
        <p:txBody>
          <a:bodyPr wrap="square" lIns="0" tIns="0" rIns="0" bIns="0">
            <a:spAutoFit/>
          </a:bodyPr>
          <a:lstStyle/>
          <a:p>
            <a:pPr algn="r"/>
            <a:r>
              <a:rPr sz="1600" b="0" i="1" u="none">
                <a:solidFill>
                  <a:srgbClr val="0B2B4E"/>
                </a:solidFill>
                <a:latin typeface="Calibri"/>
              </a:rPr>
              <a:t>$2,000</a:t>
            </a:r>
          </a:p>
        </p:txBody>
      </p:sp>
      <p:sp>
        <p:nvSpPr>
          <p:cNvPr id="15" name="TextBox 14"/>
          <p:cNvSpPr txBox="1"/>
          <p:nvPr/>
        </p:nvSpPr>
        <p:spPr>
          <a:xfrm>
            <a:off x="608076" y="4504334"/>
            <a:ext cx="644652" cy="274320"/>
          </a:xfrm>
          <a:prstGeom prst="rect">
            <a:avLst/>
          </a:prstGeom>
          <a:noFill/>
        </p:spPr>
        <p:txBody>
          <a:bodyPr wrap="square" lIns="0" tIns="0" rIns="0" bIns="0">
            <a:spAutoFit/>
          </a:bodyPr>
          <a:lstStyle/>
          <a:p>
            <a:pPr algn="r"/>
            <a:r>
              <a:rPr sz="1600" b="0" i="1" u="none">
                <a:solidFill>
                  <a:srgbClr val="0B2B4E"/>
                </a:solidFill>
                <a:latin typeface="Calibri"/>
              </a:rPr>
              <a:t>$4,000</a:t>
            </a:r>
          </a:p>
        </p:txBody>
      </p:sp>
      <p:sp>
        <p:nvSpPr>
          <p:cNvPr id="16" name="TextBox 15"/>
          <p:cNvSpPr txBox="1"/>
          <p:nvPr/>
        </p:nvSpPr>
        <p:spPr>
          <a:xfrm>
            <a:off x="608076" y="4036161"/>
            <a:ext cx="644652" cy="274320"/>
          </a:xfrm>
          <a:prstGeom prst="rect">
            <a:avLst/>
          </a:prstGeom>
          <a:noFill/>
        </p:spPr>
        <p:txBody>
          <a:bodyPr wrap="square" lIns="0" tIns="0" rIns="0" bIns="0">
            <a:spAutoFit/>
          </a:bodyPr>
          <a:lstStyle/>
          <a:p>
            <a:pPr algn="r"/>
            <a:r>
              <a:rPr sz="1600" b="0" i="1" u="none">
                <a:solidFill>
                  <a:srgbClr val="0B2B4E"/>
                </a:solidFill>
                <a:latin typeface="Calibri"/>
              </a:rPr>
              <a:t>$6,000</a:t>
            </a:r>
          </a:p>
        </p:txBody>
      </p:sp>
      <p:sp>
        <p:nvSpPr>
          <p:cNvPr id="17" name="TextBox 16"/>
          <p:cNvSpPr txBox="1"/>
          <p:nvPr/>
        </p:nvSpPr>
        <p:spPr>
          <a:xfrm>
            <a:off x="608076" y="3567988"/>
            <a:ext cx="644652" cy="274320"/>
          </a:xfrm>
          <a:prstGeom prst="rect">
            <a:avLst/>
          </a:prstGeom>
          <a:noFill/>
        </p:spPr>
        <p:txBody>
          <a:bodyPr wrap="square" lIns="0" tIns="0" rIns="0" bIns="0">
            <a:spAutoFit/>
          </a:bodyPr>
          <a:lstStyle/>
          <a:p>
            <a:pPr algn="r"/>
            <a:r>
              <a:rPr sz="1600" b="0" i="1" u="none">
                <a:solidFill>
                  <a:srgbClr val="0B2B4E"/>
                </a:solidFill>
                <a:latin typeface="Calibri"/>
              </a:rPr>
              <a:t>$8,000</a:t>
            </a:r>
          </a:p>
        </p:txBody>
      </p:sp>
      <p:sp>
        <p:nvSpPr>
          <p:cNvPr id="18" name="TextBox 17"/>
          <p:cNvSpPr txBox="1"/>
          <p:nvPr/>
        </p:nvSpPr>
        <p:spPr>
          <a:xfrm>
            <a:off x="503301" y="3099816"/>
            <a:ext cx="749427" cy="274320"/>
          </a:xfrm>
          <a:prstGeom prst="rect">
            <a:avLst/>
          </a:prstGeom>
          <a:noFill/>
        </p:spPr>
        <p:txBody>
          <a:bodyPr wrap="square" lIns="0" tIns="0" rIns="0" bIns="0">
            <a:spAutoFit/>
          </a:bodyPr>
          <a:lstStyle/>
          <a:p>
            <a:pPr algn="r"/>
            <a:r>
              <a:rPr sz="1600" b="0" i="1" u="none">
                <a:solidFill>
                  <a:srgbClr val="0B2B4E"/>
                </a:solidFill>
                <a:latin typeface="Calibri"/>
              </a:rPr>
              <a:t>$10,000</a:t>
            </a:r>
          </a:p>
        </p:txBody>
      </p:sp>
      <p:sp>
        <p:nvSpPr>
          <p:cNvPr id="19" name="TextBox 18"/>
          <p:cNvSpPr txBox="1"/>
          <p:nvPr/>
        </p:nvSpPr>
        <p:spPr>
          <a:xfrm>
            <a:off x="503301" y="2631643"/>
            <a:ext cx="749427" cy="274320"/>
          </a:xfrm>
          <a:prstGeom prst="rect">
            <a:avLst/>
          </a:prstGeom>
          <a:noFill/>
        </p:spPr>
        <p:txBody>
          <a:bodyPr wrap="square" lIns="0" tIns="0" rIns="0" bIns="0">
            <a:spAutoFit/>
          </a:bodyPr>
          <a:lstStyle/>
          <a:p>
            <a:pPr algn="r"/>
            <a:r>
              <a:rPr sz="1600" b="0" i="1" u="none">
                <a:solidFill>
                  <a:srgbClr val="0B2B4E"/>
                </a:solidFill>
                <a:latin typeface="Calibri"/>
              </a:rPr>
              <a:t>$12,000</a:t>
            </a:r>
          </a:p>
        </p:txBody>
      </p:sp>
      <p:sp>
        <p:nvSpPr>
          <p:cNvPr id="20" name="TextBox 19"/>
          <p:cNvSpPr txBox="1"/>
          <p:nvPr/>
        </p:nvSpPr>
        <p:spPr>
          <a:xfrm>
            <a:off x="1236917" y="5632703"/>
            <a:ext cx="177927" cy="274320"/>
          </a:xfrm>
          <a:prstGeom prst="rect">
            <a:avLst/>
          </a:prstGeom>
          <a:noFill/>
        </p:spPr>
        <p:txBody>
          <a:bodyPr wrap="square" lIns="0" tIns="0" rIns="0" bIns="0">
            <a:spAutoFit/>
          </a:bodyPr>
          <a:lstStyle/>
          <a:p>
            <a:pPr algn="ctr"/>
            <a:r>
              <a:rPr sz="1600" b="0" i="1" u="none">
                <a:solidFill>
                  <a:srgbClr val="0B2B4E"/>
                </a:solidFill>
                <a:latin typeface="Calibri"/>
              </a:rPr>
              <a:t>0</a:t>
            </a:r>
          </a:p>
        </p:txBody>
      </p:sp>
      <p:sp>
        <p:nvSpPr>
          <p:cNvPr id="21" name="TextBox 20"/>
          <p:cNvSpPr txBox="1"/>
          <p:nvPr/>
        </p:nvSpPr>
        <p:spPr>
          <a:xfrm>
            <a:off x="2150883" y="5632703"/>
            <a:ext cx="282702" cy="274320"/>
          </a:xfrm>
          <a:prstGeom prst="rect">
            <a:avLst/>
          </a:prstGeom>
          <a:noFill/>
        </p:spPr>
        <p:txBody>
          <a:bodyPr wrap="square" lIns="0" tIns="0" rIns="0" bIns="0">
            <a:spAutoFit/>
          </a:bodyPr>
          <a:lstStyle/>
          <a:p>
            <a:pPr algn="ctr"/>
            <a:r>
              <a:rPr sz="1600" b="0" i="1" u="none">
                <a:solidFill>
                  <a:srgbClr val="0B2B4E"/>
                </a:solidFill>
                <a:latin typeface="Calibri"/>
              </a:rPr>
              <a:t>50</a:t>
            </a:r>
          </a:p>
        </p:txBody>
      </p:sp>
      <p:sp>
        <p:nvSpPr>
          <p:cNvPr id="22" name="TextBox 21"/>
          <p:cNvSpPr txBox="1"/>
          <p:nvPr/>
        </p:nvSpPr>
        <p:spPr>
          <a:xfrm>
            <a:off x="3064851" y="5632703"/>
            <a:ext cx="387477" cy="274320"/>
          </a:xfrm>
          <a:prstGeom prst="rect">
            <a:avLst/>
          </a:prstGeom>
          <a:noFill/>
        </p:spPr>
        <p:txBody>
          <a:bodyPr wrap="square" lIns="0" tIns="0" rIns="0" bIns="0">
            <a:spAutoFit/>
          </a:bodyPr>
          <a:lstStyle/>
          <a:p>
            <a:pPr algn="ctr"/>
            <a:r>
              <a:rPr sz="1600" b="1" i="1" u="none">
                <a:solidFill>
                  <a:srgbClr val="0B2B4E"/>
                </a:solidFill>
                <a:latin typeface="Calibri"/>
              </a:rPr>
              <a:t>100</a:t>
            </a:r>
          </a:p>
        </p:txBody>
      </p:sp>
      <p:sp>
        <p:nvSpPr>
          <p:cNvPr id="23" name="TextBox 22"/>
          <p:cNvSpPr txBox="1"/>
          <p:nvPr/>
        </p:nvSpPr>
        <p:spPr>
          <a:xfrm>
            <a:off x="4031205" y="5632703"/>
            <a:ext cx="387477" cy="274320"/>
          </a:xfrm>
          <a:prstGeom prst="rect">
            <a:avLst/>
          </a:prstGeom>
          <a:noFill/>
        </p:spPr>
        <p:txBody>
          <a:bodyPr wrap="square" lIns="0" tIns="0" rIns="0" bIns="0">
            <a:spAutoFit/>
          </a:bodyPr>
          <a:lstStyle/>
          <a:p>
            <a:pPr algn="ctr"/>
            <a:r>
              <a:rPr sz="1600" b="0" i="1" u="none">
                <a:solidFill>
                  <a:srgbClr val="0B2B4E"/>
                </a:solidFill>
                <a:latin typeface="Calibri"/>
              </a:rPr>
              <a:t>150</a:t>
            </a:r>
          </a:p>
        </p:txBody>
      </p:sp>
      <p:sp>
        <p:nvSpPr>
          <p:cNvPr id="24" name="TextBox 23"/>
          <p:cNvSpPr txBox="1"/>
          <p:nvPr/>
        </p:nvSpPr>
        <p:spPr>
          <a:xfrm>
            <a:off x="4997560" y="5632703"/>
            <a:ext cx="387477" cy="274320"/>
          </a:xfrm>
          <a:prstGeom prst="rect">
            <a:avLst/>
          </a:prstGeom>
          <a:noFill/>
        </p:spPr>
        <p:txBody>
          <a:bodyPr wrap="square" lIns="0" tIns="0" rIns="0" bIns="0">
            <a:spAutoFit/>
          </a:bodyPr>
          <a:lstStyle/>
          <a:p>
            <a:pPr algn="ctr"/>
            <a:r>
              <a:rPr sz="1600" b="0" i="1" u="none">
                <a:solidFill>
                  <a:srgbClr val="0B2B4E"/>
                </a:solidFill>
                <a:latin typeface="Calibri"/>
              </a:rPr>
              <a:t>200</a:t>
            </a:r>
          </a:p>
        </p:txBody>
      </p:sp>
      <p:grpSp>
        <p:nvGrpSpPr>
          <p:cNvPr id="31" name="sdpair:pnlL"/>
          <p:cNvGrpSpPr/>
          <p:nvPr/>
        </p:nvGrpSpPr>
        <p:grpSpPr>
          <a:xfrm>
            <a:off x="1325880" y="2494483"/>
            <a:ext cx="4244201" cy="3083357"/>
            <a:chOff x="1325880" y="2494483"/>
            <a:chExt cx="4244201" cy="3083357"/>
          </a:xfrm>
        </p:grpSpPr>
        <p:sp>
          <p:nvSpPr>
            <p:cNvPr id="25" name="sdcurve:TR"/>
            <p:cNvSpPr/>
            <p:nvPr/>
          </p:nvSpPr>
          <p:spPr>
            <a:xfrm>
              <a:off x="1325880" y="3705148"/>
              <a:ext cx="3865418" cy="1872692"/>
            </a:xfrm>
            <a:custGeom>
              <a:avLst/>
              <a:gdLst/>
              <a:ahLst/>
              <a:cxnLst/>
              <a:rect l="0" t="0" r="r" b="b"/>
              <a:pathLst>
                <a:path w="3865418" h="1872692" fill="none">
                  <a:moveTo>
                    <a:pt x="0" y="1872692"/>
                  </a:moveTo>
                  <a:cubicBezTo>
                    <a:pt x="107372" y="1798998"/>
                    <a:pt x="429490" y="1569246"/>
                    <a:pt x="644236" y="1430528"/>
                  </a:cubicBezTo>
                  <a:cubicBezTo>
                    <a:pt x="858981" y="1291810"/>
                    <a:pt x="1073726" y="1161762"/>
                    <a:pt x="1288472" y="1040384"/>
                  </a:cubicBezTo>
                  <a:cubicBezTo>
                    <a:pt x="1503217" y="919006"/>
                    <a:pt x="1717963" y="806298"/>
                    <a:pt x="1932709" y="702260"/>
                  </a:cubicBezTo>
                  <a:cubicBezTo>
                    <a:pt x="2147454" y="598221"/>
                    <a:pt x="2362199" y="502852"/>
                    <a:pt x="2576945" y="416154"/>
                  </a:cubicBezTo>
                  <a:cubicBezTo>
                    <a:pt x="2791690" y="329455"/>
                    <a:pt x="3006435" y="251427"/>
                    <a:pt x="3221181" y="182068"/>
                  </a:cubicBezTo>
                  <a:cubicBezTo>
                    <a:pt x="3435926" y="112709"/>
                    <a:pt x="3758045" y="30344"/>
                    <a:pt x="3865418" y="0"/>
                  </a:cubicBezTo>
                </a:path>
              </a:pathLst>
            </a:custGeom>
            <a:noFill/>
            <a:ln w="34925">
              <a:solidFill>
                <a:srgbClr val="C00000"/>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sdcurve:TC"/>
            <p:cNvSpPr/>
            <p:nvPr/>
          </p:nvSpPr>
          <p:spPr>
            <a:xfrm>
              <a:off x="1325880" y="3236976"/>
              <a:ext cx="3865418" cy="1872691"/>
            </a:xfrm>
            <a:custGeom>
              <a:avLst/>
              <a:gdLst/>
              <a:ahLst/>
              <a:cxnLst/>
              <a:rect l="0" t="0" r="r" b="b"/>
              <a:pathLst>
                <a:path w="3865418" h="1872691" fill="none">
                  <a:moveTo>
                    <a:pt x="0" y="1872691"/>
                  </a:moveTo>
                  <a:cubicBezTo>
                    <a:pt x="107372" y="1853183"/>
                    <a:pt x="429490" y="1807667"/>
                    <a:pt x="644236" y="1755648"/>
                  </a:cubicBezTo>
                  <a:cubicBezTo>
                    <a:pt x="858981" y="1703628"/>
                    <a:pt x="1073726" y="1638603"/>
                    <a:pt x="1288472" y="1560575"/>
                  </a:cubicBezTo>
                  <a:cubicBezTo>
                    <a:pt x="1503217" y="1482546"/>
                    <a:pt x="1717963" y="1391513"/>
                    <a:pt x="1932709" y="1287475"/>
                  </a:cubicBezTo>
                  <a:cubicBezTo>
                    <a:pt x="2147454" y="1183436"/>
                    <a:pt x="2362199" y="1066393"/>
                    <a:pt x="2576945" y="936345"/>
                  </a:cubicBezTo>
                  <a:cubicBezTo>
                    <a:pt x="2791690" y="806297"/>
                    <a:pt x="3006435" y="663244"/>
                    <a:pt x="3221181" y="507187"/>
                  </a:cubicBezTo>
                  <a:cubicBezTo>
                    <a:pt x="3435926" y="351129"/>
                    <a:pt x="3758045" y="84531"/>
                    <a:pt x="3865418" y="0"/>
                  </a:cubicBezTo>
                </a:path>
              </a:pathLst>
            </a:custGeom>
            <a:noFill/>
            <a:ln w="34925">
              <a:solidFill>
                <a:srgbClr val="0B2B4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sdcurvelab:TR"/>
            <p:cNvSpPr txBox="1"/>
            <p:nvPr/>
          </p:nvSpPr>
          <p:spPr>
            <a:xfrm>
              <a:off x="5249279" y="3617366"/>
              <a:ext cx="320802" cy="292608"/>
            </a:xfrm>
            <a:prstGeom prst="rect">
              <a:avLst/>
            </a:prstGeom>
            <a:noFill/>
          </p:spPr>
          <p:txBody>
            <a:bodyPr wrap="square" lIns="0" tIns="0" rIns="0" bIns="0">
              <a:spAutoFit/>
            </a:bodyPr>
            <a:lstStyle/>
            <a:p>
              <a:pPr algn="l"/>
              <a:r>
                <a:rPr sz="1800" b="1" i="1" u="none">
                  <a:solidFill>
                    <a:srgbClr val="C00000"/>
                  </a:solidFill>
                  <a:latin typeface="Calibri"/>
                </a:rPr>
                <a:t>TR</a:t>
              </a:r>
            </a:p>
          </p:txBody>
        </p:sp>
        <p:sp>
          <p:nvSpPr>
            <p:cNvPr id="28" name="sdcurvelab:TC"/>
            <p:cNvSpPr txBox="1"/>
            <p:nvPr/>
          </p:nvSpPr>
          <p:spPr>
            <a:xfrm>
              <a:off x="5249279" y="2938515"/>
              <a:ext cx="320802" cy="292608"/>
            </a:xfrm>
            <a:prstGeom prst="rect">
              <a:avLst/>
            </a:prstGeom>
            <a:noFill/>
          </p:spPr>
          <p:txBody>
            <a:bodyPr wrap="square" lIns="0" tIns="0" rIns="0" bIns="0">
              <a:spAutoFit/>
            </a:bodyPr>
            <a:lstStyle/>
            <a:p>
              <a:pPr algn="l"/>
              <a:r>
                <a:rPr sz="1800" b="1" i="1" u="none">
                  <a:solidFill>
                    <a:srgbClr val="0B2B4E"/>
                  </a:solidFill>
                  <a:latin typeface="Calibri"/>
                </a:rPr>
                <a:t>TC</a:t>
              </a:r>
            </a:p>
          </p:txBody>
        </p:sp>
        <p:cxnSp>
          <p:nvCxnSpPr>
            <p:cNvPr id="29" name="Connector 28"/>
            <p:cNvCxnSpPr/>
            <p:nvPr/>
          </p:nvCxnSpPr>
          <p:spPr>
            <a:xfrm flipV="1">
              <a:off x="3258589" y="2768803"/>
              <a:ext cx="0" cy="2809037"/>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3102951" y="2494483"/>
              <a:ext cx="311277" cy="256032"/>
            </a:xfrm>
            <a:prstGeom prst="rect">
              <a:avLst/>
            </a:prstGeom>
            <a:noFill/>
          </p:spPr>
          <p:txBody>
            <a:bodyPr wrap="square" lIns="0" tIns="0" rIns="0" bIns="0">
              <a:spAutoFit/>
            </a:bodyPr>
            <a:lstStyle/>
            <a:p>
              <a:pPr algn="ctr"/>
              <a:r>
                <a:rPr sz="1600" b="1" i="1" u="none">
                  <a:solidFill>
                    <a:srgbClr val="0B2B4E"/>
                  </a:solidFill>
                  <a:latin typeface="Calibri"/>
                </a:rPr>
                <a:t>Q*</a:t>
              </a:r>
            </a:p>
          </p:txBody>
        </p:sp>
      </p:grpSp>
      <p:sp>
        <p:nvSpPr>
          <p:cNvPr id="32" name="sdpanelhdr:R"/>
          <p:cNvSpPr txBox="1"/>
          <p:nvPr/>
        </p:nvSpPr>
        <p:spPr>
          <a:xfrm>
            <a:off x="6949440" y="1828799"/>
            <a:ext cx="5029200" cy="329184"/>
          </a:xfrm>
          <a:prstGeom prst="rect">
            <a:avLst/>
          </a:prstGeom>
          <a:noFill/>
        </p:spPr>
        <p:txBody>
          <a:bodyPr wrap="square" lIns="0" tIns="0" rIns="0" bIns="0">
            <a:spAutoFit/>
          </a:bodyPr>
          <a:lstStyle/>
          <a:p>
            <a:pPr algn="ctr"/>
            <a:r>
              <a:rPr sz="1800" b="1" i="1" u="none">
                <a:solidFill>
                  <a:srgbClr val="0B2B4E"/>
                </a:solidFill>
                <a:latin typeface="Calibri"/>
              </a:rPr>
              <a:t>Profit</a:t>
            </a:r>
          </a:p>
        </p:txBody>
      </p:sp>
      <p:cxnSp>
        <p:nvCxnSpPr>
          <p:cNvPr id="33" name="sdaxis:y"/>
          <p:cNvCxnSpPr/>
          <p:nvPr/>
        </p:nvCxnSpPr>
        <p:spPr>
          <a:xfrm flipV="1">
            <a:off x="7543800" y="2487168"/>
            <a:ext cx="0" cy="3090672"/>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34" name="sdaxis:x"/>
          <p:cNvCxnSpPr/>
          <p:nvPr/>
        </p:nvCxnSpPr>
        <p:spPr>
          <a:xfrm>
            <a:off x="7543800" y="3383279"/>
            <a:ext cx="414223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35" name="sdaxistitle:x"/>
          <p:cNvSpPr txBox="1"/>
          <p:nvPr/>
        </p:nvSpPr>
        <p:spPr>
          <a:xfrm>
            <a:off x="11573256" y="3428999"/>
            <a:ext cx="225551" cy="265176"/>
          </a:xfrm>
          <a:prstGeom prst="rect">
            <a:avLst/>
          </a:prstGeom>
          <a:noFill/>
        </p:spPr>
        <p:txBody>
          <a:bodyPr wrap="square" lIns="0" tIns="0" rIns="0" bIns="0">
            <a:spAutoFit/>
          </a:bodyPr>
          <a:lstStyle/>
          <a:p>
            <a:pPr algn="l"/>
            <a:r>
              <a:rPr sz="1800" b="1" i="1" u="none">
                <a:solidFill>
                  <a:srgbClr val="0B2B4E"/>
                </a:solidFill>
                <a:latin typeface="Calibri"/>
              </a:rPr>
              <a:t>Q</a:t>
            </a:r>
          </a:p>
        </p:txBody>
      </p:sp>
      <p:sp>
        <p:nvSpPr>
          <p:cNvPr id="36" name="sdaxistitle:y"/>
          <p:cNvSpPr txBox="1"/>
          <p:nvPr/>
        </p:nvSpPr>
        <p:spPr>
          <a:xfrm>
            <a:off x="7254621" y="2354579"/>
            <a:ext cx="216027" cy="265176"/>
          </a:xfrm>
          <a:prstGeom prst="rect">
            <a:avLst/>
          </a:prstGeom>
          <a:noFill/>
        </p:spPr>
        <p:txBody>
          <a:bodyPr wrap="square" lIns="0" tIns="0" rIns="0" bIns="0">
            <a:spAutoFit/>
          </a:bodyPr>
          <a:lstStyle/>
          <a:p>
            <a:pPr algn="l"/>
            <a:r>
              <a:rPr sz="1800" b="1" i="1" u="none">
                <a:solidFill>
                  <a:srgbClr val="0B2B4E"/>
                </a:solidFill>
                <a:latin typeface="Calibri"/>
              </a:rPr>
              <a:t>π</a:t>
            </a:r>
          </a:p>
        </p:txBody>
      </p:sp>
      <p:sp>
        <p:nvSpPr>
          <p:cNvPr id="37" name="TextBox 36"/>
          <p:cNvSpPr txBox="1"/>
          <p:nvPr/>
        </p:nvSpPr>
        <p:spPr>
          <a:xfrm>
            <a:off x="6730746" y="5196840"/>
            <a:ext cx="739901" cy="274320"/>
          </a:xfrm>
          <a:prstGeom prst="rect">
            <a:avLst/>
          </a:prstGeom>
          <a:noFill/>
        </p:spPr>
        <p:txBody>
          <a:bodyPr wrap="square" lIns="0" tIns="0" rIns="0" bIns="0">
            <a:spAutoFit/>
          </a:bodyPr>
          <a:lstStyle/>
          <a:p>
            <a:pPr algn="r"/>
            <a:r>
              <a:rPr sz="1600" b="0" i="1" u="none">
                <a:solidFill>
                  <a:srgbClr val="0B2B4E"/>
                </a:solidFill>
                <a:latin typeface="Calibri"/>
              </a:rPr>
              <a:t>−$2,000</a:t>
            </a:r>
          </a:p>
        </p:txBody>
      </p:sp>
      <p:sp>
        <p:nvSpPr>
          <p:cNvPr id="38" name="TextBox 37"/>
          <p:cNvSpPr txBox="1"/>
          <p:nvPr/>
        </p:nvSpPr>
        <p:spPr>
          <a:xfrm>
            <a:off x="6730746" y="4709160"/>
            <a:ext cx="739901" cy="274320"/>
          </a:xfrm>
          <a:prstGeom prst="rect">
            <a:avLst/>
          </a:prstGeom>
          <a:noFill/>
        </p:spPr>
        <p:txBody>
          <a:bodyPr wrap="square" lIns="0" tIns="0" rIns="0" bIns="0">
            <a:spAutoFit/>
          </a:bodyPr>
          <a:lstStyle/>
          <a:p>
            <a:pPr algn="r"/>
            <a:r>
              <a:rPr sz="1600" b="0" i="1" u="none">
                <a:solidFill>
                  <a:srgbClr val="0B2B4E"/>
                </a:solidFill>
                <a:latin typeface="Calibri"/>
              </a:rPr>
              <a:t>−$1,500</a:t>
            </a:r>
          </a:p>
        </p:txBody>
      </p:sp>
      <p:sp>
        <p:nvSpPr>
          <p:cNvPr id="39" name="TextBox 38"/>
          <p:cNvSpPr txBox="1"/>
          <p:nvPr/>
        </p:nvSpPr>
        <p:spPr>
          <a:xfrm>
            <a:off x="6730746" y="4221480"/>
            <a:ext cx="739901" cy="274320"/>
          </a:xfrm>
          <a:prstGeom prst="rect">
            <a:avLst/>
          </a:prstGeom>
          <a:noFill/>
        </p:spPr>
        <p:txBody>
          <a:bodyPr wrap="square" lIns="0" tIns="0" rIns="0" bIns="0">
            <a:spAutoFit/>
          </a:bodyPr>
          <a:lstStyle/>
          <a:p>
            <a:pPr algn="r"/>
            <a:r>
              <a:rPr sz="1600" b="0" i="1" u="none">
                <a:solidFill>
                  <a:srgbClr val="0B2B4E"/>
                </a:solidFill>
                <a:latin typeface="Calibri"/>
              </a:rPr>
              <a:t>−$1,000</a:t>
            </a:r>
          </a:p>
        </p:txBody>
      </p:sp>
      <p:sp>
        <p:nvSpPr>
          <p:cNvPr id="40" name="TextBox 39"/>
          <p:cNvSpPr txBox="1"/>
          <p:nvPr/>
        </p:nvSpPr>
        <p:spPr>
          <a:xfrm>
            <a:off x="6883146" y="3733800"/>
            <a:ext cx="587502" cy="274320"/>
          </a:xfrm>
          <a:prstGeom prst="rect">
            <a:avLst/>
          </a:prstGeom>
          <a:noFill/>
        </p:spPr>
        <p:txBody>
          <a:bodyPr wrap="square" lIns="0" tIns="0" rIns="0" bIns="0">
            <a:spAutoFit/>
          </a:bodyPr>
          <a:lstStyle/>
          <a:p>
            <a:pPr algn="r"/>
            <a:r>
              <a:rPr sz="1600" b="0" i="1" u="none">
                <a:solidFill>
                  <a:srgbClr val="0B2B4E"/>
                </a:solidFill>
                <a:latin typeface="Calibri"/>
              </a:rPr>
              <a:t>−$500</a:t>
            </a:r>
          </a:p>
        </p:txBody>
      </p:sp>
      <p:sp>
        <p:nvSpPr>
          <p:cNvPr id="41" name="TextBox 40"/>
          <p:cNvSpPr txBox="1"/>
          <p:nvPr/>
        </p:nvSpPr>
        <p:spPr>
          <a:xfrm>
            <a:off x="7187946" y="3246119"/>
            <a:ext cx="282702" cy="274320"/>
          </a:xfrm>
          <a:prstGeom prst="rect">
            <a:avLst/>
          </a:prstGeom>
          <a:noFill/>
        </p:spPr>
        <p:txBody>
          <a:bodyPr wrap="square" lIns="0" tIns="0" rIns="0" bIns="0">
            <a:spAutoFit/>
          </a:bodyPr>
          <a:lstStyle/>
          <a:p>
            <a:pPr algn="r"/>
            <a:r>
              <a:rPr sz="1600" b="0" i="1" u="none">
                <a:solidFill>
                  <a:srgbClr val="0B2B4E"/>
                </a:solidFill>
                <a:latin typeface="Calibri"/>
              </a:rPr>
              <a:t>$0</a:t>
            </a:r>
          </a:p>
        </p:txBody>
      </p:sp>
      <p:sp>
        <p:nvSpPr>
          <p:cNvPr id="42" name="TextBox 41"/>
          <p:cNvSpPr txBox="1"/>
          <p:nvPr/>
        </p:nvSpPr>
        <p:spPr>
          <a:xfrm>
            <a:off x="6978396" y="2758440"/>
            <a:ext cx="492252" cy="274320"/>
          </a:xfrm>
          <a:prstGeom prst="rect">
            <a:avLst/>
          </a:prstGeom>
          <a:noFill/>
        </p:spPr>
        <p:txBody>
          <a:bodyPr wrap="square" lIns="0" tIns="0" rIns="0" bIns="0">
            <a:spAutoFit/>
          </a:bodyPr>
          <a:lstStyle/>
          <a:p>
            <a:pPr algn="r"/>
            <a:r>
              <a:rPr sz="1600" b="1" i="1" u="none">
                <a:solidFill>
                  <a:srgbClr val="0B2B4E"/>
                </a:solidFill>
                <a:latin typeface="Calibri"/>
              </a:rPr>
              <a:t>$500</a:t>
            </a:r>
          </a:p>
        </p:txBody>
      </p:sp>
      <p:sp>
        <p:nvSpPr>
          <p:cNvPr id="43" name="TextBox 42"/>
          <p:cNvSpPr txBox="1"/>
          <p:nvPr/>
        </p:nvSpPr>
        <p:spPr>
          <a:xfrm>
            <a:off x="7454837" y="5632703"/>
            <a:ext cx="177927" cy="274320"/>
          </a:xfrm>
          <a:prstGeom prst="rect">
            <a:avLst/>
          </a:prstGeom>
          <a:noFill/>
        </p:spPr>
        <p:txBody>
          <a:bodyPr wrap="square" lIns="0" tIns="0" rIns="0" bIns="0">
            <a:spAutoFit/>
          </a:bodyPr>
          <a:lstStyle/>
          <a:p>
            <a:pPr algn="ctr"/>
            <a:r>
              <a:rPr sz="1600" b="0" i="1" u="none">
                <a:solidFill>
                  <a:srgbClr val="0B2B4E"/>
                </a:solidFill>
                <a:latin typeface="Calibri"/>
              </a:rPr>
              <a:t>0</a:t>
            </a:r>
          </a:p>
        </p:txBody>
      </p:sp>
      <p:sp>
        <p:nvSpPr>
          <p:cNvPr id="44" name="TextBox 43"/>
          <p:cNvSpPr txBox="1"/>
          <p:nvPr/>
        </p:nvSpPr>
        <p:spPr>
          <a:xfrm>
            <a:off x="8306458" y="5632703"/>
            <a:ext cx="282702" cy="274320"/>
          </a:xfrm>
          <a:prstGeom prst="rect">
            <a:avLst/>
          </a:prstGeom>
          <a:noFill/>
        </p:spPr>
        <p:txBody>
          <a:bodyPr wrap="square" lIns="0" tIns="0" rIns="0" bIns="0">
            <a:spAutoFit/>
          </a:bodyPr>
          <a:lstStyle/>
          <a:p>
            <a:pPr algn="ctr"/>
            <a:r>
              <a:rPr sz="1600" b="0" i="1" u="none">
                <a:solidFill>
                  <a:srgbClr val="0B2B4E"/>
                </a:solidFill>
                <a:latin typeface="Calibri"/>
              </a:rPr>
              <a:t>50</a:t>
            </a:r>
          </a:p>
        </p:txBody>
      </p:sp>
      <p:sp>
        <p:nvSpPr>
          <p:cNvPr id="45" name="TextBox 44"/>
          <p:cNvSpPr txBox="1"/>
          <p:nvPr/>
        </p:nvSpPr>
        <p:spPr>
          <a:xfrm>
            <a:off x="9158080" y="5632703"/>
            <a:ext cx="387477" cy="274320"/>
          </a:xfrm>
          <a:prstGeom prst="rect">
            <a:avLst/>
          </a:prstGeom>
          <a:noFill/>
        </p:spPr>
        <p:txBody>
          <a:bodyPr wrap="square" lIns="0" tIns="0" rIns="0" bIns="0">
            <a:spAutoFit/>
          </a:bodyPr>
          <a:lstStyle/>
          <a:p>
            <a:pPr algn="ctr"/>
            <a:r>
              <a:rPr sz="1600" b="1" i="1" u="none">
                <a:solidFill>
                  <a:srgbClr val="0B2B4E"/>
                </a:solidFill>
                <a:latin typeface="Calibri"/>
              </a:rPr>
              <a:t>100</a:t>
            </a:r>
          </a:p>
        </p:txBody>
      </p:sp>
      <p:sp>
        <p:nvSpPr>
          <p:cNvPr id="46" name="TextBox 45"/>
          <p:cNvSpPr txBox="1"/>
          <p:nvPr/>
        </p:nvSpPr>
        <p:spPr>
          <a:xfrm>
            <a:off x="10062089" y="5632703"/>
            <a:ext cx="387477" cy="274320"/>
          </a:xfrm>
          <a:prstGeom prst="rect">
            <a:avLst/>
          </a:prstGeom>
          <a:noFill/>
        </p:spPr>
        <p:txBody>
          <a:bodyPr wrap="square" lIns="0" tIns="0" rIns="0" bIns="0">
            <a:spAutoFit/>
          </a:bodyPr>
          <a:lstStyle/>
          <a:p>
            <a:pPr algn="ctr"/>
            <a:r>
              <a:rPr sz="1600" b="0" i="1" u="none">
                <a:solidFill>
                  <a:srgbClr val="0B2B4E"/>
                </a:solidFill>
                <a:latin typeface="Calibri"/>
              </a:rPr>
              <a:t>150</a:t>
            </a:r>
          </a:p>
        </p:txBody>
      </p:sp>
      <p:sp>
        <p:nvSpPr>
          <p:cNvPr id="47" name="TextBox 46"/>
          <p:cNvSpPr txBox="1"/>
          <p:nvPr/>
        </p:nvSpPr>
        <p:spPr>
          <a:xfrm>
            <a:off x="10966098" y="5632703"/>
            <a:ext cx="387477" cy="274320"/>
          </a:xfrm>
          <a:prstGeom prst="rect">
            <a:avLst/>
          </a:prstGeom>
          <a:noFill/>
        </p:spPr>
        <p:txBody>
          <a:bodyPr wrap="square" lIns="0" tIns="0" rIns="0" bIns="0">
            <a:spAutoFit/>
          </a:bodyPr>
          <a:lstStyle/>
          <a:p>
            <a:pPr algn="ctr"/>
            <a:r>
              <a:rPr sz="1600" b="0" i="1" u="none">
                <a:solidFill>
                  <a:srgbClr val="0B2B4E"/>
                </a:solidFill>
                <a:latin typeface="Calibri"/>
              </a:rPr>
              <a:t>200</a:t>
            </a:r>
          </a:p>
        </p:txBody>
      </p:sp>
      <p:grpSp>
        <p:nvGrpSpPr>
          <p:cNvPr id="53" name="sdpair:pnlR"/>
          <p:cNvGrpSpPr/>
          <p:nvPr/>
        </p:nvGrpSpPr>
        <p:grpSpPr>
          <a:xfrm>
            <a:off x="7543800" y="2377439"/>
            <a:ext cx="3616036" cy="3200401"/>
            <a:chOff x="7543800" y="2377439"/>
            <a:chExt cx="3616036" cy="3200401"/>
          </a:xfrm>
        </p:grpSpPr>
        <p:sp>
          <p:nvSpPr>
            <p:cNvPr id="48" name="sdcurve:pi"/>
            <p:cNvSpPr/>
            <p:nvPr/>
          </p:nvSpPr>
          <p:spPr>
            <a:xfrm>
              <a:off x="7543800" y="2895600"/>
              <a:ext cx="3616036" cy="2438400"/>
            </a:xfrm>
            <a:custGeom>
              <a:avLst/>
              <a:gdLst/>
              <a:ahLst/>
              <a:cxnLst/>
              <a:rect l="0" t="0" r="r" b="b"/>
              <a:pathLst>
                <a:path w="3616036" h="2438400" fill="none">
                  <a:moveTo>
                    <a:pt x="0" y="2438400"/>
                  </a:moveTo>
                  <a:cubicBezTo>
                    <a:pt x="100445" y="2212622"/>
                    <a:pt x="401781" y="1444977"/>
                    <a:pt x="602672" y="1083733"/>
                  </a:cubicBezTo>
                  <a:cubicBezTo>
                    <a:pt x="803562" y="722488"/>
                    <a:pt x="1004454" y="451555"/>
                    <a:pt x="1205345" y="270933"/>
                  </a:cubicBezTo>
                  <a:cubicBezTo>
                    <a:pt x="1406236" y="90310"/>
                    <a:pt x="1607127" y="0"/>
                    <a:pt x="1808018" y="0"/>
                  </a:cubicBezTo>
                  <a:cubicBezTo>
                    <a:pt x="2008908" y="0"/>
                    <a:pt x="2209799" y="90310"/>
                    <a:pt x="2410690" y="270933"/>
                  </a:cubicBezTo>
                  <a:cubicBezTo>
                    <a:pt x="2611580" y="451555"/>
                    <a:pt x="2812472" y="722488"/>
                    <a:pt x="3013363" y="1083733"/>
                  </a:cubicBezTo>
                  <a:cubicBezTo>
                    <a:pt x="3214254" y="1444977"/>
                    <a:pt x="3515590" y="2212622"/>
                    <a:pt x="3616036" y="2438400"/>
                  </a:cubicBezTo>
                </a:path>
              </a:pathLst>
            </a:custGeom>
            <a:noFill/>
            <a:ln w="38100">
              <a:solidFill>
                <a:srgbClr val="E09F3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9" name="Connector 48"/>
            <p:cNvCxnSpPr/>
            <p:nvPr/>
          </p:nvCxnSpPr>
          <p:spPr>
            <a:xfrm flipV="1">
              <a:off x="9351818" y="2651759"/>
              <a:ext cx="0" cy="2926081"/>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7543800" y="2895600"/>
              <a:ext cx="1808018"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51" name="Oval 50"/>
            <p:cNvSpPr/>
            <p:nvPr/>
          </p:nvSpPr>
          <p:spPr>
            <a:xfrm>
              <a:off x="9283238" y="2827020"/>
              <a:ext cx="137160" cy="137160"/>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9196180" y="2377439"/>
              <a:ext cx="311277" cy="256032"/>
            </a:xfrm>
            <a:prstGeom prst="rect">
              <a:avLst/>
            </a:prstGeom>
            <a:noFill/>
          </p:spPr>
          <p:txBody>
            <a:bodyPr wrap="square" lIns="0" tIns="0" rIns="0" bIns="0">
              <a:spAutoFit/>
            </a:bodyPr>
            <a:lstStyle/>
            <a:p>
              <a:pPr algn="ctr"/>
              <a:r>
                <a:rPr sz="1600" b="1" i="1" u="none">
                  <a:solidFill>
                    <a:srgbClr val="0B2B4E"/>
                  </a:solidFill>
                  <a:latin typeface="Calibri"/>
                </a:rPr>
                <a:t>Q*</a:t>
              </a:r>
            </a:p>
          </p:txBody>
        </p:sp>
      </p:grpSp>
      <p:grpSp>
        <p:nvGrpSpPr>
          <p:cNvPr id="159" name="Group pair 159"/>
          <p:cNvGrpSpPr/>
          <p:nvPr/>
        </p:nvGrpSpPr>
        <p:grpSpPr>
          <a:xfrm>
            <a:off x="1737360" y="5870448"/>
            <a:ext cx="8686800" cy="530352"/>
            <a:chOff x="1737360" y="5870448"/>
            <a:chExt cx="8686800" cy="530352"/>
          </a:xfrm>
        </p:grpSpPr>
        <p:sp>
          <p:nvSpPr>
            <p:cNvPr id="54" name="MarginalNote"/>
            <p:cNvSpPr/>
            <p:nvPr/>
          </p:nvSpPr>
          <p:spPr>
            <a:xfrm>
              <a:off x="1737360" y="5870448"/>
              <a:ext cx="8686800" cy="530352"/>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1920240" y="5980176"/>
              <a:ext cx="8321040" cy="310896"/>
            </a:xfrm>
            <a:prstGeom prst="rect">
              <a:avLst/>
            </a:prstGeom>
            <a:noFill/>
          </p:spPr>
          <p:txBody>
            <a:bodyPr wrap="square" lIns="45720" tIns="0" rIns="45720" bIns="0" anchor="ctr">
              <a:spAutoFit/>
            </a:bodyPr>
            <a:lstStyle/>
            <a:p>
              <a:pPr algn="ctr"/>
              <a:r>
                <a:rPr sz="1900" b="0" i="0" u="none">
                  <a:solidFill>
                    <a:srgbClr val="0B2B4E"/>
                  </a:solidFill>
                  <a:latin typeface="Calibri"/>
                </a:rPr>
                <a:t>To find the profit-maximizing quantity, use marginal analysis (</a:t>
              </a:r>
              <a:r>
                <a:rPr sz="1900" b="1" i="1" u="none">
                  <a:solidFill>
                    <a:srgbClr val="0B2B4E"/>
                  </a:solidFill>
                  <a:latin typeface="Calibri"/>
                </a:rPr>
                <a:t>MR = MC</a:t>
              </a:r>
              <a:r>
                <a:rPr sz="1900" b="0" i="0" u="none">
                  <a:solidFill>
                    <a:srgbClr val="0B2B4E"/>
                  </a:solidFill>
                  <a:latin typeface="Calibri"/>
                </a:rPr>
                <a:t>)</a:t>
              </a:r>
            </a:p>
          </p:txBody>
        </p:sp>
      </p:grpSp>
      <p:sp>
        <p:nvSpPr>
          <p:cNvPr id="56" name="Rectangle 55"/>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5  ·  Monopoly and Monopolistic Competition</a:t>
            </a:r>
          </a:p>
        </p:txBody>
      </p:sp>
      <p:sp>
        <p:nvSpPr>
          <p:cNvPr id="59" name="TextBox 58"/>
          <p:cNvSpPr txBox="1"/>
          <p:nvPr/>
        </p:nvSpPr>
        <p:spPr>
          <a:xfrm>
            <a:off x="11475720" y="6583680"/>
            <a:ext cx="502920" cy="292608"/>
          </a:xfrm>
          <a:prstGeom prst="rect">
            <a:avLst/>
          </a:prstGeom>
          <a:noFill/>
        </p:spPr>
        <p:txBody>
          <a:bodyPr wrap="none" lIns="0" tIns="0" rIns="0" bIns="0">
            <a:spAutoFit/>
          </a:bodyPr>
          <a:lstStyle/>
          <a:p>
            <a:pPr algn="r"/>
            <a:fld id="{972B4CC0-F718-5ECA-B75E-378D901D90F2}" type="slidenum">
              <a:rPr lang="en-US" sz="1200" dirty="0">
                <a:solidFill>
                  <a:srgbClr val="555B66"/>
                </a:solidFill>
                <a:latin typeface="Calibri"/>
              </a:rPr>
              <a:t>12</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fade">
                                      <p:cBhvr>
                                        <p:cTn id="7" dur="500"/>
                                        <p:tgtEl>
                                          <p:spTgt spid="5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9"/>
                                        </p:tgtEl>
                                        <p:attrNameLst>
                                          <p:attrName>style.visibility</p:attrName>
                                        </p:attrNameLst>
                                      </p:cBhvr>
                                      <p:to>
                                        <p:strVal val="visible"/>
                                      </p:to>
                                    </p:set>
                                    <p:animEffect transition="in" filter="fade">
                                      <p:cBhvr>
                                        <p:cTn id="12" dur="500"/>
                                        <p:tgtEl>
                                          <p:spTgt spid="1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5 · Profit Maximization for Price Searchers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Price Searcher: Maximizing Profit Using MR=MC</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NV_s10_rId4.png"/>
          <p:cNvPicPr>
            <a:picLocks noChangeAspect="1"/>
          </p:cNvPicPr>
          <p:nvPr/>
        </p:nvPicPr>
        <p:blipFill>
          <a:blip r:embed="rId3"/>
          <a:stretch>
            <a:fillRect/>
          </a:stretch>
        </p:blipFill>
        <p:spPr>
          <a:xfrm>
            <a:off x="9464040" y="1298448"/>
            <a:ext cx="2331720" cy="507225"/>
          </a:xfrm>
          <a:prstGeom prst="rect">
            <a:avLst/>
          </a:prstGeom>
        </p:spPr>
      </p:pic>
      <p:cxnSp>
        <p:nvCxnSpPr>
          <p:cNvPr id="8" name="sdaxis:y"/>
          <p:cNvCxnSpPr/>
          <p:nvPr/>
        </p:nvCxnSpPr>
        <p:spPr>
          <a:xfrm flipV="1">
            <a:off x="1188720" y="1344167"/>
            <a:ext cx="0" cy="4462273"/>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9" name="sdaxis:x"/>
          <p:cNvCxnSpPr/>
          <p:nvPr/>
        </p:nvCxnSpPr>
        <p:spPr>
          <a:xfrm>
            <a:off x="1188720" y="5806440"/>
            <a:ext cx="656539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0" name="sdaxistitle:y"/>
          <p:cNvSpPr txBox="1"/>
          <p:nvPr/>
        </p:nvSpPr>
        <p:spPr>
          <a:xfrm>
            <a:off x="899541" y="1211579"/>
            <a:ext cx="216027" cy="265176"/>
          </a:xfrm>
          <a:prstGeom prst="rect">
            <a:avLst/>
          </a:prstGeom>
          <a:noFill/>
        </p:spPr>
        <p:txBody>
          <a:bodyPr wrap="square" lIns="0" tIns="0" rIns="0" bIns="0">
            <a:spAutoFit/>
          </a:bodyPr>
          <a:lstStyle/>
          <a:p>
            <a:pPr algn="l"/>
            <a:r>
              <a:rPr sz="2000" b="1" i="1" u="none">
                <a:solidFill>
                  <a:srgbClr val="0B2B4E"/>
                </a:solidFill>
                <a:latin typeface="Calibri"/>
              </a:rPr>
              <a:t>P</a:t>
            </a:r>
          </a:p>
        </p:txBody>
      </p:sp>
      <p:sp>
        <p:nvSpPr>
          <p:cNvPr id="11" name="sdaxistitle:x"/>
          <p:cNvSpPr txBox="1"/>
          <p:nvPr/>
        </p:nvSpPr>
        <p:spPr>
          <a:xfrm>
            <a:off x="7341298" y="5852159"/>
            <a:ext cx="825626" cy="265176"/>
          </a:xfrm>
          <a:prstGeom prst="rect">
            <a:avLst/>
          </a:prstGeom>
          <a:noFill/>
        </p:spPr>
        <p:txBody>
          <a:bodyPr wrap="square" lIns="0" tIns="0" rIns="0" bIns="0">
            <a:spAutoFit/>
          </a:bodyPr>
          <a:lstStyle/>
          <a:p>
            <a:pPr algn="l"/>
            <a:r>
              <a:rPr sz="2000" b="1" i="1" u="none">
                <a:solidFill>
                  <a:srgbClr val="0B2B4E"/>
                </a:solidFill>
                <a:latin typeface="Calibri"/>
              </a:rPr>
              <a:t>Output</a:t>
            </a:r>
          </a:p>
        </p:txBody>
      </p:sp>
      <p:grpSp>
        <p:nvGrpSpPr>
          <p:cNvPr id="136" name="sdpair:curve:D"/>
          <p:cNvGrpSpPr/>
          <p:nvPr/>
        </p:nvGrpSpPr>
        <p:grpSpPr>
          <a:xfrm>
            <a:off x="1188720" y="2500532"/>
            <a:ext cx="6172200" cy="1487658"/>
            <a:chOff x="1188720" y="2500532"/>
            <a:chExt cx="6172200" cy="1487658"/>
          </a:xfrm>
        </p:grpSpPr>
        <p:cxnSp>
          <p:nvCxnSpPr>
            <p:cNvPr id="12" name="sdcurve:D"/>
            <p:cNvCxnSpPr/>
            <p:nvPr/>
          </p:nvCxnSpPr>
          <p:spPr>
            <a:xfrm>
              <a:off x="1188720" y="2500532"/>
              <a:ext cx="6172200" cy="1487658"/>
            </a:xfrm>
            <a:prstGeom prst="line">
              <a:avLst/>
            </a:prstGeom>
            <a:ln w="34925">
              <a:solidFill>
                <a:srgbClr val="C00000"/>
              </a:solidFill>
            </a:ln>
          </p:spPr>
          <p:style>
            <a:lnRef idx="2">
              <a:schemeClr val="accent1"/>
            </a:lnRef>
            <a:fillRef idx="0">
              <a:schemeClr val="accent1"/>
            </a:fillRef>
            <a:effectRef idx="1">
              <a:schemeClr val="accent1"/>
            </a:effectRef>
            <a:fontRef idx="minor">
              <a:schemeClr val="tx1"/>
            </a:fontRef>
          </p:style>
        </p:cxnSp>
        <p:sp>
          <p:nvSpPr>
            <p:cNvPr id="13" name="sdcurvelab:D"/>
            <p:cNvSpPr txBox="1"/>
            <p:nvPr/>
          </p:nvSpPr>
          <p:spPr>
            <a:xfrm>
              <a:off x="7018020" y="3450687"/>
              <a:ext cx="244602" cy="292608"/>
            </a:xfrm>
            <a:prstGeom prst="rect">
              <a:avLst/>
            </a:prstGeom>
            <a:noFill/>
          </p:spPr>
          <p:txBody>
            <a:bodyPr wrap="square" lIns="0" tIns="0" rIns="0" bIns="0">
              <a:spAutoFit/>
            </a:bodyPr>
            <a:lstStyle/>
            <a:p>
              <a:pPr algn="l"/>
              <a:r>
                <a:rPr sz="2200" b="1" i="1" u="none">
                  <a:solidFill>
                    <a:srgbClr val="C00000"/>
                  </a:solidFill>
                  <a:latin typeface="Calibri"/>
                </a:rPr>
                <a:t>D</a:t>
              </a:r>
            </a:p>
          </p:txBody>
        </p:sp>
      </p:grpSp>
      <p:grpSp>
        <p:nvGrpSpPr>
          <p:cNvPr id="137" name="sdpair:curve:MR"/>
          <p:cNvGrpSpPr/>
          <p:nvPr/>
        </p:nvGrpSpPr>
        <p:grpSpPr>
          <a:xfrm>
            <a:off x="1188720" y="2500532"/>
            <a:ext cx="6515100" cy="3140612"/>
            <a:chOff x="1188720" y="2500532"/>
            <a:chExt cx="6515100" cy="3140612"/>
          </a:xfrm>
        </p:grpSpPr>
        <p:cxnSp>
          <p:nvCxnSpPr>
            <p:cNvPr id="14" name="sdcurve:MR"/>
            <p:cNvCxnSpPr/>
            <p:nvPr/>
          </p:nvCxnSpPr>
          <p:spPr>
            <a:xfrm>
              <a:off x="1188720" y="2500532"/>
              <a:ext cx="6515100" cy="3140612"/>
            </a:xfrm>
            <a:prstGeom prst="line">
              <a:avLst/>
            </a:prstGeom>
            <a:ln w="28575">
              <a:solidFill>
                <a:srgbClr val="C00000"/>
              </a:solidFill>
              <a:prstDash val="dash"/>
            </a:ln>
          </p:spPr>
          <p:style>
            <a:lnRef idx="2">
              <a:schemeClr val="accent1"/>
            </a:lnRef>
            <a:fillRef idx="0">
              <a:schemeClr val="accent1"/>
            </a:fillRef>
            <a:effectRef idx="1">
              <a:schemeClr val="accent1"/>
            </a:effectRef>
            <a:fontRef idx="minor">
              <a:schemeClr val="tx1"/>
            </a:fontRef>
          </p:style>
        </p:cxnSp>
        <p:sp>
          <p:nvSpPr>
            <p:cNvPr id="15" name="sdcurvelab:MR"/>
            <p:cNvSpPr txBox="1"/>
            <p:nvPr/>
          </p:nvSpPr>
          <p:spPr>
            <a:xfrm>
              <a:off x="7218822" y="5074139"/>
              <a:ext cx="473201" cy="292608"/>
            </a:xfrm>
            <a:prstGeom prst="rect">
              <a:avLst/>
            </a:prstGeom>
            <a:noFill/>
          </p:spPr>
          <p:txBody>
            <a:bodyPr wrap="square" lIns="0" tIns="0" rIns="0" bIns="0">
              <a:spAutoFit/>
            </a:bodyPr>
            <a:lstStyle/>
            <a:p>
              <a:pPr algn="l"/>
              <a:r>
                <a:rPr sz="2200" b="1" i="1" u="none">
                  <a:solidFill>
                    <a:srgbClr val="C00000"/>
                  </a:solidFill>
                  <a:latin typeface="Calibri"/>
                </a:rPr>
                <a:t>MR</a:t>
              </a:r>
            </a:p>
          </p:txBody>
        </p:sp>
      </p:grpSp>
      <p:grpSp>
        <p:nvGrpSpPr>
          <p:cNvPr id="138" name="sdpair:curve:MC"/>
          <p:cNvGrpSpPr/>
          <p:nvPr/>
        </p:nvGrpSpPr>
        <p:grpSpPr>
          <a:xfrm>
            <a:off x="1188720" y="1390005"/>
            <a:ext cx="4908040" cy="4416435"/>
            <a:chOff x="1188720" y="1390005"/>
            <a:chExt cx="4908040" cy="4416435"/>
          </a:xfrm>
        </p:grpSpPr>
        <p:cxnSp>
          <p:nvCxnSpPr>
            <p:cNvPr id="16" name="sdcurve:MC"/>
            <p:cNvCxnSpPr/>
            <p:nvPr/>
          </p:nvCxnSpPr>
          <p:spPr>
            <a:xfrm flipV="1">
              <a:off x="1188720" y="1618956"/>
              <a:ext cx="4343400" cy="4187484"/>
            </a:xfrm>
            <a:prstGeom prst="line">
              <a:avLst/>
            </a:prstGeom>
            <a:ln w="34925">
              <a:solidFill>
                <a:srgbClr val="0B2B4E"/>
              </a:solidFill>
            </a:ln>
          </p:spPr>
          <p:style>
            <a:lnRef idx="2">
              <a:schemeClr val="accent1"/>
            </a:lnRef>
            <a:fillRef idx="0">
              <a:schemeClr val="accent1"/>
            </a:fillRef>
            <a:effectRef idx="1">
              <a:schemeClr val="accent1"/>
            </a:effectRef>
            <a:fontRef idx="minor">
              <a:schemeClr val="tx1"/>
            </a:fontRef>
          </p:style>
        </p:cxnSp>
        <p:sp>
          <p:nvSpPr>
            <p:cNvPr id="17" name="sdcurvelab:MC"/>
            <p:cNvSpPr txBox="1"/>
            <p:nvPr/>
          </p:nvSpPr>
          <p:spPr>
            <a:xfrm>
              <a:off x="5623559" y="1390005"/>
              <a:ext cx="473201" cy="292608"/>
            </a:xfrm>
            <a:prstGeom prst="rect">
              <a:avLst/>
            </a:prstGeom>
            <a:noFill/>
          </p:spPr>
          <p:txBody>
            <a:bodyPr wrap="square" lIns="0" tIns="0" rIns="0" bIns="0">
              <a:spAutoFit/>
            </a:bodyPr>
            <a:lstStyle/>
            <a:p>
              <a:pPr algn="l"/>
              <a:r>
                <a:rPr sz="2200" b="1" i="1" u="none">
                  <a:solidFill>
                    <a:srgbClr val="0B2B4E"/>
                  </a:solidFill>
                  <a:latin typeface="Calibri"/>
                </a:rPr>
                <a:t>MC</a:t>
              </a:r>
            </a:p>
          </p:txBody>
        </p:sp>
      </p:grpSp>
      <p:grpSp>
        <p:nvGrpSpPr>
          <p:cNvPr id="140" name="sdpair:sdreglab:8d9f9078"/>
          <p:cNvGrpSpPr/>
          <p:nvPr/>
        </p:nvGrpSpPr>
        <p:grpSpPr>
          <a:xfrm>
            <a:off x="1188720" y="3051516"/>
            <a:ext cx="2286000" cy="1256245"/>
            <a:chOff x="1188720" y="3051516"/>
            <a:chExt cx="2286000" cy="1256245"/>
          </a:xfrm>
        </p:grpSpPr>
        <p:sp>
          <p:nvSpPr>
            <p:cNvPr id="18" name="sdregion:8d9f9078"/>
            <p:cNvSpPr/>
            <p:nvPr/>
          </p:nvSpPr>
          <p:spPr>
            <a:xfrm>
              <a:off x="1188720" y="3051516"/>
              <a:ext cx="2286000" cy="1256245"/>
            </a:xfrm>
            <a:custGeom>
              <a:avLst/>
              <a:gdLst/>
              <a:ahLst/>
              <a:cxnLst/>
              <a:rect l="0" t="0" r="r" b="b"/>
              <a:pathLst>
                <a:path w="2286000" h="1256245">
                  <a:moveTo>
                    <a:pt x="0" y="1256245"/>
                  </a:moveTo>
                  <a:lnTo>
                    <a:pt x="2286000" y="1256245"/>
                  </a:lnTo>
                  <a:lnTo>
                    <a:pt x="2286000" y="0"/>
                  </a:lnTo>
                  <a:lnTo>
                    <a:pt x="0" y="0"/>
                  </a:lnTo>
                  <a:close/>
                </a:path>
              </a:pathLst>
            </a:custGeom>
            <a:solidFill>
              <a:srgbClr val="C00000">
                <a:alpha val="22000"/>
              </a:srgbClr>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sdreglab:8d9f9078"/>
            <p:cNvSpPr txBox="1"/>
            <p:nvPr/>
          </p:nvSpPr>
          <p:spPr>
            <a:xfrm>
              <a:off x="2255520" y="3424896"/>
              <a:ext cx="701040" cy="685800"/>
            </a:xfrm>
            <a:prstGeom prst="rect">
              <a:avLst/>
            </a:prstGeom>
            <a:noFill/>
          </p:spPr>
          <p:txBody>
            <a:bodyPr wrap="square" lIns="0" tIns="0" rIns="0" bIns="0" anchor="ctr">
              <a:spAutoFit/>
            </a:bodyPr>
            <a:lstStyle/>
            <a:p>
              <a:pPr algn="ctr"/>
              <a:r>
                <a:rPr sz="2000" b="1" i="0" u="none">
                  <a:solidFill>
                    <a:srgbClr val="0B2B4E"/>
                  </a:solidFill>
                  <a:latin typeface="Calibri"/>
                </a:rPr>
                <a:t>Profit
π &gt; 0</a:t>
              </a:r>
            </a:p>
          </p:txBody>
        </p:sp>
      </p:grpSp>
      <p:grpSp>
        <p:nvGrpSpPr>
          <p:cNvPr id="139" name="sdpair:curve:ATC"/>
          <p:cNvGrpSpPr/>
          <p:nvPr/>
        </p:nvGrpSpPr>
        <p:grpSpPr>
          <a:xfrm>
            <a:off x="1416411" y="1713758"/>
            <a:ext cx="6615831" cy="2773527"/>
            <a:chOff x="1416411" y="1713758"/>
            <a:chExt cx="6615831" cy="2773527"/>
          </a:xfrm>
        </p:grpSpPr>
        <p:sp>
          <p:nvSpPr>
            <p:cNvPr id="20" name="sdcurve:ATC"/>
            <p:cNvSpPr/>
            <p:nvPr/>
          </p:nvSpPr>
          <p:spPr>
            <a:xfrm>
              <a:off x="1416411" y="1713758"/>
              <a:ext cx="6058809" cy="2773527"/>
            </a:xfrm>
            <a:custGeom>
              <a:avLst/>
              <a:gdLst/>
              <a:ahLst/>
              <a:cxnLst/>
              <a:rect l="0" t="0" r="r" b="b"/>
              <a:pathLst>
                <a:path w="6058809" h="2773527" fill="none">
                  <a:moveTo>
                    <a:pt x="0" y="0"/>
                  </a:moveTo>
                  <a:cubicBezTo>
                    <a:pt x="8745" y="120113"/>
                    <a:pt x="32966" y="504712"/>
                    <a:pt x="52473" y="720682"/>
                  </a:cubicBezTo>
                  <a:cubicBezTo>
                    <a:pt x="71979" y="936651"/>
                    <a:pt x="93037" y="1124226"/>
                    <a:pt x="117039" y="1295818"/>
                  </a:cubicBezTo>
                  <a:cubicBezTo>
                    <a:pt x="141040" y="1467409"/>
                    <a:pt x="166950" y="1615611"/>
                    <a:pt x="196484" y="1750232"/>
                  </a:cubicBezTo>
                  <a:cubicBezTo>
                    <a:pt x="226017" y="1884852"/>
                    <a:pt x="257898" y="2000079"/>
                    <a:pt x="294238" y="2103539"/>
                  </a:cubicBezTo>
                  <a:cubicBezTo>
                    <a:pt x="330577" y="2206998"/>
                    <a:pt x="369805" y="2294223"/>
                    <a:pt x="414520" y="2370988"/>
                  </a:cubicBezTo>
                  <a:cubicBezTo>
                    <a:pt x="459234" y="2447752"/>
                    <a:pt x="507504" y="2510741"/>
                    <a:pt x="562523" y="2564124"/>
                  </a:cubicBezTo>
                  <a:cubicBezTo>
                    <a:pt x="617541" y="2617506"/>
                    <a:pt x="676934" y="2658977"/>
                    <a:pt x="744633" y="2691282"/>
                  </a:cubicBezTo>
                  <a:cubicBezTo>
                    <a:pt x="812331" y="2723586"/>
                    <a:pt x="885412" y="2745329"/>
                    <a:pt x="968712" y="2757951"/>
                  </a:cubicBezTo>
                  <a:cubicBezTo>
                    <a:pt x="1052011" y="2770572"/>
                    <a:pt x="1141934" y="2773527"/>
                    <a:pt x="1244431" y="2767010"/>
                  </a:cubicBezTo>
                  <a:cubicBezTo>
                    <a:pt x="1346927" y="2760492"/>
                    <a:pt x="1457574" y="2744785"/>
                    <a:pt x="1583692" y="2718848"/>
                  </a:cubicBezTo>
                  <a:cubicBezTo>
                    <a:pt x="1709809" y="2692910"/>
                    <a:pt x="1845955" y="2657863"/>
                    <a:pt x="2001138" y="2611387"/>
                  </a:cubicBezTo>
                  <a:cubicBezTo>
                    <a:pt x="2156320" y="2564910"/>
                    <a:pt x="2323841" y="2509010"/>
                    <a:pt x="2514787" y="2439988"/>
                  </a:cubicBezTo>
                  <a:cubicBezTo>
                    <a:pt x="2705732" y="2370966"/>
                    <a:pt x="2911859" y="2291801"/>
                    <a:pt x="3146810" y="2197255"/>
                  </a:cubicBezTo>
                  <a:cubicBezTo>
                    <a:pt x="3381760" y="2102708"/>
                    <a:pt x="3635392" y="1996860"/>
                    <a:pt x="3924488" y="1872708"/>
                  </a:cubicBezTo>
                  <a:cubicBezTo>
                    <a:pt x="4213584" y="1748555"/>
                    <a:pt x="4525665" y="1611457"/>
                    <a:pt x="4881386" y="1452341"/>
                  </a:cubicBezTo>
                  <a:cubicBezTo>
                    <a:pt x="5237106" y="1293224"/>
                    <a:pt x="5862571" y="1007063"/>
                    <a:pt x="6058809" y="918008"/>
                  </a:cubicBezTo>
                </a:path>
              </a:pathLst>
            </a:custGeom>
            <a:noFill/>
            <a:ln w="34925">
              <a:solidFill>
                <a:srgbClr val="E09F3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sdcurvelab:ATC"/>
            <p:cNvSpPr txBox="1"/>
            <p:nvPr/>
          </p:nvSpPr>
          <p:spPr>
            <a:xfrm>
              <a:off x="7520940" y="2320167"/>
              <a:ext cx="511302" cy="292608"/>
            </a:xfrm>
            <a:prstGeom prst="rect">
              <a:avLst/>
            </a:prstGeom>
            <a:noFill/>
          </p:spPr>
          <p:txBody>
            <a:bodyPr wrap="square" lIns="0" tIns="0" rIns="0" bIns="0">
              <a:spAutoFit/>
            </a:bodyPr>
            <a:lstStyle/>
            <a:p>
              <a:pPr algn="l"/>
              <a:r>
                <a:rPr sz="2000" b="1" i="1" u="none">
                  <a:solidFill>
                    <a:srgbClr val="E09F3E"/>
                  </a:solidFill>
                  <a:latin typeface="Calibri"/>
                </a:rPr>
                <a:t>ATC</a:t>
              </a:r>
            </a:p>
          </p:txBody>
        </p:sp>
      </p:grpSp>
      <p:sp>
        <p:nvSpPr>
          <p:cNvPr id="22" name="PtATCmin"/>
          <p:cNvSpPr/>
          <p:nvPr/>
        </p:nvSpPr>
        <p:spPr>
          <a:xfrm>
            <a:off x="2491740" y="4415496"/>
            <a:ext cx="137160" cy="137160"/>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3" name="gQ"/>
          <p:cNvCxnSpPr/>
          <p:nvPr/>
        </p:nvCxnSpPr>
        <p:spPr>
          <a:xfrm flipV="1">
            <a:off x="3474720" y="3051516"/>
            <a:ext cx="0" cy="2754924"/>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285744" y="5861303"/>
            <a:ext cx="377952" cy="274320"/>
          </a:xfrm>
          <a:prstGeom prst="rect">
            <a:avLst/>
          </a:prstGeom>
          <a:noFill/>
        </p:spPr>
        <p:txBody>
          <a:bodyPr wrap="square" lIns="0" tIns="0" rIns="0" bIns="0">
            <a:spAutoFit/>
          </a:bodyPr>
          <a:lstStyle/>
          <a:p>
            <a:pPr algn="ctr"/>
            <a:r>
              <a:rPr sz="2000" b="1" i="1" u="none">
                <a:solidFill>
                  <a:srgbClr val="0B2B4E"/>
                </a:solidFill>
                <a:latin typeface="Calibri"/>
              </a:rPr>
              <a:t>Q*</a:t>
            </a:r>
          </a:p>
        </p:txBody>
      </p:sp>
      <p:cxnSp>
        <p:nvCxnSpPr>
          <p:cNvPr id="25" name="gP"/>
          <p:cNvCxnSpPr/>
          <p:nvPr/>
        </p:nvCxnSpPr>
        <p:spPr>
          <a:xfrm>
            <a:off x="1188720" y="3051516"/>
            <a:ext cx="2286000"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26" name="gA"/>
          <p:cNvCxnSpPr/>
          <p:nvPr/>
        </p:nvCxnSpPr>
        <p:spPr>
          <a:xfrm>
            <a:off x="1188720" y="4307761"/>
            <a:ext cx="2286000"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75716" y="2914356"/>
            <a:ext cx="339852" cy="274320"/>
          </a:xfrm>
          <a:prstGeom prst="rect">
            <a:avLst/>
          </a:prstGeom>
          <a:noFill/>
        </p:spPr>
        <p:txBody>
          <a:bodyPr wrap="square" lIns="0" tIns="0" rIns="0" bIns="0">
            <a:spAutoFit/>
          </a:bodyPr>
          <a:lstStyle/>
          <a:p>
            <a:pPr algn="r"/>
            <a:r>
              <a:rPr sz="2000" b="1" i="1" u="none">
                <a:solidFill>
                  <a:srgbClr val="0B2B4E"/>
                </a:solidFill>
                <a:latin typeface="Calibri"/>
              </a:rPr>
              <a:t>P*</a:t>
            </a:r>
          </a:p>
        </p:txBody>
      </p:sp>
      <p:sp>
        <p:nvSpPr>
          <p:cNvPr id="28" name="TextBox 27"/>
          <p:cNvSpPr txBox="1"/>
          <p:nvPr/>
        </p:nvSpPr>
        <p:spPr>
          <a:xfrm>
            <a:off x="604266" y="4170601"/>
            <a:ext cx="511302" cy="274320"/>
          </a:xfrm>
          <a:prstGeom prst="rect">
            <a:avLst/>
          </a:prstGeom>
          <a:noFill/>
        </p:spPr>
        <p:txBody>
          <a:bodyPr wrap="square" lIns="0" tIns="0" rIns="0" bIns="0">
            <a:spAutoFit/>
          </a:bodyPr>
          <a:lstStyle/>
          <a:p>
            <a:pPr algn="r"/>
            <a:r>
              <a:rPr sz="2000" b="0" i="1" u="none">
                <a:solidFill>
                  <a:srgbClr val="0B2B4E"/>
                </a:solidFill>
                <a:latin typeface="Calibri"/>
              </a:rPr>
              <a:t>ATC</a:t>
            </a:r>
          </a:p>
        </p:txBody>
      </p:sp>
      <p:pic>
        <p:nvPicPr>
          <p:cNvPr id="29" name="Picture 28" descr="NV_s12_rId4.png"/>
          <p:cNvPicPr>
            <a:picLocks noChangeAspect="1"/>
          </p:cNvPicPr>
          <p:nvPr/>
        </p:nvPicPr>
        <p:blipFill>
          <a:blip r:embed="rId4"/>
          <a:stretch>
            <a:fillRect/>
          </a:stretch>
        </p:blipFill>
        <p:spPr>
          <a:xfrm>
            <a:off x="8732520" y="1920240"/>
            <a:ext cx="2379878" cy="2926080"/>
          </a:xfrm>
          <a:prstGeom prst="roundRect">
            <a:avLst>
              <a:gd name="adj" fmla="val 8000"/>
            </a:avLst>
          </a:prstGeom>
          <a:effectLst>
            <a:outerShdw blurRad="50800" dist="38100" dir="2700000" algn="tl" rotWithShape="0">
              <a:srgbClr val="000000">
                <a:alpha val="50000"/>
              </a:srgbClr>
            </a:outerShdw>
          </a:effectLst>
        </p:spPr>
      </p:pic>
      <p:grpSp>
        <p:nvGrpSpPr>
          <p:cNvPr id="135" name="Group pair 135"/>
          <p:cNvGrpSpPr/>
          <p:nvPr/>
        </p:nvGrpSpPr>
        <p:grpSpPr>
          <a:xfrm>
            <a:off x="8183879" y="5120640"/>
            <a:ext cx="3703320" cy="841248"/>
            <a:chOff x="8183879" y="5120640"/>
            <a:chExt cx="3703320" cy="841248"/>
          </a:xfrm>
        </p:grpSpPr>
        <p:sp>
          <p:nvSpPr>
            <p:cNvPr id="30" name="RentNote"/>
            <p:cNvSpPr/>
            <p:nvPr/>
          </p:nvSpPr>
          <p:spPr>
            <a:xfrm>
              <a:off x="8183879" y="5120640"/>
              <a:ext cx="3703320" cy="841248"/>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366759" y="5230368"/>
              <a:ext cx="3337560" cy="621792"/>
            </a:xfrm>
            <a:prstGeom prst="rect">
              <a:avLst/>
            </a:prstGeom>
            <a:noFill/>
          </p:spPr>
          <p:txBody>
            <a:bodyPr wrap="square" lIns="45720" tIns="0" rIns="45720" bIns="0" anchor="ctr">
              <a:spAutoFit/>
            </a:bodyPr>
            <a:lstStyle/>
            <a:p>
              <a:pPr algn="l"/>
              <a:r>
                <a:rPr sz="1800" b="0" i="0" u="none">
                  <a:solidFill>
                    <a:srgbClr val="0B2B4E"/>
                  </a:solidFill>
                  <a:latin typeface="Calibri"/>
                </a:rPr>
                <a:t>Now suppose: rent increases → </a:t>
              </a:r>
              <a:r>
                <a:rPr sz="1800" b="0" i="1" u="none">
                  <a:solidFill>
                    <a:srgbClr val="0B2B4E"/>
                  </a:solidFill>
                  <a:latin typeface="Calibri"/>
                </a:rPr>
                <a:t>ATC</a:t>
              </a:r>
              <a:r>
                <a:rPr sz="1800" b="0" i="0" u="none">
                  <a:solidFill>
                    <a:srgbClr val="0B2B4E"/>
                  </a:solidFill>
                  <a:latin typeface="Calibri"/>
                </a:rPr>
                <a:t> moves up (next slide)</a:t>
              </a:r>
            </a:p>
          </p:txBody>
        </p:sp>
      </p:grpSp>
      <p:sp>
        <p:nvSpPr>
          <p:cNvPr id="32" name="Rectangle 3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5  ·  Monopoly and Monopolistic Competition</a:t>
            </a:r>
          </a:p>
        </p:txBody>
      </p:sp>
      <p:sp>
        <p:nvSpPr>
          <p:cNvPr id="35" name="TextBox 34"/>
          <p:cNvSpPr txBox="1"/>
          <p:nvPr/>
        </p:nvSpPr>
        <p:spPr>
          <a:xfrm>
            <a:off x="11475720" y="6583680"/>
            <a:ext cx="502920" cy="292608"/>
          </a:xfrm>
          <a:prstGeom prst="rect">
            <a:avLst/>
          </a:prstGeom>
          <a:noFill/>
        </p:spPr>
        <p:txBody>
          <a:bodyPr wrap="none" lIns="0" tIns="0" rIns="0" bIns="0">
            <a:spAutoFit/>
          </a:bodyPr>
          <a:lstStyle/>
          <a:p>
            <a:pPr algn="r"/>
            <a:fld id="{F2164A52-DE7E-5885-B494-5082134294D2}" type="slidenum">
              <a:rPr lang="en-US" sz="1200" dirty="0">
                <a:solidFill>
                  <a:srgbClr val="555B66"/>
                </a:solidFill>
                <a:latin typeface="Calibri"/>
              </a:rPr>
              <a:t>13</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6"/>
                                        </p:tgtEl>
                                        <p:attrNameLst>
                                          <p:attrName>style.visibility</p:attrName>
                                        </p:attrNameLst>
                                      </p:cBhvr>
                                      <p:to>
                                        <p:strVal val="visible"/>
                                      </p:to>
                                    </p:set>
                                    <p:animEffect transition="in" filter="fade">
                                      <p:cBhvr>
                                        <p:cTn id="7" dur="500"/>
                                        <p:tgtEl>
                                          <p:spTgt spid="13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8"/>
                                        </p:tgtEl>
                                        <p:attrNameLst>
                                          <p:attrName>style.visibility</p:attrName>
                                        </p:attrNameLst>
                                      </p:cBhvr>
                                      <p:to>
                                        <p:strVal val="visible"/>
                                      </p:to>
                                    </p:set>
                                    <p:animEffect transition="in" filter="fade">
                                      <p:cBhvr>
                                        <p:cTn id="12" dur="500"/>
                                        <p:tgtEl>
                                          <p:spTgt spid="13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7"/>
                                        </p:tgtEl>
                                        <p:attrNameLst>
                                          <p:attrName>style.visibility</p:attrName>
                                        </p:attrNameLst>
                                      </p:cBhvr>
                                      <p:to>
                                        <p:strVal val="visible"/>
                                      </p:to>
                                    </p:set>
                                    <p:animEffect transition="in" filter="fade">
                                      <p:cBhvr>
                                        <p:cTn id="17" dur="500"/>
                                        <p:tgtEl>
                                          <p:spTgt spid="13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500"/>
                                        <p:tgtEl>
                                          <p:spTgt spid="23"/>
                                        </p:tgtEl>
                                      </p:cBhvr>
                                    </p:animEffect>
                                  </p:childTnLst>
                                </p:cTn>
                              </p:par>
                              <p:par>
                                <p:cTn id="23" presetID="10" presetClass="entr" presetSubtype="0" fill="hold"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500"/>
                                        <p:tgtEl>
                                          <p:spTgt spid="2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39"/>
                                        </p:tgtEl>
                                        <p:attrNameLst>
                                          <p:attrName>style.visibility</p:attrName>
                                        </p:attrNameLst>
                                      </p:cBhvr>
                                      <p:to>
                                        <p:strVal val="visible"/>
                                      </p:to>
                                    </p:set>
                                    <p:animEffect transition="in" filter="fade">
                                      <p:cBhvr>
                                        <p:cTn id="30" dur="500"/>
                                        <p:tgtEl>
                                          <p:spTgt spid="139"/>
                                        </p:tgtEl>
                                      </p:cBhvr>
                                    </p:animEffect>
                                  </p:childTnLst>
                                </p:cTn>
                              </p:par>
                              <p:par>
                                <p:cTn id="31" presetID="10" presetClass="entr" presetSubtype="0" fill="hold" nodeType="with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500"/>
                                        <p:tgtEl>
                                          <p:spTgt spid="22"/>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500"/>
                                        <p:tgtEl>
                                          <p:spTgt spid="25"/>
                                        </p:tgtEl>
                                      </p:cBhvr>
                                    </p:animEffect>
                                  </p:childTnLst>
                                </p:cTn>
                              </p:par>
                              <p:par>
                                <p:cTn id="39" presetID="10" presetClass="entr" presetSubtype="0" fill="hold" nodeType="withEffect">
                                  <p:stCondLst>
                                    <p:cond delay="0"/>
                                  </p:stCondLst>
                                  <p:childTnLst>
                                    <p:set>
                                      <p:cBhvr>
                                        <p:cTn id="40" dur="1" fill="hold">
                                          <p:stCondLst>
                                            <p:cond delay="0"/>
                                          </p:stCondLst>
                                        </p:cTn>
                                        <p:tgtEl>
                                          <p:spTgt spid="26"/>
                                        </p:tgtEl>
                                        <p:attrNameLst>
                                          <p:attrName>style.visibility</p:attrName>
                                        </p:attrNameLst>
                                      </p:cBhvr>
                                      <p:to>
                                        <p:strVal val="visible"/>
                                      </p:to>
                                    </p:set>
                                    <p:animEffect transition="in" filter="fade">
                                      <p:cBhvr>
                                        <p:cTn id="41" dur="500"/>
                                        <p:tgtEl>
                                          <p:spTgt spid="26"/>
                                        </p:tgtEl>
                                      </p:cBhvr>
                                    </p:animEffect>
                                  </p:childTnLst>
                                </p:cTn>
                              </p:par>
                              <p:par>
                                <p:cTn id="42" presetID="10" presetClass="entr" presetSubtype="0" fill="hold" nodeType="withEffect">
                                  <p:stCondLst>
                                    <p:cond delay="0"/>
                                  </p:stCondLst>
                                  <p:childTnLst>
                                    <p:set>
                                      <p:cBhvr>
                                        <p:cTn id="43" dur="1" fill="hold">
                                          <p:stCondLst>
                                            <p:cond delay="0"/>
                                          </p:stCondLst>
                                        </p:cTn>
                                        <p:tgtEl>
                                          <p:spTgt spid="27"/>
                                        </p:tgtEl>
                                        <p:attrNameLst>
                                          <p:attrName>style.visibility</p:attrName>
                                        </p:attrNameLst>
                                      </p:cBhvr>
                                      <p:to>
                                        <p:strVal val="visible"/>
                                      </p:to>
                                    </p:set>
                                    <p:animEffect transition="in" filter="fade">
                                      <p:cBhvr>
                                        <p:cTn id="44" dur="500"/>
                                        <p:tgtEl>
                                          <p:spTgt spid="27"/>
                                        </p:tgtEl>
                                      </p:cBhvr>
                                    </p:animEffect>
                                  </p:childTnLst>
                                </p:cTn>
                              </p:par>
                              <p:par>
                                <p:cTn id="45" presetID="10" presetClass="entr" presetSubtype="0" fill="hold" nodeType="withEffect">
                                  <p:stCondLst>
                                    <p:cond delay="0"/>
                                  </p:stCondLst>
                                  <p:childTnLst>
                                    <p:set>
                                      <p:cBhvr>
                                        <p:cTn id="46" dur="1" fill="hold">
                                          <p:stCondLst>
                                            <p:cond delay="0"/>
                                          </p:stCondLst>
                                        </p:cTn>
                                        <p:tgtEl>
                                          <p:spTgt spid="28"/>
                                        </p:tgtEl>
                                        <p:attrNameLst>
                                          <p:attrName>style.visibility</p:attrName>
                                        </p:attrNameLst>
                                      </p:cBhvr>
                                      <p:to>
                                        <p:strVal val="visible"/>
                                      </p:to>
                                    </p:set>
                                    <p:animEffect transition="in" filter="fade">
                                      <p:cBhvr>
                                        <p:cTn id="47" dur="500"/>
                                        <p:tgtEl>
                                          <p:spTgt spid="28"/>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40"/>
                                        </p:tgtEl>
                                        <p:attrNameLst>
                                          <p:attrName>style.visibility</p:attrName>
                                        </p:attrNameLst>
                                      </p:cBhvr>
                                      <p:to>
                                        <p:strVal val="visible"/>
                                      </p:to>
                                    </p:set>
                                    <p:animEffect transition="in" filter="fade">
                                      <p:cBhvr>
                                        <p:cTn id="52" dur="500"/>
                                        <p:tgtEl>
                                          <p:spTgt spid="140"/>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35"/>
                                        </p:tgtEl>
                                        <p:attrNameLst>
                                          <p:attrName>style.visibility</p:attrName>
                                        </p:attrNameLst>
                                      </p:cBhvr>
                                      <p:to>
                                        <p:strVal val="visible"/>
                                      </p:to>
                                    </p:set>
                                    <p:animEffect transition="in" filter="fade">
                                      <p:cBhvr>
                                        <p:cTn id="57" dur="500"/>
                                        <p:tgtEl>
                                          <p:spTgt spid="1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5 · Profit Maximization for Price Searchers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Price Searcher: Minimizing Loss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NV_s10_rId4.png"/>
          <p:cNvPicPr>
            <a:picLocks noChangeAspect="1"/>
          </p:cNvPicPr>
          <p:nvPr/>
        </p:nvPicPr>
        <p:blipFill>
          <a:blip r:embed="rId3"/>
          <a:stretch>
            <a:fillRect/>
          </a:stretch>
        </p:blipFill>
        <p:spPr>
          <a:xfrm>
            <a:off x="9464040" y="1298448"/>
            <a:ext cx="2331720" cy="507225"/>
          </a:xfrm>
          <a:prstGeom prst="rect">
            <a:avLst/>
          </a:prstGeom>
        </p:spPr>
      </p:pic>
      <p:cxnSp>
        <p:nvCxnSpPr>
          <p:cNvPr id="8" name="sdaxis:y"/>
          <p:cNvCxnSpPr/>
          <p:nvPr/>
        </p:nvCxnSpPr>
        <p:spPr>
          <a:xfrm flipV="1">
            <a:off x="1188720" y="1344167"/>
            <a:ext cx="0" cy="4462273"/>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9" name="sdaxis:x"/>
          <p:cNvCxnSpPr/>
          <p:nvPr/>
        </p:nvCxnSpPr>
        <p:spPr>
          <a:xfrm>
            <a:off x="1188720" y="5806440"/>
            <a:ext cx="656539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0" name="sdaxistitle:y"/>
          <p:cNvSpPr txBox="1"/>
          <p:nvPr/>
        </p:nvSpPr>
        <p:spPr>
          <a:xfrm>
            <a:off x="899541" y="1211579"/>
            <a:ext cx="216027" cy="265176"/>
          </a:xfrm>
          <a:prstGeom prst="rect">
            <a:avLst/>
          </a:prstGeom>
          <a:noFill/>
        </p:spPr>
        <p:txBody>
          <a:bodyPr wrap="square" lIns="0" tIns="0" rIns="0" bIns="0">
            <a:spAutoFit/>
          </a:bodyPr>
          <a:lstStyle/>
          <a:p>
            <a:pPr algn="l"/>
            <a:r>
              <a:rPr sz="2000" b="1" i="1" u="none">
                <a:solidFill>
                  <a:srgbClr val="0B2B4E"/>
                </a:solidFill>
                <a:latin typeface="Calibri"/>
              </a:rPr>
              <a:t>P</a:t>
            </a:r>
          </a:p>
        </p:txBody>
      </p:sp>
      <p:sp>
        <p:nvSpPr>
          <p:cNvPr id="11" name="sdaxistitle:x"/>
          <p:cNvSpPr txBox="1"/>
          <p:nvPr/>
        </p:nvSpPr>
        <p:spPr>
          <a:xfrm>
            <a:off x="7341298" y="5852159"/>
            <a:ext cx="825626" cy="265176"/>
          </a:xfrm>
          <a:prstGeom prst="rect">
            <a:avLst/>
          </a:prstGeom>
          <a:noFill/>
        </p:spPr>
        <p:txBody>
          <a:bodyPr wrap="square" lIns="0" tIns="0" rIns="0" bIns="0">
            <a:spAutoFit/>
          </a:bodyPr>
          <a:lstStyle/>
          <a:p>
            <a:pPr algn="l"/>
            <a:r>
              <a:rPr sz="2000" b="1" i="1" u="none">
                <a:solidFill>
                  <a:srgbClr val="0B2B4E"/>
                </a:solidFill>
                <a:latin typeface="Calibri"/>
              </a:rPr>
              <a:t>Output</a:t>
            </a:r>
          </a:p>
        </p:txBody>
      </p:sp>
      <p:grpSp>
        <p:nvGrpSpPr>
          <p:cNvPr id="149" name="sdpair:sdreglab:c627e260"/>
          <p:cNvGrpSpPr/>
          <p:nvPr/>
        </p:nvGrpSpPr>
        <p:grpSpPr>
          <a:xfrm>
            <a:off x="1188720" y="2776024"/>
            <a:ext cx="2286000" cy="275492"/>
            <a:chOff x="1188720" y="2776024"/>
            <a:chExt cx="2286000" cy="275492"/>
          </a:xfrm>
        </p:grpSpPr>
        <p:sp>
          <p:nvSpPr>
            <p:cNvPr id="12" name="sdregion:c627e260"/>
            <p:cNvSpPr/>
            <p:nvPr/>
          </p:nvSpPr>
          <p:spPr>
            <a:xfrm>
              <a:off x="1188720" y="2776024"/>
              <a:ext cx="2286000" cy="275492"/>
            </a:xfrm>
            <a:custGeom>
              <a:avLst/>
              <a:gdLst/>
              <a:ahLst/>
              <a:cxnLst/>
              <a:rect l="0" t="0" r="r" b="b"/>
              <a:pathLst>
                <a:path w="2286000" h="275492">
                  <a:moveTo>
                    <a:pt x="0" y="275492"/>
                  </a:moveTo>
                  <a:lnTo>
                    <a:pt x="2286000" y="275492"/>
                  </a:lnTo>
                  <a:lnTo>
                    <a:pt x="2286000" y="0"/>
                  </a:lnTo>
                  <a:lnTo>
                    <a:pt x="0" y="0"/>
                  </a:lnTo>
                  <a:close/>
                </a:path>
              </a:pathLst>
            </a:custGeom>
            <a:solidFill>
              <a:srgbClr val="555B66">
                <a:alpha val="24000"/>
              </a:srgbClr>
            </a:solidFill>
            <a:ln w="12700">
              <a:solidFill>
                <a:srgbClr val="555B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sdreglab:c627e260"/>
            <p:cNvSpPr txBox="1"/>
            <p:nvPr/>
          </p:nvSpPr>
          <p:spPr>
            <a:xfrm>
              <a:off x="2152650" y="2810900"/>
              <a:ext cx="358140" cy="205740"/>
            </a:xfrm>
            <a:prstGeom prst="rect">
              <a:avLst/>
            </a:prstGeom>
            <a:noFill/>
          </p:spPr>
          <p:txBody>
            <a:bodyPr wrap="square" lIns="0" tIns="0" rIns="0" bIns="0" anchor="ctr">
              <a:spAutoFit/>
            </a:bodyPr>
            <a:lstStyle/>
            <a:p>
              <a:pPr algn="ctr"/>
              <a:r>
                <a:rPr sz="1200" b="1" i="0" u="none">
                  <a:solidFill>
                    <a:srgbClr val="0B2B4E"/>
                  </a:solidFill>
                  <a:latin typeface="Calibri"/>
                </a:rPr>
                <a:t>Loss</a:t>
              </a:r>
            </a:p>
          </p:txBody>
        </p:sp>
      </p:grpSp>
      <p:grpSp>
        <p:nvGrpSpPr>
          <p:cNvPr id="150" name="sdpair:sdreglab:79ecbbcd"/>
          <p:cNvGrpSpPr/>
          <p:nvPr/>
        </p:nvGrpSpPr>
        <p:grpSpPr>
          <a:xfrm>
            <a:off x="1188720" y="3051516"/>
            <a:ext cx="2286000" cy="1652954"/>
            <a:chOff x="1188720" y="3051516"/>
            <a:chExt cx="2286000" cy="1652954"/>
          </a:xfrm>
        </p:grpSpPr>
        <p:sp>
          <p:nvSpPr>
            <p:cNvPr id="13" name="sdregion:79ecbbcd"/>
            <p:cNvSpPr/>
            <p:nvPr/>
          </p:nvSpPr>
          <p:spPr>
            <a:xfrm>
              <a:off x="1188720" y="3051516"/>
              <a:ext cx="2286000" cy="1652954"/>
            </a:xfrm>
            <a:custGeom>
              <a:avLst/>
              <a:gdLst/>
              <a:ahLst/>
              <a:cxnLst/>
              <a:rect l="0" t="0" r="r" b="b"/>
              <a:pathLst>
                <a:path w="2286000" h="1652954">
                  <a:moveTo>
                    <a:pt x="0" y="1652954"/>
                  </a:moveTo>
                  <a:lnTo>
                    <a:pt x="2286000" y="1652954"/>
                  </a:lnTo>
                  <a:lnTo>
                    <a:pt x="2286000" y="0"/>
                  </a:lnTo>
                  <a:lnTo>
                    <a:pt x="0" y="0"/>
                  </a:lnTo>
                  <a:close/>
                </a:path>
              </a:pathLst>
            </a:custGeom>
            <a:solidFill>
              <a:srgbClr val="E09F3E">
                <a:alpha val="30000"/>
              </a:srgbClr>
            </a:solidFill>
            <a:ln w="12700">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sdreglab:79ecbbcd"/>
            <p:cNvSpPr txBox="1"/>
            <p:nvPr/>
          </p:nvSpPr>
          <p:spPr>
            <a:xfrm>
              <a:off x="1247774" y="3517728"/>
              <a:ext cx="1310640" cy="617220"/>
            </a:xfrm>
            <a:prstGeom prst="rect">
              <a:avLst/>
            </a:prstGeom>
            <a:noFill/>
          </p:spPr>
          <p:txBody>
            <a:bodyPr wrap="square" lIns="0" tIns="0" rIns="0" bIns="0" anchor="ctr">
              <a:spAutoFit/>
            </a:bodyPr>
            <a:lstStyle/>
            <a:p>
              <a:pPr algn="ctr"/>
              <a:r>
                <a:rPr sz="1800" b="1" i="0" u="none">
                  <a:solidFill>
                    <a:srgbClr val="0B2B4E"/>
                  </a:solidFill>
                  <a:latin typeface="Calibri"/>
                </a:rPr>
                <a:t>Contribution
to TFC</a:t>
              </a:r>
            </a:p>
          </p:txBody>
        </p:sp>
      </p:grpSp>
      <p:grpSp>
        <p:nvGrpSpPr>
          <p:cNvPr id="144" name="sdpair:curve:D"/>
          <p:cNvGrpSpPr/>
          <p:nvPr/>
        </p:nvGrpSpPr>
        <p:grpSpPr>
          <a:xfrm>
            <a:off x="1188720" y="2500532"/>
            <a:ext cx="6172200" cy="1487658"/>
            <a:chOff x="1188720" y="2500532"/>
            <a:chExt cx="6172200" cy="1487658"/>
          </a:xfrm>
        </p:grpSpPr>
        <p:cxnSp>
          <p:nvCxnSpPr>
            <p:cNvPr id="14" name="sdcurve:D"/>
            <p:cNvCxnSpPr/>
            <p:nvPr/>
          </p:nvCxnSpPr>
          <p:spPr>
            <a:xfrm>
              <a:off x="1188720" y="2500532"/>
              <a:ext cx="6172200" cy="1487658"/>
            </a:xfrm>
            <a:prstGeom prst="line">
              <a:avLst/>
            </a:prstGeom>
            <a:ln w="34925">
              <a:solidFill>
                <a:srgbClr val="C00000"/>
              </a:solidFill>
            </a:ln>
          </p:spPr>
          <p:style>
            <a:lnRef idx="2">
              <a:schemeClr val="accent1"/>
            </a:lnRef>
            <a:fillRef idx="0">
              <a:schemeClr val="accent1"/>
            </a:fillRef>
            <a:effectRef idx="1">
              <a:schemeClr val="accent1"/>
            </a:effectRef>
            <a:fontRef idx="minor">
              <a:schemeClr val="tx1"/>
            </a:fontRef>
          </p:style>
        </p:cxnSp>
        <p:sp>
          <p:nvSpPr>
            <p:cNvPr id="15" name="sdcurvelab:D"/>
            <p:cNvSpPr txBox="1"/>
            <p:nvPr/>
          </p:nvSpPr>
          <p:spPr>
            <a:xfrm>
              <a:off x="7018020" y="3450687"/>
              <a:ext cx="244602" cy="292608"/>
            </a:xfrm>
            <a:prstGeom prst="rect">
              <a:avLst/>
            </a:prstGeom>
            <a:noFill/>
          </p:spPr>
          <p:txBody>
            <a:bodyPr wrap="square" lIns="0" tIns="0" rIns="0" bIns="0">
              <a:spAutoFit/>
            </a:bodyPr>
            <a:lstStyle/>
            <a:p>
              <a:pPr algn="l"/>
              <a:r>
                <a:rPr sz="2200" b="1" i="1" u="none">
                  <a:solidFill>
                    <a:srgbClr val="C00000"/>
                  </a:solidFill>
                  <a:latin typeface="Calibri"/>
                </a:rPr>
                <a:t>D</a:t>
              </a:r>
            </a:p>
          </p:txBody>
        </p:sp>
      </p:grpSp>
      <p:grpSp>
        <p:nvGrpSpPr>
          <p:cNvPr id="145" name="sdpair:curve:MR"/>
          <p:cNvGrpSpPr/>
          <p:nvPr/>
        </p:nvGrpSpPr>
        <p:grpSpPr>
          <a:xfrm>
            <a:off x="1188720" y="2500532"/>
            <a:ext cx="6515100" cy="3140612"/>
            <a:chOff x="1188720" y="2500532"/>
            <a:chExt cx="6515100" cy="3140612"/>
          </a:xfrm>
        </p:grpSpPr>
        <p:cxnSp>
          <p:nvCxnSpPr>
            <p:cNvPr id="16" name="sdcurve:MR"/>
            <p:cNvCxnSpPr/>
            <p:nvPr/>
          </p:nvCxnSpPr>
          <p:spPr>
            <a:xfrm>
              <a:off x="1188720" y="2500532"/>
              <a:ext cx="6515100" cy="3140612"/>
            </a:xfrm>
            <a:prstGeom prst="line">
              <a:avLst/>
            </a:prstGeom>
            <a:ln w="28575">
              <a:solidFill>
                <a:srgbClr val="C00000"/>
              </a:solidFill>
              <a:prstDash val="dash"/>
            </a:ln>
          </p:spPr>
          <p:style>
            <a:lnRef idx="2">
              <a:schemeClr val="accent1"/>
            </a:lnRef>
            <a:fillRef idx="0">
              <a:schemeClr val="accent1"/>
            </a:fillRef>
            <a:effectRef idx="1">
              <a:schemeClr val="accent1"/>
            </a:effectRef>
            <a:fontRef idx="minor">
              <a:schemeClr val="tx1"/>
            </a:fontRef>
          </p:style>
        </p:cxnSp>
        <p:sp>
          <p:nvSpPr>
            <p:cNvPr id="17" name="sdcurvelab:MR"/>
            <p:cNvSpPr txBox="1"/>
            <p:nvPr/>
          </p:nvSpPr>
          <p:spPr>
            <a:xfrm>
              <a:off x="7218822" y="5074139"/>
              <a:ext cx="473201" cy="292608"/>
            </a:xfrm>
            <a:prstGeom prst="rect">
              <a:avLst/>
            </a:prstGeom>
            <a:noFill/>
          </p:spPr>
          <p:txBody>
            <a:bodyPr wrap="square" lIns="0" tIns="0" rIns="0" bIns="0">
              <a:spAutoFit/>
            </a:bodyPr>
            <a:lstStyle/>
            <a:p>
              <a:pPr algn="l"/>
              <a:r>
                <a:rPr sz="2200" b="1" i="1" u="none">
                  <a:solidFill>
                    <a:srgbClr val="C00000"/>
                  </a:solidFill>
                  <a:latin typeface="Calibri"/>
                </a:rPr>
                <a:t>MR</a:t>
              </a:r>
            </a:p>
          </p:txBody>
        </p:sp>
      </p:grpSp>
      <p:grpSp>
        <p:nvGrpSpPr>
          <p:cNvPr id="146" name="sdpair:curve:MC"/>
          <p:cNvGrpSpPr/>
          <p:nvPr/>
        </p:nvGrpSpPr>
        <p:grpSpPr>
          <a:xfrm>
            <a:off x="1188720" y="1390005"/>
            <a:ext cx="4908040" cy="4416435"/>
            <a:chOff x="1188720" y="1390005"/>
            <a:chExt cx="4908040" cy="4416435"/>
          </a:xfrm>
        </p:grpSpPr>
        <p:cxnSp>
          <p:nvCxnSpPr>
            <p:cNvPr id="18" name="sdcurve:MC"/>
            <p:cNvCxnSpPr/>
            <p:nvPr/>
          </p:nvCxnSpPr>
          <p:spPr>
            <a:xfrm flipV="1">
              <a:off x="1188720" y="1618956"/>
              <a:ext cx="4343400" cy="4187484"/>
            </a:xfrm>
            <a:prstGeom prst="line">
              <a:avLst/>
            </a:prstGeom>
            <a:ln w="34925">
              <a:solidFill>
                <a:srgbClr val="0B2B4E"/>
              </a:solidFill>
            </a:ln>
          </p:spPr>
          <p:style>
            <a:lnRef idx="2">
              <a:schemeClr val="accent1"/>
            </a:lnRef>
            <a:fillRef idx="0">
              <a:schemeClr val="accent1"/>
            </a:fillRef>
            <a:effectRef idx="1">
              <a:schemeClr val="accent1"/>
            </a:effectRef>
            <a:fontRef idx="minor">
              <a:schemeClr val="tx1"/>
            </a:fontRef>
          </p:style>
        </p:cxnSp>
        <p:sp>
          <p:nvSpPr>
            <p:cNvPr id="19" name="sdcurvelab:MC"/>
            <p:cNvSpPr txBox="1"/>
            <p:nvPr/>
          </p:nvSpPr>
          <p:spPr>
            <a:xfrm>
              <a:off x="5623559" y="1390005"/>
              <a:ext cx="473201" cy="292608"/>
            </a:xfrm>
            <a:prstGeom prst="rect">
              <a:avLst/>
            </a:prstGeom>
            <a:noFill/>
          </p:spPr>
          <p:txBody>
            <a:bodyPr wrap="square" lIns="0" tIns="0" rIns="0" bIns="0">
              <a:spAutoFit/>
            </a:bodyPr>
            <a:lstStyle/>
            <a:p>
              <a:pPr algn="l"/>
              <a:r>
                <a:rPr sz="2200" b="1" i="1" u="none">
                  <a:solidFill>
                    <a:srgbClr val="0B2B4E"/>
                  </a:solidFill>
                  <a:latin typeface="Calibri"/>
                </a:rPr>
                <a:t>MC</a:t>
              </a:r>
            </a:p>
          </p:txBody>
        </p:sp>
      </p:grpSp>
      <p:grpSp>
        <p:nvGrpSpPr>
          <p:cNvPr id="147" name="sdpair:curve:ATC"/>
          <p:cNvGrpSpPr/>
          <p:nvPr/>
        </p:nvGrpSpPr>
        <p:grpSpPr>
          <a:xfrm>
            <a:off x="2382800" y="1538931"/>
            <a:ext cx="7554442" cy="1352448"/>
            <a:chOff x="2382800" y="1538931"/>
            <a:chExt cx="7554442" cy="1352448"/>
          </a:xfrm>
        </p:grpSpPr>
        <p:sp>
          <p:nvSpPr>
            <p:cNvPr id="20" name="sdcurve:ATC"/>
            <p:cNvSpPr/>
            <p:nvPr/>
          </p:nvSpPr>
          <p:spPr>
            <a:xfrm>
              <a:off x="2382800" y="1538931"/>
              <a:ext cx="5092420" cy="1352448"/>
            </a:xfrm>
            <a:custGeom>
              <a:avLst/>
              <a:gdLst/>
              <a:ahLst/>
              <a:cxnLst/>
              <a:rect l="0" t="0" r="r" b="b"/>
              <a:pathLst>
                <a:path w="5092420" h="1352448" fill="none">
                  <a:moveTo>
                    <a:pt x="0" y="0"/>
                  </a:moveTo>
                  <a:cubicBezTo>
                    <a:pt x="21771" y="50180"/>
                    <a:pt x="84702" y="207851"/>
                    <a:pt x="130626" y="301080"/>
                  </a:cubicBezTo>
                  <a:cubicBezTo>
                    <a:pt x="176549" y="394309"/>
                    <a:pt x="224594" y="479942"/>
                    <a:pt x="275542" y="559374"/>
                  </a:cubicBezTo>
                  <a:cubicBezTo>
                    <a:pt x="326489" y="638805"/>
                    <a:pt x="379789" y="711176"/>
                    <a:pt x="436310" y="777667"/>
                  </a:cubicBezTo>
                  <a:cubicBezTo>
                    <a:pt x="492830" y="844157"/>
                    <a:pt x="551961" y="904049"/>
                    <a:pt x="614665" y="958316"/>
                  </a:cubicBezTo>
                  <a:cubicBezTo>
                    <a:pt x="677368" y="1012582"/>
                    <a:pt x="742968" y="1060639"/>
                    <a:pt x="812532" y="1103268"/>
                  </a:cubicBezTo>
                  <a:cubicBezTo>
                    <a:pt x="882095" y="1145896"/>
                    <a:pt x="954871" y="1182636"/>
                    <a:pt x="1032044" y="1214087"/>
                  </a:cubicBezTo>
                  <a:cubicBezTo>
                    <a:pt x="1109216" y="1245537"/>
                    <a:pt x="1189953" y="1271358"/>
                    <a:pt x="1275569" y="1291969"/>
                  </a:cubicBezTo>
                  <a:cubicBezTo>
                    <a:pt x="1361184" y="1312580"/>
                    <a:pt x="1450754" y="1327758"/>
                    <a:pt x="1545735" y="1337753"/>
                  </a:cubicBezTo>
                  <a:cubicBezTo>
                    <a:pt x="1640716" y="1347747"/>
                    <a:pt x="1740083" y="1352448"/>
                    <a:pt x="1845455" y="1351934"/>
                  </a:cubicBezTo>
                  <a:cubicBezTo>
                    <a:pt x="1950826" y="1351419"/>
                    <a:pt x="2061065" y="1345693"/>
                    <a:pt x="2177964" y="1334664"/>
                  </a:cubicBezTo>
                  <a:cubicBezTo>
                    <a:pt x="2294862" y="1323634"/>
                    <a:pt x="2417159" y="1307420"/>
                    <a:pt x="2546846" y="1285758"/>
                  </a:cubicBezTo>
                  <a:cubicBezTo>
                    <a:pt x="2676532" y="1264095"/>
                    <a:pt x="2812208" y="1237217"/>
                    <a:pt x="2956082" y="1204687"/>
                  </a:cubicBezTo>
                  <a:cubicBezTo>
                    <a:pt x="3099955" y="1172156"/>
                    <a:pt x="3250474" y="1134325"/>
                    <a:pt x="3410087" y="1090577"/>
                  </a:cubicBezTo>
                  <a:cubicBezTo>
                    <a:pt x="3569699" y="1046828"/>
                    <a:pt x="3736683" y="997636"/>
                    <a:pt x="3913756" y="942198"/>
                  </a:cubicBezTo>
                  <a:cubicBezTo>
                    <a:pt x="4090829" y="886759"/>
                    <a:pt x="4276081" y="825674"/>
                    <a:pt x="4472525" y="757948"/>
                  </a:cubicBezTo>
                  <a:cubicBezTo>
                    <a:pt x="4668969" y="690221"/>
                    <a:pt x="4989104" y="572858"/>
                    <a:pt x="5092420" y="535840"/>
                  </a:cubicBezTo>
                </a:path>
              </a:pathLst>
            </a:custGeom>
            <a:noFill/>
            <a:ln w="34925">
              <a:solidFill>
                <a:srgbClr val="E09F3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sdcurvelab:ATC"/>
            <p:cNvSpPr txBox="1"/>
            <p:nvPr/>
          </p:nvSpPr>
          <p:spPr>
            <a:xfrm>
              <a:off x="7520940" y="1763172"/>
              <a:ext cx="2416302" cy="292608"/>
            </a:xfrm>
            <a:prstGeom prst="rect">
              <a:avLst/>
            </a:prstGeom>
            <a:noFill/>
          </p:spPr>
          <p:txBody>
            <a:bodyPr wrap="square" lIns="0" tIns="0" rIns="0" bIns="0">
              <a:spAutoFit/>
            </a:bodyPr>
            <a:lstStyle/>
            <a:p>
              <a:pPr algn="l"/>
              <a:r>
                <a:rPr sz="2000" b="1" i="1" u="none">
                  <a:solidFill>
                    <a:srgbClr val="E09F3E"/>
                  </a:solidFill>
                  <a:latin typeface="Calibri"/>
                </a:rPr>
                <a:t>ATC (with higher rent)</a:t>
              </a:r>
            </a:p>
          </p:txBody>
        </p:sp>
      </p:grpSp>
      <p:grpSp>
        <p:nvGrpSpPr>
          <p:cNvPr id="148" name="sdpair:curve:AVC"/>
          <p:cNvGrpSpPr/>
          <p:nvPr/>
        </p:nvGrpSpPr>
        <p:grpSpPr>
          <a:xfrm>
            <a:off x="1188720" y="2486464"/>
            <a:ext cx="6872096" cy="3319976"/>
            <a:chOff x="1188720" y="2486464"/>
            <a:chExt cx="6872096" cy="3319976"/>
          </a:xfrm>
        </p:grpSpPr>
        <p:cxnSp>
          <p:nvCxnSpPr>
            <p:cNvPr id="22" name="sdcurve:AVC"/>
            <p:cNvCxnSpPr/>
            <p:nvPr/>
          </p:nvCxnSpPr>
          <p:spPr>
            <a:xfrm flipV="1">
              <a:off x="1188720" y="2776024"/>
              <a:ext cx="6286500" cy="3030416"/>
            </a:xfrm>
            <a:prstGeom prst="line">
              <a:avLst/>
            </a:prstGeom>
            <a:ln w="31750">
              <a:solidFill>
                <a:srgbClr val="555B66"/>
              </a:solidFill>
            </a:ln>
          </p:spPr>
          <p:style>
            <a:lnRef idx="2">
              <a:schemeClr val="accent1"/>
            </a:lnRef>
            <a:fillRef idx="0">
              <a:schemeClr val="accent1"/>
            </a:fillRef>
            <a:effectRef idx="1">
              <a:schemeClr val="accent1"/>
            </a:effectRef>
            <a:fontRef idx="minor">
              <a:schemeClr val="tx1"/>
            </a:fontRef>
          </p:style>
        </p:cxnSp>
        <p:sp>
          <p:nvSpPr>
            <p:cNvPr id="23" name="sdcurvelab:AVC"/>
            <p:cNvSpPr txBox="1"/>
            <p:nvPr/>
          </p:nvSpPr>
          <p:spPr>
            <a:xfrm>
              <a:off x="7520940" y="2486464"/>
              <a:ext cx="539876" cy="292608"/>
            </a:xfrm>
            <a:prstGeom prst="rect">
              <a:avLst/>
            </a:prstGeom>
            <a:noFill/>
          </p:spPr>
          <p:txBody>
            <a:bodyPr wrap="square" lIns="0" tIns="0" rIns="0" bIns="0">
              <a:spAutoFit/>
            </a:bodyPr>
            <a:lstStyle/>
            <a:p>
              <a:pPr algn="l"/>
              <a:r>
                <a:rPr sz="2000" b="1" i="1" u="none">
                  <a:solidFill>
                    <a:srgbClr val="555B66"/>
                  </a:solidFill>
                  <a:latin typeface="Calibri"/>
                </a:rPr>
                <a:t>AVC</a:t>
              </a:r>
            </a:p>
          </p:txBody>
        </p:sp>
      </p:grpSp>
      <p:sp>
        <p:nvSpPr>
          <p:cNvPr id="24" name="AVCNote"/>
          <p:cNvSpPr txBox="1"/>
          <p:nvPr/>
        </p:nvSpPr>
        <p:spPr>
          <a:xfrm>
            <a:off x="7520940" y="2958904"/>
            <a:ext cx="3291840" cy="566928"/>
          </a:xfrm>
          <a:prstGeom prst="rect">
            <a:avLst/>
          </a:prstGeom>
          <a:noFill/>
        </p:spPr>
        <p:txBody>
          <a:bodyPr wrap="square" lIns="0" tIns="0" rIns="0" bIns="0">
            <a:spAutoFit/>
          </a:bodyPr>
          <a:lstStyle/>
          <a:p>
            <a:pPr algn="l"/>
            <a:r>
              <a:rPr sz="1600" b="0" i="1" u="none">
                <a:solidFill>
                  <a:srgbClr val="555B66"/>
                </a:solidFill>
                <a:latin typeface="Calibri"/>
              </a:rPr>
              <a:t>(this curve is needed to check whether to continue producing in the short run)</a:t>
            </a:r>
          </a:p>
        </p:txBody>
      </p:sp>
      <p:cxnSp>
        <p:nvCxnSpPr>
          <p:cNvPr id="25" name="gQ"/>
          <p:cNvCxnSpPr/>
          <p:nvPr/>
        </p:nvCxnSpPr>
        <p:spPr>
          <a:xfrm flipV="1">
            <a:off x="3474720" y="2776024"/>
            <a:ext cx="0" cy="3030416"/>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285744" y="5861303"/>
            <a:ext cx="377952" cy="274320"/>
          </a:xfrm>
          <a:prstGeom prst="rect">
            <a:avLst/>
          </a:prstGeom>
          <a:noFill/>
        </p:spPr>
        <p:txBody>
          <a:bodyPr wrap="square" lIns="0" tIns="0" rIns="0" bIns="0">
            <a:spAutoFit/>
          </a:bodyPr>
          <a:lstStyle/>
          <a:p>
            <a:pPr algn="ctr"/>
            <a:r>
              <a:rPr sz="2000" b="1" i="1" u="none">
                <a:solidFill>
                  <a:srgbClr val="0B2B4E"/>
                </a:solidFill>
                <a:latin typeface="Calibri"/>
              </a:rPr>
              <a:t>Q*</a:t>
            </a:r>
          </a:p>
        </p:txBody>
      </p:sp>
      <p:cxnSp>
        <p:nvCxnSpPr>
          <p:cNvPr id="27" name="gP"/>
          <p:cNvCxnSpPr/>
          <p:nvPr/>
        </p:nvCxnSpPr>
        <p:spPr>
          <a:xfrm>
            <a:off x="1188720" y="3051516"/>
            <a:ext cx="2286000"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04291" y="2914356"/>
            <a:ext cx="311277" cy="274320"/>
          </a:xfrm>
          <a:prstGeom prst="rect">
            <a:avLst/>
          </a:prstGeom>
          <a:noFill/>
        </p:spPr>
        <p:txBody>
          <a:bodyPr wrap="square" lIns="0" tIns="0" rIns="0" bIns="0">
            <a:spAutoFit/>
          </a:bodyPr>
          <a:lstStyle/>
          <a:p>
            <a:pPr algn="r"/>
            <a:r>
              <a:rPr sz="1800" b="1" i="1" u="none">
                <a:solidFill>
                  <a:srgbClr val="0B2B4E"/>
                </a:solidFill>
                <a:latin typeface="Calibri"/>
              </a:rPr>
              <a:t>P*</a:t>
            </a:r>
          </a:p>
        </p:txBody>
      </p:sp>
      <p:cxnSp>
        <p:nvCxnSpPr>
          <p:cNvPr id="29" name="gA"/>
          <p:cNvCxnSpPr/>
          <p:nvPr/>
        </p:nvCxnSpPr>
        <p:spPr>
          <a:xfrm>
            <a:off x="1188720" y="2776024"/>
            <a:ext cx="2286000"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30" name="gV"/>
          <p:cNvCxnSpPr/>
          <p:nvPr/>
        </p:nvCxnSpPr>
        <p:spPr>
          <a:xfrm>
            <a:off x="1188720" y="4704470"/>
            <a:ext cx="2286000"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51891" y="2572746"/>
            <a:ext cx="463677" cy="274320"/>
          </a:xfrm>
          <a:prstGeom prst="rect">
            <a:avLst/>
          </a:prstGeom>
          <a:noFill/>
        </p:spPr>
        <p:txBody>
          <a:bodyPr wrap="square" lIns="0" tIns="0" rIns="0" bIns="0">
            <a:spAutoFit/>
          </a:bodyPr>
          <a:lstStyle/>
          <a:p>
            <a:pPr algn="r"/>
            <a:r>
              <a:rPr sz="1800" b="0" i="1" u="none">
                <a:solidFill>
                  <a:srgbClr val="0B2B4E"/>
                </a:solidFill>
                <a:latin typeface="Calibri"/>
              </a:rPr>
              <a:t>ATC</a:t>
            </a:r>
          </a:p>
        </p:txBody>
      </p:sp>
      <p:sp>
        <p:nvSpPr>
          <p:cNvPr id="32" name="TextBox 31"/>
          <p:cNvSpPr txBox="1"/>
          <p:nvPr/>
        </p:nvSpPr>
        <p:spPr>
          <a:xfrm>
            <a:off x="632841" y="4567310"/>
            <a:ext cx="482727" cy="274320"/>
          </a:xfrm>
          <a:prstGeom prst="rect">
            <a:avLst/>
          </a:prstGeom>
          <a:noFill/>
        </p:spPr>
        <p:txBody>
          <a:bodyPr wrap="square" lIns="0" tIns="0" rIns="0" bIns="0">
            <a:spAutoFit/>
          </a:bodyPr>
          <a:lstStyle/>
          <a:p>
            <a:pPr algn="r"/>
            <a:r>
              <a:rPr sz="1800" b="0" i="1" u="none">
                <a:solidFill>
                  <a:srgbClr val="0B2B4E"/>
                </a:solidFill>
                <a:latin typeface="Calibri"/>
              </a:rPr>
              <a:t>AVC</a:t>
            </a:r>
          </a:p>
        </p:txBody>
      </p:sp>
      <p:grpSp>
        <p:nvGrpSpPr>
          <p:cNvPr id="37" name="sdpair:loss:0"/>
          <p:cNvGrpSpPr/>
          <p:nvPr/>
        </p:nvGrpSpPr>
        <p:grpSpPr>
          <a:xfrm>
            <a:off x="8183879" y="3801618"/>
            <a:ext cx="3749039" cy="333756"/>
            <a:chOff x="8183879" y="3801618"/>
            <a:chExt cx="3749039" cy="333756"/>
          </a:xfrm>
        </p:grpSpPr>
        <p:sp>
          <p:nvSpPr>
            <p:cNvPr id="35" name="Rectangle 34"/>
            <p:cNvSpPr/>
            <p:nvPr/>
          </p:nvSpPr>
          <p:spPr>
            <a:xfrm>
              <a:off x="8183879" y="3937223"/>
              <a:ext cx="420625" cy="62545"/>
            </a:xfrm>
            <a:custGeom>
              <a:avLst/>
              <a:gdLst/>
              <a:ahLst/>
              <a:cxnLst/>
              <a:rect l="0" t="0" r="r" b="b"/>
              <a:pathLst>
                <a:path w="420625" h="62545">
                  <a:moveTo>
                    <a:pt x="0" y="0"/>
                  </a:moveTo>
                  <a:lnTo>
                    <a:pt x="420625" y="0"/>
                  </a:lnTo>
                  <a:lnTo>
                    <a:pt x="420625" y="62545"/>
                  </a:lnTo>
                  <a:lnTo>
                    <a:pt x="0" y="62545"/>
                  </a:lnTo>
                  <a:close/>
                </a:path>
              </a:pathLst>
            </a:custGeom>
            <a:solidFill>
              <a:srgbClr val="555B66">
                <a:alpha val="24000"/>
              </a:srgbClr>
            </a:solidFill>
            <a:ln w="9525">
              <a:solidFill>
                <a:srgbClr val="555B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sdlegtxt:loss:0"/>
            <p:cNvSpPr txBox="1"/>
            <p:nvPr/>
          </p:nvSpPr>
          <p:spPr>
            <a:xfrm>
              <a:off x="8750807" y="3801618"/>
              <a:ext cx="3182111" cy="333756"/>
            </a:xfrm>
            <a:prstGeom prst="rect">
              <a:avLst/>
            </a:prstGeom>
            <a:noFill/>
          </p:spPr>
          <p:txBody>
            <a:bodyPr wrap="square" lIns="0" tIns="0" rIns="0" bIns="0" anchor="ctr">
              <a:spAutoFit/>
            </a:bodyPr>
            <a:lstStyle/>
            <a:p>
              <a:pPr algn="l"/>
              <a:r>
                <a:rPr sz="1800" b="0" i="0" u="none">
                  <a:solidFill>
                    <a:srgbClr val="0B2B4E"/>
                  </a:solidFill>
                  <a:latin typeface="Calibri"/>
                </a:rPr>
                <a:t>Losses, because P* &lt; ATC</a:t>
              </a:r>
            </a:p>
          </p:txBody>
        </p:sp>
      </p:grpSp>
      <p:grpSp>
        <p:nvGrpSpPr>
          <p:cNvPr id="40" name="sdpair:loss:1"/>
          <p:cNvGrpSpPr/>
          <p:nvPr/>
        </p:nvGrpSpPr>
        <p:grpSpPr>
          <a:xfrm>
            <a:off x="8183879" y="4325112"/>
            <a:ext cx="3749039" cy="891539"/>
            <a:chOff x="8183879" y="4325112"/>
            <a:chExt cx="3749039" cy="891539"/>
          </a:xfrm>
        </p:grpSpPr>
        <p:sp>
          <p:nvSpPr>
            <p:cNvPr id="38" name="Rectangle 37"/>
            <p:cNvSpPr/>
            <p:nvPr/>
          </p:nvSpPr>
          <p:spPr>
            <a:xfrm>
              <a:off x="8183879" y="4663165"/>
              <a:ext cx="420625" cy="215433"/>
            </a:xfrm>
            <a:custGeom>
              <a:avLst/>
              <a:gdLst/>
              <a:ahLst/>
              <a:cxnLst/>
              <a:rect l="0" t="0" r="r" b="b"/>
              <a:pathLst>
                <a:path w="420625" h="215433">
                  <a:moveTo>
                    <a:pt x="0" y="0"/>
                  </a:moveTo>
                  <a:lnTo>
                    <a:pt x="420625" y="0"/>
                  </a:lnTo>
                  <a:lnTo>
                    <a:pt x="420625" y="215433"/>
                  </a:lnTo>
                  <a:lnTo>
                    <a:pt x="0" y="215433"/>
                  </a:lnTo>
                  <a:close/>
                </a:path>
              </a:pathLst>
            </a:custGeom>
            <a:solidFill>
              <a:srgbClr val="E09F3E">
                <a:alpha val="30000"/>
              </a:srgbClr>
            </a:solidFill>
            <a:ln w="9525">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sdlegtxt:loss:1"/>
            <p:cNvSpPr txBox="1"/>
            <p:nvPr/>
          </p:nvSpPr>
          <p:spPr>
            <a:xfrm>
              <a:off x="8750807" y="4325112"/>
              <a:ext cx="3182111" cy="891539"/>
            </a:xfrm>
            <a:prstGeom prst="rect">
              <a:avLst/>
            </a:prstGeom>
            <a:noFill/>
          </p:spPr>
          <p:txBody>
            <a:bodyPr wrap="square" lIns="0" tIns="0" rIns="0" bIns="0" anchor="ctr">
              <a:spAutoFit/>
            </a:bodyPr>
            <a:lstStyle/>
            <a:p>
              <a:pPr algn="l"/>
              <a:r>
                <a:rPr sz="1800" b="0" i="0" u="none" dirty="0">
                  <a:solidFill>
                    <a:srgbClr val="0B2B4E"/>
                  </a:solidFill>
                  <a:latin typeface="Calibri"/>
                </a:rPr>
                <a:t>But P* &gt; AVC → the restaurant should continue to produce, to cover part of its TFC</a:t>
              </a:r>
            </a:p>
          </p:txBody>
        </p:sp>
      </p:grpSp>
      <p:grpSp>
        <p:nvGrpSpPr>
          <p:cNvPr id="154" name="sdpair:loss:2"/>
          <p:cNvGrpSpPr/>
          <p:nvPr/>
        </p:nvGrpSpPr>
        <p:grpSpPr>
          <a:xfrm>
            <a:off x="8183879" y="5355641"/>
            <a:ext cx="3749039" cy="329184"/>
            <a:chOff x="8183879" y="5355641"/>
            <a:chExt cx="3749039" cy="329184"/>
          </a:xfrm>
        </p:grpSpPr>
        <p:sp>
          <p:nvSpPr>
            <p:cNvPr id="151" name="Rectangle 151"/>
            <p:cNvSpPr/>
            <p:nvPr/>
          </p:nvSpPr>
          <p:spPr>
            <a:xfrm>
              <a:off x="8183879" y="5376672"/>
              <a:ext cx="420625" cy="62545"/>
            </a:xfrm>
            <a:custGeom>
              <a:avLst/>
              <a:gdLst/>
              <a:ahLst/>
              <a:cxnLst/>
              <a:rect l="0" t="0" r="r" b="b"/>
              <a:pathLst>
                <a:path w="420625" h="62545">
                  <a:moveTo>
                    <a:pt x="0" y="0"/>
                  </a:moveTo>
                  <a:lnTo>
                    <a:pt x="420625" y="0"/>
                  </a:lnTo>
                  <a:lnTo>
                    <a:pt x="420625" y="62545"/>
                  </a:lnTo>
                  <a:lnTo>
                    <a:pt x="0" y="62545"/>
                  </a:lnTo>
                  <a:close/>
                </a:path>
              </a:pathLst>
            </a:custGeom>
            <a:solidFill>
              <a:srgbClr val="555B66">
                <a:alpha val="24000"/>
              </a:srgbClr>
            </a:solidFill>
            <a:ln w="9525">
              <a:solidFill>
                <a:srgbClr val="555B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Rectangle 152"/>
            <p:cNvSpPr/>
            <p:nvPr/>
          </p:nvSpPr>
          <p:spPr>
            <a:xfrm>
              <a:off x="8183879" y="5448361"/>
              <a:ext cx="420625" cy="215433"/>
            </a:xfrm>
            <a:custGeom>
              <a:avLst/>
              <a:gdLst/>
              <a:ahLst/>
              <a:cxnLst/>
              <a:rect l="0" t="0" r="r" b="b"/>
              <a:pathLst>
                <a:path w="420625" h="215433">
                  <a:moveTo>
                    <a:pt x="0" y="0"/>
                  </a:moveTo>
                  <a:lnTo>
                    <a:pt x="420625" y="0"/>
                  </a:lnTo>
                  <a:lnTo>
                    <a:pt x="420625" y="215433"/>
                  </a:lnTo>
                  <a:lnTo>
                    <a:pt x="0" y="215433"/>
                  </a:lnTo>
                  <a:close/>
                </a:path>
              </a:pathLst>
            </a:custGeom>
            <a:solidFill>
              <a:srgbClr val="E09F3E">
                <a:alpha val="30000"/>
              </a:srgbClr>
            </a:solidFill>
            <a:ln w="9525">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sdlegtxt:loss:2"/>
            <p:cNvSpPr txBox="1"/>
            <p:nvPr/>
          </p:nvSpPr>
          <p:spPr>
            <a:xfrm>
              <a:off x="8750807" y="5355641"/>
              <a:ext cx="3182111" cy="329184"/>
            </a:xfrm>
            <a:prstGeom prst="rect">
              <a:avLst/>
            </a:prstGeom>
            <a:noFill/>
          </p:spPr>
          <p:txBody>
            <a:bodyPr wrap="square" lIns="0" tIns="0" rIns="0" bIns="0" anchor="ctr">
              <a:spAutoFit/>
            </a:bodyPr>
            <a:lstStyle/>
            <a:p>
              <a:pPr algn="l"/>
              <a:r>
                <a:rPr sz="1800" b="0" i="0" u="none" dirty="0">
                  <a:solidFill>
                    <a:srgbClr val="0B2B4E"/>
                  </a:solidFill>
                  <a:latin typeface="Calibri"/>
                </a:rPr>
                <a:t>TFC = (ATC − AVC) · Q</a:t>
              </a:r>
            </a:p>
          </p:txBody>
        </p:sp>
      </p:grpSp>
      <p:sp>
        <p:nvSpPr>
          <p:cNvPr id="41" name="Rectangle 4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5  ·  Monopoly and Monopolistic Competition</a:t>
            </a:r>
          </a:p>
        </p:txBody>
      </p:sp>
      <p:sp>
        <p:nvSpPr>
          <p:cNvPr id="44" name="TextBox 43"/>
          <p:cNvSpPr txBox="1"/>
          <p:nvPr/>
        </p:nvSpPr>
        <p:spPr>
          <a:xfrm>
            <a:off x="11475720" y="6583680"/>
            <a:ext cx="502920" cy="292608"/>
          </a:xfrm>
          <a:prstGeom prst="rect">
            <a:avLst/>
          </a:prstGeom>
          <a:noFill/>
        </p:spPr>
        <p:txBody>
          <a:bodyPr wrap="none" lIns="0" tIns="0" rIns="0" bIns="0">
            <a:spAutoFit/>
          </a:bodyPr>
          <a:lstStyle/>
          <a:p>
            <a:pPr algn="r"/>
            <a:fld id="{AF1F879C-4422-5B2F-9ACB-B5B0A26AFC20}" type="slidenum">
              <a:rPr lang="en-US" sz="1200" dirty="0">
                <a:solidFill>
                  <a:srgbClr val="555B66"/>
                </a:solidFill>
                <a:latin typeface="Calibri"/>
              </a:rPr>
              <a:t>14</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7"/>
                                        </p:tgtEl>
                                        <p:attrNameLst>
                                          <p:attrName>style.visibility</p:attrName>
                                        </p:attrNameLst>
                                      </p:cBhvr>
                                      <p:to>
                                        <p:strVal val="visible"/>
                                      </p:to>
                                    </p:set>
                                    <p:animEffect transition="in" filter="fade">
                                      <p:cBhvr>
                                        <p:cTn id="7" dur="500"/>
                                        <p:tgtEl>
                                          <p:spTgt spid="14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8"/>
                                        </p:tgtEl>
                                        <p:attrNameLst>
                                          <p:attrName>style.visibility</p:attrName>
                                        </p:attrNameLst>
                                      </p:cBhvr>
                                      <p:to>
                                        <p:strVal val="visible"/>
                                      </p:to>
                                    </p:set>
                                    <p:animEffect transition="in" filter="fade">
                                      <p:cBhvr>
                                        <p:cTn id="12" dur="500"/>
                                        <p:tgtEl>
                                          <p:spTgt spid="148"/>
                                        </p:tgtEl>
                                      </p:cBhvr>
                                    </p:animEffect>
                                  </p:childTnLst>
                                </p:cTn>
                              </p:par>
                              <p:par>
                                <p:cTn id="13" presetID="10" presetClass="entr" presetSubtype="0" fill="hold" nodeType="with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00"/>
                                        <p:tgtEl>
                                          <p:spTgt spid="2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500"/>
                                        <p:tgtEl>
                                          <p:spTgt spid="25"/>
                                        </p:tgtEl>
                                      </p:cBhvr>
                                    </p:animEffect>
                                  </p:childTnLst>
                                </p:cTn>
                              </p:par>
                              <p:par>
                                <p:cTn id="21" presetID="10" presetClass="entr" presetSubtype="0" fill="hold" nodeType="with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500"/>
                                        <p:tgtEl>
                                          <p:spTgt spid="26"/>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par>
                                <p:cTn id="29" presetID="10" presetClass="entr" presetSubtype="0" fill="hold" nodeType="with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500"/>
                                        <p:tgtEl>
                                          <p:spTgt spid="28"/>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29"/>
                                        </p:tgtEl>
                                        <p:attrNameLst>
                                          <p:attrName>style.visibility</p:attrName>
                                        </p:attrNameLst>
                                      </p:cBhvr>
                                      <p:to>
                                        <p:strVal val="visible"/>
                                      </p:to>
                                    </p:set>
                                    <p:animEffect transition="in" filter="fade">
                                      <p:cBhvr>
                                        <p:cTn id="36" dur="500"/>
                                        <p:tgtEl>
                                          <p:spTgt spid="29"/>
                                        </p:tgtEl>
                                      </p:cBhvr>
                                    </p:animEffect>
                                  </p:childTnLst>
                                </p:cTn>
                              </p:par>
                              <p:par>
                                <p:cTn id="37" presetID="10" presetClass="entr" presetSubtype="0" fill="hold" nodeType="withEffect">
                                  <p:stCondLst>
                                    <p:cond delay="0"/>
                                  </p:stCondLst>
                                  <p:childTnLst>
                                    <p:set>
                                      <p:cBhvr>
                                        <p:cTn id="38" dur="1" fill="hold">
                                          <p:stCondLst>
                                            <p:cond delay="0"/>
                                          </p:stCondLst>
                                        </p:cTn>
                                        <p:tgtEl>
                                          <p:spTgt spid="30"/>
                                        </p:tgtEl>
                                        <p:attrNameLst>
                                          <p:attrName>style.visibility</p:attrName>
                                        </p:attrNameLst>
                                      </p:cBhvr>
                                      <p:to>
                                        <p:strVal val="visible"/>
                                      </p:to>
                                    </p:set>
                                    <p:animEffect transition="in" filter="fade">
                                      <p:cBhvr>
                                        <p:cTn id="39" dur="500"/>
                                        <p:tgtEl>
                                          <p:spTgt spid="30"/>
                                        </p:tgtEl>
                                      </p:cBhvr>
                                    </p:animEffect>
                                  </p:childTnLst>
                                </p:cTn>
                              </p:par>
                              <p:par>
                                <p:cTn id="40" presetID="10" presetClass="entr" presetSubtype="0" fill="hold" nodeType="with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fade">
                                      <p:cBhvr>
                                        <p:cTn id="42" dur="500"/>
                                        <p:tgtEl>
                                          <p:spTgt spid="31"/>
                                        </p:tgtEl>
                                      </p:cBhvr>
                                    </p:animEffect>
                                  </p:childTnLst>
                                </p:cTn>
                              </p:par>
                              <p:par>
                                <p:cTn id="43" presetID="10" presetClass="entr" presetSubtype="0" fill="hold" nodeType="withEffect">
                                  <p:stCondLst>
                                    <p:cond delay="0"/>
                                  </p:stCondLst>
                                  <p:childTnLst>
                                    <p:set>
                                      <p:cBhvr>
                                        <p:cTn id="44" dur="1" fill="hold">
                                          <p:stCondLst>
                                            <p:cond delay="0"/>
                                          </p:stCondLst>
                                        </p:cTn>
                                        <p:tgtEl>
                                          <p:spTgt spid="32"/>
                                        </p:tgtEl>
                                        <p:attrNameLst>
                                          <p:attrName>style.visibility</p:attrName>
                                        </p:attrNameLst>
                                      </p:cBhvr>
                                      <p:to>
                                        <p:strVal val="visible"/>
                                      </p:to>
                                    </p:set>
                                    <p:animEffect transition="in" filter="fade">
                                      <p:cBhvr>
                                        <p:cTn id="45" dur="500"/>
                                        <p:tgtEl>
                                          <p:spTgt spid="32"/>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9"/>
                                        </p:tgtEl>
                                        <p:attrNameLst>
                                          <p:attrName>style.visibility</p:attrName>
                                        </p:attrNameLst>
                                      </p:cBhvr>
                                      <p:to>
                                        <p:strVal val="visible"/>
                                      </p:to>
                                    </p:set>
                                    <p:animEffect transition="in" filter="fade">
                                      <p:cBhvr>
                                        <p:cTn id="50" dur="500"/>
                                        <p:tgtEl>
                                          <p:spTgt spid="149"/>
                                        </p:tgtEl>
                                      </p:cBhvr>
                                    </p:animEffect>
                                  </p:childTnLst>
                                </p:cTn>
                              </p:par>
                              <p:par>
                                <p:cTn id="51" presetID="10" presetClass="entr" presetSubtype="0" fill="hold" nodeType="withEffect">
                                  <p:stCondLst>
                                    <p:cond delay="0"/>
                                  </p:stCondLst>
                                  <p:childTnLst>
                                    <p:set>
                                      <p:cBhvr>
                                        <p:cTn id="52" dur="1" fill="hold">
                                          <p:stCondLst>
                                            <p:cond delay="0"/>
                                          </p:stCondLst>
                                        </p:cTn>
                                        <p:tgtEl>
                                          <p:spTgt spid="37"/>
                                        </p:tgtEl>
                                        <p:attrNameLst>
                                          <p:attrName>style.visibility</p:attrName>
                                        </p:attrNameLst>
                                      </p:cBhvr>
                                      <p:to>
                                        <p:strVal val="visible"/>
                                      </p:to>
                                    </p:set>
                                    <p:animEffect transition="in" filter="fade">
                                      <p:cBhvr>
                                        <p:cTn id="53" dur="500"/>
                                        <p:tgtEl>
                                          <p:spTgt spid="37"/>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150"/>
                                        </p:tgtEl>
                                        <p:attrNameLst>
                                          <p:attrName>style.visibility</p:attrName>
                                        </p:attrNameLst>
                                      </p:cBhvr>
                                      <p:to>
                                        <p:strVal val="visible"/>
                                      </p:to>
                                    </p:set>
                                    <p:animEffect transition="in" filter="fade">
                                      <p:cBhvr>
                                        <p:cTn id="58" dur="500"/>
                                        <p:tgtEl>
                                          <p:spTgt spid="150"/>
                                        </p:tgtEl>
                                      </p:cBhvr>
                                    </p:animEffect>
                                  </p:childTnLst>
                                </p:cTn>
                              </p:par>
                              <p:par>
                                <p:cTn id="59" presetID="10" presetClass="entr" presetSubtype="0" fill="hold" nodeType="withEffect">
                                  <p:stCondLst>
                                    <p:cond delay="0"/>
                                  </p:stCondLst>
                                  <p:childTnLst>
                                    <p:set>
                                      <p:cBhvr>
                                        <p:cTn id="60" dur="1" fill="hold">
                                          <p:stCondLst>
                                            <p:cond delay="0"/>
                                          </p:stCondLst>
                                        </p:cTn>
                                        <p:tgtEl>
                                          <p:spTgt spid="40"/>
                                        </p:tgtEl>
                                        <p:attrNameLst>
                                          <p:attrName>style.visibility</p:attrName>
                                        </p:attrNameLst>
                                      </p:cBhvr>
                                      <p:to>
                                        <p:strVal val="visible"/>
                                      </p:to>
                                    </p:set>
                                    <p:animEffect transition="in" filter="fade">
                                      <p:cBhvr>
                                        <p:cTn id="61" dur="500"/>
                                        <p:tgtEl>
                                          <p:spTgt spid="40"/>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154"/>
                                        </p:tgtEl>
                                        <p:attrNameLst>
                                          <p:attrName>style.visibility</p:attrName>
                                        </p:attrNameLst>
                                      </p:cBhvr>
                                      <p:to>
                                        <p:strVal val="visible"/>
                                      </p:to>
                                    </p:set>
                                    <p:animEffect transition="in" filter="fade">
                                      <p:cBhvr>
                                        <p:cTn id="66" dur="500"/>
                                        <p:tgtEl>
                                          <p:spTgt spid="1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5 · Profit Maximization for Price Searchers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Loss When Stopping to Produce in the Short Run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NV_s10_rId4.png"/>
          <p:cNvPicPr>
            <a:picLocks noChangeAspect="1"/>
          </p:cNvPicPr>
          <p:nvPr/>
        </p:nvPicPr>
        <p:blipFill>
          <a:blip r:embed="rId3"/>
          <a:stretch>
            <a:fillRect/>
          </a:stretch>
        </p:blipFill>
        <p:spPr>
          <a:xfrm>
            <a:off x="9464040" y="1298448"/>
            <a:ext cx="2331720" cy="507225"/>
          </a:xfrm>
          <a:prstGeom prst="rect">
            <a:avLst/>
          </a:prstGeom>
        </p:spPr>
      </p:pic>
      <p:cxnSp>
        <p:nvCxnSpPr>
          <p:cNvPr id="8" name="sdaxis:y"/>
          <p:cNvCxnSpPr/>
          <p:nvPr/>
        </p:nvCxnSpPr>
        <p:spPr>
          <a:xfrm flipV="1">
            <a:off x="1188720" y="1344167"/>
            <a:ext cx="0" cy="4462273"/>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9" name="sdaxis:x"/>
          <p:cNvCxnSpPr/>
          <p:nvPr/>
        </p:nvCxnSpPr>
        <p:spPr>
          <a:xfrm>
            <a:off x="1188720" y="5806440"/>
            <a:ext cx="656539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0" name="sdaxistitle:y"/>
          <p:cNvSpPr txBox="1"/>
          <p:nvPr/>
        </p:nvSpPr>
        <p:spPr>
          <a:xfrm>
            <a:off x="899541" y="1211579"/>
            <a:ext cx="216027" cy="265176"/>
          </a:xfrm>
          <a:prstGeom prst="rect">
            <a:avLst/>
          </a:prstGeom>
          <a:noFill/>
        </p:spPr>
        <p:txBody>
          <a:bodyPr wrap="square" lIns="0" tIns="0" rIns="0" bIns="0">
            <a:spAutoFit/>
          </a:bodyPr>
          <a:lstStyle/>
          <a:p>
            <a:pPr algn="l"/>
            <a:r>
              <a:rPr sz="2000" b="1" i="1" u="none">
                <a:solidFill>
                  <a:srgbClr val="0B2B4E"/>
                </a:solidFill>
                <a:latin typeface="Calibri"/>
              </a:rPr>
              <a:t>P</a:t>
            </a:r>
          </a:p>
        </p:txBody>
      </p:sp>
      <p:sp>
        <p:nvSpPr>
          <p:cNvPr id="11" name="sdaxistitle:x"/>
          <p:cNvSpPr txBox="1"/>
          <p:nvPr/>
        </p:nvSpPr>
        <p:spPr>
          <a:xfrm>
            <a:off x="7341298" y="5852159"/>
            <a:ext cx="825626" cy="265176"/>
          </a:xfrm>
          <a:prstGeom prst="rect">
            <a:avLst/>
          </a:prstGeom>
          <a:noFill/>
        </p:spPr>
        <p:txBody>
          <a:bodyPr wrap="square" lIns="0" tIns="0" rIns="0" bIns="0">
            <a:spAutoFit/>
          </a:bodyPr>
          <a:lstStyle/>
          <a:p>
            <a:pPr algn="l"/>
            <a:r>
              <a:rPr sz="2000" b="1" i="1" u="none">
                <a:solidFill>
                  <a:srgbClr val="0B2B4E"/>
                </a:solidFill>
                <a:latin typeface="Calibri"/>
              </a:rPr>
              <a:t>Output</a:t>
            </a:r>
          </a:p>
        </p:txBody>
      </p:sp>
      <p:grpSp>
        <p:nvGrpSpPr>
          <p:cNvPr id="141" name="sdpair:sdreglab:a402ad5b"/>
          <p:cNvGrpSpPr/>
          <p:nvPr/>
        </p:nvGrpSpPr>
        <p:grpSpPr>
          <a:xfrm>
            <a:off x="1188720" y="2776024"/>
            <a:ext cx="2286000" cy="1928446"/>
            <a:chOff x="1188720" y="2776024"/>
            <a:chExt cx="2286000" cy="1928446"/>
          </a:xfrm>
        </p:grpSpPr>
        <p:sp>
          <p:nvSpPr>
            <p:cNvPr id="12" name="sdregion:a402ad5b"/>
            <p:cNvSpPr/>
            <p:nvPr/>
          </p:nvSpPr>
          <p:spPr>
            <a:xfrm>
              <a:off x="1188720" y="2776024"/>
              <a:ext cx="2286000" cy="1928446"/>
            </a:xfrm>
            <a:custGeom>
              <a:avLst/>
              <a:gdLst/>
              <a:ahLst/>
              <a:cxnLst/>
              <a:rect l="0" t="0" r="r" b="b"/>
              <a:pathLst>
                <a:path w="2286000" h="1928446">
                  <a:moveTo>
                    <a:pt x="0" y="1928446"/>
                  </a:moveTo>
                  <a:lnTo>
                    <a:pt x="2286000" y="1928446"/>
                  </a:lnTo>
                  <a:lnTo>
                    <a:pt x="2286000" y="0"/>
                  </a:lnTo>
                  <a:lnTo>
                    <a:pt x="0" y="0"/>
                  </a:lnTo>
                  <a:close/>
                </a:path>
              </a:pathLst>
            </a:custGeom>
            <a:solidFill>
              <a:srgbClr val="3F444C">
                <a:alpha val="45000"/>
              </a:srgbClr>
            </a:solidFill>
            <a:ln w="12700">
              <a:solidFill>
                <a:srgbClr val="3F4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sdreglab:a402ad5b"/>
            <p:cNvSpPr txBox="1"/>
            <p:nvPr/>
          </p:nvSpPr>
          <p:spPr>
            <a:xfrm>
              <a:off x="1933574" y="3397347"/>
              <a:ext cx="796290" cy="685800"/>
            </a:xfrm>
            <a:prstGeom prst="rect">
              <a:avLst/>
            </a:prstGeom>
            <a:noFill/>
          </p:spPr>
          <p:txBody>
            <a:bodyPr wrap="square" lIns="0" tIns="0" rIns="0" bIns="0" anchor="ctr">
              <a:spAutoFit/>
            </a:bodyPr>
            <a:lstStyle/>
            <a:p>
              <a:pPr algn="ctr"/>
              <a:r>
                <a:rPr sz="2000" b="1" i="0" u="none">
                  <a:solidFill>
                    <a:srgbClr val="0B2B4E"/>
                  </a:solidFill>
                  <a:latin typeface="Calibri"/>
                </a:rPr>
                <a:t>Loss
(= TFC)</a:t>
              </a:r>
            </a:p>
          </p:txBody>
        </p:sp>
      </p:grpSp>
      <p:grpSp>
        <p:nvGrpSpPr>
          <p:cNvPr id="136" name="sdpair:curve:D"/>
          <p:cNvGrpSpPr/>
          <p:nvPr/>
        </p:nvGrpSpPr>
        <p:grpSpPr>
          <a:xfrm>
            <a:off x="1188720" y="2500532"/>
            <a:ext cx="6172200" cy="1487658"/>
            <a:chOff x="1188720" y="2500532"/>
            <a:chExt cx="6172200" cy="1487658"/>
          </a:xfrm>
        </p:grpSpPr>
        <p:cxnSp>
          <p:nvCxnSpPr>
            <p:cNvPr id="13" name="sdcurve:D"/>
            <p:cNvCxnSpPr/>
            <p:nvPr/>
          </p:nvCxnSpPr>
          <p:spPr>
            <a:xfrm>
              <a:off x="1188720" y="2500532"/>
              <a:ext cx="6172200" cy="1487658"/>
            </a:xfrm>
            <a:prstGeom prst="line">
              <a:avLst/>
            </a:prstGeom>
            <a:ln w="34925">
              <a:solidFill>
                <a:srgbClr val="C00000"/>
              </a:solidFill>
            </a:ln>
          </p:spPr>
          <p:style>
            <a:lnRef idx="2">
              <a:schemeClr val="accent1"/>
            </a:lnRef>
            <a:fillRef idx="0">
              <a:schemeClr val="accent1"/>
            </a:fillRef>
            <a:effectRef idx="1">
              <a:schemeClr val="accent1"/>
            </a:effectRef>
            <a:fontRef idx="minor">
              <a:schemeClr val="tx1"/>
            </a:fontRef>
          </p:style>
        </p:cxnSp>
        <p:sp>
          <p:nvSpPr>
            <p:cNvPr id="14" name="sdcurvelab:D"/>
            <p:cNvSpPr txBox="1"/>
            <p:nvPr/>
          </p:nvSpPr>
          <p:spPr>
            <a:xfrm>
              <a:off x="7018020" y="3450687"/>
              <a:ext cx="244602" cy="292608"/>
            </a:xfrm>
            <a:prstGeom prst="rect">
              <a:avLst/>
            </a:prstGeom>
            <a:noFill/>
          </p:spPr>
          <p:txBody>
            <a:bodyPr wrap="square" lIns="0" tIns="0" rIns="0" bIns="0">
              <a:spAutoFit/>
            </a:bodyPr>
            <a:lstStyle/>
            <a:p>
              <a:pPr algn="l"/>
              <a:r>
                <a:rPr sz="2200" b="1" i="1" u="none">
                  <a:solidFill>
                    <a:srgbClr val="C00000"/>
                  </a:solidFill>
                  <a:latin typeface="Calibri"/>
                </a:rPr>
                <a:t>D</a:t>
              </a:r>
            </a:p>
          </p:txBody>
        </p:sp>
      </p:grpSp>
      <p:grpSp>
        <p:nvGrpSpPr>
          <p:cNvPr id="137" name="sdpair:curve:MR"/>
          <p:cNvGrpSpPr/>
          <p:nvPr/>
        </p:nvGrpSpPr>
        <p:grpSpPr>
          <a:xfrm>
            <a:off x="1188720" y="2500532"/>
            <a:ext cx="6515100" cy="3140612"/>
            <a:chOff x="1188720" y="2500532"/>
            <a:chExt cx="6515100" cy="3140612"/>
          </a:xfrm>
        </p:grpSpPr>
        <p:cxnSp>
          <p:nvCxnSpPr>
            <p:cNvPr id="15" name="sdcurve:MR"/>
            <p:cNvCxnSpPr/>
            <p:nvPr/>
          </p:nvCxnSpPr>
          <p:spPr>
            <a:xfrm>
              <a:off x="1188720" y="2500532"/>
              <a:ext cx="6515100" cy="3140612"/>
            </a:xfrm>
            <a:prstGeom prst="line">
              <a:avLst/>
            </a:prstGeom>
            <a:ln w="28575">
              <a:solidFill>
                <a:srgbClr val="C00000"/>
              </a:solidFill>
              <a:prstDash val="dash"/>
            </a:ln>
          </p:spPr>
          <p:style>
            <a:lnRef idx="2">
              <a:schemeClr val="accent1"/>
            </a:lnRef>
            <a:fillRef idx="0">
              <a:schemeClr val="accent1"/>
            </a:fillRef>
            <a:effectRef idx="1">
              <a:schemeClr val="accent1"/>
            </a:effectRef>
            <a:fontRef idx="minor">
              <a:schemeClr val="tx1"/>
            </a:fontRef>
          </p:style>
        </p:cxnSp>
        <p:sp>
          <p:nvSpPr>
            <p:cNvPr id="16" name="sdcurvelab:MR"/>
            <p:cNvSpPr txBox="1"/>
            <p:nvPr/>
          </p:nvSpPr>
          <p:spPr>
            <a:xfrm>
              <a:off x="7218822" y="5074139"/>
              <a:ext cx="473201" cy="292608"/>
            </a:xfrm>
            <a:prstGeom prst="rect">
              <a:avLst/>
            </a:prstGeom>
            <a:noFill/>
          </p:spPr>
          <p:txBody>
            <a:bodyPr wrap="square" lIns="0" tIns="0" rIns="0" bIns="0">
              <a:spAutoFit/>
            </a:bodyPr>
            <a:lstStyle/>
            <a:p>
              <a:pPr algn="l"/>
              <a:r>
                <a:rPr sz="2200" b="1" i="1" u="none">
                  <a:solidFill>
                    <a:srgbClr val="C00000"/>
                  </a:solidFill>
                  <a:latin typeface="Calibri"/>
                </a:rPr>
                <a:t>MR</a:t>
              </a:r>
            </a:p>
          </p:txBody>
        </p:sp>
      </p:grpSp>
      <p:grpSp>
        <p:nvGrpSpPr>
          <p:cNvPr id="138" name="sdpair:curve:MC"/>
          <p:cNvGrpSpPr/>
          <p:nvPr/>
        </p:nvGrpSpPr>
        <p:grpSpPr>
          <a:xfrm>
            <a:off x="1188720" y="1390005"/>
            <a:ext cx="4908040" cy="4416435"/>
            <a:chOff x="1188720" y="1390005"/>
            <a:chExt cx="4908040" cy="4416435"/>
          </a:xfrm>
        </p:grpSpPr>
        <p:cxnSp>
          <p:nvCxnSpPr>
            <p:cNvPr id="17" name="sdcurve:MC"/>
            <p:cNvCxnSpPr/>
            <p:nvPr/>
          </p:nvCxnSpPr>
          <p:spPr>
            <a:xfrm flipV="1">
              <a:off x="1188720" y="1618956"/>
              <a:ext cx="4343400" cy="4187484"/>
            </a:xfrm>
            <a:prstGeom prst="line">
              <a:avLst/>
            </a:prstGeom>
            <a:ln w="34925">
              <a:solidFill>
                <a:srgbClr val="0B2B4E"/>
              </a:solidFill>
            </a:ln>
          </p:spPr>
          <p:style>
            <a:lnRef idx="2">
              <a:schemeClr val="accent1"/>
            </a:lnRef>
            <a:fillRef idx="0">
              <a:schemeClr val="accent1"/>
            </a:fillRef>
            <a:effectRef idx="1">
              <a:schemeClr val="accent1"/>
            </a:effectRef>
            <a:fontRef idx="minor">
              <a:schemeClr val="tx1"/>
            </a:fontRef>
          </p:style>
        </p:cxnSp>
        <p:sp>
          <p:nvSpPr>
            <p:cNvPr id="18" name="sdcurvelab:MC"/>
            <p:cNvSpPr txBox="1"/>
            <p:nvPr/>
          </p:nvSpPr>
          <p:spPr>
            <a:xfrm>
              <a:off x="5623559" y="1390005"/>
              <a:ext cx="473201" cy="292608"/>
            </a:xfrm>
            <a:prstGeom prst="rect">
              <a:avLst/>
            </a:prstGeom>
            <a:noFill/>
          </p:spPr>
          <p:txBody>
            <a:bodyPr wrap="square" lIns="0" tIns="0" rIns="0" bIns="0">
              <a:spAutoFit/>
            </a:bodyPr>
            <a:lstStyle/>
            <a:p>
              <a:pPr algn="l"/>
              <a:r>
                <a:rPr sz="2200" b="1" i="1" u="none">
                  <a:solidFill>
                    <a:srgbClr val="0B2B4E"/>
                  </a:solidFill>
                  <a:latin typeface="Calibri"/>
                </a:rPr>
                <a:t>MC</a:t>
              </a:r>
            </a:p>
          </p:txBody>
        </p:sp>
      </p:grpSp>
      <p:grpSp>
        <p:nvGrpSpPr>
          <p:cNvPr id="139" name="sdpair:curve:ATC"/>
          <p:cNvGrpSpPr/>
          <p:nvPr/>
        </p:nvGrpSpPr>
        <p:grpSpPr>
          <a:xfrm>
            <a:off x="2382800" y="1538931"/>
            <a:ext cx="7554442" cy="1352448"/>
            <a:chOff x="2382800" y="1538931"/>
            <a:chExt cx="7554442" cy="1352448"/>
          </a:xfrm>
        </p:grpSpPr>
        <p:sp>
          <p:nvSpPr>
            <p:cNvPr id="19" name="sdcurve:ATC"/>
            <p:cNvSpPr/>
            <p:nvPr/>
          </p:nvSpPr>
          <p:spPr>
            <a:xfrm>
              <a:off x="2382800" y="1538931"/>
              <a:ext cx="5092420" cy="1352448"/>
            </a:xfrm>
            <a:custGeom>
              <a:avLst/>
              <a:gdLst/>
              <a:ahLst/>
              <a:cxnLst/>
              <a:rect l="0" t="0" r="r" b="b"/>
              <a:pathLst>
                <a:path w="5092420" h="1352448" fill="none">
                  <a:moveTo>
                    <a:pt x="0" y="0"/>
                  </a:moveTo>
                  <a:cubicBezTo>
                    <a:pt x="21771" y="50180"/>
                    <a:pt x="84702" y="207851"/>
                    <a:pt x="130626" y="301080"/>
                  </a:cubicBezTo>
                  <a:cubicBezTo>
                    <a:pt x="176549" y="394309"/>
                    <a:pt x="224594" y="479942"/>
                    <a:pt x="275542" y="559374"/>
                  </a:cubicBezTo>
                  <a:cubicBezTo>
                    <a:pt x="326489" y="638805"/>
                    <a:pt x="379789" y="711176"/>
                    <a:pt x="436310" y="777667"/>
                  </a:cubicBezTo>
                  <a:cubicBezTo>
                    <a:pt x="492830" y="844157"/>
                    <a:pt x="551961" y="904049"/>
                    <a:pt x="614665" y="958316"/>
                  </a:cubicBezTo>
                  <a:cubicBezTo>
                    <a:pt x="677368" y="1012582"/>
                    <a:pt x="742968" y="1060639"/>
                    <a:pt x="812532" y="1103268"/>
                  </a:cubicBezTo>
                  <a:cubicBezTo>
                    <a:pt x="882095" y="1145896"/>
                    <a:pt x="954871" y="1182636"/>
                    <a:pt x="1032044" y="1214087"/>
                  </a:cubicBezTo>
                  <a:cubicBezTo>
                    <a:pt x="1109216" y="1245537"/>
                    <a:pt x="1189953" y="1271358"/>
                    <a:pt x="1275569" y="1291969"/>
                  </a:cubicBezTo>
                  <a:cubicBezTo>
                    <a:pt x="1361184" y="1312580"/>
                    <a:pt x="1450754" y="1327758"/>
                    <a:pt x="1545735" y="1337753"/>
                  </a:cubicBezTo>
                  <a:cubicBezTo>
                    <a:pt x="1640716" y="1347747"/>
                    <a:pt x="1740083" y="1352448"/>
                    <a:pt x="1845455" y="1351934"/>
                  </a:cubicBezTo>
                  <a:cubicBezTo>
                    <a:pt x="1950826" y="1351419"/>
                    <a:pt x="2061065" y="1345693"/>
                    <a:pt x="2177964" y="1334664"/>
                  </a:cubicBezTo>
                  <a:cubicBezTo>
                    <a:pt x="2294862" y="1323634"/>
                    <a:pt x="2417159" y="1307420"/>
                    <a:pt x="2546846" y="1285758"/>
                  </a:cubicBezTo>
                  <a:cubicBezTo>
                    <a:pt x="2676532" y="1264095"/>
                    <a:pt x="2812208" y="1237217"/>
                    <a:pt x="2956082" y="1204687"/>
                  </a:cubicBezTo>
                  <a:cubicBezTo>
                    <a:pt x="3099955" y="1172156"/>
                    <a:pt x="3250474" y="1134325"/>
                    <a:pt x="3410087" y="1090577"/>
                  </a:cubicBezTo>
                  <a:cubicBezTo>
                    <a:pt x="3569699" y="1046828"/>
                    <a:pt x="3736683" y="997636"/>
                    <a:pt x="3913756" y="942198"/>
                  </a:cubicBezTo>
                  <a:cubicBezTo>
                    <a:pt x="4090829" y="886759"/>
                    <a:pt x="4276081" y="825674"/>
                    <a:pt x="4472525" y="757948"/>
                  </a:cubicBezTo>
                  <a:cubicBezTo>
                    <a:pt x="4668969" y="690221"/>
                    <a:pt x="4989104" y="572858"/>
                    <a:pt x="5092420" y="535840"/>
                  </a:cubicBezTo>
                </a:path>
              </a:pathLst>
            </a:custGeom>
            <a:noFill/>
            <a:ln w="34925">
              <a:solidFill>
                <a:srgbClr val="E09F3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sdcurvelab:ATC"/>
            <p:cNvSpPr txBox="1"/>
            <p:nvPr/>
          </p:nvSpPr>
          <p:spPr>
            <a:xfrm>
              <a:off x="7520940" y="1763172"/>
              <a:ext cx="2416302" cy="292608"/>
            </a:xfrm>
            <a:prstGeom prst="rect">
              <a:avLst/>
            </a:prstGeom>
            <a:noFill/>
          </p:spPr>
          <p:txBody>
            <a:bodyPr wrap="square" lIns="0" tIns="0" rIns="0" bIns="0">
              <a:spAutoFit/>
            </a:bodyPr>
            <a:lstStyle/>
            <a:p>
              <a:pPr algn="l"/>
              <a:r>
                <a:rPr sz="2000" b="1" i="1" u="none">
                  <a:solidFill>
                    <a:srgbClr val="E09F3E"/>
                  </a:solidFill>
                  <a:latin typeface="Calibri"/>
                </a:rPr>
                <a:t>ATC (with higher rent)</a:t>
              </a:r>
            </a:p>
          </p:txBody>
        </p:sp>
      </p:grpSp>
      <p:grpSp>
        <p:nvGrpSpPr>
          <p:cNvPr id="140" name="sdpair:curve:AVC"/>
          <p:cNvGrpSpPr/>
          <p:nvPr/>
        </p:nvGrpSpPr>
        <p:grpSpPr>
          <a:xfrm>
            <a:off x="1188720" y="2486464"/>
            <a:ext cx="6872096" cy="3319976"/>
            <a:chOff x="1188720" y="2486464"/>
            <a:chExt cx="6872096" cy="3319976"/>
          </a:xfrm>
        </p:grpSpPr>
        <p:cxnSp>
          <p:nvCxnSpPr>
            <p:cNvPr id="21" name="sdcurve:AVC"/>
            <p:cNvCxnSpPr/>
            <p:nvPr/>
          </p:nvCxnSpPr>
          <p:spPr>
            <a:xfrm flipV="1">
              <a:off x="1188720" y="2776024"/>
              <a:ext cx="6286500" cy="3030416"/>
            </a:xfrm>
            <a:prstGeom prst="line">
              <a:avLst/>
            </a:prstGeom>
            <a:ln w="31750">
              <a:solidFill>
                <a:srgbClr val="555B66"/>
              </a:solidFill>
            </a:ln>
          </p:spPr>
          <p:style>
            <a:lnRef idx="2">
              <a:schemeClr val="accent1"/>
            </a:lnRef>
            <a:fillRef idx="0">
              <a:schemeClr val="accent1"/>
            </a:fillRef>
            <a:effectRef idx="1">
              <a:schemeClr val="accent1"/>
            </a:effectRef>
            <a:fontRef idx="minor">
              <a:schemeClr val="tx1"/>
            </a:fontRef>
          </p:style>
        </p:cxnSp>
        <p:sp>
          <p:nvSpPr>
            <p:cNvPr id="22" name="sdcurvelab:AVC"/>
            <p:cNvSpPr txBox="1"/>
            <p:nvPr/>
          </p:nvSpPr>
          <p:spPr>
            <a:xfrm>
              <a:off x="7520940" y="2486464"/>
              <a:ext cx="539876" cy="292608"/>
            </a:xfrm>
            <a:prstGeom prst="rect">
              <a:avLst/>
            </a:prstGeom>
            <a:noFill/>
          </p:spPr>
          <p:txBody>
            <a:bodyPr wrap="square" lIns="0" tIns="0" rIns="0" bIns="0">
              <a:spAutoFit/>
            </a:bodyPr>
            <a:lstStyle/>
            <a:p>
              <a:pPr algn="l"/>
              <a:r>
                <a:rPr sz="2000" b="1" i="1" u="none">
                  <a:solidFill>
                    <a:srgbClr val="555B66"/>
                  </a:solidFill>
                  <a:latin typeface="Calibri"/>
                </a:rPr>
                <a:t>AVC</a:t>
              </a:r>
            </a:p>
          </p:txBody>
        </p:sp>
      </p:grpSp>
      <p:cxnSp>
        <p:nvCxnSpPr>
          <p:cNvPr id="23" name="Connector 22"/>
          <p:cNvCxnSpPr/>
          <p:nvPr/>
        </p:nvCxnSpPr>
        <p:spPr>
          <a:xfrm flipV="1">
            <a:off x="3474720" y="2776024"/>
            <a:ext cx="0" cy="3030416"/>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285744" y="5861303"/>
            <a:ext cx="377952" cy="274320"/>
          </a:xfrm>
          <a:prstGeom prst="rect">
            <a:avLst/>
          </a:prstGeom>
          <a:noFill/>
        </p:spPr>
        <p:txBody>
          <a:bodyPr wrap="square" lIns="0" tIns="0" rIns="0" bIns="0">
            <a:spAutoFit/>
          </a:bodyPr>
          <a:lstStyle/>
          <a:p>
            <a:pPr algn="ctr"/>
            <a:r>
              <a:rPr sz="2000" b="1" i="1" u="none">
                <a:solidFill>
                  <a:srgbClr val="0B2B4E"/>
                </a:solidFill>
                <a:latin typeface="Calibri"/>
              </a:rPr>
              <a:t>Q*</a:t>
            </a:r>
          </a:p>
        </p:txBody>
      </p:sp>
      <p:cxnSp>
        <p:nvCxnSpPr>
          <p:cNvPr id="25" name="Connector 24"/>
          <p:cNvCxnSpPr/>
          <p:nvPr/>
        </p:nvCxnSpPr>
        <p:spPr>
          <a:xfrm>
            <a:off x="1188720" y="3051516"/>
            <a:ext cx="2286000"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04291" y="2914356"/>
            <a:ext cx="311277" cy="274320"/>
          </a:xfrm>
          <a:prstGeom prst="rect">
            <a:avLst/>
          </a:prstGeom>
          <a:noFill/>
        </p:spPr>
        <p:txBody>
          <a:bodyPr wrap="square" lIns="0" tIns="0" rIns="0" bIns="0">
            <a:spAutoFit/>
          </a:bodyPr>
          <a:lstStyle/>
          <a:p>
            <a:pPr algn="r"/>
            <a:r>
              <a:rPr sz="1800" b="1" i="1" u="none">
                <a:solidFill>
                  <a:srgbClr val="0B2B4E"/>
                </a:solidFill>
                <a:latin typeface="Calibri"/>
              </a:rPr>
              <a:t>P*</a:t>
            </a:r>
          </a:p>
        </p:txBody>
      </p:sp>
      <p:sp>
        <p:nvSpPr>
          <p:cNvPr id="27" name="TextBox 26"/>
          <p:cNvSpPr txBox="1"/>
          <p:nvPr/>
        </p:nvSpPr>
        <p:spPr>
          <a:xfrm>
            <a:off x="651891" y="2572746"/>
            <a:ext cx="463677" cy="274320"/>
          </a:xfrm>
          <a:prstGeom prst="rect">
            <a:avLst/>
          </a:prstGeom>
          <a:noFill/>
        </p:spPr>
        <p:txBody>
          <a:bodyPr wrap="square" lIns="0" tIns="0" rIns="0" bIns="0">
            <a:spAutoFit/>
          </a:bodyPr>
          <a:lstStyle/>
          <a:p>
            <a:pPr algn="r"/>
            <a:r>
              <a:rPr sz="1800" b="0" i="1" u="none">
                <a:solidFill>
                  <a:srgbClr val="0B2B4E"/>
                </a:solidFill>
                <a:latin typeface="Calibri"/>
              </a:rPr>
              <a:t>ATC</a:t>
            </a:r>
          </a:p>
        </p:txBody>
      </p:sp>
      <p:sp>
        <p:nvSpPr>
          <p:cNvPr id="28" name="TextBox 27"/>
          <p:cNvSpPr txBox="1"/>
          <p:nvPr/>
        </p:nvSpPr>
        <p:spPr>
          <a:xfrm>
            <a:off x="632841" y="4567310"/>
            <a:ext cx="482727" cy="274320"/>
          </a:xfrm>
          <a:prstGeom prst="rect">
            <a:avLst/>
          </a:prstGeom>
          <a:noFill/>
        </p:spPr>
        <p:txBody>
          <a:bodyPr wrap="square" lIns="0" tIns="0" rIns="0" bIns="0">
            <a:spAutoFit/>
          </a:bodyPr>
          <a:lstStyle/>
          <a:p>
            <a:pPr algn="r"/>
            <a:r>
              <a:rPr sz="1800" b="0" i="1" u="none">
                <a:solidFill>
                  <a:srgbClr val="0B2B4E"/>
                </a:solidFill>
                <a:latin typeface="Calibri"/>
              </a:rPr>
              <a:t>AVC</a:t>
            </a:r>
          </a:p>
        </p:txBody>
      </p:sp>
      <p:grpSp>
        <p:nvGrpSpPr>
          <p:cNvPr id="32" name="sdpair:stop:0"/>
          <p:cNvGrpSpPr/>
          <p:nvPr/>
        </p:nvGrpSpPr>
        <p:grpSpPr>
          <a:xfrm>
            <a:off x="8183879" y="3886200"/>
            <a:ext cx="3749039" cy="1170432"/>
            <a:chOff x="8183879" y="3886200"/>
            <a:chExt cx="3749039" cy="1170432"/>
          </a:xfrm>
        </p:grpSpPr>
        <p:sp>
          <p:nvSpPr>
            <p:cNvPr id="30" name="Rectangle 29"/>
            <p:cNvSpPr/>
            <p:nvPr/>
          </p:nvSpPr>
          <p:spPr>
            <a:xfrm>
              <a:off x="8183879" y="4341114"/>
              <a:ext cx="420625" cy="260604"/>
            </a:xfrm>
            <a:custGeom>
              <a:avLst/>
              <a:gdLst/>
              <a:ahLst/>
              <a:cxnLst/>
              <a:rect l="0" t="0" r="r" b="b"/>
              <a:pathLst>
                <a:path w="420625" h="260604">
                  <a:moveTo>
                    <a:pt x="0" y="0"/>
                  </a:moveTo>
                  <a:lnTo>
                    <a:pt x="420625" y="0"/>
                  </a:lnTo>
                  <a:lnTo>
                    <a:pt x="420625" y="260604"/>
                  </a:lnTo>
                  <a:lnTo>
                    <a:pt x="0" y="260604"/>
                  </a:lnTo>
                  <a:close/>
                </a:path>
              </a:pathLst>
            </a:custGeom>
            <a:solidFill>
              <a:srgbClr val="3F444C">
                <a:alpha val="45000"/>
              </a:srgbClr>
            </a:solidFill>
            <a:ln w="9525">
              <a:solidFill>
                <a:srgbClr val="3F4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sdlegtxt:stop:0"/>
            <p:cNvSpPr txBox="1"/>
            <p:nvPr/>
          </p:nvSpPr>
          <p:spPr>
            <a:xfrm>
              <a:off x="8750807" y="3886200"/>
              <a:ext cx="3182111" cy="1170432"/>
            </a:xfrm>
            <a:prstGeom prst="rect">
              <a:avLst/>
            </a:prstGeom>
            <a:noFill/>
          </p:spPr>
          <p:txBody>
            <a:bodyPr wrap="square" lIns="0" tIns="0" rIns="0" bIns="0" anchor="ctr">
              <a:spAutoFit/>
            </a:bodyPr>
            <a:lstStyle/>
            <a:p>
              <a:pPr algn="l"/>
              <a:r>
                <a:rPr sz="1800" b="0" i="0" u="none">
                  <a:solidFill>
                    <a:srgbClr val="0B2B4E"/>
                  </a:solidFill>
                  <a:latin typeface="Calibri"/>
                </a:rPr>
                <a:t>If the restaurant stops serving customers but still has to pay the rent, it loses the whole fixed cost (TFC), which is equal to the rent</a:t>
              </a:r>
            </a:p>
          </p:txBody>
        </p:sp>
      </p:grpSp>
      <p:sp>
        <p:nvSpPr>
          <p:cNvPr id="33" name="Rectangle 3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5  ·  Monopoly and Monopolistic Competition</a:t>
            </a:r>
          </a:p>
        </p:txBody>
      </p:sp>
      <p:sp>
        <p:nvSpPr>
          <p:cNvPr id="36" name="TextBox 35"/>
          <p:cNvSpPr txBox="1"/>
          <p:nvPr/>
        </p:nvSpPr>
        <p:spPr>
          <a:xfrm>
            <a:off x="11475720" y="6583680"/>
            <a:ext cx="502920" cy="292608"/>
          </a:xfrm>
          <a:prstGeom prst="rect">
            <a:avLst/>
          </a:prstGeom>
          <a:noFill/>
        </p:spPr>
        <p:txBody>
          <a:bodyPr wrap="none" lIns="0" tIns="0" rIns="0" bIns="0">
            <a:spAutoFit/>
          </a:bodyPr>
          <a:lstStyle/>
          <a:p>
            <a:pPr algn="r"/>
            <a:fld id="{53793BDB-F8E4-5A87-9208-0FE1942BB6AD}" type="slidenum">
              <a:rPr lang="en-US" sz="1200" dirty="0">
                <a:solidFill>
                  <a:srgbClr val="555B66"/>
                </a:solidFill>
                <a:latin typeface="Calibri"/>
              </a:rPr>
              <a:t>15</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1"/>
                                        </p:tgtEl>
                                        <p:attrNameLst>
                                          <p:attrName>style.visibility</p:attrName>
                                        </p:attrNameLst>
                                      </p:cBhvr>
                                      <p:to>
                                        <p:strVal val="visible"/>
                                      </p:to>
                                    </p:set>
                                    <p:animEffect transition="in" filter="fade">
                                      <p:cBhvr>
                                        <p:cTn id="7" dur="500"/>
                                        <p:tgtEl>
                                          <p:spTgt spid="141"/>
                                        </p:tgtEl>
                                      </p:cBhvr>
                                    </p:animEffect>
                                  </p:childTnLst>
                                </p:cTn>
                              </p:par>
                              <p:par>
                                <p:cTn id="8" presetID="10" presetClass="entr" presetSubtype="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5 · Profit Maximization for Price Searchers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Price Searcher: Fixed Cost Does Not Impact Price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NV_s10_rId4.png"/>
          <p:cNvPicPr>
            <a:picLocks noChangeAspect="1"/>
          </p:cNvPicPr>
          <p:nvPr/>
        </p:nvPicPr>
        <p:blipFill>
          <a:blip r:embed="rId3"/>
          <a:stretch>
            <a:fillRect/>
          </a:stretch>
        </p:blipFill>
        <p:spPr>
          <a:xfrm>
            <a:off x="9464040" y="1298448"/>
            <a:ext cx="2331720" cy="507225"/>
          </a:xfrm>
          <a:prstGeom prst="rect">
            <a:avLst/>
          </a:prstGeom>
        </p:spPr>
      </p:pic>
      <p:cxnSp>
        <p:nvCxnSpPr>
          <p:cNvPr id="8" name="sdaxis:y"/>
          <p:cNvCxnSpPr/>
          <p:nvPr/>
        </p:nvCxnSpPr>
        <p:spPr>
          <a:xfrm flipV="1">
            <a:off x="2514600" y="1344167"/>
            <a:ext cx="0" cy="4462273"/>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9" name="sdaxis:x"/>
          <p:cNvCxnSpPr/>
          <p:nvPr/>
        </p:nvCxnSpPr>
        <p:spPr>
          <a:xfrm>
            <a:off x="2514600" y="5806440"/>
            <a:ext cx="565099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0" name="sdaxistitle:y"/>
          <p:cNvSpPr txBox="1"/>
          <p:nvPr/>
        </p:nvSpPr>
        <p:spPr>
          <a:xfrm>
            <a:off x="2225421" y="1211579"/>
            <a:ext cx="216027" cy="265176"/>
          </a:xfrm>
          <a:prstGeom prst="rect">
            <a:avLst/>
          </a:prstGeom>
          <a:noFill/>
        </p:spPr>
        <p:txBody>
          <a:bodyPr wrap="square" lIns="0" tIns="0" rIns="0" bIns="0">
            <a:spAutoFit/>
          </a:bodyPr>
          <a:lstStyle/>
          <a:p>
            <a:pPr algn="l"/>
            <a:r>
              <a:rPr sz="2000" b="1" i="1" u="none">
                <a:solidFill>
                  <a:srgbClr val="0B2B4E"/>
                </a:solidFill>
                <a:latin typeface="Calibri"/>
              </a:rPr>
              <a:t>P</a:t>
            </a:r>
          </a:p>
        </p:txBody>
      </p:sp>
      <p:sp>
        <p:nvSpPr>
          <p:cNvPr id="11" name="sdaxistitle:x"/>
          <p:cNvSpPr txBox="1"/>
          <p:nvPr/>
        </p:nvSpPr>
        <p:spPr>
          <a:xfrm>
            <a:off x="7752778" y="5852159"/>
            <a:ext cx="825626" cy="265176"/>
          </a:xfrm>
          <a:prstGeom prst="rect">
            <a:avLst/>
          </a:prstGeom>
          <a:noFill/>
        </p:spPr>
        <p:txBody>
          <a:bodyPr wrap="square" lIns="0" tIns="0" rIns="0" bIns="0">
            <a:spAutoFit/>
          </a:bodyPr>
          <a:lstStyle/>
          <a:p>
            <a:pPr algn="l"/>
            <a:r>
              <a:rPr sz="2000" b="1" i="1" u="none">
                <a:solidFill>
                  <a:srgbClr val="0B2B4E"/>
                </a:solidFill>
                <a:latin typeface="Calibri"/>
              </a:rPr>
              <a:t>Output</a:t>
            </a:r>
          </a:p>
        </p:txBody>
      </p:sp>
      <p:grpSp>
        <p:nvGrpSpPr>
          <p:cNvPr id="135" name="sdpair:curve:D"/>
          <p:cNvGrpSpPr/>
          <p:nvPr/>
        </p:nvGrpSpPr>
        <p:grpSpPr>
          <a:xfrm>
            <a:off x="2514600" y="2500532"/>
            <a:ext cx="5290457" cy="1487658"/>
            <a:chOff x="2514600" y="2500532"/>
            <a:chExt cx="5290457" cy="1487658"/>
          </a:xfrm>
        </p:grpSpPr>
        <p:cxnSp>
          <p:nvCxnSpPr>
            <p:cNvPr id="12" name="sdcurve:D"/>
            <p:cNvCxnSpPr/>
            <p:nvPr/>
          </p:nvCxnSpPr>
          <p:spPr>
            <a:xfrm>
              <a:off x="2514600" y="2500532"/>
              <a:ext cx="5290457" cy="1487658"/>
            </a:xfrm>
            <a:prstGeom prst="line">
              <a:avLst/>
            </a:prstGeom>
            <a:ln w="34925">
              <a:solidFill>
                <a:srgbClr val="C00000"/>
              </a:solidFill>
            </a:ln>
          </p:spPr>
          <p:style>
            <a:lnRef idx="2">
              <a:schemeClr val="accent1"/>
            </a:lnRef>
            <a:fillRef idx="0">
              <a:schemeClr val="accent1"/>
            </a:fillRef>
            <a:effectRef idx="1">
              <a:schemeClr val="accent1"/>
            </a:effectRef>
            <a:fontRef idx="minor">
              <a:schemeClr val="tx1"/>
            </a:fontRef>
          </p:style>
        </p:cxnSp>
        <p:sp>
          <p:nvSpPr>
            <p:cNvPr id="13" name="sdcurvelab:D"/>
            <p:cNvSpPr txBox="1"/>
            <p:nvPr/>
          </p:nvSpPr>
          <p:spPr>
            <a:xfrm>
              <a:off x="7511142" y="3450687"/>
              <a:ext cx="244602" cy="292608"/>
            </a:xfrm>
            <a:prstGeom prst="rect">
              <a:avLst/>
            </a:prstGeom>
            <a:noFill/>
          </p:spPr>
          <p:txBody>
            <a:bodyPr wrap="square" lIns="0" tIns="0" rIns="0" bIns="0">
              <a:spAutoFit/>
            </a:bodyPr>
            <a:lstStyle/>
            <a:p>
              <a:pPr algn="l"/>
              <a:r>
                <a:rPr sz="2200" b="1" i="1" u="none">
                  <a:solidFill>
                    <a:srgbClr val="C00000"/>
                  </a:solidFill>
                  <a:latin typeface="Calibri"/>
                </a:rPr>
                <a:t>D</a:t>
              </a:r>
            </a:p>
          </p:txBody>
        </p:sp>
      </p:grpSp>
      <p:grpSp>
        <p:nvGrpSpPr>
          <p:cNvPr id="136" name="sdpair:curve:MR"/>
          <p:cNvGrpSpPr/>
          <p:nvPr/>
        </p:nvGrpSpPr>
        <p:grpSpPr>
          <a:xfrm>
            <a:off x="2514600" y="2500532"/>
            <a:ext cx="5652030" cy="3140612"/>
            <a:chOff x="2514600" y="2500532"/>
            <a:chExt cx="5652030" cy="3140612"/>
          </a:xfrm>
        </p:grpSpPr>
        <p:cxnSp>
          <p:nvCxnSpPr>
            <p:cNvPr id="14" name="sdcurve:MR"/>
            <p:cNvCxnSpPr/>
            <p:nvPr/>
          </p:nvCxnSpPr>
          <p:spPr>
            <a:xfrm>
              <a:off x="2514600" y="2500532"/>
              <a:ext cx="5584371" cy="3140612"/>
            </a:xfrm>
            <a:prstGeom prst="line">
              <a:avLst/>
            </a:prstGeom>
            <a:ln w="28575">
              <a:solidFill>
                <a:srgbClr val="C00000"/>
              </a:solidFill>
              <a:prstDash val="dash"/>
            </a:ln>
          </p:spPr>
          <p:style>
            <a:lnRef idx="2">
              <a:schemeClr val="accent1"/>
            </a:lnRef>
            <a:fillRef idx="0">
              <a:schemeClr val="accent1"/>
            </a:fillRef>
            <a:effectRef idx="1">
              <a:schemeClr val="accent1"/>
            </a:effectRef>
            <a:fontRef idx="minor">
              <a:schemeClr val="tx1"/>
            </a:fontRef>
          </p:style>
        </p:cxnSp>
        <p:sp>
          <p:nvSpPr>
            <p:cNvPr id="15" name="sdcurvelab:MR"/>
            <p:cNvSpPr txBox="1"/>
            <p:nvPr/>
          </p:nvSpPr>
          <p:spPr>
            <a:xfrm>
              <a:off x="7693429" y="5078499"/>
              <a:ext cx="473201" cy="292608"/>
            </a:xfrm>
            <a:prstGeom prst="rect">
              <a:avLst/>
            </a:prstGeom>
            <a:noFill/>
          </p:spPr>
          <p:txBody>
            <a:bodyPr wrap="square" lIns="0" tIns="0" rIns="0" bIns="0">
              <a:spAutoFit/>
            </a:bodyPr>
            <a:lstStyle/>
            <a:p>
              <a:pPr algn="l"/>
              <a:r>
                <a:rPr sz="2200" b="1" i="1" u="none">
                  <a:solidFill>
                    <a:srgbClr val="C00000"/>
                  </a:solidFill>
                  <a:latin typeface="Calibri"/>
                </a:rPr>
                <a:t>MR</a:t>
              </a:r>
            </a:p>
          </p:txBody>
        </p:sp>
      </p:grpSp>
      <p:grpSp>
        <p:nvGrpSpPr>
          <p:cNvPr id="137" name="sdpair:curve:MC"/>
          <p:cNvGrpSpPr/>
          <p:nvPr/>
        </p:nvGrpSpPr>
        <p:grpSpPr>
          <a:xfrm>
            <a:off x="2514600" y="1390005"/>
            <a:ext cx="4274492" cy="4416435"/>
            <a:chOff x="2514600" y="1390005"/>
            <a:chExt cx="4274492" cy="4416435"/>
          </a:xfrm>
        </p:grpSpPr>
        <p:cxnSp>
          <p:nvCxnSpPr>
            <p:cNvPr id="16" name="sdcurve:MC"/>
            <p:cNvCxnSpPr/>
            <p:nvPr/>
          </p:nvCxnSpPr>
          <p:spPr>
            <a:xfrm flipV="1">
              <a:off x="2514600" y="1618956"/>
              <a:ext cx="3722914" cy="4187484"/>
            </a:xfrm>
            <a:prstGeom prst="line">
              <a:avLst/>
            </a:prstGeom>
            <a:ln w="34925">
              <a:solidFill>
                <a:srgbClr val="0B2B4E"/>
              </a:solidFill>
            </a:ln>
          </p:spPr>
          <p:style>
            <a:lnRef idx="2">
              <a:schemeClr val="accent1"/>
            </a:lnRef>
            <a:fillRef idx="0">
              <a:schemeClr val="accent1"/>
            </a:fillRef>
            <a:effectRef idx="1">
              <a:schemeClr val="accent1"/>
            </a:effectRef>
            <a:fontRef idx="minor">
              <a:schemeClr val="tx1"/>
            </a:fontRef>
          </p:style>
        </p:cxnSp>
        <p:sp>
          <p:nvSpPr>
            <p:cNvPr id="17" name="sdcurvelab:MC"/>
            <p:cNvSpPr txBox="1"/>
            <p:nvPr/>
          </p:nvSpPr>
          <p:spPr>
            <a:xfrm>
              <a:off x="6315891" y="1390005"/>
              <a:ext cx="473201" cy="292608"/>
            </a:xfrm>
            <a:prstGeom prst="rect">
              <a:avLst/>
            </a:prstGeom>
            <a:noFill/>
          </p:spPr>
          <p:txBody>
            <a:bodyPr wrap="square" lIns="0" tIns="0" rIns="0" bIns="0">
              <a:spAutoFit/>
            </a:bodyPr>
            <a:lstStyle/>
            <a:p>
              <a:pPr algn="l"/>
              <a:r>
                <a:rPr sz="2200" b="1" i="1" u="none">
                  <a:solidFill>
                    <a:srgbClr val="0B2B4E"/>
                  </a:solidFill>
                  <a:latin typeface="Calibri"/>
                </a:rPr>
                <a:t>MC</a:t>
              </a:r>
            </a:p>
          </p:txBody>
        </p:sp>
      </p:grpSp>
      <p:cxnSp>
        <p:nvCxnSpPr>
          <p:cNvPr id="18" name="Connector 17"/>
          <p:cNvCxnSpPr/>
          <p:nvPr/>
        </p:nvCxnSpPr>
        <p:spPr>
          <a:xfrm>
            <a:off x="2514600" y="3051516"/>
            <a:ext cx="1959428"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474028" y="3051516"/>
            <a:ext cx="0" cy="2754924"/>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2101596" y="2914356"/>
            <a:ext cx="339852" cy="274320"/>
          </a:xfrm>
          <a:prstGeom prst="rect">
            <a:avLst/>
          </a:prstGeom>
          <a:noFill/>
        </p:spPr>
        <p:txBody>
          <a:bodyPr wrap="square" lIns="0" tIns="0" rIns="0" bIns="0">
            <a:spAutoFit/>
          </a:bodyPr>
          <a:lstStyle/>
          <a:p>
            <a:pPr algn="r"/>
            <a:r>
              <a:rPr sz="2000" b="1" i="1" u="none">
                <a:solidFill>
                  <a:srgbClr val="0B2B4E"/>
                </a:solidFill>
                <a:latin typeface="Calibri"/>
              </a:rPr>
              <a:t>P*</a:t>
            </a:r>
          </a:p>
        </p:txBody>
      </p:sp>
      <p:sp>
        <p:nvSpPr>
          <p:cNvPr id="21" name="TextBox 20"/>
          <p:cNvSpPr txBox="1"/>
          <p:nvPr/>
        </p:nvSpPr>
        <p:spPr>
          <a:xfrm>
            <a:off x="4285052" y="5861303"/>
            <a:ext cx="377952" cy="274320"/>
          </a:xfrm>
          <a:prstGeom prst="rect">
            <a:avLst/>
          </a:prstGeom>
          <a:noFill/>
        </p:spPr>
        <p:txBody>
          <a:bodyPr wrap="square" lIns="0" tIns="0" rIns="0" bIns="0">
            <a:spAutoFit/>
          </a:bodyPr>
          <a:lstStyle/>
          <a:p>
            <a:pPr algn="ctr"/>
            <a:r>
              <a:rPr sz="2000" b="1" i="1" u="none">
                <a:solidFill>
                  <a:srgbClr val="0B2B4E"/>
                </a:solidFill>
                <a:latin typeface="Calibri"/>
              </a:rPr>
              <a:t>Q*</a:t>
            </a:r>
          </a:p>
        </p:txBody>
      </p:sp>
      <p:grpSp>
        <p:nvGrpSpPr>
          <p:cNvPr id="138" name="sdpair:curve:ATClo"/>
          <p:cNvGrpSpPr/>
          <p:nvPr/>
        </p:nvGrpSpPr>
        <p:grpSpPr>
          <a:xfrm>
            <a:off x="2709763" y="1713758"/>
            <a:ext cx="7572556" cy="2773527"/>
            <a:chOff x="2709763" y="1713758"/>
            <a:chExt cx="7572556" cy="2773527"/>
          </a:xfrm>
        </p:grpSpPr>
        <p:sp>
          <p:nvSpPr>
            <p:cNvPr id="22" name="sdcurve:ATClo"/>
            <p:cNvSpPr/>
            <p:nvPr/>
          </p:nvSpPr>
          <p:spPr>
            <a:xfrm>
              <a:off x="2709763" y="1713758"/>
              <a:ext cx="5193265" cy="2773527"/>
            </a:xfrm>
            <a:custGeom>
              <a:avLst/>
              <a:gdLst/>
              <a:ahLst/>
              <a:cxnLst/>
              <a:rect l="0" t="0" r="r" b="b"/>
              <a:pathLst>
                <a:path w="5193265" h="2773527" fill="none">
                  <a:moveTo>
                    <a:pt x="0" y="0"/>
                  </a:moveTo>
                  <a:cubicBezTo>
                    <a:pt x="7496" y="120113"/>
                    <a:pt x="28257" y="504712"/>
                    <a:pt x="44977" y="720682"/>
                  </a:cubicBezTo>
                  <a:cubicBezTo>
                    <a:pt x="61696" y="936651"/>
                    <a:pt x="79746" y="1124226"/>
                    <a:pt x="100319" y="1295818"/>
                  </a:cubicBezTo>
                  <a:cubicBezTo>
                    <a:pt x="120892" y="1467409"/>
                    <a:pt x="143100" y="1615611"/>
                    <a:pt x="168415" y="1750232"/>
                  </a:cubicBezTo>
                  <a:cubicBezTo>
                    <a:pt x="193729" y="1884852"/>
                    <a:pt x="221056" y="2000079"/>
                    <a:pt x="252205" y="2103539"/>
                  </a:cubicBezTo>
                  <a:cubicBezTo>
                    <a:pt x="283353" y="2206998"/>
                    <a:pt x="316977" y="2294223"/>
                    <a:pt x="355304" y="2370988"/>
                  </a:cubicBezTo>
                  <a:cubicBezTo>
                    <a:pt x="393630" y="2447752"/>
                    <a:pt x="435004" y="2510741"/>
                    <a:pt x="482163" y="2564124"/>
                  </a:cubicBezTo>
                  <a:cubicBezTo>
                    <a:pt x="529321" y="2617506"/>
                    <a:pt x="580230" y="2658977"/>
                    <a:pt x="638257" y="2691282"/>
                  </a:cubicBezTo>
                  <a:cubicBezTo>
                    <a:pt x="696284" y="2723586"/>
                    <a:pt x="758925" y="2745329"/>
                    <a:pt x="830325" y="2757951"/>
                  </a:cubicBezTo>
                  <a:cubicBezTo>
                    <a:pt x="901724" y="2770572"/>
                    <a:pt x="978801" y="2773527"/>
                    <a:pt x="1066656" y="2767010"/>
                  </a:cubicBezTo>
                  <a:cubicBezTo>
                    <a:pt x="1154510" y="2760492"/>
                    <a:pt x="1249350" y="2744785"/>
                    <a:pt x="1357451" y="2718848"/>
                  </a:cubicBezTo>
                  <a:cubicBezTo>
                    <a:pt x="1465552" y="2692910"/>
                    <a:pt x="1582248" y="2657863"/>
                    <a:pt x="1715262" y="2611387"/>
                  </a:cubicBezTo>
                  <a:cubicBezTo>
                    <a:pt x="1848275" y="2564910"/>
                    <a:pt x="1991865" y="2509010"/>
                    <a:pt x="2155533" y="2439988"/>
                  </a:cubicBezTo>
                  <a:cubicBezTo>
                    <a:pt x="2319200" y="2370966"/>
                    <a:pt x="2495881" y="2291801"/>
                    <a:pt x="2697267" y="2197255"/>
                  </a:cubicBezTo>
                  <a:cubicBezTo>
                    <a:pt x="2898652" y="2102708"/>
                    <a:pt x="3116050" y="1996860"/>
                    <a:pt x="3363847" y="1872708"/>
                  </a:cubicBezTo>
                  <a:cubicBezTo>
                    <a:pt x="3611643" y="1748555"/>
                    <a:pt x="3879143" y="1611457"/>
                    <a:pt x="4184046" y="1452341"/>
                  </a:cubicBezTo>
                  <a:cubicBezTo>
                    <a:pt x="4488949" y="1293224"/>
                    <a:pt x="5025061" y="1007063"/>
                    <a:pt x="5193265" y="918008"/>
                  </a:cubicBezTo>
                </a:path>
              </a:pathLst>
            </a:custGeom>
            <a:noFill/>
            <a:ln w="34925">
              <a:solidFill>
                <a:srgbClr val="E09F3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sdcurvelab:ATClo"/>
            <p:cNvSpPr txBox="1"/>
            <p:nvPr/>
          </p:nvSpPr>
          <p:spPr>
            <a:xfrm>
              <a:off x="7942217" y="2733405"/>
              <a:ext cx="2340102" cy="292608"/>
            </a:xfrm>
            <a:prstGeom prst="rect">
              <a:avLst/>
            </a:prstGeom>
            <a:noFill/>
          </p:spPr>
          <p:txBody>
            <a:bodyPr wrap="square" lIns="0" tIns="0" rIns="0" bIns="0">
              <a:spAutoFit/>
            </a:bodyPr>
            <a:lstStyle/>
            <a:p>
              <a:pPr algn="l"/>
              <a:r>
                <a:rPr sz="2000" b="1" i="1" u="none">
                  <a:solidFill>
                    <a:srgbClr val="E09F3E"/>
                  </a:solidFill>
                  <a:latin typeface="Calibri"/>
                </a:rPr>
                <a:t>ATC (with lower rent)</a:t>
              </a:r>
            </a:p>
          </p:txBody>
        </p:sp>
      </p:grpSp>
      <p:grpSp>
        <p:nvGrpSpPr>
          <p:cNvPr id="139" name="sdpair:curve:ATChi"/>
          <p:cNvGrpSpPr/>
          <p:nvPr/>
        </p:nvGrpSpPr>
        <p:grpSpPr>
          <a:xfrm>
            <a:off x="3538097" y="1538931"/>
            <a:ext cx="6820422" cy="1352448"/>
            <a:chOff x="3538097" y="1538931"/>
            <a:chExt cx="6820422" cy="1352448"/>
          </a:xfrm>
        </p:grpSpPr>
        <p:sp>
          <p:nvSpPr>
            <p:cNvPr id="24" name="sdcurve:ATChi"/>
            <p:cNvSpPr/>
            <p:nvPr/>
          </p:nvSpPr>
          <p:spPr>
            <a:xfrm>
              <a:off x="3538097" y="1538931"/>
              <a:ext cx="4364931" cy="1352448"/>
            </a:xfrm>
            <a:custGeom>
              <a:avLst/>
              <a:gdLst/>
              <a:ahLst/>
              <a:cxnLst/>
              <a:rect l="0" t="0" r="r" b="b"/>
              <a:pathLst>
                <a:path w="4364931" h="1352448" fill="none">
                  <a:moveTo>
                    <a:pt x="0" y="0"/>
                  </a:moveTo>
                  <a:cubicBezTo>
                    <a:pt x="18660" y="50180"/>
                    <a:pt x="72601" y="207851"/>
                    <a:pt x="111965" y="301080"/>
                  </a:cubicBezTo>
                  <a:cubicBezTo>
                    <a:pt x="151328" y="394309"/>
                    <a:pt x="192509" y="479942"/>
                    <a:pt x="236179" y="559374"/>
                  </a:cubicBezTo>
                  <a:cubicBezTo>
                    <a:pt x="279848" y="638805"/>
                    <a:pt x="325533" y="711176"/>
                    <a:pt x="373980" y="777667"/>
                  </a:cubicBezTo>
                  <a:cubicBezTo>
                    <a:pt x="422426" y="844157"/>
                    <a:pt x="473110" y="904049"/>
                    <a:pt x="526856" y="958316"/>
                  </a:cubicBezTo>
                  <a:cubicBezTo>
                    <a:pt x="580602" y="1012582"/>
                    <a:pt x="636830" y="1060639"/>
                    <a:pt x="696456" y="1103268"/>
                  </a:cubicBezTo>
                  <a:cubicBezTo>
                    <a:pt x="756081" y="1145896"/>
                    <a:pt x="818460" y="1182636"/>
                    <a:pt x="884609" y="1214087"/>
                  </a:cubicBezTo>
                  <a:cubicBezTo>
                    <a:pt x="950757" y="1245537"/>
                    <a:pt x="1019960" y="1271358"/>
                    <a:pt x="1093345" y="1291969"/>
                  </a:cubicBezTo>
                  <a:cubicBezTo>
                    <a:pt x="1166729" y="1312580"/>
                    <a:pt x="1243503" y="1327758"/>
                    <a:pt x="1324916" y="1337753"/>
                  </a:cubicBezTo>
                  <a:cubicBezTo>
                    <a:pt x="1406328" y="1347747"/>
                    <a:pt x="1491500" y="1352448"/>
                    <a:pt x="1581819" y="1351934"/>
                  </a:cubicBezTo>
                  <a:cubicBezTo>
                    <a:pt x="1672137" y="1351419"/>
                    <a:pt x="1766627" y="1345693"/>
                    <a:pt x="1866826" y="1334664"/>
                  </a:cubicBezTo>
                  <a:cubicBezTo>
                    <a:pt x="1967024" y="1323634"/>
                    <a:pt x="2071851" y="1307420"/>
                    <a:pt x="2183011" y="1285758"/>
                  </a:cubicBezTo>
                  <a:cubicBezTo>
                    <a:pt x="2294170" y="1264095"/>
                    <a:pt x="2410465" y="1237217"/>
                    <a:pt x="2533785" y="1204687"/>
                  </a:cubicBezTo>
                  <a:cubicBezTo>
                    <a:pt x="2657105" y="1172156"/>
                    <a:pt x="2786120" y="1134325"/>
                    <a:pt x="2922931" y="1090577"/>
                  </a:cubicBezTo>
                  <a:cubicBezTo>
                    <a:pt x="3059741" y="1046828"/>
                    <a:pt x="3202871" y="997636"/>
                    <a:pt x="3354648" y="942198"/>
                  </a:cubicBezTo>
                  <a:cubicBezTo>
                    <a:pt x="3506425" y="886759"/>
                    <a:pt x="3665212" y="825674"/>
                    <a:pt x="3833593" y="757948"/>
                  </a:cubicBezTo>
                  <a:cubicBezTo>
                    <a:pt x="4001973" y="690221"/>
                    <a:pt x="4276374" y="572858"/>
                    <a:pt x="4364931" y="535840"/>
                  </a:cubicBezTo>
                </a:path>
              </a:pathLst>
            </a:custGeom>
            <a:noFill/>
            <a:ln w="34925">
              <a:solidFill>
                <a:srgbClr val="E09F3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sdcurvelab:ATChi"/>
            <p:cNvSpPr txBox="1"/>
            <p:nvPr/>
          </p:nvSpPr>
          <p:spPr>
            <a:xfrm>
              <a:off x="7942217" y="1763172"/>
              <a:ext cx="2416302" cy="292608"/>
            </a:xfrm>
            <a:prstGeom prst="rect">
              <a:avLst/>
            </a:prstGeom>
            <a:noFill/>
          </p:spPr>
          <p:txBody>
            <a:bodyPr wrap="square" lIns="0" tIns="0" rIns="0" bIns="0">
              <a:spAutoFit/>
            </a:bodyPr>
            <a:lstStyle/>
            <a:p>
              <a:pPr algn="l"/>
              <a:r>
                <a:rPr sz="2000" b="1" i="1" u="none">
                  <a:solidFill>
                    <a:srgbClr val="E09F3E"/>
                  </a:solidFill>
                  <a:latin typeface="Calibri"/>
                </a:rPr>
                <a:t>ATC (with higher rent)</a:t>
              </a:r>
            </a:p>
          </p:txBody>
        </p:sp>
      </p:grpSp>
      <p:grpSp>
        <p:nvGrpSpPr>
          <p:cNvPr id="28" name="PstarNote"/>
          <p:cNvGrpSpPr/>
          <p:nvPr/>
        </p:nvGrpSpPr>
        <p:grpSpPr>
          <a:xfrm>
            <a:off x="82296" y="3124668"/>
            <a:ext cx="1947672" cy="1456476"/>
            <a:chOff x="82296" y="3124668"/>
            <a:chExt cx="1947672" cy="1456476"/>
          </a:xfrm>
        </p:grpSpPr>
        <p:sp>
          <p:nvSpPr>
            <p:cNvPr id="26" name="Rounded Rectangle 25"/>
            <p:cNvSpPr/>
            <p:nvPr/>
          </p:nvSpPr>
          <p:spPr>
            <a:xfrm>
              <a:off x="82296" y="3447288"/>
              <a:ext cx="1783080" cy="1133856"/>
            </a:xfrm>
            <a:prstGeom prst="roundRect">
              <a:avLst>
                <a:gd name="adj" fmla="val 12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i="1">
                  <a:solidFill>
                    <a:srgbClr val="FFFFFF"/>
                  </a:solidFill>
                  <a:latin typeface="Calibri"/>
                </a:rPr>
                <a:t>P*</a:t>
              </a:r>
              <a:r>
                <a:rPr sz="1800" b="1" i="0">
                  <a:solidFill>
                    <a:srgbClr val="FFFFFF"/>
                  </a:solidFill>
                  <a:latin typeface="Calibri"/>
                </a:rPr>
                <a:t> does not change if fixed costs go up</a:t>
              </a:r>
            </a:p>
          </p:txBody>
        </p:sp>
        <p:cxnSp>
          <p:nvCxnSpPr>
            <p:cNvPr id="27" name="sdleader:28"/>
            <p:cNvCxnSpPr/>
            <p:nvPr/>
          </p:nvCxnSpPr>
          <p:spPr>
            <a:xfrm flipV="1">
              <a:off x="1688894" y="3124668"/>
              <a:ext cx="341074" cy="287276"/>
            </a:xfrm>
            <a:prstGeom prst="line">
              <a:avLst/>
            </a:prstGeom>
            <a:ln w="28575">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grpSp>
      <p:grpSp>
        <p:nvGrpSpPr>
          <p:cNvPr id="134" name="Group pair 134"/>
          <p:cNvGrpSpPr/>
          <p:nvPr/>
        </p:nvGrpSpPr>
        <p:grpSpPr>
          <a:xfrm>
            <a:off x="9006840" y="4754880"/>
            <a:ext cx="2880360" cy="1188720"/>
            <a:chOff x="9006840" y="4754880"/>
            <a:chExt cx="2880360" cy="1188720"/>
          </a:xfrm>
        </p:grpSpPr>
        <p:sp>
          <p:nvSpPr>
            <p:cNvPr id="29" name="FCNote"/>
            <p:cNvSpPr/>
            <p:nvPr/>
          </p:nvSpPr>
          <p:spPr>
            <a:xfrm>
              <a:off x="9006840" y="4754880"/>
              <a:ext cx="2880360" cy="1188720"/>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189720" y="4864608"/>
              <a:ext cx="2514600" cy="969264"/>
            </a:xfrm>
            <a:prstGeom prst="rect">
              <a:avLst/>
            </a:prstGeom>
            <a:noFill/>
          </p:spPr>
          <p:txBody>
            <a:bodyPr wrap="square" lIns="45720" tIns="0" rIns="45720" bIns="0" anchor="ctr">
              <a:spAutoFit/>
            </a:bodyPr>
            <a:lstStyle/>
            <a:p>
              <a:pPr algn="l"/>
              <a:r>
                <a:rPr sz="1800" b="0" i="0" u="none">
                  <a:solidFill>
                    <a:srgbClr val="0B2B4E"/>
                  </a:solidFill>
                  <a:latin typeface="Calibri"/>
                </a:rPr>
                <a:t>When fixed costs (and thus </a:t>
              </a:r>
              <a:r>
                <a:rPr sz="1800" b="0" i="1" u="none">
                  <a:solidFill>
                    <a:srgbClr val="0B2B4E"/>
                  </a:solidFill>
                  <a:latin typeface="Calibri"/>
                </a:rPr>
                <a:t>ATC</a:t>
              </a:r>
              <a:r>
                <a:rPr sz="1800" b="0" i="0" u="none">
                  <a:solidFill>
                    <a:srgbClr val="0B2B4E"/>
                  </a:solidFill>
                  <a:latin typeface="Calibri"/>
                </a:rPr>
                <a:t>) increase, </a:t>
              </a:r>
              <a:r>
                <a:rPr sz="1800" b="0" i="1" u="none">
                  <a:solidFill>
                    <a:srgbClr val="0B2B4E"/>
                  </a:solidFill>
                  <a:latin typeface="Calibri"/>
                </a:rPr>
                <a:t>P*</a:t>
              </a:r>
              <a:r>
                <a:rPr sz="1800" b="1" i="0" u="none">
                  <a:solidFill>
                    <a:srgbClr val="0B2B4E"/>
                  </a:solidFill>
                  <a:latin typeface="Calibri"/>
                </a:rPr>
                <a:t> does not change. But profits fall</a:t>
              </a:r>
            </a:p>
          </p:txBody>
        </p:sp>
      </p:grpSp>
      <p:sp>
        <p:nvSpPr>
          <p:cNvPr id="31" name="Rectangle 3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5  ·  Monopoly and Monopolistic Competition</a:t>
            </a:r>
          </a:p>
        </p:txBody>
      </p:sp>
      <p:sp>
        <p:nvSpPr>
          <p:cNvPr id="34" name="TextBox 33"/>
          <p:cNvSpPr txBox="1"/>
          <p:nvPr/>
        </p:nvSpPr>
        <p:spPr>
          <a:xfrm>
            <a:off x="11475720" y="6583680"/>
            <a:ext cx="502920" cy="292608"/>
          </a:xfrm>
          <a:prstGeom prst="rect">
            <a:avLst/>
          </a:prstGeom>
          <a:noFill/>
        </p:spPr>
        <p:txBody>
          <a:bodyPr wrap="none" lIns="0" tIns="0" rIns="0" bIns="0">
            <a:spAutoFit/>
          </a:bodyPr>
          <a:lstStyle/>
          <a:p>
            <a:pPr algn="r"/>
            <a:fld id="{889F1E5C-E4B8-512C-94F0-E88E46A52CE2}" type="slidenum">
              <a:rPr lang="en-US" sz="1200" dirty="0">
                <a:solidFill>
                  <a:srgbClr val="555B66"/>
                </a:solidFill>
                <a:latin typeface="Calibri"/>
              </a:rPr>
              <a:t>16</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par>
                                <p:cTn id="11" presetID="10"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500"/>
                                        <p:tgtEl>
                                          <p:spTgt spid="20"/>
                                        </p:tgtEl>
                                      </p:cBhvr>
                                    </p:animEffect>
                                  </p:childTnLst>
                                </p:cTn>
                              </p:par>
                              <p:par>
                                <p:cTn id="14" presetID="10" presetClass="entr" presetSubtype="0" fill="hold"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500"/>
                                        <p:tgtEl>
                                          <p:spTgt spid="2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38"/>
                                        </p:tgtEl>
                                        <p:attrNameLst>
                                          <p:attrName>style.visibility</p:attrName>
                                        </p:attrNameLst>
                                      </p:cBhvr>
                                      <p:to>
                                        <p:strVal val="visible"/>
                                      </p:to>
                                    </p:set>
                                    <p:animEffect transition="in" filter="fade">
                                      <p:cBhvr>
                                        <p:cTn id="21" dur="500"/>
                                        <p:tgtEl>
                                          <p:spTgt spid="138"/>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39"/>
                                        </p:tgtEl>
                                        <p:attrNameLst>
                                          <p:attrName>style.visibility</p:attrName>
                                        </p:attrNameLst>
                                      </p:cBhvr>
                                      <p:to>
                                        <p:strVal val="visible"/>
                                      </p:to>
                                    </p:set>
                                    <p:animEffect transition="in" filter="fade">
                                      <p:cBhvr>
                                        <p:cTn id="26" dur="500"/>
                                        <p:tgtEl>
                                          <p:spTgt spid="13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500"/>
                                        <p:tgtEl>
                                          <p:spTgt spid="28"/>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34"/>
                                        </p:tgtEl>
                                        <p:attrNameLst>
                                          <p:attrName>style.visibility</p:attrName>
                                        </p:attrNameLst>
                                      </p:cBhvr>
                                      <p:to>
                                        <p:strVal val="visible"/>
                                      </p:to>
                                    </p:set>
                                    <p:animEffect transition="in" filter="fade">
                                      <p:cBhvr>
                                        <p:cTn id="36" dur="500"/>
                                        <p:tgtEl>
                                          <p:spTgt spid="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5 · Profit Maximization for Price Searchers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Illustration Based on the Practice Video Example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NV_s10_rId4.png"/>
          <p:cNvPicPr>
            <a:picLocks noChangeAspect="1"/>
          </p:cNvPicPr>
          <p:nvPr/>
        </p:nvPicPr>
        <p:blipFill>
          <a:blip r:embed="rId3"/>
          <a:stretch>
            <a:fillRect/>
          </a:stretch>
        </p:blipFill>
        <p:spPr>
          <a:xfrm>
            <a:off x="9464040" y="1298448"/>
            <a:ext cx="2331720" cy="507225"/>
          </a:xfrm>
          <a:prstGeom prst="rect">
            <a:avLst/>
          </a:prstGeom>
        </p:spPr>
      </p:pic>
      <p:sp>
        <p:nvSpPr>
          <p:cNvPr id="8" name="Rounded Rectangle 7"/>
          <p:cNvSpPr/>
          <p:nvPr/>
        </p:nvSpPr>
        <p:spPr>
          <a:xfrm>
            <a:off x="3108960" y="1325880"/>
            <a:ext cx="5943600" cy="502920"/>
          </a:xfrm>
          <a:prstGeom prst="roundRect">
            <a:avLst>
              <a:gd name="adj" fmla="val 20000"/>
            </a:avLst>
          </a:prstGeom>
          <a:solidFill>
            <a:srgbClr val="FFFFFF"/>
          </a:solidFill>
          <a:ln w="15875">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0">
                <a:solidFill>
                  <a:srgbClr val="0B2B4E"/>
                </a:solidFill>
                <a:latin typeface="Calibri"/>
              </a:rPr>
              <a:t>Case 1: </a:t>
            </a:r>
            <a:r>
              <a:rPr sz="2200" b="1">
                <a:solidFill>
                  <a:srgbClr val="0B2B4E"/>
                </a:solidFill>
                <a:latin typeface="Calibri"/>
              </a:rPr>
              <a:t>Low Fixed Cost</a:t>
            </a:r>
            <a:r>
              <a:rPr sz="2200" b="0">
                <a:solidFill>
                  <a:srgbClr val="0B2B4E"/>
                </a:solidFill>
                <a:latin typeface="Calibri"/>
              </a:rPr>
              <a:t> (Rent $1,000)</a:t>
            </a:r>
          </a:p>
        </p:txBody>
      </p:sp>
      <p:sp>
        <p:nvSpPr>
          <p:cNvPr id="9" name="sdpanelhdr:L1"/>
          <p:cNvSpPr txBox="1"/>
          <p:nvPr/>
        </p:nvSpPr>
        <p:spPr>
          <a:xfrm>
            <a:off x="822960" y="2011680"/>
            <a:ext cx="5120640" cy="329184"/>
          </a:xfrm>
          <a:prstGeom prst="rect">
            <a:avLst/>
          </a:prstGeom>
          <a:noFill/>
        </p:spPr>
        <p:txBody>
          <a:bodyPr wrap="square" lIns="0" tIns="0" rIns="0" bIns="0">
            <a:spAutoFit/>
          </a:bodyPr>
          <a:lstStyle/>
          <a:p>
            <a:pPr algn="ctr"/>
            <a:r>
              <a:rPr sz="1800" b="1" i="1" u="none">
                <a:solidFill>
                  <a:srgbClr val="0B2B4E"/>
                </a:solidFill>
                <a:latin typeface="Calibri"/>
              </a:rPr>
              <a:t>Total revenue and total cost</a:t>
            </a:r>
          </a:p>
        </p:txBody>
      </p:sp>
      <p:cxnSp>
        <p:nvCxnSpPr>
          <p:cNvPr id="10" name="sdaxis:y"/>
          <p:cNvCxnSpPr/>
          <p:nvPr/>
        </p:nvCxnSpPr>
        <p:spPr>
          <a:xfrm flipV="1">
            <a:off x="1325880" y="2670048"/>
            <a:ext cx="0" cy="3090672"/>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11" name="sdaxis:x"/>
          <p:cNvCxnSpPr/>
          <p:nvPr/>
        </p:nvCxnSpPr>
        <p:spPr>
          <a:xfrm>
            <a:off x="1325880" y="5760720"/>
            <a:ext cx="441655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2" name="sdaxistitle:y"/>
          <p:cNvSpPr txBox="1"/>
          <p:nvPr/>
        </p:nvSpPr>
        <p:spPr>
          <a:xfrm>
            <a:off x="1065275" y="2537460"/>
            <a:ext cx="187452" cy="265176"/>
          </a:xfrm>
          <a:prstGeom prst="rect">
            <a:avLst/>
          </a:prstGeom>
          <a:noFill/>
        </p:spPr>
        <p:txBody>
          <a:bodyPr wrap="square" lIns="0" tIns="0" rIns="0" bIns="0">
            <a:spAutoFit/>
          </a:bodyPr>
          <a:lstStyle/>
          <a:p>
            <a:pPr algn="l"/>
            <a:r>
              <a:rPr sz="1800" b="1" i="1" u="none">
                <a:solidFill>
                  <a:srgbClr val="0B2B4E"/>
                </a:solidFill>
                <a:latin typeface="Calibri"/>
              </a:rPr>
              <a:t>$</a:t>
            </a:r>
          </a:p>
        </p:txBody>
      </p:sp>
      <p:sp>
        <p:nvSpPr>
          <p:cNvPr id="13" name="sdaxistitle:x"/>
          <p:cNvSpPr txBox="1"/>
          <p:nvPr/>
        </p:nvSpPr>
        <p:spPr>
          <a:xfrm>
            <a:off x="5629656" y="5806440"/>
            <a:ext cx="225551" cy="265176"/>
          </a:xfrm>
          <a:prstGeom prst="rect">
            <a:avLst/>
          </a:prstGeom>
          <a:noFill/>
        </p:spPr>
        <p:txBody>
          <a:bodyPr wrap="square" lIns="0" tIns="0" rIns="0" bIns="0">
            <a:spAutoFit/>
          </a:bodyPr>
          <a:lstStyle/>
          <a:p>
            <a:pPr algn="l"/>
            <a:r>
              <a:rPr sz="1800" b="1" i="1" u="none">
                <a:solidFill>
                  <a:srgbClr val="0B2B4E"/>
                </a:solidFill>
                <a:latin typeface="Calibri"/>
              </a:rPr>
              <a:t>Q</a:t>
            </a:r>
          </a:p>
        </p:txBody>
      </p:sp>
      <p:sp>
        <p:nvSpPr>
          <p:cNvPr id="14" name="TextBox 13"/>
          <p:cNvSpPr txBox="1"/>
          <p:nvPr/>
        </p:nvSpPr>
        <p:spPr>
          <a:xfrm>
            <a:off x="970026" y="5623560"/>
            <a:ext cx="282702" cy="274320"/>
          </a:xfrm>
          <a:prstGeom prst="rect">
            <a:avLst/>
          </a:prstGeom>
          <a:noFill/>
        </p:spPr>
        <p:txBody>
          <a:bodyPr wrap="square" lIns="0" tIns="0" rIns="0" bIns="0">
            <a:spAutoFit/>
          </a:bodyPr>
          <a:lstStyle/>
          <a:p>
            <a:pPr algn="r"/>
            <a:r>
              <a:rPr sz="1600" b="0" i="1" u="none">
                <a:solidFill>
                  <a:srgbClr val="0B2B4E"/>
                </a:solidFill>
                <a:latin typeface="Calibri"/>
              </a:rPr>
              <a:t>$0</a:t>
            </a:r>
          </a:p>
        </p:txBody>
      </p:sp>
      <p:sp>
        <p:nvSpPr>
          <p:cNvPr id="15" name="TextBox 14"/>
          <p:cNvSpPr txBox="1"/>
          <p:nvPr/>
        </p:nvSpPr>
        <p:spPr>
          <a:xfrm>
            <a:off x="608076" y="5155387"/>
            <a:ext cx="644652" cy="274320"/>
          </a:xfrm>
          <a:prstGeom prst="rect">
            <a:avLst/>
          </a:prstGeom>
          <a:noFill/>
        </p:spPr>
        <p:txBody>
          <a:bodyPr wrap="square" lIns="0" tIns="0" rIns="0" bIns="0">
            <a:spAutoFit/>
          </a:bodyPr>
          <a:lstStyle/>
          <a:p>
            <a:pPr algn="r"/>
            <a:r>
              <a:rPr sz="1600" b="0" i="1" u="none">
                <a:solidFill>
                  <a:srgbClr val="0B2B4E"/>
                </a:solidFill>
                <a:latin typeface="Calibri"/>
              </a:rPr>
              <a:t>$2,000</a:t>
            </a:r>
          </a:p>
        </p:txBody>
      </p:sp>
      <p:sp>
        <p:nvSpPr>
          <p:cNvPr id="16" name="TextBox 15"/>
          <p:cNvSpPr txBox="1"/>
          <p:nvPr/>
        </p:nvSpPr>
        <p:spPr>
          <a:xfrm>
            <a:off x="608076" y="4687214"/>
            <a:ext cx="644652" cy="274320"/>
          </a:xfrm>
          <a:prstGeom prst="rect">
            <a:avLst/>
          </a:prstGeom>
          <a:noFill/>
        </p:spPr>
        <p:txBody>
          <a:bodyPr wrap="square" lIns="0" tIns="0" rIns="0" bIns="0">
            <a:spAutoFit/>
          </a:bodyPr>
          <a:lstStyle/>
          <a:p>
            <a:pPr algn="r"/>
            <a:r>
              <a:rPr sz="1600" b="0" i="1" u="none">
                <a:solidFill>
                  <a:srgbClr val="0B2B4E"/>
                </a:solidFill>
                <a:latin typeface="Calibri"/>
              </a:rPr>
              <a:t>$4,000</a:t>
            </a:r>
          </a:p>
        </p:txBody>
      </p:sp>
      <p:sp>
        <p:nvSpPr>
          <p:cNvPr id="17" name="TextBox 16"/>
          <p:cNvSpPr txBox="1"/>
          <p:nvPr/>
        </p:nvSpPr>
        <p:spPr>
          <a:xfrm>
            <a:off x="608076" y="4219041"/>
            <a:ext cx="644652" cy="274320"/>
          </a:xfrm>
          <a:prstGeom prst="rect">
            <a:avLst/>
          </a:prstGeom>
          <a:noFill/>
        </p:spPr>
        <p:txBody>
          <a:bodyPr wrap="square" lIns="0" tIns="0" rIns="0" bIns="0">
            <a:spAutoFit/>
          </a:bodyPr>
          <a:lstStyle/>
          <a:p>
            <a:pPr algn="r"/>
            <a:r>
              <a:rPr sz="1600" b="0" i="1" u="none">
                <a:solidFill>
                  <a:srgbClr val="0B2B4E"/>
                </a:solidFill>
                <a:latin typeface="Calibri"/>
              </a:rPr>
              <a:t>$6,000</a:t>
            </a:r>
          </a:p>
        </p:txBody>
      </p:sp>
      <p:sp>
        <p:nvSpPr>
          <p:cNvPr id="18" name="TextBox 17"/>
          <p:cNvSpPr txBox="1"/>
          <p:nvPr/>
        </p:nvSpPr>
        <p:spPr>
          <a:xfrm>
            <a:off x="608076" y="3750868"/>
            <a:ext cx="644652" cy="274320"/>
          </a:xfrm>
          <a:prstGeom prst="rect">
            <a:avLst/>
          </a:prstGeom>
          <a:noFill/>
        </p:spPr>
        <p:txBody>
          <a:bodyPr wrap="square" lIns="0" tIns="0" rIns="0" bIns="0">
            <a:spAutoFit/>
          </a:bodyPr>
          <a:lstStyle/>
          <a:p>
            <a:pPr algn="r"/>
            <a:r>
              <a:rPr sz="1600" b="0" i="1" u="none">
                <a:solidFill>
                  <a:srgbClr val="0B2B4E"/>
                </a:solidFill>
                <a:latin typeface="Calibri"/>
              </a:rPr>
              <a:t>$8,000</a:t>
            </a:r>
          </a:p>
        </p:txBody>
      </p:sp>
      <p:sp>
        <p:nvSpPr>
          <p:cNvPr id="19" name="TextBox 18"/>
          <p:cNvSpPr txBox="1"/>
          <p:nvPr/>
        </p:nvSpPr>
        <p:spPr>
          <a:xfrm>
            <a:off x="503301" y="3282696"/>
            <a:ext cx="749427" cy="274320"/>
          </a:xfrm>
          <a:prstGeom prst="rect">
            <a:avLst/>
          </a:prstGeom>
          <a:noFill/>
        </p:spPr>
        <p:txBody>
          <a:bodyPr wrap="square" lIns="0" tIns="0" rIns="0" bIns="0">
            <a:spAutoFit/>
          </a:bodyPr>
          <a:lstStyle/>
          <a:p>
            <a:pPr algn="r"/>
            <a:r>
              <a:rPr sz="1600" b="0" i="1" u="none">
                <a:solidFill>
                  <a:srgbClr val="0B2B4E"/>
                </a:solidFill>
                <a:latin typeface="Calibri"/>
              </a:rPr>
              <a:t>$10,000</a:t>
            </a:r>
          </a:p>
        </p:txBody>
      </p:sp>
      <p:sp>
        <p:nvSpPr>
          <p:cNvPr id="20" name="TextBox 19"/>
          <p:cNvSpPr txBox="1"/>
          <p:nvPr/>
        </p:nvSpPr>
        <p:spPr>
          <a:xfrm>
            <a:off x="503301" y="2814523"/>
            <a:ext cx="749427" cy="274320"/>
          </a:xfrm>
          <a:prstGeom prst="rect">
            <a:avLst/>
          </a:prstGeom>
          <a:noFill/>
        </p:spPr>
        <p:txBody>
          <a:bodyPr wrap="square" lIns="0" tIns="0" rIns="0" bIns="0">
            <a:spAutoFit/>
          </a:bodyPr>
          <a:lstStyle/>
          <a:p>
            <a:pPr algn="r"/>
            <a:r>
              <a:rPr sz="1600" b="0" i="1" u="none">
                <a:solidFill>
                  <a:srgbClr val="0B2B4E"/>
                </a:solidFill>
                <a:latin typeface="Calibri"/>
              </a:rPr>
              <a:t>$12,000</a:t>
            </a:r>
          </a:p>
        </p:txBody>
      </p:sp>
      <p:sp>
        <p:nvSpPr>
          <p:cNvPr id="21" name="TextBox 20"/>
          <p:cNvSpPr txBox="1"/>
          <p:nvPr/>
        </p:nvSpPr>
        <p:spPr>
          <a:xfrm>
            <a:off x="1236917" y="5815583"/>
            <a:ext cx="177927" cy="274320"/>
          </a:xfrm>
          <a:prstGeom prst="rect">
            <a:avLst/>
          </a:prstGeom>
          <a:noFill/>
        </p:spPr>
        <p:txBody>
          <a:bodyPr wrap="square" lIns="0" tIns="0" rIns="0" bIns="0">
            <a:spAutoFit/>
          </a:bodyPr>
          <a:lstStyle/>
          <a:p>
            <a:pPr algn="ctr"/>
            <a:r>
              <a:rPr sz="1600" b="0" i="1" u="none">
                <a:solidFill>
                  <a:srgbClr val="0B2B4E"/>
                </a:solidFill>
                <a:latin typeface="Calibri"/>
              </a:rPr>
              <a:t>0</a:t>
            </a:r>
          </a:p>
        </p:txBody>
      </p:sp>
      <p:sp>
        <p:nvSpPr>
          <p:cNvPr id="22" name="TextBox 21"/>
          <p:cNvSpPr txBox="1"/>
          <p:nvPr/>
        </p:nvSpPr>
        <p:spPr>
          <a:xfrm>
            <a:off x="2150883" y="5815583"/>
            <a:ext cx="282702" cy="274320"/>
          </a:xfrm>
          <a:prstGeom prst="rect">
            <a:avLst/>
          </a:prstGeom>
          <a:noFill/>
        </p:spPr>
        <p:txBody>
          <a:bodyPr wrap="square" lIns="0" tIns="0" rIns="0" bIns="0">
            <a:spAutoFit/>
          </a:bodyPr>
          <a:lstStyle/>
          <a:p>
            <a:pPr algn="ctr"/>
            <a:r>
              <a:rPr sz="1600" b="0" i="1" u="none">
                <a:solidFill>
                  <a:srgbClr val="0B2B4E"/>
                </a:solidFill>
                <a:latin typeface="Calibri"/>
              </a:rPr>
              <a:t>50</a:t>
            </a:r>
          </a:p>
        </p:txBody>
      </p:sp>
      <p:sp>
        <p:nvSpPr>
          <p:cNvPr id="23" name="TextBox 22"/>
          <p:cNvSpPr txBox="1"/>
          <p:nvPr/>
        </p:nvSpPr>
        <p:spPr>
          <a:xfrm>
            <a:off x="3064851" y="5815583"/>
            <a:ext cx="387477" cy="274320"/>
          </a:xfrm>
          <a:prstGeom prst="rect">
            <a:avLst/>
          </a:prstGeom>
          <a:noFill/>
        </p:spPr>
        <p:txBody>
          <a:bodyPr wrap="square" lIns="0" tIns="0" rIns="0" bIns="0">
            <a:spAutoFit/>
          </a:bodyPr>
          <a:lstStyle/>
          <a:p>
            <a:pPr algn="ctr"/>
            <a:r>
              <a:rPr sz="1600" b="1" i="1" u="none">
                <a:solidFill>
                  <a:srgbClr val="0B2B4E"/>
                </a:solidFill>
                <a:latin typeface="Calibri"/>
              </a:rPr>
              <a:t>100</a:t>
            </a:r>
          </a:p>
        </p:txBody>
      </p:sp>
      <p:sp>
        <p:nvSpPr>
          <p:cNvPr id="24" name="TextBox 23"/>
          <p:cNvSpPr txBox="1"/>
          <p:nvPr/>
        </p:nvSpPr>
        <p:spPr>
          <a:xfrm>
            <a:off x="4031205" y="5815583"/>
            <a:ext cx="387477" cy="274320"/>
          </a:xfrm>
          <a:prstGeom prst="rect">
            <a:avLst/>
          </a:prstGeom>
          <a:noFill/>
        </p:spPr>
        <p:txBody>
          <a:bodyPr wrap="square" lIns="0" tIns="0" rIns="0" bIns="0">
            <a:spAutoFit/>
          </a:bodyPr>
          <a:lstStyle/>
          <a:p>
            <a:pPr algn="ctr"/>
            <a:r>
              <a:rPr sz="1600" b="0" i="1" u="none">
                <a:solidFill>
                  <a:srgbClr val="0B2B4E"/>
                </a:solidFill>
                <a:latin typeface="Calibri"/>
              </a:rPr>
              <a:t>150</a:t>
            </a:r>
          </a:p>
        </p:txBody>
      </p:sp>
      <p:sp>
        <p:nvSpPr>
          <p:cNvPr id="25" name="TextBox 24"/>
          <p:cNvSpPr txBox="1"/>
          <p:nvPr/>
        </p:nvSpPr>
        <p:spPr>
          <a:xfrm>
            <a:off x="4997560" y="5815583"/>
            <a:ext cx="387477" cy="274320"/>
          </a:xfrm>
          <a:prstGeom prst="rect">
            <a:avLst/>
          </a:prstGeom>
          <a:noFill/>
        </p:spPr>
        <p:txBody>
          <a:bodyPr wrap="square" lIns="0" tIns="0" rIns="0" bIns="0">
            <a:spAutoFit/>
          </a:bodyPr>
          <a:lstStyle/>
          <a:p>
            <a:pPr algn="ctr"/>
            <a:r>
              <a:rPr sz="1600" b="0" i="1" u="none">
                <a:solidFill>
                  <a:srgbClr val="0B2B4E"/>
                </a:solidFill>
                <a:latin typeface="Calibri"/>
              </a:rPr>
              <a:t>200</a:t>
            </a:r>
          </a:p>
        </p:txBody>
      </p:sp>
      <p:grpSp>
        <p:nvGrpSpPr>
          <p:cNvPr id="32" name="sdpair:pnlL1"/>
          <p:cNvGrpSpPr/>
          <p:nvPr/>
        </p:nvGrpSpPr>
        <p:grpSpPr>
          <a:xfrm>
            <a:off x="1325880" y="2677363"/>
            <a:ext cx="4244201" cy="3083357"/>
            <a:chOff x="1325880" y="2677363"/>
            <a:chExt cx="4244201" cy="3083357"/>
          </a:xfrm>
        </p:grpSpPr>
        <p:sp>
          <p:nvSpPr>
            <p:cNvPr id="26" name="sdcurve:TR"/>
            <p:cNvSpPr/>
            <p:nvPr/>
          </p:nvSpPr>
          <p:spPr>
            <a:xfrm>
              <a:off x="1325880" y="3888028"/>
              <a:ext cx="3865418" cy="1872692"/>
            </a:xfrm>
            <a:custGeom>
              <a:avLst/>
              <a:gdLst/>
              <a:ahLst/>
              <a:cxnLst/>
              <a:rect l="0" t="0" r="r" b="b"/>
              <a:pathLst>
                <a:path w="3865418" h="1872692" fill="none">
                  <a:moveTo>
                    <a:pt x="0" y="1872692"/>
                  </a:moveTo>
                  <a:cubicBezTo>
                    <a:pt x="107372" y="1798998"/>
                    <a:pt x="429490" y="1569246"/>
                    <a:pt x="644236" y="1430528"/>
                  </a:cubicBezTo>
                  <a:cubicBezTo>
                    <a:pt x="858981" y="1291810"/>
                    <a:pt x="1073726" y="1161762"/>
                    <a:pt x="1288472" y="1040384"/>
                  </a:cubicBezTo>
                  <a:cubicBezTo>
                    <a:pt x="1503217" y="919006"/>
                    <a:pt x="1717963" y="806298"/>
                    <a:pt x="1932709" y="702260"/>
                  </a:cubicBezTo>
                  <a:cubicBezTo>
                    <a:pt x="2147454" y="598221"/>
                    <a:pt x="2362199" y="502852"/>
                    <a:pt x="2576945" y="416154"/>
                  </a:cubicBezTo>
                  <a:cubicBezTo>
                    <a:pt x="2791690" y="329455"/>
                    <a:pt x="3006435" y="251427"/>
                    <a:pt x="3221181" y="182068"/>
                  </a:cubicBezTo>
                  <a:cubicBezTo>
                    <a:pt x="3435926" y="112709"/>
                    <a:pt x="3758045" y="30344"/>
                    <a:pt x="3865418" y="0"/>
                  </a:cubicBezTo>
                </a:path>
              </a:pathLst>
            </a:custGeom>
            <a:noFill/>
            <a:ln w="34925">
              <a:solidFill>
                <a:srgbClr val="C00000"/>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sdcurve:TC"/>
            <p:cNvSpPr/>
            <p:nvPr/>
          </p:nvSpPr>
          <p:spPr>
            <a:xfrm>
              <a:off x="1325880" y="3653942"/>
              <a:ext cx="3865418" cy="1872691"/>
            </a:xfrm>
            <a:custGeom>
              <a:avLst/>
              <a:gdLst/>
              <a:ahLst/>
              <a:cxnLst/>
              <a:rect l="0" t="0" r="r" b="b"/>
              <a:pathLst>
                <a:path w="3865418" h="1872691" fill="none">
                  <a:moveTo>
                    <a:pt x="0" y="1872691"/>
                  </a:moveTo>
                  <a:cubicBezTo>
                    <a:pt x="107372" y="1853183"/>
                    <a:pt x="429490" y="1807667"/>
                    <a:pt x="644236" y="1755648"/>
                  </a:cubicBezTo>
                  <a:cubicBezTo>
                    <a:pt x="858981" y="1703628"/>
                    <a:pt x="1073726" y="1638604"/>
                    <a:pt x="1288472" y="1560576"/>
                  </a:cubicBezTo>
                  <a:cubicBezTo>
                    <a:pt x="1503217" y="1482547"/>
                    <a:pt x="1717963" y="1391513"/>
                    <a:pt x="1932709" y="1287475"/>
                  </a:cubicBezTo>
                  <a:cubicBezTo>
                    <a:pt x="2147454" y="1183436"/>
                    <a:pt x="2362199" y="1066394"/>
                    <a:pt x="2576945" y="936346"/>
                  </a:cubicBezTo>
                  <a:cubicBezTo>
                    <a:pt x="2791690" y="806298"/>
                    <a:pt x="3006435" y="663244"/>
                    <a:pt x="3221181" y="507187"/>
                  </a:cubicBezTo>
                  <a:cubicBezTo>
                    <a:pt x="3435926" y="351129"/>
                    <a:pt x="3758045" y="84531"/>
                    <a:pt x="3865418" y="0"/>
                  </a:cubicBezTo>
                </a:path>
              </a:pathLst>
            </a:custGeom>
            <a:noFill/>
            <a:ln w="34925">
              <a:solidFill>
                <a:srgbClr val="0B2B4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sdcurvelab:TR"/>
            <p:cNvSpPr txBox="1"/>
            <p:nvPr/>
          </p:nvSpPr>
          <p:spPr>
            <a:xfrm>
              <a:off x="5249279" y="3800246"/>
              <a:ext cx="320802" cy="292608"/>
            </a:xfrm>
            <a:prstGeom prst="rect">
              <a:avLst/>
            </a:prstGeom>
            <a:noFill/>
          </p:spPr>
          <p:txBody>
            <a:bodyPr wrap="square" lIns="0" tIns="0" rIns="0" bIns="0">
              <a:spAutoFit/>
            </a:bodyPr>
            <a:lstStyle/>
            <a:p>
              <a:pPr algn="l"/>
              <a:r>
                <a:rPr sz="1800" b="1" i="1" u="none">
                  <a:solidFill>
                    <a:srgbClr val="C00000"/>
                  </a:solidFill>
                  <a:latin typeface="Calibri"/>
                </a:rPr>
                <a:t>TR</a:t>
              </a:r>
            </a:p>
          </p:txBody>
        </p:sp>
        <p:sp>
          <p:nvSpPr>
            <p:cNvPr id="29" name="sdcurvelab:TC"/>
            <p:cNvSpPr txBox="1"/>
            <p:nvPr/>
          </p:nvSpPr>
          <p:spPr>
            <a:xfrm>
              <a:off x="5249279" y="3355482"/>
              <a:ext cx="320802" cy="292608"/>
            </a:xfrm>
            <a:prstGeom prst="rect">
              <a:avLst/>
            </a:prstGeom>
            <a:noFill/>
          </p:spPr>
          <p:txBody>
            <a:bodyPr wrap="square" lIns="0" tIns="0" rIns="0" bIns="0">
              <a:spAutoFit/>
            </a:bodyPr>
            <a:lstStyle/>
            <a:p>
              <a:pPr algn="l"/>
              <a:r>
                <a:rPr sz="1800" b="1" i="1" u="none">
                  <a:solidFill>
                    <a:srgbClr val="0B2B4E"/>
                  </a:solidFill>
                  <a:latin typeface="Calibri"/>
                </a:rPr>
                <a:t>TC</a:t>
              </a:r>
            </a:p>
          </p:txBody>
        </p:sp>
        <p:cxnSp>
          <p:nvCxnSpPr>
            <p:cNvPr id="30" name="Connector 29"/>
            <p:cNvCxnSpPr/>
            <p:nvPr/>
          </p:nvCxnSpPr>
          <p:spPr>
            <a:xfrm flipV="1">
              <a:off x="3258589" y="2951683"/>
              <a:ext cx="0" cy="2809037"/>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3102951" y="2677363"/>
              <a:ext cx="311277" cy="256032"/>
            </a:xfrm>
            <a:prstGeom prst="rect">
              <a:avLst/>
            </a:prstGeom>
            <a:noFill/>
          </p:spPr>
          <p:txBody>
            <a:bodyPr wrap="square" lIns="0" tIns="0" rIns="0" bIns="0">
              <a:spAutoFit/>
            </a:bodyPr>
            <a:lstStyle/>
            <a:p>
              <a:pPr algn="ctr"/>
              <a:r>
                <a:rPr sz="1600" b="1" i="1" u="none">
                  <a:solidFill>
                    <a:srgbClr val="0B2B4E"/>
                  </a:solidFill>
                  <a:latin typeface="Calibri"/>
                </a:rPr>
                <a:t>Q*</a:t>
              </a:r>
            </a:p>
          </p:txBody>
        </p:sp>
      </p:grpSp>
      <p:sp>
        <p:nvSpPr>
          <p:cNvPr id="33" name="sdpanelhdr:R1"/>
          <p:cNvSpPr txBox="1"/>
          <p:nvPr/>
        </p:nvSpPr>
        <p:spPr>
          <a:xfrm>
            <a:off x="6949440" y="2011680"/>
            <a:ext cx="5029200" cy="329184"/>
          </a:xfrm>
          <a:prstGeom prst="rect">
            <a:avLst/>
          </a:prstGeom>
          <a:noFill/>
        </p:spPr>
        <p:txBody>
          <a:bodyPr wrap="square" lIns="0" tIns="0" rIns="0" bIns="0">
            <a:spAutoFit/>
          </a:bodyPr>
          <a:lstStyle/>
          <a:p>
            <a:pPr algn="ctr"/>
            <a:r>
              <a:rPr sz="1800" b="1" i="1" u="none">
                <a:solidFill>
                  <a:srgbClr val="0B2B4E"/>
                </a:solidFill>
                <a:latin typeface="Calibri"/>
              </a:rPr>
              <a:t>Profit</a:t>
            </a:r>
          </a:p>
        </p:txBody>
      </p:sp>
      <p:cxnSp>
        <p:nvCxnSpPr>
          <p:cNvPr id="34" name="sdaxis:y"/>
          <p:cNvCxnSpPr/>
          <p:nvPr/>
        </p:nvCxnSpPr>
        <p:spPr>
          <a:xfrm flipV="1">
            <a:off x="7543800" y="2670048"/>
            <a:ext cx="0" cy="3090672"/>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35" name="sdaxis:x"/>
          <p:cNvCxnSpPr/>
          <p:nvPr/>
        </p:nvCxnSpPr>
        <p:spPr>
          <a:xfrm>
            <a:off x="7543800" y="4541520"/>
            <a:ext cx="414223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36" name="sdaxistitle:x"/>
          <p:cNvSpPr txBox="1"/>
          <p:nvPr/>
        </p:nvSpPr>
        <p:spPr>
          <a:xfrm>
            <a:off x="11573256" y="4587240"/>
            <a:ext cx="225551" cy="265176"/>
          </a:xfrm>
          <a:prstGeom prst="rect">
            <a:avLst/>
          </a:prstGeom>
          <a:noFill/>
        </p:spPr>
        <p:txBody>
          <a:bodyPr wrap="square" lIns="0" tIns="0" rIns="0" bIns="0">
            <a:spAutoFit/>
          </a:bodyPr>
          <a:lstStyle/>
          <a:p>
            <a:pPr algn="l"/>
            <a:r>
              <a:rPr sz="1800" b="1" i="1" u="none">
                <a:solidFill>
                  <a:srgbClr val="0B2B4E"/>
                </a:solidFill>
                <a:latin typeface="Calibri"/>
              </a:rPr>
              <a:t>Q</a:t>
            </a:r>
          </a:p>
        </p:txBody>
      </p:sp>
      <p:sp>
        <p:nvSpPr>
          <p:cNvPr id="37" name="sdaxistitle:y"/>
          <p:cNvSpPr txBox="1"/>
          <p:nvPr/>
        </p:nvSpPr>
        <p:spPr>
          <a:xfrm>
            <a:off x="7254621" y="2537460"/>
            <a:ext cx="216027" cy="265176"/>
          </a:xfrm>
          <a:prstGeom prst="rect">
            <a:avLst/>
          </a:prstGeom>
          <a:noFill/>
        </p:spPr>
        <p:txBody>
          <a:bodyPr wrap="square" lIns="0" tIns="0" rIns="0" bIns="0">
            <a:spAutoFit/>
          </a:bodyPr>
          <a:lstStyle/>
          <a:p>
            <a:pPr algn="l"/>
            <a:r>
              <a:rPr sz="1800" b="1" i="1" u="none">
                <a:solidFill>
                  <a:srgbClr val="0B2B4E"/>
                </a:solidFill>
                <a:latin typeface="Calibri"/>
              </a:rPr>
              <a:t>π</a:t>
            </a:r>
          </a:p>
        </p:txBody>
      </p:sp>
      <p:sp>
        <p:nvSpPr>
          <p:cNvPr id="38" name="TextBox 37"/>
          <p:cNvSpPr txBox="1"/>
          <p:nvPr/>
        </p:nvSpPr>
        <p:spPr>
          <a:xfrm>
            <a:off x="6730746" y="5379720"/>
            <a:ext cx="739901" cy="274320"/>
          </a:xfrm>
          <a:prstGeom prst="rect">
            <a:avLst/>
          </a:prstGeom>
          <a:noFill/>
        </p:spPr>
        <p:txBody>
          <a:bodyPr wrap="square" lIns="0" tIns="0" rIns="0" bIns="0">
            <a:spAutoFit/>
          </a:bodyPr>
          <a:lstStyle/>
          <a:p>
            <a:pPr algn="r"/>
            <a:r>
              <a:rPr sz="1600" b="0" i="1" u="none">
                <a:solidFill>
                  <a:srgbClr val="0B2B4E"/>
                </a:solidFill>
                <a:latin typeface="Calibri"/>
              </a:rPr>
              <a:t>−$1,000</a:t>
            </a:r>
          </a:p>
        </p:txBody>
      </p:sp>
      <p:sp>
        <p:nvSpPr>
          <p:cNvPr id="39" name="TextBox 38"/>
          <p:cNvSpPr txBox="1"/>
          <p:nvPr/>
        </p:nvSpPr>
        <p:spPr>
          <a:xfrm>
            <a:off x="6883146" y="4892040"/>
            <a:ext cx="587502" cy="274320"/>
          </a:xfrm>
          <a:prstGeom prst="rect">
            <a:avLst/>
          </a:prstGeom>
          <a:noFill/>
        </p:spPr>
        <p:txBody>
          <a:bodyPr wrap="square" lIns="0" tIns="0" rIns="0" bIns="0">
            <a:spAutoFit/>
          </a:bodyPr>
          <a:lstStyle/>
          <a:p>
            <a:pPr algn="r"/>
            <a:r>
              <a:rPr sz="1600" b="0" i="1" u="none">
                <a:solidFill>
                  <a:srgbClr val="0B2B4E"/>
                </a:solidFill>
                <a:latin typeface="Calibri"/>
              </a:rPr>
              <a:t>−$500</a:t>
            </a:r>
          </a:p>
        </p:txBody>
      </p:sp>
      <p:sp>
        <p:nvSpPr>
          <p:cNvPr id="40" name="TextBox 39"/>
          <p:cNvSpPr txBox="1"/>
          <p:nvPr/>
        </p:nvSpPr>
        <p:spPr>
          <a:xfrm>
            <a:off x="7187946" y="4404360"/>
            <a:ext cx="282702" cy="274320"/>
          </a:xfrm>
          <a:prstGeom prst="rect">
            <a:avLst/>
          </a:prstGeom>
          <a:noFill/>
        </p:spPr>
        <p:txBody>
          <a:bodyPr wrap="square" lIns="0" tIns="0" rIns="0" bIns="0">
            <a:spAutoFit/>
          </a:bodyPr>
          <a:lstStyle/>
          <a:p>
            <a:pPr algn="r"/>
            <a:r>
              <a:rPr sz="1600" b="0" i="1" u="none">
                <a:solidFill>
                  <a:srgbClr val="0B2B4E"/>
                </a:solidFill>
                <a:latin typeface="Calibri"/>
              </a:rPr>
              <a:t>$0</a:t>
            </a:r>
          </a:p>
        </p:txBody>
      </p:sp>
      <p:sp>
        <p:nvSpPr>
          <p:cNvPr id="41" name="TextBox 40"/>
          <p:cNvSpPr txBox="1"/>
          <p:nvPr/>
        </p:nvSpPr>
        <p:spPr>
          <a:xfrm>
            <a:off x="6978396" y="3916680"/>
            <a:ext cx="492252" cy="274320"/>
          </a:xfrm>
          <a:prstGeom prst="rect">
            <a:avLst/>
          </a:prstGeom>
          <a:noFill/>
        </p:spPr>
        <p:txBody>
          <a:bodyPr wrap="square" lIns="0" tIns="0" rIns="0" bIns="0">
            <a:spAutoFit/>
          </a:bodyPr>
          <a:lstStyle/>
          <a:p>
            <a:pPr algn="r"/>
            <a:r>
              <a:rPr sz="1600" b="0" i="1" u="none">
                <a:solidFill>
                  <a:srgbClr val="0B2B4E"/>
                </a:solidFill>
                <a:latin typeface="Calibri"/>
              </a:rPr>
              <a:t>$500</a:t>
            </a:r>
          </a:p>
        </p:txBody>
      </p:sp>
      <p:sp>
        <p:nvSpPr>
          <p:cNvPr id="42" name="TextBox 41"/>
          <p:cNvSpPr txBox="1"/>
          <p:nvPr/>
        </p:nvSpPr>
        <p:spPr>
          <a:xfrm>
            <a:off x="6825996" y="3429000"/>
            <a:ext cx="644652" cy="274320"/>
          </a:xfrm>
          <a:prstGeom prst="rect">
            <a:avLst/>
          </a:prstGeom>
          <a:noFill/>
        </p:spPr>
        <p:txBody>
          <a:bodyPr wrap="square" lIns="0" tIns="0" rIns="0" bIns="0">
            <a:spAutoFit/>
          </a:bodyPr>
          <a:lstStyle/>
          <a:p>
            <a:pPr algn="r"/>
            <a:r>
              <a:rPr sz="1600" b="0" i="1" u="none">
                <a:solidFill>
                  <a:srgbClr val="0B2B4E"/>
                </a:solidFill>
                <a:latin typeface="Calibri"/>
              </a:rPr>
              <a:t>$1,000</a:t>
            </a:r>
          </a:p>
        </p:txBody>
      </p:sp>
      <p:sp>
        <p:nvSpPr>
          <p:cNvPr id="43" name="TextBox 42"/>
          <p:cNvSpPr txBox="1"/>
          <p:nvPr/>
        </p:nvSpPr>
        <p:spPr>
          <a:xfrm>
            <a:off x="6825996" y="2941320"/>
            <a:ext cx="644652" cy="274320"/>
          </a:xfrm>
          <a:prstGeom prst="rect">
            <a:avLst/>
          </a:prstGeom>
          <a:noFill/>
        </p:spPr>
        <p:txBody>
          <a:bodyPr wrap="square" lIns="0" tIns="0" rIns="0" bIns="0">
            <a:spAutoFit/>
          </a:bodyPr>
          <a:lstStyle/>
          <a:p>
            <a:pPr algn="r"/>
            <a:r>
              <a:rPr sz="1600" b="1" i="1" u="none">
                <a:solidFill>
                  <a:srgbClr val="0B2B4E"/>
                </a:solidFill>
                <a:latin typeface="Calibri"/>
              </a:rPr>
              <a:t>$1,500</a:t>
            </a:r>
          </a:p>
        </p:txBody>
      </p:sp>
      <p:sp>
        <p:nvSpPr>
          <p:cNvPr id="44" name="TextBox 43"/>
          <p:cNvSpPr txBox="1"/>
          <p:nvPr/>
        </p:nvSpPr>
        <p:spPr>
          <a:xfrm>
            <a:off x="7454837" y="5815583"/>
            <a:ext cx="177927" cy="274320"/>
          </a:xfrm>
          <a:prstGeom prst="rect">
            <a:avLst/>
          </a:prstGeom>
          <a:noFill/>
        </p:spPr>
        <p:txBody>
          <a:bodyPr wrap="square" lIns="0" tIns="0" rIns="0" bIns="0">
            <a:spAutoFit/>
          </a:bodyPr>
          <a:lstStyle/>
          <a:p>
            <a:pPr algn="ctr"/>
            <a:r>
              <a:rPr sz="1600" b="0" i="1" u="none">
                <a:solidFill>
                  <a:srgbClr val="0B2B4E"/>
                </a:solidFill>
                <a:latin typeface="Calibri"/>
              </a:rPr>
              <a:t>0</a:t>
            </a:r>
          </a:p>
        </p:txBody>
      </p:sp>
      <p:sp>
        <p:nvSpPr>
          <p:cNvPr id="45" name="TextBox 44"/>
          <p:cNvSpPr txBox="1"/>
          <p:nvPr/>
        </p:nvSpPr>
        <p:spPr>
          <a:xfrm>
            <a:off x="8306458" y="5815583"/>
            <a:ext cx="282702" cy="274320"/>
          </a:xfrm>
          <a:prstGeom prst="rect">
            <a:avLst/>
          </a:prstGeom>
          <a:noFill/>
        </p:spPr>
        <p:txBody>
          <a:bodyPr wrap="square" lIns="0" tIns="0" rIns="0" bIns="0">
            <a:spAutoFit/>
          </a:bodyPr>
          <a:lstStyle/>
          <a:p>
            <a:pPr algn="ctr"/>
            <a:r>
              <a:rPr sz="1600" b="0" i="1" u="none">
                <a:solidFill>
                  <a:srgbClr val="0B2B4E"/>
                </a:solidFill>
                <a:latin typeface="Calibri"/>
              </a:rPr>
              <a:t>50</a:t>
            </a:r>
          </a:p>
        </p:txBody>
      </p:sp>
      <p:sp>
        <p:nvSpPr>
          <p:cNvPr id="46" name="TextBox 45"/>
          <p:cNvSpPr txBox="1"/>
          <p:nvPr/>
        </p:nvSpPr>
        <p:spPr>
          <a:xfrm>
            <a:off x="9158080" y="5815583"/>
            <a:ext cx="387477" cy="274320"/>
          </a:xfrm>
          <a:prstGeom prst="rect">
            <a:avLst/>
          </a:prstGeom>
          <a:noFill/>
        </p:spPr>
        <p:txBody>
          <a:bodyPr wrap="square" lIns="0" tIns="0" rIns="0" bIns="0">
            <a:spAutoFit/>
          </a:bodyPr>
          <a:lstStyle/>
          <a:p>
            <a:pPr algn="ctr"/>
            <a:r>
              <a:rPr sz="1600" b="1" i="1" u="none">
                <a:solidFill>
                  <a:srgbClr val="0B2B4E"/>
                </a:solidFill>
                <a:latin typeface="Calibri"/>
              </a:rPr>
              <a:t>100</a:t>
            </a:r>
          </a:p>
        </p:txBody>
      </p:sp>
      <p:sp>
        <p:nvSpPr>
          <p:cNvPr id="47" name="TextBox 46"/>
          <p:cNvSpPr txBox="1"/>
          <p:nvPr/>
        </p:nvSpPr>
        <p:spPr>
          <a:xfrm>
            <a:off x="10062089" y="5815583"/>
            <a:ext cx="387477" cy="274320"/>
          </a:xfrm>
          <a:prstGeom prst="rect">
            <a:avLst/>
          </a:prstGeom>
          <a:noFill/>
        </p:spPr>
        <p:txBody>
          <a:bodyPr wrap="square" lIns="0" tIns="0" rIns="0" bIns="0">
            <a:spAutoFit/>
          </a:bodyPr>
          <a:lstStyle/>
          <a:p>
            <a:pPr algn="ctr"/>
            <a:r>
              <a:rPr sz="1600" b="0" i="1" u="none">
                <a:solidFill>
                  <a:srgbClr val="0B2B4E"/>
                </a:solidFill>
                <a:latin typeface="Calibri"/>
              </a:rPr>
              <a:t>150</a:t>
            </a:r>
          </a:p>
        </p:txBody>
      </p:sp>
      <p:sp>
        <p:nvSpPr>
          <p:cNvPr id="48" name="TextBox 47"/>
          <p:cNvSpPr txBox="1"/>
          <p:nvPr/>
        </p:nvSpPr>
        <p:spPr>
          <a:xfrm>
            <a:off x="10966098" y="5815583"/>
            <a:ext cx="387477" cy="274320"/>
          </a:xfrm>
          <a:prstGeom prst="rect">
            <a:avLst/>
          </a:prstGeom>
          <a:noFill/>
        </p:spPr>
        <p:txBody>
          <a:bodyPr wrap="square" lIns="0" tIns="0" rIns="0" bIns="0">
            <a:spAutoFit/>
          </a:bodyPr>
          <a:lstStyle/>
          <a:p>
            <a:pPr algn="ctr"/>
            <a:r>
              <a:rPr sz="1600" b="0" i="1" u="none">
                <a:solidFill>
                  <a:srgbClr val="0B2B4E"/>
                </a:solidFill>
                <a:latin typeface="Calibri"/>
              </a:rPr>
              <a:t>200</a:t>
            </a:r>
          </a:p>
        </p:txBody>
      </p:sp>
      <p:grpSp>
        <p:nvGrpSpPr>
          <p:cNvPr id="54" name="sdpair:pnlR1"/>
          <p:cNvGrpSpPr/>
          <p:nvPr/>
        </p:nvGrpSpPr>
        <p:grpSpPr>
          <a:xfrm>
            <a:off x="7543800" y="2560319"/>
            <a:ext cx="3616036" cy="3200401"/>
            <a:chOff x="7543800" y="2560319"/>
            <a:chExt cx="3616036" cy="3200401"/>
          </a:xfrm>
        </p:grpSpPr>
        <p:sp>
          <p:nvSpPr>
            <p:cNvPr id="49" name="sdcurve:pi"/>
            <p:cNvSpPr/>
            <p:nvPr/>
          </p:nvSpPr>
          <p:spPr>
            <a:xfrm>
              <a:off x="7543800" y="3078480"/>
              <a:ext cx="3616036" cy="2438400"/>
            </a:xfrm>
            <a:custGeom>
              <a:avLst/>
              <a:gdLst/>
              <a:ahLst/>
              <a:cxnLst/>
              <a:rect l="0" t="0" r="r" b="b"/>
              <a:pathLst>
                <a:path w="3616036" h="2438400" fill="none">
                  <a:moveTo>
                    <a:pt x="0" y="2438400"/>
                  </a:moveTo>
                  <a:cubicBezTo>
                    <a:pt x="100445" y="2212622"/>
                    <a:pt x="401781" y="1444977"/>
                    <a:pt x="602672" y="1083733"/>
                  </a:cubicBezTo>
                  <a:cubicBezTo>
                    <a:pt x="803562" y="722488"/>
                    <a:pt x="1004454" y="451555"/>
                    <a:pt x="1205345" y="270933"/>
                  </a:cubicBezTo>
                  <a:cubicBezTo>
                    <a:pt x="1406236" y="90310"/>
                    <a:pt x="1607127" y="0"/>
                    <a:pt x="1808018" y="0"/>
                  </a:cubicBezTo>
                  <a:cubicBezTo>
                    <a:pt x="2008908" y="0"/>
                    <a:pt x="2209799" y="90310"/>
                    <a:pt x="2410690" y="270933"/>
                  </a:cubicBezTo>
                  <a:cubicBezTo>
                    <a:pt x="2611580" y="451555"/>
                    <a:pt x="2812472" y="722488"/>
                    <a:pt x="3013363" y="1083733"/>
                  </a:cubicBezTo>
                  <a:cubicBezTo>
                    <a:pt x="3214254" y="1444977"/>
                    <a:pt x="3515590" y="2212622"/>
                    <a:pt x="3616036" y="2438400"/>
                  </a:cubicBezTo>
                </a:path>
              </a:pathLst>
            </a:custGeom>
            <a:noFill/>
            <a:ln w="38100">
              <a:solidFill>
                <a:srgbClr val="E09F3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0" name="Connector 49"/>
            <p:cNvCxnSpPr/>
            <p:nvPr/>
          </p:nvCxnSpPr>
          <p:spPr>
            <a:xfrm flipV="1">
              <a:off x="9351818" y="2834639"/>
              <a:ext cx="0" cy="2926081"/>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7543800" y="3078480"/>
              <a:ext cx="1808018"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52" name="Oval 51"/>
            <p:cNvSpPr/>
            <p:nvPr/>
          </p:nvSpPr>
          <p:spPr>
            <a:xfrm>
              <a:off x="9283238" y="3009900"/>
              <a:ext cx="137160" cy="137160"/>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196180" y="2560319"/>
              <a:ext cx="311277" cy="256032"/>
            </a:xfrm>
            <a:prstGeom prst="rect">
              <a:avLst/>
            </a:prstGeom>
            <a:noFill/>
          </p:spPr>
          <p:txBody>
            <a:bodyPr wrap="square" lIns="0" tIns="0" rIns="0" bIns="0">
              <a:spAutoFit/>
            </a:bodyPr>
            <a:lstStyle/>
            <a:p>
              <a:pPr algn="ctr"/>
              <a:r>
                <a:rPr sz="1600" b="1" i="1" u="none">
                  <a:solidFill>
                    <a:srgbClr val="0B2B4E"/>
                  </a:solidFill>
                  <a:latin typeface="Calibri"/>
                </a:rPr>
                <a:t>Q*</a:t>
              </a:r>
            </a:p>
          </p:txBody>
        </p:sp>
      </p:grpSp>
      <p:sp>
        <p:nvSpPr>
          <p:cNvPr id="55" name="Rectangle 54"/>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5  ·  Monopoly and Monopolistic Competition</a:t>
            </a:r>
          </a:p>
        </p:txBody>
      </p:sp>
      <p:sp>
        <p:nvSpPr>
          <p:cNvPr id="58" name="TextBox 57"/>
          <p:cNvSpPr txBox="1"/>
          <p:nvPr/>
        </p:nvSpPr>
        <p:spPr>
          <a:xfrm>
            <a:off x="11475720" y="6583680"/>
            <a:ext cx="502920" cy="292608"/>
          </a:xfrm>
          <a:prstGeom prst="rect">
            <a:avLst/>
          </a:prstGeom>
          <a:noFill/>
        </p:spPr>
        <p:txBody>
          <a:bodyPr wrap="none" lIns="0" tIns="0" rIns="0" bIns="0">
            <a:spAutoFit/>
          </a:bodyPr>
          <a:lstStyle/>
          <a:p>
            <a:pPr algn="r"/>
            <a:fld id="{61BE8715-22EA-5792-B9AF-FD5475CC3481}" type="slidenum">
              <a:rPr lang="en-US" sz="1200" dirty="0">
                <a:solidFill>
                  <a:srgbClr val="555B66"/>
                </a:solidFill>
                <a:latin typeface="Calibri"/>
              </a:rPr>
              <a:t>17</a:t>
            </a:fld>
            <a:endParaRPr lang="en-US" sz="1200" dirty="0">
              <a:solidFill>
                <a:srgbClr val="555B66"/>
              </a:solidFill>
              <a:latin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5 · Profit Maximization for Price Searchers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Illustration Based on the Practice Video Example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NV_s10_rId4.png"/>
          <p:cNvPicPr>
            <a:picLocks noChangeAspect="1"/>
          </p:cNvPicPr>
          <p:nvPr/>
        </p:nvPicPr>
        <p:blipFill>
          <a:blip r:embed="rId3"/>
          <a:stretch>
            <a:fillRect/>
          </a:stretch>
        </p:blipFill>
        <p:spPr>
          <a:xfrm>
            <a:off x="9464040" y="1298448"/>
            <a:ext cx="2331720" cy="507225"/>
          </a:xfrm>
          <a:prstGeom prst="rect">
            <a:avLst/>
          </a:prstGeom>
        </p:spPr>
      </p:pic>
      <p:sp>
        <p:nvSpPr>
          <p:cNvPr id="8" name="Rounded Rectangle 7"/>
          <p:cNvSpPr/>
          <p:nvPr/>
        </p:nvSpPr>
        <p:spPr>
          <a:xfrm>
            <a:off x="3108960" y="1325880"/>
            <a:ext cx="5943600" cy="502920"/>
          </a:xfrm>
          <a:prstGeom prst="roundRect">
            <a:avLst>
              <a:gd name="adj" fmla="val 20000"/>
            </a:avLst>
          </a:prstGeom>
          <a:solidFill>
            <a:srgbClr val="FFFFFF"/>
          </a:solidFill>
          <a:ln w="15875">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0">
                <a:solidFill>
                  <a:srgbClr val="0B2B4E"/>
                </a:solidFill>
                <a:latin typeface="Calibri"/>
              </a:rPr>
              <a:t>Case 2: </a:t>
            </a:r>
            <a:r>
              <a:rPr sz="2200" b="1">
                <a:solidFill>
                  <a:srgbClr val="0B2B4E"/>
                </a:solidFill>
                <a:latin typeface="Calibri"/>
              </a:rPr>
              <a:t>Medium Fixed Cost</a:t>
            </a:r>
            <a:r>
              <a:rPr sz="2200" b="0">
                <a:solidFill>
                  <a:srgbClr val="0B2B4E"/>
                </a:solidFill>
                <a:latin typeface="Calibri"/>
              </a:rPr>
              <a:t> (Rent $2,000)</a:t>
            </a:r>
          </a:p>
        </p:txBody>
      </p:sp>
      <p:sp>
        <p:nvSpPr>
          <p:cNvPr id="9" name="sdpanelhdr:L2"/>
          <p:cNvSpPr txBox="1"/>
          <p:nvPr/>
        </p:nvSpPr>
        <p:spPr>
          <a:xfrm>
            <a:off x="822960" y="2011680"/>
            <a:ext cx="5120640" cy="329184"/>
          </a:xfrm>
          <a:prstGeom prst="rect">
            <a:avLst/>
          </a:prstGeom>
          <a:noFill/>
        </p:spPr>
        <p:txBody>
          <a:bodyPr wrap="square" lIns="0" tIns="0" rIns="0" bIns="0">
            <a:spAutoFit/>
          </a:bodyPr>
          <a:lstStyle/>
          <a:p>
            <a:pPr algn="ctr"/>
            <a:r>
              <a:rPr sz="1800" b="1" i="1" u="none">
                <a:solidFill>
                  <a:srgbClr val="0B2B4E"/>
                </a:solidFill>
                <a:latin typeface="Calibri"/>
              </a:rPr>
              <a:t>Total revenue and total cost</a:t>
            </a:r>
          </a:p>
        </p:txBody>
      </p:sp>
      <p:cxnSp>
        <p:nvCxnSpPr>
          <p:cNvPr id="10" name="sdaxis:y"/>
          <p:cNvCxnSpPr/>
          <p:nvPr/>
        </p:nvCxnSpPr>
        <p:spPr>
          <a:xfrm flipV="1">
            <a:off x="1325880" y="2670048"/>
            <a:ext cx="0" cy="3090672"/>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11" name="sdaxis:x"/>
          <p:cNvCxnSpPr/>
          <p:nvPr/>
        </p:nvCxnSpPr>
        <p:spPr>
          <a:xfrm>
            <a:off x="1325880" y="5760720"/>
            <a:ext cx="441655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2" name="sdaxistitle:y"/>
          <p:cNvSpPr txBox="1"/>
          <p:nvPr/>
        </p:nvSpPr>
        <p:spPr>
          <a:xfrm>
            <a:off x="1065275" y="2537460"/>
            <a:ext cx="187452" cy="265176"/>
          </a:xfrm>
          <a:prstGeom prst="rect">
            <a:avLst/>
          </a:prstGeom>
          <a:noFill/>
        </p:spPr>
        <p:txBody>
          <a:bodyPr wrap="square" lIns="0" tIns="0" rIns="0" bIns="0">
            <a:spAutoFit/>
          </a:bodyPr>
          <a:lstStyle/>
          <a:p>
            <a:pPr algn="l"/>
            <a:r>
              <a:rPr sz="1800" b="1" i="1" u="none">
                <a:solidFill>
                  <a:srgbClr val="0B2B4E"/>
                </a:solidFill>
                <a:latin typeface="Calibri"/>
              </a:rPr>
              <a:t>$</a:t>
            </a:r>
          </a:p>
        </p:txBody>
      </p:sp>
      <p:sp>
        <p:nvSpPr>
          <p:cNvPr id="13" name="sdaxistitle:x"/>
          <p:cNvSpPr txBox="1"/>
          <p:nvPr/>
        </p:nvSpPr>
        <p:spPr>
          <a:xfrm>
            <a:off x="5629656" y="5806440"/>
            <a:ext cx="225551" cy="265176"/>
          </a:xfrm>
          <a:prstGeom prst="rect">
            <a:avLst/>
          </a:prstGeom>
          <a:noFill/>
        </p:spPr>
        <p:txBody>
          <a:bodyPr wrap="square" lIns="0" tIns="0" rIns="0" bIns="0">
            <a:spAutoFit/>
          </a:bodyPr>
          <a:lstStyle/>
          <a:p>
            <a:pPr algn="l"/>
            <a:r>
              <a:rPr sz="1800" b="1" i="1" u="none">
                <a:solidFill>
                  <a:srgbClr val="0B2B4E"/>
                </a:solidFill>
                <a:latin typeface="Calibri"/>
              </a:rPr>
              <a:t>Q</a:t>
            </a:r>
          </a:p>
        </p:txBody>
      </p:sp>
      <p:sp>
        <p:nvSpPr>
          <p:cNvPr id="14" name="TextBox 13"/>
          <p:cNvSpPr txBox="1"/>
          <p:nvPr/>
        </p:nvSpPr>
        <p:spPr>
          <a:xfrm>
            <a:off x="970026" y="5623560"/>
            <a:ext cx="282702" cy="274320"/>
          </a:xfrm>
          <a:prstGeom prst="rect">
            <a:avLst/>
          </a:prstGeom>
          <a:noFill/>
        </p:spPr>
        <p:txBody>
          <a:bodyPr wrap="square" lIns="0" tIns="0" rIns="0" bIns="0">
            <a:spAutoFit/>
          </a:bodyPr>
          <a:lstStyle/>
          <a:p>
            <a:pPr algn="r"/>
            <a:r>
              <a:rPr sz="1600" b="0" i="1" u="none">
                <a:solidFill>
                  <a:srgbClr val="0B2B4E"/>
                </a:solidFill>
                <a:latin typeface="Calibri"/>
              </a:rPr>
              <a:t>$0</a:t>
            </a:r>
          </a:p>
        </p:txBody>
      </p:sp>
      <p:sp>
        <p:nvSpPr>
          <p:cNvPr id="15" name="TextBox 14"/>
          <p:cNvSpPr txBox="1"/>
          <p:nvPr/>
        </p:nvSpPr>
        <p:spPr>
          <a:xfrm>
            <a:off x="608076" y="5155387"/>
            <a:ext cx="644652" cy="274320"/>
          </a:xfrm>
          <a:prstGeom prst="rect">
            <a:avLst/>
          </a:prstGeom>
          <a:noFill/>
        </p:spPr>
        <p:txBody>
          <a:bodyPr wrap="square" lIns="0" tIns="0" rIns="0" bIns="0">
            <a:spAutoFit/>
          </a:bodyPr>
          <a:lstStyle/>
          <a:p>
            <a:pPr algn="r"/>
            <a:r>
              <a:rPr sz="1600" b="0" i="1" u="none">
                <a:solidFill>
                  <a:srgbClr val="0B2B4E"/>
                </a:solidFill>
                <a:latin typeface="Calibri"/>
              </a:rPr>
              <a:t>$2,000</a:t>
            </a:r>
          </a:p>
        </p:txBody>
      </p:sp>
      <p:sp>
        <p:nvSpPr>
          <p:cNvPr id="16" name="TextBox 15"/>
          <p:cNvSpPr txBox="1"/>
          <p:nvPr/>
        </p:nvSpPr>
        <p:spPr>
          <a:xfrm>
            <a:off x="608076" y="4687214"/>
            <a:ext cx="644652" cy="274320"/>
          </a:xfrm>
          <a:prstGeom prst="rect">
            <a:avLst/>
          </a:prstGeom>
          <a:noFill/>
        </p:spPr>
        <p:txBody>
          <a:bodyPr wrap="square" lIns="0" tIns="0" rIns="0" bIns="0">
            <a:spAutoFit/>
          </a:bodyPr>
          <a:lstStyle/>
          <a:p>
            <a:pPr algn="r"/>
            <a:r>
              <a:rPr sz="1600" b="0" i="1" u="none">
                <a:solidFill>
                  <a:srgbClr val="0B2B4E"/>
                </a:solidFill>
                <a:latin typeface="Calibri"/>
              </a:rPr>
              <a:t>$4,000</a:t>
            </a:r>
          </a:p>
        </p:txBody>
      </p:sp>
      <p:sp>
        <p:nvSpPr>
          <p:cNvPr id="17" name="TextBox 16"/>
          <p:cNvSpPr txBox="1"/>
          <p:nvPr/>
        </p:nvSpPr>
        <p:spPr>
          <a:xfrm>
            <a:off x="608076" y="4219041"/>
            <a:ext cx="644652" cy="274320"/>
          </a:xfrm>
          <a:prstGeom prst="rect">
            <a:avLst/>
          </a:prstGeom>
          <a:noFill/>
        </p:spPr>
        <p:txBody>
          <a:bodyPr wrap="square" lIns="0" tIns="0" rIns="0" bIns="0">
            <a:spAutoFit/>
          </a:bodyPr>
          <a:lstStyle/>
          <a:p>
            <a:pPr algn="r"/>
            <a:r>
              <a:rPr sz="1600" b="0" i="1" u="none">
                <a:solidFill>
                  <a:srgbClr val="0B2B4E"/>
                </a:solidFill>
                <a:latin typeface="Calibri"/>
              </a:rPr>
              <a:t>$6,000</a:t>
            </a:r>
          </a:p>
        </p:txBody>
      </p:sp>
      <p:sp>
        <p:nvSpPr>
          <p:cNvPr id="18" name="TextBox 17"/>
          <p:cNvSpPr txBox="1"/>
          <p:nvPr/>
        </p:nvSpPr>
        <p:spPr>
          <a:xfrm>
            <a:off x="608076" y="3750868"/>
            <a:ext cx="644652" cy="274320"/>
          </a:xfrm>
          <a:prstGeom prst="rect">
            <a:avLst/>
          </a:prstGeom>
          <a:noFill/>
        </p:spPr>
        <p:txBody>
          <a:bodyPr wrap="square" lIns="0" tIns="0" rIns="0" bIns="0">
            <a:spAutoFit/>
          </a:bodyPr>
          <a:lstStyle/>
          <a:p>
            <a:pPr algn="r"/>
            <a:r>
              <a:rPr sz="1600" b="0" i="1" u="none">
                <a:solidFill>
                  <a:srgbClr val="0B2B4E"/>
                </a:solidFill>
                <a:latin typeface="Calibri"/>
              </a:rPr>
              <a:t>$8,000</a:t>
            </a:r>
          </a:p>
        </p:txBody>
      </p:sp>
      <p:sp>
        <p:nvSpPr>
          <p:cNvPr id="19" name="TextBox 18"/>
          <p:cNvSpPr txBox="1"/>
          <p:nvPr/>
        </p:nvSpPr>
        <p:spPr>
          <a:xfrm>
            <a:off x="503301" y="3282696"/>
            <a:ext cx="749427" cy="274320"/>
          </a:xfrm>
          <a:prstGeom prst="rect">
            <a:avLst/>
          </a:prstGeom>
          <a:noFill/>
        </p:spPr>
        <p:txBody>
          <a:bodyPr wrap="square" lIns="0" tIns="0" rIns="0" bIns="0">
            <a:spAutoFit/>
          </a:bodyPr>
          <a:lstStyle/>
          <a:p>
            <a:pPr algn="r"/>
            <a:r>
              <a:rPr sz="1600" b="0" i="1" u="none">
                <a:solidFill>
                  <a:srgbClr val="0B2B4E"/>
                </a:solidFill>
                <a:latin typeface="Calibri"/>
              </a:rPr>
              <a:t>$10,000</a:t>
            </a:r>
          </a:p>
        </p:txBody>
      </p:sp>
      <p:sp>
        <p:nvSpPr>
          <p:cNvPr id="20" name="TextBox 19"/>
          <p:cNvSpPr txBox="1"/>
          <p:nvPr/>
        </p:nvSpPr>
        <p:spPr>
          <a:xfrm>
            <a:off x="503301" y="2814523"/>
            <a:ext cx="749427" cy="274320"/>
          </a:xfrm>
          <a:prstGeom prst="rect">
            <a:avLst/>
          </a:prstGeom>
          <a:noFill/>
        </p:spPr>
        <p:txBody>
          <a:bodyPr wrap="square" lIns="0" tIns="0" rIns="0" bIns="0">
            <a:spAutoFit/>
          </a:bodyPr>
          <a:lstStyle/>
          <a:p>
            <a:pPr algn="r"/>
            <a:r>
              <a:rPr sz="1600" b="0" i="1" u="none">
                <a:solidFill>
                  <a:srgbClr val="0B2B4E"/>
                </a:solidFill>
                <a:latin typeface="Calibri"/>
              </a:rPr>
              <a:t>$12,000</a:t>
            </a:r>
          </a:p>
        </p:txBody>
      </p:sp>
      <p:sp>
        <p:nvSpPr>
          <p:cNvPr id="21" name="TextBox 20"/>
          <p:cNvSpPr txBox="1"/>
          <p:nvPr/>
        </p:nvSpPr>
        <p:spPr>
          <a:xfrm>
            <a:off x="1236917" y="5815583"/>
            <a:ext cx="177927" cy="274320"/>
          </a:xfrm>
          <a:prstGeom prst="rect">
            <a:avLst/>
          </a:prstGeom>
          <a:noFill/>
        </p:spPr>
        <p:txBody>
          <a:bodyPr wrap="square" lIns="0" tIns="0" rIns="0" bIns="0">
            <a:spAutoFit/>
          </a:bodyPr>
          <a:lstStyle/>
          <a:p>
            <a:pPr algn="ctr"/>
            <a:r>
              <a:rPr sz="1600" b="0" i="1" u="none">
                <a:solidFill>
                  <a:srgbClr val="0B2B4E"/>
                </a:solidFill>
                <a:latin typeface="Calibri"/>
              </a:rPr>
              <a:t>0</a:t>
            </a:r>
          </a:p>
        </p:txBody>
      </p:sp>
      <p:sp>
        <p:nvSpPr>
          <p:cNvPr id="22" name="TextBox 21"/>
          <p:cNvSpPr txBox="1"/>
          <p:nvPr/>
        </p:nvSpPr>
        <p:spPr>
          <a:xfrm>
            <a:off x="2150883" y="5815583"/>
            <a:ext cx="282702" cy="274320"/>
          </a:xfrm>
          <a:prstGeom prst="rect">
            <a:avLst/>
          </a:prstGeom>
          <a:noFill/>
        </p:spPr>
        <p:txBody>
          <a:bodyPr wrap="square" lIns="0" tIns="0" rIns="0" bIns="0">
            <a:spAutoFit/>
          </a:bodyPr>
          <a:lstStyle/>
          <a:p>
            <a:pPr algn="ctr"/>
            <a:r>
              <a:rPr sz="1600" b="0" i="1" u="none">
                <a:solidFill>
                  <a:srgbClr val="0B2B4E"/>
                </a:solidFill>
                <a:latin typeface="Calibri"/>
              </a:rPr>
              <a:t>50</a:t>
            </a:r>
          </a:p>
        </p:txBody>
      </p:sp>
      <p:sp>
        <p:nvSpPr>
          <p:cNvPr id="23" name="TextBox 22"/>
          <p:cNvSpPr txBox="1"/>
          <p:nvPr/>
        </p:nvSpPr>
        <p:spPr>
          <a:xfrm>
            <a:off x="3064851" y="5815583"/>
            <a:ext cx="387477" cy="274320"/>
          </a:xfrm>
          <a:prstGeom prst="rect">
            <a:avLst/>
          </a:prstGeom>
          <a:noFill/>
        </p:spPr>
        <p:txBody>
          <a:bodyPr wrap="square" lIns="0" tIns="0" rIns="0" bIns="0">
            <a:spAutoFit/>
          </a:bodyPr>
          <a:lstStyle/>
          <a:p>
            <a:pPr algn="ctr"/>
            <a:r>
              <a:rPr sz="1600" b="1" i="1" u="none">
                <a:solidFill>
                  <a:srgbClr val="0B2B4E"/>
                </a:solidFill>
                <a:latin typeface="Calibri"/>
              </a:rPr>
              <a:t>100</a:t>
            </a:r>
          </a:p>
        </p:txBody>
      </p:sp>
      <p:sp>
        <p:nvSpPr>
          <p:cNvPr id="24" name="TextBox 23"/>
          <p:cNvSpPr txBox="1"/>
          <p:nvPr/>
        </p:nvSpPr>
        <p:spPr>
          <a:xfrm>
            <a:off x="4031205" y="5815583"/>
            <a:ext cx="387477" cy="274320"/>
          </a:xfrm>
          <a:prstGeom prst="rect">
            <a:avLst/>
          </a:prstGeom>
          <a:noFill/>
        </p:spPr>
        <p:txBody>
          <a:bodyPr wrap="square" lIns="0" tIns="0" rIns="0" bIns="0">
            <a:spAutoFit/>
          </a:bodyPr>
          <a:lstStyle/>
          <a:p>
            <a:pPr algn="ctr"/>
            <a:r>
              <a:rPr sz="1600" b="0" i="1" u="none">
                <a:solidFill>
                  <a:srgbClr val="0B2B4E"/>
                </a:solidFill>
                <a:latin typeface="Calibri"/>
              </a:rPr>
              <a:t>150</a:t>
            </a:r>
          </a:p>
        </p:txBody>
      </p:sp>
      <p:sp>
        <p:nvSpPr>
          <p:cNvPr id="25" name="TextBox 24"/>
          <p:cNvSpPr txBox="1"/>
          <p:nvPr/>
        </p:nvSpPr>
        <p:spPr>
          <a:xfrm>
            <a:off x="4997560" y="5815583"/>
            <a:ext cx="387477" cy="274320"/>
          </a:xfrm>
          <a:prstGeom prst="rect">
            <a:avLst/>
          </a:prstGeom>
          <a:noFill/>
        </p:spPr>
        <p:txBody>
          <a:bodyPr wrap="square" lIns="0" tIns="0" rIns="0" bIns="0">
            <a:spAutoFit/>
          </a:bodyPr>
          <a:lstStyle/>
          <a:p>
            <a:pPr algn="ctr"/>
            <a:r>
              <a:rPr sz="1600" b="0" i="1" u="none">
                <a:solidFill>
                  <a:srgbClr val="0B2B4E"/>
                </a:solidFill>
                <a:latin typeface="Calibri"/>
              </a:rPr>
              <a:t>200</a:t>
            </a:r>
          </a:p>
        </p:txBody>
      </p:sp>
      <p:grpSp>
        <p:nvGrpSpPr>
          <p:cNvPr id="32" name="sdpair:pnlL2"/>
          <p:cNvGrpSpPr/>
          <p:nvPr/>
        </p:nvGrpSpPr>
        <p:grpSpPr>
          <a:xfrm>
            <a:off x="1325880" y="2677363"/>
            <a:ext cx="4244201" cy="3083357"/>
            <a:chOff x="1325880" y="2677363"/>
            <a:chExt cx="4244201" cy="3083357"/>
          </a:xfrm>
        </p:grpSpPr>
        <p:sp>
          <p:nvSpPr>
            <p:cNvPr id="26" name="sdcurve:TR"/>
            <p:cNvSpPr/>
            <p:nvPr/>
          </p:nvSpPr>
          <p:spPr>
            <a:xfrm>
              <a:off x="1325880" y="3888028"/>
              <a:ext cx="3865418" cy="1872692"/>
            </a:xfrm>
            <a:custGeom>
              <a:avLst/>
              <a:gdLst/>
              <a:ahLst/>
              <a:cxnLst/>
              <a:rect l="0" t="0" r="r" b="b"/>
              <a:pathLst>
                <a:path w="3865418" h="1872692" fill="none">
                  <a:moveTo>
                    <a:pt x="0" y="1872692"/>
                  </a:moveTo>
                  <a:cubicBezTo>
                    <a:pt x="107372" y="1798998"/>
                    <a:pt x="429490" y="1569246"/>
                    <a:pt x="644236" y="1430528"/>
                  </a:cubicBezTo>
                  <a:cubicBezTo>
                    <a:pt x="858981" y="1291810"/>
                    <a:pt x="1073726" y="1161762"/>
                    <a:pt x="1288472" y="1040384"/>
                  </a:cubicBezTo>
                  <a:cubicBezTo>
                    <a:pt x="1503217" y="919006"/>
                    <a:pt x="1717963" y="806298"/>
                    <a:pt x="1932709" y="702260"/>
                  </a:cubicBezTo>
                  <a:cubicBezTo>
                    <a:pt x="2147454" y="598221"/>
                    <a:pt x="2362199" y="502852"/>
                    <a:pt x="2576945" y="416154"/>
                  </a:cubicBezTo>
                  <a:cubicBezTo>
                    <a:pt x="2791690" y="329455"/>
                    <a:pt x="3006435" y="251427"/>
                    <a:pt x="3221181" y="182068"/>
                  </a:cubicBezTo>
                  <a:cubicBezTo>
                    <a:pt x="3435926" y="112709"/>
                    <a:pt x="3758045" y="30344"/>
                    <a:pt x="3865418" y="0"/>
                  </a:cubicBezTo>
                </a:path>
              </a:pathLst>
            </a:custGeom>
            <a:noFill/>
            <a:ln w="34925">
              <a:solidFill>
                <a:srgbClr val="C00000"/>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sdcurve:TC"/>
            <p:cNvSpPr/>
            <p:nvPr/>
          </p:nvSpPr>
          <p:spPr>
            <a:xfrm>
              <a:off x="1325880" y="3419856"/>
              <a:ext cx="3865418" cy="1872691"/>
            </a:xfrm>
            <a:custGeom>
              <a:avLst/>
              <a:gdLst/>
              <a:ahLst/>
              <a:cxnLst/>
              <a:rect l="0" t="0" r="r" b="b"/>
              <a:pathLst>
                <a:path w="3865418" h="1872691" fill="none">
                  <a:moveTo>
                    <a:pt x="0" y="1872691"/>
                  </a:moveTo>
                  <a:cubicBezTo>
                    <a:pt x="107372" y="1853183"/>
                    <a:pt x="429490" y="1807667"/>
                    <a:pt x="644236" y="1755648"/>
                  </a:cubicBezTo>
                  <a:cubicBezTo>
                    <a:pt x="858981" y="1703628"/>
                    <a:pt x="1073726" y="1638604"/>
                    <a:pt x="1288472" y="1560576"/>
                  </a:cubicBezTo>
                  <a:cubicBezTo>
                    <a:pt x="1503217" y="1482547"/>
                    <a:pt x="1717963" y="1391513"/>
                    <a:pt x="1932709" y="1287475"/>
                  </a:cubicBezTo>
                  <a:cubicBezTo>
                    <a:pt x="2147454" y="1183436"/>
                    <a:pt x="2362199" y="1066393"/>
                    <a:pt x="2576945" y="936345"/>
                  </a:cubicBezTo>
                  <a:cubicBezTo>
                    <a:pt x="2791690" y="806297"/>
                    <a:pt x="3006435" y="663244"/>
                    <a:pt x="3221181" y="507187"/>
                  </a:cubicBezTo>
                  <a:cubicBezTo>
                    <a:pt x="3435926" y="351129"/>
                    <a:pt x="3758045" y="84531"/>
                    <a:pt x="3865418" y="0"/>
                  </a:cubicBezTo>
                </a:path>
              </a:pathLst>
            </a:custGeom>
            <a:noFill/>
            <a:ln w="34925">
              <a:solidFill>
                <a:srgbClr val="0B2B4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sdcurvelab:TR"/>
            <p:cNvSpPr txBox="1"/>
            <p:nvPr/>
          </p:nvSpPr>
          <p:spPr>
            <a:xfrm>
              <a:off x="5249279" y="3800246"/>
              <a:ext cx="320802" cy="292608"/>
            </a:xfrm>
            <a:prstGeom prst="rect">
              <a:avLst/>
            </a:prstGeom>
            <a:noFill/>
          </p:spPr>
          <p:txBody>
            <a:bodyPr wrap="square" lIns="0" tIns="0" rIns="0" bIns="0">
              <a:spAutoFit/>
            </a:bodyPr>
            <a:lstStyle/>
            <a:p>
              <a:pPr algn="l"/>
              <a:r>
                <a:rPr sz="1800" b="1" i="1" u="none">
                  <a:solidFill>
                    <a:srgbClr val="C00000"/>
                  </a:solidFill>
                  <a:latin typeface="Calibri"/>
                </a:rPr>
                <a:t>TR</a:t>
              </a:r>
            </a:p>
          </p:txBody>
        </p:sp>
        <p:sp>
          <p:nvSpPr>
            <p:cNvPr id="29" name="sdcurvelab:TC"/>
            <p:cNvSpPr txBox="1"/>
            <p:nvPr/>
          </p:nvSpPr>
          <p:spPr>
            <a:xfrm>
              <a:off x="5249279" y="3121395"/>
              <a:ext cx="320802" cy="292608"/>
            </a:xfrm>
            <a:prstGeom prst="rect">
              <a:avLst/>
            </a:prstGeom>
            <a:noFill/>
          </p:spPr>
          <p:txBody>
            <a:bodyPr wrap="square" lIns="0" tIns="0" rIns="0" bIns="0">
              <a:spAutoFit/>
            </a:bodyPr>
            <a:lstStyle/>
            <a:p>
              <a:pPr algn="l"/>
              <a:r>
                <a:rPr sz="1800" b="1" i="1" u="none">
                  <a:solidFill>
                    <a:srgbClr val="0B2B4E"/>
                  </a:solidFill>
                  <a:latin typeface="Calibri"/>
                </a:rPr>
                <a:t>TC</a:t>
              </a:r>
            </a:p>
          </p:txBody>
        </p:sp>
        <p:cxnSp>
          <p:nvCxnSpPr>
            <p:cNvPr id="30" name="Connector 29"/>
            <p:cNvCxnSpPr/>
            <p:nvPr/>
          </p:nvCxnSpPr>
          <p:spPr>
            <a:xfrm flipV="1">
              <a:off x="3258589" y="2951683"/>
              <a:ext cx="0" cy="2809037"/>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3102951" y="2677363"/>
              <a:ext cx="311277" cy="256032"/>
            </a:xfrm>
            <a:prstGeom prst="rect">
              <a:avLst/>
            </a:prstGeom>
            <a:noFill/>
          </p:spPr>
          <p:txBody>
            <a:bodyPr wrap="square" lIns="0" tIns="0" rIns="0" bIns="0">
              <a:spAutoFit/>
            </a:bodyPr>
            <a:lstStyle/>
            <a:p>
              <a:pPr algn="ctr"/>
              <a:r>
                <a:rPr sz="1600" b="1" i="1" u="none">
                  <a:solidFill>
                    <a:srgbClr val="0B2B4E"/>
                  </a:solidFill>
                  <a:latin typeface="Calibri"/>
                </a:rPr>
                <a:t>Q*</a:t>
              </a:r>
            </a:p>
          </p:txBody>
        </p:sp>
      </p:grpSp>
      <p:sp>
        <p:nvSpPr>
          <p:cNvPr id="33" name="sdpanelhdr:R2"/>
          <p:cNvSpPr txBox="1"/>
          <p:nvPr/>
        </p:nvSpPr>
        <p:spPr>
          <a:xfrm>
            <a:off x="6949440" y="2011680"/>
            <a:ext cx="5029200" cy="329184"/>
          </a:xfrm>
          <a:prstGeom prst="rect">
            <a:avLst/>
          </a:prstGeom>
          <a:noFill/>
        </p:spPr>
        <p:txBody>
          <a:bodyPr wrap="square" lIns="0" tIns="0" rIns="0" bIns="0">
            <a:spAutoFit/>
          </a:bodyPr>
          <a:lstStyle/>
          <a:p>
            <a:pPr algn="ctr"/>
            <a:r>
              <a:rPr sz="1800" b="1" i="1" u="none">
                <a:solidFill>
                  <a:srgbClr val="0B2B4E"/>
                </a:solidFill>
                <a:latin typeface="Calibri"/>
              </a:rPr>
              <a:t>Profit</a:t>
            </a:r>
          </a:p>
        </p:txBody>
      </p:sp>
      <p:cxnSp>
        <p:nvCxnSpPr>
          <p:cNvPr id="34" name="sdaxis:y"/>
          <p:cNvCxnSpPr/>
          <p:nvPr/>
        </p:nvCxnSpPr>
        <p:spPr>
          <a:xfrm flipV="1">
            <a:off x="7543800" y="2670048"/>
            <a:ext cx="0" cy="3090672"/>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35" name="sdaxis:x"/>
          <p:cNvCxnSpPr/>
          <p:nvPr/>
        </p:nvCxnSpPr>
        <p:spPr>
          <a:xfrm>
            <a:off x="7543800" y="3566160"/>
            <a:ext cx="414223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36" name="sdaxistitle:x"/>
          <p:cNvSpPr txBox="1"/>
          <p:nvPr/>
        </p:nvSpPr>
        <p:spPr>
          <a:xfrm>
            <a:off x="11573256" y="3611880"/>
            <a:ext cx="225551" cy="265176"/>
          </a:xfrm>
          <a:prstGeom prst="rect">
            <a:avLst/>
          </a:prstGeom>
          <a:noFill/>
        </p:spPr>
        <p:txBody>
          <a:bodyPr wrap="square" lIns="0" tIns="0" rIns="0" bIns="0">
            <a:spAutoFit/>
          </a:bodyPr>
          <a:lstStyle/>
          <a:p>
            <a:pPr algn="l"/>
            <a:r>
              <a:rPr sz="1800" b="1" i="1" u="none">
                <a:solidFill>
                  <a:srgbClr val="0B2B4E"/>
                </a:solidFill>
                <a:latin typeface="Calibri"/>
              </a:rPr>
              <a:t>Q</a:t>
            </a:r>
          </a:p>
        </p:txBody>
      </p:sp>
      <p:sp>
        <p:nvSpPr>
          <p:cNvPr id="37" name="sdaxistitle:y"/>
          <p:cNvSpPr txBox="1"/>
          <p:nvPr/>
        </p:nvSpPr>
        <p:spPr>
          <a:xfrm>
            <a:off x="7254621" y="2537460"/>
            <a:ext cx="216027" cy="265176"/>
          </a:xfrm>
          <a:prstGeom prst="rect">
            <a:avLst/>
          </a:prstGeom>
          <a:noFill/>
        </p:spPr>
        <p:txBody>
          <a:bodyPr wrap="square" lIns="0" tIns="0" rIns="0" bIns="0">
            <a:spAutoFit/>
          </a:bodyPr>
          <a:lstStyle/>
          <a:p>
            <a:pPr algn="l"/>
            <a:r>
              <a:rPr sz="1800" b="1" i="1" u="none">
                <a:solidFill>
                  <a:srgbClr val="0B2B4E"/>
                </a:solidFill>
                <a:latin typeface="Calibri"/>
              </a:rPr>
              <a:t>π</a:t>
            </a:r>
          </a:p>
        </p:txBody>
      </p:sp>
      <p:sp>
        <p:nvSpPr>
          <p:cNvPr id="38" name="TextBox 37"/>
          <p:cNvSpPr txBox="1"/>
          <p:nvPr/>
        </p:nvSpPr>
        <p:spPr>
          <a:xfrm>
            <a:off x="6730746" y="5379720"/>
            <a:ext cx="739901" cy="274320"/>
          </a:xfrm>
          <a:prstGeom prst="rect">
            <a:avLst/>
          </a:prstGeom>
          <a:noFill/>
        </p:spPr>
        <p:txBody>
          <a:bodyPr wrap="square" lIns="0" tIns="0" rIns="0" bIns="0">
            <a:spAutoFit/>
          </a:bodyPr>
          <a:lstStyle/>
          <a:p>
            <a:pPr algn="r"/>
            <a:r>
              <a:rPr sz="1600" b="0" i="1" u="none">
                <a:solidFill>
                  <a:srgbClr val="0B2B4E"/>
                </a:solidFill>
                <a:latin typeface="Calibri"/>
              </a:rPr>
              <a:t>−$2,000</a:t>
            </a:r>
          </a:p>
        </p:txBody>
      </p:sp>
      <p:sp>
        <p:nvSpPr>
          <p:cNvPr id="39" name="TextBox 38"/>
          <p:cNvSpPr txBox="1"/>
          <p:nvPr/>
        </p:nvSpPr>
        <p:spPr>
          <a:xfrm>
            <a:off x="6730746" y="4892040"/>
            <a:ext cx="739901" cy="274320"/>
          </a:xfrm>
          <a:prstGeom prst="rect">
            <a:avLst/>
          </a:prstGeom>
          <a:noFill/>
        </p:spPr>
        <p:txBody>
          <a:bodyPr wrap="square" lIns="0" tIns="0" rIns="0" bIns="0">
            <a:spAutoFit/>
          </a:bodyPr>
          <a:lstStyle/>
          <a:p>
            <a:pPr algn="r"/>
            <a:r>
              <a:rPr sz="1600" b="0" i="1" u="none">
                <a:solidFill>
                  <a:srgbClr val="0B2B4E"/>
                </a:solidFill>
                <a:latin typeface="Calibri"/>
              </a:rPr>
              <a:t>−$1,500</a:t>
            </a:r>
          </a:p>
        </p:txBody>
      </p:sp>
      <p:sp>
        <p:nvSpPr>
          <p:cNvPr id="40" name="TextBox 39"/>
          <p:cNvSpPr txBox="1"/>
          <p:nvPr/>
        </p:nvSpPr>
        <p:spPr>
          <a:xfrm>
            <a:off x="6730746" y="4404360"/>
            <a:ext cx="739901" cy="274320"/>
          </a:xfrm>
          <a:prstGeom prst="rect">
            <a:avLst/>
          </a:prstGeom>
          <a:noFill/>
        </p:spPr>
        <p:txBody>
          <a:bodyPr wrap="square" lIns="0" tIns="0" rIns="0" bIns="0">
            <a:spAutoFit/>
          </a:bodyPr>
          <a:lstStyle/>
          <a:p>
            <a:pPr algn="r"/>
            <a:r>
              <a:rPr sz="1600" b="0" i="1" u="none">
                <a:solidFill>
                  <a:srgbClr val="0B2B4E"/>
                </a:solidFill>
                <a:latin typeface="Calibri"/>
              </a:rPr>
              <a:t>−$1,000</a:t>
            </a:r>
          </a:p>
        </p:txBody>
      </p:sp>
      <p:sp>
        <p:nvSpPr>
          <p:cNvPr id="41" name="TextBox 40"/>
          <p:cNvSpPr txBox="1"/>
          <p:nvPr/>
        </p:nvSpPr>
        <p:spPr>
          <a:xfrm>
            <a:off x="6883146" y="3916680"/>
            <a:ext cx="587502" cy="274320"/>
          </a:xfrm>
          <a:prstGeom prst="rect">
            <a:avLst/>
          </a:prstGeom>
          <a:noFill/>
        </p:spPr>
        <p:txBody>
          <a:bodyPr wrap="square" lIns="0" tIns="0" rIns="0" bIns="0">
            <a:spAutoFit/>
          </a:bodyPr>
          <a:lstStyle/>
          <a:p>
            <a:pPr algn="r"/>
            <a:r>
              <a:rPr sz="1600" b="0" i="1" u="none">
                <a:solidFill>
                  <a:srgbClr val="0B2B4E"/>
                </a:solidFill>
                <a:latin typeface="Calibri"/>
              </a:rPr>
              <a:t>−$500</a:t>
            </a:r>
          </a:p>
        </p:txBody>
      </p:sp>
      <p:sp>
        <p:nvSpPr>
          <p:cNvPr id="42" name="TextBox 41"/>
          <p:cNvSpPr txBox="1"/>
          <p:nvPr/>
        </p:nvSpPr>
        <p:spPr>
          <a:xfrm>
            <a:off x="7187946" y="3429000"/>
            <a:ext cx="282702" cy="274320"/>
          </a:xfrm>
          <a:prstGeom prst="rect">
            <a:avLst/>
          </a:prstGeom>
          <a:noFill/>
        </p:spPr>
        <p:txBody>
          <a:bodyPr wrap="square" lIns="0" tIns="0" rIns="0" bIns="0">
            <a:spAutoFit/>
          </a:bodyPr>
          <a:lstStyle/>
          <a:p>
            <a:pPr algn="r"/>
            <a:r>
              <a:rPr sz="1600" b="0" i="1" u="none">
                <a:solidFill>
                  <a:srgbClr val="0B2B4E"/>
                </a:solidFill>
                <a:latin typeface="Calibri"/>
              </a:rPr>
              <a:t>$0</a:t>
            </a:r>
          </a:p>
        </p:txBody>
      </p:sp>
      <p:sp>
        <p:nvSpPr>
          <p:cNvPr id="43" name="TextBox 42"/>
          <p:cNvSpPr txBox="1"/>
          <p:nvPr/>
        </p:nvSpPr>
        <p:spPr>
          <a:xfrm>
            <a:off x="6978396" y="2941320"/>
            <a:ext cx="492252" cy="274320"/>
          </a:xfrm>
          <a:prstGeom prst="rect">
            <a:avLst/>
          </a:prstGeom>
          <a:noFill/>
        </p:spPr>
        <p:txBody>
          <a:bodyPr wrap="square" lIns="0" tIns="0" rIns="0" bIns="0">
            <a:spAutoFit/>
          </a:bodyPr>
          <a:lstStyle/>
          <a:p>
            <a:pPr algn="r"/>
            <a:r>
              <a:rPr sz="1600" b="1" i="1" u="none">
                <a:solidFill>
                  <a:srgbClr val="0B2B4E"/>
                </a:solidFill>
                <a:latin typeface="Calibri"/>
              </a:rPr>
              <a:t>$500</a:t>
            </a:r>
          </a:p>
        </p:txBody>
      </p:sp>
      <p:sp>
        <p:nvSpPr>
          <p:cNvPr id="44" name="TextBox 43"/>
          <p:cNvSpPr txBox="1"/>
          <p:nvPr/>
        </p:nvSpPr>
        <p:spPr>
          <a:xfrm>
            <a:off x="7454837" y="5815583"/>
            <a:ext cx="177927" cy="274320"/>
          </a:xfrm>
          <a:prstGeom prst="rect">
            <a:avLst/>
          </a:prstGeom>
          <a:noFill/>
        </p:spPr>
        <p:txBody>
          <a:bodyPr wrap="square" lIns="0" tIns="0" rIns="0" bIns="0">
            <a:spAutoFit/>
          </a:bodyPr>
          <a:lstStyle/>
          <a:p>
            <a:pPr algn="ctr"/>
            <a:r>
              <a:rPr sz="1600" b="0" i="1" u="none">
                <a:solidFill>
                  <a:srgbClr val="0B2B4E"/>
                </a:solidFill>
                <a:latin typeface="Calibri"/>
              </a:rPr>
              <a:t>0</a:t>
            </a:r>
          </a:p>
        </p:txBody>
      </p:sp>
      <p:sp>
        <p:nvSpPr>
          <p:cNvPr id="45" name="TextBox 44"/>
          <p:cNvSpPr txBox="1"/>
          <p:nvPr/>
        </p:nvSpPr>
        <p:spPr>
          <a:xfrm>
            <a:off x="8306458" y="5815583"/>
            <a:ext cx="282702" cy="274320"/>
          </a:xfrm>
          <a:prstGeom prst="rect">
            <a:avLst/>
          </a:prstGeom>
          <a:noFill/>
        </p:spPr>
        <p:txBody>
          <a:bodyPr wrap="square" lIns="0" tIns="0" rIns="0" bIns="0">
            <a:spAutoFit/>
          </a:bodyPr>
          <a:lstStyle/>
          <a:p>
            <a:pPr algn="ctr"/>
            <a:r>
              <a:rPr sz="1600" b="0" i="1" u="none">
                <a:solidFill>
                  <a:srgbClr val="0B2B4E"/>
                </a:solidFill>
                <a:latin typeface="Calibri"/>
              </a:rPr>
              <a:t>50</a:t>
            </a:r>
          </a:p>
        </p:txBody>
      </p:sp>
      <p:sp>
        <p:nvSpPr>
          <p:cNvPr id="46" name="TextBox 45"/>
          <p:cNvSpPr txBox="1"/>
          <p:nvPr/>
        </p:nvSpPr>
        <p:spPr>
          <a:xfrm>
            <a:off x="9158080" y="5815583"/>
            <a:ext cx="387477" cy="274320"/>
          </a:xfrm>
          <a:prstGeom prst="rect">
            <a:avLst/>
          </a:prstGeom>
          <a:noFill/>
        </p:spPr>
        <p:txBody>
          <a:bodyPr wrap="square" lIns="0" tIns="0" rIns="0" bIns="0">
            <a:spAutoFit/>
          </a:bodyPr>
          <a:lstStyle/>
          <a:p>
            <a:pPr algn="ctr"/>
            <a:r>
              <a:rPr sz="1600" b="1" i="1" u="none">
                <a:solidFill>
                  <a:srgbClr val="0B2B4E"/>
                </a:solidFill>
                <a:latin typeface="Calibri"/>
              </a:rPr>
              <a:t>100</a:t>
            </a:r>
          </a:p>
        </p:txBody>
      </p:sp>
      <p:sp>
        <p:nvSpPr>
          <p:cNvPr id="47" name="TextBox 46"/>
          <p:cNvSpPr txBox="1"/>
          <p:nvPr/>
        </p:nvSpPr>
        <p:spPr>
          <a:xfrm>
            <a:off x="10062089" y="5815583"/>
            <a:ext cx="387477" cy="274320"/>
          </a:xfrm>
          <a:prstGeom prst="rect">
            <a:avLst/>
          </a:prstGeom>
          <a:noFill/>
        </p:spPr>
        <p:txBody>
          <a:bodyPr wrap="square" lIns="0" tIns="0" rIns="0" bIns="0">
            <a:spAutoFit/>
          </a:bodyPr>
          <a:lstStyle/>
          <a:p>
            <a:pPr algn="ctr"/>
            <a:r>
              <a:rPr sz="1600" b="0" i="1" u="none">
                <a:solidFill>
                  <a:srgbClr val="0B2B4E"/>
                </a:solidFill>
                <a:latin typeface="Calibri"/>
              </a:rPr>
              <a:t>150</a:t>
            </a:r>
          </a:p>
        </p:txBody>
      </p:sp>
      <p:sp>
        <p:nvSpPr>
          <p:cNvPr id="48" name="TextBox 47"/>
          <p:cNvSpPr txBox="1"/>
          <p:nvPr/>
        </p:nvSpPr>
        <p:spPr>
          <a:xfrm>
            <a:off x="10966098" y="5815583"/>
            <a:ext cx="387477" cy="274320"/>
          </a:xfrm>
          <a:prstGeom prst="rect">
            <a:avLst/>
          </a:prstGeom>
          <a:noFill/>
        </p:spPr>
        <p:txBody>
          <a:bodyPr wrap="square" lIns="0" tIns="0" rIns="0" bIns="0">
            <a:spAutoFit/>
          </a:bodyPr>
          <a:lstStyle/>
          <a:p>
            <a:pPr algn="ctr"/>
            <a:r>
              <a:rPr sz="1600" b="0" i="1" u="none">
                <a:solidFill>
                  <a:srgbClr val="0B2B4E"/>
                </a:solidFill>
                <a:latin typeface="Calibri"/>
              </a:rPr>
              <a:t>200</a:t>
            </a:r>
          </a:p>
        </p:txBody>
      </p:sp>
      <p:grpSp>
        <p:nvGrpSpPr>
          <p:cNvPr id="54" name="sdpair:pnlR2"/>
          <p:cNvGrpSpPr/>
          <p:nvPr/>
        </p:nvGrpSpPr>
        <p:grpSpPr>
          <a:xfrm>
            <a:off x="7543800" y="2560319"/>
            <a:ext cx="3616036" cy="3200401"/>
            <a:chOff x="7543800" y="2560319"/>
            <a:chExt cx="3616036" cy="3200401"/>
          </a:xfrm>
        </p:grpSpPr>
        <p:sp>
          <p:nvSpPr>
            <p:cNvPr id="49" name="sdcurve:pi"/>
            <p:cNvSpPr/>
            <p:nvPr/>
          </p:nvSpPr>
          <p:spPr>
            <a:xfrm>
              <a:off x="7543800" y="3078480"/>
              <a:ext cx="3616036" cy="2438400"/>
            </a:xfrm>
            <a:custGeom>
              <a:avLst/>
              <a:gdLst/>
              <a:ahLst/>
              <a:cxnLst/>
              <a:rect l="0" t="0" r="r" b="b"/>
              <a:pathLst>
                <a:path w="3616036" h="2438400" fill="none">
                  <a:moveTo>
                    <a:pt x="0" y="2438400"/>
                  </a:moveTo>
                  <a:cubicBezTo>
                    <a:pt x="100445" y="2212622"/>
                    <a:pt x="401781" y="1444977"/>
                    <a:pt x="602672" y="1083733"/>
                  </a:cubicBezTo>
                  <a:cubicBezTo>
                    <a:pt x="803562" y="722488"/>
                    <a:pt x="1004454" y="451555"/>
                    <a:pt x="1205345" y="270933"/>
                  </a:cubicBezTo>
                  <a:cubicBezTo>
                    <a:pt x="1406236" y="90310"/>
                    <a:pt x="1607127" y="0"/>
                    <a:pt x="1808018" y="0"/>
                  </a:cubicBezTo>
                  <a:cubicBezTo>
                    <a:pt x="2008908" y="0"/>
                    <a:pt x="2209799" y="90310"/>
                    <a:pt x="2410690" y="270933"/>
                  </a:cubicBezTo>
                  <a:cubicBezTo>
                    <a:pt x="2611580" y="451555"/>
                    <a:pt x="2812472" y="722488"/>
                    <a:pt x="3013363" y="1083733"/>
                  </a:cubicBezTo>
                  <a:cubicBezTo>
                    <a:pt x="3214254" y="1444977"/>
                    <a:pt x="3515590" y="2212622"/>
                    <a:pt x="3616036" y="2438400"/>
                  </a:cubicBezTo>
                </a:path>
              </a:pathLst>
            </a:custGeom>
            <a:noFill/>
            <a:ln w="38100">
              <a:solidFill>
                <a:srgbClr val="E09F3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0" name="Connector 49"/>
            <p:cNvCxnSpPr/>
            <p:nvPr/>
          </p:nvCxnSpPr>
          <p:spPr>
            <a:xfrm flipV="1">
              <a:off x="9351818" y="2834639"/>
              <a:ext cx="0" cy="2926081"/>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7543800" y="3078480"/>
              <a:ext cx="1808018"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52" name="Oval 51"/>
            <p:cNvSpPr/>
            <p:nvPr/>
          </p:nvSpPr>
          <p:spPr>
            <a:xfrm>
              <a:off x="9283238" y="3009900"/>
              <a:ext cx="137160" cy="137160"/>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196180" y="2560319"/>
              <a:ext cx="311277" cy="256032"/>
            </a:xfrm>
            <a:prstGeom prst="rect">
              <a:avLst/>
            </a:prstGeom>
            <a:noFill/>
          </p:spPr>
          <p:txBody>
            <a:bodyPr wrap="square" lIns="0" tIns="0" rIns="0" bIns="0">
              <a:spAutoFit/>
            </a:bodyPr>
            <a:lstStyle/>
            <a:p>
              <a:pPr algn="ctr"/>
              <a:r>
                <a:rPr sz="1600" b="1" i="1" u="none">
                  <a:solidFill>
                    <a:srgbClr val="0B2B4E"/>
                  </a:solidFill>
                  <a:latin typeface="Calibri"/>
                </a:rPr>
                <a:t>Q*</a:t>
              </a:r>
            </a:p>
          </p:txBody>
        </p:sp>
      </p:grpSp>
      <p:sp>
        <p:nvSpPr>
          <p:cNvPr id="55" name="Rectangle 54"/>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5  ·  Monopoly and Monopolistic Competition</a:t>
            </a:r>
          </a:p>
        </p:txBody>
      </p:sp>
      <p:sp>
        <p:nvSpPr>
          <p:cNvPr id="58" name="TextBox 57"/>
          <p:cNvSpPr txBox="1"/>
          <p:nvPr/>
        </p:nvSpPr>
        <p:spPr>
          <a:xfrm>
            <a:off x="11475720" y="6583680"/>
            <a:ext cx="502920" cy="292608"/>
          </a:xfrm>
          <a:prstGeom prst="rect">
            <a:avLst/>
          </a:prstGeom>
          <a:noFill/>
        </p:spPr>
        <p:txBody>
          <a:bodyPr wrap="none" lIns="0" tIns="0" rIns="0" bIns="0">
            <a:spAutoFit/>
          </a:bodyPr>
          <a:lstStyle/>
          <a:p>
            <a:pPr algn="r"/>
            <a:fld id="{7A6F22D0-723E-561A-A382-778B47BF3598}" type="slidenum">
              <a:rPr lang="en-US" sz="1200" dirty="0">
                <a:solidFill>
                  <a:srgbClr val="555B66"/>
                </a:solidFill>
                <a:latin typeface="Calibri"/>
              </a:rPr>
              <a:t>18</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fade">
                                      <p:cBhvr>
                                        <p:cTn id="7"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5 · Profit Maximization for Price Searchers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Illustration Based on the Practice Video Example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NV_s10_rId4.png"/>
          <p:cNvPicPr>
            <a:picLocks noChangeAspect="1"/>
          </p:cNvPicPr>
          <p:nvPr/>
        </p:nvPicPr>
        <p:blipFill>
          <a:blip r:embed="rId3"/>
          <a:stretch>
            <a:fillRect/>
          </a:stretch>
        </p:blipFill>
        <p:spPr>
          <a:xfrm>
            <a:off x="9464040" y="1298448"/>
            <a:ext cx="2331720" cy="507225"/>
          </a:xfrm>
          <a:prstGeom prst="rect">
            <a:avLst/>
          </a:prstGeom>
        </p:spPr>
      </p:pic>
      <p:sp>
        <p:nvSpPr>
          <p:cNvPr id="8" name="Rounded Rectangle 7"/>
          <p:cNvSpPr/>
          <p:nvPr/>
        </p:nvSpPr>
        <p:spPr>
          <a:xfrm>
            <a:off x="3108960" y="1325880"/>
            <a:ext cx="5943600" cy="502920"/>
          </a:xfrm>
          <a:prstGeom prst="roundRect">
            <a:avLst>
              <a:gd name="adj" fmla="val 20000"/>
            </a:avLst>
          </a:prstGeom>
          <a:solidFill>
            <a:srgbClr val="FFFFFF"/>
          </a:solidFill>
          <a:ln w="15875">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0">
                <a:solidFill>
                  <a:srgbClr val="0B2B4E"/>
                </a:solidFill>
                <a:latin typeface="Calibri"/>
              </a:rPr>
              <a:t>Case 3: </a:t>
            </a:r>
            <a:r>
              <a:rPr sz="2200" b="1">
                <a:solidFill>
                  <a:srgbClr val="0B2B4E"/>
                </a:solidFill>
                <a:latin typeface="Calibri"/>
              </a:rPr>
              <a:t>High Fixed Cost</a:t>
            </a:r>
            <a:r>
              <a:rPr sz="2200" b="0">
                <a:solidFill>
                  <a:srgbClr val="0B2B4E"/>
                </a:solidFill>
                <a:latin typeface="Calibri"/>
              </a:rPr>
              <a:t> (Rent $3,000)</a:t>
            </a:r>
          </a:p>
        </p:txBody>
      </p:sp>
      <p:sp>
        <p:nvSpPr>
          <p:cNvPr id="9" name="sdpanelhdr:L3"/>
          <p:cNvSpPr txBox="1"/>
          <p:nvPr/>
        </p:nvSpPr>
        <p:spPr>
          <a:xfrm>
            <a:off x="822960" y="2011680"/>
            <a:ext cx="5120640" cy="329184"/>
          </a:xfrm>
          <a:prstGeom prst="rect">
            <a:avLst/>
          </a:prstGeom>
          <a:noFill/>
        </p:spPr>
        <p:txBody>
          <a:bodyPr wrap="square" lIns="0" tIns="0" rIns="0" bIns="0">
            <a:spAutoFit/>
          </a:bodyPr>
          <a:lstStyle/>
          <a:p>
            <a:pPr algn="ctr"/>
            <a:r>
              <a:rPr sz="1800" b="1" i="1" u="none">
                <a:solidFill>
                  <a:srgbClr val="0B2B4E"/>
                </a:solidFill>
                <a:latin typeface="Calibri"/>
              </a:rPr>
              <a:t>Total revenue and total cost</a:t>
            </a:r>
          </a:p>
        </p:txBody>
      </p:sp>
      <p:cxnSp>
        <p:nvCxnSpPr>
          <p:cNvPr id="10" name="sdaxis:y"/>
          <p:cNvCxnSpPr/>
          <p:nvPr/>
        </p:nvCxnSpPr>
        <p:spPr>
          <a:xfrm flipV="1">
            <a:off x="1325880" y="2670048"/>
            <a:ext cx="0" cy="2862072"/>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11" name="sdaxis:x"/>
          <p:cNvCxnSpPr/>
          <p:nvPr/>
        </p:nvCxnSpPr>
        <p:spPr>
          <a:xfrm>
            <a:off x="1325880" y="5532120"/>
            <a:ext cx="441655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2" name="sdaxistitle:y"/>
          <p:cNvSpPr txBox="1"/>
          <p:nvPr/>
        </p:nvSpPr>
        <p:spPr>
          <a:xfrm>
            <a:off x="1065275" y="2537460"/>
            <a:ext cx="187452" cy="265176"/>
          </a:xfrm>
          <a:prstGeom prst="rect">
            <a:avLst/>
          </a:prstGeom>
          <a:noFill/>
        </p:spPr>
        <p:txBody>
          <a:bodyPr wrap="square" lIns="0" tIns="0" rIns="0" bIns="0">
            <a:spAutoFit/>
          </a:bodyPr>
          <a:lstStyle/>
          <a:p>
            <a:pPr algn="l"/>
            <a:r>
              <a:rPr sz="1800" b="1" i="1" u="none">
                <a:solidFill>
                  <a:srgbClr val="0B2B4E"/>
                </a:solidFill>
                <a:latin typeface="Calibri"/>
              </a:rPr>
              <a:t>$</a:t>
            </a:r>
          </a:p>
        </p:txBody>
      </p:sp>
      <p:sp>
        <p:nvSpPr>
          <p:cNvPr id="13" name="sdaxistitle:x"/>
          <p:cNvSpPr txBox="1"/>
          <p:nvPr/>
        </p:nvSpPr>
        <p:spPr>
          <a:xfrm>
            <a:off x="5629656" y="5577840"/>
            <a:ext cx="225551" cy="265176"/>
          </a:xfrm>
          <a:prstGeom prst="rect">
            <a:avLst/>
          </a:prstGeom>
          <a:noFill/>
        </p:spPr>
        <p:txBody>
          <a:bodyPr wrap="square" lIns="0" tIns="0" rIns="0" bIns="0">
            <a:spAutoFit/>
          </a:bodyPr>
          <a:lstStyle/>
          <a:p>
            <a:pPr algn="l"/>
            <a:r>
              <a:rPr sz="1800" b="1" i="1" u="none">
                <a:solidFill>
                  <a:srgbClr val="0B2B4E"/>
                </a:solidFill>
                <a:latin typeface="Calibri"/>
              </a:rPr>
              <a:t>Q</a:t>
            </a:r>
          </a:p>
        </p:txBody>
      </p:sp>
      <p:sp>
        <p:nvSpPr>
          <p:cNvPr id="14" name="TextBox 13"/>
          <p:cNvSpPr txBox="1"/>
          <p:nvPr/>
        </p:nvSpPr>
        <p:spPr>
          <a:xfrm>
            <a:off x="970026" y="5394960"/>
            <a:ext cx="282702" cy="274320"/>
          </a:xfrm>
          <a:prstGeom prst="rect">
            <a:avLst/>
          </a:prstGeom>
          <a:noFill/>
        </p:spPr>
        <p:txBody>
          <a:bodyPr wrap="square" lIns="0" tIns="0" rIns="0" bIns="0">
            <a:spAutoFit/>
          </a:bodyPr>
          <a:lstStyle/>
          <a:p>
            <a:pPr algn="r"/>
            <a:r>
              <a:rPr sz="1600" b="0" i="1" u="none">
                <a:solidFill>
                  <a:srgbClr val="0B2B4E"/>
                </a:solidFill>
                <a:latin typeface="Calibri"/>
              </a:rPr>
              <a:t>$0</a:t>
            </a:r>
          </a:p>
        </p:txBody>
      </p:sp>
      <p:sp>
        <p:nvSpPr>
          <p:cNvPr id="15" name="TextBox 14"/>
          <p:cNvSpPr txBox="1"/>
          <p:nvPr/>
        </p:nvSpPr>
        <p:spPr>
          <a:xfrm>
            <a:off x="608076" y="4963363"/>
            <a:ext cx="644652" cy="274320"/>
          </a:xfrm>
          <a:prstGeom prst="rect">
            <a:avLst/>
          </a:prstGeom>
          <a:noFill/>
        </p:spPr>
        <p:txBody>
          <a:bodyPr wrap="square" lIns="0" tIns="0" rIns="0" bIns="0">
            <a:spAutoFit/>
          </a:bodyPr>
          <a:lstStyle/>
          <a:p>
            <a:pPr algn="r"/>
            <a:r>
              <a:rPr sz="1600" b="0" i="1" u="none">
                <a:solidFill>
                  <a:srgbClr val="0B2B4E"/>
                </a:solidFill>
                <a:latin typeface="Calibri"/>
              </a:rPr>
              <a:t>$2,000</a:t>
            </a:r>
          </a:p>
        </p:txBody>
      </p:sp>
      <p:sp>
        <p:nvSpPr>
          <p:cNvPr id="16" name="TextBox 15"/>
          <p:cNvSpPr txBox="1"/>
          <p:nvPr/>
        </p:nvSpPr>
        <p:spPr>
          <a:xfrm>
            <a:off x="608076" y="4531766"/>
            <a:ext cx="644652" cy="274320"/>
          </a:xfrm>
          <a:prstGeom prst="rect">
            <a:avLst/>
          </a:prstGeom>
          <a:noFill/>
        </p:spPr>
        <p:txBody>
          <a:bodyPr wrap="square" lIns="0" tIns="0" rIns="0" bIns="0">
            <a:spAutoFit/>
          </a:bodyPr>
          <a:lstStyle/>
          <a:p>
            <a:pPr algn="r"/>
            <a:r>
              <a:rPr sz="1600" b="0" i="1" u="none">
                <a:solidFill>
                  <a:srgbClr val="0B2B4E"/>
                </a:solidFill>
                <a:latin typeface="Calibri"/>
              </a:rPr>
              <a:t>$4,000</a:t>
            </a:r>
          </a:p>
        </p:txBody>
      </p:sp>
      <p:sp>
        <p:nvSpPr>
          <p:cNvPr id="17" name="TextBox 16"/>
          <p:cNvSpPr txBox="1"/>
          <p:nvPr/>
        </p:nvSpPr>
        <p:spPr>
          <a:xfrm>
            <a:off x="608076" y="4100169"/>
            <a:ext cx="644652" cy="274320"/>
          </a:xfrm>
          <a:prstGeom prst="rect">
            <a:avLst/>
          </a:prstGeom>
          <a:noFill/>
        </p:spPr>
        <p:txBody>
          <a:bodyPr wrap="square" lIns="0" tIns="0" rIns="0" bIns="0">
            <a:spAutoFit/>
          </a:bodyPr>
          <a:lstStyle/>
          <a:p>
            <a:pPr algn="r"/>
            <a:r>
              <a:rPr sz="1600" b="0" i="1" u="none">
                <a:solidFill>
                  <a:srgbClr val="0B2B4E"/>
                </a:solidFill>
                <a:latin typeface="Calibri"/>
              </a:rPr>
              <a:t>$6,000</a:t>
            </a:r>
          </a:p>
        </p:txBody>
      </p:sp>
      <p:sp>
        <p:nvSpPr>
          <p:cNvPr id="18" name="TextBox 17"/>
          <p:cNvSpPr txBox="1"/>
          <p:nvPr/>
        </p:nvSpPr>
        <p:spPr>
          <a:xfrm>
            <a:off x="608076" y="3668572"/>
            <a:ext cx="644652" cy="274320"/>
          </a:xfrm>
          <a:prstGeom prst="rect">
            <a:avLst/>
          </a:prstGeom>
          <a:noFill/>
        </p:spPr>
        <p:txBody>
          <a:bodyPr wrap="square" lIns="0" tIns="0" rIns="0" bIns="0">
            <a:spAutoFit/>
          </a:bodyPr>
          <a:lstStyle/>
          <a:p>
            <a:pPr algn="r"/>
            <a:r>
              <a:rPr sz="1600" b="0" i="1" u="none">
                <a:solidFill>
                  <a:srgbClr val="0B2B4E"/>
                </a:solidFill>
                <a:latin typeface="Calibri"/>
              </a:rPr>
              <a:t>$8,000</a:t>
            </a:r>
          </a:p>
        </p:txBody>
      </p:sp>
      <p:sp>
        <p:nvSpPr>
          <p:cNvPr id="19" name="TextBox 18"/>
          <p:cNvSpPr txBox="1"/>
          <p:nvPr/>
        </p:nvSpPr>
        <p:spPr>
          <a:xfrm>
            <a:off x="503301" y="3236976"/>
            <a:ext cx="749427" cy="274320"/>
          </a:xfrm>
          <a:prstGeom prst="rect">
            <a:avLst/>
          </a:prstGeom>
          <a:noFill/>
        </p:spPr>
        <p:txBody>
          <a:bodyPr wrap="square" lIns="0" tIns="0" rIns="0" bIns="0">
            <a:spAutoFit/>
          </a:bodyPr>
          <a:lstStyle/>
          <a:p>
            <a:pPr algn="r"/>
            <a:r>
              <a:rPr sz="1600" b="0" i="1" u="none">
                <a:solidFill>
                  <a:srgbClr val="0B2B4E"/>
                </a:solidFill>
                <a:latin typeface="Calibri"/>
              </a:rPr>
              <a:t>$10,000</a:t>
            </a:r>
          </a:p>
        </p:txBody>
      </p:sp>
      <p:sp>
        <p:nvSpPr>
          <p:cNvPr id="20" name="TextBox 19"/>
          <p:cNvSpPr txBox="1"/>
          <p:nvPr/>
        </p:nvSpPr>
        <p:spPr>
          <a:xfrm>
            <a:off x="503301" y="2805379"/>
            <a:ext cx="749427" cy="274320"/>
          </a:xfrm>
          <a:prstGeom prst="rect">
            <a:avLst/>
          </a:prstGeom>
          <a:noFill/>
        </p:spPr>
        <p:txBody>
          <a:bodyPr wrap="square" lIns="0" tIns="0" rIns="0" bIns="0">
            <a:spAutoFit/>
          </a:bodyPr>
          <a:lstStyle/>
          <a:p>
            <a:pPr algn="r"/>
            <a:r>
              <a:rPr sz="1600" b="0" i="1" u="none">
                <a:solidFill>
                  <a:srgbClr val="0B2B4E"/>
                </a:solidFill>
                <a:latin typeface="Calibri"/>
              </a:rPr>
              <a:t>$12,000</a:t>
            </a:r>
          </a:p>
        </p:txBody>
      </p:sp>
      <p:sp>
        <p:nvSpPr>
          <p:cNvPr id="21" name="TextBox 20"/>
          <p:cNvSpPr txBox="1"/>
          <p:nvPr/>
        </p:nvSpPr>
        <p:spPr>
          <a:xfrm>
            <a:off x="1236917" y="5586983"/>
            <a:ext cx="177927" cy="274320"/>
          </a:xfrm>
          <a:prstGeom prst="rect">
            <a:avLst/>
          </a:prstGeom>
          <a:noFill/>
        </p:spPr>
        <p:txBody>
          <a:bodyPr wrap="square" lIns="0" tIns="0" rIns="0" bIns="0">
            <a:spAutoFit/>
          </a:bodyPr>
          <a:lstStyle/>
          <a:p>
            <a:pPr algn="ctr"/>
            <a:r>
              <a:rPr sz="1600" b="0" i="1" u="none">
                <a:solidFill>
                  <a:srgbClr val="0B2B4E"/>
                </a:solidFill>
                <a:latin typeface="Calibri"/>
              </a:rPr>
              <a:t>0</a:t>
            </a:r>
          </a:p>
        </p:txBody>
      </p:sp>
      <p:sp>
        <p:nvSpPr>
          <p:cNvPr id="22" name="TextBox 21"/>
          <p:cNvSpPr txBox="1"/>
          <p:nvPr/>
        </p:nvSpPr>
        <p:spPr>
          <a:xfrm>
            <a:off x="2150883" y="5586983"/>
            <a:ext cx="282702" cy="274320"/>
          </a:xfrm>
          <a:prstGeom prst="rect">
            <a:avLst/>
          </a:prstGeom>
          <a:noFill/>
        </p:spPr>
        <p:txBody>
          <a:bodyPr wrap="square" lIns="0" tIns="0" rIns="0" bIns="0">
            <a:spAutoFit/>
          </a:bodyPr>
          <a:lstStyle/>
          <a:p>
            <a:pPr algn="ctr"/>
            <a:r>
              <a:rPr sz="1600" b="0" i="1" u="none">
                <a:solidFill>
                  <a:srgbClr val="0B2B4E"/>
                </a:solidFill>
                <a:latin typeface="Calibri"/>
              </a:rPr>
              <a:t>50</a:t>
            </a:r>
          </a:p>
        </p:txBody>
      </p:sp>
      <p:sp>
        <p:nvSpPr>
          <p:cNvPr id="23" name="TextBox 22"/>
          <p:cNvSpPr txBox="1"/>
          <p:nvPr/>
        </p:nvSpPr>
        <p:spPr>
          <a:xfrm>
            <a:off x="3064851" y="5586983"/>
            <a:ext cx="387477" cy="274320"/>
          </a:xfrm>
          <a:prstGeom prst="rect">
            <a:avLst/>
          </a:prstGeom>
          <a:noFill/>
        </p:spPr>
        <p:txBody>
          <a:bodyPr wrap="square" lIns="0" tIns="0" rIns="0" bIns="0">
            <a:spAutoFit/>
          </a:bodyPr>
          <a:lstStyle/>
          <a:p>
            <a:pPr algn="ctr"/>
            <a:r>
              <a:rPr sz="1600" b="1" i="1" u="none">
                <a:solidFill>
                  <a:srgbClr val="0B2B4E"/>
                </a:solidFill>
                <a:latin typeface="Calibri"/>
              </a:rPr>
              <a:t>100</a:t>
            </a:r>
          </a:p>
        </p:txBody>
      </p:sp>
      <p:sp>
        <p:nvSpPr>
          <p:cNvPr id="24" name="TextBox 23"/>
          <p:cNvSpPr txBox="1"/>
          <p:nvPr/>
        </p:nvSpPr>
        <p:spPr>
          <a:xfrm>
            <a:off x="4031205" y="5586983"/>
            <a:ext cx="387477" cy="274320"/>
          </a:xfrm>
          <a:prstGeom prst="rect">
            <a:avLst/>
          </a:prstGeom>
          <a:noFill/>
        </p:spPr>
        <p:txBody>
          <a:bodyPr wrap="square" lIns="0" tIns="0" rIns="0" bIns="0">
            <a:spAutoFit/>
          </a:bodyPr>
          <a:lstStyle/>
          <a:p>
            <a:pPr algn="ctr"/>
            <a:r>
              <a:rPr sz="1600" b="0" i="1" u="none">
                <a:solidFill>
                  <a:srgbClr val="0B2B4E"/>
                </a:solidFill>
                <a:latin typeface="Calibri"/>
              </a:rPr>
              <a:t>150</a:t>
            </a:r>
          </a:p>
        </p:txBody>
      </p:sp>
      <p:sp>
        <p:nvSpPr>
          <p:cNvPr id="25" name="TextBox 24"/>
          <p:cNvSpPr txBox="1"/>
          <p:nvPr/>
        </p:nvSpPr>
        <p:spPr>
          <a:xfrm>
            <a:off x="4997560" y="5586983"/>
            <a:ext cx="387477" cy="274320"/>
          </a:xfrm>
          <a:prstGeom prst="rect">
            <a:avLst/>
          </a:prstGeom>
          <a:noFill/>
        </p:spPr>
        <p:txBody>
          <a:bodyPr wrap="square" lIns="0" tIns="0" rIns="0" bIns="0">
            <a:spAutoFit/>
          </a:bodyPr>
          <a:lstStyle/>
          <a:p>
            <a:pPr algn="ctr"/>
            <a:r>
              <a:rPr sz="1600" b="0" i="1" u="none">
                <a:solidFill>
                  <a:srgbClr val="0B2B4E"/>
                </a:solidFill>
                <a:latin typeface="Calibri"/>
              </a:rPr>
              <a:t>200</a:t>
            </a:r>
          </a:p>
        </p:txBody>
      </p:sp>
      <p:grpSp>
        <p:nvGrpSpPr>
          <p:cNvPr id="32" name="sdpair:pnlL3"/>
          <p:cNvGrpSpPr/>
          <p:nvPr/>
        </p:nvGrpSpPr>
        <p:grpSpPr>
          <a:xfrm>
            <a:off x="1325880" y="2668219"/>
            <a:ext cx="4244201" cy="2863901"/>
            <a:chOff x="1325880" y="2668219"/>
            <a:chExt cx="4244201" cy="2863901"/>
          </a:xfrm>
        </p:grpSpPr>
        <p:sp>
          <p:nvSpPr>
            <p:cNvPr id="26" name="sdcurve:TR"/>
            <p:cNvSpPr/>
            <p:nvPr/>
          </p:nvSpPr>
          <p:spPr>
            <a:xfrm>
              <a:off x="1325880" y="3805732"/>
              <a:ext cx="3865418" cy="1726388"/>
            </a:xfrm>
            <a:custGeom>
              <a:avLst/>
              <a:gdLst/>
              <a:ahLst/>
              <a:cxnLst/>
              <a:rect l="0" t="0" r="r" b="b"/>
              <a:pathLst>
                <a:path w="3865418" h="1726388" fill="none">
                  <a:moveTo>
                    <a:pt x="0" y="1726388"/>
                  </a:moveTo>
                  <a:cubicBezTo>
                    <a:pt x="107372" y="1658451"/>
                    <a:pt x="429490" y="1446648"/>
                    <a:pt x="644236" y="1318768"/>
                  </a:cubicBezTo>
                  <a:cubicBezTo>
                    <a:pt x="858981" y="1190887"/>
                    <a:pt x="1073726" y="1070999"/>
                    <a:pt x="1288472" y="959104"/>
                  </a:cubicBezTo>
                  <a:cubicBezTo>
                    <a:pt x="1503217" y="847208"/>
                    <a:pt x="1717963" y="743306"/>
                    <a:pt x="1932709" y="647396"/>
                  </a:cubicBezTo>
                  <a:cubicBezTo>
                    <a:pt x="2147454" y="551485"/>
                    <a:pt x="2362199" y="463567"/>
                    <a:pt x="2576945" y="383642"/>
                  </a:cubicBezTo>
                  <a:cubicBezTo>
                    <a:pt x="2791690" y="303716"/>
                    <a:pt x="3006435" y="231784"/>
                    <a:pt x="3221181" y="167844"/>
                  </a:cubicBezTo>
                  <a:cubicBezTo>
                    <a:pt x="3435926" y="103903"/>
                    <a:pt x="3758045" y="27974"/>
                    <a:pt x="3865418" y="0"/>
                  </a:cubicBezTo>
                </a:path>
              </a:pathLst>
            </a:custGeom>
            <a:noFill/>
            <a:ln w="34925">
              <a:solidFill>
                <a:srgbClr val="C00000"/>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sdcurve:TC"/>
            <p:cNvSpPr/>
            <p:nvPr/>
          </p:nvSpPr>
          <p:spPr>
            <a:xfrm>
              <a:off x="1325880" y="3158337"/>
              <a:ext cx="3865418" cy="1726387"/>
            </a:xfrm>
            <a:custGeom>
              <a:avLst/>
              <a:gdLst/>
              <a:ahLst/>
              <a:cxnLst/>
              <a:rect l="0" t="0" r="r" b="b"/>
              <a:pathLst>
                <a:path w="3865418" h="1726387" fill="none">
                  <a:moveTo>
                    <a:pt x="0" y="1726387"/>
                  </a:moveTo>
                  <a:cubicBezTo>
                    <a:pt x="107372" y="1708403"/>
                    <a:pt x="429490" y="1666443"/>
                    <a:pt x="644236" y="1618488"/>
                  </a:cubicBezTo>
                  <a:cubicBezTo>
                    <a:pt x="858981" y="1570532"/>
                    <a:pt x="1073726" y="1510588"/>
                    <a:pt x="1288472" y="1438656"/>
                  </a:cubicBezTo>
                  <a:cubicBezTo>
                    <a:pt x="1503217" y="1366723"/>
                    <a:pt x="1717963" y="1282801"/>
                    <a:pt x="1932709" y="1186891"/>
                  </a:cubicBezTo>
                  <a:cubicBezTo>
                    <a:pt x="2147454" y="1090980"/>
                    <a:pt x="2362199" y="983082"/>
                    <a:pt x="2576945" y="863194"/>
                  </a:cubicBezTo>
                  <a:cubicBezTo>
                    <a:pt x="2791690" y="743306"/>
                    <a:pt x="3006435" y="611428"/>
                    <a:pt x="3221181" y="467563"/>
                  </a:cubicBezTo>
                  <a:cubicBezTo>
                    <a:pt x="3435926" y="323697"/>
                    <a:pt x="3758045" y="77927"/>
                    <a:pt x="3865418" y="0"/>
                  </a:cubicBezTo>
                </a:path>
              </a:pathLst>
            </a:custGeom>
            <a:noFill/>
            <a:ln w="34925">
              <a:solidFill>
                <a:srgbClr val="0B2B4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sdcurvelab:TR"/>
            <p:cNvSpPr txBox="1"/>
            <p:nvPr/>
          </p:nvSpPr>
          <p:spPr>
            <a:xfrm>
              <a:off x="5249279" y="3713378"/>
              <a:ext cx="320802" cy="292608"/>
            </a:xfrm>
            <a:prstGeom prst="rect">
              <a:avLst/>
            </a:prstGeom>
            <a:noFill/>
          </p:spPr>
          <p:txBody>
            <a:bodyPr wrap="square" lIns="0" tIns="0" rIns="0" bIns="0">
              <a:spAutoFit/>
            </a:bodyPr>
            <a:lstStyle/>
            <a:p>
              <a:pPr algn="l"/>
              <a:r>
                <a:rPr sz="1800" b="1" i="1" u="none">
                  <a:solidFill>
                    <a:srgbClr val="C00000"/>
                  </a:solidFill>
                  <a:latin typeface="Calibri"/>
                </a:rPr>
                <a:t>TR</a:t>
              </a:r>
            </a:p>
          </p:txBody>
        </p:sp>
        <p:sp>
          <p:nvSpPr>
            <p:cNvPr id="29" name="sdcurvelab:TC"/>
            <p:cNvSpPr txBox="1"/>
            <p:nvPr/>
          </p:nvSpPr>
          <p:spPr>
            <a:xfrm>
              <a:off x="5249279" y="2871764"/>
              <a:ext cx="320802" cy="292608"/>
            </a:xfrm>
            <a:prstGeom prst="rect">
              <a:avLst/>
            </a:prstGeom>
            <a:noFill/>
          </p:spPr>
          <p:txBody>
            <a:bodyPr wrap="square" lIns="0" tIns="0" rIns="0" bIns="0">
              <a:spAutoFit/>
            </a:bodyPr>
            <a:lstStyle/>
            <a:p>
              <a:pPr algn="l"/>
              <a:r>
                <a:rPr sz="1800" b="1" i="1" u="none">
                  <a:solidFill>
                    <a:srgbClr val="0B2B4E"/>
                  </a:solidFill>
                  <a:latin typeface="Calibri"/>
                </a:rPr>
                <a:t>TC</a:t>
              </a:r>
            </a:p>
          </p:txBody>
        </p:sp>
        <p:cxnSp>
          <p:nvCxnSpPr>
            <p:cNvPr id="30" name="Connector 29"/>
            <p:cNvCxnSpPr/>
            <p:nvPr/>
          </p:nvCxnSpPr>
          <p:spPr>
            <a:xfrm flipV="1">
              <a:off x="3258589" y="2942539"/>
              <a:ext cx="0" cy="2589581"/>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3102951" y="2668219"/>
              <a:ext cx="311277" cy="256032"/>
            </a:xfrm>
            <a:prstGeom prst="rect">
              <a:avLst/>
            </a:prstGeom>
            <a:noFill/>
          </p:spPr>
          <p:txBody>
            <a:bodyPr wrap="square" lIns="0" tIns="0" rIns="0" bIns="0">
              <a:spAutoFit/>
            </a:bodyPr>
            <a:lstStyle/>
            <a:p>
              <a:pPr algn="ctr"/>
              <a:r>
                <a:rPr sz="1600" b="1" i="1" u="none">
                  <a:solidFill>
                    <a:srgbClr val="0B2B4E"/>
                  </a:solidFill>
                  <a:latin typeface="Calibri"/>
                </a:rPr>
                <a:t>Q*</a:t>
              </a:r>
            </a:p>
          </p:txBody>
        </p:sp>
      </p:grpSp>
      <p:sp>
        <p:nvSpPr>
          <p:cNvPr id="33" name="sdpanelhdr:R3"/>
          <p:cNvSpPr txBox="1"/>
          <p:nvPr/>
        </p:nvSpPr>
        <p:spPr>
          <a:xfrm>
            <a:off x="6949440" y="2011680"/>
            <a:ext cx="5029200" cy="329184"/>
          </a:xfrm>
          <a:prstGeom prst="rect">
            <a:avLst/>
          </a:prstGeom>
          <a:noFill/>
        </p:spPr>
        <p:txBody>
          <a:bodyPr wrap="square" lIns="0" tIns="0" rIns="0" bIns="0">
            <a:spAutoFit/>
          </a:bodyPr>
          <a:lstStyle/>
          <a:p>
            <a:pPr algn="ctr"/>
            <a:r>
              <a:rPr sz="1800" b="1" i="1" u="none">
                <a:solidFill>
                  <a:srgbClr val="0B2B4E"/>
                </a:solidFill>
                <a:latin typeface="Calibri"/>
              </a:rPr>
              <a:t>Profit</a:t>
            </a:r>
          </a:p>
        </p:txBody>
      </p:sp>
      <p:cxnSp>
        <p:nvCxnSpPr>
          <p:cNvPr id="34" name="sdaxis:y"/>
          <p:cNvCxnSpPr/>
          <p:nvPr/>
        </p:nvCxnSpPr>
        <p:spPr>
          <a:xfrm flipV="1">
            <a:off x="7543800" y="2670048"/>
            <a:ext cx="0" cy="2862072"/>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35" name="sdaxis:x"/>
          <p:cNvCxnSpPr/>
          <p:nvPr/>
        </p:nvCxnSpPr>
        <p:spPr>
          <a:xfrm>
            <a:off x="7543800" y="3059430"/>
            <a:ext cx="414223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36" name="sdaxistitle:x"/>
          <p:cNvSpPr txBox="1"/>
          <p:nvPr/>
        </p:nvSpPr>
        <p:spPr>
          <a:xfrm>
            <a:off x="11573256" y="3105150"/>
            <a:ext cx="225551" cy="265176"/>
          </a:xfrm>
          <a:prstGeom prst="rect">
            <a:avLst/>
          </a:prstGeom>
          <a:noFill/>
        </p:spPr>
        <p:txBody>
          <a:bodyPr wrap="square" lIns="0" tIns="0" rIns="0" bIns="0">
            <a:spAutoFit/>
          </a:bodyPr>
          <a:lstStyle/>
          <a:p>
            <a:pPr algn="l"/>
            <a:r>
              <a:rPr sz="1800" b="1" i="1" u="none">
                <a:solidFill>
                  <a:srgbClr val="0B2B4E"/>
                </a:solidFill>
                <a:latin typeface="Calibri"/>
              </a:rPr>
              <a:t>Q</a:t>
            </a:r>
          </a:p>
        </p:txBody>
      </p:sp>
      <p:sp>
        <p:nvSpPr>
          <p:cNvPr id="37" name="sdaxistitle:y"/>
          <p:cNvSpPr txBox="1"/>
          <p:nvPr/>
        </p:nvSpPr>
        <p:spPr>
          <a:xfrm>
            <a:off x="7254621" y="2537460"/>
            <a:ext cx="216027" cy="265176"/>
          </a:xfrm>
          <a:prstGeom prst="rect">
            <a:avLst/>
          </a:prstGeom>
          <a:noFill/>
        </p:spPr>
        <p:txBody>
          <a:bodyPr wrap="square" lIns="0" tIns="0" rIns="0" bIns="0">
            <a:spAutoFit/>
          </a:bodyPr>
          <a:lstStyle/>
          <a:p>
            <a:pPr algn="l"/>
            <a:r>
              <a:rPr sz="1800" b="1" i="1" u="none">
                <a:solidFill>
                  <a:srgbClr val="0B2B4E"/>
                </a:solidFill>
                <a:latin typeface="Calibri"/>
              </a:rPr>
              <a:t>π</a:t>
            </a:r>
          </a:p>
        </p:txBody>
      </p:sp>
      <p:sp>
        <p:nvSpPr>
          <p:cNvPr id="38" name="TextBox 37"/>
          <p:cNvSpPr txBox="1"/>
          <p:nvPr/>
        </p:nvSpPr>
        <p:spPr>
          <a:xfrm>
            <a:off x="6730746" y="5170170"/>
            <a:ext cx="739901" cy="274320"/>
          </a:xfrm>
          <a:prstGeom prst="rect">
            <a:avLst/>
          </a:prstGeom>
          <a:noFill/>
        </p:spPr>
        <p:txBody>
          <a:bodyPr wrap="square" lIns="0" tIns="0" rIns="0" bIns="0">
            <a:spAutoFit/>
          </a:bodyPr>
          <a:lstStyle/>
          <a:p>
            <a:pPr algn="r"/>
            <a:r>
              <a:rPr sz="1600" b="0" i="1" u="none">
                <a:solidFill>
                  <a:srgbClr val="0B2B4E"/>
                </a:solidFill>
                <a:latin typeface="Calibri"/>
              </a:rPr>
              <a:t>−$3,000</a:t>
            </a:r>
          </a:p>
        </p:txBody>
      </p:sp>
      <p:sp>
        <p:nvSpPr>
          <p:cNvPr id="39" name="TextBox 38"/>
          <p:cNvSpPr txBox="1"/>
          <p:nvPr/>
        </p:nvSpPr>
        <p:spPr>
          <a:xfrm>
            <a:off x="6730746" y="4795519"/>
            <a:ext cx="739901" cy="274320"/>
          </a:xfrm>
          <a:prstGeom prst="rect">
            <a:avLst/>
          </a:prstGeom>
          <a:noFill/>
        </p:spPr>
        <p:txBody>
          <a:bodyPr wrap="square" lIns="0" tIns="0" rIns="0" bIns="0">
            <a:spAutoFit/>
          </a:bodyPr>
          <a:lstStyle/>
          <a:p>
            <a:pPr algn="r"/>
            <a:r>
              <a:rPr sz="1600" b="0" i="1" u="none">
                <a:solidFill>
                  <a:srgbClr val="0B2B4E"/>
                </a:solidFill>
                <a:latin typeface="Calibri"/>
              </a:rPr>
              <a:t>−$2,500</a:t>
            </a:r>
          </a:p>
        </p:txBody>
      </p:sp>
      <p:sp>
        <p:nvSpPr>
          <p:cNvPr id="40" name="TextBox 39"/>
          <p:cNvSpPr txBox="1"/>
          <p:nvPr/>
        </p:nvSpPr>
        <p:spPr>
          <a:xfrm>
            <a:off x="6730746" y="4420870"/>
            <a:ext cx="739901" cy="274320"/>
          </a:xfrm>
          <a:prstGeom prst="rect">
            <a:avLst/>
          </a:prstGeom>
          <a:noFill/>
        </p:spPr>
        <p:txBody>
          <a:bodyPr wrap="square" lIns="0" tIns="0" rIns="0" bIns="0">
            <a:spAutoFit/>
          </a:bodyPr>
          <a:lstStyle/>
          <a:p>
            <a:pPr algn="r"/>
            <a:r>
              <a:rPr sz="1600" b="0" i="1" u="none">
                <a:solidFill>
                  <a:srgbClr val="0B2B4E"/>
                </a:solidFill>
                <a:latin typeface="Calibri"/>
              </a:rPr>
              <a:t>−$2,000</a:t>
            </a:r>
          </a:p>
        </p:txBody>
      </p:sp>
      <p:sp>
        <p:nvSpPr>
          <p:cNvPr id="41" name="TextBox 40"/>
          <p:cNvSpPr txBox="1"/>
          <p:nvPr/>
        </p:nvSpPr>
        <p:spPr>
          <a:xfrm>
            <a:off x="6730746" y="4046220"/>
            <a:ext cx="739901" cy="274320"/>
          </a:xfrm>
          <a:prstGeom prst="rect">
            <a:avLst/>
          </a:prstGeom>
          <a:noFill/>
        </p:spPr>
        <p:txBody>
          <a:bodyPr wrap="square" lIns="0" tIns="0" rIns="0" bIns="0">
            <a:spAutoFit/>
          </a:bodyPr>
          <a:lstStyle/>
          <a:p>
            <a:pPr algn="r"/>
            <a:r>
              <a:rPr sz="1600" b="0" i="1" u="none">
                <a:solidFill>
                  <a:srgbClr val="0B2B4E"/>
                </a:solidFill>
                <a:latin typeface="Calibri"/>
              </a:rPr>
              <a:t>−$1,500</a:t>
            </a:r>
          </a:p>
        </p:txBody>
      </p:sp>
      <p:sp>
        <p:nvSpPr>
          <p:cNvPr id="42" name="TextBox 41"/>
          <p:cNvSpPr txBox="1"/>
          <p:nvPr/>
        </p:nvSpPr>
        <p:spPr>
          <a:xfrm>
            <a:off x="6730746" y="3671570"/>
            <a:ext cx="739901" cy="274320"/>
          </a:xfrm>
          <a:prstGeom prst="rect">
            <a:avLst/>
          </a:prstGeom>
          <a:noFill/>
        </p:spPr>
        <p:txBody>
          <a:bodyPr wrap="square" lIns="0" tIns="0" rIns="0" bIns="0">
            <a:spAutoFit/>
          </a:bodyPr>
          <a:lstStyle/>
          <a:p>
            <a:pPr algn="r"/>
            <a:r>
              <a:rPr sz="1600" b="0" i="1" u="none">
                <a:solidFill>
                  <a:srgbClr val="0B2B4E"/>
                </a:solidFill>
                <a:latin typeface="Calibri"/>
              </a:rPr>
              <a:t>−$1,000</a:t>
            </a:r>
          </a:p>
        </p:txBody>
      </p:sp>
      <p:sp>
        <p:nvSpPr>
          <p:cNvPr id="43" name="TextBox 42"/>
          <p:cNvSpPr txBox="1"/>
          <p:nvPr/>
        </p:nvSpPr>
        <p:spPr>
          <a:xfrm>
            <a:off x="6883146" y="3296920"/>
            <a:ext cx="587502" cy="274320"/>
          </a:xfrm>
          <a:prstGeom prst="rect">
            <a:avLst/>
          </a:prstGeom>
          <a:noFill/>
        </p:spPr>
        <p:txBody>
          <a:bodyPr wrap="square" lIns="0" tIns="0" rIns="0" bIns="0">
            <a:spAutoFit/>
          </a:bodyPr>
          <a:lstStyle/>
          <a:p>
            <a:pPr algn="r"/>
            <a:r>
              <a:rPr sz="1600" b="1" i="1" u="none">
                <a:solidFill>
                  <a:srgbClr val="0B2B4E"/>
                </a:solidFill>
                <a:latin typeface="Calibri"/>
              </a:rPr>
              <a:t>−$500</a:t>
            </a:r>
          </a:p>
        </p:txBody>
      </p:sp>
      <p:sp>
        <p:nvSpPr>
          <p:cNvPr id="44" name="TextBox 43"/>
          <p:cNvSpPr txBox="1"/>
          <p:nvPr/>
        </p:nvSpPr>
        <p:spPr>
          <a:xfrm>
            <a:off x="7187946" y="2922270"/>
            <a:ext cx="282702" cy="274320"/>
          </a:xfrm>
          <a:prstGeom prst="rect">
            <a:avLst/>
          </a:prstGeom>
          <a:noFill/>
        </p:spPr>
        <p:txBody>
          <a:bodyPr wrap="square" lIns="0" tIns="0" rIns="0" bIns="0">
            <a:spAutoFit/>
          </a:bodyPr>
          <a:lstStyle/>
          <a:p>
            <a:pPr algn="r"/>
            <a:r>
              <a:rPr sz="1600" b="0" i="1" u="none">
                <a:solidFill>
                  <a:srgbClr val="0B2B4E"/>
                </a:solidFill>
                <a:latin typeface="Calibri"/>
              </a:rPr>
              <a:t>$0</a:t>
            </a:r>
          </a:p>
        </p:txBody>
      </p:sp>
      <p:sp>
        <p:nvSpPr>
          <p:cNvPr id="45" name="TextBox 44"/>
          <p:cNvSpPr txBox="1"/>
          <p:nvPr/>
        </p:nvSpPr>
        <p:spPr>
          <a:xfrm>
            <a:off x="7454837" y="5586983"/>
            <a:ext cx="177927" cy="274320"/>
          </a:xfrm>
          <a:prstGeom prst="rect">
            <a:avLst/>
          </a:prstGeom>
          <a:noFill/>
        </p:spPr>
        <p:txBody>
          <a:bodyPr wrap="square" lIns="0" tIns="0" rIns="0" bIns="0">
            <a:spAutoFit/>
          </a:bodyPr>
          <a:lstStyle/>
          <a:p>
            <a:pPr algn="ctr"/>
            <a:r>
              <a:rPr sz="1600" b="0" i="1" u="none">
                <a:solidFill>
                  <a:srgbClr val="0B2B4E"/>
                </a:solidFill>
                <a:latin typeface="Calibri"/>
              </a:rPr>
              <a:t>0</a:t>
            </a:r>
          </a:p>
        </p:txBody>
      </p:sp>
      <p:sp>
        <p:nvSpPr>
          <p:cNvPr id="46" name="TextBox 45"/>
          <p:cNvSpPr txBox="1"/>
          <p:nvPr/>
        </p:nvSpPr>
        <p:spPr>
          <a:xfrm>
            <a:off x="8306458" y="5586983"/>
            <a:ext cx="282702" cy="274320"/>
          </a:xfrm>
          <a:prstGeom prst="rect">
            <a:avLst/>
          </a:prstGeom>
          <a:noFill/>
        </p:spPr>
        <p:txBody>
          <a:bodyPr wrap="square" lIns="0" tIns="0" rIns="0" bIns="0">
            <a:spAutoFit/>
          </a:bodyPr>
          <a:lstStyle/>
          <a:p>
            <a:pPr algn="ctr"/>
            <a:r>
              <a:rPr sz="1600" b="0" i="1" u="none">
                <a:solidFill>
                  <a:srgbClr val="0B2B4E"/>
                </a:solidFill>
                <a:latin typeface="Calibri"/>
              </a:rPr>
              <a:t>50</a:t>
            </a:r>
          </a:p>
        </p:txBody>
      </p:sp>
      <p:sp>
        <p:nvSpPr>
          <p:cNvPr id="47" name="TextBox 46"/>
          <p:cNvSpPr txBox="1"/>
          <p:nvPr/>
        </p:nvSpPr>
        <p:spPr>
          <a:xfrm>
            <a:off x="9158080" y="5586983"/>
            <a:ext cx="387477" cy="274320"/>
          </a:xfrm>
          <a:prstGeom prst="rect">
            <a:avLst/>
          </a:prstGeom>
          <a:noFill/>
        </p:spPr>
        <p:txBody>
          <a:bodyPr wrap="square" lIns="0" tIns="0" rIns="0" bIns="0">
            <a:spAutoFit/>
          </a:bodyPr>
          <a:lstStyle/>
          <a:p>
            <a:pPr algn="ctr"/>
            <a:r>
              <a:rPr sz="1600" b="1" i="1" u="none">
                <a:solidFill>
                  <a:srgbClr val="0B2B4E"/>
                </a:solidFill>
                <a:latin typeface="Calibri"/>
              </a:rPr>
              <a:t>100</a:t>
            </a:r>
          </a:p>
        </p:txBody>
      </p:sp>
      <p:sp>
        <p:nvSpPr>
          <p:cNvPr id="48" name="TextBox 47"/>
          <p:cNvSpPr txBox="1"/>
          <p:nvPr/>
        </p:nvSpPr>
        <p:spPr>
          <a:xfrm>
            <a:off x="10062089" y="5586983"/>
            <a:ext cx="387477" cy="274320"/>
          </a:xfrm>
          <a:prstGeom prst="rect">
            <a:avLst/>
          </a:prstGeom>
          <a:noFill/>
        </p:spPr>
        <p:txBody>
          <a:bodyPr wrap="square" lIns="0" tIns="0" rIns="0" bIns="0">
            <a:spAutoFit/>
          </a:bodyPr>
          <a:lstStyle/>
          <a:p>
            <a:pPr algn="ctr"/>
            <a:r>
              <a:rPr sz="1600" b="0" i="1" u="none">
                <a:solidFill>
                  <a:srgbClr val="0B2B4E"/>
                </a:solidFill>
                <a:latin typeface="Calibri"/>
              </a:rPr>
              <a:t>150</a:t>
            </a:r>
          </a:p>
        </p:txBody>
      </p:sp>
      <p:sp>
        <p:nvSpPr>
          <p:cNvPr id="49" name="TextBox 48"/>
          <p:cNvSpPr txBox="1"/>
          <p:nvPr/>
        </p:nvSpPr>
        <p:spPr>
          <a:xfrm>
            <a:off x="10966098" y="5586983"/>
            <a:ext cx="387477" cy="274320"/>
          </a:xfrm>
          <a:prstGeom prst="rect">
            <a:avLst/>
          </a:prstGeom>
          <a:noFill/>
        </p:spPr>
        <p:txBody>
          <a:bodyPr wrap="square" lIns="0" tIns="0" rIns="0" bIns="0">
            <a:spAutoFit/>
          </a:bodyPr>
          <a:lstStyle/>
          <a:p>
            <a:pPr algn="ctr"/>
            <a:r>
              <a:rPr sz="1600" b="0" i="1" u="none">
                <a:solidFill>
                  <a:srgbClr val="0B2B4E"/>
                </a:solidFill>
                <a:latin typeface="Calibri"/>
              </a:rPr>
              <a:t>200</a:t>
            </a:r>
          </a:p>
        </p:txBody>
      </p:sp>
      <p:grpSp>
        <p:nvGrpSpPr>
          <p:cNvPr id="55" name="sdpair:pnlR3"/>
          <p:cNvGrpSpPr/>
          <p:nvPr/>
        </p:nvGrpSpPr>
        <p:grpSpPr>
          <a:xfrm>
            <a:off x="7543800" y="2560320"/>
            <a:ext cx="3616036" cy="2971800"/>
            <a:chOff x="7543800" y="2560320"/>
            <a:chExt cx="3616036" cy="2971800"/>
          </a:xfrm>
        </p:grpSpPr>
        <p:sp>
          <p:nvSpPr>
            <p:cNvPr id="50" name="sdcurve:pi"/>
            <p:cNvSpPr/>
            <p:nvPr/>
          </p:nvSpPr>
          <p:spPr>
            <a:xfrm>
              <a:off x="7543800" y="3434080"/>
              <a:ext cx="3616036" cy="1873250"/>
            </a:xfrm>
            <a:custGeom>
              <a:avLst/>
              <a:gdLst/>
              <a:ahLst/>
              <a:cxnLst/>
              <a:rect l="0" t="0" r="r" b="b"/>
              <a:pathLst>
                <a:path w="3616036" h="1873250" fill="none">
                  <a:moveTo>
                    <a:pt x="0" y="1873250"/>
                  </a:moveTo>
                  <a:cubicBezTo>
                    <a:pt x="100445" y="1699800"/>
                    <a:pt x="401781" y="1110073"/>
                    <a:pt x="602672" y="832555"/>
                  </a:cubicBezTo>
                  <a:cubicBezTo>
                    <a:pt x="803562" y="555036"/>
                    <a:pt x="1004454" y="346897"/>
                    <a:pt x="1205345" y="208138"/>
                  </a:cubicBezTo>
                  <a:cubicBezTo>
                    <a:pt x="1406236" y="69378"/>
                    <a:pt x="1607127" y="0"/>
                    <a:pt x="1808018" y="0"/>
                  </a:cubicBezTo>
                  <a:cubicBezTo>
                    <a:pt x="2008908" y="0"/>
                    <a:pt x="2209799" y="69378"/>
                    <a:pt x="2410690" y="208138"/>
                  </a:cubicBezTo>
                  <a:cubicBezTo>
                    <a:pt x="2611580" y="346897"/>
                    <a:pt x="2812472" y="555036"/>
                    <a:pt x="3013363" y="832555"/>
                  </a:cubicBezTo>
                  <a:cubicBezTo>
                    <a:pt x="3214254" y="1110073"/>
                    <a:pt x="3515590" y="1699800"/>
                    <a:pt x="3616036" y="1873250"/>
                  </a:cubicBezTo>
                </a:path>
              </a:pathLst>
            </a:custGeom>
            <a:noFill/>
            <a:ln w="38100">
              <a:solidFill>
                <a:srgbClr val="E09F3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1" name="Connector 50"/>
            <p:cNvCxnSpPr/>
            <p:nvPr/>
          </p:nvCxnSpPr>
          <p:spPr>
            <a:xfrm flipV="1">
              <a:off x="9351818" y="2834640"/>
              <a:ext cx="0" cy="269748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7543800" y="3434080"/>
              <a:ext cx="1808018"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53" name="Oval 52"/>
            <p:cNvSpPr/>
            <p:nvPr/>
          </p:nvSpPr>
          <p:spPr>
            <a:xfrm>
              <a:off x="9283238" y="3365500"/>
              <a:ext cx="137160" cy="137160"/>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9196180" y="2560320"/>
              <a:ext cx="311277" cy="256032"/>
            </a:xfrm>
            <a:prstGeom prst="rect">
              <a:avLst/>
            </a:prstGeom>
            <a:noFill/>
          </p:spPr>
          <p:txBody>
            <a:bodyPr wrap="square" lIns="0" tIns="0" rIns="0" bIns="0">
              <a:spAutoFit/>
            </a:bodyPr>
            <a:lstStyle/>
            <a:p>
              <a:pPr algn="ctr"/>
              <a:r>
                <a:rPr sz="1600" b="1" i="1" u="none">
                  <a:solidFill>
                    <a:srgbClr val="0B2B4E"/>
                  </a:solidFill>
                  <a:latin typeface="Calibri"/>
                </a:rPr>
                <a:t>Q*</a:t>
              </a:r>
            </a:p>
          </p:txBody>
        </p:sp>
      </p:grpSp>
      <p:sp>
        <p:nvSpPr>
          <p:cNvPr id="56" name="CaseBar"/>
          <p:cNvSpPr/>
          <p:nvPr/>
        </p:nvSpPr>
        <p:spPr>
          <a:xfrm>
            <a:off x="1249527" y="5925312"/>
            <a:ext cx="9692640" cy="502920"/>
          </a:xfrm>
          <a:prstGeom prst="roundRect">
            <a:avLst>
              <a:gd name="adj" fmla="val 30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900" b="1">
                <a:solidFill>
                  <a:srgbClr val="FFFFFF"/>
                </a:solidFill>
                <a:latin typeface="Calibri"/>
              </a:rPr>
              <a:t>In all three fixed-cost cases, the profit-maximizing quantity remains the same</a:t>
            </a:r>
          </a:p>
        </p:txBody>
      </p:sp>
      <p:sp>
        <p:nvSpPr>
          <p:cNvPr id="57" name="Rectangle 5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5  ·  Monopoly and Monopolistic Competition</a:t>
            </a:r>
          </a:p>
        </p:txBody>
      </p:sp>
      <p:sp>
        <p:nvSpPr>
          <p:cNvPr id="60" name="TextBox 59"/>
          <p:cNvSpPr txBox="1"/>
          <p:nvPr/>
        </p:nvSpPr>
        <p:spPr>
          <a:xfrm>
            <a:off x="11475720" y="6583680"/>
            <a:ext cx="502920" cy="292608"/>
          </a:xfrm>
          <a:prstGeom prst="rect">
            <a:avLst/>
          </a:prstGeom>
          <a:noFill/>
        </p:spPr>
        <p:txBody>
          <a:bodyPr wrap="none" lIns="0" tIns="0" rIns="0" bIns="0">
            <a:spAutoFit/>
          </a:bodyPr>
          <a:lstStyle/>
          <a:p>
            <a:pPr algn="r"/>
            <a:fld id="{C1454909-D6FF-5F1F-980F-67DB08190285}" type="slidenum">
              <a:rPr lang="en-US" sz="1200" dirty="0">
                <a:solidFill>
                  <a:srgbClr val="555B66"/>
                </a:solidFill>
                <a:latin typeface="Calibri"/>
              </a:rPr>
              <a:t>19</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fade">
                                      <p:cBhvr>
                                        <p:cTn id="7" dur="500"/>
                                        <p:tgtEl>
                                          <p:spTgt spid="5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6"/>
                                        </p:tgtEl>
                                        <p:attrNameLst>
                                          <p:attrName>style.visibility</p:attrName>
                                        </p:attrNameLst>
                                      </p:cBhvr>
                                      <p:to>
                                        <p:strVal val="visible"/>
                                      </p:to>
                                    </p:set>
                                    <p:animEffect transition="in" filter="fade">
                                      <p:cBhvr>
                                        <p:cTn id="12"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5 · Profit Maximization for Price Searchers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Additional Exercise in the Practice Video</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NV_s10_rId4.png"/>
          <p:cNvPicPr>
            <a:picLocks noChangeAspect="1"/>
          </p:cNvPicPr>
          <p:nvPr/>
        </p:nvPicPr>
        <p:blipFill>
          <a:blip r:embed="rId3"/>
          <a:stretch>
            <a:fillRect/>
          </a:stretch>
        </p:blipFill>
        <p:spPr>
          <a:xfrm>
            <a:off x="9464040" y="1298448"/>
            <a:ext cx="2331720" cy="507225"/>
          </a:xfrm>
          <a:prstGeom prst="rect">
            <a:avLst/>
          </a:prstGeom>
        </p:spPr>
      </p:pic>
      <p:pic>
        <p:nvPicPr>
          <p:cNvPr id="8" name="Picture 7" descr="NV_liquor_license.png"/>
          <p:cNvPicPr>
            <a:picLocks noChangeAspect="1"/>
          </p:cNvPicPr>
          <p:nvPr/>
        </p:nvPicPr>
        <p:blipFill>
          <a:blip r:embed="rId4"/>
          <a:stretch>
            <a:fillRect/>
          </a:stretch>
        </p:blipFill>
        <p:spPr>
          <a:xfrm>
            <a:off x="7690104" y="2404872"/>
            <a:ext cx="4379976" cy="3270382"/>
          </a:xfrm>
          <a:prstGeom prst="roundRect">
            <a:avLst>
              <a:gd name="adj" fmla="val 8000"/>
            </a:avLst>
          </a:prstGeom>
          <a:effectLst>
            <a:outerShdw blurRad="50800" dist="38100" dir="2700000" algn="tl" rotWithShape="0">
              <a:srgbClr val="000000">
                <a:alpha val="50000"/>
              </a:srgbClr>
            </a:outerShdw>
          </a:effectLst>
        </p:spPr>
      </p:pic>
      <p:sp>
        <p:nvSpPr>
          <p:cNvPr id="9" name="TextBox 8"/>
          <p:cNvSpPr txBox="1"/>
          <p:nvPr/>
        </p:nvSpPr>
        <p:spPr>
          <a:xfrm>
            <a:off x="502920" y="2606040"/>
            <a:ext cx="6949440" cy="1097280"/>
          </a:xfrm>
          <a:prstGeom prst="rect">
            <a:avLst/>
          </a:prstGeom>
          <a:noFill/>
        </p:spPr>
        <p:txBody>
          <a:bodyPr wrap="square" lIns="0" tIns="0" rIns="0" bIns="0" anchor="ctr">
            <a:spAutoFit/>
          </a:bodyPr>
          <a:lstStyle/>
          <a:p>
            <a:pPr algn="l"/>
            <a:r>
              <a:rPr sz="3200" b="1" i="0" u="none">
                <a:solidFill>
                  <a:srgbClr val="0B2B4E"/>
                </a:solidFill>
                <a:latin typeface="Calibri"/>
              </a:rPr>
              <a:t>Should Gracias Madre buy a liquor license?</a:t>
            </a:r>
          </a:p>
        </p:txBody>
      </p:sp>
      <p:grpSp>
        <p:nvGrpSpPr>
          <p:cNvPr id="115" name="sdpair:btn:115"/>
          <p:cNvGrpSpPr/>
          <p:nvPr/>
        </p:nvGrpSpPr>
        <p:grpSpPr>
          <a:xfrm>
            <a:off x="1115568" y="4572000"/>
            <a:ext cx="5349240" cy="530352"/>
            <a:chOff x="1115568" y="4572000"/>
            <a:chExt cx="5349240" cy="530352"/>
          </a:xfrm>
        </p:grpSpPr>
        <p:sp>
          <p:nvSpPr>
            <p:cNvPr id="10" name="Rounded Rectangle 9">
              <a:hlinkClick r:id="rId5"/>
            </p:cNvPr>
            <p:cNvSpPr/>
            <p:nvPr/>
          </p:nvSpPr>
          <p:spPr>
            <a:xfrm>
              <a:off x="1115568" y="4572000"/>
              <a:ext cx="5349240" cy="530352"/>
            </a:xfrm>
            <a:prstGeom prst="roundRect">
              <a:avLst>
                <a:gd name="adj" fmla="val 28000"/>
              </a:avLst>
            </a:prstGeom>
            <a:solidFill>
              <a:srgbClr val="F1F2F4"/>
            </a:solidFill>
            <a:ln w="22225">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none" lIns="658368" tIns="0" rIns="64008" bIns="0" rtlCol="0" anchor="ctr"/>
            <a:lstStyle/>
            <a:p>
              <a:pPr algn="l"/>
              <a:r>
                <a:rPr sz="1600" b="1">
                  <a:solidFill>
                    <a:srgbClr val="0B2B4E"/>
                  </a:solidFill>
                  <a:latin typeface="Calibri"/>
                </a:rPr>
                <a:t>Practice Video: Optimization of a Price Searcher</a:t>
              </a:r>
            </a:p>
          </p:txBody>
        </p:sp>
        <p:sp>
          <p:nvSpPr>
            <p:cNvPr id="11" name="Action Button: Movie 10">
              <a:hlinkClick r:id="rId5"/>
            </p:cNvPr>
            <p:cNvSpPr/>
            <p:nvPr/>
          </p:nvSpPr>
          <p:spPr>
            <a:xfrm>
              <a:off x="1252728" y="4709160"/>
              <a:ext cx="420624" cy="256032"/>
            </a:xfrm>
            <a:prstGeom prst="actionButtonMovie">
              <a:avLst/>
            </a:prstGeom>
            <a:solidFill>
              <a:srgbClr val="0B2B4E"/>
            </a:solidFill>
            <a:ln w="15875">
              <a:solidFill>
                <a:srgbClr val="FFFFFF"/>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12" name="Rectangle 1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5  ·  Monopoly and Monopolistic Competition</a:t>
            </a:r>
          </a:p>
        </p:txBody>
      </p:sp>
      <p:sp>
        <p:nvSpPr>
          <p:cNvPr id="15" name="TextBox 14"/>
          <p:cNvSpPr txBox="1"/>
          <p:nvPr/>
        </p:nvSpPr>
        <p:spPr>
          <a:xfrm>
            <a:off x="11475720" y="6583680"/>
            <a:ext cx="502920" cy="292608"/>
          </a:xfrm>
          <a:prstGeom prst="rect">
            <a:avLst/>
          </a:prstGeom>
          <a:noFill/>
        </p:spPr>
        <p:txBody>
          <a:bodyPr wrap="none" lIns="0" tIns="0" rIns="0" bIns="0">
            <a:spAutoFit/>
          </a:bodyPr>
          <a:lstStyle/>
          <a:p>
            <a:pPr algn="r"/>
            <a:fld id="{94EC799B-974A-5988-A91E-35B1A66E405C}" type="slidenum">
              <a:rPr lang="en-US" sz="1200" dirty="0">
                <a:solidFill>
                  <a:srgbClr val="555B66"/>
                </a:solidFill>
                <a:latin typeface="Calibri"/>
              </a:rPr>
              <a:t>20</a:t>
            </a:fld>
            <a:endParaRPr lang="en-US" sz="1200" dirty="0">
              <a:solidFill>
                <a:srgbClr val="555B66"/>
              </a:solidFill>
              <a:latin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5 · Agenda</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Outline of Module 5</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1560" y="1929384"/>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1</a:t>
            </a:r>
          </a:p>
        </p:txBody>
      </p:sp>
      <p:sp>
        <p:nvSpPr>
          <p:cNvPr id="8" name="Rounded Rectangle 7"/>
          <p:cNvSpPr/>
          <p:nvPr/>
        </p:nvSpPr>
        <p:spPr>
          <a:xfrm>
            <a:off x="10332720" y="2057400"/>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In class</a:t>
            </a:r>
          </a:p>
        </p:txBody>
      </p:sp>
      <p:sp>
        <p:nvSpPr>
          <p:cNvPr id="9" name="TextBox 8"/>
          <p:cNvSpPr txBox="1"/>
          <p:nvPr/>
        </p:nvSpPr>
        <p:spPr>
          <a:xfrm>
            <a:off x="1874519" y="2084832"/>
            <a:ext cx="8293609" cy="731520"/>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0B2B4E"/>
              </a:buClr>
              <a:buFont typeface="Calibri"/>
              <a:buChar char="–"/>
              <a:defRPr sz="2100" b="0">
                <a:solidFill>
                  <a:srgbClr val="0B2B4E"/>
                </a:solidFill>
                <a:latin typeface="Calibri"/>
              </a:defRPr>
            </a:lvl2pPr>
          </a:lstStyle>
          <a:p>
            <a:pPr algn="l">
              <a:buNone/>
            </a:pPr>
            <a:r>
              <a:rPr sz="2500" b="1">
                <a:solidFill>
                  <a:srgbClr val="BFBFBF"/>
                </a:solidFill>
                <a:latin typeface="Calibri"/>
              </a:rPr>
              <a:t>Profit Maximization for Price Searchers</a:t>
            </a:r>
          </a:p>
        </p:txBody>
      </p:sp>
      <p:sp>
        <p:nvSpPr>
          <p:cNvPr id="10" name="Rounded Rectangle 9"/>
          <p:cNvSpPr/>
          <p:nvPr/>
        </p:nvSpPr>
        <p:spPr>
          <a:xfrm>
            <a:off x="1252728" y="2688336"/>
            <a:ext cx="10680192" cy="841248"/>
          </a:xfrm>
          <a:prstGeom prst="roundRect">
            <a:avLst>
              <a:gd name="adj" fmla="val 35000"/>
            </a:avLst>
          </a:prstGeom>
          <a:solidFill>
            <a:srgbClr val="FDF6E6"/>
          </a:solidFill>
          <a:ln w="127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481328" y="2798064"/>
            <a:ext cx="438912" cy="43891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0B2B4E"/>
                </a:solidFill>
                <a:latin typeface="Calibri"/>
              </a:rPr>
              <a:t>1b</a:t>
            </a:r>
          </a:p>
        </p:txBody>
      </p:sp>
      <p:sp>
        <p:nvSpPr>
          <p:cNvPr id="12" name="Rounded Rectangle 11"/>
          <p:cNvSpPr/>
          <p:nvPr/>
        </p:nvSpPr>
        <p:spPr>
          <a:xfrm>
            <a:off x="10707625" y="2889504"/>
            <a:ext cx="1042415" cy="329184"/>
          </a:xfrm>
          <a:prstGeom prst="roundRect">
            <a:avLst>
              <a:gd name="adj" fmla="val 30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In class</a:t>
            </a:r>
          </a:p>
        </p:txBody>
      </p:sp>
      <p:sp>
        <p:nvSpPr>
          <p:cNvPr id="13" name="TextBox 12"/>
          <p:cNvSpPr txBox="1"/>
          <p:nvPr/>
        </p:nvSpPr>
        <p:spPr>
          <a:xfrm>
            <a:off x="2084831" y="2743200"/>
            <a:ext cx="8458202" cy="731520"/>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300" b="0">
                <a:solidFill>
                  <a:srgbClr val="0B2B4E"/>
                </a:solidFill>
                <a:latin typeface="Calibri"/>
              </a:defRPr>
            </a:lvl1pPr>
            <a:lvl2pPr marL="685800" indent="-228600">
              <a:spcBef>
                <a:spcPts val="300"/>
              </a:spcBef>
              <a:buClr>
                <a:srgbClr val="0B2B4E"/>
              </a:buClr>
              <a:buFont typeface="Calibri"/>
              <a:buChar char="–"/>
              <a:defRPr sz="1900" b="0">
                <a:solidFill>
                  <a:srgbClr val="0B2B4E"/>
                </a:solidFill>
                <a:latin typeface="Calibri"/>
              </a:defRPr>
            </a:lvl2pPr>
          </a:lstStyle>
          <a:p>
            <a:pPr algn="l">
              <a:buNone/>
            </a:pPr>
            <a:r>
              <a:rPr sz="2300" b="1">
                <a:solidFill>
                  <a:srgbClr val="0B2B4E"/>
                </a:solidFill>
                <a:latin typeface="Calibri"/>
              </a:rPr>
              <a:t>Markup and Lerner Index</a:t>
            </a:r>
          </a:p>
          <a:p>
            <a:pPr algn="l">
              <a:spcBef>
                <a:spcPts val="0"/>
              </a:spcBef>
              <a:buNone/>
            </a:pPr>
            <a:r>
              <a:rPr sz="2200">
                <a:solidFill>
                  <a:srgbClr val="555B66"/>
                </a:solidFill>
                <a:latin typeface="Calibri"/>
              </a:rPr>
              <a:t>How far price sits above marginal cost</a:t>
            </a:r>
          </a:p>
        </p:txBody>
      </p:sp>
      <p:sp>
        <p:nvSpPr>
          <p:cNvPr id="14" name="Oval 13"/>
          <p:cNvSpPr/>
          <p:nvPr/>
        </p:nvSpPr>
        <p:spPr>
          <a:xfrm>
            <a:off x="1051560" y="3593592"/>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2</a:t>
            </a:r>
          </a:p>
        </p:txBody>
      </p:sp>
      <p:sp>
        <p:nvSpPr>
          <p:cNvPr id="15" name="Rounded Rectangle 14"/>
          <p:cNvSpPr/>
          <p:nvPr/>
        </p:nvSpPr>
        <p:spPr>
          <a:xfrm>
            <a:off x="10332720" y="3721608"/>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In class</a:t>
            </a:r>
          </a:p>
        </p:txBody>
      </p:sp>
      <p:sp>
        <p:nvSpPr>
          <p:cNvPr id="16" name="TextBox 15"/>
          <p:cNvSpPr txBox="1"/>
          <p:nvPr/>
        </p:nvSpPr>
        <p:spPr>
          <a:xfrm>
            <a:off x="1874519" y="3749040"/>
            <a:ext cx="8293609" cy="731520"/>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0B2B4E"/>
              </a:buClr>
              <a:buFont typeface="Calibri"/>
              <a:buChar char="–"/>
              <a:defRPr sz="2100" b="0">
                <a:solidFill>
                  <a:srgbClr val="0B2B4E"/>
                </a:solidFill>
                <a:latin typeface="Calibri"/>
              </a:defRPr>
            </a:lvl2pPr>
          </a:lstStyle>
          <a:p>
            <a:pPr algn="l">
              <a:buNone/>
            </a:pPr>
            <a:r>
              <a:rPr sz="2500" b="1">
                <a:solidFill>
                  <a:srgbClr val="BFBFBF"/>
                </a:solidFill>
                <a:latin typeface="Calibri"/>
              </a:rPr>
              <a:t>Monopoly and Welfare Impact</a:t>
            </a:r>
          </a:p>
        </p:txBody>
      </p:sp>
      <p:sp>
        <p:nvSpPr>
          <p:cNvPr id="17" name="Oval 16"/>
          <p:cNvSpPr/>
          <p:nvPr/>
        </p:nvSpPr>
        <p:spPr>
          <a:xfrm>
            <a:off x="1051560" y="442569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3</a:t>
            </a:r>
          </a:p>
        </p:txBody>
      </p:sp>
      <p:sp>
        <p:nvSpPr>
          <p:cNvPr id="18" name="Rounded Rectangle 17"/>
          <p:cNvSpPr/>
          <p:nvPr/>
        </p:nvSpPr>
        <p:spPr>
          <a:xfrm>
            <a:off x="10332720" y="4553712"/>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In class</a:t>
            </a:r>
          </a:p>
        </p:txBody>
      </p:sp>
      <p:sp>
        <p:nvSpPr>
          <p:cNvPr id="19" name="TextBox 18"/>
          <p:cNvSpPr txBox="1"/>
          <p:nvPr/>
        </p:nvSpPr>
        <p:spPr>
          <a:xfrm>
            <a:off x="1874519" y="4581144"/>
            <a:ext cx="8293609" cy="731520"/>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0B2B4E"/>
              </a:buClr>
              <a:buFont typeface="Calibri"/>
              <a:buChar char="–"/>
              <a:defRPr sz="2100" b="0">
                <a:solidFill>
                  <a:srgbClr val="0B2B4E"/>
                </a:solidFill>
                <a:latin typeface="Calibri"/>
              </a:defRPr>
            </a:lvl2pPr>
          </a:lstStyle>
          <a:p>
            <a:pPr algn="l">
              <a:buNone/>
            </a:pPr>
            <a:r>
              <a:rPr sz="2500" b="1">
                <a:solidFill>
                  <a:srgbClr val="BFBFBF"/>
                </a:solidFill>
                <a:latin typeface="Calibri"/>
              </a:rPr>
              <a:t>Rising Market Power and Regulations</a:t>
            </a:r>
          </a:p>
        </p:txBody>
      </p:sp>
      <p:sp>
        <p:nvSpPr>
          <p:cNvPr id="20" name="Oval 19"/>
          <p:cNvSpPr/>
          <p:nvPr/>
        </p:nvSpPr>
        <p:spPr>
          <a:xfrm>
            <a:off x="1051560" y="525780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4</a:t>
            </a:r>
          </a:p>
        </p:txBody>
      </p:sp>
      <p:sp>
        <p:nvSpPr>
          <p:cNvPr id="21" name="Rounded Rectangle 20"/>
          <p:cNvSpPr/>
          <p:nvPr/>
        </p:nvSpPr>
        <p:spPr>
          <a:xfrm>
            <a:off x="10332720" y="5385816"/>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In class</a:t>
            </a:r>
          </a:p>
        </p:txBody>
      </p:sp>
      <p:sp>
        <p:nvSpPr>
          <p:cNvPr id="22" name="TextBox 21"/>
          <p:cNvSpPr txBox="1"/>
          <p:nvPr/>
        </p:nvSpPr>
        <p:spPr>
          <a:xfrm>
            <a:off x="1874519" y="5413248"/>
            <a:ext cx="8293609" cy="731520"/>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0B2B4E"/>
              </a:buClr>
              <a:buFont typeface="Calibri"/>
              <a:buChar char="–"/>
              <a:defRPr sz="2100" b="0">
                <a:solidFill>
                  <a:srgbClr val="0B2B4E"/>
                </a:solidFill>
                <a:latin typeface="Calibri"/>
              </a:defRPr>
            </a:lvl2pPr>
          </a:lstStyle>
          <a:p>
            <a:pPr algn="l">
              <a:buNone/>
            </a:pPr>
            <a:r>
              <a:rPr sz="2500" b="1">
                <a:solidFill>
                  <a:srgbClr val="BFBFBF"/>
                </a:solidFill>
                <a:latin typeface="Calibri"/>
              </a:rPr>
              <a:t>Monopolistic Competition</a:t>
            </a:r>
          </a:p>
        </p:txBody>
      </p:sp>
      <p:sp>
        <p:nvSpPr>
          <p:cNvPr id="23" name="Rectangle 2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5  ·  Monopoly and Monopolistic Competition</a:t>
            </a:r>
          </a:p>
        </p:txBody>
      </p:sp>
      <p:sp>
        <p:nvSpPr>
          <p:cNvPr id="26" name="TextBox 25"/>
          <p:cNvSpPr txBox="1"/>
          <p:nvPr/>
        </p:nvSpPr>
        <p:spPr>
          <a:xfrm>
            <a:off x="11475720" y="6583680"/>
            <a:ext cx="502920" cy="292608"/>
          </a:xfrm>
          <a:prstGeom prst="rect">
            <a:avLst/>
          </a:prstGeom>
          <a:noFill/>
        </p:spPr>
        <p:txBody>
          <a:bodyPr wrap="none" lIns="0" tIns="0" rIns="0" bIns="0">
            <a:spAutoFit/>
          </a:bodyPr>
          <a:lstStyle/>
          <a:p>
            <a:pPr algn="r"/>
            <a:fld id="{95394DCA-4CDA-5B1D-BE09-0AD834A5DD78}" type="slidenum">
              <a:rPr lang="en-US" sz="1200" dirty="0">
                <a:solidFill>
                  <a:srgbClr val="555B66"/>
                </a:solidFill>
                <a:latin typeface="Calibri"/>
              </a:rPr>
              <a:t>21</a:t>
            </a:fld>
            <a:endParaRPr lang="en-US" sz="1200" dirty="0">
              <a:solidFill>
                <a:srgbClr val="555B66"/>
              </a:solidFill>
              <a:latin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5 · Markup and Lerner Index</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Markup and the Lerner Index</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7" name="TextBox 6"/>
              <p:cNvSpPr txBox="1"/>
              <p:nvPr/>
            </p:nvSpPr>
            <p:spPr>
              <a:xfrm>
                <a:off x="484632" y="1371600"/>
                <a:ext cx="11228832" cy="1783080"/>
              </a:xfrm>
              <a:prstGeom prst="rect">
                <a:avLst/>
              </a:prstGeom>
              <a:noFill/>
            </p:spPr>
            <p:txBody>
              <a:bodyPr wrap="square" lIns="0" tIns="0" rIns="0" bIns="0">
                <a:noAutofit/>
              </a:bodyPr>
              <a:lstStyle>
                <a:lvl1pPr marL="342900" indent="-342900">
                  <a:spcBef>
                    <a:spcPts val="1000"/>
                  </a:spcBef>
                  <a:buClr>
                    <a:srgbClr val="0B2B4E"/>
                  </a:buClr>
                  <a:buFont typeface="Calibri"/>
                  <a:buChar char="▪"/>
                  <a:defRPr sz="2400" b="0">
                    <a:solidFill>
                      <a:srgbClr val="0B2B4E"/>
                    </a:solidFill>
                    <a:latin typeface="Calibri"/>
                  </a:defRPr>
                </a:lvl1pPr>
                <a:lvl2pPr marL="685800" indent="-228600">
                  <a:spcBef>
                    <a:spcPts val="300"/>
                  </a:spcBef>
                  <a:buClr>
                    <a:srgbClr val="0B2B4E"/>
                  </a:buClr>
                  <a:buFont typeface="Calibri"/>
                  <a:buChar char="–"/>
                  <a:defRPr sz="2200" b="0">
                    <a:solidFill>
                      <a:srgbClr val="0B2B4E"/>
                    </a:solidFill>
                    <a:latin typeface="Calibri"/>
                  </a:defRPr>
                </a:lvl2pPr>
              </a:lstStyle>
              <a:p>
                <a:pPr algn="l"/>
                <a:r>
                  <a:rPr>
                    <a:latin typeface="Calibri"/>
                  </a:rPr>
                  <a:t>A firm charges a markup if its price is above its marginal cost (</a:t>
                </a:r>
                <a14:m>
                  <m:oMath xmlns:m="http://schemas.openxmlformats.org/officeDocument/2006/math">
                    <m:r>
                      <a:rPr lang="en-US" sz="2400" b="0" i="1">
                        <a:solidFill>
                          <a:srgbClr val="0B2B4E"/>
                        </a:solidFill>
                        <a:latin typeface="Cambria Math"/>
                        <a:ea typeface="Cambria Math"/>
                      </a:rPr>
                      <m:t>𝑃</m:t>
                    </m:r>
                    <m:r>
                      <a:rPr lang="en-US" sz="2400" b="0" i="0">
                        <a:solidFill>
                          <a:srgbClr val="0B2B4E"/>
                        </a:solidFill>
                        <a:latin typeface="Cambria Math"/>
                      </a:rPr>
                      <m:t> &gt; </m:t>
                    </m:r>
                    <m:r>
                      <m:rPr>
                        <m:sty m:val="p"/>
                      </m:rPr>
                      <a:rPr lang="en-US" sz="2400" b="0" i="0">
                        <a:solidFill>
                          <a:srgbClr val="0B2B4E"/>
                        </a:solidFill>
                        <a:latin typeface="Cambria Math"/>
                      </a:rPr>
                      <m:t>MC</m:t>
                    </m:r>
                  </m:oMath>
                </a14:m>
                <a:r>
                  <a:rPr>
                    <a:latin typeface="Calibri"/>
                  </a:rPr>
                  <a:t>)</a:t>
                </a:r>
              </a:p>
              <a:p>
                <a:pPr lvl="1" algn="l"/>
                <a:r>
                  <a:rPr>
                    <a:latin typeface="Calibri"/>
                  </a:rPr>
                  <a:t>A common definition is Markup = </a:t>
                </a:r>
                <a14:m>
                  <m:oMath xmlns:m="http://schemas.openxmlformats.org/officeDocument/2006/math">
                    <m:f>
                      <m:fPr>
                        <m:ctrlPr>
                          <a:rPr lang="en-US" sz="2200" b="0" i="1">
                            <a:solidFill>
                              <a:srgbClr val="0B2B4E"/>
                            </a:solidFill>
                            <a:latin typeface="Cambria Math"/>
                            <a:ea typeface="Cambria Math"/>
                          </a:rPr>
                        </m:ctrlPr>
                      </m:fPr>
                      <m:num>
                        <m:r>
                          <a:rPr lang="en-US" sz="2200" b="0" i="1">
                            <a:solidFill>
                              <a:srgbClr val="0B2B4E"/>
                            </a:solidFill>
                            <a:latin typeface="Cambria Math"/>
                            <a:ea typeface="Cambria Math"/>
                          </a:rPr>
                          <m:t>𝑃</m:t>
                        </m:r>
                      </m:num>
                      <m:den>
                        <m:r>
                          <m:rPr>
                            <m:sty m:val="p"/>
                          </m:rPr>
                          <a:rPr lang="en-US" sz="2200" b="0" i="0">
                            <a:solidFill>
                              <a:srgbClr val="0B2B4E"/>
                            </a:solidFill>
                            <a:latin typeface="Cambria Math"/>
                          </a:rPr>
                          <m:t>MC</m:t>
                        </m:r>
                      </m:den>
                    </m:f>
                  </m:oMath>
                </a14:m>
                <a:endParaRPr>
                  <a:latin typeface="Calibri"/>
                </a:endParaRPr>
              </a:p>
              <a:p>
                <a:pPr algn="l"/>
                <a:r>
                  <a:rPr>
                    <a:latin typeface="Calibri"/>
                  </a:rPr>
                  <a:t>We will follow the textbook and use the </a:t>
                </a:r>
                <a:r>
                  <a:rPr b="1">
                    <a:solidFill>
                      <a:srgbClr val="0070C0"/>
                    </a:solidFill>
                    <a:latin typeface="Calibri"/>
                  </a:rPr>
                  <a:t>Lerner Index</a:t>
                </a:r>
                <a:r>
                  <a:rPr>
                    <a:latin typeface="Calibri"/>
                  </a:rPr>
                  <a:t>: a measure of the market power of a firm:</a:t>
                </a:r>
              </a:p>
            </p:txBody>
          </p:sp>
        </mc:Choice>
        <mc:Fallback xmlns="">
          <p:sp>
            <p:nvSpPr>
              <p:cNvPr id="7" name="TextBox 6"/>
              <p:cNvSpPr txBox="1">
                <a:spLocks noRot="1" noChangeAspect="1" noMove="1" noResize="1" noEditPoints="1" noAdjustHandles="1" noChangeArrowheads="1" noChangeShapeType="1" noTextEdit="1"/>
              </p:cNvSpPr>
              <p:nvPr/>
            </p:nvSpPr>
            <p:spPr>
              <a:xfrm>
                <a:off x="484632" y="1371600"/>
                <a:ext cx="11228832" cy="1783080"/>
              </a:xfrm>
              <a:prstGeom prst="rect">
                <a:avLst/>
              </a:prstGeom>
              <a:blipFill>
                <a:blip r:embed="rId3"/>
                <a:stretch>
                  <a:fillRect l="-1683" t="-5802" b="-7509"/>
                </a:stretch>
              </a:blipFill>
            </p:spPr>
            <p:txBody>
              <a:bodyPr/>
              <a:lstStyle/>
              <a:p>
                <a:r>
                  <a:rPr lang="en-US">
                    <a:noFill/>
                  </a:rPr>
                  <a:t> </a:t>
                </a:r>
              </a:p>
            </p:txBody>
          </p:sp>
        </mc:Fallback>
      </mc:AlternateContent>
      <p:grpSp>
        <p:nvGrpSpPr>
          <p:cNvPr id="10" name="LernerBox"/>
          <p:cNvGrpSpPr/>
          <p:nvPr/>
        </p:nvGrpSpPr>
        <p:grpSpPr>
          <a:xfrm>
            <a:off x="3703320" y="3182112"/>
            <a:ext cx="4800600" cy="868680"/>
            <a:chOff x="3703320" y="3182112"/>
            <a:chExt cx="4800600" cy="868680"/>
          </a:xfrm>
        </p:grpSpPr>
        <p:sp>
          <p:nvSpPr>
            <p:cNvPr id="8" name="Rounded Rectangle 7"/>
            <p:cNvSpPr/>
            <p:nvPr/>
          </p:nvSpPr>
          <p:spPr>
            <a:xfrm>
              <a:off x="3703320" y="3182112"/>
              <a:ext cx="4800600" cy="868680"/>
            </a:xfrm>
            <a:prstGeom prst="roundRect">
              <a:avLst>
                <a:gd name="adj" fmla="val 12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mc:AlternateContent xmlns:mc="http://schemas.openxmlformats.org/markup-compatibility/2006" xmlns:a14="http://schemas.microsoft.com/office/drawing/2010/main">
          <mc:Choice Requires="a14">
            <p:sp>
              <p:nvSpPr>
                <p:cNvPr id="9" name="TextBox 8"/>
                <p:cNvSpPr txBox="1"/>
                <p:nvPr/>
              </p:nvSpPr>
              <p:spPr>
                <a:xfrm>
                  <a:off x="3794759" y="3227832"/>
                  <a:ext cx="4617720" cy="777240"/>
                </a:xfrm>
                <a:prstGeom prst="rect">
                  <a:avLst/>
                </a:prstGeom>
                <a:noFill/>
              </p:spPr>
              <p:txBody>
                <a:bodyPr wrap="square" anchor="ctr">
                  <a:spAutoFit/>
                </a:bodyPr>
                <a:lstStyle/>
                <a:p>
                  <a:pPr algn="ctr">
                    <a:defRPr sz="2800" b="0" i="1">
                      <a:solidFill>
                        <a:srgbClr val="FFFFFF"/>
                      </a:solidFill>
                      <a:latin typeface="Cambria Math"/>
                    </a:defRPr>
                  </a:pPr>
                  <a14:m>
                    <m:oMathPara xmlns:m="http://schemas.openxmlformats.org/officeDocument/2006/math">
                      <m:oMath>
                        <m:r>
                          <m:rPr>
                            <m:sty m:val="p"/>
                          </m:rPr>
                          <a:rPr lang="en-US" sz="2800" b="0" i="0">
                            <a:solidFill>
                              <a:srgbClr val="FFFFFF"/>
                            </a:solidFill>
                            <a:latin typeface="Cambria Math"/>
                          </a:rPr>
                          <m:t>Lerner</m:t>
                        </m:r>
                        <m:r>
                          <a:rPr lang="en-US" sz="2800" b="0" i="0">
                            <a:solidFill>
                              <a:srgbClr val="FFFFFF"/>
                            </a:solidFill>
                            <a:latin typeface="Cambria Math"/>
                          </a:rPr>
                          <m:t> </m:t>
                        </m:r>
                        <m:r>
                          <m:rPr>
                            <m:sty m:val="p"/>
                          </m:rPr>
                          <a:rPr lang="en-US" sz="2800" b="0" i="0">
                            <a:solidFill>
                              <a:srgbClr val="FFFFFF"/>
                            </a:solidFill>
                            <a:latin typeface="Cambria Math"/>
                          </a:rPr>
                          <m:t>Index</m:t>
                        </m:r>
                        <m:r>
                          <a:rPr lang="en-US" sz="2800" b="0" i="0">
                            <a:solidFill>
                              <a:srgbClr val="FFFFFF"/>
                            </a:solidFill>
                            <a:latin typeface="Cambria Math"/>
                          </a:rPr>
                          <m:t> = </m:t>
                        </m:r>
                        <m:f>
                          <m:fPr>
                            <m:ctrlPr>
                              <a:rPr lang="en-US" sz="2800" b="0" i="1">
                                <a:solidFill>
                                  <a:srgbClr val="FFFFFF"/>
                                </a:solidFill>
                                <a:latin typeface="Cambria Math"/>
                                <a:ea typeface="Cambria Math"/>
                              </a:rPr>
                            </m:ctrlPr>
                          </m:fPr>
                          <m:num>
                            <m:r>
                              <a:rPr lang="en-US" sz="2800" b="0" i="1">
                                <a:solidFill>
                                  <a:srgbClr val="FFFFFF"/>
                                </a:solidFill>
                                <a:latin typeface="Cambria Math"/>
                                <a:ea typeface="Cambria Math"/>
                              </a:rPr>
                              <m:t>𝑃</m:t>
                            </m:r>
                            <m:r>
                              <a:rPr lang="en-US" sz="2800" b="0" i="0">
                                <a:solidFill>
                                  <a:srgbClr val="FFFFFF"/>
                                </a:solidFill>
                                <a:latin typeface="Cambria Math"/>
                              </a:rPr>
                              <m:t> − </m:t>
                            </m:r>
                            <m:r>
                              <m:rPr>
                                <m:sty m:val="p"/>
                              </m:rPr>
                              <a:rPr lang="en-US" sz="2800" b="0" i="0">
                                <a:solidFill>
                                  <a:srgbClr val="FFFFFF"/>
                                </a:solidFill>
                                <a:latin typeface="Cambria Math"/>
                              </a:rPr>
                              <m:t>MC</m:t>
                            </m:r>
                          </m:num>
                          <m:den>
                            <m:r>
                              <a:rPr lang="en-US" sz="2800" b="0" i="1">
                                <a:solidFill>
                                  <a:srgbClr val="FFFFFF"/>
                                </a:solidFill>
                                <a:latin typeface="Cambria Math"/>
                                <a:ea typeface="Cambria Math"/>
                              </a:rPr>
                              <m:t>𝑃</m:t>
                            </m:r>
                          </m:den>
                        </m:f>
                      </m:oMath>
                    </m:oMathPara>
                  </a14:m>
                  <a:endParaRPr lang="en-US" sz="2800"/>
                </a:p>
              </p:txBody>
            </p:sp>
          </mc:Choice>
          <mc:Fallback xmlns="">
            <p:sp>
              <p:nvSpPr>
                <p:cNvPr id="9" name="TextBox 8"/>
                <p:cNvSpPr txBox="1">
                  <a:spLocks noRot="1" noChangeAspect="1" noMove="1" noResize="1" noEditPoints="1" noAdjustHandles="1" noChangeArrowheads="1" noChangeShapeType="1" noTextEdit="1"/>
                </p:cNvSpPr>
                <p:nvPr/>
              </p:nvSpPr>
              <p:spPr>
                <a:xfrm>
                  <a:off x="3794759" y="3227832"/>
                  <a:ext cx="4617720" cy="777240"/>
                </a:xfrm>
                <a:prstGeom prst="rect">
                  <a:avLst/>
                </a:prstGeom>
                <a:blipFill>
                  <a:blip r:embed="rId4"/>
                  <a:stretch>
                    <a:fillRect b="-1575"/>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1" name="TextBox 10"/>
              <p:cNvSpPr txBox="1"/>
              <p:nvPr/>
            </p:nvSpPr>
            <p:spPr>
              <a:xfrm>
                <a:off x="484632" y="4160520"/>
                <a:ext cx="11228832" cy="2240280"/>
              </a:xfrm>
              <a:prstGeom prst="rect">
                <a:avLst/>
              </a:prstGeom>
              <a:noFill/>
            </p:spPr>
            <p:txBody>
              <a:bodyPr wrap="square" lIns="0" tIns="0" rIns="0" bIns="0">
                <a:noAutofit/>
              </a:bodyPr>
              <a:lstStyle>
                <a:lvl1pPr marL="342900" indent="-342900">
                  <a:spcBef>
                    <a:spcPts val="600"/>
                  </a:spcBef>
                  <a:buClr>
                    <a:srgbClr val="0B2B4E"/>
                  </a:buClr>
                  <a:buFont typeface="Calibri"/>
                  <a:buChar char="▪"/>
                  <a:defRPr sz="2400" b="0">
                    <a:solidFill>
                      <a:srgbClr val="0B2B4E"/>
                    </a:solidFill>
                    <a:latin typeface="Calibri"/>
                  </a:defRPr>
                </a:lvl1pPr>
                <a:lvl2pPr marL="685800" indent="-228600">
                  <a:spcBef>
                    <a:spcPts val="300"/>
                  </a:spcBef>
                  <a:buClr>
                    <a:srgbClr val="0B2B4E"/>
                  </a:buClr>
                  <a:buFont typeface="Calibri"/>
                  <a:buChar char="–"/>
                  <a:defRPr sz="2200" b="0">
                    <a:solidFill>
                      <a:srgbClr val="0B2B4E"/>
                    </a:solidFill>
                    <a:latin typeface="Calibri"/>
                  </a:defRPr>
                </a:lvl2pPr>
              </a:lstStyle>
              <a:p>
                <a:pPr lvl="1" algn="l"/>
                <a:r>
                  <a:rPr>
                    <a:latin typeface="Calibri"/>
                  </a:rPr>
                  <a:t>The percentage of a firm’s price that is due to a mark-up above its marginal cost</a:t>
                </a:r>
              </a:p>
              <a:p>
                <a:pPr marL="1028700" lvl="2" indent="-228600" algn="l">
                  <a:spcBef>
                    <a:spcPts val="300"/>
                  </a:spcBef>
                  <a:buClr>
                    <a:srgbClr val="0B2B4E"/>
                  </a:buClr>
                  <a:buFont typeface="Calibri"/>
                  <a:buChar char="–"/>
                </a:pPr>
                <a:r>
                  <a:rPr sz="2200">
                    <a:solidFill>
                      <a:srgbClr val="0B2B4E"/>
                    </a:solidFill>
                    <a:latin typeface="Calibri"/>
                  </a:rPr>
                  <a:t>E.g., P = 2; MC = 1.5 → 25% of the price is due to mark-up</a:t>
                </a:r>
              </a:p>
              <a:p>
                <a:pPr lvl="1" algn="l"/>
                <a:r>
                  <a:rPr>
                    <a:latin typeface="Calibri"/>
                  </a:rPr>
                  <a:t>The Lerner Index is the larger the higher is the markup</a:t>
                </a:r>
              </a:p>
              <a:p>
                <a:pPr lvl="1" algn="l"/>
                <a:r>
                  <a:rPr>
                    <a:latin typeface="Calibri"/>
                  </a:rPr>
                  <a:t>Between 0 and 1</a:t>
                </a:r>
              </a:p>
              <a:p>
                <a:pPr marL="1028700" lvl="2" indent="-228600" algn="l">
                  <a:spcBef>
                    <a:spcPts val="300"/>
                  </a:spcBef>
                  <a:buClr>
                    <a:srgbClr val="0B2B4E"/>
                  </a:buClr>
                  <a:buFont typeface="Calibri"/>
                  <a:buChar char="–"/>
                </a:pPr>
                <a:r>
                  <a:rPr sz="2200">
                    <a:solidFill>
                      <a:srgbClr val="0B2B4E"/>
                    </a:solidFill>
                    <a:latin typeface="Calibri"/>
                  </a:rPr>
                  <a:t>Zero under perfect competition (</a:t>
                </a:r>
                <a14:m>
                  <m:oMath xmlns:m="http://schemas.openxmlformats.org/officeDocument/2006/math">
                    <m:r>
                      <a:rPr lang="en-US" sz="2200" b="0" i="1">
                        <a:solidFill>
                          <a:srgbClr val="0B2B4E"/>
                        </a:solidFill>
                        <a:latin typeface="Cambria Math"/>
                        <a:ea typeface="Cambria Math"/>
                      </a:rPr>
                      <m:t>𝑃</m:t>
                    </m:r>
                    <m:r>
                      <a:rPr lang="en-US" sz="2200" b="0" i="0">
                        <a:solidFill>
                          <a:srgbClr val="0B2B4E"/>
                        </a:solidFill>
                        <a:latin typeface="Cambria Math"/>
                      </a:rPr>
                      <m:t> = </m:t>
                    </m:r>
                    <m:r>
                      <m:rPr>
                        <m:sty m:val="p"/>
                      </m:rPr>
                      <a:rPr lang="en-US" sz="2200" b="0" i="0">
                        <a:solidFill>
                          <a:srgbClr val="0B2B4E"/>
                        </a:solidFill>
                        <a:latin typeface="Cambria Math"/>
                      </a:rPr>
                      <m:t>MC</m:t>
                    </m:r>
                  </m:oMath>
                </a14:m>
                <a:r>
                  <a:rPr sz="2200">
                    <a:solidFill>
                      <a:srgbClr val="0B2B4E"/>
                    </a:solidFill>
                    <a:latin typeface="Calibri"/>
                  </a:rPr>
                  <a:t>)</a:t>
                </a:r>
              </a:p>
              <a:p>
                <a:pPr marL="1028700" lvl="2" indent="-228600" algn="l">
                  <a:spcBef>
                    <a:spcPts val="300"/>
                  </a:spcBef>
                  <a:buClr>
                    <a:srgbClr val="0B2B4E"/>
                  </a:buClr>
                  <a:buFont typeface="Calibri"/>
                  <a:buChar char="–"/>
                </a:pPr>
                <a:r>
                  <a:rPr sz="2200">
                    <a:solidFill>
                      <a:srgbClr val="0B2B4E"/>
                    </a:solidFill>
                    <a:latin typeface="Calibri"/>
                  </a:rPr>
                  <a:t>Increases with market power (e.g., advertising, M&amp;A)</a:t>
                </a:r>
              </a:p>
            </p:txBody>
          </p:sp>
        </mc:Choice>
        <mc:Fallback xmlns="">
          <p:sp>
            <p:nvSpPr>
              <p:cNvPr id="11" name="TextBox 10"/>
              <p:cNvSpPr txBox="1">
                <a:spLocks noRot="1" noChangeAspect="1" noMove="1" noResize="1" noEditPoints="1" noAdjustHandles="1" noChangeArrowheads="1" noChangeShapeType="1" noTextEdit="1"/>
              </p:cNvSpPr>
              <p:nvPr/>
            </p:nvSpPr>
            <p:spPr>
              <a:xfrm>
                <a:off x="484632" y="4160520"/>
                <a:ext cx="11228832" cy="2240280"/>
              </a:xfrm>
              <a:prstGeom prst="rect">
                <a:avLst/>
              </a:prstGeom>
              <a:blipFill>
                <a:blip r:embed="rId5"/>
                <a:stretch>
                  <a:fillRect t="-4360" b="-5995"/>
                </a:stretch>
              </a:blipFill>
            </p:spPr>
            <p:txBody>
              <a:bodyPr/>
              <a:lstStyle/>
              <a:p>
                <a:r>
                  <a:rPr lang="en-US">
                    <a:noFill/>
                  </a:rPr>
                  <a:t> </a:t>
                </a:r>
              </a:p>
            </p:txBody>
          </p:sp>
        </mc:Fallback>
      </mc:AlternateContent>
      <p:sp>
        <p:nvSpPr>
          <p:cNvPr id="12" name="Rectangle 1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5  ·  Monopoly and Monopolistic Competition</a:t>
            </a:r>
          </a:p>
        </p:txBody>
      </p:sp>
      <p:sp>
        <p:nvSpPr>
          <p:cNvPr id="15" name="TextBox 14"/>
          <p:cNvSpPr txBox="1"/>
          <p:nvPr/>
        </p:nvSpPr>
        <p:spPr>
          <a:xfrm>
            <a:off x="11475720" y="6583680"/>
            <a:ext cx="502920" cy="292608"/>
          </a:xfrm>
          <a:prstGeom prst="rect">
            <a:avLst/>
          </a:prstGeom>
          <a:noFill/>
        </p:spPr>
        <p:txBody>
          <a:bodyPr wrap="none" lIns="0" tIns="0" rIns="0" bIns="0">
            <a:spAutoFit/>
          </a:bodyPr>
          <a:lstStyle/>
          <a:p>
            <a:pPr algn="r"/>
            <a:fld id="{6603627C-E725-5B69-BFB3-C73EC154E645}" type="slidenum">
              <a:rPr lang="en-US" sz="1200" dirty="0">
                <a:solidFill>
                  <a:srgbClr val="555B66"/>
                </a:solidFill>
                <a:latin typeface="Calibri"/>
              </a:rPr>
              <a:t>22</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1">
                                            <p:txEl>
                                              <p:pRg st="0" end="0"/>
                                            </p:txEl>
                                          </p:spTgt>
                                        </p:tgtEl>
                                        <p:attrNameLst>
                                          <p:attrName>style.visibility</p:attrName>
                                        </p:attrNameLst>
                                      </p:cBhvr>
                                      <p:to>
                                        <p:strVal val="visible"/>
                                      </p:to>
                                    </p:set>
                                    <p:animEffect transition="in" filter="fade">
                                      <p:cBhvr>
                                        <p:cTn id="20" dur="500"/>
                                        <p:tgtEl>
                                          <p:spTgt spid="11">
                                            <p:txEl>
                                              <p:pRg st="0" end="0"/>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1">
                                            <p:txEl>
                                              <p:pRg st="1" end="1"/>
                                            </p:txEl>
                                          </p:spTgt>
                                        </p:tgtEl>
                                        <p:attrNameLst>
                                          <p:attrName>style.visibility</p:attrName>
                                        </p:attrNameLst>
                                      </p:cBhvr>
                                      <p:to>
                                        <p:strVal val="visible"/>
                                      </p:to>
                                    </p:set>
                                    <p:animEffect transition="in" filter="fade">
                                      <p:cBhvr>
                                        <p:cTn id="23" dur="500"/>
                                        <p:tgtEl>
                                          <p:spTgt spid="11">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1">
                                            <p:txEl>
                                              <p:pRg st="2" end="2"/>
                                            </p:txEl>
                                          </p:spTgt>
                                        </p:tgtEl>
                                        <p:attrNameLst>
                                          <p:attrName>style.visibility</p:attrName>
                                        </p:attrNameLst>
                                      </p:cBhvr>
                                      <p:to>
                                        <p:strVal val="visible"/>
                                      </p:to>
                                    </p:set>
                                    <p:animEffect transition="in" filter="fade">
                                      <p:cBhvr>
                                        <p:cTn id="28" dur="500"/>
                                        <p:tgtEl>
                                          <p:spTgt spid="11">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1">
                                            <p:txEl>
                                              <p:pRg st="3" end="3"/>
                                            </p:txEl>
                                          </p:spTgt>
                                        </p:tgtEl>
                                        <p:attrNameLst>
                                          <p:attrName>style.visibility</p:attrName>
                                        </p:attrNameLst>
                                      </p:cBhvr>
                                      <p:to>
                                        <p:strVal val="visible"/>
                                      </p:to>
                                    </p:set>
                                    <p:animEffect transition="in" filter="fade">
                                      <p:cBhvr>
                                        <p:cTn id="33" dur="500"/>
                                        <p:tgtEl>
                                          <p:spTgt spid="11">
                                            <p:txEl>
                                              <p:pRg st="3" end="3"/>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1">
                                            <p:txEl>
                                              <p:pRg st="4" end="4"/>
                                            </p:txEl>
                                          </p:spTgt>
                                        </p:tgtEl>
                                        <p:attrNameLst>
                                          <p:attrName>style.visibility</p:attrName>
                                        </p:attrNameLst>
                                      </p:cBhvr>
                                      <p:to>
                                        <p:strVal val="visible"/>
                                      </p:to>
                                    </p:set>
                                    <p:animEffect transition="in" filter="fade">
                                      <p:cBhvr>
                                        <p:cTn id="36" dur="500"/>
                                        <p:tgtEl>
                                          <p:spTgt spid="11">
                                            <p:txEl>
                                              <p:pRg st="4" end="4"/>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1">
                                            <p:txEl>
                                              <p:pRg st="5" end="5"/>
                                            </p:txEl>
                                          </p:spTgt>
                                        </p:tgtEl>
                                        <p:attrNameLst>
                                          <p:attrName>style.visibility</p:attrName>
                                        </p:attrNameLst>
                                      </p:cBhvr>
                                      <p:to>
                                        <p:strVal val="visible"/>
                                      </p:to>
                                    </p:set>
                                    <p:animEffect transition="in" filter="fade">
                                      <p:cBhvr>
                                        <p:cTn id="41" dur="500"/>
                                        <p:tgtEl>
                                          <p:spTgt spid="1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11"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5 · Markup and Lerner Index</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Lerner Index for Major US Companies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0" name="LernerBox"/>
          <p:cNvGrpSpPr/>
          <p:nvPr/>
        </p:nvGrpSpPr>
        <p:grpSpPr>
          <a:xfrm>
            <a:off x="731520" y="1828800"/>
            <a:ext cx="4206240" cy="1600200"/>
            <a:chOff x="731520" y="1828800"/>
            <a:chExt cx="4206240" cy="1600200"/>
          </a:xfrm>
        </p:grpSpPr>
        <p:sp>
          <p:nvSpPr>
            <p:cNvPr id="7" name="Rounded Rectangle 6"/>
            <p:cNvSpPr/>
            <p:nvPr/>
          </p:nvSpPr>
          <p:spPr>
            <a:xfrm>
              <a:off x="731520" y="1828800"/>
              <a:ext cx="4206240" cy="1600200"/>
            </a:xfrm>
            <a:prstGeom prst="roundRect">
              <a:avLst>
                <a:gd name="adj" fmla="val 12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868680" y="1938528"/>
              <a:ext cx="3931920" cy="329184"/>
            </a:xfrm>
            <a:prstGeom prst="rect">
              <a:avLst/>
            </a:prstGeom>
            <a:noFill/>
          </p:spPr>
          <p:txBody>
            <a:bodyPr wrap="square" lIns="0" tIns="0" rIns="0" bIns="0">
              <a:spAutoFit/>
            </a:bodyPr>
            <a:lstStyle/>
            <a:p>
              <a:pPr algn="ctr"/>
              <a:r>
                <a:rPr sz="1600" b="0" i="1" u="none">
                  <a:solidFill>
                    <a:srgbClr val="FFFFFF"/>
                  </a:solidFill>
                  <a:latin typeface="Calibri"/>
                </a:rPr>
                <a:t>Percentage of Price that is due to Markup</a:t>
              </a:r>
            </a:p>
          </p:txBody>
        </p:sp>
        <mc:AlternateContent xmlns:mc="http://schemas.openxmlformats.org/markup-compatibility/2006" xmlns:a14="http://schemas.microsoft.com/office/drawing/2010/main">
          <mc:Choice Requires="a14">
            <p:sp>
              <p:nvSpPr>
                <p:cNvPr id="9" name="TextBox 8"/>
                <p:cNvSpPr txBox="1"/>
                <p:nvPr/>
              </p:nvSpPr>
              <p:spPr>
                <a:xfrm>
                  <a:off x="822960" y="2240280"/>
                  <a:ext cx="4023359" cy="1143000"/>
                </a:xfrm>
                <a:prstGeom prst="rect">
                  <a:avLst/>
                </a:prstGeom>
                <a:noFill/>
              </p:spPr>
              <p:txBody>
                <a:bodyPr wrap="square" anchor="ctr">
                  <a:spAutoFit/>
                </a:bodyPr>
                <a:lstStyle/>
                <a:p>
                  <a:pPr algn="ctr">
                    <a:defRPr sz="2400" b="0" i="1">
                      <a:solidFill>
                        <a:srgbClr val="FFFFFF"/>
                      </a:solidFill>
                      <a:latin typeface="Cambria Math"/>
                    </a:defRPr>
                  </a:pPr>
                  <a14:m>
                    <m:oMathPara xmlns:m="http://schemas.openxmlformats.org/officeDocument/2006/math">
                      <m:oMath>
                        <m:r>
                          <m:rPr>
                            <m:sty m:val="p"/>
                          </m:rPr>
                          <a:rPr lang="en-US" sz="2400" b="0" i="0">
                            <a:solidFill>
                              <a:srgbClr val="FFFFFF"/>
                            </a:solidFill>
                            <a:latin typeface="Cambria Math"/>
                          </a:rPr>
                          <m:t>Lerner</m:t>
                        </m:r>
                        <m:r>
                          <a:rPr lang="en-US" sz="2400" b="0" i="0">
                            <a:solidFill>
                              <a:srgbClr val="FFFFFF"/>
                            </a:solidFill>
                            <a:latin typeface="Cambria Math"/>
                          </a:rPr>
                          <m:t> </m:t>
                        </m:r>
                        <m:r>
                          <m:rPr>
                            <m:sty m:val="p"/>
                          </m:rPr>
                          <a:rPr lang="en-US" sz="2400" b="0" i="0">
                            <a:solidFill>
                              <a:srgbClr val="FFFFFF"/>
                            </a:solidFill>
                            <a:latin typeface="Cambria Math"/>
                          </a:rPr>
                          <m:t>Index</m:t>
                        </m:r>
                        <m:r>
                          <a:rPr lang="en-US" sz="2400" b="0" i="0">
                            <a:solidFill>
                              <a:srgbClr val="FFFFFF"/>
                            </a:solidFill>
                            <a:latin typeface="Cambria Math"/>
                          </a:rPr>
                          <m:t> = </m:t>
                        </m:r>
                        <m:f>
                          <m:fPr>
                            <m:ctrlPr>
                              <a:rPr lang="en-US" sz="2400" b="0" i="1">
                                <a:solidFill>
                                  <a:srgbClr val="FFFFFF"/>
                                </a:solidFill>
                                <a:latin typeface="Cambria Math"/>
                                <a:ea typeface="Cambria Math"/>
                              </a:rPr>
                            </m:ctrlPr>
                          </m:fPr>
                          <m:num>
                            <m:r>
                              <a:rPr lang="en-US" sz="2400" b="0" i="1">
                                <a:solidFill>
                                  <a:srgbClr val="FFFFFF"/>
                                </a:solidFill>
                                <a:latin typeface="Cambria Math"/>
                                <a:ea typeface="Cambria Math"/>
                              </a:rPr>
                              <m:t>𝑃</m:t>
                            </m:r>
                            <m:r>
                              <a:rPr lang="en-US" sz="2400" b="0" i="0">
                                <a:solidFill>
                                  <a:srgbClr val="FFFFFF"/>
                                </a:solidFill>
                                <a:latin typeface="Cambria Math"/>
                              </a:rPr>
                              <m:t> − </m:t>
                            </m:r>
                            <m:r>
                              <m:rPr>
                                <m:sty m:val="p"/>
                              </m:rPr>
                              <a:rPr lang="en-US" sz="2400" b="0" i="0">
                                <a:solidFill>
                                  <a:srgbClr val="FFFFFF"/>
                                </a:solidFill>
                                <a:latin typeface="Cambria Math"/>
                              </a:rPr>
                              <m:t>MC</m:t>
                            </m:r>
                          </m:num>
                          <m:den>
                            <m:r>
                              <a:rPr lang="en-US" sz="2400" b="0" i="1">
                                <a:solidFill>
                                  <a:srgbClr val="FFFFFF"/>
                                </a:solidFill>
                                <a:latin typeface="Cambria Math"/>
                                <a:ea typeface="Cambria Math"/>
                              </a:rPr>
                              <m:t>𝑃</m:t>
                            </m:r>
                          </m:den>
                        </m:f>
                      </m:oMath>
                    </m:oMathPara>
                  </a14:m>
                  <a:endParaRPr lang="en-US" sz="2400"/>
                </a:p>
              </p:txBody>
            </p:sp>
          </mc:Choice>
          <mc:Fallback xmlns="">
            <p:sp>
              <p:nvSpPr>
                <p:cNvPr id="9" name="TextBox 8"/>
                <p:cNvSpPr txBox="1">
                  <a:spLocks noRot="1" noChangeAspect="1" noMove="1" noResize="1" noEditPoints="1" noAdjustHandles="1" noChangeArrowheads="1" noChangeShapeType="1" noTextEdit="1"/>
                </p:cNvSpPr>
                <p:nvPr/>
              </p:nvSpPr>
              <p:spPr>
                <a:xfrm>
                  <a:off x="822960" y="2240280"/>
                  <a:ext cx="4023359" cy="1143000"/>
                </a:xfrm>
                <a:prstGeom prst="rect">
                  <a:avLst/>
                </a:prstGeom>
                <a:blipFill>
                  <a:blip r:embed="rId3"/>
                  <a:stretch>
                    <a:fillRect/>
                  </a:stretch>
                </a:blipFill>
              </p:spPr>
              <p:txBody>
                <a:bodyPr/>
                <a:lstStyle/>
                <a:p>
                  <a:r>
                    <a:rPr lang="en-US">
                      <a:noFill/>
                    </a:rPr>
                    <a:t> </a:t>
                  </a:r>
                </a:p>
              </p:txBody>
            </p:sp>
          </mc:Fallback>
        </mc:AlternateContent>
      </p:grpSp>
      <p:grpSp>
        <p:nvGrpSpPr>
          <p:cNvPr id="117" name="Group pair 117"/>
          <p:cNvGrpSpPr/>
          <p:nvPr/>
        </p:nvGrpSpPr>
        <p:grpSpPr>
          <a:xfrm>
            <a:off x="5394960" y="1408176"/>
            <a:ext cx="6217920" cy="4663440"/>
            <a:chOff x="5394960" y="1408176"/>
            <a:chExt cx="6217920" cy="4663440"/>
          </a:xfrm>
        </p:grpSpPr>
        <p:sp>
          <p:nvSpPr>
            <p:cNvPr id="11" name="Rectangle 10"/>
            <p:cNvSpPr/>
            <p:nvPr/>
          </p:nvSpPr>
          <p:spPr>
            <a:xfrm>
              <a:off x="5394960" y="1408176"/>
              <a:ext cx="6217920" cy="4663440"/>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2" name="Table 11"/>
            <p:cNvGraphicFramePr>
              <a:graphicFrameLocks noGrp="1"/>
            </p:cNvGraphicFramePr>
            <p:nvPr/>
          </p:nvGraphicFramePr>
          <p:xfrm>
            <a:off x="5532120" y="1545336"/>
            <a:ext cx="5943600" cy="4381796"/>
          </p:xfrm>
          <a:graphic>
            <a:graphicData uri="http://schemas.openxmlformats.org/drawingml/2006/table">
              <a:tbl>
                <a:tblPr/>
                <a:tblGrid>
                  <a:gridCol w="329184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tblGrid>
                <a:tr h="438912">
                  <a:tc>
                    <a:txBody>
                      <a:bodyPr/>
                      <a:lstStyle/>
                      <a:p>
                        <a:pPr algn="ctr"/>
                        <a:r>
                          <a:rPr sz="1800" b="1">
                            <a:solidFill>
                              <a:srgbClr val="FFFFFF"/>
                            </a:solidFill>
                            <a:latin typeface="Calibri"/>
                          </a:rPr>
                          <a:t>Company</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a:lstStyle/>
                      <a:p>
                        <a:pPr algn="ctr"/>
                        <a:r>
                          <a:rPr sz="1800" b="1">
                            <a:solidFill>
                              <a:srgbClr val="FFFFFF"/>
                            </a:solidFill>
                            <a:latin typeface="Calibri"/>
                          </a:rPr>
                          <a:t>Lerner Index (P − MC) / P</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extLst>
                    <a:ext uri="{0D108BD9-81ED-4DB2-BD59-A6C34878D82A}">
                      <a16:rowId xmlns:a16="http://schemas.microsoft.com/office/drawing/2014/main" val="10000"/>
                    </a:ext>
                  </a:extLst>
                </a:tr>
                <a:tr h="358444">
                  <a:tc>
                    <a:txBody>
                      <a:bodyPr/>
                      <a:lstStyle/>
                      <a:p>
                        <a:pPr algn="l"/>
                        <a:r>
                          <a:rPr sz="1800" b="0">
                            <a:solidFill>
                              <a:srgbClr val="0B2B4E"/>
                            </a:solidFill>
                            <a:latin typeface="Calibri"/>
                          </a:rPr>
                          <a:t>Alphabet</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800" b="0">
                            <a:solidFill>
                              <a:srgbClr val="0B2B4E"/>
                            </a:solidFill>
                            <a:latin typeface="Calibri"/>
                          </a:rPr>
                          <a:t>0.55</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1"/>
                    </a:ext>
                  </a:extLst>
                </a:tr>
                <a:tr h="358444">
                  <a:tc>
                    <a:txBody>
                      <a:bodyPr/>
                      <a:lstStyle/>
                      <a:p>
                        <a:pPr algn="l"/>
                        <a:r>
                          <a:rPr sz="1800" b="0">
                            <a:solidFill>
                              <a:srgbClr val="0B2B4E"/>
                            </a:solidFill>
                            <a:latin typeface="Calibri"/>
                          </a:rPr>
                          <a:t>Amazon.com</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800" b="0">
                            <a:solidFill>
                              <a:srgbClr val="0B2B4E"/>
                            </a:solidFill>
                            <a:latin typeface="Calibri"/>
                          </a:rPr>
                          <a:t>0.33</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extLst>
                    <a:ext uri="{0D108BD9-81ED-4DB2-BD59-A6C34878D82A}">
                      <a16:rowId xmlns:a16="http://schemas.microsoft.com/office/drawing/2014/main" val="10002"/>
                    </a:ext>
                  </a:extLst>
                </a:tr>
                <a:tr h="358444">
                  <a:tc>
                    <a:txBody>
                      <a:bodyPr/>
                      <a:lstStyle/>
                      <a:p>
                        <a:pPr algn="l"/>
                        <a:r>
                          <a:rPr sz="1800" b="0">
                            <a:solidFill>
                              <a:srgbClr val="0B2B4E"/>
                            </a:solidFill>
                            <a:latin typeface="Calibri"/>
                          </a:rPr>
                          <a:t>American Airlines</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800" b="0">
                            <a:solidFill>
                              <a:srgbClr val="0B2B4E"/>
                            </a:solidFill>
                            <a:latin typeface="Calibri"/>
                          </a:rPr>
                          <a:t>0.24</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3"/>
                    </a:ext>
                  </a:extLst>
                </a:tr>
                <a:tr h="358444">
                  <a:tc>
                    <a:txBody>
                      <a:bodyPr/>
                      <a:lstStyle/>
                      <a:p>
                        <a:pPr algn="l"/>
                        <a:r>
                          <a:rPr sz="1800" b="0">
                            <a:solidFill>
                              <a:srgbClr val="0B2B4E"/>
                            </a:solidFill>
                            <a:latin typeface="Calibri"/>
                          </a:rPr>
                          <a:t>Apple</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800" b="0">
                            <a:solidFill>
                              <a:srgbClr val="0B2B4E"/>
                            </a:solidFill>
                            <a:latin typeface="Calibri"/>
                          </a:rPr>
                          <a:t>0.33</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extLst>
                    <a:ext uri="{0D108BD9-81ED-4DB2-BD59-A6C34878D82A}">
                      <a16:rowId xmlns:a16="http://schemas.microsoft.com/office/drawing/2014/main" val="10004"/>
                    </a:ext>
                  </a:extLst>
                </a:tr>
                <a:tr h="358444">
                  <a:tc>
                    <a:txBody>
                      <a:bodyPr/>
                      <a:lstStyle/>
                      <a:p>
                        <a:pPr algn="l"/>
                        <a:r>
                          <a:rPr sz="1800" b="0">
                            <a:solidFill>
                              <a:srgbClr val="0B2B4E"/>
                            </a:solidFill>
                            <a:latin typeface="Calibri"/>
                          </a:rPr>
                          <a:t>AT&amp;T</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800" b="0">
                            <a:solidFill>
                              <a:srgbClr val="0B2B4E"/>
                            </a:solidFill>
                            <a:latin typeface="Calibri"/>
                          </a:rPr>
                          <a:t>0.35</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5"/>
                    </a:ext>
                  </a:extLst>
                </a:tr>
                <a:tr h="358444">
                  <a:tc>
                    <a:txBody>
                      <a:bodyPr/>
                      <a:lstStyle/>
                      <a:p>
                        <a:pPr algn="l"/>
                        <a:r>
                          <a:rPr sz="1800" b="0">
                            <a:solidFill>
                              <a:srgbClr val="0B2B4E"/>
                            </a:solidFill>
                            <a:latin typeface="Calibri"/>
                          </a:rPr>
                          <a:t>Johnson &amp; Johnson</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800" b="0">
                            <a:solidFill>
                              <a:srgbClr val="0B2B4E"/>
                            </a:solidFill>
                            <a:latin typeface="Calibri"/>
                          </a:rPr>
                          <a:t>0.72</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extLst>
                    <a:ext uri="{0D108BD9-81ED-4DB2-BD59-A6C34878D82A}">
                      <a16:rowId xmlns:a16="http://schemas.microsoft.com/office/drawing/2014/main" val="10006"/>
                    </a:ext>
                  </a:extLst>
                </a:tr>
                <a:tr h="358444">
                  <a:tc>
                    <a:txBody>
                      <a:bodyPr/>
                      <a:lstStyle/>
                      <a:p>
                        <a:pPr algn="l"/>
                        <a:r>
                          <a:rPr sz="1800" b="0">
                            <a:solidFill>
                              <a:srgbClr val="0B2B4E"/>
                            </a:solidFill>
                            <a:latin typeface="Calibri"/>
                          </a:rPr>
                          <a:t>Microsoft</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800" b="0">
                            <a:solidFill>
                              <a:srgbClr val="0B2B4E"/>
                            </a:solidFill>
                            <a:latin typeface="Calibri"/>
                          </a:rPr>
                          <a:t>0.56</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7"/>
                    </a:ext>
                  </a:extLst>
                </a:tr>
                <a:tr h="358444">
                  <a:tc>
                    <a:txBody>
                      <a:bodyPr/>
                      <a:lstStyle/>
                      <a:p>
                        <a:pPr algn="l"/>
                        <a:r>
                          <a:rPr sz="1800" b="0">
                            <a:solidFill>
                              <a:srgbClr val="0B2B4E"/>
                            </a:solidFill>
                            <a:latin typeface="Calibri"/>
                          </a:rPr>
                          <a:t>Pfizer</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800" b="0">
                            <a:solidFill>
                              <a:srgbClr val="0B2B4E"/>
                            </a:solidFill>
                            <a:latin typeface="Calibri"/>
                          </a:rPr>
                          <a:t>0.78</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extLst>
                    <a:ext uri="{0D108BD9-81ED-4DB2-BD59-A6C34878D82A}">
                      <a16:rowId xmlns:a16="http://schemas.microsoft.com/office/drawing/2014/main" val="10008"/>
                    </a:ext>
                  </a:extLst>
                </a:tr>
                <a:tr h="358444">
                  <a:tc>
                    <a:txBody>
                      <a:bodyPr/>
                      <a:lstStyle/>
                      <a:p>
                        <a:pPr algn="l"/>
                        <a:r>
                          <a:rPr sz="1800" b="0">
                            <a:solidFill>
                              <a:srgbClr val="0B2B4E"/>
                            </a:solidFill>
                            <a:latin typeface="Calibri"/>
                          </a:rPr>
                          <a:t>Tesla</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800" b="0">
                            <a:solidFill>
                              <a:srgbClr val="0B2B4E"/>
                            </a:solidFill>
                            <a:latin typeface="Calibri"/>
                          </a:rPr>
                          <a:t>0.25</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9"/>
                    </a:ext>
                  </a:extLst>
                </a:tr>
                <a:tr h="358444">
                  <a:tc>
                    <a:txBody>
                      <a:bodyPr/>
                      <a:lstStyle/>
                      <a:p>
                        <a:pPr algn="l"/>
                        <a:r>
                          <a:rPr sz="1800" b="0">
                            <a:solidFill>
                              <a:srgbClr val="0B2B4E"/>
                            </a:solidFill>
                            <a:latin typeface="Calibri"/>
                          </a:rPr>
                          <a:t>United Airlines</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800" b="0">
                            <a:solidFill>
                              <a:srgbClr val="0B2B4E"/>
                            </a:solidFill>
                            <a:latin typeface="Calibri"/>
                          </a:rPr>
                          <a:t>0.21</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extLst>
                    <a:ext uri="{0D108BD9-81ED-4DB2-BD59-A6C34878D82A}">
                      <a16:rowId xmlns:a16="http://schemas.microsoft.com/office/drawing/2014/main" val="10010"/>
                    </a:ext>
                  </a:extLst>
                </a:tr>
                <a:tr h="358444">
                  <a:tc>
                    <a:txBody>
                      <a:bodyPr/>
                      <a:lstStyle/>
                      <a:p>
                        <a:pPr algn="l"/>
                        <a:r>
                          <a:rPr sz="1800" b="0">
                            <a:solidFill>
                              <a:srgbClr val="0B2B4E"/>
                            </a:solidFill>
                            <a:latin typeface="Calibri"/>
                          </a:rPr>
                          <a:t>Whole Foods Market</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800" b="0">
                            <a:solidFill>
                              <a:srgbClr val="0B2B4E"/>
                            </a:solidFill>
                            <a:latin typeface="Calibri"/>
                          </a:rPr>
                          <a:t>0.19</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11"/>
                    </a:ext>
                  </a:extLst>
                </a:tr>
              </a:tbl>
            </a:graphicData>
          </a:graphic>
        </p:graphicFrame>
      </p:grpSp>
      <p:sp>
        <p:nvSpPr>
          <p:cNvPr id="13" name="TextBox 12"/>
          <p:cNvSpPr txBox="1"/>
          <p:nvPr/>
        </p:nvSpPr>
        <p:spPr>
          <a:xfrm>
            <a:off x="5532120" y="6080760"/>
            <a:ext cx="5943600" cy="274320"/>
          </a:xfrm>
          <a:prstGeom prst="rect">
            <a:avLst/>
          </a:prstGeom>
          <a:noFill/>
        </p:spPr>
        <p:txBody>
          <a:bodyPr wrap="square" lIns="0" tIns="0" rIns="0" bIns="0">
            <a:spAutoFit/>
          </a:bodyPr>
          <a:lstStyle/>
          <a:p>
            <a:pPr algn="ctr"/>
            <a:r>
              <a:rPr sz="1200" b="0" i="1" u="none">
                <a:solidFill>
                  <a:srgbClr val="555B66"/>
                </a:solidFill>
                <a:latin typeface="Calibri"/>
              </a:rPr>
              <a:t>Source: De Loecker et al. (2019)</a:t>
            </a:r>
          </a:p>
        </p:txBody>
      </p:sp>
      <p:sp>
        <p:nvSpPr>
          <p:cNvPr id="14" name="Rectangle 13"/>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5  ·  Monopoly and Monopolistic Competition</a:t>
            </a:r>
          </a:p>
        </p:txBody>
      </p:sp>
      <p:sp>
        <p:nvSpPr>
          <p:cNvPr id="17" name="TextBox 16"/>
          <p:cNvSpPr txBox="1"/>
          <p:nvPr/>
        </p:nvSpPr>
        <p:spPr>
          <a:xfrm>
            <a:off x="11475720" y="6583680"/>
            <a:ext cx="502920" cy="292608"/>
          </a:xfrm>
          <a:prstGeom prst="rect">
            <a:avLst/>
          </a:prstGeom>
          <a:noFill/>
        </p:spPr>
        <p:txBody>
          <a:bodyPr wrap="none" lIns="0" tIns="0" rIns="0" bIns="0">
            <a:spAutoFit/>
          </a:bodyPr>
          <a:lstStyle/>
          <a:p>
            <a:pPr algn="r"/>
            <a:fld id="{15A1638E-6AF0-5CE8-ADCD-D4408AB556F4}" type="slidenum">
              <a:rPr lang="en-US" sz="1200" dirty="0">
                <a:solidFill>
                  <a:srgbClr val="555B66"/>
                </a:solidFill>
                <a:latin typeface="Calibri"/>
              </a:rPr>
              <a:t>23</a:t>
            </a:fld>
            <a:endParaRPr lang="en-US" sz="1200" dirty="0">
              <a:solidFill>
                <a:srgbClr val="555B66"/>
              </a:solidFill>
              <a:latin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5 · Markup and Lerner Index</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Lerner Index</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417320"/>
            <a:ext cx="10972800" cy="457200"/>
          </a:xfrm>
          <a:prstGeom prst="rect">
            <a:avLst/>
          </a:prstGeom>
          <a:noFill/>
        </p:spPr>
        <p:txBody>
          <a:bodyPr wrap="square" lIns="0" tIns="0" rIns="0" bIns="0">
            <a:noAutofit/>
          </a:bodyPr>
          <a:lstStyle>
            <a:lvl1pPr marL="342900" indent="-342900">
              <a:spcBef>
                <a:spcPts val="1800"/>
              </a:spcBef>
              <a:buClr>
                <a:srgbClr val="0B2B4E"/>
              </a:buClr>
              <a:buFont typeface="Calibri"/>
              <a:buChar char="▪"/>
              <a:defRPr sz="2600" b="0">
                <a:solidFill>
                  <a:srgbClr val="0B2B4E"/>
                </a:solidFill>
                <a:latin typeface="Calibri"/>
              </a:defRPr>
            </a:lvl1pPr>
            <a:lvl2pPr marL="685800" indent="-228600">
              <a:spcBef>
                <a:spcPts val="300"/>
              </a:spcBef>
              <a:buClr>
                <a:srgbClr val="0B2B4E"/>
              </a:buClr>
              <a:buFont typeface="Calibri"/>
              <a:buChar char="–"/>
              <a:defRPr sz="2200" b="0">
                <a:solidFill>
                  <a:srgbClr val="0B2B4E"/>
                </a:solidFill>
                <a:latin typeface="Calibri"/>
              </a:defRPr>
            </a:lvl2pPr>
          </a:lstStyle>
          <a:p>
            <a:pPr algn="l"/>
            <a:r>
              <a:rPr>
                <a:latin typeface="Calibri"/>
              </a:rPr>
              <a:t>The Lerner index is related to the firm’s elasticity:</a:t>
            </a:r>
          </a:p>
        </p:txBody>
      </p:sp>
      <mc:AlternateContent xmlns:mc="http://schemas.openxmlformats.org/markup-compatibility/2006" xmlns:a14="http://schemas.microsoft.com/office/drawing/2010/main">
        <mc:Choice Requires="a14">
          <p:sp>
            <p:nvSpPr>
              <p:cNvPr id="8" name="HeroLerner"/>
              <p:cNvSpPr txBox="1"/>
              <p:nvPr/>
            </p:nvSpPr>
            <p:spPr>
              <a:xfrm>
                <a:off x="3337560" y="2057400"/>
                <a:ext cx="5486400" cy="1143000"/>
              </a:xfrm>
              <a:prstGeom prst="roundRect">
                <a:avLst>
                  <a:gd name="adj" fmla="val 12000"/>
                </a:avLst>
              </a:prstGeom>
              <a:solidFill>
                <a:srgbClr val="0B2B4E"/>
              </a:solidFill>
              <a:effectLst>
                <a:outerShdw blurRad="50800" dist="38100" dir="2700000" algn="tl" rotWithShape="0">
                  <a:srgbClr val="000000">
                    <a:alpha val="45000"/>
                  </a:srgbClr>
                </a:outerShdw>
              </a:effectLst>
            </p:spPr>
            <p:txBody>
              <a:bodyPr wrap="square" anchor="ctr">
                <a:spAutoFit/>
              </a:bodyPr>
              <a:lstStyle/>
              <a:p>
                <a:pPr algn="ctr">
                  <a:defRPr sz="3400" b="0" i="1">
                    <a:solidFill>
                      <a:srgbClr val="FFFFFF"/>
                    </a:solidFill>
                    <a:latin typeface="Cambria Math"/>
                  </a:defRPr>
                </a:pPr>
                <a14:m>
                  <m:oMathPara xmlns:m="http://schemas.openxmlformats.org/officeDocument/2006/math">
                    <m:oMath>
                      <m:f>
                        <m:fPr>
                          <m:ctrlPr>
                            <a:rPr lang="en-US" sz="3400" b="0" i="1">
                              <a:solidFill>
                                <a:srgbClr val="FFFFFF"/>
                              </a:solidFill>
                              <a:latin typeface="Cambria Math"/>
                              <a:ea typeface="Cambria Math"/>
                            </a:rPr>
                          </m:ctrlPr>
                        </m:fPr>
                        <m:num>
                          <m:r>
                            <a:rPr lang="en-US" sz="3400" b="0" i="1">
                              <a:solidFill>
                                <a:srgbClr val="FFFFFF"/>
                              </a:solidFill>
                              <a:latin typeface="Cambria Math"/>
                              <a:ea typeface="Cambria Math"/>
                            </a:rPr>
                            <m:t>𝑃</m:t>
                          </m:r>
                          <m:r>
                            <a:rPr lang="en-US" sz="3400" b="0" i="0">
                              <a:solidFill>
                                <a:srgbClr val="FFFFFF"/>
                              </a:solidFill>
                              <a:latin typeface="Cambria Math"/>
                            </a:rPr>
                            <m:t> − </m:t>
                          </m:r>
                          <m:r>
                            <m:rPr>
                              <m:sty m:val="p"/>
                            </m:rPr>
                            <a:rPr lang="en-US" sz="3400" b="0" i="0">
                              <a:solidFill>
                                <a:srgbClr val="FFFFFF"/>
                              </a:solidFill>
                              <a:latin typeface="Cambria Math"/>
                            </a:rPr>
                            <m:t>MC</m:t>
                          </m:r>
                        </m:num>
                        <m:den>
                          <m:r>
                            <a:rPr lang="en-US" sz="3400" b="0" i="1">
                              <a:solidFill>
                                <a:srgbClr val="FFFFFF"/>
                              </a:solidFill>
                              <a:latin typeface="Cambria Math"/>
                              <a:ea typeface="Cambria Math"/>
                            </a:rPr>
                            <m:t>𝑃</m:t>
                          </m:r>
                        </m:den>
                      </m:f>
                      <m:r>
                        <a:rPr lang="en-US" sz="3400" b="0" i="0">
                          <a:solidFill>
                            <a:srgbClr val="FFFFFF"/>
                          </a:solidFill>
                          <a:latin typeface="Cambria Math"/>
                        </a:rPr>
                        <m:t> = − </m:t>
                      </m:r>
                      <m:f>
                        <m:fPr>
                          <m:ctrlPr>
                            <a:rPr lang="en-US" sz="3400" b="0" i="0">
                              <a:solidFill>
                                <a:srgbClr val="FFFFFF"/>
                              </a:solidFill>
                              <a:latin typeface="Cambria Math"/>
                            </a:rPr>
                          </m:ctrlPr>
                        </m:fPr>
                        <m:num>
                          <m:r>
                            <a:rPr lang="en-US" sz="3400" b="0" i="0">
                              <a:solidFill>
                                <a:srgbClr val="FFFFFF"/>
                              </a:solidFill>
                              <a:latin typeface="Cambria Math"/>
                            </a:rPr>
                            <m:t>1</m:t>
                          </m:r>
                        </m:num>
                        <m:den>
                          <m:sSub>
                            <m:sSubPr>
                              <m:ctrlPr>
                                <a:rPr lang="en-US" sz="3400" b="0" i="1">
                                  <a:solidFill>
                                    <a:srgbClr val="FFFFFF"/>
                                  </a:solidFill>
                                  <a:latin typeface="Cambria Math"/>
                                  <a:ea typeface="Cambria Math"/>
                                </a:rPr>
                              </m:ctrlPr>
                            </m:sSubPr>
                            <m:e>
                              <m:r>
                                <a:rPr lang="en-US" sz="3400" b="0" i="1">
                                  <a:solidFill>
                                    <a:srgbClr val="FFFFFF"/>
                                  </a:solidFill>
                                  <a:latin typeface="Cambria Math"/>
                                  <a:ea typeface="Cambria Math"/>
                                </a:rPr>
                                <m:t>𝐸</m:t>
                              </m:r>
                            </m:e>
                            <m:sub>
                              <m:r>
                                <a:rPr lang="en-US" sz="3400" b="0" i="1">
                                  <a:solidFill>
                                    <a:srgbClr val="FFFFFF"/>
                                  </a:solidFill>
                                  <a:latin typeface="Cambria Math"/>
                                  <a:ea typeface="Cambria Math"/>
                                </a:rPr>
                                <m:t>𝐷</m:t>
                              </m:r>
                            </m:sub>
                          </m:sSub>
                        </m:den>
                      </m:f>
                      <m:r>
                        <a:rPr lang="en-US" sz="3400" b="0" i="0">
                          <a:solidFill>
                            <a:srgbClr val="FFFFFF"/>
                          </a:solidFill>
                          <a:latin typeface="Cambria Math"/>
                        </a:rPr>
                        <m:t> = </m:t>
                      </m:r>
                      <m:f>
                        <m:fPr>
                          <m:ctrlPr>
                            <a:rPr lang="en-US" sz="3400" b="0" i="0">
                              <a:solidFill>
                                <a:srgbClr val="FFFFFF"/>
                              </a:solidFill>
                              <a:latin typeface="Cambria Math"/>
                            </a:rPr>
                          </m:ctrlPr>
                        </m:fPr>
                        <m:num>
                          <m:r>
                            <a:rPr lang="en-US" sz="3400" b="0" i="0">
                              <a:solidFill>
                                <a:srgbClr val="FFFFFF"/>
                              </a:solidFill>
                              <a:latin typeface="Cambria Math"/>
                            </a:rPr>
                            <m:t>1</m:t>
                          </m:r>
                        </m:num>
                        <m:den>
                          <m:r>
                            <a:rPr lang="en-US" sz="3400" b="0" i="0">
                              <a:solidFill>
                                <a:srgbClr val="FFFFFF"/>
                              </a:solidFill>
                              <a:latin typeface="Cambria Math"/>
                            </a:rPr>
                            <m:t>|</m:t>
                          </m:r>
                          <m:sSub>
                            <m:sSubPr>
                              <m:ctrlPr>
                                <a:rPr lang="en-US" sz="3400" b="0" i="1">
                                  <a:solidFill>
                                    <a:srgbClr val="FFFFFF"/>
                                  </a:solidFill>
                                  <a:latin typeface="Cambria Math"/>
                                  <a:ea typeface="Cambria Math"/>
                                </a:rPr>
                              </m:ctrlPr>
                            </m:sSubPr>
                            <m:e>
                              <m:r>
                                <a:rPr lang="en-US" sz="3400" b="0" i="1">
                                  <a:solidFill>
                                    <a:srgbClr val="FFFFFF"/>
                                  </a:solidFill>
                                  <a:latin typeface="Cambria Math"/>
                                  <a:ea typeface="Cambria Math"/>
                                </a:rPr>
                                <m:t>𝐸</m:t>
                              </m:r>
                            </m:e>
                            <m:sub>
                              <m:r>
                                <a:rPr lang="en-US" sz="3400" b="0" i="1">
                                  <a:solidFill>
                                    <a:srgbClr val="FFFFFF"/>
                                  </a:solidFill>
                                  <a:latin typeface="Cambria Math"/>
                                  <a:ea typeface="Cambria Math"/>
                                </a:rPr>
                                <m:t>𝐷</m:t>
                              </m:r>
                            </m:sub>
                          </m:sSub>
                          <m:r>
                            <a:rPr lang="en-US" sz="3400" b="0" i="0">
                              <a:solidFill>
                                <a:srgbClr val="FFFFFF"/>
                              </a:solidFill>
                              <a:latin typeface="Cambria Math"/>
                            </a:rPr>
                            <m:t>|</m:t>
                          </m:r>
                        </m:den>
                      </m:f>
                    </m:oMath>
                  </m:oMathPara>
                </a14:m>
                <a:endParaRPr lang="en-US" sz="3400"/>
              </a:p>
            </p:txBody>
          </p:sp>
        </mc:Choice>
        <mc:Fallback xmlns="">
          <p:sp>
            <p:nvSpPr>
              <p:cNvPr id="8" name="HeroLerner"/>
              <p:cNvSpPr txBox="1">
                <a:spLocks noRot="1" noChangeAspect="1" noMove="1" noResize="1" noEditPoints="1" noAdjustHandles="1" noChangeArrowheads="1" noChangeShapeType="1" noTextEdit="1"/>
              </p:cNvSpPr>
              <p:nvPr/>
            </p:nvSpPr>
            <p:spPr>
              <a:xfrm>
                <a:off x="3337560" y="2057400"/>
                <a:ext cx="5486400" cy="1143000"/>
              </a:xfrm>
              <a:prstGeom prst="roundRect">
                <a:avLst>
                  <a:gd name="adj" fmla="val 12000"/>
                </a:avLst>
              </a:prstGeom>
              <a:blipFill>
                <a:blip r:embed="rId3"/>
                <a:stretch>
                  <a:fillRect/>
                </a:stretch>
              </a:blipFill>
              <a:effectLst>
                <a:outerShdw blurRad="50800" dist="38100" dir="2700000" algn="tl" rotWithShape="0">
                  <a:srgbClr val="000000">
                    <a:alpha val="45000"/>
                  </a:srgbClr>
                </a:outerShdw>
              </a:effectLst>
            </p:spPr>
            <p:txBody>
              <a:bodyPr/>
              <a:lstStyle/>
              <a:p>
                <a:r>
                  <a:rPr lang="en-US">
                    <a:noFill/>
                  </a:rPr>
                  <a:t> </a:t>
                </a:r>
              </a:p>
            </p:txBody>
          </p:sp>
        </mc:Fallback>
      </mc:AlternateContent>
      <p:grpSp>
        <p:nvGrpSpPr>
          <p:cNvPr id="118" name="Group pair 118"/>
          <p:cNvGrpSpPr/>
          <p:nvPr/>
        </p:nvGrpSpPr>
        <p:grpSpPr>
          <a:xfrm>
            <a:off x="8147304" y="1280160"/>
            <a:ext cx="2880360" cy="603504"/>
            <a:chOff x="8147304" y="1280160"/>
            <a:chExt cx="2880360" cy="603504"/>
          </a:xfrm>
        </p:grpSpPr>
        <p:sp>
          <p:nvSpPr>
            <p:cNvPr id="9" name="EDNote"/>
            <p:cNvSpPr/>
            <p:nvPr/>
          </p:nvSpPr>
          <p:spPr>
            <a:xfrm>
              <a:off x="8147304" y="1280160"/>
              <a:ext cx="2880360" cy="603504"/>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330184" y="1389888"/>
              <a:ext cx="2514600" cy="384048"/>
            </a:xfrm>
            <a:prstGeom prst="rect">
              <a:avLst/>
            </a:prstGeom>
            <a:noFill/>
          </p:spPr>
          <p:txBody>
            <a:bodyPr wrap="square" lIns="45720" tIns="0" rIns="45720" bIns="0" anchor="ctr">
              <a:spAutoFit/>
            </a:bodyPr>
            <a:lstStyle/>
            <a:p>
              <a:pPr algn="ctr"/>
              <a:r>
                <a:rPr sz="1800" b="0" i="0" u="none">
                  <a:solidFill>
                    <a:srgbClr val="0B2B4E"/>
                  </a:solidFill>
                  <a:latin typeface="Calibri"/>
                </a:rPr>
                <a:t>The elasticity of demand has a negative value</a:t>
              </a:r>
            </a:p>
          </p:txBody>
        </p:sp>
      </p:grpSp>
      <mc:AlternateContent xmlns:mc="http://schemas.openxmlformats.org/markup-compatibility/2006" xmlns:a14="http://schemas.microsoft.com/office/drawing/2010/main">
        <mc:Choice Requires="a14">
          <p:sp>
            <p:nvSpPr>
              <p:cNvPr id="11" name="LernerBullets"/>
              <p:cNvSpPr txBox="1"/>
              <p:nvPr/>
            </p:nvSpPr>
            <p:spPr>
              <a:xfrm>
                <a:off x="502920" y="3520440"/>
                <a:ext cx="10972800" cy="2286000"/>
              </a:xfrm>
              <a:prstGeom prst="rect">
                <a:avLst/>
              </a:prstGeom>
              <a:noFill/>
            </p:spPr>
            <p:txBody>
              <a:bodyPr wrap="square" lIns="0" tIns="0" rIns="0" bIns="0">
                <a:noAutofit/>
              </a:bodyPr>
              <a:lstStyle>
                <a:lvl1pPr marL="342900" indent="-342900">
                  <a:spcBef>
                    <a:spcPts val="1400"/>
                  </a:spcBef>
                  <a:buClr>
                    <a:srgbClr val="0B2B4E"/>
                  </a:buClr>
                  <a:buFont typeface="Calibri"/>
                  <a:buChar char="▪"/>
                  <a:defRPr sz="2600" b="0">
                    <a:solidFill>
                      <a:srgbClr val="0B2B4E"/>
                    </a:solidFill>
                    <a:latin typeface="Calibri"/>
                  </a:defRPr>
                </a:lvl1pPr>
                <a:lvl2pPr marL="685800" indent="-228600">
                  <a:spcBef>
                    <a:spcPts val="300"/>
                  </a:spcBef>
                  <a:buClr>
                    <a:srgbClr val="0B2B4E"/>
                  </a:buClr>
                  <a:buFont typeface="Calibri"/>
                  <a:buChar char="–"/>
                  <a:defRPr sz="2400" b="0">
                    <a:solidFill>
                      <a:srgbClr val="0B2B4E"/>
                    </a:solidFill>
                    <a:latin typeface="Calibri"/>
                  </a:defRPr>
                </a:lvl2pPr>
              </a:lstStyle>
              <a:p>
                <a:pPr algn="l"/>
                <a:r>
                  <a:rPr dirty="0">
                    <a:latin typeface="Calibri"/>
                  </a:rPr>
                  <a:t>As demand becomes more elastic, the % of markup in </a:t>
                </a:r>
                <a14:m>
                  <m:oMath xmlns:m="http://schemas.openxmlformats.org/officeDocument/2006/math">
                    <m:r>
                      <a:rPr lang="en-US" sz="2600" b="0" i="1">
                        <a:solidFill>
                          <a:srgbClr val="0B2B4E"/>
                        </a:solidFill>
                        <a:latin typeface="Cambria Math"/>
                        <a:ea typeface="Cambria Math"/>
                      </a:rPr>
                      <m:t>𝑃</m:t>
                    </m:r>
                  </m:oMath>
                </a14:m>
                <a:r>
                  <a:rPr dirty="0">
                    <a:latin typeface="Calibri"/>
                  </a:rPr>
                  <a:t> falls</a:t>
                </a:r>
              </a:p>
              <a:p>
                <a:pPr lvl="1" algn="l"/>
                <a:r>
                  <a:rPr dirty="0">
                    <a:latin typeface="Calibri"/>
                  </a:rPr>
                  <a:t>Note: if  </a:t>
                </a:r>
                <a14:m>
                  <m:oMath xmlns:m="http://schemas.openxmlformats.org/officeDocument/2006/math">
                    <m:r>
                      <a:rPr lang="en-US" sz="2400" b="0" i="0">
                        <a:solidFill>
                          <a:srgbClr val="0B2B4E"/>
                        </a:solidFill>
                        <a:latin typeface="Cambria Math"/>
                      </a:rPr>
                      <m:t>|</m:t>
                    </m:r>
                    <m:sSub>
                      <m:sSubPr>
                        <m:ctrlPr>
                          <a:rPr lang="en-US" sz="2400" b="0" i="1">
                            <a:solidFill>
                              <a:srgbClr val="0B2B4E"/>
                            </a:solidFill>
                            <a:latin typeface="Cambria Math"/>
                            <a:ea typeface="Cambria Math"/>
                          </a:rPr>
                        </m:ctrlPr>
                      </m:sSubPr>
                      <m:e>
                        <m:r>
                          <a:rPr lang="en-US" sz="2400" b="0" i="1">
                            <a:solidFill>
                              <a:srgbClr val="0B2B4E"/>
                            </a:solidFill>
                            <a:latin typeface="Cambria Math"/>
                            <a:ea typeface="Cambria Math"/>
                          </a:rPr>
                          <m:t>𝐸</m:t>
                        </m:r>
                      </m:e>
                      <m:sub>
                        <m:r>
                          <a:rPr lang="en-US" sz="2400" b="0" i="1">
                            <a:solidFill>
                              <a:srgbClr val="0B2B4E"/>
                            </a:solidFill>
                            <a:latin typeface="Cambria Math"/>
                            <a:ea typeface="Cambria Math"/>
                          </a:rPr>
                          <m:t>𝐷</m:t>
                        </m:r>
                      </m:sub>
                    </m:sSub>
                    <m:r>
                      <a:rPr lang="en-US" sz="2400" b="0" i="0">
                        <a:solidFill>
                          <a:srgbClr val="0B2B4E"/>
                        </a:solidFill>
                        <a:latin typeface="Cambria Math"/>
                      </a:rPr>
                      <m:t>| → ∞</m:t>
                    </m:r>
                  </m:oMath>
                </a14:m>
                <a:r>
                  <a:rPr dirty="0">
                    <a:latin typeface="Calibri"/>
                  </a:rPr>
                  <a:t>  then Lerner Index = 0</a:t>
                </a:r>
              </a:p>
              <a:p>
                <a:pPr algn="l">
                  <a:spcBef>
                    <a:spcPts val="1600"/>
                  </a:spcBef>
                </a:pPr>
                <a:r>
                  <a:rPr dirty="0">
                    <a:latin typeface="Calibri"/>
                  </a:rPr>
                  <a:t>Important: This relationship </a:t>
                </a:r>
                <a:r>
                  <a:rPr b="1" dirty="0">
                    <a:solidFill>
                      <a:srgbClr val="C00000"/>
                    </a:solidFill>
                    <a:latin typeface="Calibri"/>
                  </a:rPr>
                  <a:t>holds only at the profit-maximizing point</a:t>
                </a:r>
                <a:r>
                  <a:rPr dirty="0">
                    <a:latin typeface="Calibri"/>
                  </a:rPr>
                  <a:t> (</a:t>
                </a:r>
                <a14:m>
                  <m:oMath xmlns:m="http://schemas.openxmlformats.org/officeDocument/2006/math">
                    <m:sSup>
                      <m:sSupPr>
                        <m:ctrlPr>
                          <a:rPr lang="en-US" sz="2600" b="0" i="1">
                            <a:solidFill>
                              <a:srgbClr val="0B2B4E"/>
                            </a:solidFill>
                            <a:latin typeface="Cambria Math"/>
                            <a:ea typeface="Cambria Math"/>
                          </a:rPr>
                        </m:ctrlPr>
                      </m:sSupPr>
                      <m:e>
                        <m:r>
                          <a:rPr lang="en-US" sz="2600" b="0" i="1">
                            <a:solidFill>
                              <a:srgbClr val="0B2B4E"/>
                            </a:solidFill>
                            <a:latin typeface="Cambria Math"/>
                            <a:ea typeface="Cambria Math"/>
                          </a:rPr>
                          <m:t>𝑃</m:t>
                        </m:r>
                      </m:e>
                      <m:sup>
                        <m:r>
                          <a:rPr lang="en-US" sz="2600" b="0" i="0">
                            <a:solidFill>
                              <a:srgbClr val="0B2B4E"/>
                            </a:solidFill>
                            <a:latin typeface="Cambria Math"/>
                          </a:rPr>
                          <m:t>∗</m:t>
                        </m:r>
                      </m:sup>
                    </m:sSup>
                    <m:r>
                      <a:rPr lang="en-US" sz="2600" b="0" i="0">
                        <a:solidFill>
                          <a:srgbClr val="0B2B4E"/>
                        </a:solidFill>
                        <a:latin typeface="Cambria Math"/>
                      </a:rPr>
                      <m:t>, </m:t>
                    </m:r>
                    <m:sSup>
                      <m:sSupPr>
                        <m:ctrlPr>
                          <a:rPr lang="en-US" sz="2600" b="0" i="1">
                            <a:solidFill>
                              <a:srgbClr val="0B2B4E"/>
                            </a:solidFill>
                            <a:latin typeface="Cambria Math"/>
                            <a:ea typeface="Cambria Math"/>
                          </a:rPr>
                        </m:ctrlPr>
                      </m:sSupPr>
                      <m:e>
                        <m:r>
                          <a:rPr lang="en-US" sz="2600" b="0" i="1">
                            <a:solidFill>
                              <a:srgbClr val="0B2B4E"/>
                            </a:solidFill>
                            <a:latin typeface="Cambria Math"/>
                            <a:ea typeface="Cambria Math"/>
                          </a:rPr>
                          <m:t>𝑄</m:t>
                        </m:r>
                      </m:e>
                      <m:sup>
                        <m:r>
                          <a:rPr lang="en-US" sz="2600" b="0" i="0">
                            <a:solidFill>
                              <a:srgbClr val="0B2B4E"/>
                            </a:solidFill>
                            <a:latin typeface="Cambria Math"/>
                          </a:rPr>
                          <m:t>∗</m:t>
                        </m:r>
                      </m:sup>
                    </m:sSup>
                  </m:oMath>
                </a14:m>
                <a:r>
                  <a:rPr dirty="0">
                    <a:latin typeface="Calibri"/>
                  </a:rPr>
                  <a:t>)</a:t>
                </a:r>
              </a:p>
            </p:txBody>
          </p:sp>
        </mc:Choice>
        <mc:Fallback xmlns="">
          <p:sp>
            <p:nvSpPr>
              <p:cNvPr id="11" name="LernerBullets"/>
              <p:cNvSpPr txBox="1">
                <a:spLocks noRot="1" noChangeAspect="1" noMove="1" noResize="1" noEditPoints="1" noAdjustHandles="1" noChangeArrowheads="1" noChangeShapeType="1" noTextEdit="1"/>
              </p:cNvSpPr>
              <p:nvPr/>
            </p:nvSpPr>
            <p:spPr>
              <a:xfrm>
                <a:off x="502920" y="3520440"/>
                <a:ext cx="10972800" cy="2286000"/>
              </a:xfrm>
              <a:prstGeom prst="rect">
                <a:avLst/>
              </a:prstGeom>
              <a:blipFill>
                <a:blip r:embed="rId4"/>
                <a:stretch>
                  <a:fillRect l="-1889" t="-4533" r="-611"/>
                </a:stretch>
              </a:blipFill>
            </p:spPr>
            <p:txBody>
              <a:bodyPr/>
              <a:lstStyle/>
              <a:p>
                <a:r>
                  <a:rPr lang="en-US">
                    <a:noFill/>
                  </a:rPr>
                  <a:t> </a:t>
                </a:r>
              </a:p>
            </p:txBody>
          </p:sp>
        </mc:Fallback>
      </mc:AlternateContent>
      <p:cxnSp>
        <p:nvCxnSpPr>
          <p:cNvPr id="12" name="EDArrow"/>
          <p:cNvCxnSpPr/>
          <p:nvPr/>
        </p:nvCxnSpPr>
        <p:spPr>
          <a:xfrm flipH="1">
            <a:off x="6729984" y="1737360"/>
            <a:ext cx="1444752" cy="1097280"/>
          </a:xfrm>
          <a:prstGeom prst="line">
            <a:avLst/>
          </a:prstGeom>
          <a:ln w="38100">
            <a:solidFill>
              <a:srgbClr val="FFD966"/>
            </a:solidFill>
            <a:tailEnd type="triangle" w="med"/>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5  ·  Monopoly and Monopolistic Competition</a:t>
            </a:r>
          </a:p>
        </p:txBody>
      </p:sp>
      <p:sp>
        <p:nvSpPr>
          <p:cNvPr id="16" name="TextBox 15"/>
          <p:cNvSpPr txBox="1"/>
          <p:nvPr/>
        </p:nvSpPr>
        <p:spPr>
          <a:xfrm>
            <a:off x="11475720" y="6583680"/>
            <a:ext cx="502920" cy="292608"/>
          </a:xfrm>
          <a:prstGeom prst="rect">
            <a:avLst/>
          </a:prstGeom>
          <a:noFill/>
        </p:spPr>
        <p:txBody>
          <a:bodyPr wrap="none" lIns="0" tIns="0" rIns="0" bIns="0">
            <a:spAutoFit/>
          </a:bodyPr>
          <a:lstStyle/>
          <a:p>
            <a:pPr algn="r"/>
            <a:fld id="{5A2F87EC-4A6B-531B-8453-F11102C9B084}" type="slidenum">
              <a:rPr lang="en-US" sz="1200" dirty="0">
                <a:solidFill>
                  <a:srgbClr val="555B66"/>
                </a:solidFill>
                <a:latin typeface="Calibri"/>
              </a:rPr>
              <a:t>24</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8"/>
                                        </p:tgtEl>
                                        <p:attrNameLst>
                                          <p:attrName>style.visibility</p:attrName>
                                        </p:attrNameLst>
                                      </p:cBhvr>
                                      <p:to>
                                        <p:strVal val="visible"/>
                                      </p:to>
                                    </p:set>
                                    <p:animEffect transition="in" filter="fade">
                                      <p:cBhvr>
                                        <p:cTn id="7" dur="500"/>
                                        <p:tgtEl>
                                          <p:spTgt spid="118"/>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1">
                                            <p:txEl>
                                              <p:pRg st="0" end="0"/>
                                            </p:txEl>
                                          </p:spTgt>
                                        </p:tgtEl>
                                        <p:attrNameLst>
                                          <p:attrName>style.visibility</p:attrName>
                                        </p:attrNameLst>
                                      </p:cBhvr>
                                      <p:to>
                                        <p:strVal val="visible"/>
                                      </p:to>
                                    </p:set>
                                    <p:animEffect transition="in" filter="fade">
                                      <p:cBhvr>
                                        <p:cTn id="15" dur="500"/>
                                        <p:tgtEl>
                                          <p:spTgt spid="11">
                                            <p:txEl>
                                              <p:pRg st="0" end="0"/>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xEl>
                                              <p:pRg st="1" end="1"/>
                                            </p:txEl>
                                          </p:spTgt>
                                        </p:tgtEl>
                                        <p:attrNameLst>
                                          <p:attrName>style.visibility</p:attrName>
                                        </p:attrNameLst>
                                      </p:cBhvr>
                                      <p:to>
                                        <p:strVal val="visible"/>
                                      </p:to>
                                    </p:set>
                                    <p:animEffect transition="in" filter="fade">
                                      <p:cBhvr>
                                        <p:cTn id="18" dur="500"/>
                                        <p:tgtEl>
                                          <p:spTgt spid="11">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1">
                                            <p:txEl>
                                              <p:pRg st="2" end="2"/>
                                            </p:txEl>
                                          </p:spTgt>
                                        </p:tgtEl>
                                        <p:attrNameLst>
                                          <p:attrName>style.visibility</p:attrName>
                                        </p:attrNameLst>
                                      </p:cBhvr>
                                      <p:to>
                                        <p:strVal val="visible"/>
                                      </p:to>
                                    </p:set>
                                    <p:animEffect transition="in" filter="fade">
                                      <p:cBhvr>
                                        <p:cTn id="23" dur="500"/>
                                        <p:tgtEl>
                                          <p:spTgt spid="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5 · Markup and Lerner Index</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Illustrating the Lerner Index</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7" name="TextBox 6"/>
              <p:cNvSpPr txBox="1"/>
              <p:nvPr/>
            </p:nvSpPr>
            <p:spPr>
              <a:xfrm>
                <a:off x="502920" y="1325880"/>
                <a:ext cx="10972800" cy="457200"/>
              </a:xfrm>
              <a:prstGeom prst="rect">
                <a:avLst/>
              </a:prstGeom>
              <a:noFill/>
            </p:spPr>
            <p:txBody>
              <a:bodyPr wrap="square" lIns="45720" tIns="0" rIns="45720" bIns="0">
                <a:spAutoFit/>
              </a:bodyPr>
              <a:lstStyle/>
              <a:p>
                <a:r>
                  <a:rPr lang="en-US" sz="2400">
                    <a:solidFill>
                      <a:srgbClr val="0B2B4E"/>
                    </a:solidFill>
                    <a:latin typeface="Calibri"/>
                  </a:rPr>
                  <a:t>Using the example from above:   </a:t>
                </a:r>
                <a14:m>
                  <m:oMath xmlns:m="http://schemas.openxmlformats.org/officeDocument/2006/math">
                    <m:r>
                      <a:rPr lang="en-US" sz="2400" b="0" i="1">
                        <a:solidFill>
                          <a:srgbClr val="0B2B4E"/>
                        </a:solidFill>
                        <a:latin typeface="Cambria Math"/>
                        <a:ea typeface="Cambria Math"/>
                      </a:rPr>
                      <m:t>𝑄</m:t>
                    </m:r>
                    <m:r>
                      <a:rPr lang="en-US" sz="2400" b="0" i="0">
                        <a:solidFill>
                          <a:srgbClr val="0B2B4E"/>
                        </a:solidFill>
                        <a:latin typeface="Cambria Math"/>
                      </a:rPr>
                      <m:t> = 1,600 </m:t>
                    </m:r>
                    <m:r>
                      <a:rPr lang="en-US" sz="2400" b="0" i="0">
                        <a:solidFill>
                          <a:srgbClr val="B8860B"/>
                        </a:solidFill>
                        <a:latin typeface="Cambria Math"/>
                      </a:rPr>
                      <m:t>− 4</m:t>
                    </m:r>
                    <m:r>
                      <a:rPr lang="en-US" sz="2400" b="0" i="1">
                        <a:solidFill>
                          <a:srgbClr val="0B2B4E"/>
                        </a:solidFill>
                        <a:latin typeface="Cambria Math"/>
                        <a:ea typeface="Cambria Math"/>
                      </a:rPr>
                      <m:t>𝑃</m:t>
                    </m:r>
                    <m:r>
                      <a:rPr lang="en-US" sz="2400" b="0" i="0">
                        <a:solidFill>
                          <a:srgbClr val="0B2B4E"/>
                        </a:solidFill>
                        <a:latin typeface="Cambria Math"/>
                      </a:rPr>
                      <m:t>;   </m:t>
                    </m:r>
                    <m:r>
                      <m:rPr>
                        <m:sty m:val="p"/>
                      </m:rPr>
                      <a:rPr lang="en-US" sz="2400" b="0" i="0">
                        <a:solidFill>
                          <a:srgbClr val="0B2B4E"/>
                        </a:solidFill>
                        <a:latin typeface="Cambria Math"/>
                      </a:rPr>
                      <m:t>MC</m:t>
                    </m:r>
                    <m:r>
                      <a:rPr lang="en-US" sz="2400" b="0" i="0">
                        <a:solidFill>
                          <a:srgbClr val="0B2B4E"/>
                        </a:solidFill>
                        <a:latin typeface="Cambria Math"/>
                      </a:rPr>
                      <m:t> = 200</m:t>
                    </m:r>
                  </m:oMath>
                </a14:m>
                <a:endParaRPr lang="en-US"/>
              </a:p>
            </p:txBody>
          </p:sp>
        </mc:Choice>
        <mc:Fallback xmlns="">
          <p:sp>
            <p:nvSpPr>
              <p:cNvPr id="7" name="TextBox 6"/>
              <p:cNvSpPr txBox="1">
                <a:spLocks noRot="1" noChangeAspect="1" noMove="1" noResize="1" noEditPoints="1" noAdjustHandles="1" noChangeArrowheads="1" noChangeShapeType="1" noTextEdit="1"/>
              </p:cNvSpPr>
              <p:nvPr/>
            </p:nvSpPr>
            <p:spPr>
              <a:xfrm>
                <a:off x="502920" y="1325880"/>
                <a:ext cx="10972800" cy="457200"/>
              </a:xfrm>
              <a:prstGeom prst="rect">
                <a:avLst/>
              </a:prstGeom>
              <a:blipFill>
                <a:blip r:embed="rId4"/>
                <a:stretch>
                  <a:fillRect l="-1278" t="-21333" b="-20000"/>
                </a:stretch>
              </a:blipFill>
            </p:spPr>
            <p:txBody>
              <a:bodyPr/>
              <a:lstStyle/>
              <a:p>
                <a:r>
                  <a:rPr lang="en-US">
                    <a:noFill/>
                  </a:rPr>
                  <a:t> </a:t>
                </a:r>
              </a:p>
            </p:txBody>
          </p:sp>
        </mc:Fallback>
      </mc:AlternateContent>
      <p:cxnSp>
        <p:nvCxnSpPr>
          <p:cNvPr id="8" name="sdaxis:y"/>
          <p:cNvCxnSpPr/>
          <p:nvPr/>
        </p:nvCxnSpPr>
        <p:spPr>
          <a:xfrm flipV="1">
            <a:off x="2606040" y="1892807"/>
            <a:ext cx="0" cy="3319273"/>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9" name="sdaxis:x"/>
          <p:cNvCxnSpPr/>
          <p:nvPr/>
        </p:nvCxnSpPr>
        <p:spPr>
          <a:xfrm>
            <a:off x="2606040" y="5212080"/>
            <a:ext cx="4370831"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0" name="sdaxistitle:y"/>
          <p:cNvSpPr txBox="1"/>
          <p:nvPr/>
        </p:nvSpPr>
        <p:spPr>
          <a:xfrm>
            <a:off x="2326386" y="1760219"/>
            <a:ext cx="206502" cy="265176"/>
          </a:xfrm>
          <a:prstGeom prst="rect">
            <a:avLst/>
          </a:prstGeom>
          <a:noFill/>
        </p:spPr>
        <p:txBody>
          <a:bodyPr wrap="square" lIns="0" tIns="0" rIns="0" bIns="0">
            <a:spAutoFit/>
          </a:bodyPr>
          <a:lstStyle/>
          <a:p>
            <a:pPr algn="l"/>
            <a:r>
              <a:rPr sz="1800" b="1" i="1" u="none">
                <a:solidFill>
                  <a:srgbClr val="0B2B4E"/>
                </a:solidFill>
                <a:latin typeface="Calibri"/>
              </a:rPr>
              <a:t>P</a:t>
            </a:r>
          </a:p>
        </p:txBody>
      </p:sp>
      <p:sp>
        <p:nvSpPr>
          <p:cNvPr id="11" name="sdaxistitle:x"/>
          <p:cNvSpPr txBox="1"/>
          <p:nvPr/>
        </p:nvSpPr>
        <p:spPr>
          <a:xfrm>
            <a:off x="6864095" y="5257800"/>
            <a:ext cx="225551" cy="265176"/>
          </a:xfrm>
          <a:prstGeom prst="rect">
            <a:avLst/>
          </a:prstGeom>
          <a:noFill/>
        </p:spPr>
        <p:txBody>
          <a:bodyPr wrap="square" lIns="0" tIns="0" rIns="0" bIns="0">
            <a:spAutoFit/>
          </a:bodyPr>
          <a:lstStyle/>
          <a:p>
            <a:pPr algn="l"/>
            <a:r>
              <a:rPr sz="1800" b="1" i="1" u="none">
                <a:solidFill>
                  <a:srgbClr val="0B2B4E"/>
                </a:solidFill>
                <a:latin typeface="Calibri"/>
              </a:rPr>
              <a:t>Q</a:t>
            </a:r>
          </a:p>
        </p:txBody>
      </p:sp>
      <p:grpSp>
        <p:nvGrpSpPr>
          <p:cNvPr id="151" name="sdpair:curve:D"/>
          <p:cNvGrpSpPr/>
          <p:nvPr/>
        </p:nvGrpSpPr>
        <p:grpSpPr>
          <a:xfrm>
            <a:off x="2606040" y="2344189"/>
            <a:ext cx="3845705" cy="2867891"/>
            <a:chOff x="2606040" y="2344189"/>
            <a:chExt cx="3845705" cy="2867891"/>
          </a:xfrm>
        </p:grpSpPr>
        <p:cxnSp>
          <p:nvCxnSpPr>
            <p:cNvPr id="12" name="sdcurve:D"/>
            <p:cNvCxnSpPr/>
            <p:nvPr/>
          </p:nvCxnSpPr>
          <p:spPr>
            <a:xfrm>
              <a:off x="2606040" y="2344189"/>
              <a:ext cx="3845705" cy="2867891"/>
            </a:xfrm>
            <a:prstGeom prst="line">
              <a:avLst/>
            </a:prstGeom>
            <a:ln w="34925">
              <a:solidFill>
                <a:srgbClr val="C00000"/>
              </a:solidFill>
            </a:ln>
          </p:spPr>
          <p:style>
            <a:lnRef idx="2">
              <a:schemeClr val="accent1"/>
            </a:lnRef>
            <a:fillRef idx="0">
              <a:schemeClr val="accent1"/>
            </a:fillRef>
            <a:effectRef idx="1">
              <a:schemeClr val="accent1"/>
            </a:effectRef>
            <a:fontRef idx="minor">
              <a:schemeClr val="tx1"/>
            </a:fontRef>
          </p:style>
        </p:cxnSp>
        <p:sp>
          <p:nvSpPr>
            <p:cNvPr id="13" name="sdcurvelab:D"/>
            <p:cNvSpPr txBox="1"/>
            <p:nvPr/>
          </p:nvSpPr>
          <p:spPr>
            <a:xfrm>
              <a:off x="6139281" y="4406161"/>
              <a:ext cx="235077" cy="292608"/>
            </a:xfrm>
            <a:prstGeom prst="rect">
              <a:avLst/>
            </a:prstGeom>
            <a:noFill/>
          </p:spPr>
          <p:txBody>
            <a:bodyPr wrap="square" lIns="0" tIns="0" rIns="0" bIns="0">
              <a:spAutoFit/>
            </a:bodyPr>
            <a:lstStyle/>
            <a:p>
              <a:pPr algn="l"/>
              <a:r>
                <a:rPr sz="2000" b="1" i="1" u="none">
                  <a:solidFill>
                    <a:srgbClr val="C00000"/>
                  </a:solidFill>
                  <a:latin typeface="Calibri"/>
                </a:rPr>
                <a:t>D</a:t>
              </a:r>
            </a:p>
          </p:txBody>
        </p:sp>
      </p:grpSp>
      <p:grpSp>
        <p:nvGrpSpPr>
          <p:cNvPr id="152" name="sdpair:curve:MC"/>
          <p:cNvGrpSpPr/>
          <p:nvPr/>
        </p:nvGrpSpPr>
        <p:grpSpPr>
          <a:xfrm>
            <a:off x="2606040" y="3545793"/>
            <a:ext cx="4275821" cy="292608"/>
            <a:chOff x="2606040" y="3545793"/>
            <a:chExt cx="4275821" cy="292608"/>
          </a:xfrm>
        </p:grpSpPr>
        <p:cxnSp>
          <p:nvCxnSpPr>
            <p:cNvPr id="14" name="sdcurve:MC"/>
            <p:cNvCxnSpPr/>
            <p:nvPr/>
          </p:nvCxnSpPr>
          <p:spPr>
            <a:xfrm>
              <a:off x="2606040" y="3778134"/>
              <a:ext cx="3749562" cy="0"/>
            </a:xfrm>
            <a:prstGeom prst="line">
              <a:avLst/>
            </a:prstGeom>
            <a:ln w="34925">
              <a:solidFill>
                <a:srgbClr val="0B2B4E"/>
              </a:solidFill>
            </a:ln>
          </p:spPr>
          <p:style>
            <a:lnRef idx="2">
              <a:schemeClr val="accent1"/>
            </a:lnRef>
            <a:fillRef idx="0">
              <a:schemeClr val="accent1"/>
            </a:fillRef>
            <a:effectRef idx="1">
              <a:schemeClr val="accent1"/>
            </a:effectRef>
            <a:fontRef idx="minor">
              <a:schemeClr val="tx1"/>
            </a:fontRef>
          </p:style>
        </p:cxnSp>
        <p:sp>
          <p:nvSpPr>
            <p:cNvPr id="15" name="sdcurvelab:MC"/>
            <p:cNvSpPr txBox="1"/>
            <p:nvPr/>
          </p:nvSpPr>
          <p:spPr>
            <a:xfrm>
              <a:off x="6427709" y="3545793"/>
              <a:ext cx="454152" cy="292608"/>
            </a:xfrm>
            <a:prstGeom prst="rect">
              <a:avLst/>
            </a:prstGeom>
            <a:noFill/>
          </p:spPr>
          <p:txBody>
            <a:bodyPr wrap="square" lIns="0" tIns="0" rIns="0" bIns="0">
              <a:spAutoFit/>
            </a:bodyPr>
            <a:lstStyle/>
            <a:p>
              <a:pPr algn="l"/>
              <a:r>
                <a:rPr sz="2000" b="1" i="1" u="none">
                  <a:solidFill>
                    <a:srgbClr val="0B2B4E"/>
                  </a:solidFill>
                  <a:latin typeface="Calibri"/>
                </a:rPr>
                <a:t>MC</a:t>
              </a:r>
            </a:p>
          </p:txBody>
        </p:sp>
      </p:grpSp>
      <p:grpSp>
        <p:nvGrpSpPr>
          <p:cNvPr id="153" name="sdpair:curve:MR"/>
          <p:cNvGrpSpPr/>
          <p:nvPr/>
        </p:nvGrpSpPr>
        <p:grpSpPr>
          <a:xfrm>
            <a:off x="2606040" y="2344189"/>
            <a:ext cx="2439586" cy="2867891"/>
            <a:chOff x="2606040" y="2344189"/>
            <a:chExt cx="2439586" cy="2867891"/>
          </a:xfrm>
        </p:grpSpPr>
        <p:cxnSp>
          <p:nvCxnSpPr>
            <p:cNvPr id="16" name="sdcurve:MR"/>
            <p:cNvCxnSpPr/>
            <p:nvPr/>
          </p:nvCxnSpPr>
          <p:spPr>
            <a:xfrm>
              <a:off x="2606040" y="2344189"/>
              <a:ext cx="1922852" cy="2867891"/>
            </a:xfrm>
            <a:prstGeom prst="line">
              <a:avLst/>
            </a:prstGeom>
            <a:ln w="28575">
              <a:solidFill>
                <a:srgbClr val="C00000"/>
              </a:solidFill>
              <a:prstDash val="dash"/>
            </a:ln>
          </p:spPr>
          <p:style>
            <a:lnRef idx="2">
              <a:schemeClr val="accent1"/>
            </a:lnRef>
            <a:fillRef idx="0">
              <a:schemeClr val="accent1"/>
            </a:fillRef>
            <a:effectRef idx="1">
              <a:schemeClr val="accent1"/>
            </a:effectRef>
            <a:fontRef idx="minor">
              <a:schemeClr val="tx1"/>
            </a:fontRef>
          </p:style>
        </p:cxnSp>
        <p:sp>
          <p:nvSpPr>
            <p:cNvPr id="17" name="sdcurvelab:MR"/>
            <p:cNvSpPr txBox="1"/>
            <p:nvPr/>
          </p:nvSpPr>
          <p:spPr>
            <a:xfrm>
              <a:off x="4600999" y="4807665"/>
              <a:ext cx="444627" cy="292608"/>
            </a:xfrm>
            <a:prstGeom prst="rect">
              <a:avLst/>
            </a:prstGeom>
            <a:noFill/>
          </p:spPr>
          <p:txBody>
            <a:bodyPr wrap="square" lIns="0" tIns="0" rIns="0" bIns="0">
              <a:spAutoFit/>
            </a:bodyPr>
            <a:lstStyle/>
            <a:p>
              <a:pPr algn="l"/>
              <a:r>
                <a:rPr sz="2000" b="1" i="1" u="none">
                  <a:solidFill>
                    <a:srgbClr val="C00000"/>
                  </a:solidFill>
                  <a:latin typeface="Calibri"/>
                </a:rPr>
                <a:t>MR</a:t>
              </a:r>
            </a:p>
          </p:txBody>
        </p:sp>
      </p:grpSp>
      <p:cxnSp>
        <p:nvCxnSpPr>
          <p:cNvPr id="18" name="Connector 17"/>
          <p:cNvCxnSpPr/>
          <p:nvPr/>
        </p:nvCxnSpPr>
        <p:spPr>
          <a:xfrm>
            <a:off x="2606040" y="3061161"/>
            <a:ext cx="961426"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567466" y="3061161"/>
            <a:ext cx="0" cy="2150919"/>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993011" y="2924001"/>
            <a:ext cx="539876" cy="274320"/>
          </a:xfrm>
          <a:prstGeom prst="rect">
            <a:avLst/>
          </a:prstGeom>
          <a:noFill/>
        </p:spPr>
        <p:txBody>
          <a:bodyPr wrap="square" lIns="0" tIns="0" rIns="0" bIns="0">
            <a:spAutoFit/>
          </a:bodyPr>
          <a:lstStyle/>
          <a:p>
            <a:pPr algn="r"/>
            <a:r>
              <a:rPr sz="1800" b="1" i="1" u="none">
                <a:solidFill>
                  <a:srgbClr val="0B2B4E"/>
                </a:solidFill>
                <a:latin typeface="Calibri"/>
              </a:rPr>
              <a:t>$300</a:t>
            </a:r>
          </a:p>
        </p:txBody>
      </p:sp>
      <p:sp>
        <p:nvSpPr>
          <p:cNvPr id="21" name="TextBox 20"/>
          <p:cNvSpPr txBox="1"/>
          <p:nvPr/>
        </p:nvSpPr>
        <p:spPr>
          <a:xfrm>
            <a:off x="1993011" y="3640974"/>
            <a:ext cx="539876" cy="274320"/>
          </a:xfrm>
          <a:prstGeom prst="rect">
            <a:avLst/>
          </a:prstGeom>
          <a:noFill/>
        </p:spPr>
        <p:txBody>
          <a:bodyPr wrap="square" lIns="0" tIns="0" rIns="0" bIns="0">
            <a:spAutoFit/>
          </a:bodyPr>
          <a:lstStyle/>
          <a:p>
            <a:pPr algn="r"/>
            <a:r>
              <a:rPr sz="1800" b="0" i="1" u="none">
                <a:solidFill>
                  <a:srgbClr val="0B2B4E"/>
                </a:solidFill>
                <a:latin typeface="Calibri"/>
              </a:rPr>
              <a:t>$200</a:t>
            </a:r>
          </a:p>
        </p:txBody>
      </p:sp>
      <p:sp>
        <p:nvSpPr>
          <p:cNvPr id="22" name="TextBox 21"/>
          <p:cNvSpPr txBox="1"/>
          <p:nvPr/>
        </p:nvSpPr>
        <p:spPr>
          <a:xfrm>
            <a:off x="3116553" y="5266944"/>
            <a:ext cx="901827" cy="274320"/>
          </a:xfrm>
          <a:prstGeom prst="rect">
            <a:avLst/>
          </a:prstGeom>
          <a:noFill/>
        </p:spPr>
        <p:txBody>
          <a:bodyPr wrap="square" lIns="0" tIns="0" rIns="0" bIns="0">
            <a:spAutoFit/>
          </a:bodyPr>
          <a:lstStyle/>
          <a:p>
            <a:pPr algn="ctr"/>
            <a:r>
              <a:rPr sz="1800" b="1" i="1" u="none">
                <a:solidFill>
                  <a:srgbClr val="0B2B4E"/>
                </a:solidFill>
                <a:latin typeface="Calibri"/>
              </a:rPr>
              <a:t>Q* = 400</a:t>
            </a:r>
          </a:p>
        </p:txBody>
      </p:sp>
      <p:sp>
        <p:nvSpPr>
          <p:cNvPr id="23" name="PtOpt"/>
          <p:cNvSpPr/>
          <p:nvPr/>
        </p:nvSpPr>
        <p:spPr>
          <a:xfrm>
            <a:off x="3498886" y="2992581"/>
            <a:ext cx="137160" cy="137160"/>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26" name="BracePMC"/>
          <p:cNvGrpSpPr/>
          <p:nvPr/>
        </p:nvGrpSpPr>
        <p:grpSpPr>
          <a:xfrm>
            <a:off x="320040" y="3061161"/>
            <a:ext cx="1307592" cy="716973"/>
            <a:chOff x="320040" y="3061161"/>
            <a:chExt cx="1307592" cy="716973"/>
          </a:xfrm>
        </p:grpSpPr>
        <p:sp>
          <p:nvSpPr>
            <p:cNvPr id="24" name="Left Brace 23"/>
            <p:cNvSpPr/>
            <p:nvPr/>
          </p:nvSpPr>
          <p:spPr>
            <a:xfrm>
              <a:off x="1481328" y="3061161"/>
              <a:ext cx="146304" cy="716973"/>
            </a:xfrm>
            <a:prstGeom prst="leftBrace">
              <a:avLst/>
            </a:prstGeom>
            <a:noFill/>
            <a:ln w="2222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20040" y="3255056"/>
              <a:ext cx="1097280" cy="329184"/>
            </a:xfrm>
            <a:prstGeom prst="rect">
              <a:avLst/>
            </a:prstGeom>
            <a:noFill/>
          </p:spPr>
          <p:txBody>
            <a:bodyPr wrap="square" lIns="0" tIns="0" rIns="0" bIns="0">
              <a:spAutoFit/>
            </a:bodyPr>
            <a:lstStyle/>
            <a:p>
              <a:pPr algn="r"/>
              <a:r>
                <a:rPr sz="1800" b="1" i="1" u="none">
                  <a:solidFill>
                    <a:srgbClr val="C00000"/>
                  </a:solidFill>
                  <a:latin typeface="Calibri"/>
                </a:rPr>
                <a:t>P − MC</a:t>
              </a:r>
            </a:p>
          </p:txBody>
        </p:sp>
      </p:grpSp>
      <p:grpSp>
        <p:nvGrpSpPr>
          <p:cNvPr id="29" name="BraceMC"/>
          <p:cNvGrpSpPr/>
          <p:nvPr/>
        </p:nvGrpSpPr>
        <p:grpSpPr>
          <a:xfrm>
            <a:off x="320040" y="3778134"/>
            <a:ext cx="1307592" cy="1433946"/>
            <a:chOff x="320040" y="3778134"/>
            <a:chExt cx="1307592" cy="1433946"/>
          </a:xfrm>
        </p:grpSpPr>
        <p:sp>
          <p:nvSpPr>
            <p:cNvPr id="27" name="Left Brace 26"/>
            <p:cNvSpPr/>
            <p:nvPr/>
          </p:nvSpPr>
          <p:spPr>
            <a:xfrm>
              <a:off x="1481328" y="3778134"/>
              <a:ext cx="146304" cy="1433946"/>
            </a:xfrm>
            <a:prstGeom prst="leftBrace">
              <a:avLst/>
            </a:prstGeom>
            <a:noFill/>
            <a:ln w="2222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20040" y="4330515"/>
              <a:ext cx="1097280" cy="329184"/>
            </a:xfrm>
            <a:prstGeom prst="rect">
              <a:avLst/>
            </a:prstGeom>
            <a:noFill/>
          </p:spPr>
          <p:txBody>
            <a:bodyPr wrap="square" lIns="0" tIns="0" rIns="0" bIns="0">
              <a:spAutoFit/>
            </a:bodyPr>
            <a:lstStyle/>
            <a:p>
              <a:pPr algn="r"/>
              <a:r>
                <a:rPr sz="1800" b="1" i="1" u="none">
                  <a:solidFill>
                    <a:srgbClr val="0B2B4E"/>
                  </a:solidFill>
                  <a:latin typeface="Calibri"/>
                </a:rPr>
                <a:t>MC</a:t>
              </a:r>
            </a:p>
          </p:txBody>
        </p:sp>
      </p:grpSp>
      <p:grpSp>
        <p:nvGrpSpPr>
          <p:cNvPr id="34" name="CardRule"/>
          <p:cNvGrpSpPr/>
          <p:nvPr/>
        </p:nvGrpSpPr>
        <p:grpSpPr>
          <a:xfrm>
            <a:off x="3631474" y="2212848"/>
            <a:ext cx="3848318" cy="1033272"/>
            <a:chOff x="3631474" y="2212848"/>
            <a:chExt cx="3848318" cy="1033272"/>
          </a:xfrm>
        </p:grpSpPr>
        <p:sp>
          <p:nvSpPr>
            <p:cNvPr id="30" name="Rounded Rectangle 29"/>
            <p:cNvSpPr/>
            <p:nvPr/>
          </p:nvSpPr>
          <p:spPr>
            <a:xfrm>
              <a:off x="4782312" y="2212848"/>
              <a:ext cx="2697480" cy="1024128"/>
            </a:xfrm>
            <a:prstGeom prst="roundRect">
              <a:avLst>
                <a:gd name="adj" fmla="val 10000"/>
              </a:avLst>
            </a:prstGeom>
            <a:solidFill>
              <a:srgbClr val="FDF6E6"/>
            </a:solidFill>
            <a:ln w="127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mc:AlternateContent xmlns:mc="http://schemas.openxmlformats.org/markup-compatibility/2006" xmlns:a14="http://schemas.microsoft.com/office/drawing/2010/main">
          <mc:Choice Requires="a14">
            <p:sp>
              <p:nvSpPr>
                <p:cNvPr id="31" name="TextBox 30"/>
                <p:cNvSpPr txBox="1"/>
                <p:nvPr/>
              </p:nvSpPr>
              <p:spPr>
                <a:xfrm>
                  <a:off x="4855464" y="2267712"/>
                  <a:ext cx="2551176" cy="566928"/>
                </a:xfrm>
                <a:prstGeom prst="rect">
                  <a:avLst/>
                </a:prstGeom>
                <a:noFill/>
              </p:spPr>
              <p:txBody>
                <a:bodyPr wrap="square" anchor="ctr">
                  <a:spAutoFit/>
                </a:bodyPr>
                <a:lstStyle/>
                <a:p>
                  <a:pPr algn="l">
                    <a:defRPr sz="2000" b="0" i="1">
                      <a:solidFill>
                        <a:srgbClr val="0B2B4E"/>
                      </a:solidFill>
                      <a:latin typeface="Cambria Math"/>
                    </a:defRPr>
                  </a:pPr>
                  <a14:m>
                    <m:oMathPara xmlns:m="http://schemas.openxmlformats.org/officeDocument/2006/math">
                      <m:oMathParaPr>
                        <m:jc m:val="left"/>
                      </m:oMathParaPr>
                      <m:oMath>
                        <m:f>
                          <m:fPr>
                            <m:ctrlPr>
                              <a:rPr lang="en-US" sz="2000" b="0" i="1">
                                <a:solidFill>
                                  <a:srgbClr val="0B2B4E"/>
                                </a:solidFill>
                                <a:latin typeface="Cambria Math"/>
                                <a:ea typeface="Cambria Math"/>
                              </a:rPr>
                            </m:ctrlPr>
                          </m:fPr>
                          <m:num>
                            <m:r>
                              <a:rPr lang="en-US" sz="2000" b="0" i="1">
                                <a:solidFill>
                                  <a:srgbClr val="0B2B4E"/>
                                </a:solidFill>
                                <a:latin typeface="Cambria Math"/>
                                <a:ea typeface="Cambria Math"/>
                              </a:rPr>
                              <m:t>𝑃</m:t>
                            </m:r>
                            <m:r>
                              <a:rPr lang="en-US" sz="2000" b="0" i="0">
                                <a:solidFill>
                                  <a:srgbClr val="0B2B4E"/>
                                </a:solidFill>
                                <a:latin typeface="Cambria Math"/>
                              </a:rPr>
                              <m:t> − </m:t>
                            </m:r>
                            <m:r>
                              <m:rPr>
                                <m:sty m:val="p"/>
                              </m:rPr>
                              <a:rPr lang="en-US" sz="2000" b="0" i="0">
                                <a:solidFill>
                                  <a:srgbClr val="0B2B4E"/>
                                </a:solidFill>
                                <a:latin typeface="Cambria Math"/>
                              </a:rPr>
                              <m:t>MC</m:t>
                            </m:r>
                          </m:num>
                          <m:den>
                            <m:r>
                              <a:rPr lang="en-US" sz="2000" b="0" i="1">
                                <a:solidFill>
                                  <a:srgbClr val="0B2B4E"/>
                                </a:solidFill>
                                <a:latin typeface="Cambria Math"/>
                                <a:ea typeface="Cambria Math"/>
                              </a:rPr>
                              <m:t>𝑃</m:t>
                            </m:r>
                          </m:den>
                        </m:f>
                        <m:r>
                          <a:rPr lang="en-US" sz="2000" b="0" i="0">
                            <a:solidFill>
                              <a:srgbClr val="0B2B4E"/>
                            </a:solidFill>
                            <a:latin typeface="Cambria Math"/>
                          </a:rPr>
                          <m:t> = </m:t>
                        </m:r>
                        <m:f>
                          <m:fPr>
                            <m:ctrlPr>
                              <a:rPr lang="en-US" sz="2000" b="0" i="0">
                                <a:solidFill>
                                  <a:srgbClr val="0B2B4E"/>
                                </a:solidFill>
                                <a:latin typeface="Cambria Math"/>
                              </a:rPr>
                            </m:ctrlPr>
                          </m:fPr>
                          <m:num>
                            <m:r>
                              <a:rPr lang="en-US" sz="2000" b="0" i="0">
                                <a:solidFill>
                                  <a:srgbClr val="0B2B4E"/>
                                </a:solidFill>
                                <a:latin typeface="Cambria Math"/>
                              </a:rPr>
                              <m:t>1</m:t>
                            </m:r>
                          </m:num>
                          <m:den>
                            <m:r>
                              <a:rPr lang="en-US" sz="2000" b="0" i="0">
                                <a:solidFill>
                                  <a:srgbClr val="0B2B4E"/>
                                </a:solidFill>
                                <a:latin typeface="Cambria Math"/>
                              </a:rPr>
                              <m:t>|</m:t>
                            </m:r>
                            <m:sSub>
                              <m:sSubPr>
                                <m:ctrlPr>
                                  <a:rPr lang="en-US" sz="2000" b="0" i="1">
                                    <a:solidFill>
                                      <a:srgbClr val="0B2B4E"/>
                                    </a:solidFill>
                                    <a:latin typeface="Cambria Math"/>
                                    <a:ea typeface="Cambria Math"/>
                                  </a:rPr>
                                </m:ctrlPr>
                              </m:sSubPr>
                              <m:e>
                                <m:r>
                                  <a:rPr lang="en-US" sz="2000" b="0" i="1">
                                    <a:solidFill>
                                      <a:srgbClr val="0B2B4E"/>
                                    </a:solidFill>
                                    <a:latin typeface="Cambria Math"/>
                                    <a:ea typeface="Cambria Math"/>
                                  </a:rPr>
                                  <m:t>𝐸</m:t>
                                </m:r>
                              </m:e>
                              <m:sub>
                                <m:r>
                                  <a:rPr lang="en-US" sz="2000" b="0" i="1">
                                    <a:solidFill>
                                      <a:srgbClr val="0B2B4E"/>
                                    </a:solidFill>
                                    <a:latin typeface="Cambria Math"/>
                                    <a:ea typeface="Cambria Math"/>
                                  </a:rPr>
                                  <m:t>𝐷</m:t>
                                </m:r>
                              </m:sub>
                            </m:sSub>
                            <m:r>
                              <a:rPr lang="en-US" sz="2000" b="0" i="0">
                                <a:solidFill>
                                  <a:srgbClr val="0B2B4E"/>
                                </a:solidFill>
                                <a:latin typeface="Cambria Math"/>
                              </a:rPr>
                              <m:t>|</m:t>
                            </m:r>
                          </m:den>
                        </m:f>
                      </m:oMath>
                    </m:oMathPara>
                  </a14:m>
                  <a:endParaRPr lang="en-US" sz="2000"/>
                </a:p>
              </p:txBody>
            </p:sp>
          </mc:Choice>
          <mc:Fallback xmlns="">
            <p:sp>
              <p:nvSpPr>
                <p:cNvPr id="31" name="TextBox 30"/>
                <p:cNvSpPr txBox="1">
                  <a:spLocks noRot="1" noChangeAspect="1" noMove="1" noResize="1" noEditPoints="1" noAdjustHandles="1" noChangeArrowheads="1" noChangeShapeType="1" noTextEdit="1"/>
                </p:cNvSpPr>
                <p:nvPr/>
              </p:nvSpPr>
              <p:spPr>
                <a:xfrm>
                  <a:off x="4855464" y="2267712"/>
                  <a:ext cx="2551176" cy="566928"/>
                </a:xfrm>
                <a:prstGeom prst="rect">
                  <a:avLst/>
                </a:prstGeom>
                <a:blipFill>
                  <a:blip r:embed="rId5"/>
                  <a:stretch>
                    <a:fillRect b="-6452"/>
                  </a:stretch>
                </a:blipFill>
              </p:spPr>
              <p:txBody>
                <a:bodyPr/>
                <a:lstStyle/>
                <a:p>
                  <a:r>
                    <a:rPr lang="en-US">
                      <a:noFill/>
                    </a:rPr>
                    <a:t> </a:t>
                  </a:r>
                </a:p>
              </p:txBody>
            </p:sp>
          </mc:Fallback>
        </mc:AlternateContent>
        <p:sp>
          <p:nvSpPr>
            <p:cNvPr id="32" name="TextBox 31"/>
            <p:cNvSpPr txBox="1"/>
            <p:nvPr/>
          </p:nvSpPr>
          <p:spPr>
            <a:xfrm>
              <a:off x="4937760" y="2834640"/>
              <a:ext cx="2423160" cy="411480"/>
            </a:xfrm>
            <a:prstGeom prst="rect">
              <a:avLst/>
            </a:prstGeom>
            <a:noFill/>
          </p:spPr>
          <p:txBody>
            <a:bodyPr wrap="square" lIns="0" tIns="0" rIns="0" bIns="0">
              <a:spAutoFit/>
            </a:bodyPr>
            <a:lstStyle/>
            <a:p>
              <a:pPr algn="l"/>
              <a:r>
                <a:rPr sz="1400" b="1" i="0" u="none">
                  <a:solidFill>
                    <a:srgbClr val="0B2B4E"/>
                  </a:solidFill>
                  <a:latin typeface="Calibri"/>
                </a:rPr>
                <a:t>Lerner relationship holds only at the profit-max point!</a:t>
              </a:r>
            </a:p>
          </p:txBody>
        </p:sp>
        <p:cxnSp>
          <p:nvCxnSpPr>
            <p:cNvPr id="33" name="sdleader:30"/>
            <p:cNvCxnSpPr/>
            <p:nvPr/>
          </p:nvCxnSpPr>
          <p:spPr>
            <a:xfrm flipH="1">
              <a:off x="3631474" y="2888011"/>
              <a:ext cx="1096340" cy="127430"/>
            </a:xfrm>
            <a:prstGeom prst="line">
              <a:avLst/>
            </a:prstGeom>
            <a:ln w="28575">
              <a:solidFill>
                <a:srgbClr val="E09F3E"/>
              </a:solidFill>
              <a:tailEnd type="triangle" w="med"/>
            </a:ln>
          </p:spPr>
          <p:style>
            <a:lnRef idx="2">
              <a:schemeClr val="accent1"/>
            </a:lnRef>
            <a:fillRef idx="0">
              <a:schemeClr val="accent1"/>
            </a:fillRef>
            <a:effectRef idx="1">
              <a:schemeClr val="accent1"/>
            </a:effectRef>
            <a:fontRef idx="minor">
              <a:schemeClr val="tx1"/>
            </a:fontRef>
          </p:style>
        </p:cxnSp>
      </p:grpSp>
      <p:grpSp>
        <p:nvGrpSpPr>
          <p:cNvPr id="43" name="CardElast"/>
          <p:cNvGrpSpPr/>
          <p:nvPr/>
        </p:nvGrpSpPr>
        <p:grpSpPr>
          <a:xfrm>
            <a:off x="3749039" y="1682496"/>
            <a:ext cx="8165593" cy="3575304"/>
            <a:chOff x="3749039" y="1682496"/>
            <a:chExt cx="8165593" cy="3575304"/>
          </a:xfrm>
        </p:grpSpPr>
        <p:sp>
          <p:nvSpPr>
            <p:cNvPr id="35" name="Rounded Rectangle 34"/>
            <p:cNvSpPr/>
            <p:nvPr/>
          </p:nvSpPr>
          <p:spPr>
            <a:xfrm>
              <a:off x="7891272" y="3474720"/>
              <a:ext cx="4023360" cy="1783080"/>
            </a:xfrm>
            <a:prstGeom prst="roundRect">
              <a:avLst>
                <a:gd name="adj" fmla="val 10000"/>
              </a:avLst>
            </a:prstGeom>
            <a:solidFill>
              <a:srgbClr val="FFFFFF"/>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6" name="TextBox 35"/>
            <p:cNvSpPr txBox="1"/>
            <p:nvPr/>
          </p:nvSpPr>
          <p:spPr>
            <a:xfrm>
              <a:off x="8046720" y="3529584"/>
              <a:ext cx="3749040" cy="274320"/>
            </a:xfrm>
            <a:prstGeom prst="rect">
              <a:avLst/>
            </a:prstGeom>
            <a:noFill/>
          </p:spPr>
          <p:txBody>
            <a:bodyPr wrap="square" lIns="0" tIns="0" rIns="0" bIns="0">
              <a:spAutoFit/>
            </a:bodyPr>
            <a:lstStyle/>
            <a:p>
              <a:pPr algn="l"/>
              <a:r>
                <a:rPr sz="1400" b="1" i="1" u="none">
                  <a:solidFill>
                    <a:srgbClr val="C00000"/>
                  </a:solidFill>
                  <a:latin typeface="Calibri"/>
                </a:rPr>
                <a:t>At the profit-max point:</a:t>
              </a:r>
            </a:p>
          </p:txBody>
        </p:sp>
        <mc:AlternateContent xmlns:mc="http://schemas.openxmlformats.org/markup-compatibility/2006" xmlns:a14="http://schemas.microsoft.com/office/drawing/2010/main">
          <mc:Choice Requires="a14">
            <p:sp>
              <p:nvSpPr>
                <p:cNvPr id="37" name="TextBox 36"/>
                <p:cNvSpPr txBox="1"/>
                <p:nvPr/>
              </p:nvSpPr>
              <p:spPr>
                <a:xfrm>
                  <a:off x="7964424" y="3803904"/>
                  <a:ext cx="3877056" cy="713232"/>
                </a:xfrm>
                <a:prstGeom prst="rect">
                  <a:avLst/>
                </a:prstGeom>
                <a:noFill/>
              </p:spPr>
              <p:txBody>
                <a:bodyPr wrap="square" anchor="ctr">
                  <a:spAutoFit/>
                </a:bodyPr>
                <a:lstStyle/>
                <a:p>
                  <a:pPr algn="l">
                    <a:defRPr sz="1600" b="0" i="1">
                      <a:solidFill>
                        <a:srgbClr val="0B2B4E"/>
                      </a:solidFill>
                      <a:latin typeface="Cambria Math"/>
                    </a:defRPr>
                  </a:pPr>
                  <a14:m>
                    <m:oMathPara xmlns:m="http://schemas.openxmlformats.org/officeDocument/2006/math">
                      <m:oMathParaPr>
                        <m:jc m:val="left"/>
                      </m:oMathParaPr>
                      <m:oMath>
                        <m:sSub>
                          <m:sSubPr>
                            <m:ctrlPr>
                              <a:rPr lang="en-US" sz="1600" b="0" i="1">
                                <a:solidFill>
                                  <a:srgbClr val="0B2B4E"/>
                                </a:solidFill>
                                <a:latin typeface="Cambria Math"/>
                                <a:ea typeface="Cambria Math"/>
                              </a:rPr>
                            </m:ctrlPr>
                          </m:sSubPr>
                          <m:e>
                            <m:r>
                              <a:rPr lang="en-US" sz="1600" b="0" i="1">
                                <a:solidFill>
                                  <a:srgbClr val="0B2B4E"/>
                                </a:solidFill>
                                <a:latin typeface="Cambria Math"/>
                                <a:ea typeface="Cambria Math"/>
                              </a:rPr>
                              <m:t>𝐸</m:t>
                            </m:r>
                          </m:e>
                          <m:sub>
                            <m:r>
                              <a:rPr lang="en-US" sz="1600" b="0" i="1">
                                <a:solidFill>
                                  <a:srgbClr val="0B2B4E"/>
                                </a:solidFill>
                                <a:latin typeface="Cambria Math"/>
                                <a:ea typeface="Cambria Math"/>
                              </a:rPr>
                              <m:t>𝐷</m:t>
                            </m:r>
                          </m:sub>
                        </m:sSub>
                        <m:r>
                          <a:rPr lang="en-US" sz="1600" b="0" i="0">
                            <a:solidFill>
                              <a:srgbClr val="0B2B4E"/>
                            </a:solidFill>
                            <a:latin typeface="Cambria Math"/>
                          </a:rPr>
                          <m:t> = </m:t>
                        </m:r>
                        <m:f>
                          <m:fPr>
                            <m:ctrlPr>
                              <a:rPr lang="en-US" sz="1600" b="0" i="1">
                                <a:solidFill>
                                  <a:srgbClr val="0B2B4E"/>
                                </a:solidFill>
                                <a:latin typeface="Cambria Math"/>
                                <a:ea typeface="Cambria Math"/>
                              </a:rPr>
                            </m:ctrlPr>
                          </m:fPr>
                          <m:num>
                            <m:r>
                              <a:rPr lang="en-US" sz="1600" b="0" i="1">
                                <a:solidFill>
                                  <a:srgbClr val="0B2B4E"/>
                                </a:solidFill>
                                <a:latin typeface="Cambria Math"/>
                                <a:ea typeface="Cambria Math"/>
                              </a:rPr>
                              <m:t>𝑑𝑄</m:t>
                            </m:r>
                          </m:num>
                          <m:den>
                            <m:r>
                              <a:rPr lang="en-US" sz="1600" b="0" i="1">
                                <a:solidFill>
                                  <a:srgbClr val="0B2B4E"/>
                                </a:solidFill>
                                <a:latin typeface="Cambria Math"/>
                                <a:ea typeface="Cambria Math"/>
                              </a:rPr>
                              <m:t>𝑑𝑃</m:t>
                            </m:r>
                          </m:den>
                        </m:f>
                        <m:f>
                          <m:fPr>
                            <m:ctrlPr>
                              <a:rPr lang="en-US" sz="1600" b="0" i="1">
                                <a:solidFill>
                                  <a:srgbClr val="0B2B4E"/>
                                </a:solidFill>
                                <a:latin typeface="Cambria Math"/>
                                <a:ea typeface="Cambria Math"/>
                              </a:rPr>
                            </m:ctrlPr>
                          </m:fPr>
                          <m:num>
                            <m:sSup>
                              <m:sSupPr>
                                <m:ctrlPr>
                                  <a:rPr lang="en-US" sz="1600" b="0" i="1">
                                    <a:solidFill>
                                      <a:srgbClr val="0B2B4E"/>
                                    </a:solidFill>
                                    <a:latin typeface="Cambria Math"/>
                                    <a:ea typeface="Cambria Math"/>
                                  </a:rPr>
                                </m:ctrlPr>
                              </m:sSupPr>
                              <m:e>
                                <m:r>
                                  <a:rPr lang="en-US" sz="1600" b="0" i="1">
                                    <a:solidFill>
                                      <a:srgbClr val="0B2B4E"/>
                                    </a:solidFill>
                                    <a:latin typeface="Cambria Math"/>
                                    <a:ea typeface="Cambria Math"/>
                                  </a:rPr>
                                  <m:t>𝑃</m:t>
                                </m:r>
                              </m:e>
                              <m:sup>
                                <m:r>
                                  <a:rPr lang="en-US" sz="1600" b="0" i="0">
                                    <a:solidFill>
                                      <a:srgbClr val="0B2B4E"/>
                                    </a:solidFill>
                                    <a:latin typeface="Cambria Math"/>
                                  </a:rPr>
                                  <m:t>∗</m:t>
                                </m:r>
                              </m:sup>
                            </m:sSup>
                          </m:num>
                          <m:den>
                            <m:sSup>
                              <m:sSupPr>
                                <m:ctrlPr>
                                  <a:rPr lang="en-US" sz="1600" b="0" i="1">
                                    <a:solidFill>
                                      <a:srgbClr val="0B2B4E"/>
                                    </a:solidFill>
                                    <a:latin typeface="Cambria Math"/>
                                    <a:ea typeface="Cambria Math"/>
                                  </a:rPr>
                                </m:ctrlPr>
                              </m:sSupPr>
                              <m:e>
                                <m:r>
                                  <a:rPr lang="en-US" sz="1600" b="0" i="1">
                                    <a:solidFill>
                                      <a:srgbClr val="0B2B4E"/>
                                    </a:solidFill>
                                    <a:latin typeface="Cambria Math"/>
                                    <a:ea typeface="Cambria Math"/>
                                  </a:rPr>
                                  <m:t>𝑄</m:t>
                                </m:r>
                              </m:e>
                              <m:sup>
                                <m:r>
                                  <a:rPr lang="en-US" sz="1600" b="0" i="0">
                                    <a:solidFill>
                                      <a:srgbClr val="0B2B4E"/>
                                    </a:solidFill>
                                    <a:latin typeface="Cambria Math"/>
                                  </a:rPr>
                                  <m:t>∗</m:t>
                                </m:r>
                              </m:sup>
                            </m:sSup>
                          </m:den>
                        </m:f>
                        <m:r>
                          <a:rPr lang="en-US" sz="1600" b="0" i="0">
                            <a:solidFill>
                              <a:srgbClr val="0B2B4E"/>
                            </a:solidFill>
                            <a:latin typeface="Cambria Math"/>
                          </a:rPr>
                          <m:t> = </m:t>
                        </m:r>
                        <m:r>
                          <a:rPr lang="en-US" sz="1600" b="0" i="0">
                            <a:solidFill>
                              <a:srgbClr val="B8860B"/>
                            </a:solidFill>
                            <a:latin typeface="Cambria Math"/>
                          </a:rPr>
                          <m:t>−4</m:t>
                        </m:r>
                        <m:r>
                          <a:rPr lang="en-US" sz="1600" b="0" i="0">
                            <a:solidFill>
                              <a:srgbClr val="0B2B4E"/>
                            </a:solidFill>
                            <a:latin typeface="Cambria Math"/>
                          </a:rPr>
                          <m:t> · </m:t>
                        </m:r>
                        <m:f>
                          <m:fPr>
                            <m:ctrlPr>
                              <a:rPr lang="en-US" sz="1600" b="0" i="0">
                                <a:solidFill>
                                  <a:srgbClr val="0B2B4E"/>
                                </a:solidFill>
                                <a:latin typeface="Cambria Math"/>
                              </a:rPr>
                            </m:ctrlPr>
                          </m:fPr>
                          <m:num>
                            <m:r>
                              <a:rPr lang="en-US" sz="1600" b="0" i="0">
                                <a:solidFill>
                                  <a:srgbClr val="0B2B4E"/>
                                </a:solidFill>
                                <a:latin typeface="Cambria Math"/>
                              </a:rPr>
                              <m:t>300</m:t>
                            </m:r>
                          </m:num>
                          <m:den>
                            <m:r>
                              <a:rPr lang="en-US" sz="1600" b="0" i="0">
                                <a:solidFill>
                                  <a:srgbClr val="0B2B4E"/>
                                </a:solidFill>
                                <a:latin typeface="Cambria Math"/>
                              </a:rPr>
                              <m:t>400</m:t>
                            </m:r>
                          </m:den>
                        </m:f>
                        <m:r>
                          <a:rPr lang="en-US" sz="1600" b="0" i="0">
                            <a:solidFill>
                              <a:srgbClr val="0B2B4E"/>
                            </a:solidFill>
                            <a:latin typeface="Cambria Math"/>
                          </a:rPr>
                          <m:t> = −3</m:t>
                        </m:r>
                      </m:oMath>
                    </m:oMathPara>
                  </a14:m>
                  <a:endParaRPr lang="en-US" sz="1600"/>
                </a:p>
              </p:txBody>
            </p:sp>
          </mc:Choice>
          <mc:Fallback xmlns="">
            <p:sp>
              <p:nvSpPr>
                <p:cNvPr id="37" name="TextBox 36"/>
                <p:cNvSpPr txBox="1">
                  <a:spLocks noRot="1" noChangeAspect="1" noMove="1" noResize="1" noEditPoints="1" noAdjustHandles="1" noChangeArrowheads="1" noChangeShapeType="1" noTextEdit="1"/>
                </p:cNvSpPr>
                <p:nvPr/>
              </p:nvSpPr>
              <p:spPr>
                <a:xfrm>
                  <a:off x="7964424" y="3803904"/>
                  <a:ext cx="3877056" cy="7132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p:cNvSpPr txBox="1"/>
                <p:nvPr/>
              </p:nvSpPr>
              <p:spPr>
                <a:xfrm>
                  <a:off x="7964424" y="4517136"/>
                  <a:ext cx="3877056" cy="640080"/>
                </a:xfrm>
                <a:prstGeom prst="rect">
                  <a:avLst/>
                </a:prstGeom>
                <a:noFill/>
              </p:spPr>
              <p:txBody>
                <a:bodyPr wrap="square" anchor="ctr">
                  <a:spAutoFit/>
                </a:bodyPr>
                <a:lstStyle/>
                <a:p>
                  <a:pPr algn="l">
                    <a:defRPr sz="1600" b="0" i="1">
                      <a:solidFill>
                        <a:srgbClr val="0B2B4E"/>
                      </a:solidFill>
                      <a:latin typeface="Cambria Math"/>
                    </a:defRPr>
                  </a:pPr>
                  <a14:m>
                    <m:oMathPara xmlns:m="http://schemas.openxmlformats.org/officeDocument/2006/math">
                      <m:oMathParaPr>
                        <m:jc m:val="left"/>
                      </m:oMathParaPr>
                      <m:oMath>
                        <m:r>
                          <m:rPr>
                            <m:sty m:val="p"/>
                          </m:rPr>
                          <a:rPr lang="en-US" sz="1600" b="0" i="0">
                            <a:solidFill>
                              <a:srgbClr val="0B2B4E"/>
                            </a:solidFill>
                            <a:latin typeface="Cambria Math"/>
                          </a:rPr>
                          <m:t>Thus</m:t>
                        </m:r>
                        <m:r>
                          <a:rPr lang="en-US" sz="1600" b="0" i="0">
                            <a:solidFill>
                              <a:srgbClr val="0B2B4E"/>
                            </a:solidFill>
                            <a:latin typeface="Cambria Math"/>
                          </a:rPr>
                          <m:t>:  </m:t>
                        </m:r>
                        <m:f>
                          <m:fPr>
                            <m:ctrlPr>
                              <a:rPr lang="en-US" sz="1600" b="0" i="0">
                                <a:solidFill>
                                  <a:srgbClr val="0B2B4E"/>
                                </a:solidFill>
                                <a:latin typeface="Cambria Math"/>
                              </a:rPr>
                            </m:ctrlPr>
                          </m:fPr>
                          <m:num>
                            <m:r>
                              <a:rPr lang="en-US" sz="1600" b="0" i="0">
                                <a:solidFill>
                                  <a:srgbClr val="0B2B4E"/>
                                </a:solidFill>
                                <a:latin typeface="Cambria Math"/>
                              </a:rPr>
                              <m:t>1</m:t>
                            </m:r>
                          </m:num>
                          <m:den>
                            <m:r>
                              <a:rPr lang="en-US" sz="1600" b="0" i="0">
                                <a:solidFill>
                                  <a:srgbClr val="0B2B4E"/>
                                </a:solidFill>
                                <a:latin typeface="Cambria Math"/>
                              </a:rPr>
                              <m:t>|</m:t>
                            </m:r>
                            <m:sSub>
                              <m:sSubPr>
                                <m:ctrlPr>
                                  <a:rPr lang="en-US" sz="1600" b="0" i="1">
                                    <a:solidFill>
                                      <a:srgbClr val="0B2B4E"/>
                                    </a:solidFill>
                                    <a:latin typeface="Cambria Math"/>
                                    <a:ea typeface="Cambria Math"/>
                                  </a:rPr>
                                </m:ctrlPr>
                              </m:sSubPr>
                              <m:e>
                                <m:r>
                                  <a:rPr lang="en-US" sz="1600" b="0" i="1">
                                    <a:solidFill>
                                      <a:srgbClr val="0B2B4E"/>
                                    </a:solidFill>
                                    <a:latin typeface="Cambria Math"/>
                                    <a:ea typeface="Cambria Math"/>
                                  </a:rPr>
                                  <m:t>𝐸</m:t>
                                </m:r>
                              </m:e>
                              <m:sub>
                                <m:r>
                                  <a:rPr lang="en-US" sz="1600" b="0" i="1">
                                    <a:solidFill>
                                      <a:srgbClr val="0B2B4E"/>
                                    </a:solidFill>
                                    <a:latin typeface="Cambria Math"/>
                                    <a:ea typeface="Cambria Math"/>
                                  </a:rPr>
                                  <m:t>𝐷</m:t>
                                </m:r>
                              </m:sub>
                            </m:sSub>
                            <m:r>
                              <a:rPr lang="en-US" sz="1600" b="0" i="0">
                                <a:solidFill>
                                  <a:srgbClr val="0B2B4E"/>
                                </a:solidFill>
                                <a:latin typeface="Cambria Math"/>
                              </a:rPr>
                              <m:t>|</m:t>
                            </m:r>
                          </m:den>
                        </m:f>
                        <m:r>
                          <a:rPr lang="en-US" sz="1600" b="0" i="0">
                            <a:solidFill>
                              <a:srgbClr val="0B2B4E"/>
                            </a:solidFill>
                            <a:latin typeface="Cambria Math"/>
                          </a:rPr>
                          <m:t> = </m:t>
                        </m:r>
                        <m:f>
                          <m:fPr>
                            <m:ctrlPr>
                              <a:rPr lang="en-US" sz="1600" b="0" i="0">
                                <a:solidFill>
                                  <a:srgbClr val="0B2B4E"/>
                                </a:solidFill>
                                <a:latin typeface="Cambria Math"/>
                              </a:rPr>
                            </m:ctrlPr>
                          </m:fPr>
                          <m:num>
                            <m:r>
                              <a:rPr lang="en-US" sz="1600" b="0" i="0">
                                <a:solidFill>
                                  <a:srgbClr val="0B2B4E"/>
                                </a:solidFill>
                                <a:latin typeface="Cambria Math"/>
                              </a:rPr>
                              <m:t>1</m:t>
                            </m:r>
                          </m:num>
                          <m:den>
                            <m:r>
                              <a:rPr lang="en-US" sz="1600" b="0" i="0">
                                <a:solidFill>
                                  <a:srgbClr val="0B2B4E"/>
                                </a:solidFill>
                                <a:latin typeface="Cambria Math"/>
                              </a:rPr>
                              <m:t>3</m:t>
                            </m:r>
                          </m:den>
                        </m:f>
                        <m:r>
                          <a:rPr lang="en-US" sz="1600" b="0" i="0">
                            <a:solidFill>
                              <a:srgbClr val="C00000"/>
                            </a:solidFill>
                            <a:latin typeface="Cambria Math"/>
                          </a:rPr>
                          <m:t> = 33% ✓</m:t>
                        </m:r>
                      </m:oMath>
                    </m:oMathPara>
                  </a14:m>
                  <a:endParaRPr lang="en-US" sz="1600"/>
                </a:p>
              </p:txBody>
            </p:sp>
          </mc:Choice>
          <mc:Fallback xmlns="">
            <p:sp>
              <p:nvSpPr>
                <p:cNvPr id="38" name="TextBox 37"/>
                <p:cNvSpPr txBox="1">
                  <a:spLocks noRot="1" noChangeAspect="1" noMove="1" noResize="1" noEditPoints="1" noAdjustHandles="1" noChangeArrowheads="1" noChangeShapeType="1" noTextEdit="1"/>
                </p:cNvSpPr>
                <p:nvPr/>
              </p:nvSpPr>
              <p:spPr>
                <a:xfrm>
                  <a:off x="7964424" y="4517136"/>
                  <a:ext cx="3877056" cy="640080"/>
                </a:xfrm>
                <a:prstGeom prst="rect">
                  <a:avLst/>
                </a:prstGeom>
                <a:blipFill>
                  <a:blip r:embed="rId7"/>
                  <a:stretch>
                    <a:fillRect/>
                  </a:stretch>
                </a:blipFill>
              </p:spPr>
              <p:txBody>
                <a:bodyPr/>
                <a:lstStyle/>
                <a:p>
                  <a:r>
                    <a:rPr lang="en-US">
                      <a:noFill/>
                    </a:rPr>
                    <a:t> </a:t>
                  </a:r>
                </a:p>
              </p:txBody>
            </p:sp>
          </mc:Fallback>
        </mc:AlternateContent>
        <p:cxnSp>
          <p:nvCxnSpPr>
            <p:cNvPr id="39" name="M4Arrow1"/>
            <p:cNvCxnSpPr/>
            <p:nvPr/>
          </p:nvCxnSpPr>
          <p:spPr>
            <a:xfrm flipV="1">
              <a:off x="9646920" y="1901952"/>
              <a:ext cx="0" cy="2167128"/>
            </a:xfrm>
            <a:prstGeom prst="line">
              <a:avLst/>
            </a:prstGeom>
            <a:ln w="22225">
              <a:solidFill>
                <a:srgbClr val="B8860B"/>
              </a:solidFill>
              <a:prstDash val="sysDash"/>
            </a:ln>
          </p:spPr>
          <p:style>
            <a:lnRef idx="2">
              <a:schemeClr val="accent1"/>
            </a:lnRef>
            <a:fillRef idx="0">
              <a:schemeClr val="accent1"/>
            </a:fillRef>
            <a:effectRef idx="1">
              <a:schemeClr val="accent1"/>
            </a:effectRef>
            <a:fontRef idx="minor">
              <a:schemeClr val="tx1"/>
            </a:fontRef>
          </p:style>
        </p:cxnSp>
        <p:cxnSp>
          <p:nvCxnSpPr>
            <p:cNvPr id="40" name="M4Arrow2"/>
            <p:cNvCxnSpPr/>
            <p:nvPr/>
          </p:nvCxnSpPr>
          <p:spPr>
            <a:xfrm flipH="1">
              <a:off x="6492240" y="1901952"/>
              <a:ext cx="3154680" cy="0"/>
            </a:xfrm>
            <a:prstGeom prst="line">
              <a:avLst/>
            </a:prstGeom>
            <a:ln w="22225">
              <a:solidFill>
                <a:srgbClr val="B8860B"/>
              </a:solidFill>
              <a:prstDash val="sysDash"/>
            </a:ln>
          </p:spPr>
          <p:style>
            <a:lnRef idx="2">
              <a:schemeClr val="accent1"/>
            </a:lnRef>
            <a:fillRef idx="0">
              <a:schemeClr val="accent1"/>
            </a:fillRef>
            <a:effectRef idx="1">
              <a:schemeClr val="accent1"/>
            </a:effectRef>
            <a:fontRef idx="minor">
              <a:schemeClr val="tx1"/>
            </a:fontRef>
          </p:style>
        </p:cxnSp>
        <p:cxnSp>
          <p:nvCxnSpPr>
            <p:cNvPr id="41" name="M4Arrow3"/>
            <p:cNvCxnSpPr/>
            <p:nvPr/>
          </p:nvCxnSpPr>
          <p:spPr>
            <a:xfrm flipV="1">
              <a:off x="6492240" y="1682496"/>
              <a:ext cx="0" cy="219456"/>
            </a:xfrm>
            <a:prstGeom prst="line">
              <a:avLst/>
            </a:prstGeom>
            <a:ln w="22225">
              <a:solidFill>
                <a:srgbClr val="B8860B"/>
              </a:solidFill>
              <a:prstDash val="sysDash"/>
              <a:tailEnd type="triangle" w="med"/>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3749039" y="3127248"/>
              <a:ext cx="4215385" cy="557784"/>
            </a:xfrm>
            <a:prstGeom prst="line">
              <a:avLst/>
            </a:prstGeom>
            <a:ln w="22225">
              <a:solidFill>
                <a:srgbClr val="C00000"/>
              </a:solidFill>
              <a:prstDash val="sysDash"/>
              <a:tailEnd type="triangle" w="med"/>
            </a:ln>
          </p:spPr>
          <p:style>
            <a:lnRef idx="2">
              <a:schemeClr val="accent1"/>
            </a:lnRef>
            <a:fillRef idx="0">
              <a:schemeClr val="accent1"/>
            </a:fillRef>
            <a:effectRef idx="1">
              <a:schemeClr val="accent1"/>
            </a:effectRef>
            <a:fontRef idx="minor">
              <a:schemeClr val="tx1"/>
            </a:fontRef>
          </p:style>
        </p:cxnSp>
      </p:grpSp>
      <p:grpSp>
        <p:nvGrpSpPr>
          <p:cNvPr id="47" name="CardCalc"/>
          <p:cNvGrpSpPr/>
          <p:nvPr/>
        </p:nvGrpSpPr>
        <p:grpSpPr>
          <a:xfrm>
            <a:off x="228600" y="5577840"/>
            <a:ext cx="3520440" cy="877823"/>
            <a:chOff x="228600" y="5577840"/>
            <a:chExt cx="3520440" cy="877823"/>
          </a:xfrm>
        </p:grpSpPr>
        <p:sp>
          <p:nvSpPr>
            <p:cNvPr id="44" name="Rounded Rectangle 43"/>
            <p:cNvSpPr/>
            <p:nvPr/>
          </p:nvSpPr>
          <p:spPr>
            <a:xfrm>
              <a:off x="228600" y="5577840"/>
              <a:ext cx="3520440" cy="868680"/>
            </a:xfrm>
            <a:prstGeom prst="roundRect">
              <a:avLst>
                <a:gd name="adj" fmla="val 10000"/>
              </a:avLst>
            </a:prstGeom>
            <a:solidFill>
              <a:srgbClr val="FFFFFF"/>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mc:AlternateContent xmlns:mc="http://schemas.openxmlformats.org/markup-compatibility/2006" xmlns:a14="http://schemas.microsoft.com/office/drawing/2010/main">
          <mc:Choice Requires="a14">
            <p:sp>
              <p:nvSpPr>
                <p:cNvPr id="45" name="TextBox 44"/>
                <p:cNvSpPr txBox="1"/>
                <p:nvPr/>
              </p:nvSpPr>
              <p:spPr>
                <a:xfrm>
                  <a:off x="301752" y="5632703"/>
                  <a:ext cx="3374136" cy="530352"/>
                </a:xfrm>
                <a:prstGeom prst="rect">
                  <a:avLst/>
                </a:prstGeom>
                <a:noFill/>
              </p:spPr>
              <p:txBody>
                <a:bodyPr wrap="square" anchor="ctr">
                  <a:spAutoFit/>
                </a:bodyPr>
                <a:lstStyle/>
                <a:p>
                  <a:pPr algn="l">
                    <a:defRPr sz="1500" b="0" i="1">
                      <a:solidFill>
                        <a:srgbClr val="0B2B4E"/>
                      </a:solidFill>
                      <a:latin typeface="Cambria Math"/>
                    </a:defRPr>
                  </a:pPr>
                  <a14:m>
                    <m:oMathPara xmlns:m="http://schemas.openxmlformats.org/officeDocument/2006/math">
                      <m:oMathParaPr>
                        <m:jc m:val="left"/>
                      </m:oMathParaPr>
                      <m:oMath>
                        <m:f>
                          <m:fPr>
                            <m:ctrlPr>
                              <a:rPr lang="en-US" sz="1500" b="0" i="1">
                                <a:solidFill>
                                  <a:srgbClr val="0B2B4E"/>
                                </a:solidFill>
                                <a:latin typeface="Cambria Math"/>
                                <a:ea typeface="Cambria Math"/>
                              </a:rPr>
                            </m:ctrlPr>
                          </m:fPr>
                          <m:num>
                            <m:r>
                              <a:rPr lang="en-US" sz="1500" b="0" i="1">
                                <a:solidFill>
                                  <a:srgbClr val="0B2B4E"/>
                                </a:solidFill>
                                <a:latin typeface="Cambria Math"/>
                                <a:ea typeface="Cambria Math"/>
                              </a:rPr>
                              <m:t>𝑃</m:t>
                            </m:r>
                            <m:r>
                              <a:rPr lang="en-US" sz="1500" b="0" i="0">
                                <a:solidFill>
                                  <a:srgbClr val="0B2B4E"/>
                                </a:solidFill>
                                <a:latin typeface="Cambria Math"/>
                              </a:rPr>
                              <m:t> − </m:t>
                            </m:r>
                            <m:r>
                              <m:rPr>
                                <m:sty m:val="p"/>
                              </m:rPr>
                              <a:rPr lang="en-US" sz="1500" b="0" i="0">
                                <a:solidFill>
                                  <a:srgbClr val="0B2B4E"/>
                                </a:solidFill>
                                <a:latin typeface="Cambria Math"/>
                              </a:rPr>
                              <m:t>MC</m:t>
                            </m:r>
                          </m:num>
                          <m:den>
                            <m:r>
                              <a:rPr lang="en-US" sz="1500" b="0" i="1">
                                <a:solidFill>
                                  <a:srgbClr val="0B2B4E"/>
                                </a:solidFill>
                                <a:latin typeface="Cambria Math"/>
                                <a:ea typeface="Cambria Math"/>
                              </a:rPr>
                              <m:t>𝑃</m:t>
                            </m:r>
                          </m:den>
                        </m:f>
                        <m:r>
                          <a:rPr lang="en-US" sz="1500" b="0" i="0">
                            <a:solidFill>
                              <a:srgbClr val="0B2B4E"/>
                            </a:solidFill>
                            <a:latin typeface="Cambria Math"/>
                          </a:rPr>
                          <m:t> = </m:t>
                        </m:r>
                        <m:f>
                          <m:fPr>
                            <m:ctrlPr>
                              <a:rPr lang="en-US" sz="1500" b="0" i="0">
                                <a:solidFill>
                                  <a:srgbClr val="0B2B4E"/>
                                </a:solidFill>
                                <a:latin typeface="Cambria Math"/>
                              </a:rPr>
                            </m:ctrlPr>
                          </m:fPr>
                          <m:num>
                            <m:r>
                              <a:rPr lang="en-US" sz="1500" b="0" i="0">
                                <a:solidFill>
                                  <a:srgbClr val="0B2B4E"/>
                                </a:solidFill>
                                <a:latin typeface="Cambria Math"/>
                              </a:rPr>
                              <m:t>300 − 200</m:t>
                            </m:r>
                          </m:num>
                          <m:den>
                            <m:r>
                              <a:rPr lang="en-US" sz="1500" b="0" i="0">
                                <a:solidFill>
                                  <a:srgbClr val="0B2B4E"/>
                                </a:solidFill>
                                <a:latin typeface="Cambria Math"/>
                              </a:rPr>
                              <m:t>300</m:t>
                            </m:r>
                          </m:den>
                        </m:f>
                        <m:r>
                          <a:rPr lang="en-US" sz="1500" b="0" i="0">
                            <a:solidFill>
                              <a:srgbClr val="0B2B4E"/>
                            </a:solidFill>
                            <a:latin typeface="Cambria Math"/>
                          </a:rPr>
                          <m:t> = 33%</m:t>
                        </m:r>
                      </m:oMath>
                    </m:oMathPara>
                  </a14:m>
                  <a:endParaRPr lang="en-US" sz="1500" dirty="0"/>
                </a:p>
              </p:txBody>
            </p:sp>
          </mc:Choice>
          <mc:Fallback xmlns="">
            <p:sp>
              <p:nvSpPr>
                <p:cNvPr id="45" name="TextBox 44"/>
                <p:cNvSpPr txBox="1">
                  <a:spLocks noRot="1" noChangeAspect="1" noMove="1" noResize="1" noEditPoints="1" noAdjustHandles="1" noChangeArrowheads="1" noChangeShapeType="1" noTextEdit="1"/>
                </p:cNvSpPr>
                <p:nvPr/>
              </p:nvSpPr>
              <p:spPr>
                <a:xfrm>
                  <a:off x="301752" y="5632703"/>
                  <a:ext cx="3374136" cy="530352"/>
                </a:xfrm>
                <a:prstGeom prst="rect">
                  <a:avLst/>
                </a:prstGeom>
                <a:blipFill>
                  <a:blip r:embed="rId8"/>
                  <a:stretch>
                    <a:fillRect b="-2299"/>
                  </a:stretch>
                </a:blipFill>
              </p:spPr>
              <p:txBody>
                <a:bodyPr/>
                <a:lstStyle/>
                <a:p>
                  <a:r>
                    <a:rPr lang="en-US">
                      <a:noFill/>
                    </a:rPr>
                    <a:t> </a:t>
                  </a:r>
                </a:p>
              </p:txBody>
            </p:sp>
          </mc:Fallback>
        </mc:AlternateContent>
        <p:sp>
          <p:nvSpPr>
            <p:cNvPr id="46" name="TextBox 45"/>
            <p:cNvSpPr txBox="1"/>
            <p:nvPr/>
          </p:nvSpPr>
          <p:spPr>
            <a:xfrm>
              <a:off x="384048" y="6163055"/>
              <a:ext cx="3246120" cy="292608"/>
            </a:xfrm>
            <a:prstGeom prst="rect">
              <a:avLst/>
            </a:prstGeom>
            <a:noFill/>
          </p:spPr>
          <p:txBody>
            <a:bodyPr wrap="square" lIns="0" tIns="0" rIns="0" bIns="0">
              <a:spAutoFit/>
            </a:bodyPr>
            <a:lstStyle/>
            <a:p>
              <a:pPr algn="l"/>
              <a:r>
                <a:rPr sz="1300" b="0" i="0" u="none">
                  <a:solidFill>
                    <a:srgbClr val="0B2B4E"/>
                  </a:solidFill>
                  <a:latin typeface="Calibri"/>
                </a:rPr>
                <a:t>→ 33% of the price is due to markup</a:t>
              </a:r>
            </a:p>
          </p:txBody>
        </p:sp>
      </p:grpSp>
      <p:grpSp>
        <p:nvGrpSpPr>
          <p:cNvPr id="156" name="sdpair:check"/>
          <p:cNvGrpSpPr/>
          <p:nvPr/>
        </p:nvGrpSpPr>
        <p:grpSpPr>
          <a:xfrm>
            <a:off x="3794760" y="5303520"/>
            <a:ext cx="6080760" cy="731519"/>
            <a:chOff x="3794760" y="5303520"/>
            <a:chExt cx="6080760" cy="731519"/>
          </a:xfrm>
        </p:grpSpPr>
        <p:cxnSp>
          <p:nvCxnSpPr>
            <p:cNvPr id="154" name="CheckArrow"/>
            <p:cNvCxnSpPr/>
            <p:nvPr/>
          </p:nvCxnSpPr>
          <p:spPr>
            <a:xfrm flipV="1">
              <a:off x="3794760" y="5303520"/>
              <a:ext cx="6080760" cy="731519"/>
            </a:xfrm>
            <a:prstGeom prst="line">
              <a:avLst/>
            </a:prstGeom>
            <a:ln w="19050">
              <a:solidFill>
                <a:srgbClr val="0B2B4E"/>
              </a:solidFill>
              <a:prstDash val="dash"/>
              <a:headEnd type="triangle"/>
              <a:tailEnd type="triangle"/>
            </a:ln>
          </p:spPr>
        </p:cxnSp>
        <p:sp>
          <p:nvSpPr>
            <p:cNvPr id="155" name="CheckLabel"/>
            <p:cNvSpPr txBox="1"/>
            <p:nvPr/>
          </p:nvSpPr>
          <p:spPr>
            <a:xfrm rot="21157000">
              <a:off x="4641608" y="5688057"/>
              <a:ext cx="4108577" cy="292608"/>
            </a:xfrm>
            <a:prstGeom prst="rect">
              <a:avLst/>
            </a:prstGeom>
            <a:noFill/>
          </p:spPr>
          <p:txBody>
            <a:bodyPr wrap="none" lIns="0" tIns="0" rIns="0" bIns="0" anchor="ctr">
              <a:noAutofit/>
            </a:bodyPr>
            <a:lstStyle/>
            <a:p>
              <a:pPr algn="l"/>
              <a:r>
                <a:rPr lang="en-US" sz="1600" b="1" dirty="0">
                  <a:solidFill>
                    <a:srgbClr val="0B2B4E"/>
                  </a:solidFill>
                  <a:latin typeface="Calibri"/>
                </a:rPr>
                <a:t>Check: </a:t>
              </a:r>
              <a:r>
                <a:rPr lang="en-US" sz="1600" b="0" dirty="0">
                  <a:solidFill>
                    <a:srgbClr val="0B2B4E"/>
                  </a:solidFill>
                  <a:latin typeface="Calibri"/>
                </a:rPr>
                <a:t>The two formulas give the same result  </a:t>
              </a:r>
              <a:r>
                <a:rPr lang="en-US" sz="1600" b="1" dirty="0">
                  <a:solidFill>
                    <a:srgbClr val="0B2B4E"/>
                  </a:solidFill>
                  <a:latin typeface="Calibri"/>
                </a:rPr>
                <a:t>✓</a:t>
              </a:r>
            </a:p>
          </p:txBody>
        </p:sp>
      </p:grpSp>
      <p:sp>
        <p:nvSpPr>
          <p:cNvPr id="48" name="Rectangle 4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5  ·  Monopoly and Monopolistic Competition</a:t>
            </a:r>
          </a:p>
        </p:txBody>
      </p:sp>
      <p:sp>
        <p:nvSpPr>
          <p:cNvPr id="51" name="TextBox 50"/>
          <p:cNvSpPr txBox="1"/>
          <p:nvPr/>
        </p:nvSpPr>
        <p:spPr>
          <a:xfrm>
            <a:off x="11475720" y="6583680"/>
            <a:ext cx="502920" cy="292608"/>
          </a:xfrm>
          <a:prstGeom prst="rect">
            <a:avLst/>
          </a:prstGeom>
          <a:noFill/>
        </p:spPr>
        <p:txBody>
          <a:bodyPr wrap="none" lIns="0" tIns="0" rIns="0" bIns="0">
            <a:spAutoFit/>
          </a:bodyPr>
          <a:lstStyle/>
          <a:p>
            <a:pPr algn="r"/>
            <a:fld id="{6773EA49-D0AA-5C82-B6A2-E6B8F0B9249A}" type="slidenum">
              <a:rPr lang="en-US" sz="1200" dirty="0">
                <a:solidFill>
                  <a:srgbClr val="555B66"/>
                </a:solidFill>
                <a:latin typeface="Calibri"/>
              </a:rPr>
              <a:t>25</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5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5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7"/>
                                        </p:tgtEl>
                                        <p:attrNameLst>
                                          <p:attrName>style.visibility</p:attrName>
                                        </p:attrNameLst>
                                      </p:cBhvr>
                                      <p:to>
                                        <p:strVal val="visible"/>
                                      </p:to>
                                    </p:set>
                                    <p:animEffect transition="in" filter="fade">
                                      <p:cBhvr>
                                        <p:cTn id="22" dur="500"/>
                                        <p:tgtEl>
                                          <p:spTgt spid="4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5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3"/>
                                        </p:tgtEl>
                                        <p:attrNameLst>
                                          <p:attrName>style.visibility</p:attrName>
                                        </p:attrNameLst>
                                      </p:cBhvr>
                                      <p:to>
                                        <p:strVal val="visible"/>
                                      </p:to>
                                    </p:set>
                                    <p:animEffect transition="in" filter="fade">
                                      <p:cBhvr>
                                        <p:cTn id="32" dur="500"/>
                                        <p:tgtEl>
                                          <p:spTgt spid="4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56"/>
                                        </p:tgtEl>
                                        <p:attrNameLst>
                                          <p:attrName>style.visibility</p:attrName>
                                        </p:attrNameLst>
                                      </p:cBhvr>
                                      <p:to>
                                        <p:strVal val="visible"/>
                                      </p:to>
                                    </p:set>
                                    <p:animEffect transition="in" filter="fade">
                                      <p:cBhvr>
                                        <p:cTn id="37" dur="500"/>
                                        <p:tgtEl>
                                          <p:spTgt spid="1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5 · Markup and Lerner Index</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Lerner Index – Relationship to Accounting</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1371600"/>
            <a:ext cx="5029200" cy="457200"/>
          </a:xfrm>
          <a:prstGeom prst="rect">
            <a:avLst/>
          </a:prstGeom>
          <a:noFill/>
        </p:spPr>
        <p:txBody>
          <a:bodyPr wrap="square" lIns="0" tIns="0" rIns="0" bIns="0">
            <a:noAutofit/>
          </a:bodyPr>
          <a:lstStyle>
            <a:lvl1pPr marL="342900" indent="-342900">
              <a:spcBef>
                <a:spcPts val="1800"/>
              </a:spcBef>
              <a:buClr>
                <a:srgbClr val="0B2B4E"/>
              </a:buClr>
              <a:buFont typeface="Calibri"/>
              <a:buChar char="▪"/>
              <a:defRPr sz="2400" b="0">
                <a:solidFill>
                  <a:srgbClr val="0B2B4E"/>
                </a:solidFill>
                <a:latin typeface="Calibri"/>
              </a:defRPr>
            </a:lvl1pPr>
            <a:lvl2pPr marL="685800" indent="-228600">
              <a:spcBef>
                <a:spcPts val="300"/>
              </a:spcBef>
              <a:buClr>
                <a:srgbClr val="0B2B4E"/>
              </a:buClr>
              <a:buFont typeface="Calibri"/>
              <a:buChar char="–"/>
              <a:defRPr sz="2000" b="0">
                <a:solidFill>
                  <a:srgbClr val="0B2B4E"/>
                </a:solidFill>
                <a:latin typeface="Calibri"/>
              </a:defRPr>
            </a:lvl2pPr>
          </a:lstStyle>
          <a:p>
            <a:pPr algn="l"/>
            <a:r>
              <a:rPr>
                <a:latin typeface="Calibri"/>
              </a:rPr>
              <a:t>In accounting, you’ll see:</a:t>
            </a:r>
          </a:p>
        </p:txBody>
      </p:sp>
      <p:grpSp>
        <p:nvGrpSpPr>
          <p:cNvPr id="10" name="rowGM1"/>
          <p:cNvGrpSpPr/>
          <p:nvPr/>
        </p:nvGrpSpPr>
        <p:grpSpPr>
          <a:xfrm>
            <a:off x="777240" y="1920240"/>
            <a:ext cx="7635240" cy="868680"/>
            <a:chOff x="777240" y="1920240"/>
            <a:chExt cx="7635240" cy="868680"/>
          </a:xfrm>
        </p:grpSpPr>
        <p:sp>
          <p:nvSpPr>
            <p:cNvPr id="8" name="TextBox 7"/>
            <p:cNvSpPr txBox="1"/>
            <p:nvPr/>
          </p:nvSpPr>
          <p:spPr>
            <a:xfrm>
              <a:off x="777240" y="1920240"/>
              <a:ext cx="2240280" cy="868680"/>
            </a:xfrm>
            <a:prstGeom prst="rect">
              <a:avLst/>
            </a:prstGeom>
            <a:noFill/>
          </p:spPr>
          <p:txBody>
            <a:bodyPr wrap="square" lIns="0" tIns="0" rIns="0" bIns="0" anchor="ctr">
              <a:noAutofit/>
            </a:bodyPr>
            <a:lstStyle>
              <a:lvl1pPr marL="342900" indent="-342900">
                <a:spcBef>
                  <a:spcPts val="1800"/>
                </a:spcBef>
                <a:buClr>
                  <a:srgbClr val="0B2B4E"/>
                </a:buClr>
                <a:buFont typeface="Calibri"/>
                <a:buChar char="▪"/>
                <a:defRPr sz="2400" b="0">
                  <a:solidFill>
                    <a:srgbClr val="0B2B4E"/>
                  </a:solidFill>
                  <a:latin typeface="Calibri"/>
                </a:defRPr>
              </a:lvl1pPr>
              <a:lvl2pPr marL="685800" indent="-228600">
                <a:spcBef>
                  <a:spcPts val="300"/>
                </a:spcBef>
                <a:buClr>
                  <a:srgbClr val="0B2B4E"/>
                </a:buClr>
                <a:buFont typeface="Calibri"/>
                <a:buChar char="–"/>
                <a:defRPr sz="2000" b="0">
                  <a:solidFill>
                    <a:srgbClr val="0B2B4E"/>
                  </a:solidFill>
                  <a:latin typeface="Calibri"/>
                </a:defRPr>
              </a:lvl2pPr>
            </a:lstStyle>
            <a:p>
              <a:pPr algn="l"/>
              <a:r>
                <a:rPr b="0">
                  <a:latin typeface="Calibri"/>
                </a:rPr>
                <a:t>Gross Margin =</a:t>
              </a:r>
            </a:p>
          </p:txBody>
        </p:sp>
        <mc:AlternateContent xmlns:mc="http://schemas.openxmlformats.org/markup-compatibility/2006" xmlns:a14="http://schemas.microsoft.com/office/drawing/2010/main">
          <mc:Choice Requires="a14">
            <p:sp>
              <p:nvSpPr>
                <p:cNvPr id="9" name="TextBox 8"/>
                <p:cNvSpPr txBox="1"/>
                <p:nvPr/>
              </p:nvSpPr>
              <p:spPr>
                <a:xfrm>
                  <a:off x="3017520" y="1920240"/>
                  <a:ext cx="5394960" cy="868680"/>
                </a:xfrm>
                <a:prstGeom prst="rect">
                  <a:avLst/>
                </a:prstGeom>
                <a:noFill/>
              </p:spPr>
              <p:txBody>
                <a:bodyPr wrap="square" anchor="ctr">
                  <a:spAutoFit/>
                </a:bodyPr>
                <a:lstStyle/>
                <a:p>
                  <a:pPr algn="l">
                    <a:defRPr sz="2200" b="0" i="1">
                      <a:solidFill>
                        <a:srgbClr val="0B2B4E"/>
                      </a:solidFill>
                      <a:latin typeface="Cambria Math"/>
                    </a:defRPr>
                  </a:pPr>
                  <a14:m>
                    <m:oMathPara xmlns:m="http://schemas.openxmlformats.org/officeDocument/2006/math">
                      <m:oMathParaPr>
                        <m:jc m:val="left"/>
                      </m:oMathParaPr>
                      <m:oMath>
                        <m:f>
                          <m:fPr>
                            <m:ctrlPr>
                              <a:rPr lang="en-US" sz="2200" b="0" i="0">
                                <a:solidFill>
                                  <a:srgbClr val="0B2B4E"/>
                                </a:solidFill>
                                <a:latin typeface="Cambria Math"/>
                              </a:rPr>
                            </m:ctrlPr>
                          </m:fPr>
                          <m:num>
                            <m:r>
                              <m:rPr>
                                <m:sty m:val="p"/>
                              </m:rPr>
                              <a:rPr lang="en-US" sz="2200" b="0" i="0">
                                <a:solidFill>
                                  <a:srgbClr val="0B2B4E"/>
                                </a:solidFill>
                                <a:latin typeface="Cambria Math"/>
                              </a:rPr>
                              <m:t>TR</m:t>
                            </m:r>
                            <m:r>
                              <a:rPr lang="en-US" sz="2200" b="0" i="0">
                                <a:solidFill>
                                  <a:srgbClr val="0B2B4E"/>
                                </a:solidFill>
                                <a:latin typeface="Cambria Math"/>
                              </a:rPr>
                              <m:t> − </m:t>
                            </m:r>
                            <m:r>
                              <m:rPr>
                                <m:sty m:val="p"/>
                              </m:rPr>
                              <a:rPr lang="en-US" sz="2200" b="0" i="0">
                                <a:solidFill>
                                  <a:srgbClr val="0B2B4E"/>
                                </a:solidFill>
                                <a:latin typeface="Cambria Math"/>
                              </a:rPr>
                              <m:t>COGS</m:t>
                            </m:r>
                          </m:num>
                          <m:den>
                            <m:r>
                              <m:rPr>
                                <m:sty m:val="p"/>
                              </m:rPr>
                              <a:rPr lang="en-US" sz="2200" b="0" i="0">
                                <a:solidFill>
                                  <a:srgbClr val="0B2B4E"/>
                                </a:solidFill>
                                <a:latin typeface="Cambria Math"/>
                              </a:rPr>
                              <m:t>TR</m:t>
                            </m:r>
                          </m:den>
                        </m:f>
                      </m:oMath>
                    </m:oMathPara>
                  </a14:m>
                  <a:endParaRPr lang="en-US" sz="2200" dirty="0"/>
                </a:p>
              </p:txBody>
            </p:sp>
          </mc:Choice>
          <mc:Fallback xmlns="">
            <p:sp>
              <p:nvSpPr>
                <p:cNvPr id="9" name="TextBox 8"/>
                <p:cNvSpPr txBox="1">
                  <a:spLocks noRot="1" noChangeAspect="1" noMove="1" noResize="1" noEditPoints="1" noAdjustHandles="1" noChangeArrowheads="1" noChangeShapeType="1" noTextEdit="1"/>
                </p:cNvSpPr>
                <p:nvPr/>
              </p:nvSpPr>
              <p:spPr>
                <a:xfrm>
                  <a:off x="3017520" y="1920240"/>
                  <a:ext cx="5394960" cy="868680"/>
                </a:xfrm>
                <a:prstGeom prst="rect">
                  <a:avLst/>
                </a:prstGeom>
                <a:blipFill>
                  <a:blip r:embed="rId4"/>
                  <a:stretch>
                    <a:fillRect/>
                  </a:stretch>
                </a:blipFill>
              </p:spPr>
              <p:txBody>
                <a:bodyPr/>
                <a:lstStyle/>
                <a:p>
                  <a:r>
                    <a:rPr lang="en-US">
                      <a:noFill/>
                    </a:rPr>
                    <a:t> </a:t>
                  </a:r>
                </a:p>
              </p:txBody>
            </p:sp>
          </mc:Fallback>
        </mc:AlternateContent>
      </p:grpSp>
      <p:grpSp>
        <p:nvGrpSpPr>
          <p:cNvPr id="13" name="rowDiv"/>
          <p:cNvGrpSpPr/>
          <p:nvPr/>
        </p:nvGrpSpPr>
        <p:grpSpPr>
          <a:xfrm>
            <a:off x="777240" y="2971800"/>
            <a:ext cx="8778240" cy="868680"/>
            <a:chOff x="777240" y="2971800"/>
            <a:chExt cx="8778240" cy="868680"/>
          </a:xfrm>
        </p:grpSpPr>
        <p:sp>
          <p:nvSpPr>
            <p:cNvPr id="11" name="TextBox 10"/>
            <p:cNvSpPr txBox="1"/>
            <p:nvPr/>
          </p:nvSpPr>
          <p:spPr>
            <a:xfrm>
              <a:off x="777240" y="2971800"/>
              <a:ext cx="2743200" cy="868680"/>
            </a:xfrm>
            <a:prstGeom prst="rect">
              <a:avLst/>
            </a:prstGeom>
            <a:noFill/>
          </p:spPr>
          <p:txBody>
            <a:bodyPr wrap="square" lIns="0" tIns="0" rIns="0" bIns="0" anchor="ctr">
              <a:noAutofit/>
            </a:bodyPr>
            <a:lstStyle>
              <a:lvl1pPr marL="342900" indent="-342900">
                <a:spcBef>
                  <a:spcPts val="1800"/>
                </a:spcBef>
                <a:buClr>
                  <a:srgbClr val="0B2B4E"/>
                </a:buClr>
                <a:buFont typeface="Calibri"/>
                <a:buChar char="▪"/>
                <a:defRPr sz="2400" b="0">
                  <a:solidFill>
                    <a:srgbClr val="0B2B4E"/>
                  </a:solidFill>
                  <a:latin typeface="Calibri"/>
                </a:defRPr>
              </a:lvl1pPr>
              <a:lvl2pPr marL="685800" indent="-228600">
                <a:spcBef>
                  <a:spcPts val="300"/>
                </a:spcBef>
                <a:buClr>
                  <a:srgbClr val="0B2B4E"/>
                </a:buClr>
                <a:buFont typeface="Calibri"/>
                <a:buChar char="–"/>
                <a:defRPr sz="2000" b="0">
                  <a:solidFill>
                    <a:srgbClr val="0B2B4E"/>
                  </a:solidFill>
                  <a:latin typeface="Calibri"/>
                </a:defRPr>
              </a:lvl2pPr>
            </a:lstStyle>
            <a:p>
              <a:pPr algn="l"/>
              <a:r>
                <a:rPr b="0" dirty="0">
                  <a:latin typeface="Calibri"/>
                </a:rPr>
                <a:t>Divide by quantity:</a:t>
              </a:r>
            </a:p>
          </p:txBody>
        </p:sp>
        <mc:AlternateContent xmlns:mc="http://schemas.openxmlformats.org/markup-compatibility/2006" xmlns:a14="http://schemas.microsoft.com/office/drawing/2010/main">
          <mc:Choice Requires="a14">
            <p:sp>
              <p:nvSpPr>
                <p:cNvPr id="12" name="TextBox 11"/>
                <p:cNvSpPr txBox="1"/>
                <p:nvPr/>
              </p:nvSpPr>
              <p:spPr>
                <a:xfrm>
                  <a:off x="3520440" y="2971800"/>
                  <a:ext cx="6035040" cy="868680"/>
                </a:xfrm>
                <a:prstGeom prst="rect">
                  <a:avLst/>
                </a:prstGeom>
                <a:noFill/>
              </p:spPr>
              <p:txBody>
                <a:bodyPr wrap="square" anchor="ctr">
                  <a:spAutoFit/>
                </a:bodyPr>
                <a:lstStyle/>
                <a:p>
                  <a:pPr algn="l">
                    <a:defRPr sz="2200" b="0" i="1">
                      <a:solidFill>
                        <a:srgbClr val="0B2B4E"/>
                      </a:solidFill>
                      <a:latin typeface="Cambria Math"/>
                    </a:defRPr>
                  </a:pPr>
                  <a14:m>
                    <m:oMathPara xmlns:m="http://schemas.openxmlformats.org/officeDocument/2006/math">
                      <m:oMathParaPr>
                        <m:jc m:val="left"/>
                      </m:oMathParaPr>
                      <m:oMath>
                        <m:f>
                          <m:fPr>
                            <m:ctrlPr>
                              <a:rPr lang="en-US" sz="2200" b="0" i="0">
                                <a:solidFill>
                                  <a:srgbClr val="0B2B4E"/>
                                </a:solidFill>
                                <a:latin typeface="Cambria Math"/>
                              </a:rPr>
                            </m:ctrlPr>
                          </m:fPr>
                          <m:num>
                            <m:r>
                              <m:rPr>
                                <m:sty m:val="p"/>
                              </m:rPr>
                              <a:rPr lang="en-US" sz="2200" b="0" i="0">
                                <a:solidFill>
                                  <a:srgbClr val="0B2B4E"/>
                                </a:solidFill>
                                <a:latin typeface="Cambria Math"/>
                              </a:rPr>
                              <m:t>TR</m:t>
                            </m:r>
                            <m:r>
                              <a:rPr lang="en-US" sz="2200" b="0" i="0">
                                <a:solidFill>
                                  <a:srgbClr val="0B2B4E"/>
                                </a:solidFill>
                                <a:latin typeface="Cambria Math"/>
                              </a:rPr>
                              <m:t> − </m:t>
                            </m:r>
                            <m:r>
                              <m:rPr>
                                <m:sty m:val="p"/>
                              </m:rPr>
                              <a:rPr lang="en-US" sz="2200" b="0" i="0">
                                <a:solidFill>
                                  <a:srgbClr val="0B2B4E"/>
                                </a:solidFill>
                                <a:latin typeface="Cambria Math"/>
                              </a:rPr>
                              <m:t>TVC</m:t>
                            </m:r>
                          </m:num>
                          <m:den>
                            <m:r>
                              <m:rPr>
                                <m:sty m:val="p"/>
                              </m:rPr>
                              <a:rPr lang="en-US" sz="2200" b="0" i="0">
                                <a:solidFill>
                                  <a:srgbClr val="0B2B4E"/>
                                </a:solidFill>
                                <a:latin typeface="Cambria Math"/>
                              </a:rPr>
                              <m:t>TR</m:t>
                            </m:r>
                          </m:den>
                        </m:f>
                        <m:r>
                          <a:rPr lang="en-US" sz="2200" b="0" i="0">
                            <a:solidFill>
                              <a:srgbClr val="0B2B4E"/>
                            </a:solidFill>
                            <a:latin typeface="Cambria Math"/>
                          </a:rPr>
                          <m:t> = </m:t>
                        </m:r>
                        <m:f>
                          <m:fPr>
                            <m:ctrlPr>
                              <a:rPr lang="en-US" sz="2200" b="0" i="1">
                                <a:solidFill>
                                  <a:srgbClr val="0B2B4E"/>
                                </a:solidFill>
                                <a:latin typeface="Cambria Math"/>
                                <a:ea typeface="Cambria Math"/>
                              </a:rPr>
                            </m:ctrlPr>
                          </m:fPr>
                          <m:num>
                            <m:r>
                              <a:rPr lang="en-US" sz="2200" b="0" i="1">
                                <a:solidFill>
                                  <a:srgbClr val="0B2B4E"/>
                                </a:solidFill>
                                <a:latin typeface="Cambria Math"/>
                                <a:ea typeface="Cambria Math"/>
                              </a:rPr>
                              <m:t>𝑃</m:t>
                            </m:r>
                            <m:r>
                              <a:rPr lang="en-US" sz="2200" b="0" i="0">
                                <a:solidFill>
                                  <a:srgbClr val="0B2B4E"/>
                                </a:solidFill>
                                <a:latin typeface="Cambria Math"/>
                              </a:rPr>
                              <m:t>·</m:t>
                            </m:r>
                            <m:r>
                              <a:rPr lang="en-US" sz="2200" b="0" i="1">
                                <a:solidFill>
                                  <a:srgbClr val="0B2B4E"/>
                                </a:solidFill>
                                <a:latin typeface="Cambria Math"/>
                                <a:ea typeface="Cambria Math"/>
                              </a:rPr>
                              <m:t>𝑄</m:t>
                            </m:r>
                            <m:r>
                              <a:rPr lang="en-US" sz="2200" b="0" i="0">
                                <a:solidFill>
                                  <a:srgbClr val="0B2B4E"/>
                                </a:solidFill>
                                <a:latin typeface="Cambria Math"/>
                              </a:rPr>
                              <m:t> − </m:t>
                            </m:r>
                            <m:r>
                              <m:rPr>
                                <m:sty m:val="p"/>
                              </m:rPr>
                              <a:rPr lang="en-US" sz="2200" b="0" i="0">
                                <a:solidFill>
                                  <a:srgbClr val="0B2B4E"/>
                                </a:solidFill>
                                <a:latin typeface="Cambria Math"/>
                              </a:rPr>
                              <m:t>AVC</m:t>
                            </m:r>
                            <m:r>
                              <a:rPr lang="en-US" sz="2200" b="0" i="0">
                                <a:solidFill>
                                  <a:srgbClr val="0B2B4E"/>
                                </a:solidFill>
                                <a:latin typeface="Cambria Math"/>
                              </a:rPr>
                              <m:t>·</m:t>
                            </m:r>
                            <m:r>
                              <a:rPr lang="en-US" sz="2200" b="0" i="1">
                                <a:solidFill>
                                  <a:srgbClr val="0B2B4E"/>
                                </a:solidFill>
                                <a:latin typeface="Cambria Math"/>
                                <a:ea typeface="Cambria Math"/>
                              </a:rPr>
                              <m:t>𝑄</m:t>
                            </m:r>
                          </m:num>
                          <m:den>
                            <m:r>
                              <a:rPr lang="en-US" sz="2200" b="0" i="1">
                                <a:solidFill>
                                  <a:srgbClr val="0B2B4E"/>
                                </a:solidFill>
                                <a:latin typeface="Cambria Math"/>
                                <a:ea typeface="Cambria Math"/>
                              </a:rPr>
                              <m:t>𝑃</m:t>
                            </m:r>
                            <m:r>
                              <a:rPr lang="en-US" sz="2200" b="0" i="0">
                                <a:solidFill>
                                  <a:srgbClr val="0B2B4E"/>
                                </a:solidFill>
                                <a:latin typeface="Cambria Math"/>
                              </a:rPr>
                              <m:t>·</m:t>
                            </m:r>
                            <m:r>
                              <a:rPr lang="en-US" sz="2200" b="0" i="1">
                                <a:solidFill>
                                  <a:srgbClr val="0B2B4E"/>
                                </a:solidFill>
                                <a:latin typeface="Cambria Math"/>
                                <a:ea typeface="Cambria Math"/>
                              </a:rPr>
                              <m:t>𝑄</m:t>
                            </m:r>
                          </m:den>
                        </m:f>
                      </m:oMath>
                    </m:oMathPara>
                  </a14:m>
                  <a:endParaRPr lang="en-US" sz="2200" dirty="0"/>
                </a:p>
              </p:txBody>
            </p:sp>
          </mc:Choice>
          <mc:Fallback xmlns="">
            <p:sp>
              <p:nvSpPr>
                <p:cNvPr id="12" name="TextBox 11"/>
                <p:cNvSpPr txBox="1">
                  <a:spLocks noRot="1" noChangeAspect="1" noMove="1" noResize="1" noEditPoints="1" noAdjustHandles="1" noChangeArrowheads="1" noChangeShapeType="1" noTextEdit="1"/>
                </p:cNvSpPr>
                <p:nvPr/>
              </p:nvSpPr>
              <p:spPr>
                <a:xfrm>
                  <a:off x="3520440" y="2971800"/>
                  <a:ext cx="6035040" cy="868680"/>
                </a:xfrm>
                <a:prstGeom prst="rect">
                  <a:avLst/>
                </a:prstGeom>
                <a:blipFill>
                  <a:blip r:embed="rId5"/>
                  <a:stretch>
                    <a:fillRect/>
                  </a:stretch>
                </a:blipFill>
              </p:spPr>
              <p:txBody>
                <a:bodyPr/>
                <a:lstStyle/>
                <a:p>
                  <a:r>
                    <a:rPr lang="en-US">
                      <a:noFill/>
                    </a:rPr>
                    <a:t> </a:t>
                  </a:r>
                </a:p>
              </p:txBody>
            </p:sp>
          </mc:Fallback>
        </mc:AlternateContent>
      </p:grpSp>
      <p:grpSp>
        <p:nvGrpSpPr>
          <p:cNvPr id="16" name="rowGM2"/>
          <p:cNvGrpSpPr/>
          <p:nvPr/>
        </p:nvGrpSpPr>
        <p:grpSpPr>
          <a:xfrm>
            <a:off x="411480" y="3931920"/>
            <a:ext cx="5015865" cy="868680"/>
            <a:chOff x="411480" y="3931920"/>
            <a:chExt cx="5015865" cy="868680"/>
          </a:xfrm>
        </p:grpSpPr>
        <p:sp>
          <p:nvSpPr>
            <p:cNvPr id="14" name="TextBox 13"/>
            <p:cNvSpPr txBox="1"/>
            <p:nvPr/>
          </p:nvSpPr>
          <p:spPr>
            <a:xfrm>
              <a:off x="411480" y="4181594"/>
              <a:ext cx="2743200" cy="369332"/>
            </a:xfrm>
            <a:prstGeom prst="rect">
              <a:avLst/>
            </a:prstGeom>
            <a:noFill/>
          </p:spPr>
          <p:txBody>
            <a:bodyPr wrap="square" lIns="0" tIns="0" rIns="0" bIns="0" anchor="ctr">
              <a:spAutoFit/>
            </a:bodyPr>
            <a:lstStyle/>
            <a:p>
              <a:pPr algn="l"/>
              <a:r>
                <a:rPr sz="2400" b="1" i="0" u="none" dirty="0">
                  <a:solidFill>
                    <a:srgbClr val="0B2B4E"/>
                  </a:solidFill>
                  <a:latin typeface="Calibri"/>
                </a:rPr>
                <a:t>→ Gross Margin</a:t>
              </a:r>
              <a:r>
                <a:rPr lang="en-US" sz="2400" b="1" i="0" u="none" dirty="0">
                  <a:solidFill>
                    <a:srgbClr val="0B2B4E"/>
                  </a:solidFill>
                  <a:latin typeface="Calibri"/>
                </a:rPr>
                <a:t>   </a:t>
              </a:r>
              <a:r>
                <a:rPr sz="2400" b="1" i="0" u="none" dirty="0">
                  <a:solidFill>
                    <a:srgbClr val="0B2B4E"/>
                  </a:solidFill>
                  <a:latin typeface="Calibri"/>
                </a:rPr>
                <a:t>≈</a:t>
              </a:r>
            </a:p>
          </p:txBody>
        </p:sp>
        <mc:AlternateContent xmlns:mc="http://schemas.openxmlformats.org/markup-compatibility/2006" xmlns:a14="http://schemas.microsoft.com/office/drawing/2010/main">
          <mc:Choice Requires="a14">
            <p:sp>
              <p:nvSpPr>
                <p:cNvPr id="15" name="TextBox 14"/>
                <p:cNvSpPr txBox="1"/>
                <p:nvPr/>
              </p:nvSpPr>
              <p:spPr>
                <a:xfrm>
                  <a:off x="3049905" y="3931920"/>
                  <a:ext cx="2377440" cy="868680"/>
                </a:xfrm>
                <a:prstGeom prst="rect">
                  <a:avLst/>
                </a:prstGeom>
                <a:noFill/>
              </p:spPr>
              <p:txBody>
                <a:bodyPr wrap="square" anchor="ctr">
                  <a:spAutoFit/>
                </a:bodyPr>
                <a:lstStyle/>
                <a:p>
                  <a:pPr algn="l">
                    <a:defRPr sz="2200" b="0" i="1">
                      <a:solidFill>
                        <a:srgbClr val="0B2B4E"/>
                      </a:solidFill>
                      <a:latin typeface="Cambria Math"/>
                    </a:defRPr>
                  </a:pPr>
                  <a14:m>
                    <m:oMathPara xmlns:m="http://schemas.openxmlformats.org/officeDocument/2006/math">
                      <m:oMathParaPr>
                        <m:jc m:val="left"/>
                      </m:oMathParaPr>
                      <m:oMath>
                        <m:f>
                          <m:fPr>
                            <m:ctrlPr>
                              <a:rPr lang="en-US" sz="2200" b="0" i="1">
                                <a:solidFill>
                                  <a:srgbClr val="0B2B4E"/>
                                </a:solidFill>
                                <a:latin typeface="Cambria Math"/>
                                <a:ea typeface="Cambria Math"/>
                              </a:rPr>
                            </m:ctrlPr>
                          </m:fPr>
                          <m:num>
                            <m:r>
                              <a:rPr lang="en-US" sz="2200" b="0" i="1">
                                <a:solidFill>
                                  <a:srgbClr val="0B2B4E"/>
                                </a:solidFill>
                                <a:latin typeface="Cambria Math"/>
                                <a:ea typeface="Cambria Math"/>
                              </a:rPr>
                              <m:t>𝑃</m:t>
                            </m:r>
                            <m:r>
                              <a:rPr lang="en-US" sz="2200" b="0" i="0">
                                <a:solidFill>
                                  <a:srgbClr val="0B2B4E"/>
                                </a:solidFill>
                                <a:latin typeface="Cambria Math"/>
                              </a:rPr>
                              <m:t> − </m:t>
                            </m:r>
                            <m:r>
                              <m:rPr>
                                <m:sty m:val="p"/>
                              </m:rPr>
                              <a:rPr lang="en-US" sz="2200" b="0" i="0">
                                <a:solidFill>
                                  <a:srgbClr val="0B2B4E"/>
                                </a:solidFill>
                                <a:latin typeface="Cambria Math"/>
                              </a:rPr>
                              <m:t>AVC</m:t>
                            </m:r>
                          </m:num>
                          <m:den>
                            <m:r>
                              <a:rPr lang="en-US" sz="2200" b="0" i="1">
                                <a:solidFill>
                                  <a:srgbClr val="0B2B4E"/>
                                </a:solidFill>
                                <a:latin typeface="Cambria Math"/>
                                <a:ea typeface="Cambria Math"/>
                              </a:rPr>
                              <m:t>𝑃</m:t>
                            </m:r>
                          </m:den>
                        </m:f>
                      </m:oMath>
                    </m:oMathPara>
                  </a14:m>
                  <a:endParaRPr lang="en-US" sz="2200"/>
                </a:p>
              </p:txBody>
            </p:sp>
          </mc:Choice>
          <mc:Fallback xmlns="">
            <p:sp>
              <p:nvSpPr>
                <p:cNvPr id="15" name="TextBox 14"/>
                <p:cNvSpPr txBox="1">
                  <a:spLocks noRot="1" noChangeAspect="1" noMove="1" noResize="1" noEditPoints="1" noAdjustHandles="1" noChangeArrowheads="1" noChangeShapeType="1" noTextEdit="1"/>
                </p:cNvSpPr>
                <p:nvPr/>
              </p:nvSpPr>
              <p:spPr>
                <a:xfrm>
                  <a:off x="3049905" y="3931920"/>
                  <a:ext cx="2377440" cy="868680"/>
                </a:xfrm>
                <a:prstGeom prst="rect">
                  <a:avLst/>
                </a:prstGeom>
                <a:blipFill>
                  <a:blip r:embed="rId6"/>
                  <a:stretch>
                    <a:fillRect/>
                  </a:stretch>
                </a:blipFill>
              </p:spPr>
              <p:txBody>
                <a:bodyPr/>
                <a:lstStyle/>
                <a:p>
                  <a:r>
                    <a:rPr lang="en-US">
                      <a:noFill/>
                    </a:rPr>
                    <a:t> </a:t>
                  </a:r>
                </a:p>
              </p:txBody>
            </p:sp>
          </mc:Fallback>
        </mc:AlternateContent>
      </p:grpSp>
      <p:grpSp>
        <p:nvGrpSpPr>
          <p:cNvPr id="19" name="LernerCard"/>
          <p:cNvGrpSpPr/>
          <p:nvPr/>
        </p:nvGrpSpPr>
        <p:grpSpPr>
          <a:xfrm>
            <a:off x="6446520" y="3931920"/>
            <a:ext cx="3749040" cy="868680"/>
            <a:chOff x="6446520" y="3931920"/>
            <a:chExt cx="3749040" cy="868680"/>
          </a:xfrm>
        </p:grpSpPr>
        <p:sp>
          <p:nvSpPr>
            <p:cNvPr id="17" name="TextBox 16"/>
            <p:cNvSpPr txBox="1"/>
            <p:nvPr/>
          </p:nvSpPr>
          <p:spPr>
            <a:xfrm>
              <a:off x="6446520" y="3931920"/>
              <a:ext cx="1600200" cy="868680"/>
            </a:xfrm>
            <a:prstGeom prst="rect">
              <a:avLst/>
            </a:prstGeom>
            <a:noFill/>
          </p:spPr>
          <p:txBody>
            <a:bodyPr wrap="square" lIns="0" tIns="0" rIns="0" bIns="0" anchor="ctr">
              <a:spAutoFit/>
            </a:bodyPr>
            <a:lstStyle/>
            <a:p>
              <a:pPr algn="l"/>
              <a:r>
                <a:rPr sz="2200" b="0" i="0" u="none">
                  <a:solidFill>
                    <a:srgbClr val="0B2B4E"/>
                  </a:solidFill>
                  <a:latin typeface="Calibri"/>
                </a:rPr>
                <a:t>Lerner Index:</a:t>
              </a:r>
            </a:p>
          </p:txBody>
        </p:sp>
        <mc:AlternateContent xmlns:mc="http://schemas.openxmlformats.org/markup-compatibility/2006" xmlns:a14="http://schemas.microsoft.com/office/drawing/2010/main">
          <mc:Choice Requires="a14">
            <p:sp>
              <p:nvSpPr>
                <p:cNvPr id="18" name="TextBox 17"/>
                <p:cNvSpPr txBox="1"/>
                <p:nvPr/>
              </p:nvSpPr>
              <p:spPr>
                <a:xfrm>
                  <a:off x="8001000" y="3931920"/>
                  <a:ext cx="2194560" cy="868680"/>
                </a:xfrm>
                <a:prstGeom prst="rect">
                  <a:avLst/>
                </a:prstGeom>
                <a:noFill/>
              </p:spPr>
              <p:txBody>
                <a:bodyPr wrap="square" anchor="ctr">
                  <a:spAutoFit/>
                </a:bodyPr>
                <a:lstStyle/>
                <a:p>
                  <a:pPr algn="l">
                    <a:defRPr sz="2400" b="0" i="1">
                      <a:solidFill>
                        <a:srgbClr val="0B2B4E"/>
                      </a:solidFill>
                      <a:latin typeface="Cambria Math"/>
                    </a:defRPr>
                  </a:pPr>
                  <a14:m>
                    <m:oMathPara xmlns:m="http://schemas.openxmlformats.org/officeDocument/2006/math">
                      <m:oMathParaPr>
                        <m:jc m:val="left"/>
                      </m:oMathParaPr>
                      <m:oMath>
                        <m:f>
                          <m:fPr>
                            <m:ctrlPr>
                              <a:rPr lang="en-US" sz="2400" b="0" i="1">
                                <a:solidFill>
                                  <a:srgbClr val="0B2B4E"/>
                                </a:solidFill>
                                <a:latin typeface="Cambria Math"/>
                                <a:ea typeface="Cambria Math"/>
                              </a:rPr>
                            </m:ctrlPr>
                          </m:fPr>
                          <m:num>
                            <m:r>
                              <a:rPr lang="en-US" sz="2400" b="0" i="1">
                                <a:solidFill>
                                  <a:srgbClr val="0B2B4E"/>
                                </a:solidFill>
                                <a:latin typeface="Cambria Math"/>
                                <a:ea typeface="Cambria Math"/>
                              </a:rPr>
                              <m:t>𝑃</m:t>
                            </m:r>
                            <m:r>
                              <a:rPr lang="en-US" sz="2400" b="0" i="0">
                                <a:solidFill>
                                  <a:srgbClr val="0B2B4E"/>
                                </a:solidFill>
                                <a:latin typeface="Cambria Math"/>
                              </a:rPr>
                              <m:t> − </m:t>
                            </m:r>
                            <m:r>
                              <m:rPr>
                                <m:sty m:val="p"/>
                              </m:rPr>
                              <a:rPr lang="en-US" sz="2400" b="0" i="0">
                                <a:solidFill>
                                  <a:srgbClr val="C00000"/>
                                </a:solidFill>
                                <a:latin typeface="Cambria Math"/>
                              </a:rPr>
                              <m:t>MC</m:t>
                            </m:r>
                          </m:num>
                          <m:den>
                            <m:r>
                              <a:rPr lang="en-US" sz="2400" b="0" i="1">
                                <a:solidFill>
                                  <a:srgbClr val="0B2B4E"/>
                                </a:solidFill>
                                <a:latin typeface="Cambria Math"/>
                                <a:ea typeface="Cambria Math"/>
                              </a:rPr>
                              <m:t>𝑃</m:t>
                            </m:r>
                          </m:den>
                        </m:f>
                      </m:oMath>
                    </m:oMathPara>
                  </a14:m>
                  <a:endParaRPr lang="en-US" sz="2400"/>
                </a:p>
              </p:txBody>
            </p:sp>
          </mc:Choice>
          <mc:Fallback xmlns="">
            <p:sp>
              <p:nvSpPr>
                <p:cNvPr id="18" name="TextBox 17"/>
                <p:cNvSpPr txBox="1">
                  <a:spLocks noRot="1" noChangeAspect="1" noMove="1" noResize="1" noEditPoints="1" noAdjustHandles="1" noChangeArrowheads="1" noChangeShapeType="1" noTextEdit="1"/>
                </p:cNvSpPr>
                <p:nvPr/>
              </p:nvSpPr>
              <p:spPr>
                <a:xfrm>
                  <a:off x="8001000" y="3931920"/>
                  <a:ext cx="2194560" cy="868680"/>
                </a:xfrm>
                <a:prstGeom prst="rect">
                  <a:avLst/>
                </a:prstGeom>
                <a:blipFill>
                  <a:blip r:embed="rId7"/>
                  <a:stretch>
                    <a:fillRect/>
                  </a:stretch>
                </a:blipFill>
              </p:spPr>
              <p:txBody>
                <a:bodyPr/>
                <a:lstStyle/>
                <a:p>
                  <a:r>
                    <a:rPr lang="en-US">
                      <a:noFill/>
                    </a:rPr>
                    <a:t> </a:t>
                  </a:r>
                </a:p>
              </p:txBody>
            </p:sp>
          </mc:Fallback>
        </mc:AlternateContent>
      </p:grpSp>
      <p:sp>
        <p:nvSpPr>
          <p:cNvPr id="20" name="ThusBullets"/>
          <p:cNvSpPr txBox="1"/>
          <p:nvPr/>
        </p:nvSpPr>
        <p:spPr>
          <a:xfrm>
            <a:off x="411480" y="4892040"/>
            <a:ext cx="11247120" cy="1463040"/>
          </a:xfrm>
          <a:prstGeom prst="rect">
            <a:avLst/>
          </a:prstGeom>
          <a:noFill/>
        </p:spPr>
        <p:txBody>
          <a:bodyPr wrap="square" lIns="0" tIns="0" rIns="0" bIns="0">
            <a:noAutofit/>
          </a:bodyPr>
          <a:lstStyle>
            <a:lvl1pPr marL="342900" indent="-342900">
              <a:spcBef>
                <a:spcPts val="800"/>
              </a:spcBef>
              <a:buClr>
                <a:srgbClr val="0B2B4E"/>
              </a:buClr>
              <a:buFont typeface="Calibri"/>
              <a:buChar char="▪"/>
              <a:defRPr sz="2400" b="0">
                <a:solidFill>
                  <a:srgbClr val="0B2B4E"/>
                </a:solidFill>
                <a:latin typeface="Calibri"/>
              </a:defRPr>
            </a:lvl1pPr>
            <a:lvl2pPr marL="685800" indent="-228600">
              <a:spcBef>
                <a:spcPts val="300"/>
              </a:spcBef>
              <a:buClr>
                <a:srgbClr val="0B2B4E"/>
              </a:buClr>
              <a:buFont typeface="Calibri"/>
              <a:buChar char="–"/>
              <a:defRPr sz="2200" b="0">
                <a:solidFill>
                  <a:srgbClr val="0B2B4E"/>
                </a:solidFill>
                <a:latin typeface="Calibri"/>
              </a:defRPr>
            </a:lvl2pPr>
          </a:lstStyle>
          <a:p>
            <a:pPr algn="l"/>
            <a:r>
              <a:rPr dirty="0">
                <a:latin typeface="Calibri"/>
              </a:rPr>
              <a:t>Thus: The Gross Margin is similar to the Lerner Index, but it is measured at </a:t>
            </a:r>
            <a:r>
              <a:rPr u="sng" dirty="0">
                <a:latin typeface="Calibri"/>
              </a:rPr>
              <a:t>average</a:t>
            </a:r>
            <a:r>
              <a:rPr dirty="0">
                <a:latin typeface="Calibri"/>
              </a:rPr>
              <a:t> instead of </a:t>
            </a:r>
            <a:r>
              <a:rPr u="sng" dirty="0">
                <a:latin typeface="Calibri"/>
              </a:rPr>
              <a:t>marginal</a:t>
            </a:r>
            <a:r>
              <a:rPr dirty="0">
                <a:latin typeface="Calibri"/>
              </a:rPr>
              <a:t> cost</a:t>
            </a:r>
          </a:p>
          <a:p>
            <a:pPr marL="457200" lvl="1" indent="0" algn="l">
              <a:buNone/>
            </a:pPr>
            <a:r>
              <a:rPr dirty="0">
                <a:latin typeface="Calibri"/>
              </a:rPr>
              <a:t>→ Economists think at the </a:t>
            </a:r>
            <a:r>
              <a:rPr u="sng" dirty="0">
                <a:latin typeface="Calibri"/>
              </a:rPr>
              <a:t>margin</a:t>
            </a:r>
          </a:p>
        </p:txBody>
      </p:sp>
      <p:grpSp>
        <p:nvGrpSpPr>
          <p:cNvPr id="23" name="NoteCOGS"/>
          <p:cNvGrpSpPr/>
          <p:nvPr/>
        </p:nvGrpSpPr>
        <p:grpSpPr>
          <a:xfrm>
            <a:off x="4160520" y="1298448"/>
            <a:ext cx="3566160" cy="749808"/>
            <a:chOff x="4160520" y="1298448"/>
            <a:chExt cx="3566160" cy="749808"/>
          </a:xfrm>
        </p:grpSpPr>
        <p:sp>
          <p:nvSpPr>
            <p:cNvPr id="21" name="Rounded Rectangle 20"/>
            <p:cNvSpPr/>
            <p:nvPr/>
          </p:nvSpPr>
          <p:spPr>
            <a:xfrm>
              <a:off x="5212080" y="1298448"/>
              <a:ext cx="2514600" cy="420624"/>
            </a:xfrm>
            <a:prstGeom prst="roundRect">
              <a:avLst>
                <a:gd name="adj" fmla="val 12000"/>
              </a:avLst>
            </a:prstGeom>
            <a:solidFill>
              <a:srgbClr val="FFFFFF"/>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i="0">
                  <a:solidFill>
                    <a:srgbClr val="0B2B4E"/>
                  </a:solidFill>
                  <a:latin typeface="Calibri"/>
                </a:rPr>
                <a:t>“Cost of Goods Sold” ≈ </a:t>
              </a:r>
              <a:r>
                <a:rPr sz="1400" i="1">
                  <a:solidFill>
                    <a:srgbClr val="0B2B4E"/>
                  </a:solidFill>
                  <a:latin typeface="Calibri"/>
                </a:rPr>
                <a:t>TVC</a:t>
              </a:r>
            </a:p>
          </p:txBody>
        </p:sp>
        <p:cxnSp>
          <p:nvCxnSpPr>
            <p:cNvPr id="22" name="sdleader:15"/>
            <p:cNvCxnSpPr/>
            <p:nvPr/>
          </p:nvCxnSpPr>
          <p:spPr>
            <a:xfrm flipH="1">
              <a:off x="4160520" y="1731555"/>
              <a:ext cx="1355371" cy="316701"/>
            </a:xfrm>
            <a:prstGeom prst="line">
              <a:avLst/>
            </a:prstGeom>
            <a:ln w="190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grpSp>
      <p:grpSp>
        <p:nvGrpSpPr>
          <p:cNvPr id="26" name="NoteAVC"/>
          <p:cNvGrpSpPr/>
          <p:nvPr/>
        </p:nvGrpSpPr>
        <p:grpSpPr>
          <a:xfrm>
            <a:off x="8595360" y="2194560"/>
            <a:ext cx="2880360" cy="914400"/>
            <a:chOff x="8595360" y="2194560"/>
            <a:chExt cx="2880360" cy="914400"/>
          </a:xfrm>
        </p:grpSpPr>
        <p:sp>
          <p:nvSpPr>
            <p:cNvPr id="24" name="Rounded Rectangle 23"/>
            <p:cNvSpPr/>
            <p:nvPr/>
          </p:nvSpPr>
          <p:spPr>
            <a:xfrm>
              <a:off x="9281160" y="2194560"/>
              <a:ext cx="2194560" cy="420624"/>
            </a:xfrm>
            <a:prstGeom prst="roundRect">
              <a:avLst>
                <a:gd name="adj" fmla="val 12000"/>
              </a:avLst>
            </a:prstGeom>
            <a:solidFill>
              <a:srgbClr val="FFFFFF"/>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i="1">
                  <a:solidFill>
                    <a:srgbClr val="0B2B4E"/>
                  </a:solidFill>
                  <a:latin typeface="Calibri"/>
                </a:rPr>
                <a:t>Average variable cost</a:t>
              </a:r>
            </a:p>
          </p:txBody>
        </p:sp>
        <p:cxnSp>
          <p:nvCxnSpPr>
            <p:cNvPr id="25" name="sdleader:16"/>
            <p:cNvCxnSpPr/>
            <p:nvPr/>
          </p:nvCxnSpPr>
          <p:spPr>
            <a:xfrm flipH="1">
              <a:off x="8595360" y="2635334"/>
              <a:ext cx="1199442" cy="473626"/>
            </a:xfrm>
            <a:prstGeom prst="line">
              <a:avLst/>
            </a:prstGeom>
            <a:ln w="190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grpSp>
      <p:cxnSp>
        <p:nvCxnSpPr>
          <p:cNvPr id="27" name="StrikeQ1"/>
          <p:cNvCxnSpPr/>
          <p:nvPr/>
        </p:nvCxnSpPr>
        <p:spPr>
          <a:xfrm flipV="1">
            <a:off x="5751576" y="3118104"/>
            <a:ext cx="201168" cy="237744"/>
          </a:xfrm>
          <a:prstGeom prst="line">
            <a:avLst/>
          </a:prstGeom>
          <a:ln w="38100">
            <a:solidFill>
              <a:srgbClr val="C00000"/>
            </a:solidFill>
          </a:ln>
        </p:spPr>
      </p:cxnSp>
      <p:cxnSp>
        <p:nvCxnSpPr>
          <p:cNvPr id="28" name="StrikeQ2"/>
          <p:cNvCxnSpPr/>
          <p:nvPr/>
        </p:nvCxnSpPr>
        <p:spPr>
          <a:xfrm flipV="1">
            <a:off x="7114032" y="3118104"/>
            <a:ext cx="201168" cy="237744"/>
          </a:xfrm>
          <a:prstGeom prst="line">
            <a:avLst/>
          </a:prstGeom>
          <a:ln w="38100">
            <a:solidFill>
              <a:srgbClr val="C00000"/>
            </a:solidFill>
          </a:ln>
        </p:spPr>
      </p:cxnSp>
      <p:cxnSp>
        <p:nvCxnSpPr>
          <p:cNvPr id="29" name="StrikeQ3"/>
          <p:cNvCxnSpPr/>
          <p:nvPr/>
        </p:nvCxnSpPr>
        <p:spPr>
          <a:xfrm flipV="1">
            <a:off x="6437376" y="3493008"/>
            <a:ext cx="201168" cy="237744"/>
          </a:xfrm>
          <a:prstGeom prst="line">
            <a:avLst/>
          </a:prstGeom>
          <a:ln w="38100">
            <a:solidFill>
              <a:srgbClr val="C00000"/>
            </a:solidFill>
          </a:ln>
        </p:spPr>
      </p:cxnSp>
      <p:sp>
        <p:nvSpPr>
          <p:cNvPr id="30" name="TextBox 29"/>
          <p:cNvSpPr txBox="1"/>
          <p:nvPr/>
        </p:nvSpPr>
        <p:spPr>
          <a:xfrm>
            <a:off x="7508367" y="676656"/>
            <a:ext cx="4343400" cy="365760"/>
          </a:xfrm>
          <a:prstGeom prst="rect">
            <a:avLst/>
          </a:prstGeom>
          <a:noFill/>
        </p:spPr>
        <p:txBody>
          <a:bodyPr wrap="square" lIns="0" tIns="0" rIns="0" bIns="0">
            <a:spAutoFit/>
          </a:bodyPr>
          <a:lstStyle/>
          <a:p>
            <a:pPr algn="l"/>
            <a:r>
              <a:rPr sz="1600" b="0" i="1" u="none">
                <a:solidFill>
                  <a:srgbClr val="555B66"/>
                </a:solidFill>
                <a:latin typeface="Calibri"/>
              </a:rPr>
              <a:t>(For Your Notes Later, When You Take Accounting)</a:t>
            </a:r>
          </a:p>
        </p:txBody>
      </p:sp>
      <p:sp>
        <p:nvSpPr>
          <p:cNvPr id="31" name="Rectangle 3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5  ·  Monopoly and Monopolistic Competition</a:t>
            </a:r>
          </a:p>
        </p:txBody>
      </p:sp>
      <p:sp>
        <p:nvSpPr>
          <p:cNvPr id="34" name="TextBox 33"/>
          <p:cNvSpPr txBox="1"/>
          <p:nvPr/>
        </p:nvSpPr>
        <p:spPr>
          <a:xfrm>
            <a:off x="11475720" y="6583680"/>
            <a:ext cx="502920" cy="292608"/>
          </a:xfrm>
          <a:prstGeom prst="rect">
            <a:avLst/>
          </a:prstGeom>
          <a:noFill/>
        </p:spPr>
        <p:txBody>
          <a:bodyPr wrap="none" lIns="0" tIns="0" rIns="0" bIns="0">
            <a:spAutoFit/>
          </a:bodyPr>
          <a:lstStyle/>
          <a:p>
            <a:pPr algn="r"/>
            <a:fld id="{9346563A-B51D-5037-A2A5-90204D319424}" type="slidenum">
              <a:rPr lang="en-US" sz="1200" dirty="0">
                <a:solidFill>
                  <a:srgbClr val="555B66"/>
                </a:solidFill>
                <a:latin typeface="Calibri"/>
              </a:rPr>
              <a:t>26</a:t>
            </a:fld>
            <a:endParaRPr lang="en-US" sz="1200" dirty="0">
              <a:solidFill>
                <a:srgbClr val="555B66"/>
              </a:solidFill>
              <a:latin typeface="Calibri"/>
            </a:endParaRPr>
          </a:p>
        </p:txBody>
      </p:sp>
      <mc:AlternateContent xmlns:mc="http://schemas.openxmlformats.org/markup-compatibility/2006" xmlns:a14="http://schemas.microsoft.com/office/drawing/2010/main">
        <mc:Choice Requires="a14">
          <p:sp>
            <p:nvSpPr>
              <p:cNvPr id="35" name="GM1approx"/>
              <p:cNvSpPr txBox="1"/>
              <p:nvPr/>
            </p:nvSpPr>
            <p:spPr>
              <a:xfrm>
                <a:off x="3017520" y="1920240"/>
                <a:ext cx="5394960" cy="868680"/>
              </a:xfrm>
              <a:prstGeom prst="rect">
                <a:avLst/>
              </a:prstGeom>
              <a:noFill/>
            </p:spPr>
            <p:txBody>
              <a:bodyPr wrap="square" anchor="ctr">
                <a:spAutoFit/>
              </a:bodyPr>
              <a:lstStyle/>
              <a:p>
                <a:pPr algn="l">
                  <a:defRPr sz="2200" b="0" i="1">
                    <a:solidFill>
                      <a:srgbClr val="0B2B4E"/>
                    </a:solidFill>
                    <a:latin typeface="Cambria Math"/>
                  </a:defRPr>
                </a:pPr>
                <a14:m>
                  <m:oMathPara xmlns:m="http://schemas.openxmlformats.org/officeDocument/2006/math">
                    <m:oMathParaPr>
                      <m:jc m:val="left"/>
                    </m:oMathParaPr>
                    <m:oMath>
                      <m:f>
                        <m:fPr>
                          <m:ctrlPr>
                            <a:rPr lang="en-US" sz="2200" b="0" i="0">
                              <a:solidFill>
                                <a:srgbClr val="0B2B4E">
                                  <a:alpha val="0"/>
                                </a:srgbClr>
                              </a:solidFill>
                              <a:latin typeface="Cambria Math"/>
                            </a:rPr>
                          </m:ctrlPr>
                        </m:fPr>
                        <m:num>
                          <m:r>
                            <m:rPr>
                              <m:sty m:val="p"/>
                            </m:rPr>
                            <a:rPr lang="en-US" sz="2200" b="0" i="0">
                              <a:solidFill>
                                <a:srgbClr val="0B2B4E">
                                  <a:alpha val="0"/>
                                </a:srgbClr>
                              </a:solidFill>
                              <a:latin typeface="Cambria Math"/>
                            </a:rPr>
                            <m:t>TR</m:t>
                          </m:r>
                          <m:r>
                            <a:rPr lang="en-US" sz="2200" b="0" i="0">
                              <a:solidFill>
                                <a:srgbClr val="0B2B4E">
                                  <a:alpha val="0"/>
                                </a:srgbClr>
                              </a:solidFill>
                              <a:latin typeface="Cambria Math"/>
                            </a:rPr>
                            <m:t> − </m:t>
                          </m:r>
                          <m:r>
                            <m:rPr>
                              <m:sty m:val="p"/>
                            </m:rPr>
                            <a:rPr lang="en-US" sz="2200" b="0" i="0">
                              <a:solidFill>
                                <a:srgbClr val="0B2B4E">
                                  <a:alpha val="0"/>
                                </a:srgbClr>
                              </a:solidFill>
                              <a:latin typeface="Cambria Math"/>
                            </a:rPr>
                            <m:t>COGS</m:t>
                          </m:r>
                        </m:num>
                        <m:den>
                          <m:r>
                            <m:rPr>
                              <m:sty m:val="p"/>
                            </m:rPr>
                            <a:rPr lang="en-US" sz="2200" b="0" i="0">
                              <a:solidFill>
                                <a:srgbClr val="0B2B4E">
                                  <a:alpha val="0"/>
                                </a:srgbClr>
                              </a:solidFill>
                              <a:latin typeface="Cambria Math"/>
                            </a:rPr>
                            <m:t>TR</m:t>
                          </m:r>
                        </m:den>
                      </m:f>
                      <m:r>
                        <a:rPr lang="en-US" sz="2200" b="0" i="0">
                          <a:solidFill>
                            <a:srgbClr val="0B2B4E"/>
                          </a:solidFill>
                          <a:latin typeface="Cambria Math"/>
                        </a:rPr>
                        <m:t>  ≈  </m:t>
                      </m:r>
                      <m:f>
                        <m:fPr>
                          <m:ctrlPr>
                            <a:rPr lang="en-US" sz="2200" b="0" i="0">
                              <a:solidFill>
                                <a:srgbClr val="0B2B4E"/>
                              </a:solidFill>
                              <a:latin typeface="Cambria Math"/>
                            </a:rPr>
                          </m:ctrlPr>
                        </m:fPr>
                        <m:num>
                          <m:r>
                            <m:rPr>
                              <m:sty m:val="p"/>
                            </m:rPr>
                            <a:rPr lang="en-US" sz="2200" b="0" i="0">
                              <a:solidFill>
                                <a:srgbClr val="0B2B4E"/>
                              </a:solidFill>
                              <a:latin typeface="Cambria Math"/>
                            </a:rPr>
                            <m:t>TR</m:t>
                          </m:r>
                          <m:r>
                            <a:rPr lang="en-US" sz="2200" b="0" i="0">
                              <a:solidFill>
                                <a:srgbClr val="0B2B4E"/>
                              </a:solidFill>
                              <a:latin typeface="Cambria Math"/>
                            </a:rPr>
                            <m:t> − </m:t>
                          </m:r>
                          <m:r>
                            <m:rPr>
                              <m:sty m:val="p"/>
                            </m:rPr>
                            <a:rPr lang="en-US" sz="2200" b="0" i="0">
                              <a:solidFill>
                                <a:srgbClr val="0B2B4E"/>
                              </a:solidFill>
                              <a:latin typeface="Cambria Math"/>
                            </a:rPr>
                            <m:t>TVC</m:t>
                          </m:r>
                        </m:num>
                        <m:den>
                          <m:r>
                            <m:rPr>
                              <m:sty m:val="p"/>
                            </m:rPr>
                            <a:rPr lang="en-US" sz="2200" b="0" i="0">
                              <a:solidFill>
                                <a:srgbClr val="0B2B4E"/>
                              </a:solidFill>
                              <a:latin typeface="Cambria Math"/>
                            </a:rPr>
                            <m:t>TR</m:t>
                          </m:r>
                        </m:den>
                      </m:f>
                    </m:oMath>
                  </m:oMathPara>
                </a14:m>
                <a:endParaRPr lang="en-US" sz="2200" dirty="0"/>
              </a:p>
            </p:txBody>
          </p:sp>
        </mc:Choice>
        <mc:Fallback xmlns="">
          <p:sp>
            <p:nvSpPr>
              <p:cNvPr id="35" name="GM1approx"/>
              <p:cNvSpPr txBox="1">
                <a:spLocks noRot="1" noChangeAspect="1" noMove="1" noResize="1" noEditPoints="1" noAdjustHandles="1" noChangeArrowheads="1" noChangeShapeType="1" noTextEdit="1"/>
              </p:cNvSpPr>
              <p:nvPr/>
            </p:nvSpPr>
            <p:spPr>
              <a:xfrm>
                <a:off x="3017520" y="1920240"/>
                <a:ext cx="5394960" cy="86868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DivResult"/>
              <p:cNvSpPr txBox="1"/>
              <p:nvPr/>
            </p:nvSpPr>
            <p:spPr>
              <a:xfrm>
                <a:off x="3520440" y="2971800"/>
                <a:ext cx="6035040" cy="868680"/>
              </a:xfrm>
              <a:prstGeom prst="rect">
                <a:avLst/>
              </a:prstGeom>
              <a:noFill/>
            </p:spPr>
            <p:txBody>
              <a:bodyPr wrap="square" anchor="ctr">
                <a:spAutoFit/>
              </a:bodyPr>
              <a:lstStyle/>
              <a:p>
                <a:pPr algn="l">
                  <a:defRPr sz="2200" b="0" i="1">
                    <a:solidFill>
                      <a:srgbClr val="0B2B4E"/>
                    </a:solidFill>
                    <a:latin typeface="Cambria Math"/>
                  </a:defRPr>
                </a:pPr>
                <a14:m>
                  <m:oMathPara xmlns:m="http://schemas.openxmlformats.org/officeDocument/2006/math">
                    <m:oMathParaPr>
                      <m:jc m:val="left"/>
                    </m:oMathParaPr>
                    <m:oMath>
                      <m:f>
                        <m:fPr>
                          <m:ctrlPr>
                            <a:rPr lang="en-US" sz="2200" b="0" i="0">
                              <a:solidFill>
                                <a:srgbClr val="0B2B4E">
                                  <a:alpha val="0"/>
                                </a:srgbClr>
                              </a:solidFill>
                              <a:latin typeface="Cambria Math"/>
                            </a:rPr>
                          </m:ctrlPr>
                        </m:fPr>
                        <m:num>
                          <m:r>
                            <m:rPr>
                              <m:sty m:val="p"/>
                            </m:rPr>
                            <a:rPr lang="en-US" sz="2200" b="0" i="0">
                              <a:solidFill>
                                <a:srgbClr val="0B2B4E">
                                  <a:alpha val="0"/>
                                </a:srgbClr>
                              </a:solidFill>
                              <a:latin typeface="Cambria Math"/>
                            </a:rPr>
                            <m:t>TR</m:t>
                          </m:r>
                          <m:r>
                            <a:rPr lang="en-US" sz="2200" b="0" i="0">
                              <a:solidFill>
                                <a:srgbClr val="0B2B4E">
                                  <a:alpha val="0"/>
                                </a:srgbClr>
                              </a:solidFill>
                              <a:latin typeface="Cambria Math"/>
                            </a:rPr>
                            <m:t> − </m:t>
                          </m:r>
                          <m:r>
                            <m:rPr>
                              <m:sty m:val="p"/>
                            </m:rPr>
                            <a:rPr lang="en-US" sz="2200" b="0" i="0">
                              <a:solidFill>
                                <a:srgbClr val="0B2B4E">
                                  <a:alpha val="0"/>
                                </a:srgbClr>
                              </a:solidFill>
                              <a:latin typeface="Cambria Math"/>
                            </a:rPr>
                            <m:t>TVC</m:t>
                          </m:r>
                        </m:num>
                        <m:den>
                          <m:r>
                            <m:rPr>
                              <m:sty m:val="p"/>
                            </m:rPr>
                            <a:rPr lang="en-US" sz="2200" b="0" i="0">
                              <a:solidFill>
                                <a:srgbClr val="0B2B4E">
                                  <a:alpha val="0"/>
                                </a:srgbClr>
                              </a:solidFill>
                              <a:latin typeface="Cambria Math"/>
                            </a:rPr>
                            <m:t>TR</m:t>
                          </m:r>
                        </m:den>
                      </m:f>
                      <m:r>
                        <a:rPr lang="en-US" sz="2200" b="0" i="0">
                          <a:solidFill>
                            <a:srgbClr val="0B2B4E">
                              <a:alpha val="0"/>
                            </a:srgbClr>
                          </a:solidFill>
                          <a:latin typeface="Cambria Math"/>
                        </a:rPr>
                        <m:t> = </m:t>
                      </m:r>
                      <m:f>
                        <m:fPr>
                          <m:ctrlPr>
                            <a:rPr lang="en-US" sz="2200" b="0" i="1">
                              <a:solidFill>
                                <a:srgbClr val="0B2B4E">
                                  <a:alpha val="0"/>
                                </a:srgbClr>
                              </a:solidFill>
                              <a:latin typeface="Cambria Math"/>
                              <a:ea typeface="Cambria Math"/>
                            </a:rPr>
                          </m:ctrlPr>
                        </m:fPr>
                        <m:num>
                          <m:r>
                            <a:rPr lang="en-US" sz="2200" b="0" i="1">
                              <a:solidFill>
                                <a:srgbClr val="0B2B4E">
                                  <a:alpha val="0"/>
                                </a:srgbClr>
                              </a:solidFill>
                              <a:latin typeface="Cambria Math"/>
                              <a:ea typeface="Cambria Math"/>
                            </a:rPr>
                            <m:t>𝑃</m:t>
                          </m:r>
                          <m:r>
                            <a:rPr lang="en-US" sz="2200" b="0" i="0">
                              <a:solidFill>
                                <a:srgbClr val="0B2B4E">
                                  <a:alpha val="0"/>
                                </a:srgbClr>
                              </a:solidFill>
                              <a:latin typeface="Cambria Math"/>
                            </a:rPr>
                            <m:t>·</m:t>
                          </m:r>
                          <m:r>
                            <a:rPr lang="en-US" sz="2200" b="0" i="1">
                              <a:solidFill>
                                <a:srgbClr val="0B2B4E">
                                  <a:alpha val="0"/>
                                </a:srgbClr>
                              </a:solidFill>
                              <a:latin typeface="Cambria Math"/>
                              <a:ea typeface="Cambria Math"/>
                            </a:rPr>
                            <m:t>𝑄</m:t>
                          </m:r>
                          <m:r>
                            <a:rPr lang="en-US" sz="2200" b="0" i="0">
                              <a:solidFill>
                                <a:srgbClr val="0B2B4E">
                                  <a:alpha val="0"/>
                                </a:srgbClr>
                              </a:solidFill>
                              <a:latin typeface="Cambria Math"/>
                            </a:rPr>
                            <m:t> − </m:t>
                          </m:r>
                          <m:r>
                            <m:rPr>
                              <m:sty m:val="p"/>
                            </m:rPr>
                            <a:rPr lang="en-US" sz="2200" b="0" i="0">
                              <a:solidFill>
                                <a:srgbClr val="0B2B4E">
                                  <a:alpha val="0"/>
                                </a:srgbClr>
                              </a:solidFill>
                              <a:latin typeface="Cambria Math"/>
                            </a:rPr>
                            <m:t>AVC</m:t>
                          </m:r>
                          <m:r>
                            <a:rPr lang="en-US" sz="2200" b="0" i="0">
                              <a:solidFill>
                                <a:srgbClr val="0B2B4E">
                                  <a:alpha val="0"/>
                                </a:srgbClr>
                              </a:solidFill>
                              <a:latin typeface="Cambria Math"/>
                            </a:rPr>
                            <m:t>·</m:t>
                          </m:r>
                          <m:r>
                            <a:rPr lang="en-US" sz="2200" b="0" i="1">
                              <a:solidFill>
                                <a:srgbClr val="0B2B4E">
                                  <a:alpha val="0"/>
                                </a:srgbClr>
                              </a:solidFill>
                              <a:latin typeface="Cambria Math"/>
                              <a:ea typeface="Cambria Math"/>
                            </a:rPr>
                            <m:t>𝑄</m:t>
                          </m:r>
                        </m:num>
                        <m:den>
                          <m:r>
                            <a:rPr lang="en-US" sz="2200" b="0" i="1">
                              <a:solidFill>
                                <a:srgbClr val="0B2B4E">
                                  <a:alpha val="0"/>
                                </a:srgbClr>
                              </a:solidFill>
                              <a:latin typeface="Cambria Math"/>
                              <a:ea typeface="Cambria Math"/>
                            </a:rPr>
                            <m:t>𝑃</m:t>
                          </m:r>
                          <m:r>
                            <a:rPr lang="en-US" sz="2200" b="0" i="0">
                              <a:solidFill>
                                <a:srgbClr val="0B2B4E">
                                  <a:alpha val="0"/>
                                </a:srgbClr>
                              </a:solidFill>
                              <a:latin typeface="Cambria Math"/>
                            </a:rPr>
                            <m:t>·</m:t>
                          </m:r>
                          <m:r>
                            <a:rPr lang="en-US" sz="2200" b="0" i="1">
                              <a:solidFill>
                                <a:srgbClr val="0B2B4E">
                                  <a:alpha val="0"/>
                                </a:srgbClr>
                              </a:solidFill>
                              <a:latin typeface="Cambria Math"/>
                              <a:ea typeface="Cambria Math"/>
                            </a:rPr>
                            <m:t>𝑄</m:t>
                          </m:r>
                        </m:den>
                      </m:f>
                      <m:r>
                        <a:rPr lang="en-US" sz="2200" b="0" i="0">
                          <a:solidFill>
                            <a:srgbClr val="0B2B4E"/>
                          </a:solidFill>
                          <a:latin typeface="Cambria Math"/>
                        </a:rPr>
                        <m:t> = </m:t>
                      </m:r>
                      <m:f>
                        <m:fPr>
                          <m:ctrlPr>
                            <a:rPr lang="en-US" sz="2200" b="0" i="1">
                              <a:solidFill>
                                <a:srgbClr val="0B2B4E"/>
                              </a:solidFill>
                              <a:latin typeface="Cambria Math"/>
                              <a:ea typeface="Cambria Math"/>
                            </a:rPr>
                          </m:ctrlPr>
                        </m:fPr>
                        <m:num>
                          <m:r>
                            <a:rPr lang="en-US" sz="2200" b="0" i="1">
                              <a:solidFill>
                                <a:srgbClr val="0B2B4E"/>
                              </a:solidFill>
                              <a:latin typeface="Cambria Math"/>
                              <a:ea typeface="Cambria Math"/>
                            </a:rPr>
                            <m:t>𝑃</m:t>
                          </m:r>
                          <m:r>
                            <a:rPr lang="en-US" sz="2200" b="0" i="0">
                              <a:solidFill>
                                <a:srgbClr val="0B2B4E"/>
                              </a:solidFill>
                              <a:latin typeface="Cambria Math"/>
                            </a:rPr>
                            <m:t> − </m:t>
                          </m:r>
                          <m:r>
                            <m:rPr>
                              <m:sty m:val="p"/>
                            </m:rPr>
                            <a:rPr lang="en-US" sz="2200" b="0" i="0">
                              <a:solidFill>
                                <a:srgbClr val="0B2B4E"/>
                              </a:solidFill>
                              <a:latin typeface="Cambria Math"/>
                            </a:rPr>
                            <m:t>AVC</m:t>
                          </m:r>
                        </m:num>
                        <m:den>
                          <m:r>
                            <a:rPr lang="en-US" sz="2200" b="0" i="1">
                              <a:solidFill>
                                <a:srgbClr val="0B2B4E"/>
                              </a:solidFill>
                              <a:latin typeface="Cambria Math"/>
                              <a:ea typeface="Cambria Math"/>
                            </a:rPr>
                            <m:t>𝑃</m:t>
                          </m:r>
                        </m:den>
                      </m:f>
                    </m:oMath>
                  </m:oMathPara>
                </a14:m>
                <a:endParaRPr lang="en-US" sz="2200" dirty="0"/>
              </a:p>
            </p:txBody>
          </p:sp>
        </mc:Choice>
        <mc:Fallback xmlns="">
          <p:sp>
            <p:nvSpPr>
              <p:cNvPr id="36" name="DivResult"/>
              <p:cNvSpPr txBox="1">
                <a:spLocks noRot="1" noChangeAspect="1" noMove="1" noResize="1" noEditPoints="1" noAdjustHandles="1" noChangeArrowheads="1" noChangeShapeType="1" noTextEdit="1"/>
              </p:cNvSpPr>
              <p:nvPr/>
            </p:nvSpPr>
            <p:spPr>
              <a:xfrm>
                <a:off x="3520440" y="2971800"/>
                <a:ext cx="6035040" cy="868680"/>
              </a:xfrm>
              <a:prstGeom prst="rect">
                <a:avLst/>
              </a:prstGeom>
              <a:blipFill>
                <a:blip r:embed="rId5"/>
                <a:stretch>
                  <a:fillRect/>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5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500"/>
                                        <p:tgtEl>
                                          <p:spTgt spid="27"/>
                                        </p:tgtEl>
                                      </p:cBhvr>
                                    </p:animEffect>
                                  </p:childTnLst>
                                </p:cTn>
                              </p:par>
                              <p:par>
                                <p:cTn id="23" presetID="10" presetClass="entr" presetSubtype="0" fill="hold"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500"/>
                                        <p:tgtEl>
                                          <p:spTgt spid="28"/>
                                        </p:tgtEl>
                                      </p:cBhvr>
                                    </p:animEffect>
                                  </p:childTnLst>
                                </p:cTn>
                              </p:par>
                              <p:par>
                                <p:cTn id="26" presetID="10" presetClass="entr" presetSubtype="0" fill="hold"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500"/>
                                        <p:tgtEl>
                                          <p:spTgt spid="29"/>
                                        </p:tgtEl>
                                      </p:cBhvr>
                                    </p:animEffect>
                                  </p:childTnLst>
                                </p:cTn>
                              </p:par>
                              <p:par>
                                <p:cTn id="29" presetID="10" presetClass="entr" presetSubtype="0" fill="hold" nodeType="withEffect">
                                  <p:stCondLst>
                                    <p:cond delay="0"/>
                                  </p:stCondLst>
                                  <p:childTnLst>
                                    <p:set>
                                      <p:cBhvr>
                                        <p:cTn id="30" dur="1" fill="hold">
                                          <p:stCondLst>
                                            <p:cond delay="0"/>
                                          </p:stCondLst>
                                        </p:cTn>
                                        <p:tgtEl>
                                          <p:spTgt spid="36"/>
                                        </p:tgtEl>
                                        <p:attrNameLst>
                                          <p:attrName>style.visibility</p:attrName>
                                        </p:attrNameLst>
                                      </p:cBhvr>
                                      <p:to>
                                        <p:strVal val="visible"/>
                                      </p:to>
                                    </p:set>
                                    <p:animEffect transition="in" filter="fade">
                                      <p:cBhvr>
                                        <p:cTn id="31" dur="500"/>
                                        <p:tgtEl>
                                          <p:spTgt spid="36"/>
                                        </p:tgtEl>
                                      </p:cBhvr>
                                    </p:animEffect>
                                  </p:childTnLst>
                                </p:cTn>
                              </p:par>
                              <p:par>
                                <p:cTn id="32" presetID="10" presetClass="entr" presetSubtype="0" fill="hold" nodeType="with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fade">
                                      <p:cBhvr>
                                        <p:cTn id="34" dur="500"/>
                                        <p:tgtEl>
                                          <p:spTgt spid="26"/>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500"/>
                                        <p:tgtEl>
                                          <p:spTgt spid="16"/>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500"/>
                                        <p:tgtEl>
                                          <p:spTgt spid="19"/>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5 · Markup and Lerner Index</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Firm and Market Elasticity</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80599" y="1417320"/>
            <a:ext cx="6537960" cy="4937760"/>
          </a:xfrm>
          <a:prstGeom prst="rect">
            <a:avLst/>
          </a:prstGeom>
          <a:noFill/>
        </p:spPr>
        <p:txBody>
          <a:bodyPr wrap="square" lIns="0" tIns="0" rIns="0" bIns="0" anchor="ctr">
            <a:noAutofit/>
          </a:bodyPr>
          <a:lstStyle>
            <a:lvl1pPr marL="342900" indent="-342900">
              <a:spcBef>
                <a:spcPts val="1800"/>
              </a:spcBef>
              <a:buClr>
                <a:srgbClr val="0B2B4E"/>
              </a:buClr>
              <a:buFont typeface="Calibri"/>
              <a:buChar char="▪"/>
              <a:defRPr sz="2800" b="0">
                <a:solidFill>
                  <a:srgbClr val="0B2B4E"/>
                </a:solidFill>
                <a:latin typeface="Calibri"/>
              </a:defRPr>
            </a:lvl1pPr>
            <a:lvl2pPr marL="685800" indent="-228600">
              <a:spcBef>
                <a:spcPts val="300"/>
              </a:spcBef>
              <a:buClr>
                <a:srgbClr val="0B2B4E"/>
              </a:buClr>
              <a:buFont typeface="Calibri"/>
              <a:buChar char="–"/>
              <a:defRPr sz="2600" b="0">
                <a:solidFill>
                  <a:srgbClr val="0B2B4E"/>
                </a:solidFill>
                <a:latin typeface="Calibri"/>
              </a:defRPr>
            </a:lvl2pPr>
          </a:lstStyle>
          <a:p>
            <a:pPr algn="l"/>
            <a:r>
              <a:rPr>
                <a:latin typeface="Calibri"/>
              </a:rPr>
              <a:t>Note that the Lerner index is calculated based on the </a:t>
            </a:r>
            <a:r>
              <a:rPr u="sng">
                <a:latin typeface="Calibri"/>
              </a:rPr>
              <a:t>firm elasticity</a:t>
            </a:r>
          </a:p>
          <a:p>
            <a:pPr algn="l"/>
            <a:r>
              <a:rPr u="sng">
                <a:latin typeface="Calibri"/>
              </a:rPr>
              <a:t>Important:</a:t>
            </a:r>
          </a:p>
          <a:p>
            <a:pPr lvl="1" algn="l"/>
            <a:r>
              <a:rPr>
                <a:latin typeface="Calibri"/>
              </a:rPr>
              <a:t>Firm and market elasticity are generally different</a:t>
            </a:r>
          </a:p>
          <a:p>
            <a:pPr lvl="1" algn="l"/>
            <a:r>
              <a:rPr b="1">
                <a:latin typeface="Calibri"/>
              </a:rPr>
              <a:t>Firm elasticity tends to be larger than market elasticity,</a:t>
            </a:r>
            <a:r>
              <a:rPr>
                <a:latin typeface="Calibri"/>
              </a:rPr>
              <a:t> especially if there are many firms competing in an industry</a:t>
            </a:r>
          </a:p>
          <a:p>
            <a:pPr lvl="1" algn="l"/>
            <a:r>
              <a:rPr>
                <a:latin typeface="Calibri"/>
              </a:rPr>
              <a:t>Across firms, those with more differentiated products tend to face lower elasticities</a:t>
            </a:r>
          </a:p>
        </p:txBody>
      </p:sp>
      <p:pic>
        <p:nvPicPr>
          <p:cNvPr id="8" name="Picture 7" descr="NV_insulin_demand.png"/>
          <p:cNvPicPr>
            <a:picLocks noChangeAspect="1"/>
          </p:cNvPicPr>
          <p:nvPr/>
        </p:nvPicPr>
        <p:blipFill>
          <a:blip r:embed="rId3"/>
          <a:srcRect l="18333" t="4399" r="16112" b="1644"/>
          <a:stretch>
            <a:fillRect/>
          </a:stretch>
        </p:blipFill>
        <p:spPr>
          <a:xfrm>
            <a:off x="8001000" y="1399032"/>
            <a:ext cx="3410712" cy="4882896"/>
          </a:xfrm>
          <a:prstGeom prst="roundRect">
            <a:avLst>
              <a:gd name="adj" fmla="val 3000"/>
            </a:avLst>
          </a:prstGeom>
          <a:effectLst>
            <a:outerShdw blurRad="50800" dist="38100" dir="2700000" algn="tl" rotWithShape="0">
              <a:srgbClr val="000000">
                <a:alpha val="50000"/>
              </a:srgbClr>
            </a:outerShdw>
          </a:effectLst>
        </p:spPr>
      </p:pic>
      <p:sp>
        <p:nvSpPr>
          <p:cNvPr id="9" name="Rectangle 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5  ·  Monopoly and Monopolistic Competition</a:t>
            </a:r>
          </a:p>
        </p:txBody>
      </p:sp>
      <p:sp>
        <p:nvSpPr>
          <p:cNvPr id="12" name="TextBox 11"/>
          <p:cNvSpPr txBox="1"/>
          <p:nvPr/>
        </p:nvSpPr>
        <p:spPr>
          <a:xfrm>
            <a:off x="11475720" y="6583680"/>
            <a:ext cx="502920" cy="292608"/>
          </a:xfrm>
          <a:prstGeom prst="rect">
            <a:avLst/>
          </a:prstGeom>
          <a:noFill/>
        </p:spPr>
        <p:txBody>
          <a:bodyPr wrap="none" lIns="0" tIns="0" rIns="0" bIns="0">
            <a:spAutoFit/>
          </a:bodyPr>
          <a:lstStyle/>
          <a:p>
            <a:pPr algn="r"/>
            <a:fld id="{E147C3F4-51FB-5672-BCCD-B2C49AC14D38}" type="slidenum">
              <a:rPr lang="en-US" sz="1200" dirty="0">
                <a:solidFill>
                  <a:srgbClr val="555B66"/>
                </a:solidFill>
                <a:latin typeface="Calibri"/>
              </a:rPr>
              <a:t>27</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7">
                                            <p:txEl>
                                              <p:pRg st="3" end="3"/>
                                            </p:txEl>
                                          </p:spTgt>
                                        </p:tgtEl>
                                        <p:attrNameLst>
                                          <p:attrName>style.visibility</p:attrName>
                                        </p:attrNameLst>
                                      </p:cBhvr>
                                      <p:to>
                                        <p:strVal val="visible"/>
                                      </p:to>
                                    </p:set>
                                    <p:animEffect transition="in" filter="fade">
                                      <p:cBhvr>
                                        <p:cTn id="11" dur="500"/>
                                        <p:tgtEl>
                                          <p:spTgt spid="7">
                                            <p:txEl>
                                              <p:pRg st="3" end="3"/>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7">
                                            <p:txEl>
                                              <p:pRg st="4" end="4"/>
                                            </p:txEl>
                                          </p:spTgt>
                                        </p:tgtEl>
                                        <p:attrNameLst>
                                          <p:attrName>style.visibility</p:attrName>
                                        </p:attrNameLst>
                                      </p:cBhvr>
                                      <p:to>
                                        <p:strVal val="visible"/>
                                      </p:to>
                                    </p:set>
                                    <p:animEffect transition="in" filter="fade">
                                      <p:cBhvr>
                                        <p:cTn id="16"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5 · Markup and Lerner Index</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Mark-Up and Elasticity</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80599" y="1417320"/>
            <a:ext cx="6675120" cy="4937760"/>
          </a:xfrm>
          <a:prstGeom prst="rect">
            <a:avLst/>
          </a:prstGeom>
          <a:noFill/>
        </p:spPr>
        <p:txBody>
          <a:bodyPr wrap="square" lIns="0" tIns="0" rIns="0" bIns="0" anchor="ctr">
            <a:noAutofit/>
          </a:bodyPr>
          <a:lstStyle>
            <a:lvl1pPr marL="342900" indent="-342900">
              <a:spcBef>
                <a:spcPts val="1800"/>
              </a:spcBef>
              <a:buClr>
                <a:srgbClr val="0B2B4E"/>
              </a:buClr>
              <a:buFont typeface="Calibri"/>
              <a:buChar char="▪"/>
              <a:defRPr sz="2800" b="0">
                <a:solidFill>
                  <a:srgbClr val="0B2B4E"/>
                </a:solidFill>
                <a:latin typeface="Calibri"/>
              </a:defRPr>
            </a:lvl1pPr>
            <a:lvl2pPr marL="685800" indent="-228600">
              <a:spcBef>
                <a:spcPts val="300"/>
              </a:spcBef>
              <a:buClr>
                <a:srgbClr val="0B2B4E"/>
              </a:buClr>
              <a:buFont typeface="Calibri"/>
              <a:buChar char="–"/>
              <a:defRPr sz="2400" b="0">
                <a:solidFill>
                  <a:srgbClr val="0B2B4E"/>
                </a:solidFill>
                <a:latin typeface="Calibri"/>
              </a:defRPr>
            </a:lvl2pPr>
          </a:lstStyle>
          <a:p>
            <a:pPr algn="l"/>
            <a:r>
              <a:rPr>
                <a:latin typeface="Calibri"/>
              </a:rPr>
              <a:t>Coca-Cola’s demand elasticity is −4.1</a:t>
            </a:r>
          </a:p>
          <a:p>
            <a:pPr algn="l"/>
            <a:r>
              <a:rPr>
                <a:latin typeface="Calibri"/>
              </a:rPr>
              <a:t>Dr. Brown’s Cel-Ray has a demand elasticity of −2.0</a:t>
            </a:r>
          </a:p>
          <a:p>
            <a:pPr algn="l"/>
            <a:r>
              <a:rPr>
                <a:latin typeface="Calibri"/>
              </a:rPr>
              <a:t>What is the % of the price that is due to markup for the two products?</a:t>
            </a:r>
          </a:p>
          <a:p>
            <a:pPr lvl="1" algn="l"/>
            <a:r>
              <a:rPr>
                <a:latin typeface="Calibri"/>
              </a:rPr>
              <a:t>Note: You may assume that elasticities are for the profit-maximizing P and Q</a:t>
            </a:r>
          </a:p>
        </p:txBody>
      </p:sp>
      <p:pic>
        <p:nvPicPr>
          <p:cNvPr id="8" name="Picture 7" descr="NV_s26_rId4.png"/>
          <p:cNvPicPr>
            <a:picLocks noChangeAspect="1"/>
          </p:cNvPicPr>
          <p:nvPr/>
        </p:nvPicPr>
        <p:blipFill>
          <a:blip r:embed="rId3"/>
          <a:stretch>
            <a:fillRect/>
          </a:stretch>
        </p:blipFill>
        <p:spPr>
          <a:xfrm>
            <a:off x="7543800" y="1600200"/>
            <a:ext cx="2062767" cy="3657600"/>
          </a:xfrm>
          <a:prstGeom prst="roundRect">
            <a:avLst>
              <a:gd name="adj" fmla="val 8000"/>
            </a:avLst>
          </a:prstGeom>
          <a:effectLst>
            <a:outerShdw blurRad="50800" dist="38100" dir="2700000" algn="tl" rotWithShape="0">
              <a:srgbClr val="000000">
                <a:alpha val="50000"/>
              </a:srgbClr>
            </a:outerShdw>
          </a:effectLst>
        </p:spPr>
      </p:pic>
      <p:pic>
        <p:nvPicPr>
          <p:cNvPr id="9" name="Picture 8" descr="NV_s26_rId3.png"/>
          <p:cNvPicPr>
            <a:picLocks noChangeAspect="1"/>
          </p:cNvPicPr>
          <p:nvPr/>
        </p:nvPicPr>
        <p:blipFill>
          <a:blip r:embed="rId4"/>
          <a:stretch>
            <a:fillRect/>
          </a:stretch>
        </p:blipFill>
        <p:spPr>
          <a:xfrm>
            <a:off x="9829800" y="1600200"/>
            <a:ext cx="1818994" cy="3657600"/>
          </a:xfrm>
          <a:prstGeom prst="roundRect">
            <a:avLst>
              <a:gd name="adj" fmla="val 8000"/>
            </a:avLst>
          </a:prstGeom>
          <a:effectLst>
            <a:outerShdw blurRad="50800" dist="38100" dir="2700000" algn="tl" rotWithShape="0">
              <a:srgbClr val="000000">
                <a:alpha val="50000"/>
              </a:srgbClr>
            </a:outerShdw>
          </a:effectLst>
        </p:spPr>
      </p:pic>
      <p:sp>
        <p:nvSpPr>
          <p:cNvPr id="9603" name="Rectangle 960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04" name="Rectangle 960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05" name="TextBox 9604"/>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5  ·  Monopoly and Monopolistic Competition</a:t>
            </a:r>
          </a:p>
        </p:txBody>
      </p:sp>
      <p:sp>
        <p:nvSpPr>
          <p:cNvPr id="9606" name="TextBox 9605"/>
          <p:cNvSpPr txBox="1"/>
          <p:nvPr/>
        </p:nvSpPr>
        <p:spPr>
          <a:xfrm>
            <a:off x="11475720" y="6583680"/>
            <a:ext cx="502920" cy="292608"/>
          </a:xfrm>
          <a:prstGeom prst="rect">
            <a:avLst/>
          </a:prstGeom>
          <a:noFill/>
        </p:spPr>
        <p:txBody>
          <a:bodyPr wrap="none" lIns="0" tIns="0" rIns="0" bIns="0">
            <a:spAutoFit/>
          </a:bodyPr>
          <a:lstStyle/>
          <a:p>
            <a:pPr algn="r"/>
            <a:fld id="{C293036A-BD4D-57C7-9687-30C5AEE01332}" type="slidenum">
              <a:rPr lang="en-US" sz="1200" dirty="0">
                <a:solidFill>
                  <a:srgbClr val="555B66"/>
                </a:solidFill>
                <a:latin typeface="Calibri"/>
              </a:rPr>
              <a:t>28</a:t>
            </a:fld>
            <a:endParaRPr lang="en-US" sz="1200" dirty="0">
              <a:solidFill>
                <a:srgbClr val="555B66"/>
              </a:solidFill>
              <a:latin typeface="Calibri"/>
            </a:endParaRPr>
          </a:p>
        </p:txBody>
      </p:sp>
      <p:grpSp>
        <p:nvGrpSpPr>
          <p:cNvPr id="9600" name="PollBreakBadge"/>
          <p:cNvGrpSpPr/>
          <p:nvPr/>
        </p:nvGrpSpPr>
        <p:grpSpPr>
          <a:xfrm>
            <a:off x="9361444" y="6190030"/>
            <a:ext cx="2697480" cy="487009"/>
            <a:chOff x="9361444" y="6190030"/>
            <a:chExt cx="2697480" cy="487009"/>
          </a:xfrm>
        </p:grpSpPr>
        <p:sp>
          <p:nvSpPr>
            <p:cNvPr id="9601" name="PollBreakShape"/>
            <p:cNvSpPr/>
            <p:nvPr/>
          </p:nvSpPr>
          <p:spPr>
            <a:xfrm>
              <a:off x="9361444" y="6190030"/>
              <a:ext cx="2697480" cy="487009"/>
            </a:xfrm>
            <a:custGeom>
              <a:avLst/>
              <a:gdLst/>
              <a:ahLst/>
              <a:cxnLst/>
              <a:rect l="24407" t="0" r="75593" b="100000"/>
              <a:pathLst>
                <a:path w="100000" h="100000">
                  <a:moveTo>
                    <a:pt x="29407" y="0"/>
                  </a:moveTo>
                  <a:lnTo>
                    <a:pt x="95000" y="0"/>
                  </a:lnTo>
                  <a:cubicBezTo>
                    <a:pt x="100000" y="0"/>
                    <a:pt x="100000" y="0"/>
                    <a:pt x="98780" y="5000"/>
                  </a:cubicBezTo>
                  <a:lnTo>
                    <a:pt x="76813" y="95000"/>
                  </a:lnTo>
                  <a:cubicBezTo>
                    <a:pt x="75593" y="100000"/>
                    <a:pt x="75593" y="100000"/>
                    <a:pt x="70593" y="100000"/>
                  </a:cubicBezTo>
                  <a:lnTo>
                    <a:pt x="5000" y="100000"/>
                  </a:lnTo>
                  <a:cubicBezTo>
                    <a:pt x="0" y="100000"/>
                    <a:pt x="0" y="100000"/>
                    <a:pt x="1220" y="95000"/>
                  </a:cubicBezTo>
                  <a:lnTo>
                    <a:pt x="23187" y="5000"/>
                  </a:lnTo>
                  <a:cubicBezTo>
                    <a:pt x="24407" y="0"/>
                    <a:pt x="24407" y="0"/>
                    <a:pt x="29407" y="0"/>
                  </a:cubicBezTo>
                  <a:close/>
                </a:path>
              </a:pathLst>
            </a:custGeom>
            <a:solidFill>
              <a:srgbClr val="E09F3E"/>
            </a:solidFill>
            <a:ln>
              <a:noFill/>
            </a:ln>
            <a:effectLst>
              <a:outerShdw blurRad="50800" dist="38100" dir="2700000" algn="tl" rotWithShape="0">
                <a:srgbClr val="000000">
                  <a:alpha val="50000"/>
                </a:srgbClr>
              </a:outerShdw>
            </a:effectLst>
          </p:spPr>
          <p:txBody>
            <a:bodyPr rtlCol="0" anchor="ctr"/>
            <a:lstStyle/>
            <a:p>
              <a:pPr algn="ctr"/>
              <a:endParaRPr/>
            </a:p>
          </p:txBody>
        </p:sp>
        <p:sp>
          <p:nvSpPr>
            <p:cNvPr id="9602" name="PollBreakLabel"/>
            <p:cNvSpPr txBox="1"/>
            <p:nvPr/>
          </p:nvSpPr>
          <p:spPr>
            <a:xfrm>
              <a:off x="10019812" y="6190030"/>
              <a:ext cx="1380744" cy="487009"/>
            </a:xfrm>
            <a:prstGeom prst="rect">
              <a:avLst/>
            </a:prstGeom>
            <a:noFill/>
          </p:spPr>
          <p:txBody>
            <a:bodyPr wrap="none" lIns="45720" tIns="18288" rIns="45720" bIns="18288" anchor="ctr">
              <a:spAutoFit/>
            </a:bodyPr>
            <a:lstStyle/>
            <a:p>
              <a:pPr algn="ctr"/>
              <a:r>
                <a:rPr sz="2800" b="1">
                  <a:solidFill>
                    <a:srgbClr val="0B2B4E"/>
                  </a:solidFill>
                  <a:latin typeface="Calibri"/>
                </a:rPr>
                <a:t>Poll Break</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Effect transition="in" filter="fade">
                                      <p:cBhvr>
                                        <p:cTn id="7" dur="500"/>
                                        <p:tgtEl>
                                          <p:spTgt spid="7">
                                            <p:txEl>
                                              <p:pRg st="2" end="2"/>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xEl>
                                              <p:pRg st="3" end="3"/>
                                            </p:txEl>
                                          </p:spTgt>
                                        </p:tgtEl>
                                        <p:attrNameLst>
                                          <p:attrName>style.visibility</p:attrName>
                                        </p:attrNameLst>
                                      </p:cBhvr>
                                      <p:to>
                                        <p:strVal val="visible"/>
                                      </p:to>
                                    </p:set>
                                    <p:animEffect transition="in" filter="fade">
                                      <p:cBhvr>
                                        <p:cTn id="10"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3E43EDB-7418-9511-1ACD-40CE43B5C077}"/>
              </a:ext>
            </a:extLst>
          </p:cNvPr>
          <p:cNvPicPr>
            <a:picLocks/>
          </p:cNvPicPr>
          <p:nvPr>
            <p:custDataLst>
              <p:tags r:id="rId1"/>
            </p:custDataLst>
          </p:nvPr>
        </p:nvPicPr>
        <p:blipFill>
          <a:blip r:embed="rId4"/>
          <a:stretch>
            <a:fillRect/>
          </a:stretch>
        </p:blipFill>
        <p:spPr>
          <a:xfrm>
            <a:off x="190500" y="190500"/>
            <a:ext cx="11811000" cy="6477000"/>
          </a:xfrm>
          <a:prstGeom prst="rect">
            <a:avLst/>
          </a:prstGeom>
        </p:spPr>
      </p:pic>
    </p:spTree>
    <p:extLst>
      <p:ext uri="{BB962C8B-B14F-4D97-AF65-F5344CB8AC3E}">
        <p14:creationId xmlns:p14="http://schemas.microsoft.com/office/powerpoint/2010/main" val="37042564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5 · Markup and Lerner Index</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Solution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13" name="Rectangle 961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14" name="Rectangle 961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15" name="TextBox 9614"/>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5  ·  Monopoly and Monopolistic Competition</a:t>
            </a:r>
          </a:p>
        </p:txBody>
      </p:sp>
      <p:sp>
        <p:nvSpPr>
          <p:cNvPr id="9616" name="TextBox 9615"/>
          <p:cNvSpPr txBox="1"/>
          <p:nvPr/>
        </p:nvSpPr>
        <p:spPr>
          <a:xfrm>
            <a:off x="11475720" y="6583680"/>
            <a:ext cx="502920" cy="292608"/>
          </a:xfrm>
          <a:prstGeom prst="rect">
            <a:avLst/>
          </a:prstGeom>
          <a:noFill/>
        </p:spPr>
        <p:txBody>
          <a:bodyPr wrap="none" lIns="0" tIns="0" rIns="0" bIns="0">
            <a:spAutoFit/>
          </a:bodyPr>
          <a:lstStyle/>
          <a:p>
            <a:pPr algn="r"/>
            <a:fld id="{7373E417-ECEB-5E52-B810-17214CB68111}" type="slidenum">
              <a:rPr lang="en-US" sz="1200" dirty="0">
                <a:solidFill>
                  <a:srgbClr val="555B66"/>
                </a:solidFill>
                <a:latin typeface="Calibri"/>
              </a:rPr>
              <a:t>30</a:t>
            </a:fld>
            <a:endParaRPr lang="en-US" sz="1200" dirty="0">
              <a:solidFill>
                <a:srgbClr val="555B66"/>
              </a:solidFill>
              <a:latin typeface="Calibri"/>
            </a:endParaRPr>
          </a:p>
        </p:txBody>
      </p:sp>
      <p:grpSp>
        <p:nvGrpSpPr>
          <p:cNvPr id="9610" name="PollBreakBadge"/>
          <p:cNvGrpSpPr/>
          <p:nvPr/>
        </p:nvGrpSpPr>
        <p:grpSpPr>
          <a:xfrm>
            <a:off x="9361444" y="6190030"/>
            <a:ext cx="2697480" cy="487009"/>
            <a:chOff x="9361444" y="6190030"/>
            <a:chExt cx="2697480" cy="487009"/>
          </a:xfrm>
        </p:grpSpPr>
        <p:sp>
          <p:nvSpPr>
            <p:cNvPr id="9611" name="PollBreakShape"/>
            <p:cNvSpPr/>
            <p:nvPr/>
          </p:nvSpPr>
          <p:spPr>
            <a:xfrm>
              <a:off x="9361444" y="6190030"/>
              <a:ext cx="2697480" cy="487009"/>
            </a:xfrm>
            <a:custGeom>
              <a:avLst/>
              <a:gdLst/>
              <a:ahLst/>
              <a:cxnLst/>
              <a:rect l="24407" t="0" r="75593" b="100000"/>
              <a:pathLst>
                <a:path w="100000" h="100000">
                  <a:moveTo>
                    <a:pt x="29407" y="0"/>
                  </a:moveTo>
                  <a:lnTo>
                    <a:pt x="95000" y="0"/>
                  </a:lnTo>
                  <a:cubicBezTo>
                    <a:pt x="100000" y="0"/>
                    <a:pt x="100000" y="0"/>
                    <a:pt x="98780" y="5000"/>
                  </a:cubicBezTo>
                  <a:lnTo>
                    <a:pt x="76813" y="95000"/>
                  </a:lnTo>
                  <a:cubicBezTo>
                    <a:pt x="75593" y="100000"/>
                    <a:pt x="75593" y="100000"/>
                    <a:pt x="70593" y="100000"/>
                  </a:cubicBezTo>
                  <a:lnTo>
                    <a:pt x="5000" y="100000"/>
                  </a:lnTo>
                  <a:cubicBezTo>
                    <a:pt x="0" y="100000"/>
                    <a:pt x="0" y="100000"/>
                    <a:pt x="1220" y="95000"/>
                  </a:cubicBezTo>
                  <a:lnTo>
                    <a:pt x="23187" y="5000"/>
                  </a:lnTo>
                  <a:cubicBezTo>
                    <a:pt x="24407" y="0"/>
                    <a:pt x="24407" y="0"/>
                    <a:pt x="29407" y="0"/>
                  </a:cubicBezTo>
                  <a:close/>
                </a:path>
              </a:pathLst>
            </a:custGeom>
            <a:solidFill>
              <a:srgbClr val="E09F3E"/>
            </a:solidFill>
            <a:ln>
              <a:noFill/>
            </a:ln>
            <a:effectLst>
              <a:outerShdw blurRad="50800" dist="38100" dir="2700000" algn="tl" rotWithShape="0">
                <a:srgbClr val="000000">
                  <a:alpha val="50000"/>
                </a:srgbClr>
              </a:outerShdw>
            </a:effectLst>
          </p:spPr>
          <p:txBody>
            <a:bodyPr rtlCol="0" anchor="ctr"/>
            <a:lstStyle/>
            <a:p>
              <a:pPr algn="ctr"/>
              <a:endParaRPr/>
            </a:p>
          </p:txBody>
        </p:sp>
        <p:sp>
          <p:nvSpPr>
            <p:cNvPr id="9612" name="PollBreakLabel"/>
            <p:cNvSpPr txBox="1"/>
            <p:nvPr/>
          </p:nvSpPr>
          <p:spPr>
            <a:xfrm>
              <a:off x="10019812" y="6190030"/>
              <a:ext cx="1380744" cy="487009"/>
            </a:xfrm>
            <a:prstGeom prst="rect">
              <a:avLst/>
            </a:prstGeom>
            <a:noFill/>
          </p:spPr>
          <p:txBody>
            <a:bodyPr wrap="none" lIns="45720" tIns="18288" rIns="45720" bIns="18288" anchor="ctr">
              <a:spAutoFit/>
            </a:bodyPr>
            <a:lstStyle/>
            <a:p>
              <a:pPr algn="ctr"/>
              <a:r>
                <a:rPr sz="2800" b="1">
                  <a:solidFill>
                    <a:srgbClr val="0B2B4E"/>
                  </a:solidFill>
                  <a:latin typeface="Calibri"/>
                </a:rPr>
                <a:t>Poll Break</a:t>
              </a: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5 · Markup and Lerner Index</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Price Searcher Take-Aways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80599" y="1417320"/>
            <a:ext cx="11230497" cy="4937760"/>
          </a:xfrm>
          <a:prstGeom prst="rect">
            <a:avLst/>
          </a:prstGeom>
          <a:noFill/>
        </p:spPr>
        <p:txBody>
          <a:bodyPr wrap="square" lIns="0" tIns="0" rIns="0" bIns="0" anchor="ctr">
            <a:noAutofit/>
          </a:bodyPr>
          <a:lstStyle>
            <a:lvl1pPr marL="342900" indent="-342900">
              <a:spcBef>
                <a:spcPts val="1800"/>
              </a:spcBef>
              <a:buClr>
                <a:srgbClr val="0B2B4E"/>
              </a:buClr>
              <a:buFont typeface="Calibri"/>
              <a:buChar char="▪"/>
              <a:defRPr sz="3000" b="0">
                <a:solidFill>
                  <a:srgbClr val="0B2B4E"/>
                </a:solidFill>
                <a:latin typeface="Calibri"/>
              </a:defRPr>
            </a:lvl1pPr>
            <a:lvl2pPr marL="685800" indent="-228600">
              <a:spcBef>
                <a:spcPts val="300"/>
              </a:spcBef>
              <a:buClr>
                <a:srgbClr val="0B2B4E"/>
              </a:buClr>
              <a:buFont typeface="Calibri"/>
              <a:buChar char="–"/>
              <a:defRPr sz="2800" b="0">
                <a:solidFill>
                  <a:srgbClr val="0B2B4E"/>
                </a:solidFill>
                <a:latin typeface="Calibri"/>
              </a:defRPr>
            </a:lvl2pPr>
          </a:lstStyle>
          <a:p>
            <a:pPr algn="l"/>
            <a:r>
              <a:rPr>
                <a:latin typeface="Calibri"/>
              </a:rPr>
              <a:t>Basic rule for profit maximization:</a:t>
            </a:r>
          </a:p>
          <a:p>
            <a:pPr lvl="1" algn="l"/>
            <a:r>
              <a:rPr>
                <a:latin typeface="Calibri"/>
              </a:rPr>
              <a:t>Set </a:t>
            </a:r>
            <a:r>
              <a:rPr i="1">
                <a:latin typeface="Calibri"/>
              </a:rPr>
              <a:t>MR = MC</a:t>
            </a:r>
            <a:r>
              <a:rPr>
                <a:latin typeface="Calibri"/>
              </a:rPr>
              <a:t> to find </a:t>
            </a:r>
            <a:r>
              <a:rPr i="1">
                <a:latin typeface="Calibri"/>
              </a:rPr>
              <a:t>Q*</a:t>
            </a:r>
          </a:p>
          <a:p>
            <a:pPr lvl="1" algn="l"/>
            <a:r>
              <a:rPr>
                <a:latin typeface="Calibri"/>
              </a:rPr>
              <a:t>Continue to produce in the short run if </a:t>
            </a:r>
            <a:r>
              <a:rPr i="1">
                <a:latin typeface="Calibri"/>
              </a:rPr>
              <a:t>P ≥ AVC</a:t>
            </a:r>
          </a:p>
          <a:p>
            <a:pPr algn="l"/>
            <a:r>
              <a:rPr>
                <a:latin typeface="Calibri"/>
              </a:rPr>
              <a:t>Key difference to price taker:</a:t>
            </a:r>
          </a:p>
          <a:p>
            <a:pPr lvl="1" algn="l"/>
            <a:r>
              <a:rPr>
                <a:latin typeface="Calibri"/>
              </a:rPr>
              <a:t>The price searcher sets </a:t>
            </a:r>
            <a:r>
              <a:rPr i="1">
                <a:latin typeface="Calibri"/>
              </a:rPr>
              <a:t>P* &gt; MC</a:t>
            </a:r>
          </a:p>
          <a:p>
            <a:pPr algn="l"/>
            <a:r>
              <a:rPr>
                <a:latin typeface="Calibri"/>
              </a:rPr>
              <a:t>Mark-up depends on elasticity</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5  ·  Monopoly and Monopolistic Competition</a:t>
            </a:r>
          </a:p>
        </p:txBody>
      </p:sp>
      <p:sp>
        <p:nvSpPr>
          <p:cNvPr id="11" name="TextBox 10"/>
          <p:cNvSpPr txBox="1"/>
          <p:nvPr/>
        </p:nvSpPr>
        <p:spPr>
          <a:xfrm>
            <a:off x="11475720" y="6583680"/>
            <a:ext cx="502920" cy="292608"/>
          </a:xfrm>
          <a:prstGeom prst="rect">
            <a:avLst/>
          </a:prstGeom>
          <a:noFill/>
        </p:spPr>
        <p:txBody>
          <a:bodyPr wrap="none" lIns="0" tIns="0" rIns="0" bIns="0">
            <a:spAutoFit/>
          </a:bodyPr>
          <a:lstStyle/>
          <a:p>
            <a:pPr algn="r"/>
            <a:fld id="{9B1978F4-5072-5BCF-94F0-DCD91FB47F0D}" type="slidenum">
              <a:rPr lang="en-US" sz="1200" dirty="0">
                <a:solidFill>
                  <a:srgbClr val="555B66"/>
                </a:solidFill>
                <a:latin typeface="Calibri"/>
              </a:rPr>
              <a:t>31</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Effect transition="in" filter="fade">
                                      <p:cBhvr>
                                        <p:cTn id="7" dur="500"/>
                                        <p:tgtEl>
                                          <p:spTgt spid="7">
                                            <p:txEl>
                                              <p:pRg st="3" end="3"/>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xEl>
                                              <p:pRg st="4" end="4"/>
                                            </p:txEl>
                                          </p:spTgt>
                                        </p:tgtEl>
                                        <p:attrNameLst>
                                          <p:attrName>style.visibility</p:attrName>
                                        </p:attrNameLst>
                                      </p:cBhvr>
                                      <p:to>
                                        <p:strVal val="visible"/>
                                      </p:to>
                                    </p:set>
                                    <p:animEffect transition="in" filter="fade">
                                      <p:cBhvr>
                                        <p:cTn id="10" dur="500"/>
                                        <p:tgtEl>
                                          <p:spTgt spid="7">
                                            <p:txEl>
                                              <p:pRg st="4" end="4"/>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xEl>
                                              <p:pRg st="5" end="5"/>
                                            </p:txEl>
                                          </p:spTgt>
                                        </p:tgtEl>
                                        <p:attrNameLst>
                                          <p:attrName>style.visibility</p:attrName>
                                        </p:attrNameLst>
                                      </p:cBhvr>
                                      <p:to>
                                        <p:strVal val="visible"/>
                                      </p:to>
                                    </p:set>
                                    <p:animEffect transition="in" filter="fade">
                                      <p:cBhvr>
                                        <p:cTn id="15"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5 · Agenda</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Outline of Module 5</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1560" y="1929384"/>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1</a:t>
            </a:r>
          </a:p>
        </p:txBody>
      </p:sp>
      <p:sp>
        <p:nvSpPr>
          <p:cNvPr id="8" name="Rounded Rectangle 7"/>
          <p:cNvSpPr/>
          <p:nvPr/>
        </p:nvSpPr>
        <p:spPr>
          <a:xfrm>
            <a:off x="10332720" y="2057400"/>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In class</a:t>
            </a:r>
          </a:p>
        </p:txBody>
      </p:sp>
      <p:sp>
        <p:nvSpPr>
          <p:cNvPr id="9" name="TextBox 8"/>
          <p:cNvSpPr txBox="1"/>
          <p:nvPr/>
        </p:nvSpPr>
        <p:spPr>
          <a:xfrm>
            <a:off x="1874519" y="2084832"/>
            <a:ext cx="8293609" cy="731520"/>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0B2B4E"/>
              </a:buClr>
              <a:buFont typeface="Calibri"/>
              <a:buChar char="–"/>
              <a:defRPr sz="2100" b="0">
                <a:solidFill>
                  <a:srgbClr val="0B2B4E"/>
                </a:solidFill>
                <a:latin typeface="Calibri"/>
              </a:defRPr>
            </a:lvl2pPr>
          </a:lstStyle>
          <a:p>
            <a:pPr algn="l">
              <a:buNone/>
            </a:pPr>
            <a:r>
              <a:rPr sz="2500" b="1">
                <a:solidFill>
                  <a:srgbClr val="BFBFBF"/>
                </a:solidFill>
                <a:latin typeface="Calibri"/>
              </a:rPr>
              <a:t>Profit Maximization for Price Searchers</a:t>
            </a:r>
          </a:p>
        </p:txBody>
      </p:sp>
      <p:sp>
        <p:nvSpPr>
          <p:cNvPr id="10" name="Oval 9"/>
          <p:cNvSpPr/>
          <p:nvPr/>
        </p:nvSpPr>
        <p:spPr>
          <a:xfrm>
            <a:off x="1481328" y="2798064"/>
            <a:ext cx="438912" cy="43891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BFBFBF"/>
                </a:solidFill>
                <a:latin typeface="Calibri"/>
              </a:rPr>
              <a:t>1b</a:t>
            </a:r>
          </a:p>
        </p:txBody>
      </p:sp>
      <p:sp>
        <p:nvSpPr>
          <p:cNvPr id="11" name="Rounded Rectangle 10"/>
          <p:cNvSpPr/>
          <p:nvPr/>
        </p:nvSpPr>
        <p:spPr>
          <a:xfrm>
            <a:off x="10707625" y="2889504"/>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In class</a:t>
            </a:r>
          </a:p>
        </p:txBody>
      </p:sp>
      <p:sp>
        <p:nvSpPr>
          <p:cNvPr id="12" name="TextBox 11"/>
          <p:cNvSpPr txBox="1"/>
          <p:nvPr/>
        </p:nvSpPr>
        <p:spPr>
          <a:xfrm>
            <a:off x="2084831" y="2916936"/>
            <a:ext cx="8458202" cy="731520"/>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300" b="0">
                <a:solidFill>
                  <a:srgbClr val="0B2B4E"/>
                </a:solidFill>
                <a:latin typeface="Calibri"/>
              </a:defRPr>
            </a:lvl1pPr>
            <a:lvl2pPr marL="685800" indent="-228600">
              <a:spcBef>
                <a:spcPts val="300"/>
              </a:spcBef>
              <a:buClr>
                <a:srgbClr val="0B2B4E"/>
              </a:buClr>
              <a:buFont typeface="Calibri"/>
              <a:buChar char="–"/>
              <a:defRPr sz="1900" b="0">
                <a:solidFill>
                  <a:srgbClr val="0B2B4E"/>
                </a:solidFill>
                <a:latin typeface="Calibri"/>
              </a:defRPr>
            </a:lvl2pPr>
          </a:lstStyle>
          <a:p>
            <a:pPr algn="l">
              <a:buNone/>
            </a:pPr>
            <a:r>
              <a:rPr sz="2300" b="1">
                <a:solidFill>
                  <a:srgbClr val="BFBFBF"/>
                </a:solidFill>
                <a:latin typeface="Calibri"/>
              </a:rPr>
              <a:t>Markup and Lerner Index</a:t>
            </a:r>
          </a:p>
        </p:txBody>
      </p:sp>
      <p:sp>
        <p:nvSpPr>
          <p:cNvPr id="13" name="Rounded Rectangle 12"/>
          <p:cNvSpPr/>
          <p:nvPr/>
        </p:nvSpPr>
        <p:spPr>
          <a:xfrm>
            <a:off x="822960" y="3520440"/>
            <a:ext cx="11109960" cy="841248"/>
          </a:xfrm>
          <a:prstGeom prst="roundRect">
            <a:avLst>
              <a:gd name="adj" fmla="val 35000"/>
            </a:avLst>
          </a:prstGeom>
          <a:solidFill>
            <a:srgbClr val="FDF6E6"/>
          </a:solidFill>
          <a:ln w="127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051560" y="3593592"/>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0B2B4E"/>
                </a:solidFill>
                <a:latin typeface="Calibri"/>
              </a:rPr>
              <a:t>2</a:t>
            </a:r>
          </a:p>
        </p:txBody>
      </p:sp>
      <p:sp>
        <p:nvSpPr>
          <p:cNvPr id="15" name="Rounded Rectangle 14"/>
          <p:cNvSpPr/>
          <p:nvPr/>
        </p:nvSpPr>
        <p:spPr>
          <a:xfrm>
            <a:off x="10332720" y="3721608"/>
            <a:ext cx="1417320" cy="329184"/>
          </a:xfrm>
          <a:prstGeom prst="roundRect">
            <a:avLst>
              <a:gd name="adj" fmla="val 30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In class</a:t>
            </a:r>
          </a:p>
        </p:txBody>
      </p:sp>
      <p:sp>
        <p:nvSpPr>
          <p:cNvPr id="16" name="TextBox 15"/>
          <p:cNvSpPr txBox="1"/>
          <p:nvPr/>
        </p:nvSpPr>
        <p:spPr>
          <a:xfrm>
            <a:off x="1874519" y="3575304"/>
            <a:ext cx="8293609" cy="731520"/>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0B2B4E"/>
              </a:buClr>
              <a:buFont typeface="Calibri"/>
              <a:buChar char="–"/>
              <a:defRPr sz="2100" b="0">
                <a:solidFill>
                  <a:srgbClr val="0B2B4E"/>
                </a:solidFill>
                <a:latin typeface="Calibri"/>
              </a:defRPr>
            </a:lvl2pPr>
          </a:lstStyle>
          <a:p>
            <a:pPr algn="l">
              <a:buNone/>
            </a:pPr>
            <a:r>
              <a:rPr sz="2500" b="1">
                <a:solidFill>
                  <a:srgbClr val="0B2B4E"/>
                </a:solidFill>
                <a:latin typeface="Calibri"/>
              </a:rPr>
              <a:t>Monopoly and Welfare Impact</a:t>
            </a:r>
          </a:p>
          <a:p>
            <a:pPr algn="l">
              <a:spcBef>
                <a:spcPts val="0"/>
              </a:spcBef>
              <a:buNone/>
            </a:pPr>
            <a:r>
              <a:rPr sz="2200">
                <a:solidFill>
                  <a:srgbClr val="555B66"/>
                </a:solidFill>
                <a:latin typeface="Calibri"/>
              </a:rPr>
              <a:t>Monopoly profits come at consumers' expense</a:t>
            </a:r>
          </a:p>
        </p:txBody>
      </p:sp>
      <p:sp>
        <p:nvSpPr>
          <p:cNvPr id="17" name="Oval 16"/>
          <p:cNvSpPr/>
          <p:nvPr/>
        </p:nvSpPr>
        <p:spPr>
          <a:xfrm>
            <a:off x="1051560" y="442569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3</a:t>
            </a:r>
          </a:p>
        </p:txBody>
      </p:sp>
      <p:sp>
        <p:nvSpPr>
          <p:cNvPr id="18" name="Rounded Rectangle 17"/>
          <p:cNvSpPr/>
          <p:nvPr/>
        </p:nvSpPr>
        <p:spPr>
          <a:xfrm>
            <a:off x="10332720" y="4553712"/>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In class</a:t>
            </a:r>
          </a:p>
        </p:txBody>
      </p:sp>
      <p:sp>
        <p:nvSpPr>
          <p:cNvPr id="19" name="TextBox 18"/>
          <p:cNvSpPr txBox="1"/>
          <p:nvPr/>
        </p:nvSpPr>
        <p:spPr>
          <a:xfrm>
            <a:off x="1874519" y="4581144"/>
            <a:ext cx="8293609" cy="731520"/>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0B2B4E"/>
              </a:buClr>
              <a:buFont typeface="Calibri"/>
              <a:buChar char="–"/>
              <a:defRPr sz="2100" b="0">
                <a:solidFill>
                  <a:srgbClr val="0B2B4E"/>
                </a:solidFill>
                <a:latin typeface="Calibri"/>
              </a:defRPr>
            </a:lvl2pPr>
          </a:lstStyle>
          <a:p>
            <a:pPr algn="l">
              <a:buNone/>
            </a:pPr>
            <a:r>
              <a:rPr sz="2500" b="1">
                <a:solidFill>
                  <a:srgbClr val="BFBFBF"/>
                </a:solidFill>
                <a:latin typeface="Calibri"/>
              </a:rPr>
              <a:t>Rising Market Power and Regulations</a:t>
            </a:r>
          </a:p>
        </p:txBody>
      </p:sp>
      <p:sp>
        <p:nvSpPr>
          <p:cNvPr id="20" name="Oval 19"/>
          <p:cNvSpPr/>
          <p:nvPr/>
        </p:nvSpPr>
        <p:spPr>
          <a:xfrm>
            <a:off x="1051560" y="525780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4</a:t>
            </a:r>
          </a:p>
        </p:txBody>
      </p:sp>
      <p:sp>
        <p:nvSpPr>
          <p:cNvPr id="21" name="Rounded Rectangle 20"/>
          <p:cNvSpPr/>
          <p:nvPr/>
        </p:nvSpPr>
        <p:spPr>
          <a:xfrm>
            <a:off x="10332720" y="5385816"/>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In class</a:t>
            </a:r>
          </a:p>
        </p:txBody>
      </p:sp>
      <p:sp>
        <p:nvSpPr>
          <p:cNvPr id="22" name="TextBox 21"/>
          <p:cNvSpPr txBox="1"/>
          <p:nvPr/>
        </p:nvSpPr>
        <p:spPr>
          <a:xfrm>
            <a:off x="1874519" y="5413248"/>
            <a:ext cx="8293609" cy="731520"/>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0B2B4E"/>
              </a:buClr>
              <a:buFont typeface="Calibri"/>
              <a:buChar char="–"/>
              <a:defRPr sz="2100" b="0">
                <a:solidFill>
                  <a:srgbClr val="0B2B4E"/>
                </a:solidFill>
                <a:latin typeface="Calibri"/>
              </a:defRPr>
            </a:lvl2pPr>
          </a:lstStyle>
          <a:p>
            <a:pPr algn="l">
              <a:buNone/>
            </a:pPr>
            <a:r>
              <a:rPr sz="2500" b="1">
                <a:solidFill>
                  <a:srgbClr val="BFBFBF"/>
                </a:solidFill>
                <a:latin typeface="Calibri"/>
              </a:rPr>
              <a:t>Monopolistic Competition</a:t>
            </a:r>
          </a:p>
        </p:txBody>
      </p:sp>
      <p:sp>
        <p:nvSpPr>
          <p:cNvPr id="23" name="Rectangle 2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5  ·  Monopoly and Monopolistic Competition</a:t>
            </a:r>
          </a:p>
        </p:txBody>
      </p:sp>
      <p:sp>
        <p:nvSpPr>
          <p:cNvPr id="26" name="TextBox 25"/>
          <p:cNvSpPr txBox="1"/>
          <p:nvPr/>
        </p:nvSpPr>
        <p:spPr>
          <a:xfrm>
            <a:off x="11475720" y="6583680"/>
            <a:ext cx="502920" cy="292608"/>
          </a:xfrm>
          <a:prstGeom prst="rect">
            <a:avLst/>
          </a:prstGeom>
          <a:noFill/>
        </p:spPr>
        <p:txBody>
          <a:bodyPr wrap="none" lIns="0" tIns="0" rIns="0" bIns="0">
            <a:spAutoFit/>
          </a:bodyPr>
          <a:lstStyle/>
          <a:p>
            <a:pPr algn="r"/>
            <a:fld id="{30D31416-194B-5A00-B3A6-15F79A5666DC}" type="slidenum">
              <a:rPr lang="en-US" sz="1200" dirty="0">
                <a:solidFill>
                  <a:srgbClr val="555B66"/>
                </a:solidFill>
                <a:latin typeface="Calibri"/>
              </a:rPr>
              <a:t>32</a:t>
            </a:fld>
            <a:endParaRPr lang="en-US" sz="1200" dirty="0">
              <a:solidFill>
                <a:srgbClr val="555B66"/>
              </a:solidFill>
              <a:latin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5 · Monopoly and Welfare Impact</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Where We Are and Where We Are Going</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261872"/>
            <a:ext cx="3657600" cy="457200"/>
          </a:xfrm>
          <a:prstGeom prst="rect">
            <a:avLst/>
          </a:prstGeom>
          <a:noFill/>
        </p:spPr>
        <p:txBody>
          <a:bodyPr wrap="square" lIns="0" tIns="0" rIns="0" bIns="0">
            <a:spAutoFit/>
          </a:bodyPr>
          <a:lstStyle/>
          <a:p>
            <a:pPr algn="l"/>
            <a:r>
              <a:rPr sz="2800" b="1" i="0" u="none">
                <a:solidFill>
                  <a:srgbClr val="0B2B4E"/>
                </a:solidFill>
                <a:latin typeface="Calibri"/>
              </a:rPr>
              <a:t>Least Market Power</a:t>
            </a:r>
          </a:p>
        </p:txBody>
      </p:sp>
      <p:sp>
        <p:nvSpPr>
          <p:cNvPr id="8" name="TextBox 7"/>
          <p:cNvSpPr txBox="1"/>
          <p:nvPr/>
        </p:nvSpPr>
        <p:spPr>
          <a:xfrm>
            <a:off x="8028431" y="1261872"/>
            <a:ext cx="3657600" cy="457200"/>
          </a:xfrm>
          <a:prstGeom prst="rect">
            <a:avLst/>
          </a:prstGeom>
          <a:noFill/>
        </p:spPr>
        <p:txBody>
          <a:bodyPr wrap="square" lIns="0" tIns="0" rIns="0" bIns="0">
            <a:spAutoFit/>
          </a:bodyPr>
          <a:lstStyle/>
          <a:p>
            <a:pPr algn="r"/>
            <a:r>
              <a:rPr sz="2800" b="1" i="0" u="none">
                <a:solidFill>
                  <a:srgbClr val="0B2B4E"/>
                </a:solidFill>
                <a:latin typeface="Calibri"/>
              </a:rPr>
              <a:t>Most Market Power</a:t>
            </a:r>
          </a:p>
        </p:txBody>
      </p:sp>
      <p:cxnSp>
        <p:nvCxnSpPr>
          <p:cNvPr id="9" name="Connector 8"/>
          <p:cNvCxnSpPr/>
          <p:nvPr/>
        </p:nvCxnSpPr>
        <p:spPr>
          <a:xfrm>
            <a:off x="457200" y="1847088"/>
            <a:ext cx="11274552" cy="0"/>
          </a:xfrm>
          <a:prstGeom prst="line">
            <a:avLst/>
          </a:prstGeom>
          <a:ln w="44450">
            <a:solidFill>
              <a:srgbClr val="0B2B4E"/>
            </a:solidFill>
            <a:headEnd type="triangle" w="lg"/>
            <a:tailEnd type="triangle" w="lg"/>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2029968"/>
            <a:ext cx="2697480" cy="731520"/>
          </a:xfrm>
          <a:prstGeom prst="rect">
            <a:avLst/>
          </a:prstGeom>
          <a:noFill/>
        </p:spPr>
        <p:txBody>
          <a:bodyPr wrap="square" lIns="0" tIns="0" rIns="0" bIns="0">
            <a:spAutoFit/>
          </a:bodyPr>
          <a:lstStyle/>
          <a:p>
            <a:pPr algn="ctr"/>
            <a:r>
              <a:rPr sz="2200" b="1" i="0" u="none">
                <a:solidFill>
                  <a:srgbClr val="0B2B4E"/>
                </a:solidFill>
                <a:latin typeface="Calibri"/>
              </a:rPr>
              <a:t>Perfect
Competition</a:t>
            </a:r>
          </a:p>
        </p:txBody>
      </p:sp>
      <p:sp>
        <p:nvSpPr>
          <p:cNvPr id="11" name="TextBox 10"/>
          <p:cNvSpPr txBox="1"/>
          <p:nvPr/>
        </p:nvSpPr>
        <p:spPr>
          <a:xfrm>
            <a:off x="3291840" y="2029968"/>
            <a:ext cx="2697480" cy="731520"/>
          </a:xfrm>
          <a:prstGeom prst="rect">
            <a:avLst/>
          </a:prstGeom>
          <a:noFill/>
        </p:spPr>
        <p:txBody>
          <a:bodyPr wrap="square" lIns="0" tIns="0" rIns="0" bIns="0">
            <a:spAutoFit/>
          </a:bodyPr>
          <a:lstStyle/>
          <a:p>
            <a:pPr algn="ctr"/>
            <a:r>
              <a:rPr sz="2200" b="1" i="0" u="none">
                <a:solidFill>
                  <a:srgbClr val="0B2B4E"/>
                </a:solidFill>
                <a:latin typeface="Calibri"/>
              </a:rPr>
              <a:t>Monopolistic
Competition</a:t>
            </a:r>
          </a:p>
        </p:txBody>
      </p:sp>
      <p:sp>
        <p:nvSpPr>
          <p:cNvPr id="12" name="TextBox 11"/>
          <p:cNvSpPr txBox="1"/>
          <p:nvPr/>
        </p:nvSpPr>
        <p:spPr>
          <a:xfrm>
            <a:off x="6126480" y="2029968"/>
            <a:ext cx="2697480" cy="731520"/>
          </a:xfrm>
          <a:prstGeom prst="rect">
            <a:avLst/>
          </a:prstGeom>
          <a:noFill/>
        </p:spPr>
        <p:txBody>
          <a:bodyPr wrap="square" lIns="0" tIns="0" rIns="0" bIns="0">
            <a:spAutoFit/>
          </a:bodyPr>
          <a:lstStyle/>
          <a:p>
            <a:pPr algn="ctr"/>
            <a:r>
              <a:rPr sz="2200" b="1" i="0" u="none">
                <a:solidFill>
                  <a:srgbClr val="0B2B4E"/>
                </a:solidFill>
                <a:latin typeface="Calibri"/>
              </a:rPr>
              <a:t>Oligopoly</a:t>
            </a:r>
          </a:p>
        </p:txBody>
      </p:sp>
      <p:sp>
        <p:nvSpPr>
          <p:cNvPr id="13" name="TextBox 12"/>
          <p:cNvSpPr txBox="1"/>
          <p:nvPr/>
        </p:nvSpPr>
        <p:spPr>
          <a:xfrm>
            <a:off x="8915400" y="2029968"/>
            <a:ext cx="2697480" cy="731520"/>
          </a:xfrm>
          <a:prstGeom prst="rect">
            <a:avLst/>
          </a:prstGeom>
          <a:noFill/>
        </p:spPr>
        <p:txBody>
          <a:bodyPr wrap="square" lIns="0" tIns="0" rIns="0" bIns="0">
            <a:spAutoFit/>
          </a:bodyPr>
          <a:lstStyle/>
          <a:p>
            <a:pPr algn="ctr"/>
            <a:r>
              <a:rPr sz="2200" b="1" i="0" u="none">
                <a:solidFill>
                  <a:srgbClr val="0B2B4E"/>
                </a:solidFill>
                <a:latin typeface="Calibri"/>
              </a:rPr>
              <a:t>Monopoly</a:t>
            </a:r>
          </a:p>
        </p:txBody>
      </p:sp>
      <p:sp>
        <p:nvSpPr>
          <p:cNvPr id="14" name="Rectangle 13"/>
          <p:cNvSpPr/>
          <p:nvPr/>
        </p:nvSpPr>
        <p:spPr>
          <a:xfrm>
            <a:off x="3154680" y="2011680"/>
            <a:ext cx="36576" cy="7772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989320" y="2011680"/>
            <a:ext cx="36576" cy="7772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778240" y="2011680"/>
            <a:ext cx="36576" cy="7772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22960" y="2852928"/>
            <a:ext cx="2057400" cy="402336"/>
          </a:xfrm>
          <a:prstGeom prst="roundRect">
            <a:avLst>
              <a:gd name="adj" fmla="val 35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0B2B4E"/>
                </a:solidFill>
                <a:latin typeface="Calibri"/>
              </a:rPr>
              <a:t>(Price Takers)</a:t>
            </a:r>
          </a:p>
        </p:txBody>
      </p:sp>
      <p:sp>
        <p:nvSpPr>
          <p:cNvPr id="18" name="Rounded Rectangle 17"/>
          <p:cNvSpPr/>
          <p:nvPr/>
        </p:nvSpPr>
        <p:spPr>
          <a:xfrm>
            <a:off x="3566160" y="2852928"/>
            <a:ext cx="7909560" cy="402336"/>
          </a:xfrm>
          <a:prstGeom prst="roundRect">
            <a:avLst>
              <a:gd name="adj" fmla="val 35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0B2B4E"/>
                </a:solidFill>
                <a:latin typeface="Calibri"/>
              </a:rPr>
              <a:t>(Price Searchers)</a:t>
            </a:r>
          </a:p>
        </p:txBody>
      </p:sp>
      <p:grpSp>
        <p:nvGrpSpPr>
          <p:cNvPr id="135" name="Group pair 135"/>
          <p:cNvGrpSpPr/>
          <p:nvPr/>
        </p:nvGrpSpPr>
        <p:grpSpPr>
          <a:xfrm>
            <a:off x="502920" y="3401568"/>
            <a:ext cx="2697480" cy="2560320"/>
            <a:chOff x="502920" y="3401568"/>
            <a:chExt cx="2697480" cy="2560320"/>
          </a:xfrm>
        </p:grpSpPr>
        <p:pic>
          <p:nvPicPr>
            <p:cNvPr id="19" name="Picture 18" descr="M7_NV_s07_10_f9f010a8.jpg"/>
            <p:cNvPicPr>
              <a:picLocks noChangeAspect="1"/>
            </p:cNvPicPr>
            <p:nvPr/>
          </p:nvPicPr>
          <p:blipFill>
            <a:blip r:embed="rId3"/>
            <a:stretch>
              <a:fillRect/>
            </a:stretch>
          </p:blipFill>
          <p:spPr>
            <a:xfrm>
              <a:off x="713232" y="3401568"/>
              <a:ext cx="2273881" cy="2194560"/>
            </a:xfrm>
            <a:prstGeom prst="roundRect">
              <a:avLst>
                <a:gd name="adj" fmla="val 8000"/>
              </a:avLst>
            </a:prstGeom>
            <a:effectLst>
              <a:outerShdw blurRad="50800" dist="38100" dir="2700000" algn="tl" rotWithShape="0">
                <a:srgbClr val="000000">
                  <a:alpha val="50000"/>
                </a:srgbClr>
              </a:outerShdw>
            </a:effectLst>
          </p:spPr>
        </p:pic>
        <p:sp>
          <p:nvSpPr>
            <p:cNvPr id="24" name="TextBox 23"/>
            <p:cNvSpPr txBox="1"/>
            <p:nvPr/>
          </p:nvSpPr>
          <p:spPr>
            <a:xfrm>
              <a:off x="502920" y="5669280"/>
              <a:ext cx="2697480" cy="292608"/>
            </a:xfrm>
            <a:prstGeom prst="rect">
              <a:avLst/>
            </a:prstGeom>
            <a:noFill/>
          </p:spPr>
          <p:txBody>
            <a:bodyPr wrap="square" lIns="0" tIns="0" rIns="0" bIns="0">
              <a:spAutoFit/>
            </a:bodyPr>
            <a:lstStyle/>
            <a:p>
              <a:pPr algn="ctr"/>
              <a:r>
                <a:rPr sz="1300" b="0" i="1" u="none">
                  <a:solidFill>
                    <a:srgbClr val="555B66"/>
                  </a:solidFill>
                  <a:latin typeface="Calibri"/>
                </a:rPr>
                <a:t>Commodity markets</a:t>
              </a:r>
            </a:p>
          </p:txBody>
        </p:sp>
      </p:grpSp>
      <p:grpSp>
        <p:nvGrpSpPr>
          <p:cNvPr id="136" name="Group pair 136"/>
          <p:cNvGrpSpPr/>
          <p:nvPr/>
        </p:nvGrpSpPr>
        <p:grpSpPr>
          <a:xfrm>
            <a:off x="3291840" y="3401568"/>
            <a:ext cx="2697480" cy="2560320"/>
            <a:chOff x="3291840" y="3401568"/>
            <a:chExt cx="2697480" cy="2560320"/>
          </a:xfrm>
        </p:grpSpPr>
        <p:pic>
          <p:nvPicPr>
            <p:cNvPr id="20" name="Picture 19" descr="M7_NV_s07_g1.1_1f7061fb.png"/>
            <p:cNvPicPr>
              <a:picLocks noChangeAspect="1"/>
            </p:cNvPicPr>
            <p:nvPr/>
          </p:nvPicPr>
          <p:blipFill>
            <a:blip r:embed="rId4"/>
            <a:stretch>
              <a:fillRect/>
            </a:stretch>
          </p:blipFill>
          <p:spPr>
            <a:xfrm>
              <a:off x="3465576" y="3401568"/>
              <a:ext cx="2348495" cy="2194560"/>
            </a:xfrm>
            <a:prstGeom prst="roundRect">
              <a:avLst>
                <a:gd name="adj" fmla="val 8000"/>
              </a:avLst>
            </a:prstGeom>
            <a:effectLst>
              <a:outerShdw blurRad="50800" dist="38100" dir="2700000" algn="tl" rotWithShape="0">
                <a:srgbClr val="000000">
                  <a:alpha val="50000"/>
                </a:srgbClr>
              </a:outerShdw>
            </a:effectLst>
          </p:spPr>
        </p:pic>
        <p:sp>
          <p:nvSpPr>
            <p:cNvPr id="25" name="TextBox 24"/>
            <p:cNvSpPr txBox="1"/>
            <p:nvPr/>
          </p:nvSpPr>
          <p:spPr>
            <a:xfrm>
              <a:off x="3291840" y="5669280"/>
              <a:ext cx="2697480" cy="292608"/>
            </a:xfrm>
            <a:prstGeom prst="rect">
              <a:avLst/>
            </a:prstGeom>
            <a:noFill/>
          </p:spPr>
          <p:txBody>
            <a:bodyPr wrap="square" lIns="0" tIns="0" rIns="0" bIns="0">
              <a:spAutoFit/>
            </a:bodyPr>
            <a:lstStyle/>
            <a:p>
              <a:pPr algn="ctr"/>
              <a:r>
                <a:rPr sz="1300" b="0" i="1" u="none">
                  <a:solidFill>
                    <a:srgbClr val="555B66"/>
                  </a:solidFill>
                  <a:latin typeface="Calibri"/>
                </a:rPr>
                <a:t>Restaurants in WeHo</a:t>
              </a:r>
            </a:p>
          </p:txBody>
        </p:sp>
      </p:grpSp>
      <p:pic>
        <p:nvPicPr>
          <p:cNvPr id="21" name="Picture 20" descr="M7_NV_s07_g12.1_a0b89503.jpg"/>
          <p:cNvPicPr>
            <a:picLocks noChangeAspect="1"/>
          </p:cNvPicPr>
          <p:nvPr/>
        </p:nvPicPr>
        <p:blipFill>
          <a:blip r:embed="rId5"/>
          <a:stretch>
            <a:fillRect/>
          </a:stretch>
        </p:blipFill>
        <p:spPr>
          <a:xfrm>
            <a:off x="6746443" y="3401568"/>
            <a:ext cx="1457553" cy="969326"/>
          </a:xfrm>
          <a:prstGeom prst="rect">
            <a:avLst/>
          </a:prstGeom>
        </p:spPr>
      </p:pic>
      <p:grpSp>
        <p:nvGrpSpPr>
          <p:cNvPr id="137" name="Group pair 137"/>
          <p:cNvGrpSpPr/>
          <p:nvPr/>
        </p:nvGrpSpPr>
        <p:grpSpPr>
          <a:xfrm>
            <a:off x="6126480" y="4443984"/>
            <a:ext cx="2697480" cy="1517904"/>
            <a:chOff x="6126480" y="4443984"/>
            <a:chExt cx="2697480" cy="1517904"/>
          </a:xfrm>
        </p:grpSpPr>
        <p:pic>
          <p:nvPicPr>
            <p:cNvPr id="22" name="Picture 21" descr="M7_NV_s07_g12.2_3444df7e.png"/>
            <p:cNvPicPr>
              <a:picLocks noChangeAspect="1"/>
            </p:cNvPicPr>
            <p:nvPr/>
          </p:nvPicPr>
          <p:blipFill>
            <a:blip r:embed="rId6"/>
            <a:stretch>
              <a:fillRect/>
            </a:stretch>
          </p:blipFill>
          <p:spPr>
            <a:xfrm>
              <a:off x="6746443" y="4443984"/>
              <a:ext cx="1457553" cy="1151467"/>
            </a:xfrm>
            <a:prstGeom prst="rect">
              <a:avLst/>
            </a:prstGeom>
          </p:spPr>
        </p:pic>
        <p:sp>
          <p:nvSpPr>
            <p:cNvPr id="26" name="TextBox 25"/>
            <p:cNvSpPr txBox="1"/>
            <p:nvPr/>
          </p:nvSpPr>
          <p:spPr>
            <a:xfrm>
              <a:off x="6126480" y="5669280"/>
              <a:ext cx="2697480" cy="292608"/>
            </a:xfrm>
            <a:prstGeom prst="rect">
              <a:avLst/>
            </a:prstGeom>
            <a:noFill/>
          </p:spPr>
          <p:txBody>
            <a:bodyPr wrap="square" lIns="0" tIns="0" rIns="0" bIns="0">
              <a:spAutoFit/>
            </a:bodyPr>
            <a:lstStyle/>
            <a:p>
              <a:pPr algn="ctr"/>
              <a:r>
                <a:rPr sz="1300" b="0" i="1" u="none">
                  <a:solidFill>
                    <a:srgbClr val="555B66"/>
                  </a:solidFill>
                  <a:latin typeface="Calibri"/>
                </a:rPr>
                <a:t>Wide-body aircraft</a:t>
              </a:r>
            </a:p>
          </p:txBody>
        </p:sp>
      </p:grpSp>
      <p:grpSp>
        <p:nvGrpSpPr>
          <p:cNvPr id="138" name="Group pair 138"/>
          <p:cNvGrpSpPr/>
          <p:nvPr/>
        </p:nvGrpSpPr>
        <p:grpSpPr>
          <a:xfrm>
            <a:off x="8915400" y="3401568"/>
            <a:ext cx="2697480" cy="2560320"/>
            <a:chOff x="8915400" y="3401568"/>
            <a:chExt cx="2697480" cy="2560320"/>
          </a:xfrm>
        </p:grpSpPr>
        <p:pic>
          <p:nvPicPr>
            <p:cNvPr id="23" name="Picture 22" descr="M7_NV_s07_13_4dc4c7c4.jpg"/>
            <p:cNvPicPr>
              <a:picLocks noChangeAspect="1"/>
            </p:cNvPicPr>
            <p:nvPr/>
          </p:nvPicPr>
          <p:blipFill>
            <a:blip r:embed="rId7"/>
            <a:stretch>
              <a:fillRect/>
            </a:stretch>
          </p:blipFill>
          <p:spPr>
            <a:xfrm>
              <a:off x="9226296" y="3401568"/>
              <a:ext cx="2073700" cy="2194560"/>
            </a:xfrm>
            <a:prstGeom prst="rect">
              <a:avLst/>
            </a:prstGeom>
          </p:spPr>
        </p:pic>
        <p:sp>
          <p:nvSpPr>
            <p:cNvPr id="27" name="TextBox 26"/>
            <p:cNvSpPr txBox="1"/>
            <p:nvPr/>
          </p:nvSpPr>
          <p:spPr>
            <a:xfrm>
              <a:off x="8915400" y="5669280"/>
              <a:ext cx="2697480" cy="292608"/>
            </a:xfrm>
            <a:prstGeom prst="rect">
              <a:avLst/>
            </a:prstGeom>
            <a:noFill/>
          </p:spPr>
          <p:txBody>
            <a:bodyPr wrap="square" lIns="0" tIns="0" rIns="0" bIns="0">
              <a:spAutoFit/>
            </a:bodyPr>
            <a:lstStyle/>
            <a:p>
              <a:pPr algn="ctr"/>
              <a:r>
                <a:rPr sz="1300" b="0" i="1" u="none">
                  <a:solidFill>
                    <a:srgbClr val="555B66"/>
                  </a:solidFill>
                  <a:latin typeface="Calibri"/>
                </a:rPr>
                <a:t>Municipal utilities</a:t>
              </a:r>
            </a:p>
          </p:txBody>
        </p:sp>
      </p:grpSp>
      <p:grpSp>
        <p:nvGrpSpPr>
          <p:cNvPr id="31" name="TodayFrame"/>
          <p:cNvGrpSpPr/>
          <p:nvPr/>
        </p:nvGrpSpPr>
        <p:grpSpPr>
          <a:xfrm>
            <a:off x="8787384" y="1956816"/>
            <a:ext cx="2825496" cy="4462272"/>
            <a:chOff x="8759952" y="1956816"/>
            <a:chExt cx="2825496" cy="4462272"/>
          </a:xfrm>
        </p:grpSpPr>
        <p:sp>
          <p:nvSpPr>
            <p:cNvPr id="28" name="Rounded Rectangle 27"/>
            <p:cNvSpPr/>
            <p:nvPr/>
          </p:nvSpPr>
          <p:spPr>
            <a:xfrm>
              <a:off x="8759952" y="1956816"/>
              <a:ext cx="2825496" cy="4251960"/>
            </a:xfrm>
            <a:prstGeom prst="roundRect">
              <a:avLst>
                <a:gd name="adj" fmla="val 4000"/>
              </a:avLst>
            </a:prstGeom>
            <a:noFill/>
            <a:ln w="444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9395460" y="5998464"/>
              <a:ext cx="1554480" cy="420624"/>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Rounded Rectangle 29"/>
            <p:cNvSpPr/>
            <p:nvPr/>
          </p:nvSpPr>
          <p:spPr>
            <a:xfrm>
              <a:off x="9395460" y="5998464"/>
              <a:ext cx="1554480" cy="420624"/>
            </a:xfrm>
            <a:prstGeom prst="roundRect">
              <a:avLst>
                <a:gd name="adj" fmla="val 30000"/>
              </a:avLst>
            </a:prstGeom>
            <a:solidFill>
              <a:srgbClr val="C00000">
                <a:alpha val="30000"/>
              </a:srgbClr>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0B2B4E"/>
                  </a:solidFill>
                  <a:latin typeface="Calibri"/>
                </a:rPr>
                <a:t>TODAY</a:t>
              </a:r>
            </a:p>
          </p:txBody>
        </p:sp>
      </p:grpSp>
      <p:sp>
        <p:nvSpPr>
          <p:cNvPr id="32" name="Rectangle 3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5  ·  Monopoly and Monopolistic Competition</a:t>
            </a:r>
          </a:p>
        </p:txBody>
      </p:sp>
      <p:sp>
        <p:nvSpPr>
          <p:cNvPr id="35" name="TextBox 34"/>
          <p:cNvSpPr txBox="1"/>
          <p:nvPr/>
        </p:nvSpPr>
        <p:spPr>
          <a:xfrm>
            <a:off x="11475720" y="6583680"/>
            <a:ext cx="502920" cy="292608"/>
          </a:xfrm>
          <a:prstGeom prst="rect">
            <a:avLst/>
          </a:prstGeom>
          <a:noFill/>
        </p:spPr>
        <p:txBody>
          <a:bodyPr wrap="none" lIns="0" tIns="0" rIns="0" bIns="0">
            <a:spAutoFit/>
          </a:bodyPr>
          <a:lstStyle/>
          <a:p>
            <a:pPr algn="r"/>
            <a:fld id="{FA77B120-AE11-5A98-8297-21B9F13CAFCC}" type="slidenum">
              <a:rPr lang="en-US" sz="1200" dirty="0">
                <a:solidFill>
                  <a:srgbClr val="555B66"/>
                </a:solidFill>
                <a:latin typeface="Calibri"/>
              </a:rPr>
              <a:t>33</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5 · Monopoly and Welfare Impact</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Market Structure Characteristics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NV_s32_rId3.png"/>
          <p:cNvPicPr>
            <a:picLocks noChangeAspect="1"/>
          </p:cNvPicPr>
          <p:nvPr/>
        </p:nvPicPr>
        <p:blipFill>
          <a:blip r:embed="rId3"/>
          <a:stretch>
            <a:fillRect/>
          </a:stretch>
        </p:blipFill>
        <p:spPr>
          <a:xfrm>
            <a:off x="5010912" y="1298448"/>
            <a:ext cx="2174682" cy="457200"/>
          </a:xfrm>
          <a:prstGeom prst="rect">
            <a:avLst/>
          </a:prstGeom>
        </p:spPr>
      </p:pic>
      <p:grpSp>
        <p:nvGrpSpPr>
          <p:cNvPr id="113" name="Group pair 113"/>
          <p:cNvGrpSpPr/>
          <p:nvPr/>
        </p:nvGrpSpPr>
        <p:grpSpPr>
          <a:xfrm>
            <a:off x="563727" y="1828800"/>
            <a:ext cx="11064240" cy="4434840"/>
            <a:chOff x="563727" y="1828800"/>
            <a:chExt cx="11064240" cy="4434840"/>
          </a:xfrm>
        </p:grpSpPr>
        <p:sp>
          <p:nvSpPr>
            <p:cNvPr id="8" name="Rectangle 7"/>
            <p:cNvSpPr/>
            <p:nvPr/>
          </p:nvSpPr>
          <p:spPr>
            <a:xfrm>
              <a:off x="563727" y="1828800"/>
              <a:ext cx="11064240" cy="4434840"/>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9" name="Table 8"/>
            <p:cNvGraphicFramePr>
              <a:graphicFrameLocks noGrp="1"/>
            </p:cNvGraphicFramePr>
            <p:nvPr/>
          </p:nvGraphicFramePr>
          <p:xfrm>
            <a:off x="700887" y="1965960"/>
            <a:ext cx="10789919" cy="4160520"/>
          </p:xfrm>
          <a:graphic>
            <a:graphicData uri="http://schemas.openxmlformats.org/drawingml/2006/table">
              <a:tbl>
                <a:tblPr/>
                <a:tblGrid>
                  <a:gridCol w="3749039">
                    <a:extLst>
                      <a:ext uri="{9D8B030D-6E8A-4147-A177-3AD203B41FA5}">
                        <a16:colId xmlns:a16="http://schemas.microsoft.com/office/drawing/2014/main" val="20000"/>
                      </a:ext>
                    </a:extLst>
                  </a:gridCol>
                  <a:gridCol w="7040880">
                    <a:extLst>
                      <a:ext uri="{9D8B030D-6E8A-4147-A177-3AD203B41FA5}">
                        <a16:colId xmlns:a16="http://schemas.microsoft.com/office/drawing/2014/main" val="20001"/>
                      </a:ext>
                    </a:extLst>
                  </a:gridCol>
                </a:tblGrid>
                <a:tr h="502920">
                  <a:tc>
                    <a:txBody>
                      <a:bodyPr/>
                      <a:lstStyle/>
                      <a:p>
                        <a:pPr algn="ctr"/>
                        <a:endParaRP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a:lstStyle/>
                      <a:p>
                        <a:pPr algn="ctr"/>
                        <a:r>
                          <a:rPr sz="2200" b="1">
                            <a:solidFill>
                              <a:srgbClr val="FFFFFF"/>
                            </a:solidFill>
                            <a:latin typeface="Calibri"/>
                          </a:rPr>
                          <a:t>Monopoly</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extLst>
                    <a:ext uri="{0D108BD9-81ED-4DB2-BD59-A6C34878D82A}">
                      <a16:rowId xmlns:a16="http://schemas.microsoft.com/office/drawing/2014/main" val="10000"/>
                    </a:ext>
                  </a:extLst>
                </a:tr>
                <a:tr h="731520">
                  <a:tc>
                    <a:txBody>
                      <a:bodyPr/>
                      <a:lstStyle/>
                      <a:p>
                        <a:pPr algn="l"/>
                        <a:r>
                          <a:rPr sz="2000" b="1">
                            <a:solidFill>
                              <a:srgbClr val="0B2B4E"/>
                            </a:solidFill>
                            <a:latin typeface="Calibri"/>
                          </a:rPr>
                          <a:t>Number of actual or potential competitors</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2000" b="0">
                            <a:solidFill>
                              <a:srgbClr val="0B2B4E"/>
                            </a:solidFill>
                            <a:latin typeface="Calibri"/>
                          </a:rPr>
                          <a:t>Single seller</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1"/>
                    </a:ext>
                  </a:extLst>
                </a:tr>
                <a:tr h="731520">
                  <a:tc>
                    <a:txBody>
                      <a:bodyPr/>
                      <a:lstStyle/>
                      <a:p>
                        <a:pPr algn="l"/>
                        <a:r>
                          <a:rPr sz="2000" b="1">
                            <a:solidFill>
                              <a:srgbClr val="0B2B4E"/>
                            </a:solidFill>
                            <a:latin typeface="Calibri"/>
                          </a:rPr>
                          <a:t>Product differentiation</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2000" b="0">
                            <a:solidFill>
                              <a:srgbClr val="0B2B4E"/>
                            </a:solidFill>
                            <a:latin typeface="Calibri"/>
                          </a:rPr>
                          <a:t>Very high – no close substitutes</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extLst>
                    <a:ext uri="{0D108BD9-81ED-4DB2-BD59-A6C34878D82A}">
                      <a16:rowId xmlns:a16="http://schemas.microsoft.com/office/drawing/2014/main" val="10002"/>
                    </a:ext>
                  </a:extLst>
                </a:tr>
                <a:tr h="731520">
                  <a:tc>
                    <a:txBody>
                      <a:bodyPr/>
                      <a:lstStyle/>
                      <a:p>
                        <a:pPr algn="l"/>
                        <a:r>
                          <a:rPr sz="2000" b="1">
                            <a:solidFill>
                              <a:srgbClr val="0B2B4E"/>
                            </a:solidFill>
                            <a:latin typeface="Calibri"/>
                          </a:rPr>
                          <a:t>Entry conditions</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2000" b="0">
                            <a:solidFill>
                              <a:srgbClr val="0B2B4E"/>
                            </a:solidFill>
                            <a:latin typeface="Calibri"/>
                          </a:rPr>
                          <a:t>Restricted access (barriers)</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3"/>
                    </a:ext>
                  </a:extLst>
                </a:tr>
                <a:tr h="731520">
                  <a:tc>
                    <a:txBody>
                      <a:bodyPr/>
                      <a:lstStyle/>
                      <a:p>
                        <a:pPr algn="l"/>
                        <a:r>
                          <a:rPr sz="2000" b="1">
                            <a:solidFill>
                              <a:srgbClr val="0B2B4E"/>
                            </a:solidFill>
                            <a:latin typeface="Calibri"/>
                          </a:rPr>
                          <a:t>Profit potential</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2000" b="0">
                            <a:solidFill>
                              <a:srgbClr val="0B2B4E"/>
                            </a:solidFill>
                            <a:latin typeface="Calibri"/>
                          </a:rPr>
                          <a:t>Profit potential in short </a:t>
                        </a:r>
                        <a:r>
                          <a:rPr sz="2000" u="sng">
                            <a:solidFill>
                              <a:srgbClr val="0B2B4E"/>
                            </a:solidFill>
                            <a:latin typeface="Calibri"/>
                          </a:rPr>
                          <a:t>and</a:t>
                        </a:r>
                        <a:r>
                          <a:rPr sz="2000" u="none">
                            <a:solidFill>
                              <a:srgbClr val="0B2B4E"/>
                            </a:solidFill>
                            <a:latin typeface="Calibri"/>
                          </a:rPr>
                          <a:t> long run</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extLst>
                    <a:ext uri="{0D108BD9-81ED-4DB2-BD59-A6C34878D82A}">
                      <a16:rowId xmlns:a16="http://schemas.microsoft.com/office/drawing/2014/main" val="10004"/>
                    </a:ext>
                  </a:extLst>
                </a:tr>
                <a:tr h="731520">
                  <a:tc>
                    <a:txBody>
                      <a:bodyPr/>
                      <a:lstStyle/>
                      <a:p>
                        <a:pPr algn="l"/>
                        <a:r>
                          <a:rPr sz="2000" b="1">
                            <a:solidFill>
                              <a:srgbClr val="0B2B4E"/>
                            </a:solidFill>
                            <a:latin typeface="Calibri"/>
                          </a:rPr>
                          <a:t>Examples</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2000" b="0">
                            <a:solidFill>
                              <a:srgbClr val="0B2B4E"/>
                            </a:solidFill>
                            <a:latin typeface="Calibri"/>
                          </a:rPr>
                          <a:t>Microsoft (before the rise of Apple); gas, water and electric utilities</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5"/>
                    </a:ext>
                  </a:extLst>
                </a:tr>
              </a:tbl>
            </a:graphicData>
          </a:graphic>
        </p:graphicFrame>
      </p:grpSp>
      <p:sp>
        <p:nvSpPr>
          <p:cNvPr id="10" name="Rectangle 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5  ·  Monopoly and Monopolistic Competition</a:t>
            </a:r>
          </a:p>
        </p:txBody>
      </p:sp>
      <p:sp>
        <p:nvSpPr>
          <p:cNvPr id="13" name="TextBox 12"/>
          <p:cNvSpPr txBox="1"/>
          <p:nvPr/>
        </p:nvSpPr>
        <p:spPr>
          <a:xfrm>
            <a:off x="11475720" y="6583680"/>
            <a:ext cx="502920" cy="292608"/>
          </a:xfrm>
          <a:prstGeom prst="rect">
            <a:avLst/>
          </a:prstGeom>
          <a:noFill/>
        </p:spPr>
        <p:txBody>
          <a:bodyPr wrap="none" lIns="0" tIns="0" rIns="0" bIns="0">
            <a:spAutoFit/>
          </a:bodyPr>
          <a:lstStyle/>
          <a:p>
            <a:pPr algn="r"/>
            <a:fld id="{EEE26DBA-C36C-5B3F-8E1B-6361AB288404}" type="slidenum">
              <a:rPr lang="en-US" sz="1200" dirty="0">
                <a:solidFill>
                  <a:srgbClr val="555B66"/>
                </a:solidFill>
                <a:latin typeface="Calibri"/>
              </a:rPr>
              <a:t>34</a:t>
            </a:fld>
            <a:endParaRPr lang="en-US" sz="1200" dirty="0">
              <a:solidFill>
                <a:srgbClr val="555B66"/>
              </a:solidFill>
              <a:latin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5 · Monopoly and Welfare Impact</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dirty="0">
                <a:solidFill>
                  <a:srgbClr val="0B2B4E"/>
                </a:solidFill>
                <a:latin typeface="Calibri"/>
              </a:rPr>
              <a:t>Poll: Was the Amazon–MGM Merger Bad for Consumers?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80599" y="1417320"/>
            <a:ext cx="6858000" cy="4937760"/>
          </a:xfrm>
          <a:prstGeom prst="rect">
            <a:avLst/>
          </a:prstGeom>
          <a:noFill/>
        </p:spPr>
        <p:txBody>
          <a:bodyPr wrap="square" lIns="0" tIns="0" rIns="0" bIns="0" anchor="ctr">
            <a:noAutofit/>
          </a:bodyPr>
          <a:lstStyle>
            <a:lvl1pPr marL="342900" indent="-342900">
              <a:spcBef>
                <a:spcPts val="1800"/>
              </a:spcBef>
              <a:buClr>
                <a:srgbClr val="0B2B4E"/>
              </a:buClr>
              <a:buFont typeface="Calibri"/>
              <a:buChar char="▪"/>
              <a:defRPr sz="2800" b="0">
                <a:solidFill>
                  <a:srgbClr val="0B2B4E"/>
                </a:solidFill>
                <a:latin typeface="Calibri"/>
              </a:defRPr>
            </a:lvl1pPr>
            <a:lvl2pPr marL="685800" indent="-228600">
              <a:spcBef>
                <a:spcPts val="300"/>
              </a:spcBef>
              <a:buClr>
                <a:srgbClr val="0B2B4E"/>
              </a:buClr>
              <a:buFont typeface="Calibri"/>
              <a:buChar char="–"/>
              <a:defRPr sz="2600" b="0">
                <a:solidFill>
                  <a:srgbClr val="0B2B4E"/>
                </a:solidFill>
                <a:latin typeface="Calibri"/>
              </a:defRPr>
            </a:lvl2pPr>
          </a:lstStyle>
          <a:p>
            <a:pPr algn="l"/>
            <a:r>
              <a:rPr>
                <a:latin typeface="Calibri"/>
              </a:rPr>
              <a:t>In March 2022, Amazon completed its acquisition of MGM Studios for $8.45 billion</a:t>
            </a:r>
          </a:p>
          <a:p>
            <a:pPr algn="l">
              <a:spcBef>
                <a:spcPts val="2000"/>
              </a:spcBef>
            </a:pPr>
            <a:r>
              <a:rPr>
                <a:latin typeface="Calibri"/>
              </a:rPr>
              <a:t>Was this merger bad for consumers, or did it not harm them?</a:t>
            </a:r>
          </a:p>
        </p:txBody>
      </p:sp>
      <p:pic>
        <p:nvPicPr>
          <p:cNvPr id="8" name="Picture 7" descr="CT2_amazon_mgm.png"/>
          <p:cNvPicPr>
            <a:picLocks noChangeAspect="1"/>
          </p:cNvPicPr>
          <p:nvPr/>
        </p:nvPicPr>
        <p:blipFill>
          <a:blip r:embed="rId3"/>
          <a:stretch>
            <a:fillRect/>
          </a:stretch>
        </p:blipFill>
        <p:spPr>
          <a:xfrm>
            <a:off x="7726679" y="2240280"/>
            <a:ext cx="3931920" cy="2207924"/>
          </a:xfrm>
          <a:prstGeom prst="roundRect">
            <a:avLst>
              <a:gd name="adj" fmla="val 8000"/>
            </a:avLst>
          </a:prstGeom>
          <a:effectLst>
            <a:outerShdw blurRad="50800" dist="38100" dir="2700000" algn="tl" rotWithShape="0">
              <a:srgbClr val="000000">
                <a:alpha val="50000"/>
              </a:srgbClr>
            </a:outerShdw>
          </a:effectLst>
        </p:spPr>
      </p:pic>
      <p:sp>
        <p:nvSpPr>
          <p:cNvPr id="9623" name="Rectangle 962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24" name="Rectangle 962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25" name="TextBox 9624"/>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5  ·  Monopoly and Monopolistic Competition</a:t>
            </a:r>
          </a:p>
        </p:txBody>
      </p:sp>
      <p:sp>
        <p:nvSpPr>
          <p:cNvPr id="9626" name="TextBox 9625"/>
          <p:cNvSpPr txBox="1"/>
          <p:nvPr/>
        </p:nvSpPr>
        <p:spPr>
          <a:xfrm>
            <a:off x="11475720" y="6583680"/>
            <a:ext cx="502920" cy="292608"/>
          </a:xfrm>
          <a:prstGeom prst="rect">
            <a:avLst/>
          </a:prstGeom>
          <a:noFill/>
        </p:spPr>
        <p:txBody>
          <a:bodyPr wrap="none" lIns="0" tIns="0" rIns="0" bIns="0">
            <a:spAutoFit/>
          </a:bodyPr>
          <a:lstStyle/>
          <a:p>
            <a:pPr algn="r"/>
            <a:fld id="{8D8E8DC1-E83C-550A-90CE-5A4FE1AC3CB9}" type="slidenum">
              <a:rPr lang="en-US" sz="1200" dirty="0">
                <a:solidFill>
                  <a:srgbClr val="555B66"/>
                </a:solidFill>
                <a:latin typeface="Calibri"/>
              </a:rPr>
              <a:t>35</a:t>
            </a:fld>
            <a:endParaRPr lang="en-US" sz="1200" dirty="0">
              <a:solidFill>
                <a:srgbClr val="555B66"/>
              </a:solidFill>
              <a:latin typeface="Calibri"/>
            </a:endParaRPr>
          </a:p>
        </p:txBody>
      </p:sp>
      <p:grpSp>
        <p:nvGrpSpPr>
          <p:cNvPr id="9620" name="PollBreakBadge"/>
          <p:cNvGrpSpPr/>
          <p:nvPr/>
        </p:nvGrpSpPr>
        <p:grpSpPr>
          <a:xfrm>
            <a:off x="9361444" y="6190030"/>
            <a:ext cx="2697480" cy="487009"/>
            <a:chOff x="9361444" y="6190030"/>
            <a:chExt cx="2697480" cy="487009"/>
          </a:xfrm>
        </p:grpSpPr>
        <p:sp>
          <p:nvSpPr>
            <p:cNvPr id="9621" name="PollBreakShape"/>
            <p:cNvSpPr/>
            <p:nvPr/>
          </p:nvSpPr>
          <p:spPr>
            <a:xfrm>
              <a:off x="9361444" y="6190030"/>
              <a:ext cx="2697480" cy="487009"/>
            </a:xfrm>
            <a:custGeom>
              <a:avLst/>
              <a:gdLst/>
              <a:ahLst/>
              <a:cxnLst/>
              <a:rect l="24407" t="0" r="75593" b="100000"/>
              <a:pathLst>
                <a:path w="100000" h="100000">
                  <a:moveTo>
                    <a:pt x="29407" y="0"/>
                  </a:moveTo>
                  <a:lnTo>
                    <a:pt x="95000" y="0"/>
                  </a:lnTo>
                  <a:cubicBezTo>
                    <a:pt x="100000" y="0"/>
                    <a:pt x="100000" y="0"/>
                    <a:pt x="98780" y="5000"/>
                  </a:cubicBezTo>
                  <a:lnTo>
                    <a:pt x="76813" y="95000"/>
                  </a:lnTo>
                  <a:cubicBezTo>
                    <a:pt x="75593" y="100000"/>
                    <a:pt x="75593" y="100000"/>
                    <a:pt x="70593" y="100000"/>
                  </a:cubicBezTo>
                  <a:lnTo>
                    <a:pt x="5000" y="100000"/>
                  </a:lnTo>
                  <a:cubicBezTo>
                    <a:pt x="0" y="100000"/>
                    <a:pt x="0" y="100000"/>
                    <a:pt x="1220" y="95000"/>
                  </a:cubicBezTo>
                  <a:lnTo>
                    <a:pt x="23187" y="5000"/>
                  </a:lnTo>
                  <a:cubicBezTo>
                    <a:pt x="24407" y="0"/>
                    <a:pt x="24407" y="0"/>
                    <a:pt x="29407" y="0"/>
                  </a:cubicBezTo>
                  <a:close/>
                </a:path>
              </a:pathLst>
            </a:custGeom>
            <a:solidFill>
              <a:srgbClr val="E09F3E"/>
            </a:solidFill>
            <a:ln>
              <a:noFill/>
            </a:ln>
            <a:effectLst>
              <a:outerShdw blurRad="50800" dist="38100" dir="2700000" algn="tl" rotWithShape="0">
                <a:srgbClr val="000000">
                  <a:alpha val="50000"/>
                </a:srgbClr>
              </a:outerShdw>
            </a:effectLst>
          </p:spPr>
          <p:txBody>
            <a:bodyPr rtlCol="0" anchor="ctr"/>
            <a:lstStyle/>
            <a:p>
              <a:pPr algn="ctr"/>
              <a:endParaRPr/>
            </a:p>
          </p:txBody>
        </p:sp>
        <p:sp>
          <p:nvSpPr>
            <p:cNvPr id="9622" name="PollBreakLabel"/>
            <p:cNvSpPr txBox="1"/>
            <p:nvPr/>
          </p:nvSpPr>
          <p:spPr>
            <a:xfrm>
              <a:off x="10019812" y="6190030"/>
              <a:ext cx="1380744" cy="487009"/>
            </a:xfrm>
            <a:prstGeom prst="rect">
              <a:avLst/>
            </a:prstGeom>
            <a:noFill/>
          </p:spPr>
          <p:txBody>
            <a:bodyPr wrap="none" lIns="45720" tIns="18288" rIns="45720" bIns="18288" anchor="ctr">
              <a:spAutoFit/>
            </a:bodyPr>
            <a:lstStyle/>
            <a:p>
              <a:pPr algn="ctr"/>
              <a:r>
                <a:rPr sz="2800" b="1">
                  <a:solidFill>
                    <a:srgbClr val="0B2B4E"/>
                  </a:solidFill>
                  <a:latin typeface="Calibri"/>
                </a:rPr>
                <a:t>Poll Break</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7C4E4DB-655C-EC66-CA7C-A330123837E0}"/>
              </a:ext>
            </a:extLst>
          </p:cNvPr>
          <p:cNvPicPr>
            <a:picLocks/>
          </p:cNvPicPr>
          <p:nvPr>
            <p:custDataLst>
              <p:tags r:id="rId1"/>
            </p:custDataLst>
          </p:nvPr>
        </p:nvPicPr>
        <p:blipFill>
          <a:blip r:embed="rId4"/>
          <a:stretch>
            <a:fillRect/>
          </a:stretch>
        </p:blipFill>
        <p:spPr>
          <a:xfrm>
            <a:off x="190500" y="190500"/>
            <a:ext cx="11811000" cy="6477000"/>
          </a:xfrm>
          <a:prstGeom prst="rect">
            <a:avLst/>
          </a:prstGeom>
        </p:spPr>
      </p:pic>
    </p:spTree>
    <p:extLst>
      <p:ext uri="{BB962C8B-B14F-4D97-AF65-F5344CB8AC3E}">
        <p14:creationId xmlns:p14="http://schemas.microsoft.com/office/powerpoint/2010/main" val="9380559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5 · Monopoly and Welfare Impact</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Recall: Consumer and Producer Surplus Under Competition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sdaxis:y"/>
          <p:cNvCxnSpPr/>
          <p:nvPr/>
        </p:nvCxnSpPr>
        <p:spPr>
          <a:xfrm flipV="1">
            <a:off x="1143000" y="1481328"/>
            <a:ext cx="0" cy="4370832"/>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8" name="sdaxis:x"/>
          <p:cNvCxnSpPr/>
          <p:nvPr/>
        </p:nvCxnSpPr>
        <p:spPr>
          <a:xfrm>
            <a:off x="1143000" y="5852160"/>
            <a:ext cx="587959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9" name="sdaxistitle:y"/>
          <p:cNvSpPr txBox="1"/>
          <p:nvPr/>
        </p:nvSpPr>
        <p:spPr>
          <a:xfrm>
            <a:off x="853821" y="1348740"/>
            <a:ext cx="216027" cy="265176"/>
          </a:xfrm>
          <a:prstGeom prst="rect">
            <a:avLst/>
          </a:prstGeom>
          <a:noFill/>
        </p:spPr>
        <p:txBody>
          <a:bodyPr wrap="square" lIns="0" tIns="0" rIns="0" bIns="0">
            <a:spAutoFit/>
          </a:bodyPr>
          <a:lstStyle/>
          <a:p>
            <a:pPr algn="l"/>
            <a:r>
              <a:rPr sz="2000" b="1" i="1" u="none">
                <a:solidFill>
                  <a:srgbClr val="0B2B4E"/>
                </a:solidFill>
                <a:latin typeface="Calibri"/>
              </a:rPr>
              <a:t>P</a:t>
            </a:r>
          </a:p>
        </p:txBody>
      </p:sp>
      <p:sp>
        <p:nvSpPr>
          <p:cNvPr id="10" name="sdaxistitle:x"/>
          <p:cNvSpPr txBox="1"/>
          <p:nvPr/>
        </p:nvSpPr>
        <p:spPr>
          <a:xfrm>
            <a:off x="6900291" y="5897880"/>
            <a:ext cx="244602" cy="265176"/>
          </a:xfrm>
          <a:prstGeom prst="rect">
            <a:avLst/>
          </a:prstGeom>
          <a:noFill/>
        </p:spPr>
        <p:txBody>
          <a:bodyPr wrap="square" lIns="0" tIns="0" rIns="0" bIns="0">
            <a:spAutoFit/>
          </a:bodyPr>
          <a:lstStyle/>
          <a:p>
            <a:pPr algn="l"/>
            <a:r>
              <a:rPr sz="2000" b="1" i="1" u="none">
                <a:solidFill>
                  <a:srgbClr val="0B2B4E"/>
                </a:solidFill>
                <a:latin typeface="Calibri"/>
              </a:rPr>
              <a:t>Q</a:t>
            </a:r>
          </a:p>
        </p:txBody>
      </p:sp>
      <p:grpSp>
        <p:nvGrpSpPr>
          <p:cNvPr id="134" name="sdpair:sdreglab:84615bef"/>
          <p:cNvGrpSpPr/>
          <p:nvPr/>
        </p:nvGrpSpPr>
        <p:grpSpPr>
          <a:xfrm>
            <a:off x="1143000" y="2028305"/>
            <a:ext cx="2645833" cy="1911927"/>
            <a:chOff x="1143000" y="2028305"/>
            <a:chExt cx="2645833" cy="1911927"/>
          </a:xfrm>
        </p:grpSpPr>
        <p:sp>
          <p:nvSpPr>
            <p:cNvPr id="11" name="sdregion:84615bef"/>
            <p:cNvSpPr/>
            <p:nvPr/>
          </p:nvSpPr>
          <p:spPr>
            <a:xfrm>
              <a:off x="1143000" y="2028305"/>
              <a:ext cx="2645833" cy="1911927"/>
            </a:xfrm>
            <a:custGeom>
              <a:avLst/>
              <a:gdLst/>
              <a:ahLst/>
              <a:cxnLst/>
              <a:rect l="0" t="0" r="r" b="b"/>
              <a:pathLst>
                <a:path w="2645833" h="1911927">
                  <a:moveTo>
                    <a:pt x="0" y="0"/>
                  </a:moveTo>
                  <a:lnTo>
                    <a:pt x="0" y="1911927"/>
                  </a:lnTo>
                  <a:lnTo>
                    <a:pt x="2645833" y="1911927"/>
                  </a:lnTo>
                  <a:close/>
                </a:path>
              </a:pathLst>
            </a:custGeom>
            <a:solidFill>
              <a:srgbClr val="C0201B">
                <a:alpha val="26000"/>
              </a:srgbClr>
            </a:solidFill>
            <a:ln w="12700">
              <a:solidFill>
                <a:srgbClr val="C020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sdreglab:84615bef"/>
            <p:cNvSpPr txBox="1"/>
            <p:nvPr/>
          </p:nvSpPr>
          <p:spPr>
            <a:xfrm>
              <a:off x="1647083" y="3254536"/>
              <a:ext cx="367665" cy="377190"/>
            </a:xfrm>
            <a:prstGeom prst="rect">
              <a:avLst/>
            </a:prstGeom>
            <a:noFill/>
          </p:spPr>
          <p:txBody>
            <a:bodyPr wrap="square" lIns="0" tIns="0" rIns="0" bIns="0" anchor="ctr">
              <a:spAutoFit/>
            </a:bodyPr>
            <a:lstStyle/>
            <a:p>
              <a:pPr algn="ctr"/>
              <a:r>
                <a:rPr sz="2200" b="1" i="0" u="none">
                  <a:solidFill>
                    <a:srgbClr val="0B2B4E"/>
                  </a:solidFill>
                  <a:latin typeface="Calibri"/>
                </a:rPr>
                <a:t>CS</a:t>
              </a:r>
            </a:p>
          </p:txBody>
        </p:sp>
      </p:grpSp>
      <p:grpSp>
        <p:nvGrpSpPr>
          <p:cNvPr id="135" name="sdpair:sdreglab:5839aa8c"/>
          <p:cNvGrpSpPr/>
          <p:nvPr/>
        </p:nvGrpSpPr>
        <p:grpSpPr>
          <a:xfrm>
            <a:off x="1143000" y="3940232"/>
            <a:ext cx="2645833" cy="1147157"/>
            <a:chOff x="1143000" y="3940232"/>
            <a:chExt cx="2645833" cy="1147157"/>
          </a:xfrm>
        </p:grpSpPr>
        <p:sp>
          <p:nvSpPr>
            <p:cNvPr id="12" name="sdregion:5839aa8c"/>
            <p:cNvSpPr/>
            <p:nvPr/>
          </p:nvSpPr>
          <p:spPr>
            <a:xfrm>
              <a:off x="1143000" y="3940232"/>
              <a:ext cx="2645833" cy="1147157"/>
            </a:xfrm>
            <a:custGeom>
              <a:avLst/>
              <a:gdLst/>
              <a:ahLst/>
              <a:cxnLst/>
              <a:rect l="0" t="0" r="r" b="b"/>
              <a:pathLst>
                <a:path w="2645833" h="1147157">
                  <a:moveTo>
                    <a:pt x="0" y="0"/>
                  </a:moveTo>
                  <a:lnTo>
                    <a:pt x="2645833" y="0"/>
                  </a:lnTo>
                  <a:lnTo>
                    <a:pt x="0" y="1147157"/>
                  </a:lnTo>
                  <a:close/>
                </a:path>
              </a:pathLst>
            </a:custGeom>
            <a:solidFill>
              <a:srgbClr val="4E79B5">
                <a:alpha val="34000"/>
              </a:srgbClr>
            </a:solidFill>
            <a:ln w="12700">
              <a:solidFill>
                <a:srgbClr val="4E79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dreglab:5839aa8c"/>
            <p:cNvSpPr txBox="1"/>
            <p:nvPr/>
          </p:nvSpPr>
          <p:spPr>
            <a:xfrm>
              <a:off x="1647083" y="4049898"/>
              <a:ext cx="367665" cy="377190"/>
            </a:xfrm>
            <a:prstGeom prst="rect">
              <a:avLst/>
            </a:prstGeom>
            <a:noFill/>
          </p:spPr>
          <p:txBody>
            <a:bodyPr wrap="square" lIns="0" tIns="0" rIns="0" bIns="0" anchor="ctr">
              <a:spAutoFit/>
            </a:bodyPr>
            <a:lstStyle/>
            <a:p>
              <a:pPr algn="ctr"/>
              <a:r>
                <a:rPr sz="2200" b="1" i="0" u="none">
                  <a:solidFill>
                    <a:srgbClr val="0B2B4E"/>
                  </a:solidFill>
                  <a:latin typeface="Calibri"/>
                </a:rPr>
                <a:t>PS</a:t>
              </a:r>
            </a:p>
          </p:txBody>
        </p:sp>
      </p:grpSp>
      <p:grpSp>
        <p:nvGrpSpPr>
          <p:cNvPr id="132" name="sdpair:curve:D"/>
          <p:cNvGrpSpPr/>
          <p:nvPr/>
        </p:nvGrpSpPr>
        <p:grpSpPr>
          <a:xfrm>
            <a:off x="1143000" y="2028305"/>
            <a:ext cx="5298143" cy="3823855"/>
            <a:chOff x="1143000" y="2028305"/>
            <a:chExt cx="5298143" cy="3823855"/>
          </a:xfrm>
        </p:grpSpPr>
        <p:cxnSp>
          <p:nvCxnSpPr>
            <p:cNvPr id="15" name="sdcurve:D"/>
            <p:cNvCxnSpPr/>
            <p:nvPr/>
          </p:nvCxnSpPr>
          <p:spPr>
            <a:xfrm>
              <a:off x="1143000" y="2028305"/>
              <a:ext cx="5291666" cy="3823855"/>
            </a:xfrm>
            <a:prstGeom prst="line">
              <a:avLst/>
            </a:prstGeom>
            <a:ln w="34925">
              <a:solidFill>
                <a:srgbClr val="C00000"/>
              </a:solidFill>
            </a:ln>
          </p:spPr>
          <p:style>
            <a:lnRef idx="2">
              <a:schemeClr val="accent1"/>
            </a:lnRef>
            <a:fillRef idx="0">
              <a:schemeClr val="accent1"/>
            </a:fillRef>
            <a:effectRef idx="1">
              <a:schemeClr val="accent1"/>
            </a:effectRef>
            <a:fontRef idx="minor">
              <a:schemeClr val="tx1"/>
            </a:fontRef>
          </p:style>
        </p:cxnSp>
        <p:sp>
          <p:nvSpPr>
            <p:cNvPr id="16" name="sdcurvelab:D"/>
            <p:cNvSpPr txBox="1"/>
            <p:nvPr/>
          </p:nvSpPr>
          <p:spPr>
            <a:xfrm>
              <a:off x="6196541" y="5113158"/>
              <a:ext cx="244602" cy="292608"/>
            </a:xfrm>
            <a:prstGeom prst="rect">
              <a:avLst/>
            </a:prstGeom>
            <a:noFill/>
          </p:spPr>
          <p:txBody>
            <a:bodyPr wrap="square" lIns="0" tIns="0" rIns="0" bIns="0">
              <a:spAutoFit/>
            </a:bodyPr>
            <a:lstStyle/>
            <a:p>
              <a:pPr algn="l"/>
              <a:r>
                <a:rPr sz="2200" b="1" i="1" u="none">
                  <a:solidFill>
                    <a:srgbClr val="C00000"/>
                  </a:solidFill>
                  <a:latin typeface="Calibri"/>
                </a:rPr>
                <a:t>D</a:t>
              </a:r>
            </a:p>
          </p:txBody>
        </p:sp>
      </p:grpSp>
      <p:grpSp>
        <p:nvGrpSpPr>
          <p:cNvPr id="133" name="sdpair:curve:MC"/>
          <p:cNvGrpSpPr/>
          <p:nvPr/>
        </p:nvGrpSpPr>
        <p:grpSpPr>
          <a:xfrm>
            <a:off x="1143000" y="2532056"/>
            <a:ext cx="5807201" cy="2555333"/>
            <a:chOff x="1143000" y="2532056"/>
            <a:chExt cx="5807201" cy="2555333"/>
          </a:xfrm>
        </p:grpSpPr>
        <p:cxnSp>
          <p:nvCxnSpPr>
            <p:cNvPr id="17" name="sdcurve:MC"/>
            <p:cNvCxnSpPr/>
            <p:nvPr/>
          </p:nvCxnSpPr>
          <p:spPr>
            <a:xfrm flipV="1">
              <a:off x="1143000" y="2793076"/>
              <a:ext cx="5291666" cy="2294313"/>
            </a:xfrm>
            <a:prstGeom prst="line">
              <a:avLst/>
            </a:prstGeom>
            <a:ln w="34925">
              <a:solidFill>
                <a:srgbClr val="0B2B4E"/>
              </a:solidFill>
            </a:ln>
          </p:spPr>
          <p:style>
            <a:lnRef idx="2">
              <a:schemeClr val="accent1"/>
            </a:lnRef>
            <a:fillRef idx="0">
              <a:schemeClr val="accent1"/>
            </a:fillRef>
            <a:effectRef idx="1">
              <a:schemeClr val="accent1"/>
            </a:effectRef>
            <a:fontRef idx="minor">
              <a:schemeClr val="tx1"/>
            </a:fontRef>
          </p:style>
        </p:cxnSp>
        <p:sp>
          <p:nvSpPr>
            <p:cNvPr id="18" name="sdcurvelab:MC"/>
            <p:cNvSpPr txBox="1"/>
            <p:nvPr/>
          </p:nvSpPr>
          <p:spPr>
            <a:xfrm>
              <a:off x="6477000" y="2532056"/>
              <a:ext cx="473201" cy="292608"/>
            </a:xfrm>
            <a:prstGeom prst="rect">
              <a:avLst/>
            </a:prstGeom>
            <a:noFill/>
          </p:spPr>
          <p:txBody>
            <a:bodyPr wrap="square" lIns="0" tIns="0" rIns="0" bIns="0">
              <a:spAutoFit/>
            </a:bodyPr>
            <a:lstStyle/>
            <a:p>
              <a:pPr algn="l"/>
              <a:r>
                <a:rPr sz="2200" b="1" i="1" u="none">
                  <a:solidFill>
                    <a:srgbClr val="0B2B4E"/>
                  </a:solidFill>
                  <a:latin typeface="Calibri"/>
                </a:rPr>
                <a:t>MC</a:t>
              </a:r>
            </a:p>
          </p:txBody>
        </p:sp>
      </p:grpSp>
      <p:cxnSp>
        <p:nvCxnSpPr>
          <p:cNvPr id="19" name="Connector 18"/>
          <p:cNvCxnSpPr/>
          <p:nvPr/>
        </p:nvCxnSpPr>
        <p:spPr>
          <a:xfrm>
            <a:off x="1143000" y="3940232"/>
            <a:ext cx="2645833"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788833" y="3940232"/>
            <a:ext cx="0" cy="1911928"/>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29921" y="3803072"/>
            <a:ext cx="939926" cy="274320"/>
          </a:xfrm>
          <a:prstGeom prst="rect">
            <a:avLst/>
          </a:prstGeom>
          <a:noFill/>
        </p:spPr>
        <p:txBody>
          <a:bodyPr wrap="square" lIns="0" tIns="0" rIns="0" bIns="0">
            <a:spAutoFit/>
          </a:bodyPr>
          <a:lstStyle/>
          <a:p>
            <a:pPr algn="r"/>
            <a:r>
              <a:rPr sz="2000" b="1" i="1" u="none">
                <a:solidFill>
                  <a:srgbClr val="0B2B4E"/>
                </a:solidFill>
                <a:latin typeface="Calibri"/>
              </a:rPr>
              <a:t>P</a:t>
            </a:r>
            <a:r>
              <a:rPr sz="2000" b="1" i="1" u="none" baseline="-25000">
                <a:solidFill>
                  <a:srgbClr val="0B2B4E"/>
                </a:solidFill>
                <a:latin typeface="Calibri"/>
              </a:rPr>
              <a:t>Comp</a:t>
            </a:r>
          </a:p>
        </p:txBody>
      </p:sp>
      <p:sp>
        <p:nvSpPr>
          <p:cNvPr id="22" name="TextBox 21"/>
          <p:cNvSpPr txBox="1"/>
          <p:nvPr/>
        </p:nvSpPr>
        <p:spPr>
          <a:xfrm>
            <a:off x="3299820" y="5907024"/>
            <a:ext cx="978027" cy="274320"/>
          </a:xfrm>
          <a:prstGeom prst="rect">
            <a:avLst/>
          </a:prstGeom>
          <a:noFill/>
        </p:spPr>
        <p:txBody>
          <a:bodyPr wrap="square" lIns="0" tIns="0" rIns="0" bIns="0">
            <a:spAutoFit/>
          </a:bodyPr>
          <a:lstStyle/>
          <a:p>
            <a:pPr algn="ctr"/>
            <a:r>
              <a:rPr sz="2000" b="1" i="1" u="none">
                <a:solidFill>
                  <a:srgbClr val="0B2B4E"/>
                </a:solidFill>
                <a:latin typeface="Calibri"/>
              </a:rPr>
              <a:t>Q</a:t>
            </a:r>
            <a:r>
              <a:rPr sz="2000" b="1" i="1" u="none" baseline="-25000">
                <a:solidFill>
                  <a:srgbClr val="0B2B4E"/>
                </a:solidFill>
                <a:latin typeface="Calibri"/>
              </a:rPr>
              <a:t>Comp</a:t>
            </a:r>
          </a:p>
        </p:txBody>
      </p:sp>
      <p:grpSp>
        <p:nvGrpSpPr>
          <p:cNvPr id="25" name="sdpair:w33:0"/>
          <p:cNvGrpSpPr/>
          <p:nvPr/>
        </p:nvGrpSpPr>
        <p:grpSpPr>
          <a:xfrm>
            <a:off x="7452360" y="2788920"/>
            <a:ext cx="4389119" cy="674623"/>
            <a:chOff x="7452360" y="2788920"/>
            <a:chExt cx="4389119" cy="674623"/>
          </a:xfrm>
        </p:grpSpPr>
        <p:sp>
          <p:nvSpPr>
            <p:cNvPr id="23" name="Rectangle 22"/>
            <p:cNvSpPr/>
            <p:nvPr/>
          </p:nvSpPr>
          <p:spPr>
            <a:xfrm>
              <a:off x="7452360" y="2943351"/>
              <a:ext cx="475488" cy="365760"/>
            </a:xfrm>
            <a:custGeom>
              <a:avLst/>
              <a:gdLst/>
              <a:ahLst/>
              <a:cxnLst/>
              <a:rect l="0" t="0" r="r" b="b"/>
              <a:pathLst>
                <a:path w="475488" h="365760">
                  <a:moveTo>
                    <a:pt x="0" y="0"/>
                  </a:moveTo>
                  <a:lnTo>
                    <a:pt x="0" y="365760"/>
                  </a:lnTo>
                  <a:lnTo>
                    <a:pt x="475488" y="365760"/>
                  </a:lnTo>
                  <a:close/>
                </a:path>
              </a:pathLst>
            </a:custGeom>
            <a:solidFill>
              <a:srgbClr val="C0201B">
                <a:alpha val="26000"/>
              </a:srgbClr>
            </a:solidFill>
            <a:ln w="9525">
              <a:solidFill>
                <a:srgbClr val="C020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sdlegtxt:w33:0"/>
            <p:cNvSpPr txBox="1"/>
            <p:nvPr/>
          </p:nvSpPr>
          <p:spPr>
            <a:xfrm>
              <a:off x="8019288" y="2788920"/>
              <a:ext cx="3822191" cy="674623"/>
            </a:xfrm>
            <a:prstGeom prst="rect">
              <a:avLst/>
            </a:prstGeom>
            <a:noFill/>
          </p:spPr>
          <p:txBody>
            <a:bodyPr wrap="square" lIns="0" tIns="0" rIns="0" bIns="0" anchor="ctr">
              <a:spAutoFit/>
            </a:bodyPr>
            <a:lstStyle/>
            <a:p>
              <a:pPr algn="l"/>
              <a:r>
                <a:rPr sz="2000" b="0" i="0" u="none">
                  <a:solidFill>
                    <a:srgbClr val="0B2B4E"/>
                  </a:solidFill>
                  <a:latin typeface="Calibri"/>
                </a:rPr>
                <a:t>Consumer surplus (CS) under competition</a:t>
              </a:r>
            </a:p>
          </p:txBody>
        </p:sp>
      </p:grpSp>
      <p:grpSp>
        <p:nvGrpSpPr>
          <p:cNvPr id="28" name="sdpair:w33:1"/>
          <p:cNvGrpSpPr/>
          <p:nvPr/>
        </p:nvGrpSpPr>
        <p:grpSpPr>
          <a:xfrm>
            <a:off x="7452360" y="3646424"/>
            <a:ext cx="4389119" cy="674623"/>
            <a:chOff x="7452360" y="3646424"/>
            <a:chExt cx="4389119" cy="674623"/>
          </a:xfrm>
        </p:grpSpPr>
        <p:sp>
          <p:nvSpPr>
            <p:cNvPr id="26" name="Rectangle 25"/>
            <p:cNvSpPr/>
            <p:nvPr/>
          </p:nvSpPr>
          <p:spPr>
            <a:xfrm>
              <a:off x="7452360" y="3800855"/>
              <a:ext cx="475488" cy="365761"/>
            </a:xfrm>
            <a:custGeom>
              <a:avLst/>
              <a:gdLst/>
              <a:ahLst/>
              <a:cxnLst/>
              <a:rect l="0" t="0" r="r" b="b"/>
              <a:pathLst>
                <a:path w="475488" h="365761">
                  <a:moveTo>
                    <a:pt x="0" y="0"/>
                  </a:moveTo>
                  <a:lnTo>
                    <a:pt x="475488" y="0"/>
                  </a:lnTo>
                  <a:lnTo>
                    <a:pt x="0" y="365761"/>
                  </a:lnTo>
                  <a:close/>
                </a:path>
              </a:pathLst>
            </a:custGeom>
            <a:solidFill>
              <a:srgbClr val="4E79B5">
                <a:alpha val="34000"/>
              </a:srgbClr>
            </a:solidFill>
            <a:ln w="9525">
              <a:solidFill>
                <a:srgbClr val="4E79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sdlegtxt:w33:1"/>
            <p:cNvSpPr txBox="1"/>
            <p:nvPr/>
          </p:nvSpPr>
          <p:spPr>
            <a:xfrm>
              <a:off x="8019288" y="3646424"/>
              <a:ext cx="3822191" cy="674623"/>
            </a:xfrm>
            <a:prstGeom prst="rect">
              <a:avLst/>
            </a:prstGeom>
            <a:noFill/>
          </p:spPr>
          <p:txBody>
            <a:bodyPr wrap="square" lIns="0" tIns="0" rIns="0" bIns="0" anchor="ctr">
              <a:spAutoFit/>
            </a:bodyPr>
            <a:lstStyle/>
            <a:p>
              <a:pPr algn="l"/>
              <a:r>
                <a:rPr sz="2000" b="0" i="0" u="none">
                  <a:solidFill>
                    <a:srgbClr val="0B2B4E"/>
                  </a:solidFill>
                  <a:latin typeface="Calibri"/>
                </a:rPr>
                <a:t>Producer surplus (PS) under competition</a:t>
              </a:r>
            </a:p>
          </p:txBody>
        </p:sp>
      </p:grpSp>
      <p:sp>
        <p:nvSpPr>
          <p:cNvPr id="29" name="Rectangle 2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5  ·  Monopoly and Monopolistic Competition</a:t>
            </a:r>
          </a:p>
        </p:txBody>
      </p:sp>
      <p:sp>
        <p:nvSpPr>
          <p:cNvPr id="32" name="TextBox 31"/>
          <p:cNvSpPr txBox="1"/>
          <p:nvPr/>
        </p:nvSpPr>
        <p:spPr>
          <a:xfrm>
            <a:off x="11475720" y="6583680"/>
            <a:ext cx="502920" cy="292608"/>
          </a:xfrm>
          <a:prstGeom prst="rect">
            <a:avLst/>
          </a:prstGeom>
          <a:noFill/>
        </p:spPr>
        <p:txBody>
          <a:bodyPr wrap="none" lIns="0" tIns="0" rIns="0" bIns="0">
            <a:spAutoFit/>
          </a:bodyPr>
          <a:lstStyle/>
          <a:p>
            <a:pPr algn="r"/>
            <a:fld id="{C60CDA10-FF3E-5A5D-8B64-443D504D2432}" type="slidenum">
              <a:rPr lang="en-US" sz="1200" dirty="0">
                <a:solidFill>
                  <a:srgbClr val="555B66"/>
                </a:solidFill>
                <a:latin typeface="Calibri"/>
              </a:rPr>
              <a:t>37</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2"/>
                                        </p:tgtEl>
                                        <p:attrNameLst>
                                          <p:attrName>style.visibility</p:attrName>
                                        </p:attrNameLst>
                                      </p:cBhvr>
                                      <p:to>
                                        <p:strVal val="visible"/>
                                      </p:to>
                                    </p:set>
                                    <p:animEffect transition="in" filter="fade">
                                      <p:cBhvr>
                                        <p:cTn id="7" dur="500"/>
                                        <p:tgtEl>
                                          <p:spTgt spid="13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3"/>
                                        </p:tgtEl>
                                        <p:attrNameLst>
                                          <p:attrName>style.visibility</p:attrName>
                                        </p:attrNameLst>
                                      </p:cBhvr>
                                      <p:to>
                                        <p:strVal val="visible"/>
                                      </p:to>
                                    </p:set>
                                    <p:animEffect transition="in" filter="fade">
                                      <p:cBhvr>
                                        <p:cTn id="12" dur="500"/>
                                        <p:tgtEl>
                                          <p:spTgt spid="13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par>
                                <p:cTn id="18" presetID="10" presetClass="entr" presetSubtype="0" fill="hold" nodeType="with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fade">
                                      <p:cBhvr>
                                        <p:cTn id="20" dur="500"/>
                                        <p:tgtEl>
                                          <p:spTgt spid="20"/>
                                        </p:tgtEl>
                                      </p:cBhvr>
                                    </p:animEffect>
                                  </p:childTnLst>
                                </p:cTn>
                              </p:par>
                              <p:par>
                                <p:cTn id="21" presetID="10" presetClass="entr" presetSubtype="0" fill="hold" nodeType="with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fade">
                                      <p:cBhvr>
                                        <p:cTn id="23" dur="500"/>
                                        <p:tgtEl>
                                          <p:spTgt spid="21"/>
                                        </p:tgtEl>
                                      </p:cBhvr>
                                    </p:animEffect>
                                  </p:childTnLst>
                                </p:cTn>
                              </p:par>
                              <p:par>
                                <p:cTn id="24" presetID="10" presetClass="entr" presetSubtype="0" fill="hold" nodeType="with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fade">
                                      <p:cBhvr>
                                        <p:cTn id="26" dur="500"/>
                                        <p:tgtEl>
                                          <p:spTgt spid="2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35"/>
                                        </p:tgtEl>
                                        <p:attrNameLst>
                                          <p:attrName>style.visibility</p:attrName>
                                        </p:attrNameLst>
                                      </p:cBhvr>
                                      <p:to>
                                        <p:strVal val="visible"/>
                                      </p:to>
                                    </p:set>
                                    <p:animEffect transition="in" filter="fade">
                                      <p:cBhvr>
                                        <p:cTn id="31" dur="500"/>
                                        <p:tgtEl>
                                          <p:spTgt spid="135"/>
                                        </p:tgtEl>
                                      </p:cBhvr>
                                    </p:animEffect>
                                  </p:childTnLst>
                                </p:cTn>
                              </p:par>
                              <p:par>
                                <p:cTn id="32" presetID="10" presetClass="entr" presetSubtype="0" fill="hold"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500"/>
                                        <p:tgtEl>
                                          <p:spTgt spid="2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34"/>
                                        </p:tgtEl>
                                        <p:attrNameLst>
                                          <p:attrName>style.visibility</p:attrName>
                                        </p:attrNameLst>
                                      </p:cBhvr>
                                      <p:to>
                                        <p:strVal val="visible"/>
                                      </p:to>
                                    </p:set>
                                    <p:animEffect transition="in" filter="fade">
                                      <p:cBhvr>
                                        <p:cTn id="39" dur="500"/>
                                        <p:tgtEl>
                                          <p:spTgt spid="134"/>
                                        </p:tgtEl>
                                      </p:cBhvr>
                                    </p:animEffect>
                                  </p:childTnLst>
                                </p:cTn>
                              </p:par>
                              <p:par>
                                <p:cTn id="40" presetID="10" presetClass="entr" presetSubtype="0" fill="hold" nodeType="with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fade">
                                      <p:cBhvr>
                                        <p:cTn id="4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5 · Monopoly and Welfare Impact</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dirty="0">
                <a:solidFill>
                  <a:srgbClr val="0B2B4E"/>
                </a:solidFill>
                <a:latin typeface="Calibri"/>
              </a:rPr>
              <a:t>Monopoly: Good for Business, Bad for Consumers and Welfare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sdaxis:y"/>
          <p:cNvCxnSpPr/>
          <p:nvPr/>
        </p:nvCxnSpPr>
        <p:spPr>
          <a:xfrm flipV="1">
            <a:off x="1143000" y="1481328"/>
            <a:ext cx="0" cy="4370832"/>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8" name="sdaxis:x"/>
          <p:cNvCxnSpPr/>
          <p:nvPr/>
        </p:nvCxnSpPr>
        <p:spPr>
          <a:xfrm>
            <a:off x="1143000" y="5852160"/>
            <a:ext cx="587959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9" name="sdaxistitle:y"/>
          <p:cNvSpPr txBox="1"/>
          <p:nvPr/>
        </p:nvSpPr>
        <p:spPr>
          <a:xfrm>
            <a:off x="853821" y="1348740"/>
            <a:ext cx="216027" cy="265176"/>
          </a:xfrm>
          <a:prstGeom prst="rect">
            <a:avLst/>
          </a:prstGeom>
          <a:noFill/>
        </p:spPr>
        <p:txBody>
          <a:bodyPr wrap="square" lIns="0" tIns="0" rIns="0" bIns="0">
            <a:spAutoFit/>
          </a:bodyPr>
          <a:lstStyle/>
          <a:p>
            <a:pPr algn="l"/>
            <a:r>
              <a:rPr sz="2000" b="1" i="1" u="none">
                <a:solidFill>
                  <a:srgbClr val="0B2B4E"/>
                </a:solidFill>
                <a:latin typeface="Calibri"/>
              </a:rPr>
              <a:t>P</a:t>
            </a:r>
          </a:p>
        </p:txBody>
      </p:sp>
      <p:sp>
        <p:nvSpPr>
          <p:cNvPr id="10" name="sdaxistitle:x"/>
          <p:cNvSpPr txBox="1"/>
          <p:nvPr/>
        </p:nvSpPr>
        <p:spPr>
          <a:xfrm>
            <a:off x="6900291" y="5897880"/>
            <a:ext cx="244602" cy="265176"/>
          </a:xfrm>
          <a:prstGeom prst="rect">
            <a:avLst/>
          </a:prstGeom>
          <a:noFill/>
        </p:spPr>
        <p:txBody>
          <a:bodyPr wrap="square" lIns="0" tIns="0" rIns="0" bIns="0">
            <a:spAutoFit/>
          </a:bodyPr>
          <a:lstStyle/>
          <a:p>
            <a:pPr algn="l"/>
            <a:r>
              <a:rPr sz="2000" b="1" i="1" u="none">
                <a:solidFill>
                  <a:srgbClr val="0B2B4E"/>
                </a:solidFill>
                <a:latin typeface="Calibri"/>
              </a:rPr>
              <a:t>Q</a:t>
            </a:r>
          </a:p>
        </p:txBody>
      </p:sp>
      <p:grpSp>
        <p:nvGrpSpPr>
          <p:cNvPr id="146" name="sdpair:sdreglab:1d9add0f"/>
          <p:cNvGrpSpPr/>
          <p:nvPr/>
        </p:nvGrpSpPr>
        <p:grpSpPr>
          <a:xfrm>
            <a:off x="1143000" y="2028305"/>
            <a:ext cx="1628205" cy="1176571"/>
            <a:chOff x="1143000" y="2028305"/>
            <a:chExt cx="1628205" cy="1176571"/>
          </a:xfrm>
        </p:grpSpPr>
        <p:sp>
          <p:nvSpPr>
            <p:cNvPr id="11" name="sdregion:1d9add0f"/>
            <p:cNvSpPr/>
            <p:nvPr/>
          </p:nvSpPr>
          <p:spPr>
            <a:xfrm>
              <a:off x="1143000" y="2028305"/>
              <a:ext cx="1628205" cy="1176571"/>
            </a:xfrm>
            <a:custGeom>
              <a:avLst/>
              <a:gdLst/>
              <a:ahLst/>
              <a:cxnLst/>
              <a:rect l="0" t="0" r="r" b="b"/>
              <a:pathLst>
                <a:path w="1628205" h="1176571">
                  <a:moveTo>
                    <a:pt x="0" y="0"/>
                  </a:moveTo>
                  <a:lnTo>
                    <a:pt x="0" y="1176571"/>
                  </a:lnTo>
                  <a:lnTo>
                    <a:pt x="1628205" y="1176571"/>
                  </a:lnTo>
                  <a:close/>
                </a:path>
              </a:pathLst>
            </a:custGeom>
            <a:solidFill>
              <a:srgbClr val="C0201B">
                <a:alpha val="26000"/>
              </a:srgbClr>
            </a:solidFill>
            <a:ln w="12700">
              <a:solidFill>
                <a:srgbClr val="C020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dreglab:1d9add0f"/>
            <p:cNvSpPr txBox="1"/>
            <p:nvPr/>
          </p:nvSpPr>
          <p:spPr>
            <a:xfrm>
              <a:off x="1264455" y="2795673"/>
              <a:ext cx="367665" cy="377190"/>
            </a:xfrm>
            <a:prstGeom prst="rect">
              <a:avLst/>
            </a:prstGeom>
            <a:noFill/>
          </p:spPr>
          <p:txBody>
            <a:bodyPr wrap="square" lIns="0" tIns="0" rIns="0" bIns="0" anchor="ctr">
              <a:spAutoFit/>
            </a:bodyPr>
            <a:lstStyle/>
            <a:p>
              <a:pPr algn="ctr"/>
              <a:r>
                <a:rPr sz="2200" b="1" i="0" u="none">
                  <a:solidFill>
                    <a:srgbClr val="0B2B4E"/>
                  </a:solidFill>
                  <a:latin typeface="Calibri"/>
                </a:rPr>
                <a:t>CS</a:t>
              </a:r>
            </a:p>
          </p:txBody>
        </p:sp>
      </p:grpSp>
      <p:grpSp>
        <p:nvGrpSpPr>
          <p:cNvPr id="147" name="sdpair:sdreglab:25826ba8"/>
          <p:cNvGrpSpPr/>
          <p:nvPr/>
        </p:nvGrpSpPr>
        <p:grpSpPr>
          <a:xfrm>
            <a:off x="1143000" y="3204876"/>
            <a:ext cx="1628205" cy="1882513"/>
            <a:chOff x="1143000" y="3204876"/>
            <a:chExt cx="1628205" cy="1882513"/>
          </a:xfrm>
        </p:grpSpPr>
        <p:sp>
          <p:nvSpPr>
            <p:cNvPr id="12" name="sdregion:25826ba8"/>
            <p:cNvSpPr/>
            <p:nvPr/>
          </p:nvSpPr>
          <p:spPr>
            <a:xfrm>
              <a:off x="1143000" y="3204876"/>
              <a:ext cx="1628205" cy="1882513"/>
            </a:xfrm>
            <a:custGeom>
              <a:avLst/>
              <a:gdLst/>
              <a:ahLst/>
              <a:cxnLst/>
              <a:rect l="0" t="0" r="r" b="b"/>
              <a:pathLst>
                <a:path w="1628205" h="1882513">
                  <a:moveTo>
                    <a:pt x="0" y="0"/>
                  </a:moveTo>
                  <a:lnTo>
                    <a:pt x="1628205" y="0"/>
                  </a:lnTo>
                  <a:lnTo>
                    <a:pt x="1628205" y="1176570"/>
                  </a:lnTo>
                  <a:lnTo>
                    <a:pt x="0" y="1882513"/>
                  </a:lnTo>
                  <a:close/>
                </a:path>
              </a:pathLst>
            </a:custGeom>
            <a:solidFill>
              <a:srgbClr val="4E79B5">
                <a:alpha val="34000"/>
              </a:srgbClr>
            </a:solidFill>
            <a:ln w="12700">
              <a:solidFill>
                <a:srgbClr val="4E79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sdreglab:25826ba8"/>
            <p:cNvSpPr txBox="1"/>
            <p:nvPr/>
          </p:nvSpPr>
          <p:spPr>
            <a:xfrm>
              <a:off x="1435417" y="3904591"/>
              <a:ext cx="367665" cy="377190"/>
            </a:xfrm>
            <a:prstGeom prst="rect">
              <a:avLst/>
            </a:prstGeom>
            <a:noFill/>
          </p:spPr>
          <p:txBody>
            <a:bodyPr wrap="square" lIns="0" tIns="0" rIns="0" bIns="0" anchor="ctr">
              <a:spAutoFit/>
            </a:bodyPr>
            <a:lstStyle/>
            <a:p>
              <a:pPr algn="ctr"/>
              <a:r>
                <a:rPr sz="2200" b="1" i="0" u="none">
                  <a:solidFill>
                    <a:srgbClr val="0B2B4E"/>
                  </a:solidFill>
                  <a:latin typeface="Calibri"/>
                </a:rPr>
                <a:t>PS</a:t>
              </a:r>
            </a:p>
          </p:txBody>
        </p:sp>
      </p:grpSp>
      <p:grpSp>
        <p:nvGrpSpPr>
          <p:cNvPr id="148" name="sdpair:sdreglab:6cbc0181"/>
          <p:cNvGrpSpPr/>
          <p:nvPr/>
        </p:nvGrpSpPr>
        <p:grpSpPr>
          <a:xfrm>
            <a:off x="2771205" y="3204876"/>
            <a:ext cx="1017628" cy="1176570"/>
            <a:chOff x="2771205" y="3204876"/>
            <a:chExt cx="1017628" cy="1176570"/>
          </a:xfrm>
        </p:grpSpPr>
        <p:sp>
          <p:nvSpPr>
            <p:cNvPr id="13" name="sdregion:6cbc0181"/>
            <p:cNvSpPr/>
            <p:nvPr/>
          </p:nvSpPr>
          <p:spPr>
            <a:xfrm>
              <a:off x="2771205" y="3204876"/>
              <a:ext cx="1017628" cy="1176570"/>
            </a:xfrm>
            <a:custGeom>
              <a:avLst/>
              <a:gdLst/>
              <a:ahLst/>
              <a:cxnLst/>
              <a:rect l="0" t="0" r="r" b="b"/>
              <a:pathLst>
                <a:path w="1017628" h="1176570">
                  <a:moveTo>
                    <a:pt x="0" y="0"/>
                  </a:moveTo>
                  <a:lnTo>
                    <a:pt x="0" y="1176570"/>
                  </a:lnTo>
                  <a:lnTo>
                    <a:pt x="1017628" y="735356"/>
                  </a:lnTo>
                  <a:close/>
                </a:path>
              </a:pathLst>
            </a:custGeom>
            <a:solidFill>
              <a:srgbClr val="E09F3E">
                <a:alpha val="30000"/>
              </a:srgbClr>
            </a:solidFill>
            <a:ln w="12700">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sdreglab:6cbc0181"/>
            <p:cNvSpPr txBox="1"/>
            <p:nvPr/>
          </p:nvSpPr>
          <p:spPr>
            <a:xfrm>
              <a:off x="2840856" y="3687880"/>
              <a:ext cx="539115" cy="308610"/>
            </a:xfrm>
            <a:prstGeom prst="rect">
              <a:avLst/>
            </a:prstGeom>
            <a:noFill/>
          </p:spPr>
          <p:txBody>
            <a:bodyPr wrap="square" lIns="0" tIns="0" rIns="0" bIns="0" anchor="ctr">
              <a:spAutoFit/>
            </a:bodyPr>
            <a:lstStyle/>
            <a:p>
              <a:pPr algn="ctr"/>
              <a:r>
                <a:rPr sz="1800" b="1" i="0" u="none">
                  <a:solidFill>
                    <a:srgbClr val="0B2B4E"/>
                  </a:solidFill>
                  <a:latin typeface="Calibri"/>
                </a:rPr>
                <a:t>DWL</a:t>
              </a:r>
            </a:p>
          </p:txBody>
        </p:sp>
      </p:grpSp>
      <p:grpSp>
        <p:nvGrpSpPr>
          <p:cNvPr id="143" name="sdpair:curve:D"/>
          <p:cNvGrpSpPr/>
          <p:nvPr/>
        </p:nvGrpSpPr>
        <p:grpSpPr>
          <a:xfrm>
            <a:off x="1143000" y="2028305"/>
            <a:ext cx="5298143" cy="3823855"/>
            <a:chOff x="1143000" y="2028305"/>
            <a:chExt cx="5298143" cy="3823855"/>
          </a:xfrm>
        </p:grpSpPr>
        <p:cxnSp>
          <p:nvCxnSpPr>
            <p:cNvPr id="17" name="sdcurve:D"/>
            <p:cNvCxnSpPr/>
            <p:nvPr/>
          </p:nvCxnSpPr>
          <p:spPr>
            <a:xfrm>
              <a:off x="1143000" y="2028305"/>
              <a:ext cx="5291666" cy="3823855"/>
            </a:xfrm>
            <a:prstGeom prst="line">
              <a:avLst/>
            </a:prstGeom>
            <a:ln w="34925">
              <a:solidFill>
                <a:srgbClr val="C00000"/>
              </a:solidFill>
            </a:ln>
          </p:spPr>
          <p:style>
            <a:lnRef idx="2">
              <a:schemeClr val="accent1"/>
            </a:lnRef>
            <a:fillRef idx="0">
              <a:schemeClr val="accent1"/>
            </a:fillRef>
            <a:effectRef idx="1">
              <a:schemeClr val="accent1"/>
            </a:effectRef>
            <a:fontRef idx="minor">
              <a:schemeClr val="tx1"/>
            </a:fontRef>
          </p:style>
        </p:cxnSp>
        <p:sp>
          <p:nvSpPr>
            <p:cNvPr id="18" name="sdcurvelab:D"/>
            <p:cNvSpPr txBox="1"/>
            <p:nvPr/>
          </p:nvSpPr>
          <p:spPr>
            <a:xfrm>
              <a:off x="6196541" y="5113158"/>
              <a:ext cx="244602" cy="292608"/>
            </a:xfrm>
            <a:prstGeom prst="rect">
              <a:avLst/>
            </a:prstGeom>
            <a:noFill/>
          </p:spPr>
          <p:txBody>
            <a:bodyPr wrap="square" lIns="0" tIns="0" rIns="0" bIns="0">
              <a:spAutoFit/>
            </a:bodyPr>
            <a:lstStyle/>
            <a:p>
              <a:pPr algn="l"/>
              <a:r>
                <a:rPr sz="2200" b="1" i="1" u="none">
                  <a:solidFill>
                    <a:srgbClr val="C00000"/>
                  </a:solidFill>
                  <a:latin typeface="Calibri"/>
                </a:rPr>
                <a:t>D</a:t>
              </a:r>
            </a:p>
          </p:txBody>
        </p:sp>
      </p:grpSp>
      <p:grpSp>
        <p:nvGrpSpPr>
          <p:cNvPr id="144" name="sdpair:curve:MC"/>
          <p:cNvGrpSpPr/>
          <p:nvPr/>
        </p:nvGrpSpPr>
        <p:grpSpPr>
          <a:xfrm>
            <a:off x="1143000" y="2532056"/>
            <a:ext cx="5807201" cy="2555333"/>
            <a:chOff x="1143000" y="2532056"/>
            <a:chExt cx="5807201" cy="2555333"/>
          </a:xfrm>
        </p:grpSpPr>
        <p:cxnSp>
          <p:nvCxnSpPr>
            <p:cNvPr id="19" name="sdcurve:MC"/>
            <p:cNvCxnSpPr/>
            <p:nvPr/>
          </p:nvCxnSpPr>
          <p:spPr>
            <a:xfrm flipV="1">
              <a:off x="1143000" y="2793076"/>
              <a:ext cx="5291666" cy="2294313"/>
            </a:xfrm>
            <a:prstGeom prst="line">
              <a:avLst/>
            </a:prstGeom>
            <a:ln w="34925">
              <a:solidFill>
                <a:srgbClr val="0B2B4E"/>
              </a:solidFill>
            </a:ln>
          </p:spPr>
          <p:style>
            <a:lnRef idx="2">
              <a:schemeClr val="accent1"/>
            </a:lnRef>
            <a:fillRef idx="0">
              <a:schemeClr val="accent1"/>
            </a:fillRef>
            <a:effectRef idx="1">
              <a:schemeClr val="accent1"/>
            </a:effectRef>
            <a:fontRef idx="minor">
              <a:schemeClr val="tx1"/>
            </a:fontRef>
          </p:style>
        </p:cxnSp>
        <p:sp>
          <p:nvSpPr>
            <p:cNvPr id="20" name="sdcurvelab:MC"/>
            <p:cNvSpPr txBox="1"/>
            <p:nvPr/>
          </p:nvSpPr>
          <p:spPr>
            <a:xfrm>
              <a:off x="6477000" y="2532056"/>
              <a:ext cx="473201" cy="292608"/>
            </a:xfrm>
            <a:prstGeom prst="rect">
              <a:avLst/>
            </a:prstGeom>
            <a:noFill/>
          </p:spPr>
          <p:txBody>
            <a:bodyPr wrap="square" lIns="0" tIns="0" rIns="0" bIns="0">
              <a:spAutoFit/>
            </a:bodyPr>
            <a:lstStyle/>
            <a:p>
              <a:pPr algn="l"/>
              <a:r>
                <a:rPr sz="2200" b="1" i="1" u="none">
                  <a:solidFill>
                    <a:srgbClr val="0B2B4E"/>
                  </a:solidFill>
                  <a:latin typeface="Calibri"/>
                </a:rPr>
                <a:t>MC</a:t>
              </a:r>
            </a:p>
          </p:txBody>
        </p:sp>
      </p:grpSp>
      <p:grpSp>
        <p:nvGrpSpPr>
          <p:cNvPr id="145" name="sdpair:curve:MR"/>
          <p:cNvGrpSpPr/>
          <p:nvPr/>
        </p:nvGrpSpPr>
        <p:grpSpPr>
          <a:xfrm>
            <a:off x="1143000" y="2028305"/>
            <a:ext cx="3198409" cy="3823855"/>
            <a:chOff x="1143000" y="2028305"/>
            <a:chExt cx="3198409" cy="3823855"/>
          </a:xfrm>
        </p:grpSpPr>
        <p:cxnSp>
          <p:nvCxnSpPr>
            <p:cNvPr id="21" name="sdcurve:MR"/>
            <p:cNvCxnSpPr/>
            <p:nvPr/>
          </p:nvCxnSpPr>
          <p:spPr>
            <a:xfrm>
              <a:off x="1143000" y="2028305"/>
              <a:ext cx="2645833" cy="3823855"/>
            </a:xfrm>
            <a:prstGeom prst="line">
              <a:avLst/>
            </a:prstGeom>
            <a:ln w="28575">
              <a:solidFill>
                <a:srgbClr val="C00000"/>
              </a:solidFill>
              <a:prstDash val="dash"/>
            </a:ln>
          </p:spPr>
          <p:style>
            <a:lnRef idx="2">
              <a:schemeClr val="accent1"/>
            </a:lnRef>
            <a:fillRef idx="0">
              <a:schemeClr val="accent1"/>
            </a:fillRef>
            <a:effectRef idx="1">
              <a:schemeClr val="accent1"/>
            </a:effectRef>
            <a:fontRef idx="minor">
              <a:schemeClr val="tx1"/>
            </a:fontRef>
          </p:style>
        </p:cxnSp>
        <p:sp>
          <p:nvSpPr>
            <p:cNvPr id="22" name="sdcurvelab:MR"/>
            <p:cNvSpPr txBox="1"/>
            <p:nvPr/>
          </p:nvSpPr>
          <p:spPr>
            <a:xfrm>
              <a:off x="3868208" y="5468777"/>
              <a:ext cx="473201" cy="292608"/>
            </a:xfrm>
            <a:prstGeom prst="rect">
              <a:avLst/>
            </a:prstGeom>
            <a:noFill/>
          </p:spPr>
          <p:txBody>
            <a:bodyPr wrap="square" lIns="0" tIns="0" rIns="0" bIns="0">
              <a:spAutoFit/>
            </a:bodyPr>
            <a:lstStyle/>
            <a:p>
              <a:pPr algn="l"/>
              <a:r>
                <a:rPr sz="2200" b="1" i="1" u="none">
                  <a:solidFill>
                    <a:srgbClr val="C00000"/>
                  </a:solidFill>
                  <a:latin typeface="Calibri"/>
                </a:rPr>
                <a:t>MR</a:t>
              </a:r>
            </a:p>
          </p:txBody>
        </p:sp>
      </p:grpSp>
      <p:cxnSp>
        <p:nvCxnSpPr>
          <p:cNvPr id="23" name="gCh"/>
          <p:cNvCxnSpPr/>
          <p:nvPr/>
        </p:nvCxnSpPr>
        <p:spPr>
          <a:xfrm>
            <a:off x="1143000" y="3940232"/>
            <a:ext cx="2645833"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24" name="gCv"/>
          <p:cNvCxnSpPr/>
          <p:nvPr/>
        </p:nvCxnSpPr>
        <p:spPr>
          <a:xfrm>
            <a:off x="3788833" y="3940232"/>
            <a:ext cx="0" cy="1911928"/>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5" name="tPC"/>
          <p:cNvSpPr txBox="1"/>
          <p:nvPr/>
        </p:nvSpPr>
        <p:spPr>
          <a:xfrm>
            <a:off x="129921" y="3803072"/>
            <a:ext cx="939926" cy="274320"/>
          </a:xfrm>
          <a:prstGeom prst="rect">
            <a:avLst/>
          </a:prstGeom>
          <a:noFill/>
        </p:spPr>
        <p:txBody>
          <a:bodyPr wrap="square" lIns="0" tIns="0" rIns="0" bIns="0">
            <a:spAutoFit/>
          </a:bodyPr>
          <a:lstStyle/>
          <a:p>
            <a:pPr algn="r"/>
            <a:r>
              <a:rPr sz="2000" b="1" i="1" u="none">
                <a:solidFill>
                  <a:srgbClr val="0B2B4E"/>
                </a:solidFill>
                <a:latin typeface="Calibri"/>
              </a:rPr>
              <a:t>P</a:t>
            </a:r>
            <a:r>
              <a:rPr sz="2000" b="1" i="1" u="none" baseline="-25000">
                <a:solidFill>
                  <a:srgbClr val="0B2B4E"/>
                </a:solidFill>
                <a:latin typeface="Calibri"/>
              </a:rPr>
              <a:t>Comp</a:t>
            </a:r>
          </a:p>
        </p:txBody>
      </p:sp>
      <p:sp>
        <p:nvSpPr>
          <p:cNvPr id="26" name="tQC"/>
          <p:cNvSpPr txBox="1"/>
          <p:nvPr/>
        </p:nvSpPr>
        <p:spPr>
          <a:xfrm>
            <a:off x="3299820" y="5907024"/>
            <a:ext cx="978027" cy="274320"/>
          </a:xfrm>
          <a:prstGeom prst="rect">
            <a:avLst/>
          </a:prstGeom>
          <a:noFill/>
        </p:spPr>
        <p:txBody>
          <a:bodyPr wrap="square" lIns="0" tIns="0" rIns="0" bIns="0">
            <a:spAutoFit/>
          </a:bodyPr>
          <a:lstStyle/>
          <a:p>
            <a:pPr algn="ctr"/>
            <a:r>
              <a:rPr sz="2000" b="1" i="1" u="none">
                <a:solidFill>
                  <a:srgbClr val="0B2B4E"/>
                </a:solidFill>
                <a:latin typeface="Calibri"/>
              </a:rPr>
              <a:t>Q</a:t>
            </a:r>
            <a:r>
              <a:rPr sz="2000" b="1" i="1" u="none" baseline="-25000">
                <a:solidFill>
                  <a:srgbClr val="0B2B4E"/>
                </a:solidFill>
                <a:latin typeface="Calibri"/>
              </a:rPr>
              <a:t>Comp</a:t>
            </a:r>
          </a:p>
        </p:txBody>
      </p:sp>
      <p:cxnSp>
        <p:nvCxnSpPr>
          <p:cNvPr id="27" name="gMh"/>
          <p:cNvCxnSpPr/>
          <p:nvPr/>
        </p:nvCxnSpPr>
        <p:spPr>
          <a:xfrm>
            <a:off x="1143000" y="3204876"/>
            <a:ext cx="1628205"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28" name="gMv"/>
          <p:cNvCxnSpPr/>
          <p:nvPr/>
        </p:nvCxnSpPr>
        <p:spPr>
          <a:xfrm>
            <a:off x="2771205" y="3204876"/>
            <a:ext cx="0" cy="2647284"/>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9" name="tPM"/>
          <p:cNvSpPr txBox="1"/>
          <p:nvPr/>
        </p:nvSpPr>
        <p:spPr>
          <a:xfrm>
            <a:off x="510921" y="3067716"/>
            <a:ext cx="558927" cy="274320"/>
          </a:xfrm>
          <a:prstGeom prst="rect">
            <a:avLst/>
          </a:prstGeom>
          <a:noFill/>
        </p:spPr>
        <p:txBody>
          <a:bodyPr wrap="square" lIns="0" tIns="0" rIns="0" bIns="0">
            <a:spAutoFit/>
          </a:bodyPr>
          <a:lstStyle/>
          <a:p>
            <a:pPr algn="r"/>
            <a:r>
              <a:rPr sz="2000" b="1" i="1" u="none">
                <a:solidFill>
                  <a:srgbClr val="0B2B4E"/>
                </a:solidFill>
                <a:latin typeface="Calibri"/>
              </a:rPr>
              <a:t>P</a:t>
            </a:r>
            <a:r>
              <a:rPr sz="2000" b="1" i="1" u="none" baseline="-25000">
                <a:solidFill>
                  <a:srgbClr val="0B2B4E"/>
                </a:solidFill>
                <a:latin typeface="Calibri"/>
              </a:rPr>
              <a:t>M</a:t>
            </a:r>
          </a:p>
        </p:txBody>
      </p:sp>
      <p:sp>
        <p:nvSpPr>
          <p:cNvPr id="30" name="tQM"/>
          <p:cNvSpPr txBox="1"/>
          <p:nvPr/>
        </p:nvSpPr>
        <p:spPr>
          <a:xfrm>
            <a:off x="2472692" y="5907024"/>
            <a:ext cx="597026" cy="274320"/>
          </a:xfrm>
          <a:prstGeom prst="rect">
            <a:avLst/>
          </a:prstGeom>
          <a:noFill/>
        </p:spPr>
        <p:txBody>
          <a:bodyPr wrap="square" lIns="0" tIns="0" rIns="0" bIns="0">
            <a:spAutoFit/>
          </a:bodyPr>
          <a:lstStyle/>
          <a:p>
            <a:pPr algn="ctr"/>
            <a:r>
              <a:rPr sz="2000" b="1" i="1" u="none">
                <a:solidFill>
                  <a:srgbClr val="0B2B4E"/>
                </a:solidFill>
                <a:latin typeface="Calibri"/>
              </a:rPr>
              <a:t>Q</a:t>
            </a:r>
            <a:r>
              <a:rPr sz="2000" b="1" i="1" u="none" baseline="-25000">
                <a:solidFill>
                  <a:srgbClr val="0B2B4E"/>
                </a:solidFill>
                <a:latin typeface="Calibri"/>
              </a:rPr>
              <a:t>M</a:t>
            </a:r>
          </a:p>
        </p:txBody>
      </p:sp>
      <p:grpSp>
        <p:nvGrpSpPr>
          <p:cNvPr id="33" name="sdpair:w34:0"/>
          <p:cNvGrpSpPr/>
          <p:nvPr/>
        </p:nvGrpSpPr>
        <p:grpSpPr>
          <a:xfrm>
            <a:off x="7452360" y="2331720"/>
            <a:ext cx="4389119" cy="674623"/>
            <a:chOff x="7452360" y="2331720"/>
            <a:chExt cx="4389119" cy="674623"/>
          </a:xfrm>
        </p:grpSpPr>
        <p:sp>
          <p:nvSpPr>
            <p:cNvPr id="31" name="Rectangle 30"/>
            <p:cNvSpPr/>
            <p:nvPr/>
          </p:nvSpPr>
          <p:spPr>
            <a:xfrm>
              <a:off x="7452360" y="2486151"/>
              <a:ext cx="475488" cy="365760"/>
            </a:xfrm>
            <a:custGeom>
              <a:avLst/>
              <a:gdLst/>
              <a:ahLst/>
              <a:cxnLst/>
              <a:rect l="0" t="0" r="r" b="b"/>
              <a:pathLst>
                <a:path w="475488" h="365760">
                  <a:moveTo>
                    <a:pt x="0" y="0"/>
                  </a:moveTo>
                  <a:lnTo>
                    <a:pt x="0" y="365760"/>
                  </a:lnTo>
                  <a:lnTo>
                    <a:pt x="475488" y="365760"/>
                  </a:lnTo>
                  <a:close/>
                </a:path>
              </a:pathLst>
            </a:custGeom>
            <a:solidFill>
              <a:srgbClr val="C0201B">
                <a:alpha val="26000"/>
              </a:srgbClr>
            </a:solidFill>
            <a:ln w="9525">
              <a:solidFill>
                <a:srgbClr val="C020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sdlegtxt:w34:0"/>
            <p:cNvSpPr txBox="1"/>
            <p:nvPr/>
          </p:nvSpPr>
          <p:spPr>
            <a:xfrm>
              <a:off x="8019288" y="2331720"/>
              <a:ext cx="3822191" cy="674623"/>
            </a:xfrm>
            <a:prstGeom prst="rect">
              <a:avLst/>
            </a:prstGeom>
            <a:noFill/>
          </p:spPr>
          <p:txBody>
            <a:bodyPr wrap="square" lIns="0" tIns="0" rIns="0" bIns="0" anchor="ctr">
              <a:spAutoFit/>
            </a:bodyPr>
            <a:lstStyle/>
            <a:p>
              <a:pPr algn="l"/>
              <a:r>
                <a:rPr sz="2000" b="0" i="0" u="none" dirty="0">
                  <a:solidFill>
                    <a:srgbClr val="0B2B4E"/>
                  </a:solidFill>
                  <a:latin typeface="Calibri"/>
                </a:rPr>
                <a:t>Consumer surplus (CS) under monopoly</a:t>
              </a:r>
            </a:p>
          </p:txBody>
        </p:sp>
      </p:grpSp>
      <p:grpSp>
        <p:nvGrpSpPr>
          <p:cNvPr id="36" name="sdpair:w34:1"/>
          <p:cNvGrpSpPr/>
          <p:nvPr/>
        </p:nvGrpSpPr>
        <p:grpSpPr>
          <a:xfrm>
            <a:off x="7452360" y="3189224"/>
            <a:ext cx="4389119" cy="674623"/>
            <a:chOff x="7452360" y="3189224"/>
            <a:chExt cx="4389119" cy="674623"/>
          </a:xfrm>
        </p:grpSpPr>
        <p:sp>
          <p:nvSpPr>
            <p:cNvPr id="34" name="Rectangle 33"/>
            <p:cNvSpPr/>
            <p:nvPr/>
          </p:nvSpPr>
          <p:spPr>
            <a:xfrm>
              <a:off x="7452360" y="3343655"/>
              <a:ext cx="475488" cy="365761"/>
            </a:xfrm>
            <a:custGeom>
              <a:avLst/>
              <a:gdLst/>
              <a:ahLst/>
              <a:cxnLst/>
              <a:rect l="0" t="0" r="r" b="b"/>
              <a:pathLst>
                <a:path w="475488" h="365761">
                  <a:moveTo>
                    <a:pt x="0" y="0"/>
                  </a:moveTo>
                  <a:lnTo>
                    <a:pt x="475488" y="0"/>
                  </a:lnTo>
                  <a:lnTo>
                    <a:pt x="475488" y="228600"/>
                  </a:lnTo>
                  <a:lnTo>
                    <a:pt x="0" y="365761"/>
                  </a:lnTo>
                  <a:close/>
                </a:path>
              </a:pathLst>
            </a:custGeom>
            <a:solidFill>
              <a:srgbClr val="4E79B5">
                <a:alpha val="34000"/>
              </a:srgbClr>
            </a:solidFill>
            <a:ln w="9525">
              <a:solidFill>
                <a:srgbClr val="4E79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sdlegtxt:w34:1"/>
            <p:cNvSpPr txBox="1"/>
            <p:nvPr/>
          </p:nvSpPr>
          <p:spPr>
            <a:xfrm>
              <a:off x="8019288" y="3189224"/>
              <a:ext cx="3822191" cy="674623"/>
            </a:xfrm>
            <a:prstGeom prst="rect">
              <a:avLst/>
            </a:prstGeom>
            <a:noFill/>
          </p:spPr>
          <p:txBody>
            <a:bodyPr wrap="square" lIns="0" tIns="0" rIns="0" bIns="0" anchor="ctr">
              <a:spAutoFit/>
            </a:bodyPr>
            <a:lstStyle/>
            <a:p>
              <a:pPr algn="l"/>
              <a:r>
                <a:rPr sz="2000" b="0" i="0" u="none">
                  <a:solidFill>
                    <a:srgbClr val="0B2B4E"/>
                  </a:solidFill>
                  <a:latin typeface="Calibri"/>
                </a:rPr>
                <a:t>Producer surplus (PS) under monopoly</a:t>
              </a:r>
            </a:p>
          </p:txBody>
        </p:sp>
      </p:grpSp>
      <p:grpSp>
        <p:nvGrpSpPr>
          <p:cNvPr id="39" name="sdpair:w34:2"/>
          <p:cNvGrpSpPr/>
          <p:nvPr/>
        </p:nvGrpSpPr>
        <p:grpSpPr>
          <a:xfrm>
            <a:off x="7452360" y="4046728"/>
            <a:ext cx="4389119" cy="674623"/>
            <a:chOff x="7452360" y="4046728"/>
            <a:chExt cx="4389119" cy="674623"/>
          </a:xfrm>
        </p:grpSpPr>
        <p:sp>
          <p:nvSpPr>
            <p:cNvPr id="37" name="Rectangle 36"/>
            <p:cNvSpPr/>
            <p:nvPr/>
          </p:nvSpPr>
          <p:spPr>
            <a:xfrm>
              <a:off x="7452360" y="4201160"/>
              <a:ext cx="475488" cy="365760"/>
            </a:xfrm>
            <a:custGeom>
              <a:avLst/>
              <a:gdLst/>
              <a:ahLst/>
              <a:cxnLst/>
              <a:rect l="0" t="0" r="r" b="b"/>
              <a:pathLst>
                <a:path w="475488" h="365760">
                  <a:moveTo>
                    <a:pt x="0" y="0"/>
                  </a:moveTo>
                  <a:lnTo>
                    <a:pt x="0" y="365760"/>
                  </a:lnTo>
                  <a:lnTo>
                    <a:pt x="475488" y="228600"/>
                  </a:lnTo>
                  <a:close/>
                </a:path>
              </a:pathLst>
            </a:custGeom>
            <a:solidFill>
              <a:srgbClr val="E09F3E">
                <a:alpha val="30000"/>
              </a:srgbClr>
            </a:solidFill>
            <a:ln w="9525">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sdlegtxt:w34:2"/>
            <p:cNvSpPr txBox="1"/>
            <p:nvPr/>
          </p:nvSpPr>
          <p:spPr>
            <a:xfrm>
              <a:off x="8019288" y="4046728"/>
              <a:ext cx="3822191" cy="674623"/>
            </a:xfrm>
            <a:prstGeom prst="rect">
              <a:avLst/>
            </a:prstGeom>
            <a:noFill/>
          </p:spPr>
          <p:txBody>
            <a:bodyPr wrap="square" lIns="0" tIns="0" rIns="0" bIns="0" anchor="ctr">
              <a:spAutoFit/>
            </a:bodyPr>
            <a:lstStyle/>
            <a:p>
              <a:pPr algn="l"/>
              <a:r>
                <a:rPr sz="2000" b="0" i="0" u="none">
                  <a:solidFill>
                    <a:srgbClr val="0B2B4E"/>
                  </a:solidFill>
                  <a:latin typeface="Calibri"/>
                </a:rPr>
                <a:t>Deadweight loss (DWL) under monopoly</a:t>
              </a:r>
            </a:p>
          </p:txBody>
        </p:sp>
      </p:grpSp>
      <p:sp>
        <p:nvSpPr>
          <p:cNvPr id="40" name="Rectangle 3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5  ·  Monopoly and Monopolistic Competition</a:t>
            </a:r>
          </a:p>
        </p:txBody>
      </p:sp>
      <p:sp>
        <p:nvSpPr>
          <p:cNvPr id="43" name="TextBox 42"/>
          <p:cNvSpPr txBox="1"/>
          <p:nvPr/>
        </p:nvSpPr>
        <p:spPr>
          <a:xfrm>
            <a:off x="11475720" y="6583680"/>
            <a:ext cx="502920" cy="292608"/>
          </a:xfrm>
          <a:prstGeom prst="rect">
            <a:avLst/>
          </a:prstGeom>
          <a:noFill/>
        </p:spPr>
        <p:txBody>
          <a:bodyPr wrap="none" lIns="0" tIns="0" rIns="0" bIns="0">
            <a:spAutoFit/>
          </a:bodyPr>
          <a:lstStyle/>
          <a:p>
            <a:pPr algn="r"/>
            <a:fld id="{433A1C14-F9FE-5E90-BC8F-F32C6B24A3E5}" type="slidenum">
              <a:rPr lang="en-US" sz="1200" dirty="0">
                <a:solidFill>
                  <a:srgbClr val="555B66"/>
                </a:solidFill>
                <a:latin typeface="Calibri"/>
              </a:rPr>
              <a:t>38</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3"/>
                                        </p:tgtEl>
                                        <p:attrNameLst>
                                          <p:attrName>style.visibility</p:attrName>
                                        </p:attrNameLst>
                                      </p:cBhvr>
                                      <p:to>
                                        <p:strVal val="visible"/>
                                      </p:to>
                                    </p:set>
                                    <p:animEffect transition="in" filter="fade">
                                      <p:cBhvr>
                                        <p:cTn id="7" dur="500"/>
                                        <p:tgtEl>
                                          <p:spTgt spid="14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4"/>
                                        </p:tgtEl>
                                        <p:attrNameLst>
                                          <p:attrName>style.visibility</p:attrName>
                                        </p:attrNameLst>
                                      </p:cBhvr>
                                      <p:to>
                                        <p:strVal val="visible"/>
                                      </p:to>
                                    </p:set>
                                    <p:animEffect transition="in" filter="fade">
                                      <p:cBhvr>
                                        <p:cTn id="12" dur="500"/>
                                        <p:tgtEl>
                                          <p:spTgt spid="14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5"/>
                                        </p:tgtEl>
                                        <p:attrNameLst>
                                          <p:attrName>style.visibility</p:attrName>
                                        </p:attrNameLst>
                                      </p:cBhvr>
                                      <p:to>
                                        <p:strVal val="visible"/>
                                      </p:to>
                                    </p:set>
                                    <p:animEffect transition="in" filter="fade">
                                      <p:cBhvr>
                                        <p:cTn id="17" dur="500"/>
                                        <p:tgtEl>
                                          <p:spTgt spid="1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500"/>
                                        <p:tgtEl>
                                          <p:spTgt spid="23"/>
                                        </p:tgtEl>
                                      </p:cBhvr>
                                    </p:animEffect>
                                  </p:childTnLst>
                                </p:cTn>
                              </p:par>
                              <p:par>
                                <p:cTn id="23" presetID="10" presetClass="entr" presetSubtype="0" fill="hold"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500"/>
                                        <p:tgtEl>
                                          <p:spTgt spid="24"/>
                                        </p:tgtEl>
                                      </p:cBhvr>
                                    </p:animEffect>
                                  </p:childTnLst>
                                </p:cTn>
                              </p:par>
                              <p:par>
                                <p:cTn id="26" presetID="10" presetClass="entr" presetSubtype="0" fill="hold"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fade">
                                      <p:cBhvr>
                                        <p:cTn id="28" dur="500"/>
                                        <p:tgtEl>
                                          <p:spTgt spid="25"/>
                                        </p:tgtEl>
                                      </p:cBhvr>
                                    </p:animEffect>
                                  </p:childTnLst>
                                </p:cTn>
                              </p:par>
                              <p:par>
                                <p:cTn id="29" presetID="10" presetClass="entr" presetSubtype="0" fill="hold" nodeType="with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500"/>
                                        <p:tgtEl>
                                          <p:spTgt spid="26"/>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27"/>
                                        </p:tgtEl>
                                        <p:attrNameLst>
                                          <p:attrName>style.visibility</p:attrName>
                                        </p:attrNameLst>
                                      </p:cBhvr>
                                      <p:to>
                                        <p:strVal val="visible"/>
                                      </p:to>
                                    </p:set>
                                    <p:animEffect transition="in" filter="fade">
                                      <p:cBhvr>
                                        <p:cTn id="36" dur="500"/>
                                        <p:tgtEl>
                                          <p:spTgt spid="27"/>
                                        </p:tgtEl>
                                      </p:cBhvr>
                                    </p:animEffect>
                                  </p:childTnLst>
                                </p:cTn>
                              </p:par>
                              <p:par>
                                <p:cTn id="37" presetID="10" presetClass="entr" presetSubtype="0" fill="hold" nodeType="with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fade">
                                      <p:cBhvr>
                                        <p:cTn id="39" dur="500"/>
                                        <p:tgtEl>
                                          <p:spTgt spid="28"/>
                                        </p:tgtEl>
                                      </p:cBhvr>
                                    </p:animEffect>
                                  </p:childTnLst>
                                </p:cTn>
                              </p:par>
                              <p:par>
                                <p:cTn id="40" presetID="10" presetClass="entr" presetSubtype="0" fill="hold" nodeType="with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500"/>
                                        <p:tgtEl>
                                          <p:spTgt spid="29"/>
                                        </p:tgtEl>
                                      </p:cBhvr>
                                    </p:animEffect>
                                  </p:childTnLst>
                                </p:cTn>
                              </p:par>
                              <p:par>
                                <p:cTn id="43" presetID="10" presetClass="entr" presetSubtype="0" fill="hold" nodeType="with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fade">
                                      <p:cBhvr>
                                        <p:cTn id="45" dur="500"/>
                                        <p:tgtEl>
                                          <p:spTgt spid="30"/>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6"/>
                                        </p:tgtEl>
                                        <p:attrNameLst>
                                          <p:attrName>style.visibility</p:attrName>
                                        </p:attrNameLst>
                                      </p:cBhvr>
                                      <p:to>
                                        <p:strVal val="visible"/>
                                      </p:to>
                                    </p:set>
                                    <p:animEffect transition="in" filter="fade">
                                      <p:cBhvr>
                                        <p:cTn id="50" dur="500"/>
                                        <p:tgtEl>
                                          <p:spTgt spid="146"/>
                                        </p:tgtEl>
                                      </p:cBhvr>
                                    </p:animEffect>
                                  </p:childTnLst>
                                </p:cTn>
                              </p:par>
                              <p:par>
                                <p:cTn id="51" presetID="10" presetClass="entr" presetSubtype="0" fill="hold" nodeType="withEffect">
                                  <p:stCondLst>
                                    <p:cond delay="0"/>
                                  </p:stCondLst>
                                  <p:childTnLst>
                                    <p:set>
                                      <p:cBhvr>
                                        <p:cTn id="52" dur="1" fill="hold">
                                          <p:stCondLst>
                                            <p:cond delay="0"/>
                                          </p:stCondLst>
                                        </p:cTn>
                                        <p:tgtEl>
                                          <p:spTgt spid="33"/>
                                        </p:tgtEl>
                                        <p:attrNameLst>
                                          <p:attrName>style.visibility</p:attrName>
                                        </p:attrNameLst>
                                      </p:cBhvr>
                                      <p:to>
                                        <p:strVal val="visible"/>
                                      </p:to>
                                    </p:set>
                                    <p:animEffect transition="in" filter="fade">
                                      <p:cBhvr>
                                        <p:cTn id="53" dur="500"/>
                                        <p:tgtEl>
                                          <p:spTgt spid="33"/>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147"/>
                                        </p:tgtEl>
                                        <p:attrNameLst>
                                          <p:attrName>style.visibility</p:attrName>
                                        </p:attrNameLst>
                                      </p:cBhvr>
                                      <p:to>
                                        <p:strVal val="visible"/>
                                      </p:to>
                                    </p:set>
                                    <p:animEffect transition="in" filter="fade">
                                      <p:cBhvr>
                                        <p:cTn id="58" dur="500"/>
                                        <p:tgtEl>
                                          <p:spTgt spid="147"/>
                                        </p:tgtEl>
                                      </p:cBhvr>
                                    </p:animEffect>
                                  </p:childTnLst>
                                </p:cTn>
                              </p:par>
                              <p:par>
                                <p:cTn id="59" presetID="10" presetClass="entr" presetSubtype="0" fill="hold" nodeType="withEffect">
                                  <p:stCondLst>
                                    <p:cond delay="0"/>
                                  </p:stCondLst>
                                  <p:childTnLst>
                                    <p:set>
                                      <p:cBhvr>
                                        <p:cTn id="60" dur="1" fill="hold">
                                          <p:stCondLst>
                                            <p:cond delay="0"/>
                                          </p:stCondLst>
                                        </p:cTn>
                                        <p:tgtEl>
                                          <p:spTgt spid="36"/>
                                        </p:tgtEl>
                                        <p:attrNameLst>
                                          <p:attrName>style.visibility</p:attrName>
                                        </p:attrNameLst>
                                      </p:cBhvr>
                                      <p:to>
                                        <p:strVal val="visible"/>
                                      </p:to>
                                    </p:set>
                                    <p:animEffect transition="in" filter="fade">
                                      <p:cBhvr>
                                        <p:cTn id="61" dur="500"/>
                                        <p:tgtEl>
                                          <p:spTgt spid="36"/>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148"/>
                                        </p:tgtEl>
                                        <p:attrNameLst>
                                          <p:attrName>style.visibility</p:attrName>
                                        </p:attrNameLst>
                                      </p:cBhvr>
                                      <p:to>
                                        <p:strVal val="visible"/>
                                      </p:to>
                                    </p:set>
                                    <p:animEffect transition="in" filter="fade">
                                      <p:cBhvr>
                                        <p:cTn id="66" dur="500"/>
                                        <p:tgtEl>
                                          <p:spTgt spid="148"/>
                                        </p:tgtEl>
                                      </p:cBhvr>
                                    </p:animEffect>
                                  </p:childTnLst>
                                </p:cTn>
                              </p:par>
                              <p:par>
                                <p:cTn id="67" presetID="10" presetClass="entr" presetSubtype="0" fill="hold" nodeType="withEffect">
                                  <p:stCondLst>
                                    <p:cond delay="0"/>
                                  </p:stCondLst>
                                  <p:childTnLst>
                                    <p:set>
                                      <p:cBhvr>
                                        <p:cTn id="68" dur="1" fill="hold">
                                          <p:stCondLst>
                                            <p:cond delay="0"/>
                                          </p:stCondLst>
                                        </p:cTn>
                                        <p:tgtEl>
                                          <p:spTgt spid="39"/>
                                        </p:tgtEl>
                                        <p:attrNameLst>
                                          <p:attrName>style.visibility</p:attrName>
                                        </p:attrNameLst>
                                      </p:cBhvr>
                                      <p:to>
                                        <p:strVal val="visible"/>
                                      </p:to>
                                    </p:set>
                                    <p:animEffect transition="in" filter="fade">
                                      <p:cBhvr>
                                        <p:cTn id="69"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5 · Monopoly and Welfare Impact</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What If Costs Are Lower for One Large Producer?</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sdaxis:y"/>
          <p:cNvCxnSpPr/>
          <p:nvPr/>
        </p:nvCxnSpPr>
        <p:spPr>
          <a:xfrm flipV="1">
            <a:off x="1143000" y="1481328"/>
            <a:ext cx="0" cy="4370832"/>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8" name="sdaxis:x"/>
          <p:cNvCxnSpPr/>
          <p:nvPr/>
        </p:nvCxnSpPr>
        <p:spPr>
          <a:xfrm>
            <a:off x="1143000" y="5852160"/>
            <a:ext cx="587959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9" name="sdaxistitle:y"/>
          <p:cNvSpPr txBox="1"/>
          <p:nvPr/>
        </p:nvSpPr>
        <p:spPr>
          <a:xfrm>
            <a:off x="853821" y="1348740"/>
            <a:ext cx="216027" cy="265176"/>
          </a:xfrm>
          <a:prstGeom prst="rect">
            <a:avLst/>
          </a:prstGeom>
          <a:noFill/>
        </p:spPr>
        <p:txBody>
          <a:bodyPr wrap="square" lIns="0" tIns="0" rIns="0" bIns="0">
            <a:spAutoFit/>
          </a:bodyPr>
          <a:lstStyle/>
          <a:p>
            <a:pPr algn="l"/>
            <a:r>
              <a:rPr sz="2000" b="1" i="1" u="none">
                <a:solidFill>
                  <a:srgbClr val="0B2B4E"/>
                </a:solidFill>
                <a:latin typeface="Calibri"/>
              </a:rPr>
              <a:t>P</a:t>
            </a:r>
          </a:p>
        </p:txBody>
      </p:sp>
      <p:sp>
        <p:nvSpPr>
          <p:cNvPr id="10" name="sdaxistitle:x"/>
          <p:cNvSpPr txBox="1"/>
          <p:nvPr/>
        </p:nvSpPr>
        <p:spPr>
          <a:xfrm>
            <a:off x="6900291" y="5897880"/>
            <a:ext cx="244602" cy="265176"/>
          </a:xfrm>
          <a:prstGeom prst="rect">
            <a:avLst/>
          </a:prstGeom>
          <a:noFill/>
        </p:spPr>
        <p:txBody>
          <a:bodyPr wrap="square" lIns="0" tIns="0" rIns="0" bIns="0">
            <a:spAutoFit/>
          </a:bodyPr>
          <a:lstStyle/>
          <a:p>
            <a:pPr algn="l"/>
            <a:r>
              <a:rPr sz="2000" b="1" i="1" u="none">
                <a:solidFill>
                  <a:srgbClr val="0B2B4E"/>
                </a:solidFill>
                <a:latin typeface="Calibri"/>
              </a:rPr>
              <a:t>Q</a:t>
            </a:r>
          </a:p>
        </p:txBody>
      </p:sp>
      <p:sp>
        <p:nvSpPr>
          <p:cNvPr id="11" name="sdregion:84615bef"/>
          <p:cNvSpPr/>
          <p:nvPr/>
        </p:nvSpPr>
        <p:spPr>
          <a:xfrm>
            <a:off x="1143000" y="2028305"/>
            <a:ext cx="2645833" cy="1911927"/>
          </a:xfrm>
          <a:custGeom>
            <a:avLst/>
            <a:gdLst/>
            <a:ahLst/>
            <a:cxnLst/>
            <a:rect l="0" t="0" r="r" b="b"/>
            <a:pathLst>
              <a:path w="2645833" h="1911927">
                <a:moveTo>
                  <a:pt x="0" y="0"/>
                </a:moveTo>
                <a:lnTo>
                  <a:pt x="0" y="1911927"/>
                </a:lnTo>
                <a:lnTo>
                  <a:pt x="2645833" y="1911927"/>
                </a:lnTo>
                <a:close/>
              </a:path>
            </a:pathLst>
          </a:custGeom>
          <a:solidFill>
            <a:srgbClr val="C0201B">
              <a:alpha val="9000"/>
            </a:srgbClr>
          </a:solidFill>
          <a:ln w="12700">
            <a:solidFill>
              <a:srgbClr val="EBB5B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dregion:5839aa8c"/>
          <p:cNvSpPr/>
          <p:nvPr/>
        </p:nvSpPr>
        <p:spPr>
          <a:xfrm>
            <a:off x="1143000" y="3940232"/>
            <a:ext cx="2645833" cy="1147157"/>
          </a:xfrm>
          <a:custGeom>
            <a:avLst/>
            <a:gdLst/>
            <a:ahLst/>
            <a:cxnLst/>
            <a:rect l="0" t="0" r="r" b="b"/>
            <a:pathLst>
              <a:path w="2645833" h="1147157">
                <a:moveTo>
                  <a:pt x="0" y="0"/>
                </a:moveTo>
                <a:lnTo>
                  <a:pt x="2645833" y="0"/>
                </a:lnTo>
                <a:lnTo>
                  <a:pt x="0" y="1147157"/>
                </a:lnTo>
                <a:close/>
              </a:path>
            </a:pathLst>
          </a:custGeom>
          <a:solidFill>
            <a:srgbClr val="4E79B5">
              <a:alpha val="12000"/>
            </a:srgbClr>
          </a:solidFill>
          <a:ln w="12700">
            <a:solidFill>
              <a:srgbClr val="C4D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54" name="sdpair:sdreglab:70cabd0e"/>
          <p:cNvGrpSpPr/>
          <p:nvPr/>
        </p:nvGrpSpPr>
        <p:grpSpPr>
          <a:xfrm>
            <a:off x="1143000" y="2028305"/>
            <a:ext cx="2116666" cy="1529542"/>
            <a:chOff x="1143000" y="2028305"/>
            <a:chExt cx="2116666" cy="1529542"/>
          </a:xfrm>
        </p:grpSpPr>
        <p:sp>
          <p:nvSpPr>
            <p:cNvPr id="13" name="sdregion:70cabd0e"/>
            <p:cNvSpPr/>
            <p:nvPr/>
          </p:nvSpPr>
          <p:spPr>
            <a:xfrm>
              <a:off x="1143000" y="2028305"/>
              <a:ext cx="2116666" cy="1529542"/>
            </a:xfrm>
            <a:custGeom>
              <a:avLst/>
              <a:gdLst/>
              <a:ahLst/>
              <a:cxnLst/>
              <a:rect l="0" t="0" r="r" b="b"/>
              <a:pathLst>
                <a:path w="2116666" h="1529542">
                  <a:moveTo>
                    <a:pt x="0" y="0"/>
                  </a:moveTo>
                  <a:lnTo>
                    <a:pt x="0" y="1529542"/>
                  </a:lnTo>
                  <a:lnTo>
                    <a:pt x="2116666" y="1529542"/>
                  </a:lnTo>
                  <a:close/>
                </a:path>
              </a:pathLst>
            </a:custGeom>
            <a:solidFill>
              <a:srgbClr val="C0201B">
                <a:alpha val="26000"/>
              </a:srgbClr>
            </a:solidFill>
            <a:ln w="12700">
              <a:solidFill>
                <a:srgbClr val="C020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sdreglab:70cabd0e"/>
            <p:cNvSpPr txBox="1"/>
            <p:nvPr/>
          </p:nvSpPr>
          <p:spPr>
            <a:xfrm>
              <a:off x="1509500" y="2971571"/>
              <a:ext cx="367665" cy="377190"/>
            </a:xfrm>
            <a:prstGeom prst="rect">
              <a:avLst/>
            </a:prstGeom>
            <a:noFill/>
          </p:spPr>
          <p:txBody>
            <a:bodyPr wrap="square" lIns="0" tIns="0" rIns="0" bIns="0" anchor="ctr">
              <a:spAutoFit/>
            </a:bodyPr>
            <a:lstStyle/>
            <a:p>
              <a:pPr algn="ctr"/>
              <a:r>
                <a:rPr sz="2200" b="1" i="0" u="none">
                  <a:solidFill>
                    <a:srgbClr val="0B2B4E"/>
                  </a:solidFill>
                  <a:latin typeface="Calibri"/>
                </a:rPr>
                <a:t>CS</a:t>
              </a:r>
            </a:p>
          </p:txBody>
        </p:sp>
      </p:grpSp>
      <p:grpSp>
        <p:nvGrpSpPr>
          <p:cNvPr id="155" name="sdpair:sdreglab:5b135aa8"/>
          <p:cNvGrpSpPr/>
          <p:nvPr/>
        </p:nvGrpSpPr>
        <p:grpSpPr>
          <a:xfrm>
            <a:off x="1143000" y="3557847"/>
            <a:ext cx="2116666" cy="1835450"/>
            <a:chOff x="1143000" y="3557847"/>
            <a:chExt cx="2116666" cy="1835450"/>
          </a:xfrm>
        </p:grpSpPr>
        <p:sp>
          <p:nvSpPr>
            <p:cNvPr id="14" name="sdregion:5b135aa8"/>
            <p:cNvSpPr/>
            <p:nvPr/>
          </p:nvSpPr>
          <p:spPr>
            <a:xfrm>
              <a:off x="1143000" y="3557847"/>
              <a:ext cx="2116666" cy="1835450"/>
            </a:xfrm>
            <a:custGeom>
              <a:avLst/>
              <a:gdLst/>
              <a:ahLst/>
              <a:cxnLst/>
              <a:rect l="0" t="0" r="r" b="b"/>
              <a:pathLst>
                <a:path w="2116666" h="1835450">
                  <a:moveTo>
                    <a:pt x="0" y="0"/>
                  </a:moveTo>
                  <a:lnTo>
                    <a:pt x="2116666" y="0"/>
                  </a:lnTo>
                  <a:lnTo>
                    <a:pt x="2116666" y="1529542"/>
                  </a:lnTo>
                  <a:lnTo>
                    <a:pt x="0" y="1835450"/>
                  </a:lnTo>
                  <a:close/>
                </a:path>
              </a:pathLst>
            </a:custGeom>
            <a:solidFill>
              <a:srgbClr val="4E79B5">
                <a:alpha val="34000"/>
              </a:srgbClr>
            </a:solidFill>
            <a:ln w="12700">
              <a:solidFill>
                <a:srgbClr val="4E79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sdreglab:5b135aa8"/>
            <p:cNvSpPr txBox="1"/>
            <p:nvPr/>
          </p:nvSpPr>
          <p:spPr>
            <a:xfrm>
              <a:off x="2017500" y="4210500"/>
              <a:ext cx="367665" cy="377190"/>
            </a:xfrm>
            <a:prstGeom prst="rect">
              <a:avLst/>
            </a:prstGeom>
            <a:noFill/>
          </p:spPr>
          <p:txBody>
            <a:bodyPr wrap="square" lIns="0" tIns="0" rIns="0" bIns="0" anchor="ctr">
              <a:spAutoFit/>
            </a:bodyPr>
            <a:lstStyle/>
            <a:p>
              <a:pPr algn="ctr"/>
              <a:r>
                <a:rPr sz="2200" b="1" i="0" u="none">
                  <a:solidFill>
                    <a:srgbClr val="0B2B4E"/>
                  </a:solidFill>
                  <a:latin typeface="Calibri"/>
                </a:rPr>
                <a:t>PS</a:t>
              </a:r>
            </a:p>
          </p:txBody>
        </p:sp>
      </p:grpSp>
      <p:grpSp>
        <p:nvGrpSpPr>
          <p:cNvPr id="156" name="sdpair:sdreglab:fdb75b35"/>
          <p:cNvGrpSpPr/>
          <p:nvPr/>
        </p:nvGrpSpPr>
        <p:grpSpPr>
          <a:xfrm>
            <a:off x="3259666" y="3557847"/>
            <a:ext cx="1763889" cy="1529542"/>
            <a:chOff x="3259666" y="3557847"/>
            <a:chExt cx="1763889" cy="1529542"/>
          </a:xfrm>
        </p:grpSpPr>
        <p:sp>
          <p:nvSpPr>
            <p:cNvPr id="15" name="sdregion:fdb75b35"/>
            <p:cNvSpPr/>
            <p:nvPr/>
          </p:nvSpPr>
          <p:spPr>
            <a:xfrm>
              <a:off x="3259666" y="3557847"/>
              <a:ext cx="1763889" cy="1529542"/>
            </a:xfrm>
            <a:custGeom>
              <a:avLst/>
              <a:gdLst/>
              <a:ahLst/>
              <a:cxnLst/>
              <a:rect l="0" t="0" r="r" b="b"/>
              <a:pathLst>
                <a:path w="1763889" h="1529542">
                  <a:moveTo>
                    <a:pt x="0" y="0"/>
                  </a:moveTo>
                  <a:lnTo>
                    <a:pt x="0" y="1529542"/>
                  </a:lnTo>
                  <a:lnTo>
                    <a:pt x="1763889" y="1274618"/>
                  </a:lnTo>
                  <a:close/>
                </a:path>
              </a:pathLst>
            </a:custGeom>
            <a:solidFill>
              <a:srgbClr val="E09F3E">
                <a:alpha val="30000"/>
              </a:srgbClr>
            </a:solidFill>
            <a:ln w="12700">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sdreglab:fdb75b35"/>
            <p:cNvSpPr txBox="1"/>
            <p:nvPr/>
          </p:nvSpPr>
          <p:spPr>
            <a:xfrm>
              <a:off x="3578071" y="4338262"/>
              <a:ext cx="539115" cy="308610"/>
            </a:xfrm>
            <a:prstGeom prst="rect">
              <a:avLst/>
            </a:prstGeom>
            <a:noFill/>
          </p:spPr>
          <p:txBody>
            <a:bodyPr wrap="square" lIns="0" tIns="0" rIns="0" bIns="0" anchor="ctr">
              <a:spAutoFit/>
            </a:bodyPr>
            <a:lstStyle/>
            <a:p>
              <a:pPr algn="ctr"/>
              <a:r>
                <a:rPr sz="1800" b="1" i="0" u="none">
                  <a:solidFill>
                    <a:srgbClr val="0B2B4E"/>
                  </a:solidFill>
                  <a:latin typeface="Calibri"/>
                </a:rPr>
                <a:t>DWL</a:t>
              </a:r>
            </a:p>
          </p:txBody>
        </p:sp>
      </p:grpSp>
      <p:grpSp>
        <p:nvGrpSpPr>
          <p:cNvPr id="150" name="sdpair:curve:D"/>
          <p:cNvGrpSpPr/>
          <p:nvPr/>
        </p:nvGrpSpPr>
        <p:grpSpPr>
          <a:xfrm>
            <a:off x="1143000" y="2028305"/>
            <a:ext cx="5298143" cy="3823855"/>
            <a:chOff x="1143000" y="2028305"/>
            <a:chExt cx="5298143" cy="3823855"/>
          </a:xfrm>
        </p:grpSpPr>
        <p:cxnSp>
          <p:nvCxnSpPr>
            <p:cNvPr id="19" name="sdcurve:D"/>
            <p:cNvCxnSpPr/>
            <p:nvPr/>
          </p:nvCxnSpPr>
          <p:spPr>
            <a:xfrm>
              <a:off x="1143000" y="2028305"/>
              <a:ext cx="5291666" cy="3823855"/>
            </a:xfrm>
            <a:prstGeom prst="line">
              <a:avLst/>
            </a:prstGeom>
            <a:ln w="34925">
              <a:solidFill>
                <a:srgbClr val="C00000"/>
              </a:solidFill>
            </a:ln>
          </p:spPr>
          <p:style>
            <a:lnRef idx="2">
              <a:schemeClr val="accent1"/>
            </a:lnRef>
            <a:fillRef idx="0">
              <a:schemeClr val="accent1"/>
            </a:fillRef>
            <a:effectRef idx="1">
              <a:schemeClr val="accent1"/>
            </a:effectRef>
            <a:fontRef idx="minor">
              <a:schemeClr val="tx1"/>
            </a:fontRef>
          </p:style>
        </p:cxnSp>
        <p:sp>
          <p:nvSpPr>
            <p:cNvPr id="20" name="sdcurvelab:D"/>
            <p:cNvSpPr txBox="1"/>
            <p:nvPr/>
          </p:nvSpPr>
          <p:spPr>
            <a:xfrm>
              <a:off x="6196541" y="5113158"/>
              <a:ext cx="244602" cy="292608"/>
            </a:xfrm>
            <a:prstGeom prst="rect">
              <a:avLst/>
            </a:prstGeom>
            <a:noFill/>
          </p:spPr>
          <p:txBody>
            <a:bodyPr wrap="square" lIns="0" tIns="0" rIns="0" bIns="0">
              <a:spAutoFit/>
            </a:bodyPr>
            <a:lstStyle/>
            <a:p>
              <a:pPr algn="l"/>
              <a:r>
                <a:rPr sz="2200" b="1" i="1" u="none">
                  <a:solidFill>
                    <a:srgbClr val="C00000"/>
                  </a:solidFill>
                  <a:latin typeface="Calibri"/>
                </a:rPr>
                <a:t>D</a:t>
              </a:r>
            </a:p>
          </p:txBody>
        </p:sp>
      </p:grpSp>
      <p:grpSp>
        <p:nvGrpSpPr>
          <p:cNvPr id="151" name="sdpair:curve:MC1"/>
          <p:cNvGrpSpPr/>
          <p:nvPr/>
        </p:nvGrpSpPr>
        <p:grpSpPr>
          <a:xfrm>
            <a:off x="1143000" y="2532056"/>
            <a:ext cx="6064377" cy="2555333"/>
            <a:chOff x="1143000" y="2532056"/>
            <a:chExt cx="6064377" cy="2555333"/>
          </a:xfrm>
        </p:grpSpPr>
        <p:cxnSp>
          <p:nvCxnSpPr>
            <p:cNvPr id="21" name="sdcurve:MC1"/>
            <p:cNvCxnSpPr/>
            <p:nvPr/>
          </p:nvCxnSpPr>
          <p:spPr>
            <a:xfrm flipV="1">
              <a:off x="1143000" y="2793076"/>
              <a:ext cx="5291666" cy="2294313"/>
            </a:xfrm>
            <a:prstGeom prst="line">
              <a:avLst/>
            </a:prstGeom>
            <a:ln w="28575">
              <a:solidFill>
                <a:srgbClr val="B0B5BC"/>
              </a:solidFill>
            </a:ln>
          </p:spPr>
          <p:style>
            <a:lnRef idx="2">
              <a:schemeClr val="accent1"/>
            </a:lnRef>
            <a:fillRef idx="0">
              <a:schemeClr val="accent1"/>
            </a:fillRef>
            <a:effectRef idx="1">
              <a:schemeClr val="accent1"/>
            </a:effectRef>
            <a:fontRef idx="minor">
              <a:schemeClr val="tx1"/>
            </a:fontRef>
          </p:style>
        </p:cxnSp>
        <p:sp>
          <p:nvSpPr>
            <p:cNvPr id="22" name="sdcurvelab:MC1"/>
            <p:cNvSpPr txBox="1"/>
            <p:nvPr/>
          </p:nvSpPr>
          <p:spPr>
            <a:xfrm>
              <a:off x="6477000" y="2532056"/>
              <a:ext cx="730377" cy="292608"/>
            </a:xfrm>
            <a:prstGeom prst="rect">
              <a:avLst/>
            </a:prstGeom>
            <a:noFill/>
          </p:spPr>
          <p:txBody>
            <a:bodyPr wrap="square" lIns="0" tIns="0" rIns="0" bIns="0">
              <a:spAutoFit/>
            </a:bodyPr>
            <a:lstStyle/>
            <a:p>
              <a:pPr algn="l"/>
              <a:r>
                <a:rPr sz="2200" b="1" i="1" u="none">
                  <a:solidFill>
                    <a:srgbClr val="B0B5BC"/>
                  </a:solidFill>
                  <a:latin typeface="Calibri"/>
                </a:rPr>
                <a:t>MC</a:t>
              </a:r>
              <a:r>
                <a:rPr sz="2200" b="1" i="1" u="none" baseline="-25000">
                  <a:solidFill>
                    <a:srgbClr val="B0B5BC"/>
                  </a:solidFill>
                  <a:latin typeface="Calibri"/>
                </a:rPr>
                <a:t>1</a:t>
              </a:r>
            </a:p>
          </p:txBody>
        </p:sp>
      </p:grpSp>
      <p:grpSp>
        <p:nvGrpSpPr>
          <p:cNvPr id="152" name="sdpair:curve:MC2"/>
          <p:cNvGrpSpPr/>
          <p:nvPr/>
        </p:nvGrpSpPr>
        <p:grpSpPr>
          <a:xfrm>
            <a:off x="1143000" y="4367506"/>
            <a:ext cx="6064377" cy="1025791"/>
            <a:chOff x="1143000" y="4367506"/>
            <a:chExt cx="6064377" cy="1025791"/>
          </a:xfrm>
        </p:grpSpPr>
        <p:cxnSp>
          <p:nvCxnSpPr>
            <p:cNvPr id="23" name="sdcurve:MC2"/>
            <p:cNvCxnSpPr/>
            <p:nvPr/>
          </p:nvCxnSpPr>
          <p:spPr>
            <a:xfrm flipV="1">
              <a:off x="1143000" y="4628526"/>
              <a:ext cx="5291666" cy="764771"/>
            </a:xfrm>
            <a:prstGeom prst="line">
              <a:avLst/>
            </a:prstGeom>
            <a:ln w="34925">
              <a:solidFill>
                <a:srgbClr val="0B2B4E"/>
              </a:solidFill>
            </a:ln>
          </p:spPr>
          <p:style>
            <a:lnRef idx="2">
              <a:schemeClr val="accent1"/>
            </a:lnRef>
            <a:fillRef idx="0">
              <a:schemeClr val="accent1"/>
            </a:fillRef>
            <a:effectRef idx="1">
              <a:schemeClr val="accent1"/>
            </a:effectRef>
            <a:fontRef idx="minor">
              <a:schemeClr val="tx1"/>
            </a:fontRef>
          </p:style>
        </p:cxnSp>
        <p:sp>
          <p:nvSpPr>
            <p:cNvPr id="24" name="sdcurvelab:MC2"/>
            <p:cNvSpPr txBox="1"/>
            <p:nvPr/>
          </p:nvSpPr>
          <p:spPr>
            <a:xfrm>
              <a:off x="6477000" y="4367506"/>
              <a:ext cx="730377" cy="292608"/>
            </a:xfrm>
            <a:prstGeom prst="rect">
              <a:avLst/>
            </a:prstGeom>
            <a:noFill/>
          </p:spPr>
          <p:txBody>
            <a:bodyPr wrap="square" lIns="0" tIns="0" rIns="0" bIns="0">
              <a:spAutoFit/>
            </a:bodyPr>
            <a:lstStyle/>
            <a:p>
              <a:pPr algn="l"/>
              <a:r>
                <a:rPr sz="2200" b="1" i="1" u="none">
                  <a:solidFill>
                    <a:srgbClr val="0B2B4E"/>
                  </a:solidFill>
                  <a:latin typeface="Calibri"/>
                </a:rPr>
                <a:t>MC</a:t>
              </a:r>
              <a:r>
                <a:rPr sz="2200" b="1" i="1" u="none" baseline="-25000">
                  <a:solidFill>
                    <a:srgbClr val="0B2B4E"/>
                  </a:solidFill>
                  <a:latin typeface="Calibri"/>
                </a:rPr>
                <a:t>2</a:t>
              </a:r>
            </a:p>
          </p:txBody>
        </p:sp>
      </p:grpSp>
      <p:cxnSp>
        <p:nvCxnSpPr>
          <p:cNvPr id="25" name="ShiftArrow"/>
          <p:cNvCxnSpPr/>
          <p:nvPr/>
        </p:nvCxnSpPr>
        <p:spPr>
          <a:xfrm>
            <a:off x="5905500" y="3118104"/>
            <a:ext cx="0" cy="1491303"/>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grpSp>
        <p:nvGrpSpPr>
          <p:cNvPr id="153" name="sdpair:curve:MR"/>
          <p:cNvGrpSpPr/>
          <p:nvPr/>
        </p:nvGrpSpPr>
        <p:grpSpPr>
          <a:xfrm>
            <a:off x="1143000" y="2028305"/>
            <a:ext cx="3198409" cy="3823855"/>
            <a:chOff x="1143000" y="2028305"/>
            <a:chExt cx="3198409" cy="3823855"/>
          </a:xfrm>
        </p:grpSpPr>
        <p:cxnSp>
          <p:nvCxnSpPr>
            <p:cNvPr id="26" name="sdcurve:MR"/>
            <p:cNvCxnSpPr/>
            <p:nvPr/>
          </p:nvCxnSpPr>
          <p:spPr>
            <a:xfrm>
              <a:off x="1143000" y="2028305"/>
              <a:ext cx="2645833" cy="3823855"/>
            </a:xfrm>
            <a:prstGeom prst="line">
              <a:avLst/>
            </a:prstGeom>
            <a:ln w="28575">
              <a:solidFill>
                <a:srgbClr val="C00000"/>
              </a:solidFill>
              <a:prstDash val="dash"/>
            </a:ln>
          </p:spPr>
          <p:style>
            <a:lnRef idx="2">
              <a:schemeClr val="accent1"/>
            </a:lnRef>
            <a:fillRef idx="0">
              <a:schemeClr val="accent1"/>
            </a:fillRef>
            <a:effectRef idx="1">
              <a:schemeClr val="accent1"/>
            </a:effectRef>
            <a:fontRef idx="minor">
              <a:schemeClr val="tx1"/>
            </a:fontRef>
          </p:style>
        </p:cxnSp>
        <p:sp>
          <p:nvSpPr>
            <p:cNvPr id="27" name="sdcurvelab:MR"/>
            <p:cNvSpPr txBox="1"/>
            <p:nvPr/>
          </p:nvSpPr>
          <p:spPr>
            <a:xfrm>
              <a:off x="3868208" y="5468777"/>
              <a:ext cx="473201" cy="292608"/>
            </a:xfrm>
            <a:prstGeom prst="rect">
              <a:avLst/>
            </a:prstGeom>
            <a:noFill/>
          </p:spPr>
          <p:txBody>
            <a:bodyPr wrap="square" lIns="0" tIns="0" rIns="0" bIns="0">
              <a:spAutoFit/>
            </a:bodyPr>
            <a:lstStyle/>
            <a:p>
              <a:pPr algn="l"/>
              <a:r>
                <a:rPr sz="2200" b="1" i="1" u="none">
                  <a:solidFill>
                    <a:srgbClr val="C00000"/>
                  </a:solidFill>
                  <a:latin typeface="Calibri"/>
                </a:rPr>
                <a:t>MR</a:t>
              </a:r>
            </a:p>
          </p:txBody>
        </p:sp>
      </p:grpSp>
      <p:cxnSp>
        <p:nvCxnSpPr>
          <p:cNvPr id="28" name="gCh"/>
          <p:cNvCxnSpPr/>
          <p:nvPr/>
        </p:nvCxnSpPr>
        <p:spPr>
          <a:xfrm>
            <a:off x="1143000" y="3940232"/>
            <a:ext cx="2645833" cy="0"/>
          </a:xfrm>
          <a:prstGeom prst="line">
            <a:avLst/>
          </a:prstGeom>
          <a:ln w="15875">
            <a:solidFill>
              <a:srgbClr val="B0B5BC"/>
            </a:solidFill>
            <a:prstDash val="dash"/>
          </a:ln>
        </p:spPr>
        <p:style>
          <a:lnRef idx="2">
            <a:schemeClr val="accent1"/>
          </a:lnRef>
          <a:fillRef idx="0">
            <a:schemeClr val="accent1"/>
          </a:fillRef>
          <a:effectRef idx="1">
            <a:schemeClr val="accent1"/>
          </a:effectRef>
          <a:fontRef idx="minor">
            <a:schemeClr val="tx1"/>
          </a:fontRef>
        </p:style>
      </p:cxnSp>
      <p:sp>
        <p:nvSpPr>
          <p:cNvPr id="29" name="tPC"/>
          <p:cNvSpPr txBox="1"/>
          <p:nvPr/>
        </p:nvSpPr>
        <p:spPr>
          <a:xfrm>
            <a:off x="129921" y="3803072"/>
            <a:ext cx="939926" cy="274320"/>
          </a:xfrm>
          <a:prstGeom prst="rect">
            <a:avLst/>
          </a:prstGeom>
          <a:noFill/>
        </p:spPr>
        <p:txBody>
          <a:bodyPr wrap="square" lIns="0" tIns="0" rIns="0" bIns="0">
            <a:spAutoFit/>
          </a:bodyPr>
          <a:lstStyle/>
          <a:p>
            <a:pPr algn="r"/>
            <a:r>
              <a:rPr sz="2000" b="1" i="1" u="none">
                <a:solidFill>
                  <a:srgbClr val="B0B5BC"/>
                </a:solidFill>
                <a:latin typeface="Calibri"/>
              </a:rPr>
              <a:t>P</a:t>
            </a:r>
            <a:r>
              <a:rPr sz="2000" b="1" i="1" u="none" baseline="-25000">
                <a:solidFill>
                  <a:srgbClr val="B0B5BC"/>
                </a:solidFill>
                <a:latin typeface="Calibri"/>
              </a:rPr>
              <a:t>Comp</a:t>
            </a:r>
          </a:p>
        </p:txBody>
      </p:sp>
      <p:cxnSp>
        <p:nvCxnSpPr>
          <p:cNvPr id="30" name="gMh"/>
          <p:cNvCxnSpPr/>
          <p:nvPr/>
        </p:nvCxnSpPr>
        <p:spPr>
          <a:xfrm>
            <a:off x="1143000" y="3557847"/>
            <a:ext cx="2116666"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31" name="gMv"/>
          <p:cNvCxnSpPr/>
          <p:nvPr/>
        </p:nvCxnSpPr>
        <p:spPr>
          <a:xfrm>
            <a:off x="3259666" y="3557847"/>
            <a:ext cx="0" cy="2294313"/>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32" name="tPM"/>
          <p:cNvSpPr txBox="1"/>
          <p:nvPr/>
        </p:nvSpPr>
        <p:spPr>
          <a:xfrm>
            <a:off x="510921" y="3420687"/>
            <a:ext cx="558927" cy="274320"/>
          </a:xfrm>
          <a:prstGeom prst="rect">
            <a:avLst/>
          </a:prstGeom>
          <a:noFill/>
        </p:spPr>
        <p:txBody>
          <a:bodyPr wrap="square" lIns="0" tIns="0" rIns="0" bIns="0">
            <a:spAutoFit/>
          </a:bodyPr>
          <a:lstStyle/>
          <a:p>
            <a:pPr algn="r"/>
            <a:r>
              <a:rPr sz="2000" b="1" i="1" u="none">
                <a:solidFill>
                  <a:srgbClr val="0B2B4E"/>
                </a:solidFill>
                <a:latin typeface="Calibri"/>
              </a:rPr>
              <a:t>P</a:t>
            </a:r>
            <a:r>
              <a:rPr sz="2000" b="1" i="1" u="none" baseline="-25000">
                <a:solidFill>
                  <a:srgbClr val="0B2B4E"/>
                </a:solidFill>
                <a:latin typeface="Calibri"/>
              </a:rPr>
              <a:t>M</a:t>
            </a:r>
          </a:p>
        </p:txBody>
      </p:sp>
      <p:sp>
        <p:nvSpPr>
          <p:cNvPr id="33" name="tQM"/>
          <p:cNvSpPr txBox="1"/>
          <p:nvPr/>
        </p:nvSpPr>
        <p:spPr>
          <a:xfrm>
            <a:off x="2961153" y="5907024"/>
            <a:ext cx="597026" cy="274320"/>
          </a:xfrm>
          <a:prstGeom prst="rect">
            <a:avLst/>
          </a:prstGeom>
          <a:noFill/>
        </p:spPr>
        <p:txBody>
          <a:bodyPr wrap="square" lIns="0" tIns="0" rIns="0" bIns="0">
            <a:spAutoFit/>
          </a:bodyPr>
          <a:lstStyle/>
          <a:p>
            <a:pPr algn="ctr"/>
            <a:r>
              <a:rPr sz="2000" b="1" i="1" u="none">
                <a:solidFill>
                  <a:srgbClr val="0B2B4E"/>
                </a:solidFill>
                <a:latin typeface="Calibri"/>
              </a:rPr>
              <a:t>Q</a:t>
            </a:r>
            <a:r>
              <a:rPr sz="2000" b="1" i="1" u="none" baseline="-25000">
                <a:solidFill>
                  <a:srgbClr val="0B2B4E"/>
                </a:solidFill>
                <a:latin typeface="Calibri"/>
              </a:rPr>
              <a:t>M</a:t>
            </a:r>
          </a:p>
        </p:txBody>
      </p:sp>
      <p:grpSp>
        <p:nvGrpSpPr>
          <p:cNvPr id="37" name="sdpair:w39:0"/>
          <p:cNvGrpSpPr/>
          <p:nvPr/>
        </p:nvGrpSpPr>
        <p:grpSpPr>
          <a:xfrm>
            <a:off x="7452360" y="1828800"/>
            <a:ext cx="4389119" cy="674623"/>
            <a:chOff x="7452360" y="1828800"/>
            <a:chExt cx="4389119" cy="674623"/>
          </a:xfrm>
        </p:grpSpPr>
        <p:sp>
          <p:nvSpPr>
            <p:cNvPr id="34" name="Rectangle 33"/>
            <p:cNvSpPr/>
            <p:nvPr/>
          </p:nvSpPr>
          <p:spPr>
            <a:xfrm>
              <a:off x="7452360" y="1983231"/>
              <a:ext cx="475488" cy="228601"/>
            </a:xfrm>
            <a:custGeom>
              <a:avLst/>
              <a:gdLst/>
              <a:ahLst/>
              <a:cxnLst/>
              <a:rect l="0" t="0" r="r" b="b"/>
              <a:pathLst>
                <a:path w="475488" h="228601">
                  <a:moveTo>
                    <a:pt x="0" y="0"/>
                  </a:moveTo>
                  <a:lnTo>
                    <a:pt x="0" y="228601"/>
                  </a:lnTo>
                  <a:lnTo>
                    <a:pt x="475488" y="228601"/>
                  </a:lnTo>
                  <a:close/>
                </a:path>
              </a:pathLst>
            </a:custGeom>
            <a:solidFill>
              <a:srgbClr val="C0201B">
                <a:alpha val="9000"/>
              </a:srgbClr>
            </a:solidFill>
            <a:ln w="9525">
              <a:solidFill>
                <a:srgbClr val="C020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7452360" y="2211832"/>
              <a:ext cx="475488" cy="137159"/>
            </a:xfrm>
            <a:custGeom>
              <a:avLst/>
              <a:gdLst/>
              <a:ahLst/>
              <a:cxnLst/>
              <a:rect l="0" t="0" r="r" b="b"/>
              <a:pathLst>
                <a:path w="475488" h="137159">
                  <a:moveTo>
                    <a:pt x="0" y="0"/>
                  </a:moveTo>
                  <a:lnTo>
                    <a:pt x="475488" y="0"/>
                  </a:lnTo>
                  <a:lnTo>
                    <a:pt x="0" y="137159"/>
                  </a:lnTo>
                  <a:close/>
                </a:path>
              </a:pathLst>
            </a:custGeom>
            <a:solidFill>
              <a:srgbClr val="4E79B5">
                <a:alpha val="12000"/>
              </a:srgbClr>
            </a:solidFill>
            <a:ln w="9525">
              <a:solidFill>
                <a:srgbClr val="4E79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sdlegtxt:w39:0"/>
            <p:cNvSpPr txBox="1"/>
            <p:nvPr/>
          </p:nvSpPr>
          <p:spPr>
            <a:xfrm>
              <a:off x="8019288" y="1828800"/>
              <a:ext cx="3822191" cy="674623"/>
            </a:xfrm>
            <a:prstGeom prst="rect">
              <a:avLst/>
            </a:prstGeom>
            <a:noFill/>
          </p:spPr>
          <p:txBody>
            <a:bodyPr wrap="square" lIns="0" tIns="0" rIns="0" bIns="0" anchor="ctr">
              <a:spAutoFit/>
            </a:bodyPr>
            <a:lstStyle/>
            <a:p>
              <a:pPr algn="l"/>
              <a:r>
                <a:rPr sz="2000" b="0" i="0" u="none">
                  <a:solidFill>
                    <a:srgbClr val="0B2B4E"/>
                  </a:solidFill>
                  <a:latin typeface="Calibri"/>
                </a:rPr>
                <a:t>CS and PS under competition (original MC)</a:t>
              </a:r>
            </a:p>
          </p:txBody>
        </p:sp>
      </p:grpSp>
      <p:grpSp>
        <p:nvGrpSpPr>
          <p:cNvPr id="40" name="sdpair:w39:1"/>
          <p:cNvGrpSpPr/>
          <p:nvPr/>
        </p:nvGrpSpPr>
        <p:grpSpPr>
          <a:xfrm>
            <a:off x="7452360" y="2686304"/>
            <a:ext cx="4389119" cy="674623"/>
            <a:chOff x="7452360" y="2686304"/>
            <a:chExt cx="4389119" cy="674623"/>
          </a:xfrm>
        </p:grpSpPr>
        <p:sp>
          <p:nvSpPr>
            <p:cNvPr id="38" name="Rectangle 37"/>
            <p:cNvSpPr/>
            <p:nvPr/>
          </p:nvSpPr>
          <p:spPr>
            <a:xfrm>
              <a:off x="7452360" y="2840736"/>
              <a:ext cx="475488" cy="365759"/>
            </a:xfrm>
            <a:custGeom>
              <a:avLst/>
              <a:gdLst/>
              <a:ahLst/>
              <a:cxnLst/>
              <a:rect l="0" t="0" r="r" b="b"/>
              <a:pathLst>
                <a:path w="475488" h="365759">
                  <a:moveTo>
                    <a:pt x="0" y="0"/>
                  </a:moveTo>
                  <a:lnTo>
                    <a:pt x="0" y="365759"/>
                  </a:lnTo>
                  <a:lnTo>
                    <a:pt x="475488" y="365759"/>
                  </a:lnTo>
                  <a:close/>
                </a:path>
              </a:pathLst>
            </a:custGeom>
            <a:solidFill>
              <a:srgbClr val="C0201B">
                <a:alpha val="26000"/>
              </a:srgbClr>
            </a:solidFill>
            <a:ln w="9525">
              <a:solidFill>
                <a:srgbClr val="C020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sdlegtxt:w39:1"/>
            <p:cNvSpPr txBox="1"/>
            <p:nvPr/>
          </p:nvSpPr>
          <p:spPr>
            <a:xfrm>
              <a:off x="8019288" y="2686304"/>
              <a:ext cx="3822191" cy="674623"/>
            </a:xfrm>
            <a:prstGeom prst="rect">
              <a:avLst/>
            </a:prstGeom>
            <a:noFill/>
          </p:spPr>
          <p:txBody>
            <a:bodyPr wrap="square" lIns="0" tIns="0" rIns="0" bIns="0" anchor="ctr">
              <a:spAutoFit/>
            </a:bodyPr>
            <a:lstStyle/>
            <a:p>
              <a:pPr algn="l"/>
              <a:r>
                <a:rPr sz="2000" b="0" i="0" u="none">
                  <a:solidFill>
                    <a:srgbClr val="0B2B4E"/>
                  </a:solidFill>
                  <a:latin typeface="Calibri"/>
                </a:rPr>
                <a:t>Consumer surplus (CS) under monopoly with lower MC</a:t>
              </a:r>
            </a:p>
          </p:txBody>
        </p:sp>
      </p:grpSp>
      <p:grpSp>
        <p:nvGrpSpPr>
          <p:cNvPr id="43" name="sdpair:w39:2"/>
          <p:cNvGrpSpPr/>
          <p:nvPr/>
        </p:nvGrpSpPr>
        <p:grpSpPr>
          <a:xfrm>
            <a:off x="7452360" y="3543808"/>
            <a:ext cx="4389119" cy="674623"/>
            <a:chOff x="7452360" y="3543808"/>
            <a:chExt cx="4389119" cy="674623"/>
          </a:xfrm>
        </p:grpSpPr>
        <p:sp>
          <p:nvSpPr>
            <p:cNvPr id="41" name="Rectangle 40"/>
            <p:cNvSpPr/>
            <p:nvPr/>
          </p:nvSpPr>
          <p:spPr>
            <a:xfrm>
              <a:off x="7452360" y="3698240"/>
              <a:ext cx="475488" cy="365760"/>
            </a:xfrm>
            <a:custGeom>
              <a:avLst/>
              <a:gdLst/>
              <a:ahLst/>
              <a:cxnLst/>
              <a:rect l="0" t="0" r="r" b="b"/>
              <a:pathLst>
                <a:path w="475488" h="365760">
                  <a:moveTo>
                    <a:pt x="0" y="0"/>
                  </a:moveTo>
                  <a:lnTo>
                    <a:pt x="475488" y="0"/>
                  </a:lnTo>
                  <a:lnTo>
                    <a:pt x="475488" y="304799"/>
                  </a:lnTo>
                  <a:lnTo>
                    <a:pt x="0" y="365760"/>
                  </a:lnTo>
                  <a:close/>
                </a:path>
              </a:pathLst>
            </a:custGeom>
            <a:solidFill>
              <a:srgbClr val="4E79B5">
                <a:alpha val="34000"/>
              </a:srgbClr>
            </a:solidFill>
            <a:ln w="9525">
              <a:solidFill>
                <a:srgbClr val="4E79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sdlegtxt:w39:2"/>
            <p:cNvSpPr txBox="1"/>
            <p:nvPr/>
          </p:nvSpPr>
          <p:spPr>
            <a:xfrm>
              <a:off x="8019288" y="3543808"/>
              <a:ext cx="3822191" cy="674623"/>
            </a:xfrm>
            <a:prstGeom prst="rect">
              <a:avLst/>
            </a:prstGeom>
            <a:noFill/>
          </p:spPr>
          <p:txBody>
            <a:bodyPr wrap="square" lIns="0" tIns="0" rIns="0" bIns="0" anchor="ctr">
              <a:spAutoFit/>
            </a:bodyPr>
            <a:lstStyle/>
            <a:p>
              <a:pPr algn="l"/>
              <a:r>
                <a:rPr sz="2000" b="0" i="0" u="none">
                  <a:solidFill>
                    <a:srgbClr val="0B2B4E"/>
                  </a:solidFill>
                  <a:latin typeface="Calibri"/>
                </a:rPr>
                <a:t>Producer surplus (PS) under monopoly with lower MC</a:t>
              </a:r>
            </a:p>
          </p:txBody>
        </p:sp>
      </p:grpSp>
      <p:grpSp>
        <p:nvGrpSpPr>
          <p:cNvPr id="46" name="sdpair:w39:3"/>
          <p:cNvGrpSpPr/>
          <p:nvPr/>
        </p:nvGrpSpPr>
        <p:grpSpPr>
          <a:xfrm>
            <a:off x="7452360" y="4401312"/>
            <a:ext cx="4389119" cy="674623"/>
            <a:chOff x="7452360" y="4401312"/>
            <a:chExt cx="4389119" cy="674623"/>
          </a:xfrm>
        </p:grpSpPr>
        <p:sp>
          <p:nvSpPr>
            <p:cNvPr id="44" name="Rectangle 43"/>
            <p:cNvSpPr/>
            <p:nvPr/>
          </p:nvSpPr>
          <p:spPr>
            <a:xfrm>
              <a:off x="7452360" y="4555744"/>
              <a:ext cx="475488" cy="365760"/>
            </a:xfrm>
            <a:custGeom>
              <a:avLst/>
              <a:gdLst/>
              <a:ahLst/>
              <a:cxnLst/>
              <a:rect l="0" t="0" r="r" b="b"/>
              <a:pathLst>
                <a:path w="475488" h="365760">
                  <a:moveTo>
                    <a:pt x="0" y="0"/>
                  </a:moveTo>
                  <a:lnTo>
                    <a:pt x="0" y="365760"/>
                  </a:lnTo>
                  <a:lnTo>
                    <a:pt x="475488" y="304800"/>
                  </a:lnTo>
                  <a:close/>
                </a:path>
              </a:pathLst>
            </a:custGeom>
            <a:solidFill>
              <a:srgbClr val="E09F3E">
                <a:alpha val="30000"/>
              </a:srgbClr>
            </a:solidFill>
            <a:ln w="9525">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sdlegtxt:w39:3"/>
            <p:cNvSpPr txBox="1"/>
            <p:nvPr/>
          </p:nvSpPr>
          <p:spPr>
            <a:xfrm>
              <a:off x="8019288" y="4401312"/>
              <a:ext cx="3822191" cy="674623"/>
            </a:xfrm>
            <a:prstGeom prst="rect">
              <a:avLst/>
            </a:prstGeom>
            <a:noFill/>
          </p:spPr>
          <p:txBody>
            <a:bodyPr wrap="square" lIns="0" tIns="0" rIns="0" bIns="0" anchor="ctr">
              <a:spAutoFit/>
            </a:bodyPr>
            <a:lstStyle/>
            <a:p>
              <a:pPr algn="l"/>
              <a:r>
                <a:rPr sz="2000" b="0" i="0" u="none" dirty="0">
                  <a:solidFill>
                    <a:srgbClr val="0B2B4E"/>
                  </a:solidFill>
                  <a:latin typeface="Calibri"/>
                </a:rPr>
                <a:t>Deadweight loss (DWL) under monopoly with </a:t>
              </a:r>
              <a:r>
                <a:rPr lang="en-US" sz="2000" b="0" i="0" u="none" dirty="0">
                  <a:solidFill>
                    <a:srgbClr val="0B2B4E"/>
                  </a:solidFill>
                  <a:latin typeface="Calibri"/>
                </a:rPr>
                <a:t>lower</a:t>
              </a:r>
              <a:r>
                <a:rPr sz="2000" b="0" i="0" u="none" dirty="0">
                  <a:solidFill>
                    <a:srgbClr val="0B2B4E"/>
                  </a:solidFill>
                  <a:latin typeface="Calibri"/>
                </a:rPr>
                <a:t> MC</a:t>
              </a:r>
            </a:p>
          </p:txBody>
        </p:sp>
      </p:grpSp>
      <p:sp>
        <p:nvSpPr>
          <p:cNvPr id="47" name="Rectangle 4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5  ·  Monopoly and Monopolistic Competition</a:t>
            </a:r>
          </a:p>
        </p:txBody>
      </p:sp>
      <p:sp>
        <p:nvSpPr>
          <p:cNvPr id="50" name="TextBox 49"/>
          <p:cNvSpPr txBox="1"/>
          <p:nvPr/>
        </p:nvSpPr>
        <p:spPr>
          <a:xfrm>
            <a:off x="11475720" y="6583680"/>
            <a:ext cx="502920" cy="292608"/>
          </a:xfrm>
          <a:prstGeom prst="rect">
            <a:avLst/>
          </a:prstGeom>
          <a:noFill/>
        </p:spPr>
        <p:txBody>
          <a:bodyPr wrap="none" lIns="0" tIns="0" rIns="0" bIns="0">
            <a:spAutoFit/>
          </a:bodyPr>
          <a:lstStyle/>
          <a:p>
            <a:pPr algn="r"/>
            <a:fld id="{00273E6D-AA26-540D-9B06-B4F98BEF93DB}" type="slidenum">
              <a:rPr lang="en-US" sz="1200" dirty="0">
                <a:solidFill>
                  <a:srgbClr val="555B66"/>
                </a:solidFill>
                <a:latin typeface="Calibri"/>
              </a:rPr>
              <a:t>39</a:t>
            </a:fld>
            <a:endParaRPr lang="en-US" sz="1200" dirty="0">
              <a:solidFill>
                <a:srgbClr val="555B66"/>
              </a:solidFill>
              <a:latin typeface="Calibri"/>
            </a:endParaRPr>
          </a:p>
        </p:txBody>
      </p:sp>
      <p:sp>
        <p:nvSpPr>
          <p:cNvPr id="51" name="MergerTakeaway">
            <a:extLst>
              <a:ext uri="{FF2B5EF4-FFF2-40B4-BE49-F238E27FC236}">
                <a16:creationId xmlns:a16="http://schemas.microsoft.com/office/drawing/2014/main" id="{1D515D9E-37A2-8DD6-57D6-92A4C4D6A9D9}"/>
              </a:ext>
            </a:extLst>
          </p:cNvPr>
          <p:cNvSpPr/>
          <p:nvPr/>
        </p:nvSpPr>
        <p:spPr>
          <a:xfrm>
            <a:off x="7452360" y="5303520"/>
            <a:ext cx="4389120" cy="960120"/>
          </a:xfrm>
          <a:prstGeom prst="roundRect">
            <a:avLst>
              <a:gd name="adj" fmla="val 7619"/>
            </a:avLst>
          </a:prstGeom>
          <a:solidFill>
            <a:srgbClr val="0B2B4E"/>
          </a:solidFill>
          <a:ln w="9525" cap="flat" cmpd="sng" algn="ctr">
            <a:noFill/>
            <a:prstDash val="solid"/>
          </a:ln>
          <a:effectLst>
            <a:outerShdw blurRad="50800" dist="38100" dir="5400000" rotWithShape="0">
              <a:srgbClr val="000000">
                <a:alpha val="50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lIns="88900" tIns="50800" rIns="88900" bIns="50800" rtlCol="0" anchor="ctr"/>
          <a:lstStyle/>
          <a:p>
            <a:pPr algn="ctr"/>
            <a:r>
              <a:rPr lang="en-US" b="1">
                <a:solidFill>
                  <a:srgbClr val="FFFFFF"/>
                </a:solidFill>
                <a:latin typeface="Calibri" panose="020F0502020204030204" pitchFamily="34" charset="0"/>
              </a:rPr>
              <a:t>Lower costs after mergers can benefit consumers, but only if higher market power does not reverse these gains</a:t>
            </a:r>
          </a:p>
        </p:txBody>
      </p:sp>
    </p:spTree>
    <p:extLst>
      <p:ext uri="{BB962C8B-B14F-4D97-AF65-F5344CB8AC3E}">
        <p14:creationId xmlns:p14="http://schemas.microsoft.com/office/powerpoint/2010/main" val="3779619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2"/>
                                        </p:tgtEl>
                                        <p:attrNameLst>
                                          <p:attrName>style.visibility</p:attrName>
                                        </p:attrNameLst>
                                      </p:cBhvr>
                                      <p:to>
                                        <p:strVal val="visible"/>
                                      </p:to>
                                    </p:set>
                                    <p:animEffect transition="in" filter="fade">
                                      <p:cBhvr>
                                        <p:cTn id="7" dur="500"/>
                                        <p:tgtEl>
                                          <p:spTgt spid="152"/>
                                        </p:tgtEl>
                                      </p:cBhvr>
                                    </p:animEffect>
                                  </p:childTnLst>
                                </p:cTn>
                              </p:par>
                              <p:par>
                                <p:cTn id="8" presetID="10" presetClass="entr" presetSubtype="0" fill="hold"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500"/>
                                        <p:tgtEl>
                                          <p:spTgt spid="2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3"/>
                                        </p:tgtEl>
                                        <p:attrNameLst>
                                          <p:attrName>style.visibility</p:attrName>
                                        </p:attrNameLst>
                                      </p:cBhvr>
                                      <p:to>
                                        <p:strVal val="visible"/>
                                      </p:to>
                                    </p:set>
                                    <p:animEffect transition="in" filter="fade">
                                      <p:cBhvr>
                                        <p:cTn id="15" dur="500"/>
                                        <p:tgtEl>
                                          <p:spTgt spid="15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0"/>
                                        </p:tgtEl>
                                        <p:attrNameLst>
                                          <p:attrName>style.visibility</p:attrName>
                                        </p:attrNameLst>
                                      </p:cBhvr>
                                      <p:to>
                                        <p:strVal val="visible"/>
                                      </p:to>
                                    </p:set>
                                    <p:animEffect transition="in" filter="fade">
                                      <p:cBhvr>
                                        <p:cTn id="20" dur="500"/>
                                        <p:tgtEl>
                                          <p:spTgt spid="30"/>
                                        </p:tgtEl>
                                      </p:cBhvr>
                                    </p:animEffect>
                                  </p:childTnLst>
                                </p:cTn>
                              </p:par>
                              <p:par>
                                <p:cTn id="21" presetID="10" presetClass="entr" presetSubtype="0" fill="hold" nodeType="with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fade">
                                      <p:cBhvr>
                                        <p:cTn id="23" dur="500"/>
                                        <p:tgtEl>
                                          <p:spTgt spid="3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2"/>
                                        </p:tgtEl>
                                        <p:attrNameLst>
                                          <p:attrName>style.visibility</p:attrName>
                                        </p:attrNameLst>
                                      </p:cBhvr>
                                      <p:to>
                                        <p:strVal val="visible"/>
                                      </p:to>
                                    </p:set>
                                    <p:animEffect transition="in" filter="fade">
                                      <p:cBhvr>
                                        <p:cTn id="26" dur="500"/>
                                        <p:tgtEl>
                                          <p:spTgt spid="3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3"/>
                                        </p:tgtEl>
                                        <p:attrNameLst>
                                          <p:attrName>style.visibility</p:attrName>
                                        </p:attrNameLst>
                                      </p:cBhvr>
                                      <p:to>
                                        <p:strVal val="visible"/>
                                      </p:to>
                                    </p:set>
                                    <p:animEffect transition="in" filter="fade">
                                      <p:cBhvr>
                                        <p:cTn id="29" dur="500"/>
                                        <p:tgtEl>
                                          <p:spTgt spid="33"/>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54"/>
                                        </p:tgtEl>
                                        <p:attrNameLst>
                                          <p:attrName>style.visibility</p:attrName>
                                        </p:attrNameLst>
                                      </p:cBhvr>
                                      <p:to>
                                        <p:strVal val="visible"/>
                                      </p:to>
                                    </p:set>
                                    <p:animEffect transition="in" filter="fade">
                                      <p:cBhvr>
                                        <p:cTn id="34" dur="500"/>
                                        <p:tgtEl>
                                          <p:spTgt spid="154"/>
                                        </p:tgtEl>
                                      </p:cBhvr>
                                    </p:animEffect>
                                  </p:childTnLst>
                                </p:cTn>
                              </p:par>
                              <p:par>
                                <p:cTn id="35" presetID="10" presetClass="entr" presetSubtype="0" fill="hold" nodeType="withEffect">
                                  <p:stCondLst>
                                    <p:cond delay="0"/>
                                  </p:stCondLst>
                                  <p:childTnLst>
                                    <p:set>
                                      <p:cBhvr>
                                        <p:cTn id="36" dur="1" fill="hold">
                                          <p:stCondLst>
                                            <p:cond delay="0"/>
                                          </p:stCondLst>
                                        </p:cTn>
                                        <p:tgtEl>
                                          <p:spTgt spid="40"/>
                                        </p:tgtEl>
                                        <p:attrNameLst>
                                          <p:attrName>style.visibility</p:attrName>
                                        </p:attrNameLst>
                                      </p:cBhvr>
                                      <p:to>
                                        <p:strVal val="visible"/>
                                      </p:to>
                                    </p:set>
                                    <p:animEffect transition="in" filter="fade">
                                      <p:cBhvr>
                                        <p:cTn id="37" dur="500"/>
                                        <p:tgtEl>
                                          <p:spTgt spid="4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55"/>
                                        </p:tgtEl>
                                        <p:attrNameLst>
                                          <p:attrName>style.visibility</p:attrName>
                                        </p:attrNameLst>
                                      </p:cBhvr>
                                      <p:to>
                                        <p:strVal val="visible"/>
                                      </p:to>
                                    </p:set>
                                    <p:animEffect transition="in" filter="fade">
                                      <p:cBhvr>
                                        <p:cTn id="42" dur="500"/>
                                        <p:tgtEl>
                                          <p:spTgt spid="155"/>
                                        </p:tgtEl>
                                      </p:cBhvr>
                                    </p:animEffect>
                                  </p:childTnLst>
                                </p:cTn>
                              </p:par>
                              <p:par>
                                <p:cTn id="43" presetID="10" presetClass="entr" presetSubtype="0" fill="hold" nodeType="withEffect">
                                  <p:stCondLst>
                                    <p:cond delay="0"/>
                                  </p:stCondLst>
                                  <p:childTnLst>
                                    <p:set>
                                      <p:cBhvr>
                                        <p:cTn id="44" dur="1" fill="hold">
                                          <p:stCondLst>
                                            <p:cond delay="0"/>
                                          </p:stCondLst>
                                        </p:cTn>
                                        <p:tgtEl>
                                          <p:spTgt spid="43"/>
                                        </p:tgtEl>
                                        <p:attrNameLst>
                                          <p:attrName>style.visibility</p:attrName>
                                        </p:attrNameLst>
                                      </p:cBhvr>
                                      <p:to>
                                        <p:strVal val="visible"/>
                                      </p:to>
                                    </p:set>
                                    <p:animEffect transition="in" filter="fade">
                                      <p:cBhvr>
                                        <p:cTn id="45" dur="500"/>
                                        <p:tgtEl>
                                          <p:spTgt spid="43"/>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56"/>
                                        </p:tgtEl>
                                        <p:attrNameLst>
                                          <p:attrName>style.visibility</p:attrName>
                                        </p:attrNameLst>
                                      </p:cBhvr>
                                      <p:to>
                                        <p:strVal val="visible"/>
                                      </p:to>
                                    </p:set>
                                    <p:animEffect transition="in" filter="fade">
                                      <p:cBhvr>
                                        <p:cTn id="50" dur="500"/>
                                        <p:tgtEl>
                                          <p:spTgt spid="156"/>
                                        </p:tgtEl>
                                      </p:cBhvr>
                                    </p:animEffect>
                                  </p:childTnLst>
                                </p:cTn>
                              </p:par>
                              <p:par>
                                <p:cTn id="51" presetID="10" presetClass="entr" presetSubtype="0" fill="hold" nodeType="withEffect">
                                  <p:stCondLst>
                                    <p:cond delay="0"/>
                                  </p:stCondLst>
                                  <p:childTnLst>
                                    <p:set>
                                      <p:cBhvr>
                                        <p:cTn id="52" dur="1" fill="hold">
                                          <p:stCondLst>
                                            <p:cond delay="0"/>
                                          </p:stCondLst>
                                        </p:cTn>
                                        <p:tgtEl>
                                          <p:spTgt spid="46"/>
                                        </p:tgtEl>
                                        <p:attrNameLst>
                                          <p:attrName>style.visibility</p:attrName>
                                        </p:attrNameLst>
                                      </p:cBhvr>
                                      <p:to>
                                        <p:strVal val="visible"/>
                                      </p:to>
                                    </p:set>
                                    <p:animEffect transition="in" filter="fade">
                                      <p:cBhvr>
                                        <p:cTn id="53" dur="500"/>
                                        <p:tgtEl>
                                          <p:spTgt spid="46"/>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51"/>
                                        </p:tgtEl>
                                        <p:attrNameLst>
                                          <p:attrName>style.visibility</p:attrName>
                                        </p:attrNameLst>
                                      </p:cBhvr>
                                      <p:to>
                                        <p:strVal val="visible"/>
                                      </p:to>
                                    </p:set>
                                    <p:animEffect transition="in" filter="fade">
                                      <p:cBhvr>
                                        <p:cTn id="58"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P spid="51"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5 · Monopoly and Welfare Impact</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The Case of Luxottica</a:t>
            </a:r>
            <a:r>
              <a:rPr sz="2200" b="1">
                <a:solidFill>
                  <a:srgbClr val="0B2B4E"/>
                </a:solidFill>
                <a:latin typeface="Calibri"/>
              </a:rPr>
              <a:t>  (Now EssilorLuxottica)</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NV_luxottica_60min.png">
            <a:hlinkClick r:id="rId3"/>
          </p:cNvPr>
          <p:cNvPicPr>
            <a:picLocks noChangeAspect="1"/>
          </p:cNvPicPr>
          <p:nvPr/>
        </p:nvPicPr>
        <p:blipFill>
          <a:blip r:embed="rId4"/>
          <a:stretch>
            <a:fillRect/>
          </a:stretch>
        </p:blipFill>
        <p:spPr>
          <a:xfrm>
            <a:off x="2267712" y="1399032"/>
            <a:ext cx="7552944" cy="4215384"/>
          </a:xfrm>
          <a:prstGeom prst="roundRect">
            <a:avLst>
              <a:gd name="adj" fmla="val 8000"/>
            </a:avLst>
          </a:prstGeom>
          <a:effectLst>
            <a:outerShdw blurRad="50800" dist="38100" dir="2700000" algn="tl" rotWithShape="0">
              <a:srgbClr val="000000">
                <a:alpha val="50000"/>
              </a:srgbClr>
            </a:outerShdw>
          </a:effectLst>
        </p:spPr>
      </p:pic>
      <p:sp>
        <p:nvSpPr>
          <p:cNvPr id="8" name="Action Button: Movie 7">
            <a:hlinkClick r:id="rId3"/>
          </p:cNvPr>
          <p:cNvSpPr/>
          <p:nvPr/>
        </p:nvSpPr>
        <p:spPr>
          <a:xfrm>
            <a:off x="2623985" y="5788152"/>
            <a:ext cx="548640" cy="274320"/>
          </a:xfrm>
          <a:prstGeom prst="actionButtonMovie">
            <a:avLst/>
          </a:prstGeom>
          <a:solidFill>
            <a:srgbClr val="0B2B4E"/>
          </a:solidFill>
          <a:ln w="15875">
            <a:solidFill>
              <a:srgbClr val="FFFFFF"/>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309785" y="5715000"/>
            <a:ext cx="6257925" cy="307777"/>
          </a:xfrm>
          <a:prstGeom prst="rect">
            <a:avLst/>
          </a:prstGeom>
          <a:noFill/>
        </p:spPr>
        <p:txBody>
          <a:bodyPr wrap="square" lIns="0" tIns="0" rIns="0" bIns="0">
            <a:spAutoFit/>
          </a:bodyPr>
          <a:lstStyle/>
          <a:p>
            <a:pPr algn="l"/>
            <a:r>
              <a:rPr sz="2000" b="1" i="0" u="sng" dirty="0">
                <a:solidFill>
                  <a:srgbClr val="0B2B4E"/>
                </a:solidFill>
                <a:latin typeface="Calibri"/>
                <a:hlinkClick r:id="rId3"/>
              </a:rPr>
              <a:t>60 Minutes on Luxottica – watch on YouTube </a:t>
            </a:r>
            <a:r>
              <a:rPr sz="1100" b="1" i="0" u="sng" dirty="0">
                <a:solidFill>
                  <a:srgbClr val="0B2B4E"/>
                </a:solidFill>
                <a:latin typeface="Calibri"/>
                <a:hlinkClick r:id="rId3"/>
              </a:rPr>
              <a:t>(from 9:49)</a:t>
            </a:r>
            <a:endParaRPr sz="2000" b="1" i="0" u="sng" dirty="0">
              <a:solidFill>
                <a:srgbClr val="0B2B4E"/>
              </a:solidFill>
              <a:latin typeface="Calibri"/>
              <a:hlinkClick r:id="rId3"/>
            </a:endParaRPr>
          </a:p>
        </p:txBody>
      </p:sp>
      <p:sp>
        <p:nvSpPr>
          <p:cNvPr id="9633" name="Rectangle 963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34" name="Rectangle 963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35" name="TextBox 9634"/>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5  ·  Monopoly and Monopolistic Competition</a:t>
            </a:r>
          </a:p>
        </p:txBody>
      </p:sp>
      <p:sp>
        <p:nvSpPr>
          <p:cNvPr id="9636" name="TextBox 9635"/>
          <p:cNvSpPr txBox="1"/>
          <p:nvPr/>
        </p:nvSpPr>
        <p:spPr>
          <a:xfrm>
            <a:off x="11475720" y="6583680"/>
            <a:ext cx="502920" cy="292608"/>
          </a:xfrm>
          <a:prstGeom prst="rect">
            <a:avLst/>
          </a:prstGeom>
          <a:noFill/>
        </p:spPr>
        <p:txBody>
          <a:bodyPr wrap="none" lIns="0" tIns="0" rIns="0" bIns="0">
            <a:spAutoFit/>
          </a:bodyPr>
          <a:lstStyle/>
          <a:p>
            <a:pPr algn="r"/>
            <a:fld id="{00273E6D-AA26-540D-9B06-B4F98BEF93DB}" type="slidenum">
              <a:rPr lang="en-US" sz="1200" dirty="0">
                <a:solidFill>
                  <a:srgbClr val="555B66"/>
                </a:solidFill>
                <a:latin typeface="Calibri"/>
              </a:rPr>
              <a:t>40</a:t>
            </a:fld>
            <a:endParaRPr lang="en-US" sz="1200" dirty="0">
              <a:solidFill>
                <a:srgbClr val="555B66"/>
              </a:solidFill>
              <a:latin typeface="Calibri"/>
            </a:endParaRPr>
          </a:p>
        </p:txBody>
      </p:sp>
      <p:grpSp>
        <p:nvGrpSpPr>
          <p:cNvPr id="9630" name="PollBreakBadge"/>
          <p:cNvGrpSpPr/>
          <p:nvPr/>
        </p:nvGrpSpPr>
        <p:grpSpPr>
          <a:xfrm>
            <a:off x="8490478" y="6190030"/>
            <a:ext cx="3568446" cy="487009"/>
            <a:chOff x="8490478" y="6190030"/>
            <a:chExt cx="3568446" cy="487009"/>
          </a:xfrm>
        </p:grpSpPr>
        <p:sp>
          <p:nvSpPr>
            <p:cNvPr id="9631" name="PollBreakShape"/>
            <p:cNvSpPr/>
            <p:nvPr/>
          </p:nvSpPr>
          <p:spPr>
            <a:xfrm>
              <a:off x="8490478" y="6190030"/>
              <a:ext cx="3568446" cy="487009"/>
            </a:xfrm>
            <a:custGeom>
              <a:avLst/>
              <a:gdLst/>
              <a:ahLst/>
              <a:cxnLst/>
              <a:rect l="24407" t="0" r="75593" b="100000"/>
              <a:pathLst>
                <a:path w="100000" h="100000">
                  <a:moveTo>
                    <a:pt x="29407" y="0"/>
                  </a:moveTo>
                  <a:lnTo>
                    <a:pt x="95000" y="0"/>
                  </a:lnTo>
                  <a:cubicBezTo>
                    <a:pt x="100000" y="0"/>
                    <a:pt x="100000" y="0"/>
                    <a:pt x="99078" y="5000"/>
                  </a:cubicBezTo>
                  <a:lnTo>
                    <a:pt x="76813" y="95000"/>
                  </a:lnTo>
                  <a:cubicBezTo>
                    <a:pt x="75593" y="100000"/>
                    <a:pt x="75593" y="100000"/>
                    <a:pt x="70593" y="100000"/>
                  </a:cubicBezTo>
                  <a:lnTo>
                    <a:pt x="5000" y="100000"/>
                  </a:lnTo>
                  <a:cubicBezTo>
                    <a:pt x="0" y="100000"/>
                    <a:pt x="0" y="100000"/>
                    <a:pt x="922" y="95000"/>
                  </a:cubicBezTo>
                  <a:lnTo>
                    <a:pt x="23187" y="5000"/>
                  </a:lnTo>
                  <a:cubicBezTo>
                    <a:pt x="24407" y="0"/>
                    <a:pt x="24407" y="0"/>
                    <a:pt x="29407" y="0"/>
                  </a:cubicBezTo>
                  <a:close/>
                </a:path>
              </a:pathLst>
            </a:custGeom>
            <a:solidFill>
              <a:srgbClr val="E09F3E"/>
            </a:solidFill>
            <a:ln>
              <a:noFill/>
            </a:ln>
            <a:effectLst>
              <a:outerShdw blurRad="50800" dist="38100" dir="2700000" algn="tl" rotWithShape="0">
                <a:srgbClr val="000000">
                  <a:alpha val="50000"/>
                </a:srgbClr>
              </a:outerShdw>
            </a:effectLst>
          </p:spPr>
          <p:txBody>
            <a:bodyPr rtlCol="0" anchor="ctr"/>
            <a:lstStyle/>
            <a:p>
              <a:pPr algn="ctr"/>
              <a:endParaRPr/>
            </a:p>
          </p:txBody>
        </p:sp>
        <p:sp>
          <p:nvSpPr>
            <p:cNvPr id="9632" name="PollBreakLabel"/>
            <p:cNvSpPr txBox="1"/>
            <p:nvPr/>
          </p:nvSpPr>
          <p:spPr>
            <a:xfrm>
              <a:off x="9148846" y="6190030"/>
              <a:ext cx="2251710" cy="487009"/>
            </a:xfrm>
            <a:prstGeom prst="rect">
              <a:avLst/>
            </a:prstGeom>
            <a:noFill/>
          </p:spPr>
          <p:txBody>
            <a:bodyPr wrap="none" lIns="45720" tIns="18288" rIns="45720" bIns="18288" anchor="ctr">
              <a:spAutoFit/>
            </a:bodyPr>
            <a:lstStyle/>
            <a:p>
              <a:pPr algn="ctr"/>
              <a:r>
                <a:rPr sz="2800" b="1">
                  <a:solidFill>
                    <a:srgbClr val="0B2B4E"/>
                  </a:solidFill>
                  <a:latin typeface="Calibri"/>
                </a:rPr>
                <a:t>Class Discussion</a:t>
              </a:r>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5 · Monopoly and Welfare Impact</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So I Visited EssilorLuxottica with an EMBA IBR Class…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NV_essilorlux_visit.jpeg"/>
          <p:cNvPicPr>
            <a:picLocks noChangeAspect="1"/>
          </p:cNvPicPr>
          <p:nvPr/>
        </p:nvPicPr>
        <p:blipFill>
          <a:blip r:embed="rId3"/>
          <a:srcRect t="5185" b="16941"/>
          <a:stretch>
            <a:fillRect/>
          </a:stretch>
        </p:blipFill>
        <p:spPr>
          <a:xfrm>
            <a:off x="1797710" y="1291132"/>
            <a:ext cx="8748064" cy="5109667"/>
          </a:xfrm>
          <a:prstGeom prst="roundRect">
            <a:avLst>
              <a:gd name="adj" fmla="val 8000"/>
            </a:avLst>
          </a:prstGeom>
          <a:effectLst>
            <a:outerShdw blurRad="50800" dist="38100" dir="2700000" algn="tl" rotWithShape="0">
              <a:srgbClr val="000000">
                <a:alpha val="50000"/>
              </a:srgbClr>
            </a:outerShdw>
          </a:effectLst>
        </p:spPr>
      </p:pic>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5  ·  Monopoly and Monopolistic Competition</a:t>
            </a:r>
          </a:p>
        </p:txBody>
      </p:sp>
      <p:sp>
        <p:nvSpPr>
          <p:cNvPr id="11" name="TextBox 10"/>
          <p:cNvSpPr txBox="1"/>
          <p:nvPr/>
        </p:nvSpPr>
        <p:spPr>
          <a:xfrm>
            <a:off x="11475720" y="6583680"/>
            <a:ext cx="502920" cy="292608"/>
          </a:xfrm>
          <a:prstGeom prst="rect">
            <a:avLst/>
          </a:prstGeom>
          <a:noFill/>
        </p:spPr>
        <p:txBody>
          <a:bodyPr wrap="none" lIns="0" tIns="0" rIns="0" bIns="0">
            <a:spAutoFit/>
          </a:bodyPr>
          <a:lstStyle/>
          <a:p>
            <a:pPr algn="r"/>
            <a:fld id="{47E29B0C-E2C2-52A9-874E-F3FCE5D42D6E}" type="slidenum">
              <a:rPr lang="en-US" sz="1200" dirty="0">
                <a:solidFill>
                  <a:srgbClr val="555B66"/>
                </a:solidFill>
                <a:latin typeface="Calibri"/>
              </a:rPr>
              <a:t>41</a:t>
            </a:fld>
            <a:endParaRPr lang="en-US" sz="1200" dirty="0">
              <a:solidFill>
                <a:srgbClr val="555B66"/>
              </a:solidFill>
              <a:latin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5 · Monopoly and Welfare Impact</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…and This Was Their Chart on Company History</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NV_essilorlux_history.jpeg"/>
          <p:cNvPicPr>
            <a:picLocks noChangeAspect="1"/>
          </p:cNvPicPr>
          <p:nvPr/>
        </p:nvPicPr>
        <p:blipFill>
          <a:blip r:embed="rId3"/>
          <a:stretch>
            <a:fillRect/>
          </a:stretch>
        </p:blipFill>
        <p:spPr>
          <a:xfrm>
            <a:off x="1801368" y="1283817"/>
            <a:ext cx="9345168" cy="5136184"/>
          </a:xfrm>
          <a:prstGeom prst="roundRect">
            <a:avLst>
              <a:gd name="adj" fmla="val 8000"/>
            </a:avLst>
          </a:prstGeom>
          <a:effectLst>
            <a:outerShdw blurRad="50800" dist="38100" dir="2700000" algn="tl" rotWithShape="0">
              <a:srgbClr val="000000">
                <a:alpha val="50000"/>
              </a:srgbClr>
            </a:outerShdw>
          </a:effectLst>
        </p:spPr>
      </p:pic>
      <p:sp>
        <p:nvSpPr>
          <p:cNvPr id="8" name="Acq01"/>
          <p:cNvSpPr/>
          <p:nvPr/>
        </p:nvSpPr>
        <p:spPr>
          <a:xfrm rot="20880000">
            <a:off x="6983244" y="3002959"/>
            <a:ext cx="614201" cy="401096"/>
          </a:xfrm>
          <a:prstGeom prst="ellipse">
            <a:avLst/>
          </a:prstGeom>
          <a:noFill/>
          <a:ln w="38100">
            <a:solidFill>
              <a:srgbClr val="FF1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Acq02"/>
          <p:cNvSpPr/>
          <p:nvPr/>
        </p:nvSpPr>
        <p:spPr>
          <a:xfrm rot="20820000">
            <a:off x="7993951" y="2686246"/>
            <a:ext cx="909446" cy="269001"/>
          </a:xfrm>
          <a:prstGeom prst="ellipse">
            <a:avLst/>
          </a:prstGeom>
          <a:noFill/>
          <a:ln w="38100">
            <a:solidFill>
              <a:srgbClr val="FF1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Acq03"/>
          <p:cNvSpPr/>
          <p:nvPr/>
        </p:nvSpPr>
        <p:spPr>
          <a:xfrm rot="21000000">
            <a:off x="5103252" y="4144295"/>
            <a:ext cx="450917" cy="231783"/>
          </a:xfrm>
          <a:prstGeom prst="ellipse">
            <a:avLst/>
          </a:prstGeom>
          <a:noFill/>
          <a:ln w="38100">
            <a:solidFill>
              <a:srgbClr val="FF1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Acq04"/>
          <p:cNvSpPr/>
          <p:nvPr/>
        </p:nvSpPr>
        <p:spPr>
          <a:xfrm rot="21000000">
            <a:off x="5604159" y="4074509"/>
            <a:ext cx="419285" cy="229048"/>
          </a:xfrm>
          <a:prstGeom prst="ellipse">
            <a:avLst/>
          </a:prstGeom>
          <a:noFill/>
          <a:ln w="38100">
            <a:solidFill>
              <a:srgbClr val="FF1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Acq05"/>
          <p:cNvSpPr/>
          <p:nvPr/>
        </p:nvSpPr>
        <p:spPr>
          <a:xfrm rot="21060000">
            <a:off x="6211065" y="3957395"/>
            <a:ext cx="620664" cy="299703"/>
          </a:xfrm>
          <a:prstGeom prst="ellipse">
            <a:avLst/>
          </a:prstGeom>
          <a:noFill/>
          <a:ln w="38100">
            <a:solidFill>
              <a:srgbClr val="FF1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Acq06"/>
          <p:cNvSpPr/>
          <p:nvPr/>
        </p:nvSpPr>
        <p:spPr>
          <a:xfrm rot="21060000">
            <a:off x="7000624" y="3827319"/>
            <a:ext cx="631795" cy="250703"/>
          </a:xfrm>
          <a:prstGeom prst="ellipse">
            <a:avLst/>
          </a:prstGeom>
          <a:noFill/>
          <a:ln w="38100">
            <a:solidFill>
              <a:srgbClr val="FF1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Acq07"/>
          <p:cNvSpPr/>
          <p:nvPr/>
        </p:nvSpPr>
        <p:spPr>
          <a:xfrm rot="21060000">
            <a:off x="8028226" y="3646315"/>
            <a:ext cx="850712" cy="265936"/>
          </a:xfrm>
          <a:prstGeom prst="ellipse">
            <a:avLst/>
          </a:prstGeom>
          <a:noFill/>
          <a:ln w="38100">
            <a:solidFill>
              <a:srgbClr val="FF1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Acq08"/>
          <p:cNvSpPr/>
          <p:nvPr/>
        </p:nvSpPr>
        <p:spPr>
          <a:xfrm rot="21300000">
            <a:off x="8055462" y="4592604"/>
            <a:ext cx="940214" cy="403296"/>
          </a:xfrm>
          <a:prstGeom prst="ellipse">
            <a:avLst/>
          </a:prstGeom>
          <a:noFill/>
          <a:ln w="38100">
            <a:solidFill>
              <a:srgbClr val="FF1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Acq09"/>
          <p:cNvSpPr/>
          <p:nvPr/>
        </p:nvSpPr>
        <p:spPr>
          <a:xfrm rot="21300000">
            <a:off x="7008124" y="4618607"/>
            <a:ext cx="767312" cy="254781"/>
          </a:xfrm>
          <a:prstGeom prst="ellipse">
            <a:avLst/>
          </a:prstGeom>
          <a:noFill/>
          <a:ln w="38100">
            <a:solidFill>
              <a:srgbClr val="FF1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Acq10"/>
          <p:cNvSpPr/>
          <p:nvPr/>
        </p:nvSpPr>
        <p:spPr>
          <a:xfrm rot="21300000">
            <a:off x="5603265" y="4680340"/>
            <a:ext cx="461974" cy="231096"/>
          </a:xfrm>
          <a:prstGeom prst="ellipse">
            <a:avLst/>
          </a:prstGeom>
          <a:noFill/>
          <a:ln w="38100">
            <a:solidFill>
              <a:srgbClr val="FF1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Acq11"/>
          <p:cNvSpPr/>
          <p:nvPr/>
        </p:nvSpPr>
        <p:spPr>
          <a:xfrm rot="21300000">
            <a:off x="5102317" y="4695767"/>
            <a:ext cx="438062" cy="229685"/>
          </a:xfrm>
          <a:prstGeom prst="ellipse">
            <a:avLst/>
          </a:prstGeom>
          <a:noFill/>
          <a:ln w="38100">
            <a:solidFill>
              <a:srgbClr val="FF1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5  ·  Monopoly and Monopolistic Competition</a:t>
            </a:r>
          </a:p>
        </p:txBody>
      </p:sp>
      <p:sp>
        <p:nvSpPr>
          <p:cNvPr id="22" name="TextBox 21"/>
          <p:cNvSpPr txBox="1"/>
          <p:nvPr/>
        </p:nvSpPr>
        <p:spPr>
          <a:xfrm>
            <a:off x="11475720" y="6583680"/>
            <a:ext cx="502920" cy="292608"/>
          </a:xfrm>
          <a:prstGeom prst="rect">
            <a:avLst/>
          </a:prstGeom>
          <a:noFill/>
        </p:spPr>
        <p:txBody>
          <a:bodyPr wrap="none" lIns="0" tIns="0" rIns="0" bIns="0">
            <a:spAutoFit/>
          </a:bodyPr>
          <a:lstStyle/>
          <a:p>
            <a:pPr algn="r"/>
            <a:fld id="{87FE5336-91BC-514F-BE87-DB3CCAAE3B2B}" type="slidenum">
              <a:rPr lang="en-US" sz="1200" dirty="0">
                <a:solidFill>
                  <a:srgbClr val="555B66"/>
                </a:solidFill>
                <a:latin typeface="Calibri"/>
              </a:rPr>
              <a:t>42</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5 · Monopoly and Welfare Impact</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The Case of Luxottica</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80599" y="1417320"/>
            <a:ext cx="6446520" cy="4937760"/>
          </a:xfrm>
          <a:prstGeom prst="rect">
            <a:avLst/>
          </a:prstGeom>
          <a:noFill/>
        </p:spPr>
        <p:txBody>
          <a:bodyPr wrap="square" lIns="0" tIns="0" rIns="0" bIns="0" anchor="ctr">
            <a:noAutofit/>
          </a:bodyPr>
          <a:lstStyle>
            <a:lvl1pPr marL="342900" indent="-342900">
              <a:spcBef>
                <a:spcPts val="1600"/>
              </a:spcBef>
              <a:buClr>
                <a:srgbClr val="0B2B4E"/>
              </a:buClr>
              <a:buFont typeface="Calibri"/>
              <a:buChar char="▪"/>
              <a:defRPr sz="2400" b="0">
                <a:solidFill>
                  <a:srgbClr val="0B2B4E"/>
                </a:solidFill>
                <a:latin typeface="Calibri"/>
              </a:defRPr>
            </a:lvl1pPr>
            <a:lvl2pPr marL="685800" indent="-228600">
              <a:spcBef>
                <a:spcPts val="300"/>
              </a:spcBef>
              <a:buClr>
                <a:srgbClr val="0B2B4E"/>
              </a:buClr>
              <a:buFont typeface="Calibri"/>
              <a:buChar char="–"/>
              <a:defRPr sz="2200" b="0">
                <a:solidFill>
                  <a:srgbClr val="0B2B4E"/>
                </a:solidFill>
                <a:latin typeface="Calibri"/>
              </a:defRPr>
            </a:lvl2pPr>
          </a:lstStyle>
          <a:p>
            <a:pPr algn="l"/>
            <a:r>
              <a:rPr dirty="0">
                <a:latin typeface="Calibri"/>
              </a:rPr>
              <a:t>Which type of market is Luxottica operating in?</a:t>
            </a:r>
          </a:p>
          <a:p>
            <a:pPr algn="l"/>
            <a:r>
              <a:rPr dirty="0">
                <a:latin typeface="Calibri"/>
              </a:rPr>
              <a:t>How do they achieve market power?</a:t>
            </a:r>
          </a:p>
          <a:p>
            <a:pPr algn="l"/>
            <a:r>
              <a:rPr dirty="0">
                <a:latin typeface="Calibri"/>
              </a:rPr>
              <a:t>Do they have a high markup?</a:t>
            </a:r>
          </a:p>
          <a:p>
            <a:pPr algn="l"/>
            <a:r>
              <a:rPr dirty="0">
                <a:latin typeface="Calibri"/>
              </a:rPr>
              <a:t>How does the following statement by Luxottica’s former CEO relate to what we learned about the demand curve?</a:t>
            </a:r>
          </a:p>
          <a:p>
            <a:pPr lvl="1" algn="l"/>
            <a:r>
              <a:rPr i="1" dirty="0">
                <a:latin typeface="Calibri"/>
              </a:rPr>
              <a:t>« Everything is worth what people are ready to pay »</a:t>
            </a:r>
          </a:p>
        </p:txBody>
      </p:sp>
      <p:pic>
        <p:nvPicPr>
          <p:cNvPr id="8" name="Picture 7" descr="NV_essilorlux_showroom.jpeg"/>
          <p:cNvPicPr>
            <a:picLocks noChangeAspect="1"/>
          </p:cNvPicPr>
          <p:nvPr/>
        </p:nvPicPr>
        <p:blipFill>
          <a:blip r:embed="rId3"/>
          <a:stretch>
            <a:fillRect/>
          </a:stretch>
        </p:blipFill>
        <p:spPr>
          <a:xfrm>
            <a:off x="7119518" y="2578608"/>
            <a:ext cx="4728362" cy="3546043"/>
          </a:xfrm>
          <a:prstGeom prst="roundRect">
            <a:avLst>
              <a:gd name="adj" fmla="val 8000"/>
            </a:avLst>
          </a:prstGeom>
          <a:effectLst>
            <a:outerShdw blurRad="50800" dist="38100" dir="2700000" algn="tl" rotWithShape="0">
              <a:srgbClr val="000000">
                <a:alpha val="50000"/>
              </a:srgbClr>
            </a:outerShdw>
          </a:effectLst>
        </p:spPr>
      </p:pic>
      <p:pic>
        <p:nvPicPr>
          <p:cNvPr id="9" name="Picture 8" descr="NV_essilorlux_logo.png"/>
          <p:cNvPicPr>
            <a:picLocks noChangeAspect="1"/>
          </p:cNvPicPr>
          <p:nvPr/>
        </p:nvPicPr>
        <p:blipFill>
          <a:blip r:embed="rId4"/>
          <a:stretch>
            <a:fillRect/>
          </a:stretch>
        </p:blipFill>
        <p:spPr>
          <a:xfrm>
            <a:off x="7130491" y="1261872"/>
            <a:ext cx="4706416" cy="1133856"/>
          </a:xfrm>
          <a:prstGeom prst="rect">
            <a:avLst/>
          </a:prstGeom>
        </p:spPr>
      </p:pic>
      <p:sp>
        <p:nvSpPr>
          <p:cNvPr id="10" name="Rectangle 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5  ·  Monopoly and Monopolistic Competition</a:t>
            </a:r>
          </a:p>
        </p:txBody>
      </p:sp>
      <p:sp>
        <p:nvSpPr>
          <p:cNvPr id="13" name="TextBox 12"/>
          <p:cNvSpPr txBox="1"/>
          <p:nvPr/>
        </p:nvSpPr>
        <p:spPr>
          <a:xfrm>
            <a:off x="11475720" y="6583680"/>
            <a:ext cx="502920" cy="292608"/>
          </a:xfrm>
          <a:prstGeom prst="rect">
            <a:avLst/>
          </a:prstGeom>
          <a:noFill/>
        </p:spPr>
        <p:txBody>
          <a:bodyPr wrap="none" lIns="0" tIns="0" rIns="0" bIns="0">
            <a:spAutoFit/>
          </a:bodyPr>
          <a:lstStyle/>
          <a:p>
            <a:pPr algn="r"/>
            <a:fld id="{A9745B44-8DC3-5093-8076-16734C04D8AD}" type="slidenum">
              <a:rPr lang="en-US" sz="1200" dirty="0">
                <a:solidFill>
                  <a:srgbClr val="555B66"/>
                </a:solidFill>
                <a:latin typeface="Calibri"/>
              </a:rPr>
              <a:t>43</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fade">
                                      <p:cBhvr>
                                        <p:cTn id="17" dur="500"/>
                                        <p:tgtEl>
                                          <p:spTgt spid="7">
                                            <p:txEl>
                                              <p:pRg st="3" end="3"/>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xEl>
                                              <p:pRg st="4" end="4"/>
                                            </p:txEl>
                                          </p:spTgt>
                                        </p:tgtEl>
                                        <p:attrNameLst>
                                          <p:attrName>style.visibility</p:attrName>
                                        </p:attrNameLst>
                                      </p:cBhvr>
                                      <p:to>
                                        <p:strVal val="visible"/>
                                      </p:to>
                                    </p:set>
                                    <p:animEffect transition="in" filter="fade">
                                      <p:cBhvr>
                                        <p:cTn id="20"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5 · Monopoly and Welfare Impact</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Monopoly Take-Aways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80599" y="1417320"/>
            <a:ext cx="7498079" cy="4937760"/>
          </a:xfrm>
          <a:prstGeom prst="rect">
            <a:avLst/>
          </a:prstGeom>
          <a:noFill/>
        </p:spPr>
        <p:txBody>
          <a:bodyPr wrap="square" lIns="0" tIns="0" rIns="0" bIns="0" anchor="ctr">
            <a:noAutofit/>
          </a:bodyPr>
          <a:lstStyle>
            <a:lvl1pPr marL="342900" indent="-342900">
              <a:spcBef>
                <a:spcPts val="1600"/>
              </a:spcBef>
              <a:buClr>
                <a:srgbClr val="0B2B4E"/>
              </a:buClr>
              <a:buFont typeface="Calibri"/>
              <a:buChar char="▪"/>
              <a:defRPr sz="2800" b="0">
                <a:solidFill>
                  <a:srgbClr val="0B2B4E"/>
                </a:solidFill>
                <a:latin typeface="Calibri"/>
              </a:defRPr>
            </a:lvl1pPr>
            <a:lvl2pPr marL="685800" indent="-228600">
              <a:spcBef>
                <a:spcPts val="300"/>
              </a:spcBef>
              <a:buClr>
                <a:srgbClr val="0B2B4E"/>
              </a:buClr>
              <a:buFont typeface="Calibri"/>
              <a:buChar char="–"/>
              <a:defRPr sz="2600" b="0">
                <a:solidFill>
                  <a:srgbClr val="0B2B4E"/>
                </a:solidFill>
                <a:latin typeface="Calibri"/>
              </a:defRPr>
            </a:lvl2pPr>
          </a:lstStyle>
          <a:p>
            <a:pPr algn="l"/>
            <a:r>
              <a:rPr>
                <a:latin typeface="Calibri"/>
              </a:rPr>
              <a:t>Monopolist: Large degree of market power</a:t>
            </a:r>
          </a:p>
          <a:p>
            <a:pPr lvl="1" algn="l"/>
            <a:r>
              <a:rPr>
                <a:latin typeface="Calibri"/>
              </a:rPr>
              <a:t>Enables high profits</a:t>
            </a:r>
          </a:p>
          <a:p>
            <a:pPr lvl="1" algn="l"/>
            <a:r>
              <a:rPr>
                <a:latin typeface="Calibri"/>
              </a:rPr>
              <a:t>Reduces consumer surplus</a:t>
            </a:r>
          </a:p>
          <a:p>
            <a:pPr lvl="1" algn="l"/>
            <a:r>
              <a:rPr>
                <a:latin typeface="Calibri"/>
              </a:rPr>
              <a:t>Reduces overall (society) welfare</a:t>
            </a:r>
          </a:p>
          <a:p>
            <a:pPr algn="l"/>
            <a:r>
              <a:rPr>
                <a:latin typeface="Calibri"/>
              </a:rPr>
              <a:t>Silver lining: Patents, licenses and copyrights</a:t>
            </a:r>
          </a:p>
          <a:p>
            <a:pPr lvl="1" algn="l"/>
            <a:r>
              <a:rPr>
                <a:latin typeface="Calibri"/>
              </a:rPr>
              <a:t>The prospect of monopoly power provides incentives for innovation (e.g., new drugs)</a:t>
            </a:r>
          </a:p>
          <a:p>
            <a:pPr lvl="1" algn="l"/>
            <a:r>
              <a:rPr>
                <a:latin typeface="Calibri"/>
              </a:rPr>
              <a:t>Consumer surplus from new product creation can outweigh deadweight loss due to high prices</a:t>
            </a:r>
          </a:p>
        </p:txBody>
      </p:sp>
      <p:pic>
        <p:nvPicPr>
          <p:cNvPr id="8" name="Picture 7" descr="microsoft_monopoly_apple_entry.png"/>
          <p:cNvPicPr>
            <a:picLocks noChangeAspect="1"/>
          </p:cNvPicPr>
          <p:nvPr/>
        </p:nvPicPr>
        <p:blipFill>
          <a:blip r:embed="rId3"/>
          <a:stretch>
            <a:fillRect/>
          </a:stretch>
        </p:blipFill>
        <p:spPr>
          <a:xfrm>
            <a:off x="8150047" y="1234440"/>
            <a:ext cx="3789273" cy="5074920"/>
          </a:xfrm>
          <a:prstGeom prst="roundRect">
            <a:avLst>
              <a:gd name="adj" fmla="val 3000"/>
            </a:avLst>
          </a:prstGeom>
          <a:effectLst>
            <a:outerShdw blurRad="50800" dist="38100" dir="2700000" algn="tl" rotWithShape="0">
              <a:srgbClr val="000000">
                <a:alpha val="50000"/>
              </a:srgbClr>
            </a:outerShdw>
          </a:effectLst>
        </p:spPr>
      </p:pic>
      <p:sp>
        <p:nvSpPr>
          <p:cNvPr id="9" name="Rectangle 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5  ·  Monopoly and Monopolistic Competition</a:t>
            </a:r>
          </a:p>
        </p:txBody>
      </p:sp>
      <p:sp>
        <p:nvSpPr>
          <p:cNvPr id="12" name="TextBox 11"/>
          <p:cNvSpPr txBox="1"/>
          <p:nvPr/>
        </p:nvSpPr>
        <p:spPr>
          <a:xfrm>
            <a:off x="11475720" y="6583680"/>
            <a:ext cx="502920" cy="292608"/>
          </a:xfrm>
          <a:prstGeom prst="rect">
            <a:avLst/>
          </a:prstGeom>
          <a:noFill/>
        </p:spPr>
        <p:txBody>
          <a:bodyPr wrap="none" lIns="0" tIns="0" rIns="0" bIns="0">
            <a:spAutoFit/>
          </a:bodyPr>
          <a:lstStyle/>
          <a:p>
            <a:pPr algn="r"/>
            <a:fld id="{9F386A92-D12C-5D81-A2EA-B3A7E8744320}" type="slidenum">
              <a:rPr lang="en-US" sz="1200" dirty="0">
                <a:solidFill>
                  <a:srgbClr val="555B66"/>
                </a:solidFill>
                <a:latin typeface="Calibri"/>
              </a:rPr>
              <a:t>44</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xEl>
                                              <p:pRg st="2" end="2"/>
                                            </p:txEl>
                                          </p:spTgt>
                                        </p:tgtEl>
                                        <p:attrNameLst>
                                          <p:attrName>style.visibility</p:attrName>
                                        </p:attrNameLst>
                                      </p:cBhvr>
                                      <p:to>
                                        <p:strVal val="visible"/>
                                      </p:to>
                                    </p:set>
                                    <p:animEffect transition="in" filter="fade">
                                      <p:cBhvr>
                                        <p:cTn id="10" dur="500"/>
                                        <p:tgtEl>
                                          <p:spTgt spid="7">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animEffect transition="in" filter="fade">
                                      <p:cBhvr>
                                        <p:cTn id="13" dur="500"/>
                                        <p:tgtEl>
                                          <p:spTgt spid="7">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xEl>
                                              <p:pRg st="4" end="4"/>
                                            </p:txEl>
                                          </p:spTgt>
                                        </p:tgtEl>
                                        <p:attrNameLst>
                                          <p:attrName>style.visibility</p:attrName>
                                        </p:attrNameLst>
                                      </p:cBhvr>
                                      <p:to>
                                        <p:strVal val="visible"/>
                                      </p:to>
                                    </p:set>
                                    <p:animEffect transition="in" filter="fade">
                                      <p:cBhvr>
                                        <p:cTn id="18" dur="500"/>
                                        <p:tgtEl>
                                          <p:spTgt spid="7">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xEl>
                                              <p:pRg st="5" end="5"/>
                                            </p:txEl>
                                          </p:spTgt>
                                        </p:tgtEl>
                                        <p:attrNameLst>
                                          <p:attrName>style.visibility</p:attrName>
                                        </p:attrNameLst>
                                      </p:cBhvr>
                                      <p:to>
                                        <p:strVal val="visible"/>
                                      </p:to>
                                    </p:set>
                                    <p:animEffect transition="in" filter="fade">
                                      <p:cBhvr>
                                        <p:cTn id="23" dur="500"/>
                                        <p:tgtEl>
                                          <p:spTgt spid="7">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animEffect transition="in" filter="fade">
                                      <p:cBhvr>
                                        <p:cTn id="28" dur="500"/>
                                        <p:tgtEl>
                                          <p:spTgt spid="7">
                                            <p:txEl>
                                              <p:pRg st="6" end="6"/>
                                            </p:txEl>
                                          </p:spTgt>
                                        </p:tgtEl>
                                      </p:cBhvr>
                                    </p:animEffect>
                                  </p:childTnLst>
                                </p:cTn>
                              </p:par>
                              <p:par>
                                <p:cTn id="29" presetID="1" presetClass="entr" presetSubtype="0" fill="hold" nodeType="with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5 · Monopoly and Welfare Impact</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All Firms Face Potential (Future) Competitors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12" name="Group pair 112"/>
          <p:cNvGrpSpPr/>
          <p:nvPr/>
        </p:nvGrpSpPr>
        <p:grpSpPr>
          <a:xfrm>
            <a:off x="3520440" y="1371600"/>
            <a:ext cx="5168115" cy="4956048"/>
            <a:chOff x="3520440" y="1371600"/>
            <a:chExt cx="5168115" cy="4956048"/>
          </a:xfrm>
        </p:grpSpPr>
        <p:pic>
          <p:nvPicPr>
            <p:cNvPr id="7" name="Picture 6" descr="NV_s44_rId4.JPG"/>
            <p:cNvPicPr>
              <a:picLocks noChangeAspect="1"/>
            </p:cNvPicPr>
            <p:nvPr/>
          </p:nvPicPr>
          <p:blipFill>
            <a:blip r:embed="rId3"/>
            <a:stretch>
              <a:fillRect/>
            </a:stretch>
          </p:blipFill>
          <p:spPr>
            <a:xfrm>
              <a:off x="3520440" y="1371600"/>
              <a:ext cx="5168115" cy="4617720"/>
            </a:xfrm>
            <a:prstGeom prst="roundRect">
              <a:avLst>
                <a:gd name="adj" fmla="val 8000"/>
              </a:avLst>
            </a:prstGeom>
            <a:effectLst>
              <a:outerShdw blurRad="50800" dist="38100" dir="2700000" algn="tl" rotWithShape="0">
                <a:srgbClr val="000000">
                  <a:alpha val="50000"/>
                </a:srgbClr>
              </a:outerShdw>
            </a:effectLst>
          </p:spPr>
        </p:pic>
        <p:sp>
          <p:nvSpPr>
            <p:cNvPr id="8" name="TextBox 7"/>
            <p:cNvSpPr txBox="1"/>
            <p:nvPr/>
          </p:nvSpPr>
          <p:spPr>
            <a:xfrm>
              <a:off x="3520440" y="6053328"/>
              <a:ext cx="5166360" cy="274320"/>
            </a:xfrm>
            <a:prstGeom prst="rect">
              <a:avLst/>
            </a:prstGeom>
            <a:noFill/>
          </p:spPr>
          <p:txBody>
            <a:bodyPr wrap="square" lIns="0" tIns="0" rIns="0" bIns="0">
              <a:spAutoFit/>
            </a:bodyPr>
            <a:lstStyle/>
            <a:p>
              <a:pPr algn="ctr"/>
              <a:r>
                <a:rPr sz="1200" b="0" i="1" u="none">
                  <a:solidFill>
                    <a:srgbClr val="555B66"/>
                  </a:solidFill>
                  <a:latin typeface="Calibri"/>
                  <a:hlinkClick r:id="rId4"/>
                </a:rPr>
                <a:t>Source: The Economist, economist.com/techfirms</a:t>
              </a:r>
            </a:p>
          </p:txBody>
        </p:sp>
      </p:grpSp>
      <p:sp>
        <p:nvSpPr>
          <p:cNvPr id="9" name="Rectangle 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5  ·  Monopoly and Monopolistic Competition</a:t>
            </a:r>
          </a:p>
        </p:txBody>
      </p:sp>
      <p:sp>
        <p:nvSpPr>
          <p:cNvPr id="12" name="TextBox 11"/>
          <p:cNvSpPr txBox="1"/>
          <p:nvPr/>
        </p:nvSpPr>
        <p:spPr>
          <a:xfrm>
            <a:off x="11475720" y="6583680"/>
            <a:ext cx="502920" cy="292608"/>
          </a:xfrm>
          <a:prstGeom prst="rect">
            <a:avLst/>
          </a:prstGeom>
          <a:noFill/>
        </p:spPr>
        <p:txBody>
          <a:bodyPr wrap="none" lIns="0" tIns="0" rIns="0" bIns="0">
            <a:spAutoFit/>
          </a:bodyPr>
          <a:lstStyle/>
          <a:p>
            <a:pPr algn="r"/>
            <a:fld id="{99DE5288-7E28-53A2-BA5C-A68EAE30E11A}" type="slidenum">
              <a:rPr lang="en-US" sz="1200" dirty="0">
                <a:solidFill>
                  <a:srgbClr val="555B66"/>
                </a:solidFill>
                <a:latin typeface="Calibri"/>
              </a:rPr>
              <a:t>45</a:t>
            </a:fld>
            <a:endParaRPr lang="en-US" sz="1200" dirty="0">
              <a:solidFill>
                <a:srgbClr val="555B66"/>
              </a:solidFill>
              <a:latin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5 · Monopoly and Welfare Impact</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Ultra-Low-Cost Carrier Airlines: Entry Drives Down Prices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80599" y="1417320"/>
            <a:ext cx="6492240" cy="4069080"/>
          </a:xfrm>
          <a:prstGeom prst="rect">
            <a:avLst/>
          </a:prstGeom>
          <a:noFill/>
        </p:spPr>
        <p:txBody>
          <a:bodyPr wrap="square" lIns="0" tIns="0" rIns="0" bIns="0" anchor="ctr">
            <a:noAutofit/>
          </a:bodyPr>
          <a:lstStyle>
            <a:lvl1pPr marL="342900" indent="-342900">
              <a:spcBef>
                <a:spcPts val="1400"/>
              </a:spcBef>
              <a:buClr>
                <a:srgbClr val="0B2B4E"/>
              </a:buClr>
              <a:buFont typeface="Calibri"/>
              <a:buChar char="▪"/>
              <a:defRPr sz="2800" b="0">
                <a:solidFill>
                  <a:srgbClr val="0B2B4E"/>
                </a:solidFill>
                <a:latin typeface="Calibri"/>
              </a:defRPr>
            </a:lvl1pPr>
            <a:lvl2pPr marL="685800" indent="-228600">
              <a:spcBef>
                <a:spcPts val="300"/>
              </a:spcBef>
              <a:buClr>
                <a:srgbClr val="0B2B4E"/>
              </a:buClr>
              <a:buFont typeface="Calibri"/>
              <a:buChar char="–"/>
              <a:defRPr sz="2400" b="0">
                <a:solidFill>
                  <a:srgbClr val="0B2B4E"/>
                </a:solidFill>
                <a:latin typeface="Calibri"/>
              </a:defRPr>
            </a:lvl2pPr>
          </a:lstStyle>
          <a:p>
            <a:pPr algn="l"/>
            <a:r>
              <a:rPr dirty="0">
                <a:latin typeface="Calibri"/>
              </a:rPr>
              <a:t>Ultra-low-cost carriers (ULCC)</a:t>
            </a:r>
          </a:p>
          <a:p>
            <a:pPr algn="l"/>
            <a:r>
              <a:rPr dirty="0">
                <a:latin typeface="Calibri"/>
              </a:rPr>
              <a:t>On routes that ULCC start to fly:</a:t>
            </a:r>
          </a:p>
          <a:p>
            <a:pPr lvl="1" algn="l"/>
            <a:r>
              <a:rPr dirty="0">
                <a:latin typeface="Calibri"/>
              </a:rPr>
              <a:t>Fares about 21% lower than average¹</a:t>
            </a:r>
          </a:p>
          <a:p>
            <a:pPr lvl="1" algn="l"/>
            <a:r>
              <a:rPr dirty="0">
                <a:latin typeface="Calibri"/>
              </a:rPr>
              <a:t>Number of passengers goes up</a:t>
            </a:r>
          </a:p>
          <a:p>
            <a:pPr algn="l"/>
            <a:r>
              <a:rPr dirty="0">
                <a:latin typeface="Calibri"/>
              </a:rPr>
              <a:t>Even the </a:t>
            </a:r>
            <a:r>
              <a:rPr dirty="0">
                <a:solidFill>
                  <a:srgbClr val="C00000"/>
                </a:solidFill>
                <a:latin typeface="Calibri"/>
              </a:rPr>
              <a:t>threat</a:t>
            </a:r>
            <a:r>
              <a:rPr dirty="0">
                <a:latin typeface="Calibri"/>
              </a:rPr>
              <a:t> of entry lowers fares:</a:t>
            </a:r>
          </a:p>
          <a:p>
            <a:pPr lvl="1" algn="l"/>
            <a:r>
              <a:rPr dirty="0">
                <a:latin typeface="Calibri"/>
              </a:rPr>
              <a:t>Once Southwest served both endpoints of a route, incumbents cut fares; over half of the drop came before Southwest entered²</a:t>
            </a:r>
          </a:p>
        </p:txBody>
      </p:sp>
      <p:sp>
        <p:nvSpPr>
          <p:cNvPr id="8" name="TextBox 7"/>
          <p:cNvSpPr txBox="1"/>
          <p:nvPr/>
        </p:nvSpPr>
        <p:spPr>
          <a:xfrm>
            <a:off x="484632" y="5829300"/>
            <a:ext cx="7315200" cy="670560"/>
          </a:xfrm>
          <a:prstGeom prst="rect">
            <a:avLst/>
          </a:prstGeom>
          <a:noFill/>
        </p:spPr>
        <p:txBody>
          <a:bodyPr wrap="square" lIns="0" tIns="0" rIns="0" bIns="0">
            <a:spAutoFit/>
          </a:bodyPr>
          <a:lstStyle/>
          <a:p>
            <a:pPr algn="l"/>
            <a:r>
              <a:rPr sz="1100" b="0" i="1" u="none" dirty="0">
                <a:solidFill>
                  <a:srgbClr val="555B66"/>
                </a:solidFill>
                <a:latin typeface="Calibri"/>
              </a:rPr>
              <a:t>¹ </a:t>
            </a:r>
            <a:r>
              <a:rPr sz="1100" b="0" i="1" u="none" dirty="0" err="1">
                <a:solidFill>
                  <a:srgbClr val="555B66"/>
                </a:solidFill>
                <a:latin typeface="Calibri"/>
              </a:rPr>
              <a:t>Bachwich</a:t>
            </a:r>
            <a:r>
              <a:rPr sz="1100" b="0" i="1" u="none" dirty="0">
                <a:solidFill>
                  <a:srgbClr val="555B66"/>
                </a:solidFill>
                <a:latin typeface="Calibri"/>
              </a:rPr>
              <a:t>, A. R., and M. D. Wittman (2017): “The Emergence and Effects of the Ultra-Low Cost Carrier (ULCC) Business Model in the U.S. Airline Industry,” Journal of Air Transport Management 62: 155–164.
² Goolsbee, A., and C. Syverson (2008): “How Do Incumbents Respond to the Threat of Entry? Evidence from the Major Airlines,” Quarterly Journal of Economics 123(4): 1611–1633.</a:t>
            </a:r>
          </a:p>
        </p:txBody>
      </p:sp>
      <p:pic>
        <p:nvPicPr>
          <p:cNvPr id="9" name="Picture 8" descr="NV_ulcc_airlines.png"/>
          <p:cNvPicPr>
            <a:picLocks noChangeAspect="1"/>
          </p:cNvPicPr>
          <p:nvPr/>
        </p:nvPicPr>
        <p:blipFill>
          <a:blip r:embed="rId3"/>
          <a:srcRect t="12195" b="13288"/>
          <a:stretch>
            <a:fillRect/>
          </a:stretch>
        </p:blipFill>
        <p:spPr>
          <a:xfrm>
            <a:off x="7955279" y="1536192"/>
            <a:ext cx="3520440" cy="4700016"/>
          </a:xfrm>
          <a:prstGeom prst="roundRect">
            <a:avLst>
              <a:gd name="adj" fmla="val 3000"/>
            </a:avLst>
          </a:prstGeom>
          <a:effectLst>
            <a:outerShdw blurRad="50800" dist="38100" dir="2700000" algn="tl" rotWithShape="0">
              <a:srgbClr val="000000">
                <a:alpha val="50000"/>
              </a:srgbClr>
            </a:outerShdw>
          </a:effectLst>
        </p:spPr>
      </p:pic>
      <p:sp>
        <p:nvSpPr>
          <p:cNvPr id="10" name="Rectangle 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5  ·  Monopoly and Monopolistic Competition</a:t>
            </a:r>
          </a:p>
        </p:txBody>
      </p:sp>
      <p:sp>
        <p:nvSpPr>
          <p:cNvPr id="13" name="TextBox 12"/>
          <p:cNvSpPr txBox="1"/>
          <p:nvPr/>
        </p:nvSpPr>
        <p:spPr>
          <a:xfrm>
            <a:off x="11475720" y="6583680"/>
            <a:ext cx="502920" cy="292608"/>
          </a:xfrm>
          <a:prstGeom prst="rect">
            <a:avLst/>
          </a:prstGeom>
          <a:noFill/>
        </p:spPr>
        <p:txBody>
          <a:bodyPr wrap="none" lIns="0" tIns="0" rIns="0" bIns="0">
            <a:spAutoFit/>
          </a:bodyPr>
          <a:lstStyle/>
          <a:p>
            <a:pPr algn="r"/>
            <a:fld id="{A5706A8A-BC76-5991-A5F9-3B2D52CD6AB0}" type="slidenum">
              <a:rPr lang="en-US" sz="1200" dirty="0">
                <a:solidFill>
                  <a:srgbClr val="555B66"/>
                </a:solidFill>
                <a:latin typeface="Calibri"/>
              </a:rPr>
              <a:t>46</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5 · Agenda</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Outline of Module 5</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1560" y="1929384"/>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1</a:t>
            </a:r>
          </a:p>
        </p:txBody>
      </p:sp>
      <p:sp>
        <p:nvSpPr>
          <p:cNvPr id="8" name="Rounded Rectangle 7"/>
          <p:cNvSpPr/>
          <p:nvPr/>
        </p:nvSpPr>
        <p:spPr>
          <a:xfrm>
            <a:off x="10332720" y="2057400"/>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In class</a:t>
            </a:r>
          </a:p>
        </p:txBody>
      </p:sp>
      <p:sp>
        <p:nvSpPr>
          <p:cNvPr id="9" name="TextBox 8"/>
          <p:cNvSpPr txBox="1"/>
          <p:nvPr/>
        </p:nvSpPr>
        <p:spPr>
          <a:xfrm>
            <a:off x="1874519" y="2084832"/>
            <a:ext cx="8293609" cy="731520"/>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0B2B4E"/>
              </a:buClr>
              <a:buFont typeface="Calibri"/>
              <a:buChar char="–"/>
              <a:defRPr sz="2100" b="0">
                <a:solidFill>
                  <a:srgbClr val="0B2B4E"/>
                </a:solidFill>
                <a:latin typeface="Calibri"/>
              </a:defRPr>
            </a:lvl2pPr>
          </a:lstStyle>
          <a:p>
            <a:pPr algn="l">
              <a:buNone/>
            </a:pPr>
            <a:r>
              <a:rPr sz="2500" b="1">
                <a:solidFill>
                  <a:srgbClr val="BFBFBF"/>
                </a:solidFill>
                <a:latin typeface="Calibri"/>
              </a:rPr>
              <a:t>Profit Maximization for Price Searchers</a:t>
            </a:r>
          </a:p>
        </p:txBody>
      </p:sp>
      <p:sp>
        <p:nvSpPr>
          <p:cNvPr id="10" name="Oval 9"/>
          <p:cNvSpPr/>
          <p:nvPr/>
        </p:nvSpPr>
        <p:spPr>
          <a:xfrm>
            <a:off x="1481328" y="2798064"/>
            <a:ext cx="438912" cy="43891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BFBFBF"/>
                </a:solidFill>
                <a:latin typeface="Calibri"/>
              </a:rPr>
              <a:t>1b</a:t>
            </a:r>
          </a:p>
        </p:txBody>
      </p:sp>
      <p:sp>
        <p:nvSpPr>
          <p:cNvPr id="11" name="Rounded Rectangle 10"/>
          <p:cNvSpPr/>
          <p:nvPr/>
        </p:nvSpPr>
        <p:spPr>
          <a:xfrm>
            <a:off x="10707625" y="2889504"/>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In class</a:t>
            </a:r>
          </a:p>
        </p:txBody>
      </p:sp>
      <p:sp>
        <p:nvSpPr>
          <p:cNvPr id="12" name="TextBox 11"/>
          <p:cNvSpPr txBox="1"/>
          <p:nvPr/>
        </p:nvSpPr>
        <p:spPr>
          <a:xfrm>
            <a:off x="2084831" y="2916936"/>
            <a:ext cx="8458202" cy="731520"/>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300" b="0">
                <a:solidFill>
                  <a:srgbClr val="0B2B4E"/>
                </a:solidFill>
                <a:latin typeface="Calibri"/>
              </a:defRPr>
            </a:lvl1pPr>
            <a:lvl2pPr marL="685800" indent="-228600">
              <a:spcBef>
                <a:spcPts val="300"/>
              </a:spcBef>
              <a:buClr>
                <a:srgbClr val="0B2B4E"/>
              </a:buClr>
              <a:buFont typeface="Calibri"/>
              <a:buChar char="–"/>
              <a:defRPr sz="1900" b="0">
                <a:solidFill>
                  <a:srgbClr val="0B2B4E"/>
                </a:solidFill>
                <a:latin typeface="Calibri"/>
              </a:defRPr>
            </a:lvl2pPr>
          </a:lstStyle>
          <a:p>
            <a:pPr algn="l">
              <a:buNone/>
            </a:pPr>
            <a:r>
              <a:rPr sz="2300" b="1">
                <a:solidFill>
                  <a:srgbClr val="BFBFBF"/>
                </a:solidFill>
                <a:latin typeface="Calibri"/>
              </a:rPr>
              <a:t>Markup and Lerner Index</a:t>
            </a:r>
          </a:p>
        </p:txBody>
      </p:sp>
      <p:sp>
        <p:nvSpPr>
          <p:cNvPr id="13" name="Oval 12"/>
          <p:cNvSpPr/>
          <p:nvPr/>
        </p:nvSpPr>
        <p:spPr>
          <a:xfrm>
            <a:off x="1051560" y="3593592"/>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2</a:t>
            </a:r>
          </a:p>
        </p:txBody>
      </p:sp>
      <p:sp>
        <p:nvSpPr>
          <p:cNvPr id="14" name="Rounded Rectangle 13"/>
          <p:cNvSpPr/>
          <p:nvPr/>
        </p:nvSpPr>
        <p:spPr>
          <a:xfrm>
            <a:off x="10332720" y="3721608"/>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In class</a:t>
            </a:r>
          </a:p>
        </p:txBody>
      </p:sp>
      <p:sp>
        <p:nvSpPr>
          <p:cNvPr id="15" name="TextBox 14"/>
          <p:cNvSpPr txBox="1"/>
          <p:nvPr/>
        </p:nvSpPr>
        <p:spPr>
          <a:xfrm>
            <a:off x="1874519" y="3749040"/>
            <a:ext cx="8293609" cy="731520"/>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0B2B4E"/>
              </a:buClr>
              <a:buFont typeface="Calibri"/>
              <a:buChar char="–"/>
              <a:defRPr sz="2100" b="0">
                <a:solidFill>
                  <a:srgbClr val="0B2B4E"/>
                </a:solidFill>
                <a:latin typeface="Calibri"/>
              </a:defRPr>
            </a:lvl2pPr>
          </a:lstStyle>
          <a:p>
            <a:pPr algn="l">
              <a:buNone/>
            </a:pPr>
            <a:r>
              <a:rPr sz="2500" b="1">
                <a:solidFill>
                  <a:srgbClr val="BFBFBF"/>
                </a:solidFill>
                <a:latin typeface="Calibri"/>
              </a:rPr>
              <a:t>Monopoly and Welfare Impact</a:t>
            </a:r>
          </a:p>
        </p:txBody>
      </p:sp>
      <p:sp>
        <p:nvSpPr>
          <p:cNvPr id="16" name="Rounded Rectangle 15"/>
          <p:cNvSpPr/>
          <p:nvPr/>
        </p:nvSpPr>
        <p:spPr>
          <a:xfrm>
            <a:off x="822960" y="4352544"/>
            <a:ext cx="11109960" cy="841248"/>
          </a:xfrm>
          <a:prstGeom prst="roundRect">
            <a:avLst>
              <a:gd name="adj" fmla="val 35000"/>
            </a:avLst>
          </a:prstGeom>
          <a:solidFill>
            <a:srgbClr val="FDF6E6"/>
          </a:solidFill>
          <a:ln w="127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051560" y="442569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0B2B4E"/>
                </a:solidFill>
                <a:latin typeface="Calibri"/>
              </a:rPr>
              <a:t>3</a:t>
            </a:r>
          </a:p>
        </p:txBody>
      </p:sp>
      <p:sp>
        <p:nvSpPr>
          <p:cNvPr id="18" name="Rounded Rectangle 17"/>
          <p:cNvSpPr/>
          <p:nvPr/>
        </p:nvSpPr>
        <p:spPr>
          <a:xfrm>
            <a:off x="10332720" y="4553712"/>
            <a:ext cx="1417320" cy="329184"/>
          </a:xfrm>
          <a:prstGeom prst="roundRect">
            <a:avLst>
              <a:gd name="adj" fmla="val 30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In class</a:t>
            </a:r>
          </a:p>
        </p:txBody>
      </p:sp>
      <p:sp>
        <p:nvSpPr>
          <p:cNvPr id="19" name="TextBox 18"/>
          <p:cNvSpPr txBox="1"/>
          <p:nvPr/>
        </p:nvSpPr>
        <p:spPr>
          <a:xfrm>
            <a:off x="1874519" y="4407408"/>
            <a:ext cx="8293609" cy="731520"/>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0B2B4E"/>
              </a:buClr>
              <a:buFont typeface="Calibri"/>
              <a:buChar char="–"/>
              <a:defRPr sz="2100" b="0">
                <a:solidFill>
                  <a:srgbClr val="0B2B4E"/>
                </a:solidFill>
                <a:latin typeface="Calibri"/>
              </a:defRPr>
            </a:lvl2pPr>
          </a:lstStyle>
          <a:p>
            <a:pPr algn="l">
              <a:buNone/>
            </a:pPr>
            <a:r>
              <a:rPr sz="2500" b="1">
                <a:solidFill>
                  <a:srgbClr val="0B2B4E"/>
                </a:solidFill>
                <a:latin typeface="Calibri"/>
              </a:rPr>
              <a:t>Rising Market Power and Regulations</a:t>
            </a:r>
          </a:p>
          <a:p>
            <a:pPr algn="l">
              <a:spcBef>
                <a:spcPts val="0"/>
              </a:spcBef>
              <a:buNone/>
            </a:pPr>
            <a:r>
              <a:rPr sz="2200">
                <a:solidFill>
                  <a:srgbClr val="555B66"/>
                </a:solidFill>
                <a:latin typeface="Calibri"/>
              </a:rPr>
              <a:t>Rising market concentration and government responses</a:t>
            </a:r>
          </a:p>
        </p:txBody>
      </p:sp>
      <p:sp>
        <p:nvSpPr>
          <p:cNvPr id="20" name="Oval 19"/>
          <p:cNvSpPr/>
          <p:nvPr/>
        </p:nvSpPr>
        <p:spPr>
          <a:xfrm>
            <a:off x="1051560" y="525780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4</a:t>
            </a:r>
          </a:p>
        </p:txBody>
      </p:sp>
      <p:sp>
        <p:nvSpPr>
          <p:cNvPr id="21" name="Rounded Rectangle 20"/>
          <p:cNvSpPr/>
          <p:nvPr/>
        </p:nvSpPr>
        <p:spPr>
          <a:xfrm>
            <a:off x="10332720" y="5385816"/>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In class</a:t>
            </a:r>
          </a:p>
        </p:txBody>
      </p:sp>
      <p:sp>
        <p:nvSpPr>
          <p:cNvPr id="22" name="TextBox 21"/>
          <p:cNvSpPr txBox="1"/>
          <p:nvPr/>
        </p:nvSpPr>
        <p:spPr>
          <a:xfrm>
            <a:off x="1874519" y="5413248"/>
            <a:ext cx="8293609" cy="731520"/>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0B2B4E"/>
              </a:buClr>
              <a:buFont typeface="Calibri"/>
              <a:buChar char="–"/>
              <a:defRPr sz="2100" b="0">
                <a:solidFill>
                  <a:srgbClr val="0B2B4E"/>
                </a:solidFill>
                <a:latin typeface="Calibri"/>
              </a:defRPr>
            </a:lvl2pPr>
          </a:lstStyle>
          <a:p>
            <a:pPr algn="l">
              <a:buNone/>
            </a:pPr>
            <a:r>
              <a:rPr sz="2500" b="1">
                <a:solidFill>
                  <a:srgbClr val="BFBFBF"/>
                </a:solidFill>
                <a:latin typeface="Calibri"/>
              </a:rPr>
              <a:t>Monopolistic Competition</a:t>
            </a:r>
          </a:p>
        </p:txBody>
      </p:sp>
      <p:sp>
        <p:nvSpPr>
          <p:cNvPr id="23" name="Rectangle 2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5  ·  Monopoly and Monopolistic Competition</a:t>
            </a:r>
          </a:p>
        </p:txBody>
      </p:sp>
      <p:sp>
        <p:nvSpPr>
          <p:cNvPr id="26" name="TextBox 25"/>
          <p:cNvSpPr txBox="1"/>
          <p:nvPr/>
        </p:nvSpPr>
        <p:spPr>
          <a:xfrm>
            <a:off x="11475720" y="6583680"/>
            <a:ext cx="502920" cy="292608"/>
          </a:xfrm>
          <a:prstGeom prst="rect">
            <a:avLst/>
          </a:prstGeom>
          <a:noFill/>
        </p:spPr>
        <p:txBody>
          <a:bodyPr wrap="none" lIns="0" tIns="0" rIns="0" bIns="0">
            <a:spAutoFit/>
          </a:bodyPr>
          <a:lstStyle/>
          <a:p>
            <a:pPr algn="r"/>
            <a:fld id="{19C17247-4565-5EF9-866A-6E593B231199}" type="slidenum">
              <a:rPr lang="en-US" sz="1200" dirty="0">
                <a:solidFill>
                  <a:srgbClr val="555B66"/>
                </a:solidFill>
                <a:latin typeface="Calibri"/>
              </a:rPr>
              <a:t>47</a:t>
            </a:fld>
            <a:endParaRPr lang="en-US" sz="1200" dirty="0">
              <a:solidFill>
                <a:srgbClr val="555B66"/>
              </a:solidFill>
              <a:latin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5 · Rising Market Power and Regulations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Rising Markups in the US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472184"/>
            <a:ext cx="7653527" cy="310896"/>
          </a:xfrm>
          <a:prstGeom prst="rect">
            <a:avLst/>
          </a:prstGeom>
          <a:noFill/>
        </p:spPr>
        <p:txBody>
          <a:bodyPr wrap="square" lIns="0" tIns="0" rIns="0" bIns="0">
            <a:spAutoFit/>
          </a:bodyPr>
          <a:lstStyle/>
          <a:p>
            <a:pPr algn="ctr"/>
            <a:r>
              <a:rPr sz="2000" b="1" i="0" u="none">
                <a:solidFill>
                  <a:srgbClr val="0B2B4E"/>
                </a:solidFill>
                <a:latin typeface="Calibri"/>
              </a:rPr>
              <a:t>Average markup (P/MC) in the US economy*</a:t>
            </a:r>
          </a:p>
        </p:txBody>
      </p:sp>
      <p:pic>
        <p:nvPicPr>
          <p:cNvPr id="8" name="Picture 7" descr="NV_s43_rId4.png"/>
          <p:cNvPicPr>
            <a:picLocks noChangeAspect="1"/>
          </p:cNvPicPr>
          <p:nvPr/>
        </p:nvPicPr>
        <p:blipFill>
          <a:blip r:embed="rId3"/>
          <a:stretch>
            <a:fillRect/>
          </a:stretch>
        </p:blipFill>
        <p:spPr>
          <a:xfrm>
            <a:off x="640080" y="1783080"/>
            <a:ext cx="7653527" cy="4078224"/>
          </a:xfrm>
          <a:prstGeom prst="roundRect">
            <a:avLst>
              <a:gd name="adj" fmla="val 8000"/>
            </a:avLst>
          </a:prstGeom>
          <a:effectLst>
            <a:outerShdw blurRad="50800" dist="38100" dir="2700000" algn="tl" rotWithShape="0">
              <a:srgbClr val="000000">
                <a:alpha val="50000"/>
              </a:srgbClr>
            </a:outerShdw>
          </a:effectLst>
        </p:spPr>
      </p:pic>
      <p:sp>
        <p:nvSpPr>
          <p:cNvPr id="9" name="TextBox 8"/>
          <p:cNvSpPr txBox="1"/>
          <p:nvPr/>
        </p:nvSpPr>
        <p:spPr>
          <a:xfrm>
            <a:off x="822960" y="5980176"/>
            <a:ext cx="7470648" cy="557784"/>
          </a:xfrm>
          <a:prstGeom prst="rect">
            <a:avLst/>
          </a:prstGeom>
          <a:noFill/>
        </p:spPr>
        <p:txBody>
          <a:bodyPr wrap="square" lIns="0" tIns="0" rIns="0" bIns="0">
            <a:spAutoFit/>
          </a:bodyPr>
          <a:lstStyle/>
          <a:p>
            <a:pPr algn="l"/>
            <a:r>
              <a:rPr sz="1200" b="0" i="1" u="none">
                <a:solidFill>
                  <a:srgbClr val="555B66"/>
                </a:solidFill>
                <a:latin typeface="Calibri"/>
              </a:rPr>
              <a:t>Source: De Loecker et al., QJE 2020: The Rise of Market Power and the Macroeconomic Implications
*The source uses the markup definition (P/MC) – this is different from the Lerner index (P − MC)/P</a:t>
            </a:r>
          </a:p>
        </p:txBody>
      </p:sp>
      <p:grpSp>
        <p:nvGrpSpPr>
          <p:cNvPr id="115" name="Group pair 115"/>
          <p:cNvGrpSpPr/>
          <p:nvPr/>
        </p:nvGrpSpPr>
        <p:grpSpPr>
          <a:xfrm>
            <a:off x="8741664" y="5175504"/>
            <a:ext cx="3136392" cy="868680"/>
            <a:chOff x="8741664" y="5175504"/>
            <a:chExt cx="3136392" cy="868680"/>
          </a:xfrm>
        </p:grpSpPr>
        <p:sp>
          <p:nvSpPr>
            <p:cNvPr id="10" name="MarkupNote"/>
            <p:cNvSpPr/>
            <p:nvPr/>
          </p:nvSpPr>
          <p:spPr>
            <a:xfrm>
              <a:off x="8741664" y="5175504"/>
              <a:ext cx="3136392" cy="868680"/>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924544" y="5285232"/>
              <a:ext cx="2770632" cy="649224"/>
            </a:xfrm>
            <a:prstGeom prst="rect">
              <a:avLst/>
            </a:prstGeom>
            <a:noFill/>
          </p:spPr>
          <p:txBody>
            <a:bodyPr wrap="square" lIns="45720" tIns="0" rIns="45720" bIns="0" anchor="ctr">
              <a:spAutoFit/>
            </a:bodyPr>
            <a:lstStyle/>
            <a:p>
              <a:pPr algn="l"/>
              <a:r>
                <a:rPr sz="2000" b="1" i="0" u="none">
                  <a:solidFill>
                    <a:srgbClr val="0B2B4E"/>
                  </a:solidFill>
                  <a:latin typeface="Calibri"/>
                </a:rPr>
                <a:t>Note: </a:t>
              </a:r>
              <a:r>
                <a:rPr sz="2000" b="0" i="0" u="none">
                  <a:solidFill>
                    <a:srgbClr val="0B2B4E"/>
                  </a:solidFill>
                  <a:latin typeface="Calibri"/>
                </a:rPr>
                <a:t>If markup = 1.5 → Lerner index = 0.33</a:t>
              </a:r>
            </a:p>
          </p:txBody>
        </p:sp>
      </p:grpSp>
      <p:sp>
        <p:nvSpPr>
          <p:cNvPr id="12" name="Rectangle 1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5  ·  Monopoly and Monopolistic Competition</a:t>
            </a:r>
          </a:p>
        </p:txBody>
      </p:sp>
      <p:sp>
        <p:nvSpPr>
          <p:cNvPr id="15" name="TextBox 14"/>
          <p:cNvSpPr txBox="1"/>
          <p:nvPr/>
        </p:nvSpPr>
        <p:spPr>
          <a:xfrm>
            <a:off x="11475720" y="6583680"/>
            <a:ext cx="502920" cy="292608"/>
          </a:xfrm>
          <a:prstGeom prst="rect">
            <a:avLst/>
          </a:prstGeom>
          <a:noFill/>
        </p:spPr>
        <p:txBody>
          <a:bodyPr wrap="none" lIns="0" tIns="0" rIns="0" bIns="0">
            <a:spAutoFit/>
          </a:bodyPr>
          <a:lstStyle/>
          <a:p>
            <a:pPr algn="r"/>
            <a:fld id="{B38D1FD4-E120-5B60-A5FE-8016C3F29564}" type="slidenum">
              <a:rPr lang="en-US" sz="1200" dirty="0">
                <a:solidFill>
                  <a:srgbClr val="555B66"/>
                </a:solidFill>
                <a:latin typeface="Calibri"/>
              </a:rPr>
              <a:t>48</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5"/>
                                        </p:tgtEl>
                                        <p:attrNameLst>
                                          <p:attrName>style.visibility</p:attrName>
                                        </p:attrNameLst>
                                      </p:cBhvr>
                                      <p:to>
                                        <p:strVal val="visible"/>
                                      </p:to>
                                    </p:set>
                                    <p:animEffect transition="in" filter="fade">
                                      <p:cBhvr>
                                        <p:cTn id="7" dur="500"/>
                                        <p:tgtEl>
                                          <p:spTgt spid="1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5 · Rising Market Power and Regulations</a:t>
            </a:r>
          </a:p>
        </p:txBody>
      </p:sp>
      <p:sp>
        <p:nvSpPr>
          <p:cNvPr id="4" name="TextBox 3"/>
          <p:cNvSpPr txBox="1"/>
          <p:nvPr/>
        </p:nvSpPr>
        <p:spPr>
          <a:xfrm>
            <a:off x="251999" y="502920"/>
            <a:ext cx="11687697" cy="492443"/>
          </a:xfrm>
          <a:prstGeom prst="rect">
            <a:avLst/>
          </a:prstGeom>
          <a:noFill/>
        </p:spPr>
        <p:txBody>
          <a:bodyPr wrap="square" lIns="0" tIns="0" rIns="0" bIns="0">
            <a:spAutoFit/>
          </a:bodyPr>
          <a:lstStyle/>
          <a:p>
            <a:pPr algn="l"/>
            <a:r>
              <a:rPr sz="3200" b="1" i="0" u="none" dirty="0">
                <a:solidFill>
                  <a:srgbClr val="0B2B4E"/>
                </a:solidFill>
                <a:latin typeface="Calibri"/>
              </a:rPr>
              <a:t>Health Care</a:t>
            </a:r>
            <a:r>
              <a:rPr lang="en-US" sz="3200" b="1" i="0" u="none" dirty="0">
                <a:solidFill>
                  <a:srgbClr val="0B2B4E"/>
                </a:solidFill>
                <a:latin typeface="Calibri"/>
              </a:rPr>
              <a:t> Expenditures Across Countries</a:t>
            </a:r>
            <a:endParaRPr sz="3200" b="1" i="0" u="none" dirty="0">
              <a:solidFill>
                <a:srgbClr val="0B2B4E"/>
              </a:solidFill>
              <a:latin typeface="Calibri"/>
            </a:endParaRP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NV_s40_rId3.png"/>
          <p:cNvPicPr>
            <a:picLocks noChangeAspect="1"/>
          </p:cNvPicPr>
          <p:nvPr/>
        </p:nvPicPr>
        <p:blipFill>
          <a:blip r:embed="rId3"/>
          <a:stretch>
            <a:fillRect/>
          </a:stretch>
        </p:blipFill>
        <p:spPr>
          <a:xfrm>
            <a:off x="1645920" y="1417320"/>
            <a:ext cx="8900394" cy="4846320"/>
          </a:xfrm>
          <a:prstGeom prst="roundRect">
            <a:avLst>
              <a:gd name="adj" fmla="val 8000"/>
            </a:avLst>
          </a:prstGeom>
          <a:effectLst>
            <a:outerShdw blurRad="50800" dist="38100" dir="2700000" algn="tl" rotWithShape="0">
              <a:srgbClr val="000000">
                <a:alpha val="50000"/>
              </a:srgbClr>
            </a:outerShdw>
          </a:effectLst>
        </p:spPr>
      </p:pic>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5  ·  Monopoly and Monopolistic Competition</a:t>
            </a:r>
          </a:p>
        </p:txBody>
      </p:sp>
      <p:sp>
        <p:nvSpPr>
          <p:cNvPr id="11" name="TextBox 10"/>
          <p:cNvSpPr txBox="1"/>
          <p:nvPr/>
        </p:nvSpPr>
        <p:spPr>
          <a:xfrm>
            <a:off x="11475720" y="6583680"/>
            <a:ext cx="502920" cy="292608"/>
          </a:xfrm>
          <a:prstGeom prst="rect">
            <a:avLst/>
          </a:prstGeom>
          <a:noFill/>
        </p:spPr>
        <p:txBody>
          <a:bodyPr wrap="none" lIns="0" tIns="0" rIns="0" bIns="0">
            <a:spAutoFit/>
          </a:bodyPr>
          <a:lstStyle/>
          <a:p>
            <a:pPr algn="r"/>
            <a:fld id="{6BF35810-F1C9-5B1B-AF76-36B14C127958}" type="slidenum">
              <a:rPr lang="en-US" sz="1200" dirty="0">
                <a:solidFill>
                  <a:srgbClr val="555B66"/>
                </a:solidFill>
                <a:latin typeface="Calibri"/>
              </a:rPr>
              <a:t>49</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5 · Rising Market Power and Regulations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Health Care Cost Comparison: Heart-Related Treatments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80599" y="1371600"/>
            <a:ext cx="11230497" cy="1097280"/>
          </a:xfrm>
          <a:prstGeom prst="rect">
            <a:avLst/>
          </a:prstGeom>
          <a:noFill/>
        </p:spPr>
        <p:txBody>
          <a:bodyPr wrap="square" lIns="0" tIns="0" rIns="0" bIns="0">
            <a:noAutofit/>
          </a:bodyPr>
          <a:lstStyle>
            <a:lvl1pPr marL="342900" indent="-342900">
              <a:spcBef>
                <a:spcPts val="600"/>
              </a:spcBef>
              <a:buClr>
                <a:srgbClr val="0B2B4E"/>
              </a:buClr>
              <a:buFont typeface="Calibri"/>
              <a:buChar char="▪"/>
              <a:defRPr sz="2400" b="0">
                <a:solidFill>
                  <a:srgbClr val="0B2B4E"/>
                </a:solidFill>
                <a:latin typeface="Calibri"/>
              </a:defRPr>
            </a:lvl1pPr>
            <a:lvl2pPr marL="685800" indent="-228600">
              <a:spcBef>
                <a:spcPts val="300"/>
              </a:spcBef>
              <a:buClr>
                <a:srgbClr val="0B2B4E"/>
              </a:buClr>
              <a:buFont typeface="Calibri"/>
              <a:buChar char="–"/>
              <a:defRPr sz="2200" b="0">
                <a:solidFill>
                  <a:srgbClr val="0B2B4E"/>
                </a:solidFill>
                <a:latin typeface="Calibri"/>
              </a:defRPr>
            </a:lvl2pPr>
          </a:lstStyle>
          <a:p>
            <a:pPr algn="l"/>
            <a:r>
              <a:rPr dirty="0">
                <a:latin typeface="Calibri"/>
              </a:rPr>
              <a:t>Angioplasty: a procedure used to open blocked coronary arteries</a:t>
            </a:r>
          </a:p>
          <a:p>
            <a:pPr algn="l"/>
            <a:r>
              <a:rPr dirty="0">
                <a:latin typeface="Calibri"/>
              </a:rPr>
              <a:t>Bypass surgery: redirect blood around a blocked section of an artery in the heart</a:t>
            </a:r>
          </a:p>
        </p:txBody>
      </p:sp>
      <p:sp>
        <p:nvSpPr>
          <p:cNvPr id="9" name="Rectangle 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5  ·  Monopoly and Monopolistic Competition</a:t>
            </a:r>
          </a:p>
        </p:txBody>
      </p:sp>
      <p:sp>
        <p:nvSpPr>
          <p:cNvPr id="12" name="TextBox 11"/>
          <p:cNvSpPr txBox="1"/>
          <p:nvPr/>
        </p:nvSpPr>
        <p:spPr>
          <a:xfrm>
            <a:off x="11475720" y="6583680"/>
            <a:ext cx="502920" cy="292608"/>
          </a:xfrm>
          <a:prstGeom prst="rect">
            <a:avLst/>
          </a:prstGeom>
          <a:noFill/>
        </p:spPr>
        <p:txBody>
          <a:bodyPr wrap="none" lIns="0" tIns="0" rIns="0" bIns="0">
            <a:spAutoFit/>
          </a:bodyPr>
          <a:lstStyle/>
          <a:p>
            <a:pPr algn="r"/>
            <a:fld id="{2FAB9EA4-393E-5906-A530-356F8929F05E}" type="slidenum">
              <a:rPr lang="en-US" sz="1200" dirty="0">
                <a:solidFill>
                  <a:srgbClr val="555B66"/>
                </a:solidFill>
                <a:latin typeface="Calibri"/>
              </a:rPr>
              <a:t>50</a:t>
            </a:fld>
            <a:endParaRPr lang="en-US" sz="1200" dirty="0">
              <a:solidFill>
                <a:srgbClr val="555B66"/>
              </a:solidFill>
              <a:latin typeface="Calibri"/>
            </a:endParaRPr>
          </a:p>
        </p:txBody>
      </p:sp>
      <p:grpSp>
        <p:nvGrpSpPr>
          <p:cNvPr id="41" name="HealthChart2022">
            <a:extLst>
              <a:ext uri="{FF2B5EF4-FFF2-40B4-BE49-F238E27FC236}">
                <a16:creationId xmlns:a16="http://schemas.microsoft.com/office/drawing/2014/main" id="{D6CF7230-CF5B-09D1-3ECF-C522F5EB5F93}"/>
              </a:ext>
            </a:extLst>
          </p:cNvPr>
          <p:cNvGrpSpPr/>
          <p:nvPr/>
        </p:nvGrpSpPr>
        <p:grpSpPr>
          <a:xfrm>
            <a:off x="2011680" y="2331720"/>
            <a:ext cx="8138160" cy="4200668"/>
            <a:chOff x="2011680" y="2331720"/>
            <a:chExt cx="8138160" cy="4200668"/>
          </a:xfrm>
        </p:grpSpPr>
        <p:sp>
          <p:nvSpPr>
            <p:cNvPr id="13" name="ChartCard">
              <a:extLst>
                <a:ext uri="{FF2B5EF4-FFF2-40B4-BE49-F238E27FC236}">
                  <a16:creationId xmlns:a16="http://schemas.microsoft.com/office/drawing/2014/main" id="{00D31FC9-26D9-BE76-1058-481F72416B30}"/>
                </a:ext>
              </a:extLst>
            </p:cNvPr>
            <p:cNvSpPr/>
            <p:nvPr/>
          </p:nvSpPr>
          <p:spPr>
            <a:xfrm>
              <a:off x="2011680" y="2331720"/>
              <a:ext cx="8138159" cy="3794760"/>
            </a:xfrm>
            <a:prstGeom prst="rect">
              <a:avLst/>
            </a:prstGeom>
            <a:solidFill>
              <a:srgbClr val="FFFFFF"/>
            </a:solidFill>
            <a:ln w="9525" cap="flat" cmpd="sng" algn="ctr">
              <a:noFill/>
              <a:prstDash val="solid"/>
            </a:ln>
            <a:effectLst>
              <a:outerShdw blurRad="50800" dist="37717" dir="2700022" rotWithShape="0">
                <a:srgbClr val="000000">
                  <a:alpha val="50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ChartTitle">
              <a:extLst>
                <a:ext uri="{FF2B5EF4-FFF2-40B4-BE49-F238E27FC236}">
                  <a16:creationId xmlns:a16="http://schemas.microsoft.com/office/drawing/2014/main" id="{66E7E491-5614-C4F9-49CA-2F1AEBAE5F25}"/>
                </a:ext>
              </a:extLst>
            </p:cNvPr>
            <p:cNvSpPr txBox="1"/>
            <p:nvPr/>
          </p:nvSpPr>
          <p:spPr>
            <a:xfrm>
              <a:off x="2194560" y="2404872"/>
              <a:ext cx="7772400" cy="369332"/>
            </a:xfrm>
            <a:prstGeom prst="rect">
              <a:avLst/>
            </a:prstGeom>
            <a:noFill/>
          </p:spPr>
          <p:txBody>
            <a:bodyPr vert="horz" wrap="square" lIns="0" tIns="0" rIns="0" bIns="0" rtlCol="0" anchor="ctr">
              <a:noAutofit/>
            </a:bodyPr>
            <a:lstStyle/>
            <a:p>
              <a:pPr algn="ctr"/>
              <a:r>
                <a:rPr lang="en-US" b="1">
                  <a:solidFill>
                    <a:srgbClr val="0B2B4E"/>
                  </a:solidFill>
                  <a:latin typeface="Calibri" panose="020F0502020204030204" pitchFamily="34" charset="0"/>
                </a:rPr>
                <a:t>Median price of an angioplasty and of a coronary bypass, 2022 (USD)</a:t>
              </a:r>
            </a:p>
          </p:txBody>
        </p:sp>
        <p:sp>
          <p:nvSpPr>
            <p:cNvPr id="15" name="LegMark0">
              <a:extLst>
                <a:ext uri="{FF2B5EF4-FFF2-40B4-BE49-F238E27FC236}">
                  <a16:creationId xmlns:a16="http://schemas.microsoft.com/office/drawing/2014/main" id="{CD02D528-D448-DFD2-1F7E-F66A0F07B69A}"/>
                </a:ext>
              </a:extLst>
            </p:cNvPr>
            <p:cNvSpPr/>
            <p:nvPr/>
          </p:nvSpPr>
          <p:spPr>
            <a:xfrm>
              <a:off x="2514600" y="2926080"/>
              <a:ext cx="201168" cy="201168"/>
            </a:xfrm>
            <a:prstGeom prst="rect">
              <a:avLst/>
            </a:prstGeom>
            <a:solidFill>
              <a:srgbClr val="0B2B4E"/>
            </a:solidFill>
            <a:ln w="9525">
              <a:solidFill>
                <a:srgbClr val="0B2B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LegText0">
              <a:extLst>
                <a:ext uri="{FF2B5EF4-FFF2-40B4-BE49-F238E27FC236}">
                  <a16:creationId xmlns:a16="http://schemas.microsoft.com/office/drawing/2014/main" id="{F2AB7992-E321-172C-0E28-B9825084109E}"/>
                </a:ext>
              </a:extLst>
            </p:cNvPr>
            <p:cNvSpPr txBox="1"/>
            <p:nvPr/>
          </p:nvSpPr>
          <p:spPr>
            <a:xfrm>
              <a:off x="2788920" y="2871216"/>
              <a:ext cx="2011680" cy="369332"/>
            </a:xfrm>
            <a:prstGeom prst="rect">
              <a:avLst/>
            </a:prstGeom>
            <a:noFill/>
          </p:spPr>
          <p:txBody>
            <a:bodyPr vert="horz" wrap="square" lIns="0" tIns="0" rIns="0" bIns="0" rtlCol="0" anchor="ctr">
              <a:noAutofit/>
            </a:bodyPr>
            <a:lstStyle/>
            <a:p>
              <a:r>
                <a:rPr lang="en-US" sz="1600">
                  <a:solidFill>
                    <a:srgbClr val="0B2B4E"/>
                  </a:solidFill>
                  <a:latin typeface="Calibri" panose="020F0502020204030204" pitchFamily="34" charset="0"/>
                </a:rPr>
                <a:t>Angioplasty</a:t>
              </a:r>
            </a:p>
          </p:txBody>
        </p:sp>
        <p:sp>
          <p:nvSpPr>
            <p:cNvPr id="17" name="LegMark1">
              <a:extLst>
                <a:ext uri="{FF2B5EF4-FFF2-40B4-BE49-F238E27FC236}">
                  <a16:creationId xmlns:a16="http://schemas.microsoft.com/office/drawing/2014/main" id="{4E9980E2-C2FE-3016-D119-1070D80A745B}"/>
                </a:ext>
              </a:extLst>
            </p:cNvPr>
            <p:cNvSpPr/>
            <p:nvPr/>
          </p:nvSpPr>
          <p:spPr>
            <a:xfrm>
              <a:off x="2514600" y="3255264"/>
              <a:ext cx="201168" cy="201168"/>
            </a:xfrm>
            <a:prstGeom prst="rect">
              <a:avLst/>
            </a:prstGeom>
            <a:solidFill>
              <a:srgbClr val="E09F3E"/>
            </a:solidFill>
            <a:ln w="9525">
              <a:solidFill>
                <a:srgbClr val="0B2B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LegText1">
              <a:extLst>
                <a:ext uri="{FF2B5EF4-FFF2-40B4-BE49-F238E27FC236}">
                  <a16:creationId xmlns:a16="http://schemas.microsoft.com/office/drawing/2014/main" id="{AFA2EF63-9367-48A2-0597-06DF6C023BBF}"/>
                </a:ext>
              </a:extLst>
            </p:cNvPr>
            <p:cNvSpPr txBox="1"/>
            <p:nvPr/>
          </p:nvSpPr>
          <p:spPr>
            <a:xfrm>
              <a:off x="2788920" y="3200400"/>
              <a:ext cx="2011680" cy="369332"/>
            </a:xfrm>
            <a:prstGeom prst="rect">
              <a:avLst/>
            </a:prstGeom>
            <a:noFill/>
          </p:spPr>
          <p:txBody>
            <a:bodyPr vert="horz" wrap="square" lIns="0" tIns="0" rIns="0" bIns="0" rtlCol="0" anchor="ctr">
              <a:noAutofit/>
            </a:bodyPr>
            <a:lstStyle/>
            <a:p>
              <a:r>
                <a:rPr lang="en-US" sz="1600">
                  <a:solidFill>
                    <a:srgbClr val="0B2B4E"/>
                  </a:solidFill>
                  <a:latin typeface="Calibri" panose="020F0502020204030204" pitchFamily="34" charset="0"/>
                </a:rPr>
                <a:t>Bypass surgery</a:t>
              </a:r>
            </a:p>
          </p:txBody>
        </p:sp>
        <p:sp>
          <p:nvSpPr>
            <p:cNvPr id="19" name="Bar00">
              <a:extLst>
                <a:ext uri="{FF2B5EF4-FFF2-40B4-BE49-F238E27FC236}">
                  <a16:creationId xmlns:a16="http://schemas.microsoft.com/office/drawing/2014/main" id="{E6D4D3DE-3BFE-C603-F727-90D0600A4133}"/>
                </a:ext>
              </a:extLst>
            </p:cNvPr>
            <p:cNvSpPr/>
            <p:nvPr/>
          </p:nvSpPr>
          <p:spPr>
            <a:xfrm>
              <a:off x="2807208" y="5222021"/>
              <a:ext cx="640080" cy="264379"/>
            </a:xfrm>
            <a:prstGeom prst="rect">
              <a:avLst/>
            </a:prstGeom>
            <a:solidFill>
              <a:srgbClr val="0B2B4E"/>
            </a:solidFill>
            <a:ln w="9525">
              <a:solidFill>
                <a:srgbClr val="0B2B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Val00">
              <a:extLst>
                <a:ext uri="{FF2B5EF4-FFF2-40B4-BE49-F238E27FC236}">
                  <a16:creationId xmlns:a16="http://schemas.microsoft.com/office/drawing/2014/main" id="{44BE236E-7EEE-5BCA-A5DB-391E7E4AFC5B}"/>
                </a:ext>
              </a:extLst>
            </p:cNvPr>
            <p:cNvSpPr txBox="1"/>
            <p:nvPr/>
          </p:nvSpPr>
          <p:spPr>
            <a:xfrm>
              <a:off x="2670048" y="4911125"/>
              <a:ext cx="914400" cy="369332"/>
            </a:xfrm>
            <a:prstGeom prst="rect">
              <a:avLst/>
            </a:prstGeom>
            <a:noFill/>
          </p:spPr>
          <p:txBody>
            <a:bodyPr vert="horz" wrap="square" lIns="0" tIns="0" rIns="0" bIns="0" rtlCol="0" anchor="ctr">
              <a:noAutofit/>
            </a:bodyPr>
            <a:lstStyle/>
            <a:p>
              <a:pPr algn="ctr"/>
              <a:r>
                <a:rPr lang="en-US" sz="1600">
                  <a:solidFill>
                    <a:srgbClr val="0B2B4E"/>
                  </a:solidFill>
                  <a:latin typeface="Calibri" panose="020F0502020204030204" pitchFamily="34" charset="0"/>
                </a:rPr>
                <a:t>$11.1k</a:t>
              </a:r>
            </a:p>
          </p:txBody>
        </p:sp>
        <p:sp>
          <p:nvSpPr>
            <p:cNvPr id="21" name="Bar01">
              <a:extLst>
                <a:ext uri="{FF2B5EF4-FFF2-40B4-BE49-F238E27FC236}">
                  <a16:creationId xmlns:a16="http://schemas.microsoft.com/office/drawing/2014/main" id="{99EEE5EC-8785-5DE1-3322-DD186435AE2E}"/>
                </a:ext>
              </a:extLst>
            </p:cNvPr>
            <p:cNvSpPr/>
            <p:nvPr/>
          </p:nvSpPr>
          <p:spPr>
            <a:xfrm>
              <a:off x="3502152" y="4870304"/>
              <a:ext cx="640080" cy="616096"/>
            </a:xfrm>
            <a:prstGeom prst="rect">
              <a:avLst/>
            </a:prstGeom>
            <a:solidFill>
              <a:srgbClr val="E09F3E"/>
            </a:solidFill>
            <a:ln w="9525">
              <a:solidFill>
                <a:srgbClr val="0B2B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Val01">
              <a:extLst>
                <a:ext uri="{FF2B5EF4-FFF2-40B4-BE49-F238E27FC236}">
                  <a16:creationId xmlns:a16="http://schemas.microsoft.com/office/drawing/2014/main" id="{8DAEB73A-B343-2078-4257-C39AC14372CC}"/>
                </a:ext>
              </a:extLst>
            </p:cNvPr>
            <p:cNvSpPr txBox="1"/>
            <p:nvPr/>
          </p:nvSpPr>
          <p:spPr>
            <a:xfrm>
              <a:off x="3364992" y="4559408"/>
              <a:ext cx="914400" cy="369332"/>
            </a:xfrm>
            <a:prstGeom prst="rect">
              <a:avLst/>
            </a:prstGeom>
            <a:noFill/>
          </p:spPr>
          <p:txBody>
            <a:bodyPr vert="horz" wrap="square" lIns="0" tIns="0" rIns="0" bIns="0" rtlCol="0" anchor="ctr">
              <a:noAutofit/>
            </a:bodyPr>
            <a:lstStyle/>
            <a:p>
              <a:pPr algn="ctr"/>
              <a:r>
                <a:rPr lang="en-US" sz="1600">
                  <a:solidFill>
                    <a:srgbClr val="0B2B4E"/>
                  </a:solidFill>
                  <a:latin typeface="Calibri" panose="020F0502020204030204" pitchFamily="34" charset="0"/>
                </a:rPr>
                <a:t>$25.8k</a:t>
              </a:r>
            </a:p>
          </p:txBody>
        </p:sp>
        <p:sp>
          <p:nvSpPr>
            <p:cNvPr id="23" name="Cty0">
              <a:extLst>
                <a:ext uri="{FF2B5EF4-FFF2-40B4-BE49-F238E27FC236}">
                  <a16:creationId xmlns:a16="http://schemas.microsoft.com/office/drawing/2014/main" id="{FC9B80E0-EB2F-D3C4-E153-B47BC248661C}"/>
                </a:ext>
              </a:extLst>
            </p:cNvPr>
            <p:cNvSpPr txBox="1"/>
            <p:nvPr/>
          </p:nvSpPr>
          <p:spPr>
            <a:xfrm>
              <a:off x="2606040" y="5550408"/>
              <a:ext cx="1737360" cy="369332"/>
            </a:xfrm>
            <a:prstGeom prst="rect">
              <a:avLst/>
            </a:prstGeom>
            <a:noFill/>
          </p:spPr>
          <p:txBody>
            <a:bodyPr vert="horz" wrap="square" lIns="0" tIns="0" rIns="0" bIns="0" rtlCol="0" anchor="ctr">
              <a:noAutofit/>
            </a:bodyPr>
            <a:lstStyle/>
            <a:p>
              <a:pPr algn="ctr"/>
              <a:r>
                <a:rPr lang="en-US" sz="1600" b="1">
                  <a:solidFill>
                    <a:srgbClr val="0B2B4E"/>
                  </a:solidFill>
                  <a:latin typeface="Calibri" panose="020F0502020204030204" pitchFamily="34" charset="0"/>
                </a:rPr>
                <a:t>United Kingdom</a:t>
              </a:r>
            </a:p>
          </p:txBody>
        </p:sp>
        <p:sp>
          <p:nvSpPr>
            <p:cNvPr id="24" name="Bar10">
              <a:extLst>
                <a:ext uri="{FF2B5EF4-FFF2-40B4-BE49-F238E27FC236}">
                  <a16:creationId xmlns:a16="http://schemas.microsoft.com/office/drawing/2014/main" id="{692D1E70-A70E-7BF9-E003-5223E5C9DBD9}"/>
                </a:ext>
              </a:extLst>
            </p:cNvPr>
            <p:cNvSpPr/>
            <p:nvPr/>
          </p:nvSpPr>
          <p:spPr>
            <a:xfrm>
              <a:off x="4636008" y="5242149"/>
              <a:ext cx="640080" cy="244251"/>
            </a:xfrm>
            <a:prstGeom prst="rect">
              <a:avLst/>
            </a:prstGeom>
            <a:solidFill>
              <a:srgbClr val="0B2B4E"/>
            </a:solidFill>
            <a:ln w="9525">
              <a:solidFill>
                <a:srgbClr val="0B2B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Val10">
              <a:extLst>
                <a:ext uri="{FF2B5EF4-FFF2-40B4-BE49-F238E27FC236}">
                  <a16:creationId xmlns:a16="http://schemas.microsoft.com/office/drawing/2014/main" id="{35C5A931-F596-65A7-5721-C1DCE167DD60}"/>
                </a:ext>
              </a:extLst>
            </p:cNvPr>
            <p:cNvSpPr txBox="1"/>
            <p:nvPr/>
          </p:nvSpPr>
          <p:spPr>
            <a:xfrm>
              <a:off x="4498848" y="4931252"/>
              <a:ext cx="914400" cy="369332"/>
            </a:xfrm>
            <a:prstGeom prst="rect">
              <a:avLst/>
            </a:prstGeom>
            <a:noFill/>
          </p:spPr>
          <p:txBody>
            <a:bodyPr vert="horz" wrap="square" lIns="0" tIns="0" rIns="0" bIns="0" rtlCol="0" anchor="ctr">
              <a:noAutofit/>
            </a:bodyPr>
            <a:lstStyle/>
            <a:p>
              <a:pPr algn="ctr"/>
              <a:r>
                <a:rPr lang="en-US" sz="1600">
                  <a:solidFill>
                    <a:srgbClr val="0B2B4E"/>
                  </a:solidFill>
                  <a:latin typeface="Calibri" panose="020F0502020204030204" pitchFamily="34" charset="0"/>
                </a:rPr>
                <a:t>$10.2k</a:t>
              </a:r>
            </a:p>
          </p:txBody>
        </p:sp>
        <p:sp>
          <p:nvSpPr>
            <p:cNvPr id="26" name="Bar11">
              <a:extLst>
                <a:ext uri="{FF2B5EF4-FFF2-40B4-BE49-F238E27FC236}">
                  <a16:creationId xmlns:a16="http://schemas.microsoft.com/office/drawing/2014/main" id="{90298AF6-A492-9CD1-2BEB-F05FD0CFF23C}"/>
                </a:ext>
              </a:extLst>
            </p:cNvPr>
            <p:cNvSpPr/>
            <p:nvPr/>
          </p:nvSpPr>
          <p:spPr>
            <a:xfrm>
              <a:off x="5330952" y="5062816"/>
              <a:ext cx="640080" cy="423584"/>
            </a:xfrm>
            <a:prstGeom prst="rect">
              <a:avLst/>
            </a:prstGeom>
            <a:solidFill>
              <a:srgbClr val="E09F3E"/>
            </a:solidFill>
            <a:ln w="9525">
              <a:solidFill>
                <a:srgbClr val="0B2B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Val11">
              <a:extLst>
                <a:ext uri="{FF2B5EF4-FFF2-40B4-BE49-F238E27FC236}">
                  <a16:creationId xmlns:a16="http://schemas.microsoft.com/office/drawing/2014/main" id="{09C7AD5D-F3EB-E09F-0A32-A7AECDD2DF24}"/>
                </a:ext>
              </a:extLst>
            </p:cNvPr>
            <p:cNvSpPr txBox="1"/>
            <p:nvPr/>
          </p:nvSpPr>
          <p:spPr>
            <a:xfrm>
              <a:off x="5193792" y="4751920"/>
              <a:ext cx="914400" cy="369332"/>
            </a:xfrm>
            <a:prstGeom prst="rect">
              <a:avLst/>
            </a:prstGeom>
            <a:noFill/>
          </p:spPr>
          <p:txBody>
            <a:bodyPr vert="horz" wrap="square" lIns="0" tIns="0" rIns="0" bIns="0" rtlCol="0" anchor="ctr">
              <a:noAutofit/>
            </a:bodyPr>
            <a:lstStyle/>
            <a:p>
              <a:pPr algn="ctr"/>
              <a:r>
                <a:rPr lang="en-US" sz="1600">
                  <a:solidFill>
                    <a:srgbClr val="0B2B4E"/>
                  </a:solidFill>
                  <a:latin typeface="Calibri" panose="020F0502020204030204" pitchFamily="34" charset="0"/>
                </a:rPr>
                <a:t>$17.7k</a:t>
              </a:r>
            </a:p>
          </p:txBody>
        </p:sp>
        <p:sp>
          <p:nvSpPr>
            <p:cNvPr id="28" name="Cty1">
              <a:extLst>
                <a:ext uri="{FF2B5EF4-FFF2-40B4-BE49-F238E27FC236}">
                  <a16:creationId xmlns:a16="http://schemas.microsoft.com/office/drawing/2014/main" id="{AE321A76-3E94-93AE-D727-63384104C007}"/>
                </a:ext>
              </a:extLst>
            </p:cNvPr>
            <p:cNvSpPr txBox="1"/>
            <p:nvPr/>
          </p:nvSpPr>
          <p:spPr>
            <a:xfrm>
              <a:off x="4434840" y="5550408"/>
              <a:ext cx="1737360" cy="369332"/>
            </a:xfrm>
            <a:prstGeom prst="rect">
              <a:avLst/>
            </a:prstGeom>
            <a:noFill/>
          </p:spPr>
          <p:txBody>
            <a:bodyPr vert="horz" wrap="square" lIns="0" tIns="0" rIns="0" bIns="0" rtlCol="0" anchor="ctr">
              <a:noAutofit/>
            </a:bodyPr>
            <a:lstStyle/>
            <a:p>
              <a:pPr algn="ctr"/>
              <a:r>
                <a:rPr lang="en-US" sz="1600" b="1">
                  <a:solidFill>
                    <a:srgbClr val="0B2B4E"/>
                  </a:solidFill>
                  <a:latin typeface="Calibri" panose="020F0502020204030204" pitchFamily="34" charset="0"/>
                </a:rPr>
                <a:t>Australia</a:t>
              </a:r>
            </a:p>
          </p:txBody>
        </p:sp>
        <p:sp>
          <p:nvSpPr>
            <p:cNvPr id="29" name="Bar20">
              <a:extLst>
                <a:ext uri="{FF2B5EF4-FFF2-40B4-BE49-F238E27FC236}">
                  <a16:creationId xmlns:a16="http://schemas.microsoft.com/office/drawing/2014/main" id="{31B1B112-13DB-3DF1-1DCF-D07309F64AC0}"/>
                </a:ext>
              </a:extLst>
            </p:cNvPr>
            <p:cNvSpPr/>
            <p:nvPr/>
          </p:nvSpPr>
          <p:spPr>
            <a:xfrm>
              <a:off x="6464808" y="5406487"/>
              <a:ext cx="640080" cy="79913"/>
            </a:xfrm>
            <a:prstGeom prst="rect">
              <a:avLst/>
            </a:prstGeom>
            <a:solidFill>
              <a:srgbClr val="0B2B4E"/>
            </a:solidFill>
            <a:ln w="9525">
              <a:solidFill>
                <a:srgbClr val="0B2B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Val20">
              <a:extLst>
                <a:ext uri="{FF2B5EF4-FFF2-40B4-BE49-F238E27FC236}">
                  <a16:creationId xmlns:a16="http://schemas.microsoft.com/office/drawing/2014/main" id="{E9E3FCE1-5604-9D70-4361-ED573FC1AD14}"/>
                </a:ext>
              </a:extLst>
            </p:cNvPr>
            <p:cNvSpPr txBox="1"/>
            <p:nvPr/>
          </p:nvSpPr>
          <p:spPr>
            <a:xfrm>
              <a:off x="6327648" y="5095591"/>
              <a:ext cx="914400" cy="369332"/>
            </a:xfrm>
            <a:prstGeom prst="rect">
              <a:avLst/>
            </a:prstGeom>
            <a:noFill/>
          </p:spPr>
          <p:txBody>
            <a:bodyPr vert="horz" wrap="square" lIns="0" tIns="0" rIns="0" bIns="0" rtlCol="0" anchor="ctr">
              <a:noAutofit/>
            </a:bodyPr>
            <a:lstStyle/>
            <a:p>
              <a:pPr algn="ctr"/>
              <a:r>
                <a:rPr lang="en-US" sz="1600">
                  <a:solidFill>
                    <a:srgbClr val="0B2B4E"/>
                  </a:solidFill>
                  <a:latin typeface="Calibri" panose="020F0502020204030204" pitchFamily="34" charset="0"/>
                </a:rPr>
                <a:t>$3.3k</a:t>
              </a:r>
            </a:p>
          </p:txBody>
        </p:sp>
        <p:sp>
          <p:nvSpPr>
            <p:cNvPr id="31" name="Bar21">
              <a:extLst>
                <a:ext uri="{FF2B5EF4-FFF2-40B4-BE49-F238E27FC236}">
                  <a16:creationId xmlns:a16="http://schemas.microsoft.com/office/drawing/2014/main" id="{1696B950-D9B1-EA38-EAEE-D7B0E57BDE1A}"/>
                </a:ext>
              </a:extLst>
            </p:cNvPr>
            <p:cNvSpPr/>
            <p:nvPr/>
          </p:nvSpPr>
          <p:spPr>
            <a:xfrm>
              <a:off x="7159752" y="5082036"/>
              <a:ext cx="640080" cy="404364"/>
            </a:xfrm>
            <a:prstGeom prst="rect">
              <a:avLst/>
            </a:prstGeom>
            <a:solidFill>
              <a:srgbClr val="E09F3E"/>
            </a:solidFill>
            <a:ln w="9525">
              <a:solidFill>
                <a:srgbClr val="0B2B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Val21">
              <a:extLst>
                <a:ext uri="{FF2B5EF4-FFF2-40B4-BE49-F238E27FC236}">
                  <a16:creationId xmlns:a16="http://schemas.microsoft.com/office/drawing/2014/main" id="{77318A63-E575-6AFC-0DCC-E2495E6CB10F}"/>
                </a:ext>
              </a:extLst>
            </p:cNvPr>
            <p:cNvSpPr txBox="1"/>
            <p:nvPr/>
          </p:nvSpPr>
          <p:spPr>
            <a:xfrm>
              <a:off x="7022592" y="4771140"/>
              <a:ext cx="914400" cy="369332"/>
            </a:xfrm>
            <a:prstGeom prst="rect">
              <a:avLst/>
            </a:prstGeom>
            <a:noFill/>
          </p:spPr>
          <p:txBody>
            <a:bodyPr vert="horz" wrap="square" lIns="0" tIns="0" rIns="0" bIns="0" rtlCol="0" anchor="ctr">
              <a:noAutofit/>
            </a:bodyPr>
            <a:lstStyle/>
            <a:p>
              <a:pPr algn="ctr"/>
              <a:r>
                <a:rPr lang="en-US" sz="1600">
                  <a:solidFill>
                    <a:srgbClr val="0B2B4E"/>
                  </a:solidFill>
                  <a:latin typeface="Calibri" panose="020F0502020204030204" pitchFamily="34" charset="0"/>
                </a:rPr>
                <a:t>$16.9k</a:t>
              </a:r>
            </a:p>
          </p:txBody>
        </p:sp>
        <p:sp>
          <p:nvSpPr>
            <p:cNvPr id="33" name="Cty2">
              <a:extLst>
                <a:ext uri="{FF2B5EF4-FFF2-40B4-BE49-F238E27FC236}">
                  <a16:creationId xmlns:a16="http://schemas.microsoft.com/office/drawing/2014/main" id="{965F3931-C2C6-2D4B-A2DD-8A7C6885898A}"/>
                </a:ext>
              </a:extLst>
            </p:cNvPr>
            <p:cNvSpPr txBox="1"/>
            <p:nvPr/>
          </p:nvSpPr>
          <p:spPr>
            <a:xfrm>
              <a:off x="6263640" y="5550408"/>
              <a:ext cx="1737360" cy="369332"/>
            </a:xfrm>
            <a:prstGeom prst="rect">
              <a:avLst/>
            </a:prstGeom>
            <a:noFill/>
          </p:spPr>
          <p:txBody>
            <a:bodyPr vert="horz" wrap="square" lIns="0" tIns="0" rIns="0" bIns="0" rtlCol="0" anchor="ctr">
              <a:noAutofit/>
            </a:bodyPr>
            <a:lstStyle/>
            <a:p>
              <a:pPr algn="ctr"/>
              <a:r>
                <a:rPr lang="en-US" sz="1600" b="1">
                  <a:solidFill>
                    <a:srgbClr val="0B2B4E"/>
                  </a:solidFill>
                  <a:latin typeface="Calibri" panose="020F0502020204030204" pitchFamily="34" charset="0"/>
                </a:rPr>
                <a:t>Germany</a:t>
              </a:r>
            </a:p>
          </p:txBody>
        </p:sp>
        <p:sp>
          <p:nvSpPr>
            <p:cNvPr id="34" name="Bar30">
              <a:extLst>
                <a:ext uri="{FF2B5EF4-FFF2-40B4-BE49-F238E27FC236}">
                  <a16:creationId xmlns:a16="http://schemas.microsoft.com/office/drawing/2014/main" id="{C6781CBC-17B4-02B0-F69D-DC6D0261A215}"/>
                </a:ext>
              </a:extLst>
            </p:cNvPr>
            <p:cNvSpPr/>
            <p:nvPr/>
          </p:nvSpPr>
          <p:spPr>
            <a:xfrm>
              <a:off x="8293608" y="4662582"/>
              <a:ext cx="640080" cy="823818"/>
            </a:xfrm>
            <a:prstGeom prst="rect">
              <a:avLst/>
            </a:prstGeom>
            <a:solidFill>
              <a:srgbClr val="0B2B4E"/>
            </a:solidFill>
            <a:ln w="9525">
              <a:solidFill>
                <a:srgbClr val="0B2B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Val30">
              <a:extLst>
                <a:ext uri="{FF2B5EF4-FFF2-40B4-BE49-F238E27FC236}">
                  <a16:creationId xmlns:a16="http://schemas.microsoft.com/office/drawing/2014/main" id="{9FA85E29-F33F-B4EA-2309-124C31B979F4}"/>
                </a:ext>
              </a:extLst>
            </p:cNvPr>
            <p:cNvSpPr txBox="1"/>
            <p:nvPr/>
          </p:nvSpPr>
          <p:spPr>
            <a:xfrm>
              <a:off x="8156448" y="4351686"/>
              <a:ext cx="914400" cy="369332"/>
            </a:xfrm>
            <a:prstGeom prst="rect">
              <a:avLst/>
            </a:prstGeom>
            <a:noFill/>
          </p:spPr>
          <p:txBody>
            <a:bodyPr vert="horz" wrap="square" lIns="0" tIns="0" rIns="0" bIns="0" rtlCol="0" anchor="ctr">
              <a:noAutofit/>
            </a:bodyPr>
            <a:lstStyle/>
            <a:p>
              <a:pPr algn="ctr"/>
              <a:r>
                <a:rPr lang="en-US" sz="1600">
                  <a:solidFill>
                    <a:srgbClr val="0B2B4E"/>
                  </a:solidFill>
                  <a:latin typeface="Calibri" panose="020F0502020204030204" pitchFamily="34" charset="0"/>
                </a:rPr>
                <a:t>$34.5k</a:t>
              </a:r>
            </a:p>
          </p:txBody>
        </p:sp>
        <p:sp>
          <p:nvSpPr>
            <p:cNvPr id="36" name="Bar31">
              <a:extLst>
                <a:ext uri="{FF2B5EF4-FFF2-40B4-BE49-F238E27FC236}">
                  <a16:creationId xmlns:a16="http://schemas.microsoft.com/office/drawing/2014/main" id="{EE0FD434-A894-7A25-2A16-3F11295AB031}"/>
                </a:ext>
              </a:extLst>
            </p:cNvPr>
            <p:cNvSpPr/>
            <p:nvPr/>
          </p:nvSpPr>
          <p:spPr>
            <a:xfrm>
              <a:off x="8988552" y="3359191"/>
              <a:ext cx="640080" cy="2127209"/>
            </a:xfrm>
            <a:prstGeom prst="rect">
              <a:avLst/>
            </a:prstGeom>
            <a:solidFill>
              <a:srgbClr val="E09F3E"/>
            </a:solidFill>
            <a:ln w="9525">
              <a:solidFill>
                <a:srgbClr val="0B2B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Val31">
              <a:extLst>
                <a:ext uri="{FF2B5EF4-FFF2-40B4-BE49-F238E27FC236}">
                  <a16:creationId xmlns:a16="http://schemas.microsoft.com/office/drawing/2014/main" id="{5D84EA47-567A-7F21-AB1B-31F2859C08DA}"/>
                </a:ext>
              </a:extLst>
            </p:cNvPr>
            <p:cNvSpPr txBox="1"/>
            <p:nvPr/>
          </p:nvSpPr>
          <p:spPr>
            <a:xfrm>
              <a:off x="8851392" y="3048296"/>
              <a:ext cx="914400" cy="369332"/>
            </a:xfrm>
            <a:prstGeom prst="rect">
              <a:avLst/>
            </a:prstGeom>
            <a:noFill/>
          </p:spPr>
          <p:txBody>
            <a:bodyPr vert="horz" wrap="square" lIns="0" tIns="0" rIns="0" bIns="0" rtlCol="0" anchor="ctr">
              <a:noAutofit/>
            </a:bodyPr>
            <a:lstStyle/>
            <a:p>
              <a:pPr algn="ctr"/>
              <a:r>
                <a:rPr lang="en-US" sz="1600">
                  <a:solidFill>
                    <a:srgbClr val="0B2B4E"/>
                  </a:solidFill>
                  <a:latin typeface="Calibri" panose="020F0502020204030204" pitchFamily="34" charset="0"/>
                </a:rPr>
                <a:t>$89.1k</a:t>
              </a:r>
            </a:p>
          </p:txBody>
        </p:sp>
        <p:sp>
          <p:nvSpPr>
            <p:cNvPr id="38" name="Cty3">
              <a:extLst>
                <a:ext uri="{FF2B5EF4-FFF2-40B4-BE49-F238E27FC236}">
                  <a16:creationId xmlns:a16="http://schemas.microsoft.com/office/drawing/2014/main" id="{AF64E460-7200-BACE-F500-AC1C62D8B54A}"/>
                </a:ext>
              </a:extLst>
            </p:cNvPr>
            <p:cNvSpPr txBox="1"/>
            <p:nvPr/>
          </p:nvSpPr>
          <p:spPr>
            <a:xfrm>
              <a:off x="8092440" y="5550408"/>
              <a:ext cx="1737360" cy="369332"/>
            </a:xfrm>
            <a:prstGeom prst="rect">
              <a:avLst/>
            </a:prstGeom>
            <a:noFill/>
          </p:spPr>
          <p:txBody>
            <a:bodyPr vert="horz" wrap="square" lIns="0" tIns="0" rIns="0" bIns="0" rtlCol="0" anchor="ctr">
              <a:noAutofit/>
            </a:bodyPr>
            <a:lstStyle/>
            <a:p>
              <a:pPr algn="ctr"/>
              <a:r>
                <a:rPr lang="en-US" sz="1600" b="1">
                  <a:solidFill>
                    <a:srgbClr val="0B2B4E"/>
                  </a:solidFill>
                  <a:latin typeface="Calibri" panose="020F0502020204030204" pitchFamily="34" charset="0"/>
                </a:rPr>
                <a:t>United States</a:t>
              </a:r>
            </a:p>
          </p:txBody>
        </p:sp>
        <p:cxnSp>
          <p:nvCxnSpPr>
            <p:cNvPr id="39" name="Baseline">
              <a:extLst>
                <a:ext uri="{FF2B5EF4-FFF2-40B4-BE49-F238E27FC236}">
                  <a16:creationId xmlns:a16="http://schemas.microsoft.com/office/drawing/2014/main" id="{171220DF-CB35-7254-8129-0C2D7F208498}"/>
                </a:ext>
              </a:extLst>
            </p:cNvPr>
            <p:cNvCxnSpPr/>
            <p:nvPr/>
          </p:nvCxnSpPr>
          <p:spPr>
            <a:xfrm>
              <a:off x="2377440" y="5486400"/>
              <a:ext cx="7406640" cy="0"/>
            </a:xfrm>
            <a:prstGeom prst="line">
              <a:avLst/>
            </a:prstGeom>
            <a:ln w="15875">
              <a:solidFill>
                <a:srgbClr val="0B2B4E"/>
              </a:solidFill>
            </a:ln>
          </p:spPr>
          <p:style>
            <a:lnRef idx="2">
              <a:schemeClr val="accent1"/>
            </a:lnRef>
            <a:fillRef idx="0">
              <a:schemeClr val="accent1"/>
            </a:fillRef>
            <a:effectRef idx="1">
              <a:schemeClr val="accent1"/>
            </a:effectRef>
            <a:fontRef idx="minor">
              <a:schemeClr val="tx1"/>
            </a:fontRef>
          </p:style>
        </p:cxnSp>
        <p:sp>
          <p:nvSpPr>
            <p:cNvPr id="40" name="ChartSource">
              <a:extLst>
                <a:ext uri="{FF2B5EF4-FFF2-40B4-BE49-F238E27FC236}">
                  <a16:creationId xmlns:a16="http://schemas.microsoft.com/office/drawing/2014/main" id="{7D1DD873-5D1A-BC72-5064-6BB1D30D716B}"/>
                </a:ext>
              </a:extLst>
            </p:cNvPr>
            <p:cNvSpPr txBox="1"/>
            <p:nvPr/>
          </p:nvSpPr>
          <p:spPr>
            <a:xfrm>
              <a:off x="2011680" y="6163056"/>
              <a:ext cx="8138160" cy="369332"/>
            </a:xfrm>
            <a:prstGeom prst="rect">
              <a:avLst/>
            </a:prstGeom>
            <a:noFill/>
          </p:spPr>
          <p:txBody>
            <a:bodyPr vert="horz" wrap="square" lIns="0" tIns="0" rIns="0" bIns="0" rtlCol="0" anchor="ctr">
              <a:noAutofit/>
            </a:bodyPr>
            <a:lstStyle/>
            <a:p>
              <a:pPr algn="ctr"/>
              <a:r>
                <a:rPr lang="en-US" sz="1100" i="1">
                  <a:solidFill>
                    <a:srgbClr val="555B66"/>
                  </a:solidFill>
                  <a:latin typeface="Calibri" panose="020F0502020204030204" pitchFamily="34" charset="0"/>
                </a:rPr>
                <a:t>Source: iFHP and HCCI, International Healthcare Cost Comparison Report 2024 (2022 data); median private-insurer claims costs</a:t>
              </a:r>
            </a:p>
          </p:txBody>
        </p:sp>
      </p:grpSp>
    </p:spTree>
    <p:extLst>
      <p:ext uri="{BB962C8B-B14F-4D97-AF65-F5344CB8AC3E}">
        <p14:creationId xmlns:p14="http://schemas.microsoft.com/office/powerpoint/2010/main" val="1076038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fade">
                                      <p:cBhvr>
                                        <p:cTn id="7"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5 · Rising Market Power and Regulations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Concentration in US Industries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NV_s42_rId4.png"/>
          <p:cNvPicPr>
            <a:picLocks noChangeAspect="1"/>
          </p:cNvPicPr>
          <p:nvPr/>
        </p:nvPicPr>
        <p:blipFill>
          <a:blip r:embed="rId3"/>
          <a:stretch>
            <a:fillRect/>
          </a:stretch>
        </p:blipFill>
        <p:spPr>
          <a:xfrm>
            <a:off x="777240" y="1417320"/>
            <a:ext cx="5087939" cy="4892040"/>
          </a:xfrm>
          <a:prstGeom prst="roundRect">
            <a:avLst>
              <a:gd name="adj" fmla="val 8000"/>
            </a:avLst>
          </a:prstGeom>
          <a:effectLst>
            <a:outerShdw blurRad="50800" dist="38100" dir="2700000" algn="tl" rotWithShape="0">
              <a:srgbClr val="000000">
                <a:alpha val="50000"/>
              </a:srgbClr>
            </a:outerShdw>
          </a:effectLst>
        </p:spPr>
      </p:pic>
      <p:sp>
        <p:nvSpPr>
          <p:cNvPr id="8" name="TextBox 7"/>
          <p:cNvSpPr txBox="1"/>
          <p:nvPr/>
        </p:nvSpPr>
        <p:spPr>
          <a:xfrm>
            <a:off x="6400800" y="2194560"/>
            <a:ext cx="5303520" cy="1737360"/>
          </a:xfrm>
          <a:prstGeom prst="rect">
            <a:avLst/>
          </a:prstGeom>
          <a:noFill/>
        </p:spPr>
        <p:txBody>
          <a:bodyPr wrap="square" lIns="0" tIns="0" rIns="0" bIns="0">
            <a:spAutoFit/>
          </a:bodyPr>
          <a:lstStyle/>
          <a:p>
            <a:pPr algn="l"/>
            <a:r>
              <a:rPr sz="2600" b="1" i="0" u="none">
                <a:solidFill>
                  <a:srgbClr val="0B2B4E"/>
                </a:solidFill>
                <a:latin typeface="Calibri"/>
              </a:rPr>
              <a:t>A market is “concentrated” if CR4 (the share of sales of the top-4 companies) is above 50%</a:t>
            </a:r>
          </a:p>
        </p:txBody>
      </p:sp>
      <p:sp>
        <p:nvSpPr>
          <p:cNvPr id="9" name="TextBox 8"/>
          <p:cNvSpPr txBox="1"/>
          <p:nvPr/>
        </p:nvSpPr>
        <p:spPr>
          <a:xfrm>
            <a:off x="7086600" y="4434840"/>
            <a:ext cx="4754880" cy="365760"/>
          </a:xfrm>
          <a:prstGeom prst="rect">
            <a:avLst/>
          </a:prstGeom>
          <a:noFill/>
        </p:spPr>
        <p:txBody>
          <a:bodyPr wrap="square" lIns="0" tIns="0" rIns="0" bIns="0">
            <a:spAutoFit/>
          </a:bodyPr>
          <a:lstStyle/>
          <a:p>
            <a:pPr algn="l"/>
            <a:r>
              <a:rPr sz="1600" b="0" i="0" u="sng">
                <a:solidFill>
                  <a:srgbClr val="0B2B4E"/>
                </a:solidFill>
                <a:latin typeface="Calibri"/>
                <a:hlinkClick r:id="rId4"/>
              </a:rPr>
              <a:t>concentrationcrisis.openmarketsinstitute.org</a:t>
            </a:r>
          </a:p>
        </p:txBody>
      </p:sp>
      <p:sp>
        <p:nvSpPr>
          <p:cNvPr id="10" name="Action Button: Document 9">
            <a:hlinkClick r:id="rId4"/>
          </p:cNvPr>
          <p:cNvSpPr/>
          <p:nvPr/>
        </p:nvSpPr>
        <p:spPr>
          <a:xfrm>
            <a:off x="6400800" y="4480560"/>
            <a:ext cx="548640" cy="274320"/>
          </a:xfrm>
          <a:prstGeom prst="actionButtonDocument">
            <a:avLst/>
          </a:prstGeom>
          <a:solidFill>
            <a:srgbClr val="0B2B4E"/>
          </a:solidFill>
          <a:ln w="15875">
            <a:solidFill>
              <a:srgbClr val="FFFFFF"/>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5  ·  Monopoly and Monopolistic Competition</a:t>
            </a:r>
          </a:p>
        </p:txBody>
      </p:sp>
      <p:sp>
        <p:nvSpPr>
          <p:cNvPr id="14" name="TextBox 13"/>
          <p:cNvSpPr txBox="1"/>
          <p:nvPr/>
        </p:nvSpPr>
        <p:spPr>
          <a:xfrm>
            <a:off x="11475720" y="6583680"/>
            <a:ext cx="502920" cy="292608"/>
          </a:xfrm>
          <a:prstGeom prst="rect">
            <a:avLst/>
          </a:prstGeom>
          <a:noFill/>
        </p:spPr>
        <p:txBody>
          <a:bodyPr wrap="none" lIns="0" tIns="0" rIns="0" bIns="0">
            <a:spAutoFit/>
          </a:bodyPr>
          <a:lstStyle/>
          <a:p>
            <a:pPr algn="r"/>
            <a:fld id="{88267FBA-0D55-5805-AC0F-6C0CD68EDD40}" type="slidenum">
              <a:rPr lang="en-US" sz="1200" dirty="0">
                <a:solidFill>
                  <a:srgbClr val="555B66"/>
                </a:solidFill>
                <a:latin typeface="Calibri"/>
              </a:rPr>
              <a:t>51</a:t>
            </a:fld>
            <a:endParaRPr lang="en-US" sz="1200" dirty="0">
              <a:solidFill>
                <a:srgbClr val="555B66"/>
              </a:solidFill>
              <a:latin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5 · Rising Market Power and Regulations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Government Regulations to Control Market Power</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80599" y="1417320"/>
            <a:ext cx="7589520" cy="4937760"/>
          </a:xfrm>
          <a:prstGeom prst="rect">
            <a:avLst/>
          </a:prstGeom>
          <a:noFill/>
        </p:spPr>
        <p:txBody>
          <a:bodyPr wrap="square" lIns="0" tIns="0" rIns="0" bIns="0" anchor="ctr">
            <a:noAutofit/>
          </a:bodyPr>
          <a:lstStyle>
            <a:lvl1pPr marL="342900" indent="-342900">
              <a:spcBef>
                <a:spcPts val="1400"/>
              </a:spcBef>
              <a:buClr>
                <a:srgbClr val="0B2B4E"/>
              </a:buClr>
              <a:buFont typeface="Calibri"/>
              <a:buChar char="▪"/>
              <a:defRPr sz="2400" b="0">
                <a:solidFill>
                  <a:srgbClr val="0B2B4E"/>
                </a:solidFill>
                <a:latin typeface="Calibri"/>
              </a:defRPr>
            </a:lvl1pPr>
            <a:lvl2pPr marL="685800" indent="-228600">
              <a:spcBef>
                <a:spcPts val="300"/>
              </a:spcBef>
              <a:buClr>
                <a:srgbClr val="0B2B4E"/>
              </a:buClr>
              <a:buFont typeface="Calibri"/>
              <a:buChar char="–"/>
              <a:defRPr sz="2200" b="0">
                <a:solidFill>
                  <a:srgbClr val="0B2B4E"/>
                </a:solidFill>
                <a:latin typeface="Calibri"/>
              </a:defRPr>
            </a:lvl2pPr>
          </a:lstStyle>
          <a:p>
            <a:pPr algn="l"/>
            <a:r>
              <a:rPr dirty="0">
                <a:latin typeface="Calibri"/>
              </a:rPr>
              <a:t>Price regulations</a:t>
            </a:r>
          </a:p>
          <a:p>
            <a:pPr lvl="1" algn="l"/>
            <a:r>
              <a:rPr dirty="0">
                <a:latin typeface="Calibri"/>
              </a:rPr>
              <a:t>Happens frequently with natural monopolies: electricity, natural gas, (historically: local telephone service)</a:t>
            </a:r>
          </a:p>
          <a:p>
            <a:pPr algn="l"/>
            <a:r>
              <a:rPr dirty="0">
                <a:latin typeface="Calibri"/>
              </a:rPr>
              <a:t>Antitrust laws</a:t>
            </a:r>
          </a:p>
          <a:p>
            <a:pPr lvl="1" algn="l"/>
            <a:r>
              <a:rPr dirty="0">
                <a:latin typeface="Calibri"/>
              </a:rPr>
              <a:t>Scrutiny on mergers/acquisitions that would limit competition</a:t>
            </a:r>
          </a:p>
          <a:p>
            <a:pPr lvl="1" algn="l"/>
            <a:r>
              <a:rPr dirty="0">
                <a:latin typeface="Calibri"/>
              </a:rPr>
              <a:t>FTC successfully blocked Kroger’s acquisition of Albertsons in 2024 (~ $24.6 billion)</a:t>
            </a:r>
          </a:p>
          <a:p>
            <a:pPr lvl="1" algn="l"/>
            <a:r>
              <a:rPr dirty="0">
                <a:latin typeface="Calibri"/>
              </a:rPr>
              <a:t>Ban collusion on prices</a:t>
            </a:r>
          </a:p>
          <a:p>
            <a:pPr algn="l"/>
            <a:r>
              <a:rPr dirty="0">
                <a:latin typeface="Calibri"/>
              </a:rPr>
              <a:t>Nevertheless: Very high and rising market concentration in the US</a:t>
            </a:r>
          </a:p>
        </p:txBody>
      </p:sp>
      <p:grpSp>
        <p:nvGrpSpPr>
          <p:cNvPr id="14" name="KillerPicture"/>
          <p:cNvGrpSpPr/>
          <p:nvPr/>
        </p:nvGrpSpPr>
        <p:grpSpPr>
          <a:xfrm>
            <a:off x="8220912" y="1344168"/>
            <a:ext cx="3657600" cy="5138928"/>
            <a:chOff x="8220912" y="1344168"/>
            <a:chExt cx="3657600" cy="5138928"/>
          </a:xfrm>
        </p:grpSpPr>
        <p:pic>
          <p:nvPicPr>
            <p:cNvPr id="8" name="Picture 7" descr="market_concentration_funnel.png"/>
            <p:cNvPicPr>
              <a:picLocks noChangeAspect="1"/>
            </p:cNvPicPr>
            <p:nvPr/>
          </p:nvPicPr>
          <p:blipFill>
            <a:blip r:embed="rId3"/>
            <a:stretch>
              <a:fillRect/>
            </a:stretch>
          </p:blipFill>
          <p:spPr>
            <a:xfrm>
              <a:off x="8370227" y="1344168"/>
              <a:ext cx="3358970" cy="4498848"/>
            </a:xfrm>
            <a:prstGeom prst="roundRect">
              <a:avLst>
                <a:gd name="adj" fmla="val 3000"/>
              </a:avLst>
            </a:prstGeom>
            <a:effectLst>
              <a:outerShdw blurRad="50800" dist="38100" dir="2700000" algn="tl" rotWithShape="0">
                <a:srgbClr val="000000">
                  <a:alpha val="50000"/>
                </a:srgbClr>
              </a:outerShdw>
            </a:effectLst>
          </p:spPr>
        </p:pic>
        <p:sp>
          <p:nvSpPr>
            <p:cNvPr id="13" name="KillerCaption"/>
            <p:cNvSpPr txBox="1"/>
            <p:nvPr/>
          </p:nvSpPr>
          <p:spPr>
            <a:xfrm>
              <a:off x="8220912" y="5897880"/>
              <a:ext cx="3657600" cy="585216"/>
            </a:xfrm>
            <a:prstGeom prst="rect">
              <a:avLst/>
            </a:prstGeom>
            <a:noFill/>
          </p:spPr>
          <p:txBody>
            <a:bodyPr wrap="square" lIns="0" tIns="0" rIns="0" bIns="0" anchor="t">
              <a:noAutofit/>
            </a:bodyPr>
            <a:lstStyle/>
            <a:p>
              <a:pPr algn="ctr"/>
              <a:r>
                <a:rPr lang="en-US" sz="1600" b="1" i="1" dirty="0">
                  <a:solidFill>
                    <a:srgbClr val="0B2B4E"/>
                  </a:solidFill>
                  <a:latin typeface="Calibri"/>
                  <a:hlinkClick r:id="rId4"/>
                </a:rPr>
                <a:t>Killer acquisitions of startups</a:t>
              </a:r>
              <a:endParaRPr lang="en-US" sz="1600" b="1" i="1" dirty="0">
                <a:solidFill>
                  <a:srgbClr val="0B2B4E"/>
                </a:solidFill>
                <a:latin typeface="Calibri"/>
              </a:endParaRPr>
            </a:p>
          </p:txBody>
        </p:sp>
      </p:grpSp>
      <p:sp>
        <p:nvSpPr>
          <p:cNvPr id="9" name="Rectangle 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5  ·  Monopoly and Monopolistic Competition</a:t>
            </a:r>
          </a:p>
        </p:txBody>
      </p:sp>
      <p:sp>
        <p:nvSpPr>
          <p:cNvPr id="12" name="TextBox 11"/>
          <p:cNvSpPr txBox="1"/>
          <p:nvPr/>
        </p:nvSpPr>
        <p:spPr>
          <a:xfrm>
            <a:off x="11475720" y="6583680"/>
            <a:ext cx="502920" cy="292608"/>
          </a:xfrm>
          <a:prstGeom prst="rect">
            <a:avLst/>
          </a:prstGeom>
          <a:noFill/>
        </p:spPr>
        <p:txBody>
          <a:bodyPr wrap="none" lIns="0" tIns="0" rIns="0" bIns="0">
            <a:spAutoFit/>
          </a:bodyPr>
          <a:lstStyle/>
          <a:p>
            <a:pPr algn="r"/>
            <a:fld id="{AE1A0E2C-A5F1-53C8-BA1B-63E6B0B179FF}" type="slidenum">
              <a:rPr lang="en-US" sz="1200" dirty="0">
                <a:solidFill>
                  <a:srgbClr val="555B66"/>
                </a:solidFill>
                <a:latin typeface="Calibri"/>
              </a:rPr>
              <a:t>52</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5 · Agenda</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Outline of Module 5</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1560" y="1929384"/>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1</a:t>
            </a:r>
          </a:p>
        </p:txBody>
      </p:sp>
      <p:sp>
        <p:nvSpPr>
          <p:cNvPr id="8" name="Rounded Rectangle 7"/>
          <p:cNvSpPr/>
          <p:nvPr/>
        </p:nvSpPr>
        <p:spPr>
          <a:xfrm>
            <a:off x="10332720" y="2057400"/>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In class</a:t>
            </a:r>
          </a:p>
        </p:txBody>
      </p:sp>
      <p:sp>
        <p:nvSpPr>
          <p:cNvPr id="9" name="TextBox 8"/>
          <p:cNvSpPr txBox="1"/>
          <p:nvPr/>
        </p:nvSpPr>
        <p:spPr>
          <a:xfrm>
            <a:off x="1874519" y="2084832"/>
            <a:ext cx="8293609" cy="731520"/>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0B2B4E"/>
              </a:buClr>
              <a:buFont typeface="Calibri"/>
              <a:buChar char="–"/>
              <a:defRPr sz="2100" b="0">
                <a:solidFill>
                  <a:srgbClr val="0B2B4E"/>
                </a:solidFill>
                <a:latin typeface="Calibri"/>
              </a:defRPr>
            </a:lvl2pPr>
          </a:lstStyle>
          <a:p>
            <a:pPr algn="l">
              <a:buNone/>
            </a:pPr>
            <a:r>
              <a:rPr sz="2500" b="1">
                <a:solidFill>
                  <a:srgbClr val="BFBFBF"/>
                </a:solidFill>
                <a:latin typeface="Calibri"/>
              </a:rPr>
              <a:t>Profit Maximization for Price Searchers</a:t>
            </a:r>
          </a:p>
        </p:txBody>
      </p:sp>
      <p:sp>
        <p:nvSpPr>
          <p:cNvPr id="10" name="Oval 9"/>
          <p:cNvSpPr/>
          <p:nvPr/>
        </p:nvSpPr>
        <p:spPr>
          <a:xfrm>
            <a:off x="1481328" y="2798064"/>
            <a:ext cx="438912" cy="43891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BFBFBF"/>
                </a:solidFill>
                <a:latin typeface="Calibri"/>
              </a:rPr>
              <a:t>1b</a:t>
            </a:r>
          </a:p>
        </p:txBody>
      </p:sp>
      <p:sp>
        <p:nvSpPr>
          <p:cNvPr id="11" name="Rounded Rectangle 10"/>
          <p:cNvSpPr/>
          <p:nvPr/>
        </p:nvSpPr>
        <p:spPr>
          <a:xfrm>
            <a:off x="10707625" y="2889504"/>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In class</a:t>
            </a:r>
          </a:p>
        </p:txBody>
      </p:sp>
      <p:sp>
        <p:nvSpPr>
          <p:cNvPr id="12" name="TextBox 11"/>
          <p:cNvSpPr txBox="1"/>
          <p:nvPr/>
        </p:nvSpPr>
        <p:spPr>
          <a:xfrm>
            <a:off x="2084831" y="2916936"/>
            <a:ext cx="8458202" cy="731520"/>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300" b="0">
                <a:solidFill>
                  <a:srgbClr val="0B2B4E"/>
                </a:solidFill>
                <a:latin typeface="Calibri"/>
              </a:defRPr>
            </a:lvl1pPr>
            <a:lvl2pPr marL="685800" indent="-228600">
              <a:spcBef>
                <a:spcPts val="300"/>
              </a:spcBef>
              <a:buClr>
                <a:srgbClr val="0B2B4E"/>
              </a:buClr>
              <a:buFont typeface="Calibri"/>
              <a:buChar char="–"/>
              <a:defRPr sz="1900" b="0">
                <a:solidFill>
                  <a:srgbClr val="0B2B4E"/>
                </a:solidFill>
                <a:latin typeface="Calibri"/>
              </a:defRPr>
            </a:lvl2pPr>
          </a:lstStyle>
          <a:p>
            <a:pPr algn="l">
              <a:buNone/>
            </a:pPr>
            <a:r>
              <a:rPr sz="2300" b="1">
                <a:solidFill>
                  <a:srgbClr val="BFBFBF"/>
                </a:solidFill>
                <a:latin typeface="Calibri"/>
              </a:rPr>
              <a:t>Markup and Lerner Index</a:t>
            </a:r>
          </a:p>
        </p:txBody>
      </p:sp>
      <p:sp>
        <p:nvSpPr>
          <p:cNvPr id="13" name="Oval 12"/>
          <p:cNvSpPr/>
          <p:nvPr/>
        </p:nvSpPr>
        <p:spPr>
          <a:xfrm>
            <a:off x="1051560" y="3593592"/>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2</a:t>
            </a:r>
          </a:p>
        </p:txBody>
      </p:sp>
      <p:sp>
        <p:nvSpPr>
          <p:cNvPr id="14" name="Rounded Rectangle 13"/>
          <p:cNvSpPr/>
          <p:nvPr/>
        </p:nvSpPr>
        <p:spPr>
          <a:xfrm>
            <a:off x="10332720" y="3721608"/>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In class</a:t>
            </a:r>
          </a:p>
        </p:txBody>
      </p:sp>
      <p:sp>
        <p:nvSpPr>
          <p:cNvPr id="15" name="TextBox 14"/>
          <p:cNvSpPr txBox="1"/>
          <p:nvPr/>
        </p:nvSpPr>
        <p:spPr>
          <a:xfrm>
            <a:off x="1874519" y="3749040"/>
            <a:ext cx="8293609" cy="731520"/>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0B2B4E"/>
              </a:buClr>
              <a:buFont typeface="Calibri"/>
              <a:buChar char="–"/>
              <a:defRPr sz="2100" b="0">
                <a:solidFill>
                  <a:srgbClr val="0B2B4E"/>
                </a:solidFill>
                <a:latin typeface="Calibri"/>
              </a:defRPr>
            </a:lvl2pPr>
          </a:lstStyle>
          <a:p>
            <a:pPr algn="l">
              <a:buNone/>
            </a:pPr>
            <a:r>
              <a:rPr sz="2500" b="1">
                <a:solidFill>
                  <a:srgbClr val="BFBFBF"/>
                </a:solidFill>
                <a:latin typeface="Calibri"/>
              </a:rPr>
              <a:t>Monopoly and Welfare Impact</a:t>
            </a:r>
          </a:p>
        </p:txBody>
      </p:sp>
      <p:sp>
        <p:nvSpPr>
          <p:cNvPr id="16" name="Oval 15"/>
          <p:cNvSpPr/>
          <p:nvPr/>
        </p:nvSpPr>
        <p:spPr>
          <a:xfrm>
            <a:off x="1051560" y="442569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3</a:t>
            </a:r>
          </a:p>
        </p:txBody>
      </p:sp>
      <p:sp>
        <p:nvSpPr>
          <p:cNvPr id="17" name="Rounded Rectangle 16"/>
          <p:cNvSpPr/>
          <p:nvPr/>
        </p:nvSpPr>
        <p:spPr>
          <a:xfrm>
            <a:off x="10332720" y="4553712"/>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In class</a:t>
            </a:r>
          </a:p>
        </p:txBody>
      </p:sp>
      <p:sp>
        <p:nvSpPr>
          <p:cNvPr id="18" name="TextBox 17"/>
          <p:cNvSpPr txBox="1"/>
          <p:nvPr/>
        </p:nvSpPr>
        <p:spPr>
          <a:xfrm>
            <a:off x="1874519" y="4581144"/>
            <a:ext cx="8293609" cy="731520"/>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0B2B4E"/>
              </a:buClr>
              <a:buFont typeface="Calibri"/>
              <a:buChar char="–"/>
              <a:defRPr sz="2100" b="0">
                <a:solidFill>
                  <a:srgbClr val="0B2B4E"/>
                </a:solidFill>
                <a:latin typeface="Calibri"/>
              </a:defRPr>
            </a:lvl2pPr>
          </a:lstStyle>
          <a:p>
            <a:pPr algn="l">
              <a:buNone/>
            </a:pPr>
            <a:r>
              <a:rPr sz="2500" b="1" dirty="0">
                <a:solidFill>
                  <a:srgbClr val="BFBFBF"/>
                </a:solidFill>
                <a:latin typeface="Calibri"/>
              </a:rPr>
              <a:t>Rising Market Power and Regulations</a:t>
            </a:r>
          </a:p>
        </p:txBody>
      </p:sp>
      <p:sp>
        <p:nvSpPr>
          <p:cNvPr id="19" name="Rounded Rectangle 18"/>
          <p:cNvSpPr/>
          <p:nvPr/>
        </p:nvSpPr>
        <p:spPr>
          <a:xfrm>
            <a:off x="822960" y="5184648"/>
            <a:ext cx="11109960" cy="841248"/>
          </a:xfrm>
          <a:prstGeom prst="roundRect">
            <a:avLst>
              <a:gd name="adj" fmla="val 35000"/>
            </a:avLst>
          </a:prstGeom>
          <a:solidFill>
            <a:srgbClr val="FDF6E6"/>
          </a:solidFill>
          <a:ln w="127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051560" y="525780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0B2B4E"/>
                </a:solidFill>
                <a:latin typeface="Calibri"/>
              </a:rPr>
              <a:t>4</a:t>
            </a:r>
          </a:p>
        </p:txBody>
      </p:sp>
      <p:sp>
        <p:nvSpPr>
          <p:cNvPr id="21" name="Rounded Rectangle 20"/>
          <p:cNvSpPr/>
          <p:nvPr/>
        </p:nvSpPr>
        <p:spPr>
          <a:xfrm>
            <a:off x="10332720" y="5385816"/>
            <a:ext cx="1417320" cy="329184"/>
          </a:xfrm>
          <a:prstGeom prst="roundRect">
            <a:avLst>
              <a:gd name="adj" fmla="val 30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In class</a:t>
            </a:r>
          </a:p>
        </p:txBody>
      </p:sp>
      <p:sp>
        <p:nvSpPr>
          <p:cNvPr id="22" name="TextBox 21"/>
          <p:cNvSpPr txBox="1"/>
          <p:nvPr/>
        </p:nvSpPr>
        <p:spPr>
          <a:xfrm>
            <a:off x="1874519" y="5239512"/>
            <a:ext cx="8293609" cy="731520"/>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0B2B4E"/>
              </a:buClr>
              <a:buFont typeface="Calibri"/>
              <a:buChar char="–"/>
              <a:defRPr sz="2100" b="0">
                <a:solidFill>
                  <a:srgbClr val="0B2B4E"/>
                </a:solidFill>
                <a:latin typeface="Calibri"/>
              </a:defRPr>
            </a:lvl2pPr>
          </a:lstStyle>
          <a:p>
            <a:pPr algn="l">
              <a:buNone/>
            </a:pPr>
            <a:r>
              <a:rPr sz="2500" b="1">
                <a:solidFill>
                  <a:srgbClr val="0B2B4E"/>
                </a:solidFill>
                <a:latin typeface="Calibri"/>
              </a:rPr>
              <a:t>Monopolistic Competition</a:t>
            </a:r>
          </a:p>
          <a:p>
            <a:pPr algn="l">
              <a:spcBef>
                <a:spcPts val="0"/>
              </a:spcBef>
              <a:buNone/>
            </a:pPr>
            <a:r>
              <a:rPr sz="2200">
                <a:solidFill>
                  <a:srgbClr val="555B66"/>
                </a:solidFill>
                <a:latin typeface="Calibri"/>
              </a:rPr>
              <a:t>Many firms, differentiated products: entry erodes profits</a:t>
            </a:r>
          </a:p>
        </p:txBody>
      </p:sp>
      <p:sp>
        <p:nvSpPr>
          <p:cNvPr id="23" name="Rectangle 2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5  ·  Monopoly and Monopolistic Competition</a:t>
            </a:r>
          </a:p>
        </p:txBody>
      </p:sp>
      <p:sp>
        <p:nvSpPr>
          <p:cNvPr id="26" name="TextBox 25"/>
          <p:cNvSpPr txBox="1"/>
          <p:nvPr/>
        </p:nvSpPr>
        <p:spPr>
          <a:xfrm>
            <a:off x="11475720" y="6583680"/>
            <a:ext cx="502920" cy="292608"/>
          </a:xfrm>
          <a:prstGeom prst="rect">
            <a:avLst/>
          </a:prstGeom>
          <a:noFill/>
        </p:spPr>
        <p:txBody>
          <a:bodyPr wrap="none" lIns="0" tIns="0" rIns="0" bIns="0">
            <a:spAutoFit/>
          </a:bodyPr>
          <a:lstStyle/>
          <a:p>
            <a:pPr algn="r"/>
            <a:fld id="{47E09EE4-0FC8-5620-AA5C-342E46D91750}" type="slidenum">
              <a:rPr lang="en-US" sz="1200" dirty="0">
                <a:solidFill>
                  <a:srgbClr val="555B66"/>
                </a:solidFill>
                <a:latin typeface="Calibri"/>
              </a:rPr>
              <a:t>53</a:t>
            </a:fld>
            <a:endParaRPr lang="en-US" sz="1200" dirty="0">
              <a:solidFill>
                <a:srgbClr val="555B66"/>
              </a:solidFill>
              <a:latin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5 · Monopolistic Competition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Where We Are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261872"/>
            <a:ext cx="3657600" cy="457200"/>
          </a:xfrm>
          <a:prstGeom prst="rect">
            <a:avLst/>
          </a:prstGeom>
          <a:noFill/>
        </p:spPr>
        <p:txBody>
          <a:bodyPr wrap="square" lIns="0" tIns="0" rIns="0" bIns="0">
            <a:spAutoFit/>
          </a:bodyPr>
          <a:lstStyle/>
          <a:p>
            <a:pPr algn="l"/>
            <a:r>
              <a:rPr sz="2800" b="1" i="0" u="none">
                <a:solidFill>
                  <a:srgbClr val="0B2B4E"/>
                </a:solidFill>
                <a:latin typeface="Calibri"/>
              </a:rPr>
              <a:t>Least Market Power</a:t>
            </a:r>
          </a:p>
        </p:txBody>
      </p:sp>
      <p:sp>
        <p:nvSpPr>
          <p:cNvPr id="8" name="TextBox 7"/>
          <p:cNvSpPr txBox="1"/>
          <p:nvPr/>
        </p:nvSpPr>
        <p:spPr>
          <a:xfrm>
            <a:off x="8028431" y="1261872"/>
            <a:ext cx="3657600" cy="457200"/>
          </a:xfrm>
          <a:prstGeom prst="rect">
            <a:avLst/>
          </a:prstGeom>
          <a:noFill/>
        </p:spPr>
        <p:txBody>
          <a:bodyPr wrap="square" lIns="0" tIns="0" rIns="0" bIns="0">
            <a:spAutoFit/>
          </a:bodyPr>
          <a:lstStyle/>
          <a:p>
            <a:pPr algn="r"/>
            <a:r>
              <a:rPr sz="2800" b="1" i="0" u="none">
                <a:solidFill>
                  <a:srgbClr val="0B2B4E"/>
                </a:solidFill>
                <a:latin typeface="Calibri"/>
              </a:rPr>
              <a:t>Most Market Power</a:t>
            </a:r>
          </a:p>
        </p:txBody>
      </p:sp>
      <p:cxnSp>
        <p:nvCxnSpPr>
          <p:cNvPr id="9" name="Connector 8"/>
          <p:cNvCxnSpPr/>
          <p:nvPr/>
        </p:nvCxnSpPr>
        <p:spPr>
          <a:xfrm>
            <a:off x="457200" y="1847088"/>
            <a:ext cx="11274552" cy="0"/>
          </a:xfrm>
          <a:prstGeom prst="line">
            <a:avLst/>
          </a:prstGeom>
          <a:ln w="44450">
            <a:solidFill>
              <a:srgbClr val="0B2B4E"/>
            </a:solidFill>
            <a:headEnd type="triangle" w="lg"/>
            <a:tailEnd type="triangle" w="lg"/>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2029968"/>
            <a:ext cx="2697480" cy="731520"/>
          </a:xfrm>
          <a:prstGeom prst="rect">
            <a:avLst/>
          </a:prstGeom>
          <a:noFill/>
        </p:spPr>
        <p:txBody>
          <a:bodyPr wrap="square" lIns="0" tIns="0" rIns="0" bIns="0">
            <a:spAutoFit/>
          </a:bodyPr>
          <a:lstStyle/>
          <a:p>
            <a:pPr algn="ctr"/>
            <a:r>
              <a:rPr sz="2200" b="1" i="0" u="none">
                <a:solidFill>
                  <a:srgbClr val="0B2B4E"/>
                </a:solidFill>
                <a:latin typeface="Calibri"/>
              </a:rPr>
              <a:t>Perfect
Competition</a:t>
            </a:r>
          </a:p>
        </p:txBody>
      </p:sp>
      <p:sp>
        <p:nvSpPr>
          <p:cNvPr id="11" name="TextBox 10"/>
          <p:cNvSpPr txBox="1"/>
          <p:nvPr/>
        </p:nvSpPr>
        <p:spPr>
          <a:xfrm>
            <a:off x="3291840" y="2029968"/>
            <a:ext cx="2697480" cy="731520"/>
          </a:xfrm>
          <a:prstGeom prst="rect">
            <a:avLst/>
          </a:prstGeom>
          <a:noFill/>
        </p:spPr>
        <p:txBody>
          <a:bodyPr wrap="square" lIns="0" tIns="0" rIns="0" bIns="0">
            <a:spAutoFit/>
          </a:bodyPr>
          <a:lstStyle/>
          <a:p>
            <a:pPr algn="ctr"/>
            <a:r>
              <a:rPr sz="2200" b="1" i="0" u="none">
                <a:solidFill>
                  <a:srgbClr val="0B2B4E"/>
                </a:solidFill>
                <a:latin typeface="Calibri"/>
              </a:rPr>
              <a:t>Monopolistic
Competition</a:t>
            </a:r>
          </a:p>
        </p:txBody>
      </p:sp>
      <p:sp>
        <p:nvSpPr>
          <p:cNvPr id="12" name="TextBox 11"/>
          <p:cNvSpPr txBox="1"/>
          <p:nvPr/>
        </p:nvSpPr>
        <p:spPr>
          <a:xfrm>
            <a:off x="6126480" y="2029968"/>
            <a:ext cx="2697480" cy="731520"/>
          </a:xfrm>
          <a:prstGeom prst="rect">
            <a:avLst/>
          </a:prstGeom>
          <a:noFill/>
        </p:spPr>
        <p:txBody>
          <a:bodyPr wrap="square" lIns="0" tIns="0" rIns="0" bIns="0">
            <a:spAutoFit/>
          </a:bodyPr>
          <a:lstStyle/>
          <a:p>
            <a:pPr algn="ctr"/>
            <a:r>
              <a:rPr sz="2200" b="1" i="0" u="none">
                <a:solidFill>
                  <a:srgbClr val="0B2B4E"/>
                </a:solidFill>
                <a:latin typeface="Calibri"/>
              </a:rPr>
              <a:t>Oligopoly</a:t>
            </a:r>
          </a:p>
        </p:txBody>
      </p:sp>
      <p:sp>
        <p:nvSpPr>
          <p:cNvPr id="13" name="TextBox 12"/>
          <p:cNvSpPr txBox="1"/>
          <p:nvPr/>
        </p:nvSpPr>
        <p:spPr>
          <a:xfrm>
            <a:off x="8915400" y="2029968"/>
            <a:ext cx="2697480" cy="731520"/>
          </a:xfrm>
          <a:prstGeom prst="rect">
            <a:avLst/>
          </a:prstGeom>
          <a:noFill/>
        </p:spPr>
        <p:txBody>
          <a:bodyPr wrap="square" lIns="0" tIns="0" rIns="0" bIns="0">
            <a:spAutoFit/>
          </a:bodyPr>
          <a:lstStyle/>
          <a:p>
            <a:pPr algn="ctr"/>
            <a:r>
              <a:rPr sz="2200" b="1" i="0" u="none">
                <a:solidFill>
                  <a:srgbClr val="0B2B4E"/>
                </a:solidFill>
                <a:latin typeface="Calibri"/>
              </a:rPr>
              <a:t>Monopoly</a:t>
            </a:r>
          </a:p>
        </p:txBody>
      </p:sp>
      <p:sp>
        <p:nvSpPr>
          <p:cNvPr id="14" name="Rectangle 13"/>
          <p:cNvSpPr/>
          <p:nvPr/>
        </p:nvSpPr>
        <p:spPr>
          <a:xfrm>
            <a:off x="3141801" y="2011680"/>
            <a:ext cx="36576" cy="7772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002199" y="2011680"/>
            <a:ext cx="36576" cy="7772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778240" y="2011680"/>
            <a:ext cx="36576" cy="7772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22960" y="2852928"/>
            <a:ext cx="2057400" cy="402336"/>
          </a:xfrm>
          <a:prstGeom prst="roundRect">
            <a:avLst>
              <a:gd name="adj" fmla="val 35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0B2B4E"/>
                </a:solidFill>
                <a:latin typeface="Calibri"/>
              </a:rPr>
              <a:t>(Price Takers)</a:t>
            </a:r>
          </a:p>
        </p:txBody>
      </p:sp>
      <p:sp>
        <p:nvSpPr>
          <p:cNvPr id="18" name="Rounded Rectangle 17"/>
          <p:cNvSpPr/>
          <p:nvPr/>
        </p:nvSpPr>
        <p:spPr>
          <a:xfrm>
            <a:off x="3566160" y="2852928"/>
            <a:ext cx="7909560" cy="402336"/>
          </a:xfrm>
          <a:prstGeom prst="roundRect">
            <a:avLst>
              <a:gd name="adj" fmla="val 35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0B2B4E"/>
                </a:solidFill>
                <a:latin typeface="Calibri"/>
              </a:rPr>
              <a:t>(Price Searchers)</a:t>
            </a:r>
          </a:p>
        </p:txBody>
      </p:sp>
      <p:grpSp>
        <p:nvGrpSpPr>
          <p:cNvPr id="135" name="Group pair 135"/>
          <p:cNvGrpSpPr/>
          <p:nvPr/>
        </p:nvGrpSpPr>
        <p:grpSpPr>
          <a:xfrm>
            <a:off x="502920" y="3401568"/>
            <a:ext cx="2697480" cy="2560320"/>
            <a:chOff x="502920" y="3401568"/>
            <a:chExt cx="2697480" cy="2560320"/>
          </a:xfrm>
        </p:grpSpPr>
        <p:pic>
          <p:nvPicPr>
            <p:cNvPr id="19" name="Picture 18" descr="M7_NV_s07_10_f9f010a8.jpg"/>
            <p:cNvPicPr>
              <a:picLocks noChangeAspect="1"/>
            </p:cNvPicPr>
            <p:nvPr/>
          </p:nvPicPr>
          <p:blipFill>
            <a:blip r:embed="rId3"/>
            <a:stretch>
              <a:fillRect/>
            </a:stretch>
          </p:blipFill>
          <p:spPr>
            <a:xfrm>
              <a:off x="713232" y="3401568"/>
              <a:ext cx="2273881" cy="2194560"/>
            </a:xfrm>
            <a:prstGeom prst="roundRect">
              <a:avLst>
                <a:gd name="adj" fmla="val 8000"/>
              </a:avLst>
            </a:prstGeom>
            <a:effectLst>
              <a:outerShdw blurRad="50800" dist="38100" dir="2700000" algn="tl" rotWithShape="0">
                <a:srgbClr val="000000">
                  <a:alpha val="50000"/>
                </a:srgbClr>
              </a:outerShdw>
            </a:effectLst>
          </p:spPr>
        </p:pic>
        <p:sp>
          <p:nvSpPr>
            <p:cNvPr id="24" name="TextBox 23"/>
            <p:cNvSpPr txBox="1"/>
            <p:nvPr/>
          </p:nvSpPr>
          <p:spPr>
            <a:xfrm>
              <a:off x="502920" y="5669280"/>
              <a:ext cx="2697480" cy="292608"/>
            </a:xfrm>
            <a:prstGeom prst="rect">
              <a:avLst/>
            </a:prstGeom>
            <a:noFill/>
          </p:spPr>
          <p:txBody>
            <a:bodyPr wrap="square" lIns="0" tIns="0" rIns="0" bIns="0">
              <a:spAutoFit/>
            </a:bodyPr>
            <a:lstStyle/>
            <a:p>
              <a:pPr algn="ctr"/>
              <a:r>
                <a:rPr sz="1300" b="0" i="1" u="none">
                  <a:solidFill>
                    <a:srgbClr val="555B66"/>
                  </a:solidFill>
                  <a:latin typeface="Calibri"/>
                </a:rPr>
                <a:t>Commodity markets</a:t>
              </a:r>
            </a:p>
          </p:txBody>
        </p:sp>
      </p:grpSp>
      <p:grpSp>
        <p:nvGrpSpPr>
          <p:cNvPr id="136" name="Group pair 136"/>
          <p:cNvGrpSpPr/>
          <p:nvPr/>
        </p:nvGrpSpPr>
        <p:grpSpPr>
          <a:xfrm>
            <a:off x="3291840" y="3401568"/>
            <a:ext cx="2697480" cy="2560320"/>
            <a:chOff x="3291840" y="3401568"/>
            <a:chExt cx="2697480" cy="2560320"/>
          </a:xfrm>
        </p:grpSpPr>
        <p:pic>
          <p:nvPicPr>
            <p:cNvPr id="20" name="Picture 19" descr="M7_NV_s07_g1.1_1f7061fb.png"/>
            <p:cNvPicPr>
              <a:picLocks noChangeAspect="1"/>
            </p:cNvPicPr>
            <p:nvPr/>
          </p:nvPicPr>
          <p:blipFill>
            <a:blip r:embed="rId4"/>
            <a:stretch>
              <a:fillRect/>
            </a:stretch>
          </p:blipFill>
          <p:spPr>
            <a:xfrm>
              <a:off x="3465576" y="3401568"/>
              <a:ext cx="2348495" cy="2194560"/>
            </a:xfrm>
            <a:prstGeom prst="roundRect">
              <a:avLst>
                <a:gd name="adj" fmla="val 8000"/>
              </a:avLst>
            </a:prstGeom>
            <a:effectLst>
              <a:outerShdw blurRad="50800" dist="38100" dir="2700000" algn="tl" rotWithShape="0">
                <a:srgbClr val="000000">
                  <a:alpha val="50000"/>
                </a:srgbClr>
              </a:outerShdw>
            </a:effectLst>
          </p:spPr>
        </p:pic>
        <p:sp>
          <p:nvSpPr>
            <p:cNvPr id="25" name="TextBox 24"/>
            <p:cNvSpPr txBox="1"/>
            <p:nvPr/>
          </p:nvSpPr>
          <p:spPr>
            <a:xfrm>
              <a:off x="3291840" y="5669280"/>
              <a:ext cx="2697480" cy="292608"/>
            </a:xfrm>
            <a:prstGeom prst="rect">
              <a:avLst/>
            </a:prstGeom>
            <a:noFill/>
          </p:spPr>
          <p:txBody>
            <a:bodyPr wrap="square" lIns="0" tIns="0" rIns="0" bIns="0">
              <a:spAutoFit/>
            </a:bodyPr>
            <a:lstStyle/>
            <a:p>
              <a:pPr algn="ctr"/>
              <a:r>
                <a:rPr sz="1300" b="0" i="1" u="none">
                  <a:solidFill>
                    <a:srgbClr val="555B66"/>
                  </a:solidFill>
                  <a:latin typeface="Calibri"/>
                </a:rPr>
                <a:t>Restaurants in WeHo</a:t>
              </a:r>
            </a:p>
          </p:txBody>
        </p:sp>
      </p:grpSp>
      <p:pic>
        <p:nvPicPr>
          <p:cNvPr id="21" name="Picture 20" descr="M7_NV_s07_g12.1_a0b89503.jpg"/>
          <p:cNvPicPr>
            <a:picLocks noChangeAspect="1"/>
          </p:cNvPicPr>
          <p:nvPr/>
        </p:nvPicPr>
        <p:blipFill>
          <a:blip r:embed="rId5"/>
          <a:stretch>
            <a:fillRect/>
          </a:stretch>
        </p:blipFill>
        <p:spPr>
          <a:xfrm>
            <a:off x="6746443" y="3401568"/>
            <a:ext cx="1457553" cy="969326"/>
          </a:xfrm>
          <a:prstGeom prst="rect">
            <a:avLst/>
          </a:prstGeom>
        </p:spPr>
      </p:pic>
      <p:grpSp>
        <p:nvGrpSpPr>
          <p:cNvPr id="137" name="Group pair 137"/>
          <p:cNvGrpSpPr/>
          <p:nvPr/>
        </p:nvGrpSpPr>
        <p:grpSpPr>
          <a:xfrm>
            <a:off x="6126480" y="4443984"/>
            <a:ext cx="2697480" cy="1517904"/>
            <a:chOff x="6126480" y="4443984"/>
            <a:chExt cx="2697480" cy="1517904"/>
          </a:xfrm>
        </p:grpSpPr>
        <p:pic>
          <p:nvPicPr>
            <p:cNvPr id="22" name="Picture 21" descr="M7_NV_s07_g12.2_3444df7e.png"/>
            <p:cNvPicPr>
              <a:picLocks noChangeAspect="1"/>
            </p:cNvPicPr>
            <p:nvPr/>
          </p:nvPicPr>
          <p:blipFill>
            <a:blip r:embed="rId6"/>
            <a:stretch>
              <a:fillRect/>
            </a:stretch>
          </p:blipFill>
          <p:spPr>
            <a:xfrm>
              <a:off x="6746443" y="4443984"/>
              <a:ext cx="1457553" cy="1151467"/>
            </a:xfrm>
            <a:prstGeom prst="rect">
              <a:avLst/>
            </a:prstGeom>
          </p:spPr>
        </p:pic>
        <p:sp>
          <p:nvSpPr>
            <p:cNvPr id="26" name="TextBox 25"/>
            <p:cNvSpPr txBox="1"/>
            <p:nvPr/>
          </p:nvSpPr>
          <p:spPr>
            <a:xfrm>
              <a:off x="6126480" y="5669280"/>
              <a:ext cx="2697480" cy="292608"/>
            </a:xfrm>
            <a:prstGeom prst="rect">
              <a:avLst/>
            </a:prstGeom>
            <a:noFill/>
          </p:spPr>
          <p:txBody>
            <a:bodyPr wrap="square" lIns="0" tIns="0" rIns="0" bIns="0">
              <a:spAutoFit/>
            </a:bodyPr>
            <a:lstStyle/>
            <a:p>
              <a:pPr algn="ctr"/>
              <a:r>
                <a:rPr sz="1300" b="0" i="1" u="none">
                  <a:solidFill>
                    <a:srgbClr val="555B66"/>
                  </a:solidFill>
                  <a:latin typeface="Calibri"/>
                </a:rPr>
                <a:t>Wide-body aircraft</a:t>
              </a:r>
            </a:p>
          </p:txBody>
        </p:sp>
      </p:grpSp>
      <p:grpSp>
        <p:nvGrpSpPr>
          <p:cNvPr id="138" name="Group pair 138"/>
          <p:cNvGrpSpPr/>
          <p:nvPr/>
        </p:nvGrpSpPr>
        <p:grpSpPr>
          <a:xfrm>
            <a:off x="8915400" y="3401568"/>
            <a:ext cx="2697480" cy="2560320"/>
            <a:chOff x="8915400" y="3401568"/>
            <a:chExt cx="2697480" cy="2560320"/>
          </a:xfrm>
        </p:grpSpPr>
        <p:pic>
          <p:nvPicPr>
            <p:cNvPr id="23" name="Picture 22" descr="M7_NV_s07_13_4dc4c7c4.jpg"/>
            <p:cNvPicPr>
              <a:picLocks noChangeAspect="1"/>
            </p:cNvPicPr>
            <p:nvPr/>
          </p:nvPicPr>
          <p:blipFill>
            <a:blip r:embed="rId7"/>
            <a:stretch>
              <a:fillRect/>
            </a:stretch>
          </p:blipFill>
          <p:spPr>
            <a:xfrm>
              <a:off x="9226296" y="3401568"/>
              <a:ext cx="2073700" cy="2194560"/>
            </a:xfrm>
            <a:prstGeom prst="rect">
              <a:avLst/>
            </a:prstGeom>
          </p:spPr>
        </p:pic>
        <p:sp>
          <p:nvSpPr>
            <p:cNvPr id="27" name="TextBox 26"/>
            <p:cNvSpPr txBox="1"/>
            <p:nvPr/>
          </p:nvSpPr>
          <p:spPr>
            <a:xfrm>
              <a:off x="8915400" y="5669280"/>
              <a:ext cx="2697480" cy="292608"/>
            </a:xfrm>
            <a:prstGeom prst="rect">
              <a:avLst/>
            </a:prstGeom>
            <a:noFill/>
          </p:spPr>
          <p:txBody>
            <a:bodyPr wrap="square" lIns="0" tIns="0" rIns="0" bIns="0">
              <a:spAutoFit/>
            </a:bodyPr>
            <a:lstStyle/>
            <a:p>
              <a:pPr algn="ctr"/>
              <a:r>
                <a:rPr sz="1300" b="0" i="1" u="none">
                  <a:solidFill>
                    <a:srgbClr val="555B66"/>
                  </a:solidFill>
                  <a:latin typeface="Calibri"/>
                </a:rPr>
                <a:t>Municipal utilities</a:t>
              </a:r>
            </a:p>
          </p:txBody>
        </p:sp>
      </p:grpSp>
      <p:grpSp>
        <p:nvGrpSpPr>
          <p:cNvPr id="31" name="TodayFrame"/>
          <p:cNvGrpSpPr/>
          <p:nvPr/>
        </p:nvGrpSpPr>
        <p:grpSpPr>
          <a:xfrm>
            <a:off x="3149271" y="1956816"/>
            <a:ext cx="2871216" cy="4462272"/>
            <a:chOff x="3136392" y="1956816"/>
            <a:chExt cx="2871216" cy="4462272"/>
          </a:xfrm>
        </p:grpSpPr>
        <p:sp>
          <p:nvSpPr>
            <p:cNvPr id="28" name="Rounded Rectangle 27"/>
            <p:cNvSpPr/>
            <p:nvPr/>
          </p:nvSpPr>
          <p:spPr>
            <a:xfrm>
              <a:off x="3136392" y="1956816"/>
              <a:ext cx="2871216" cy="4251960"/>
            </a:xfrm>
            <a:prstGeom prst="roundRect">
              <a:avLst>
                <a:gd name="adj" fmla="val 4000"/>
              </a:avLst>
            </a:prstGeom>
            <a:noFill/>
            <a:ln w="444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3794760" y="5998464"/>
              <a:ext cx="1554480" cy="420624"/>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Rounded Rectangle 29"/>
            <p:cNvSpPr/>
            <p:nvPr/>
          </p:nvSpPr>
          <p:spPr>
            <a:xfrm>
              <a:off x="3794760" y="5998464"/>
              <a:ext cx="1554480" cy="420624"/>
            </a:xfrm>
            <a:prstGeom prst="roundRect">
              <a:avLst>
                <a:gd name="adj" fmla="val 30000"/>
              </a:avLst>
            </a:prstGeom>
            <a:solidFill>
              <a:srgbClr val="C00000">
                <a:alpha val="30000"/>
              </a:srgbClr>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0B2B4E"/>
                  </a:solidFill>
                  <a:latin typeface="Calibri"/>
                </a:rPr>
                <a:t>TODAY</a:t>
              </a:r>
            </a:p>
          </p:txBody>
        </p:sp>
      </p:grpSp>
      <p:sp>
        <p:nvSpPr>
          <p:cNvPr id="32" name="Rectangle 3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5  ·  Monopoly and Monopolistic Competition</a:t>
            </a:r>
          </a:p>
        </p:txBody>
      </p:sp>
      <p:sp>
        <p:nvSpPr>
          <p:cNvPr id="35" name="TextBox 34"/>
          <p:cNvSpPr txBox="1"/>
          <p:nvPr/>
        </p:nvSpPr>
        <p:spPr>
          <a:xfrm>
            <a:off x="11475720" y="6583680"/>
            <a:ext cx="502920" cy="292608"/>
          </a:xfrm>
          <a:prstGeom prst="rect">
            <a:avLst/>
          </a:prstGeom>
          <a:noFill/>
        </p:spPr>
        <p:txBody>
          <a:bodyPr wrap="none" lIns="0" tIns="0" rIns="0" bIns="0">
            <a:spAutoFit/>
          </a:bodyPr>
          <a:lstStyle/>
          <a:p>
            <a:pPr algn="r"/>
            <a:fld id="{C1DD69E8-90E4-5231-B2B9-F4E752D42306}" type="slidenum">
              <a:rPr lang="en-US" sz="1200" dirty="0">
                <a:solidFill>
                  <a:srgbClr val="555B66"/>
                </a:solidFill>
                <a:latin typeface="Calibri"/>
              </a:rPr>
              <a:t>54</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5 · Monopolistic Competition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Market Structure Characteristics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16" name="Group pair 116"/>
          <p:cNvGrpSpPr/>
          <p:nvPr/>
        </p:nvGrpSpPr>
        <p:grpSpPr>
          <a:xfrm>
            <a:off x="563727" y="1463040"/>
            <a:ext cx="11064240" cy="4434840"/>
            <a:chOff x="563727" y="1463040"/>
            <a:chExt cx="11064240" cy="4434840"/>
          </a:xfrm>
        </p:grpSpPr>
        <p:sp>
          <p:nvSpPr>
            <p:cNvPr id="7" name="Rectangle 6"/>
            <p:cNvSpPr/>
            <p:nvPr/>
          </p:nvSpPr>
          <p:spPr>
            <a:xfrm>
              <a:off x="563727" y="1463040"/>
              <a:ext cx="11064240" cy="4434840"/>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nvGraphicFramePr>
          <p:xfrm>
            <a:off x="700887" y="1600200"/>
            <a:ext cx="10789919" cy="4160520"/>
          </p:xfrm>
          <a:graphic>
            <a:graphicData uri="http://schemas.openxmlformats.org/drawingml/2006/table">
              <a:tbl>
                <a:tblPr/>
                <a:tblGrid>
                  <a:gridCol w="3749039">
                    <a:extLst>
                      <a:ext uri="{9D8B030D-6E8A-4147-A177-3AD203B41FA5}">
                        <a16:colId xmlns:a16="http://schemas.microsoft.com/office/drawing/2014/main" val="20000"/>
                      </a:ext>
                    </a:extLst>
                  </a:gridCol>
                  <a:gridCol w="7040880">
                    <a:extLst>
                      <a:ext uri="{9D8B030D-6E8A-4147-A177-3AD203B41FA5}">
                        <a16:colId xmlns:a16="http://schemas.microsoft.com/office/drawing/2014/main" val="20001"/>
                      </a:ext>
                    </a:extLst>
                  </a:gridCol>
                </a:tblGrid>
                <a:tr h="502920">
                  <a:tc>
                    <a:txBody>
                      <a:bodyPr/>
                      <a:lstStyle/>
                      <a:p>
                        <a:pPr algn="ctr"/>
                        <a:endParaRP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a:lstStyle/>
                      <a:p>
                        <a:pPr algn="ctr"/>
                        <a:r>
                          <a:rPr sz="2200" b="1">
                            <a:solidFill>
                              <a:srgbClr val="FFFFFF"/>
                            </a:solidFill>
                            <a:latin typeface="Calibri"/>
                          </a:rPr>
                          <a:t>Monopolistic Competition</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extLst>
                    <a:ext uri="{0D108BD9-81ED-4DB2-BD59-A6C34878D82A}">
                      <a16:rowId xmlns:a16="http://schemas.microsoft.com/office/drawing/2014/main" val="10000"/>
                    </a:ext>
                  </a:extLst>
                </a:tr>
                <a:tr h="731520">
                  <a:tc>
                    <a:txBody>
                      <a:bodyPr/>
                      <a:lstStyle/>
                      <a:p>
                        <a:pPr algn="l"/>
                        <a:r>
                          <a:rPr sz="2000" b="1">
                            <a:solidFill>
                              <a:srgbClr val="0B2B4E"/>
                            </a:solidFill>
                            <a:latin typeface="Calibri"/>
                          </a:rPr>
                          <a:t>Number of actual or potential competitors</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2000" b="0">
                            <a:solidFill>
                              <a:srgbClr val="0B2B4E"/>
                            </a:solidFill>
                            <a:latin typeface="Calibri"/>
                          </a:rPr>
                          <a:t>Many sellers</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1"/>
                    </a:ext>
                  </a:extLst>
                </a:tr>
                <a:tr h="731520">
                  <a:tc>
                    <a:txBody>
                      <a:bodyPr/>
                      <a:lstStyle/>
                      <a:p>
                        <a:pPr algn="l"/>
                        <a:r>
                          <a:rPr sz="2000" b="1">
                            <a:solidFill>
                              <a:srgbClr val="0B2B4E"/>
                            </a:solidFill>
                            <a:latin typeface="Calibri"/>
                          </a:rPr>
                          <a:t>Product differentiation</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2000" b="0">
                            <a:solidFill>
                              <a:srgbClr val="0B2B4E"/>
                            </a:solidFill>
                            <a:latin typeface="Calibri"/>
                          </a:rPr>
                          <a:t>Perceived differences but relatively close substitutes</a:t>
                        </a:r>
                      </a:p>
                    </a:txBody>
                    <a:tcPr marT="73152" marB="36576">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extLst>
                    <a:ext uri="{0D108BD9-81ED-4DB2-BD59-A6C34878D82A}">
                      <a16:rowId xmlns:a16="http://schemas.microsoft.com/office/drawing/2014/main" val="10002"/>
                    </a:ext>
                  </a:extLst>
                </a:tr>
                <a:tr h="731520">
                  <a:tc>
                    <a:txBody>
                      <a:bodyPr/>
                      <a:lstStyle/>
                      <a:p>
                        <a:pPr algn="l"/>
                        <a:r>
                          <a:rPr sz="2000" b="1">
                            <a:solidFill>
                              <a:srgbClr val="0B2B4E"/>
                            </a:solidFill>
                            <a:latin typeface="Calibri"/>
                          </a:rPr>
                          <a:t>Entry conditions</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2000" b="0">
                            <a:solidFill>
                              <a:srgbClr val="0B2B4E"/>
                            </a:solidFill>
                            <a:latin typeface="Calibri"/>
                          </a:rPr>
                          <a:t>No (major) barriers to entry</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3"/>
                    </a:ext>
                  </a:extLst>
                </a:tr>
                <a:tr h="731520">
                  <a:tc>
                    <a:txBody>
                      <a:bodyPr/>
                      <a:lstStyle/>
                      <a:p>
                        <a:pPr algn="l"/>
                        <a:r>
                          <a:rPr sz="2000" b="1">
                            <a:solidFill>
                              <a:srgbClr val="0B2B4E"/>
                            </a:solidFill>
                            <a:latin typeface="Calibri"/>
                          </a:rPr>
                          <a:t>Profit potential</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2000" b="0">
                            <a:solidFill>
                              <a:srgbClr val="0B2B4E"/>
                            </a:solidFill>
                            <a:latin typeface="Calibri"/>
                          </a:rPr>
                          <a:t>Normal economic profit in long run; losses and profits in short run only</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extLst>
                    <a:ext uri="{0D108BD9-81ED-4DB2-BD59-A6C34878D82A}">
                      <a16:rowId xmlns:a16="http://schemas.microsoft.com/office/drawing/2014/main" val="10004"/>
                    </a:ext>
                  </a:extLst>
                </a:tr>
                <a:tr h="731520">
                  <a:tc>
                    <a:txBody>
                      <a:bodyPr/>
                      <a:lstStyle/>
                      <a:p>
                        <a:pPr algn="l"/>
                        <a:r>
                          <a:rPr sz="2000" b="1">
                            <a:solidFill>
                              <a:srgbClr val="0B2B4E"/>
                            </a:solidFill>
                            <a:latin typeface="Calibri"/>
                          </a:rPr>
                          <a:t>Examples</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2000" b="0">
                            <a:solidFill>
                              <a:srgbClr val="0B2B4E"/>
                            </a:solidFill>
                            <a:latin typeface="Calibri"/>
                          </a:rPr>
                          <a:t>Professional services (plumbers, gardeners); restaurants, gas stations; clothing</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5"/>
                    </a:ext>
                  </a:extLst>
                </a:tr>
              </a:tbl>
            </a:graphicData>
          </a:graphic>
        </p:graphicFrame>
      </p:grpSp>
      <p:grpSp>
        <p:nvGrpSpPr>
          <p:cNvPr id="11" name="Palessi"/>
          <p:cNvGrpSpPr/>
          <p:nvPr/>
        </p:nvGrpSpPr>
        <p:grpSpPr>
          <a:xfrm>
            <a:off x="6291072" y="3236976"/>
            <a:ext cx="3822192" cy="246888"/>
            <a:chOff x="6291072" y="3236976"/>
            <a:chExt cx="3822192" cy="246888"/>
          </a:xfrm>
        </p:grpSpPr>
        <p:sp>
          <p:nvSpPr>
            <p:cNvPr id="9" name="TextBox 8"/>
            <p:cNvSpPr txBox="1"/>
            <p:nvPr/>
          </p:nvSpPr>
          <p:spPr>
            <a:xfrm>
              <a:off x="6821424" y="3236976"/>
              <a:ext cx="3291840" cy="246888"/>
            </a:xfrm>
            <a:prstGeom prst="rect">
              <a:avLst/>
            </a:prstGeom>
            <a:noFill/>
          </p:spPr>
          <p:txBody>
            <a:bodyPr wrap="square" lIns="0" tIns="0" rIns="0" bIns="0">
              <a:spAutoFit/>
            </a:bodyPr>
            <a:lstStyle/>
            <a:p>
              <a:pPr algn="l"/>
              <a:r>
                <a:rPr sz="1600" b="0" i="1" u="none">
                  <a:solidFill>
                    <a:srgbClr val="0B2B4E"/>
                  </a:solidFill>
                  <a:latin typeface="Calibri"/>
                </a:rPr>
                <a:t>(How to get market power: </a:t>
              </a:r>
              <a:r>
                <a:rPr sz="1600" i="1" u="sng">
                  <a:solidFill>
                    <a:srgbClr val="0B2B4E"/>
                  </a:solidFill>
                  <a:latin typeface="Calibri"/>
                  <a:hlinkClick r:id="rId3"/>
                </a:rPr>
                <a:t>Palessi</a:t>
              </a:r>
              <a:r>
                <a:rPr sz="1600" i="1">
                  <a:solidFill>
                    <a:srgbClr val="0B2B4E"/>
                  </a:solidFill>
                  <a:latin typeface="Calibri"/>
                </a:rPr>
                <a:t>)</a:t>
              </a:r>
            </a:p>
          </p:txBody>
        </p:sp>
        <p:sp>
          <p:nvSpPr>
            <p:cNvPr id="10" name="Action Button: Movie 9">
              <a:hlinkClick r:id="rId3"/>
            </p:cNvPr>
            <p:cNvSpPr/>
            <p:nvPr/>
          </p:nvSpPr>
          <p:spPr>
            <a:xfrm>
              <a:off x="6291072" y="3264408"/>
              <a:ext cx="393192" cy="182880"/>
            </a:xfrm>
            <a:prstGeom prst="actionButtonMovie">
              <a:avLst/>
            </a:prstGeom>
            <a:solidFill>
              <a:srgbClr val="0B2B4E"/>
            </a:solidFill>
            <a:ln w="15875">
              <a:solidFill>
                <a:srgbClr val="FFFFFF"/>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12" name="EntryBox"/>
          <p:cNvSpPr/>
          <p:nvPr/>
        </p:nvSpPr>
        <p:spPr>
          <a:xfrm>
            <a:off x="6363499" y="3675888"/>
            <a:ext cx="3213735" cy="512064"/>
          </a:xfrm>
          <a:prstGeom prst="roundRect">
            <a:avLst>
              <a:gd name="adj" fmla="val 25000"/>
            </a:avLst>
          </a:prstGeom>
          <a:noFill/>
          <a:ln w="317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5  ·  Monopoly and Monopolistic Competition</a:t>
            </a:r>
          </a:p>
        </p:txBody>
      </p:sp>
      <p:sp>
        <p:nvSpPr>
          <p:cNvPr id="16" name="TextBox 15"/>
          <p:cNvSpPr txBox="1"/>
          <p:nvPr/>
        </p:nvSpPr>
        <p:spPr>
          <a:xfrm>
            <a:off x="11475720" y="6583680"/>
            <a:ext cx="502920" cy="292608"/>
          </a:xfrm>
          <a:prstGeom prst="rect">
            <a:avLst/>
          </a:prstGeom>
          <a:noFill/>
        </p:spPr>
        <p:txBody>
          <a:bodyPr wrap="none" lIns="0" tIns="0" rIns="0" bIns="0">
            <a:spAutoFit/>
          </a:bodyPr>
          <a:lstStyle/>
          <a:p>
            <a:pPr algn="r"/>
            <a:fld id="{B0142077-D761-56B3-949B-5E0727ACD2FB}" type="slidenum">
              <a:rPr lang="en-US" sz="1200" dirty="0">
                <a:solidFill>
                  <a:srgbClr val="555B66"/>
                </a:solidFill>
                <a:latin typeface="Calibri"/>
              </a:rPr>
              <a:t>55</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5 · Monopolistic Competition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Monopolistic Competition Example: Gas Stations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46520" y="1417320"/>
            <a:ext cx="5394960" cy="4937760"/>
          </a:xfrm>
          <a:prstGeom prst="rect">
            <a:avLst/>
          </a:prstGeom>
          <a:noFill/>
        </p:spPr>
        <p:txBody>
          <a:bodyPr wrap="square" lIns="0" tIns="0" rIns="0" bIns="0" anchor="ctr">
            <a:noAutofit/>
          </a:bodyPr>
          <a:lstStyle>
            <a:lvl1pPr marL="342900" indent="-342900">
              <a:spcBef>
                <a:spcPts val="1200"/>
              </a:spcBef>
              <a:buClr>
                <a:srgbClr val="0B2B4E"/>
              </a:buClr>
              <a:buFont typeface="Calibri"/>
              <a:buChar char="▪"/>
              <a:defRPr sz="3000" b="0">
                <a:solidFill>
                  <a:srgbClr val="0B2B4E"/>
                </a:solidFill>
                <a:latin typeface="Calibri"/>
              </a:defRPr>
            </a:lvl1pPr>
            <a:lvl2pPr marL="685800" indent="-228600">
              <a:spcBef>
                <a:spcPts val="300"/>
              </a:spcBef>
              <a:buClr>
                <a:srgbClr val="0B2B4E"/>
              </a:buClr>
              <a:buFont typeface="Calibri"/>
              <a:buChar char="–"/>
              <a:defRPr sz="2400" b="0">
                <a:solidFill>
                  <a:srgbClr val="0B2B4E"/>
                </a:solidFill>
                <a:latin typeface="Calibri"/>
              </a:defRPr>
            </a:lvl2pPr>
          </a:lstStyle>
          <a:p>
            <a:pPr algn="l"/>
            <a:r>
              <a:rPr>
                <a:latin typeface="Calibri"/>
              </a:rPr>
              <a:t>Product differentiation by location</a:t>
            </a:r>
          </a:p>
        </p:txBody>
      </p:sp>
      <p:pic>
        <p:nvPicPr>
          <p:cNvPr id="8" name="Picture 7" descr="NV_s49_rId3.png"/>
          <p:cNvPicPr>
            <a:picLocks noChangeAspect="1"/>
          </p:cNvPicPr>
          <p:nvPr/>
        </p:nvPicPr>
        <p:blipFill>
          <a:blip r:embed="rId3"/>
          <a:stretch>
            <a:fillRect/>
          </a:stretch>
        </p:blipFill>
        <p:spPr>
          <a:xfrm>
            <a:off x="685800" y="1463040"/>
            <a:ext cx="5190386" cy="4572000"/>
          </a:xfrm>
          <a:prstGeom prst="roundRect">
            <a:avLst>
              <a:gd name="adj" fmla="val 8000"/>
            </a:avLst>
          </a:prstGeom>
          <a:effectLst>
            <a:outerShdw blurRad="50800" dist="38100" dir="2700000" algn="tl" rotWithShape="0">
              <a:srgbClr val="000000">
                <a:alpha val="50000"/>
              </a:srgbClr>
            </a:outerShdw>
          </a:effectLst>
        </p:spPr>
      </p:pic>
      <p:sp>
        <p:nvSpPr>
          <p:cNvPr id="9" name="Rectangle 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5  ·  Monopoly and Monopolistic Competition</a:t>
            </a:r>
          </a:p>
        </p:txBody>
      </p:sp>
      <p:sp>
        <p:nvSpPr>
          <p:cNvPr id="12" name="TextBox 11"/>
          <p:cNvSpPr txBox="1"/>
          <p:nvPr/>
        </p:nvSpPr>
        <p:spPr>
          <a:xfrm>
            <a:off x="11475720" y="6583680"/>
            <a:ext cx="502920" cy="292608"/>
          </a:xfrm>
          <a:prstGeom prst="rect">
            <a:avLst/>
          </a:prstGeom>
          <a:noFill/>
        </p:spPr>
        <p:txBody>
          <a:bodyPr wrap="none" lIns="0" tIns="0" rIns="0" bIns="0">
            <a:spAutoFit/>
          </a:bodyPr>
          <a:lstStyle/>
          <a:p>
            <a:pPr algn="r"/>
            <a:fld id="{EE7A44E1-3B49-5FD8-ABEA-DC399809A862}" type="slidenum">
              <a:rPr lang="en-US" sz="1200" dirty="0">
                <a:solidFill>
                  <a:srgbClr val="555B66"/>
                </a:solidFill>
                <a:latin typeface="Calibri"/>
              </a:rPr>
              <a:t>56</a:t>
            </a:fld>
            <a:endParaRPr lang="en-US" sz="1200" dirty="0">
              <a:solidFill>
                <a:srgbClr val="555B66"/>
              </a:solidFill>
              <a:latin typeface="Calibri"/>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5 · Monopolistic Competition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Monopolistic Competition: The Role of Entry</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80599" y="1417320"/>
            <a:ext cx="11230497" cy="4937760"/>
          </a:xfrm>
          <a:prstGeom prst="rect">
            <a:avLst/>
          </a:prstGeom>
          <a:noFill/>
        </p:spPr>
        <p:txBody>
          <a:bodyPr wrap="square" lIns="0" tIns="0" rIns="0" bIns="0" anchor="ctr">
            <a:noAutofit/>
          </a:bodyPr>
          <a:lstStyle>
            <a:lvl1pPr marL="342900" indent="-342900">
              <a:spcBef>
                <a:spcPts val="1800"/>
              </a:spcBef>
              <a:buClr>
                <a:srgbClr val="0B2B4E"/>
              </a:buClr>
              <a:buFont typeface="Calibri"/>
              <a:buChar char="▪"/>
              <a:defRPr sz="3000" b="0">
                <a:solidFill>
                  <a:srgbClr val="0B2B4E"/>
                </a:solidFill>
                <a:latin typeface="Calibri"/>
              </a:defRPr>
            </a:lvl1pPr>
            <a:lvl2pPr marL="685800" indent="-228600">
              <a:spcBef>
                <a:spcPts val="300"/>
              </a:spcBef>
              <a:buClr>
                <a:srgbClr val="0B2B4E"/>
              </a:buClr>
              <a:buFont typeface="Calibri"/>
              <a:buChar char="–"/>
              <a:defRPr sz="2800" b="0">
                <a:solidFill>
                  <a:srgbClr val="0B2B4E"/>
                </a:solidFill>
                <a:latin typeface="Calibri"/>
              </a:defRPr>
            </a:lvl2pPr>
          </a:lstStyle>
          <a:p>
            <a:pPr algn="l"/>
            <a:r>
              <a:rPr dirty="0">
                <a:latin typeface="Calibri"/>
              </a:rPr>
              <a:t>Monopolistic competition</a:t>
            </a:r>
          </a:p>
          <a:p>
            <a:pPr lvl="1" algn="l"/>
            <a:r>
              <a:rPr dirty="0">
                <a:latin typeface="Calibri"/>
              </a:rPr>
              <a:t>Large number of firms</a:t>
            </a:r>
          </a:p>
          <a:p>
            <a:pPr lvl="1" algn="l"/>
            <a:r>
              <a:rPr dirty="0">
                <a:latin typeface="Calibri"/>
              </a:rPr>
              <a:t>No (major) entry barriers</a:t>
            </a:r>
          </a:p>
          <a:p>
            <a:pPr algn="l">
              <a:spcBef>
                <a:spcPts val="2200"/>
              </a:spcBef>
            </a:pPr>
            <a:r>
              <a:rPr b="1" dirty="0">
                <a:solidFill>
                  <a:srgbClr val="C00000"/>
                </a:solidFill>
                <a:latin typeface="Calibri"/>
              </a:rPr>
              <a:t>Short run</a:t>
            </a:r>
            <a:r>
              <a:rPr dirty="0">
                <a:solidFill>
                  <a:srgbClr val="C00000"/>
                </a:solidFill>
                <a:latin typeface="Calibri"/>
              </a:rPr>
              <a:t>: economic profits possible</a:t>
            </a:r>
          </a:p>
          <a:p>
            <a:pPr algn="l">
              <a:spcBef>
                <a:spcPts val="2200"/>
              </a:spcBef>
            </a:pPr>
            <a:r>
              <a:rPr b="1" dirty="0">
                <a:solidFill>
                  <a:srgbClr val="0070C0"/>
                </a:solidFill>
                <a:latin typeface="Calibri"/>
              </a:rPr>
              <a:t>Long run</a:t>
            </a:r>
            <a:r>
              <a:rPr dirty="0">
                <a:solidFill>
                  <a:srgbClr val="0070C0"/>
                </a:solidFill>
                <a:latin typeface="Calibri"/>
              </a:rPr>
              <a:t>: entry erodes economic profits</a:t>
            </a:r>
          </a:p>
        </p:txBody>
      </p:sp>
      <p:pic>
        <p:nvPicPr>
          <p:cNvPr id="8" name="Picture 7" descr="NV_entry_map_2009_2019.png"/>
          <p:cNvPicPr>
            <a:picLocks noChangeAspect="1"/>
          </p:cNvPicPr>
          <p:nvPr/>
        </p:nvPicPr>
        <p:blipFill>
          <a:blip r:embed="rId3"/>
          <a:srcRect b="49583"/>
          <a:stretch>
            <a:fillRect/>
          </a:stretch>
        </p:blipFill>
        <p:spPr>
          <a:xfrm>
            <a:off x="7964424" y="1271016"/>
            <a:ext cx="3831336" cy="2590876"/>
          </a:xfrm>
          <a:prstGeom prst="round2SameRect">
            <a:avLst>
              <a:gd name="adj1" fmla="val 4436"/>
              <a:gd name="adj2" fmla="val 0"/>
            </a:avLst>
          </a:prstGeom>
          <a:effectLst>
            <a:outerShdw blurRad="50800" dist="38100" dir="2700000" algn="tl" rotWithShape="0">
              <a:srgbClr val="000000">
                <a:alpha val="50000"/>
              </a:srgbClr>
            </a:outerShdw>
          </a:effectLst>
        </p:spPr>
      </p:pic>
      <p:pic>
        <p:nvPicPr>
          <p:cNvPr id="13" name="MapLongRun" descr="NV_entry_map_2009_2019.png"/>
          <p:cNvPicPr>
            <a:picLocks noChangeAspect="1"/>
          </p:cNvPicPr>
          <p:nvPr/>
        </p:nvPicPr>
        <p:blipFill>
          <a:blip r:embed="rId3"/>
          <a:srcRect t="50417"/>
          <a:stretch>
            <a:fillRect/>
          </a:stretch>
        </p:blipFill>
        <p:spPr>
          <a:xfrm>
            <a:off x="7964424" y="3861892"/>
            <a:ext cx="3831336" cy="2548052"/>
          </a:xfrm>
          <a:custGeom>
            <a:avLst/>
            <a:gdLst/>
            <a:ahLst/>
            <a:cxnLst/>
            <a:rect l="0" t="0" r="r" b="b"/>
            <a:pathLst>
              <a:path w="3831336" h="2548052">
                <a:moveTo>
                  <a:pt x="0" y="0"/>
                </a:moveTo>
                <a:lnTo>
                  <a:pt x="3831336" y="0"/>
                </a:lnTo>
                <a:lnTo>
                  <a:pt x="3831336" y="2433112"/>
                </a:lnTo>
                <a:arcTo wR="114940" hR="114940" stAng="0" swAng="5400000"/>
                <a:lnTo>
                  <a:pt x="114940" y="2548052"/>
                </a:lnTo>
                <a:arcTo wR="114940" hR="114940" stAng="5400000" swAng="5400000"/>
                <a:close/>
              </a:path>
            </a:pathLst>
          </a:custGeom>
          <a:effectLst>
            <a:outerShdw blurRad="50800" dist="38100" dir="2700000" algn="tl" rotWithShape="0">
              <a:srgbClr val="000000">
                <a:alpha val="50000"/>
              </a:srgbClr>
            </a:outerShdw>
          </a:effectLst>
        </p:spPr>
      </p:pic>
      <p:sp>
        <p:nvSpPr>
          <p:cNvPr id="9" name="Rectangle 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5  ·  Monopoly and Monopolistic Competition</a:t>
            </a:r>
          </a:p>
        </p:txBody>
      </p:sp>
      <p:sp>
        <p:nvSpPr>
          <p:cNvPr id="12" name="TextBox 11"/>
          <p:cNvSpPr txBox="1"/>
          <p:nvPr/>
        </p:nvSpPr>
        <p:spPr>
          <a:xfrm>
            <a:off x="11475720" y="6583680"/>
            <a:ext cx="502920" cy="292608"/>
          </a:xfrm>
          <a:prstGeom prst="rect">
            <a:avLst/>
          </a:prstGeom>
          <a:noFill/>
        </p:spPr>
        <p:txBody>
          <a:bodyPr wrap="none" lIns="0" tIns="0" rIns="0" bIns="0">
            <a:spAutoFit/>
          </a:bodyPr>
          <a:lstStyle/>
          <a:p>
            <a:pPr algn="r"/>
            <a:fld id="{AB707137-F7EE-5E7D-AC74-68ACA2259F27}" type="slidenum">
              <a:rPr lang="en-US" sz="1200" dirty="0">
                <a:solidFill>
                  <a:srgbClr val="555B66"/>
                </a:solidFill>
                <a:latin typeface="Calibri"/>
              </a:rPr>
              <a:t>57</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Effect transition="in" filter="fade">
                                      <p:cBhvr>
                                        <p:cTn id="7" dur="500"/>
                                        <p:tgtEl>
                                          <p:spTgt spid="7">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animEffect transition="in" filter="fade">
                                      <p:cBhvr>
                                        <p:cTn id="15" dur="500"/>
                                        <p:tgtEl>
                                          <p:spTgt spid="7">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5 · Monopolistic Competition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Monopolistic Competition: Short Run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NV_s10_rId4.png"/>
          <p:cNvPicPr>
            <a:picLocks noChangeAspect="1"/>
          </p:cNvPicPr>
          <p:nvPr/>
        </p:nvPicPr>
        <p:blipFill>
          <a:blip r:embed="rId3"/>
          <a:stretch>
            <a:fillRect/>
          </a:stretch>
        </p:blipFill>
        <p:spPr>
          <a:xfrm>
            <a:off x="8778240" y="1325880"/>
            <a:ext cx="2926080" cy="636517"/>
          </a:xfrm>
          <a:prstGeom prst="rect">
            <a:avLst/>
          </a:prstGeom>
        </p:spPr>
      </p:pic>
      <p:cxnSp>
        <p:nvCxnSpPr>
          <p:cNvPr id="8" name="sdaxis:y"/>
          <p:cNvCxnSpPr/>
          <p:nvPr/>
        </p:nvCxnSpPr>
        <p:spPr>
          <a:xfrm flipV="1">
            <a:off x="1280160" y="1435608"/>
            <a:ext cx="0" cy="4416552"/>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9" name="sdaxis:x"/>
          <p:cNvCxnSpPr/>
          <p:nvPr/>
        </p:nvCxnSpPr>
        <p:spPr>
          <a:xfrm>
            <a:off x="1280160" y="5852160"/>
            <a:ext cx="647395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0" name="sdaxistitle:y"/>
          <p:cNvSpPr txBox="1"/>
          <p:nvPr/>
        </p:nvSpPr>
        <p:spPr>
          <a:xfrm>
            <a:off x="990980" y="1303020"/>
            <a:ext cx="216027" cy="265176"/>
          </a:xfrm>
          <a:prstGeom prst="rect">
            <a:avLst/>
          </a:prstGeom>
          <a:noFill/>
        </p:spPr>
        <p:txBody>
          <a:bodyPr wrap="square" lIns="0" tIns="0" rIns="0" bIns="0">
            <a:spAutoFit/>
          </a:bodyPr>
          <a:lstStyle/>
          <a:p>
            <a:pPr algn="l"/>
            <a:r>
              <a:rPr sz="2000" b="1" i="1" u="none">
                <a:solidFill>
                  <a:srgbClr val="0B2B4E"/>
                </a:solidFill>
                <a:latin typeface="Calibri"/>
              </a:rPr>
              <a:t>P</a:t>
            </a:r>
          </a:p>
        </p:txBody>
      </p:sp>
      <p:sp>
        <p:nvSpPr>
          <p:cNvPr id="11" name="sdaxistitle:x"/>
          <p:cNvSpPr txBox="1"/>
          <p:nvPr/>
        </p:nvSpPr>
        <p:spPr>
          <a:xfrm>
            <a:off x="7631811" y="5897880"/>
            <a:ext cx="244602" cy="265176"/>
          </a:xfrm>
          <a:prstGeom prst="rect">
            <a:avLst/>
          </a:prstGeom>
          <a:noFill/>
        </p:spPr>
        <p:txBody>
          <a:bodyPr wrap="square" lIns="0" tIns="0" rIns="0" bIns="0">
            <a:spAutoFit/>
          </a:bodyPr>
          <a:lstStyle/>
          <a:p>
            <a:pPr algn="l"/>
            <a:r>
              <a:rPr sz="2000" b="1" i="1" u="none">
                <a:solidFill>
                  <a:srgbClr val="0B2B4E"/>
                </a:solidFill>
                <a:latin typeface="Calibri"/>
              </a:rPr>
              <a:t>Q</a:t>
            </a:r>
          </a:p>
        </p:txBody>
      </p:sp>
      <p:grpSp>
        <p:nvGrpSpPr>
          <p:cNvPr id="135" name="sdpair:sdreglab:40a3c033"/>
          <p:cNvGrpSpPr/>
          <p:nvPr/>
        </p:nvGrpSpPr>
        <p:grpSpPr>
          <a:xfrm>
            <a:off x="1280160" y="2628146"/>
            <a:ext cx="1959428" cy="1269046"/>
            <a:chOff x="1280160" y="2628146"/>
            <a:chExt cx="1959428" cy="1269046"/>
          </a:xfrm>
        </p:grpSpPr>
        <p:sp>
          <p:nvSpPr>
            <p:cNvPr id="12" name="sdregion:40a3c033"/>
            <p:cNvSpPr/>
            <p:nvPr/>
          </p:nvSpPr>
          <p:spPr>
            <a:xfrm>
              <a:off x="1280160" y="2628146"/>
              <a:ext cx="1959428" cy="1269046"/>
            </a:xfrm>
            <a:custGeom>
              <a:avLst/>
              <a:gdLst/>
              <a:ahLst/>
              <a:cxnLst/>
              <a:rect l="0" t="0" r="r" b="b"/>
              <a:pathLst>
                <a:path w="1959428" h="1269046">
                  <a:moveTo>
                    <a:pt x="0" y="1269046"/>
                  </a:moveTo>
                  <a:lnTo>
                    <a:pt x="1959428" y="1269046"/>
                  </a:lnTo>
                  <a:lnTo>
                    <a:pt x="1959428" y="0"/>
                  </a:lnTo>
                  <a:lnTo>
                    <a:pt x="0" y="0"/>
                  </a:lnTo>
                  <a:close/>
                </a:path>
              </a:pathLst>
            </a:custGeom>
            <a:solidFill>
              <a:srgbClr val="C00000">
                <a:alpha val="22000"/>
              </a:srgbClr>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sdreglab:40a3c033"/>
            <p:cNvSpPr txBox="1"/>
            <p:nvPr/>
          </p:nvSpPr>
          <p:spPr>
            <a:xfrm>
              <a:off x="2005393" y="3015849"/>
              <a:ext cx="634365" cy="308610"/>
            </a:xfrm>
            <a:prstGeom prst="rect">
              <a:avLst/>
            </a:prstGeom>
            <a:noFill/>
          </p:spPr>
          <p:txBody>
            <a:bodyPr wrap="square" lIns="0" tIns="0" rIns="0" bIns="0" anchor="ctr">
              <a:spAutoFit/>
            </a:bodyPr>
            <a:lstStyle/>
            <a:p>
              <a:pPr algn="ctr"/>
              <a:r>
                <a:rPr sz="1800" b="1" i="0" u="none">
                  <a:solidFill>
                    <a:srgbClr val="0B2B4E"/>
                  </a:solidFill>
                  <a:latin typeface="Calibri"/>
                </a:rPr>
                <a:t>Profit</a:t>
              </a:r>
            </a:p>
          </p:txBody>
        </p:sp>
      </p:grpSp>
      <p:grpSp>
        <p:nvGrpSpPr>
          <p:cNvPr id="131" name="sdpair:curve:D"/>
          <p:cNvGrpSpPr/>
          <p:nvPr/>
        </p:nvGrpSpPr>
        <p:grpSpPr>
          <a:xfrm>
            <a:off x="1280160" y="1927273"/>
            <a:ext cx="5785865" cy="2108747"/>
            <a:chOff x="1280160" y="1927273"/>
            <a:chExt cx="5785865" cy="2108747"/>
          </a:xfrm>
        </p:grpSpPr>
        <p:cxnSp>
          <p:nvCxnSpPr>
            <p:cNvPr id="14" name="sdcurve:D"/>
            <p:cNvCxnSpPr/>
            <p:nvPr/>
          </p:nvCxnSpPr>
          <p:spPr>
            <a:xfrm>
              <a:off x="1280160" y="1927273"/>
              <a:ext cx="5486400" cy="1962443"/>
            </a:xfrm>
            <a:prstGeom prst="line">
              <a:avLst/>
            </a:prstGeom>
            <a:ln w="34925">
              <a:solidFill>
                <a:srgbClr val="C00000"/>
              </a:solidFill>
            </a:ln>
          </p:spPr>
          <p:style>
            <a:lnRef idx="2">
              <a:schemeClr val="accent1"/>
            </a:lnRef>
            <a:fillRef idx="0">
              <a:schemeClr val="accent1"/>
            </a:fillRef>
            <a:effectRef idx="1">
              <a:schemeClr val="accent1"/>
            </a:effectRef>
            <a:fontRef idx="minor">
              <a:schemeClr val="tx1"/>
            </a:fontRef>
          </p:style>
        </p:cxnSp>
        <p:sp>
          <p:nvSpPr>
            <p:cNvPr id="15" name="sdcurvelab:D"/>
            <p:cNvSpPr txBox="1"/>
            <p:nvPr/>
          </p:nvSpPr>
          <p:spPr>
            <a:xfrm>
              <a:off x="6821423" y="3743412"/>
              <a:ext cx="244602" cy="292608"/>
            </a:xfrm>
            <a:prstGeom prst="rect">
              <a:avLst/>
            </a:prstGeom>
            <a:noFill/>
          </p:spPr>
          <p:txBody>
            <a:bodyPr wrap="square" lIns="0" tIns="0" rIns="0" bIns="0">
              <a:spAutoFit/>
            </a:bodyPr>
            <a:lstStyle/>
            <a:p>
              <a:pPr algn="l"/>
              <a:r>
                <a:rPr sz="2200" b="1" i="1" u="none">
                  <a:solidFill>
                    <a:srgbClr val="C00000"/>
                  </a:solidFill>
                  <a:latin typeface="Calibri"/>
                </a:rPr>
                <a:t>D</a:t>
              </a:r>
            </a:p>
          </p:txBody>
        </p:sp>
      </p:grpSp>
      <p:grpSp>
        <p:nvGrpSpPr>
          <p:cNvPr id="132" name="sdpair:curve:MR"/>
          <p:cNvGrpSpPr/>
          <p:nvPr/>
        </p:nvGrpSpPr>
        <p:grpSpPr>
          <a:xfrm>
            <a:off x="1280160" y="1927273"/>
            <a:ext cx="6025437" cy="3924887"/>
            <a:chOff x="1280160" y="1927273"/>
            <a:chExt cx="6025437" cy="3924887"/>
          </a:xfrm>
        </p:grpSpPr>
        <p:cxnSp>
          <p:nvCxnSpPr>
            <p:cNvPr id="16" name="sdcurve:MR"/>
            <p:cNvCxnSpPr/>
            <p:nvPr/>
          </p:nvCxnSpPr>
          <p:spPr>
            <a:xfrm>
              <a:off x="1280160" y="1927273"/>
              <a:ext cx="5486400" cy="3924887"/>
            </a:xfrm>
            <a:prstGeom prst="line">
              <a:avLst/>
            </a:prstGeom>
            <a:ln w="28575">
              <a:solidFill>
                <a:srgbClr val="C00000"/>
              </a:solidFill>
              <a:prstDash val="dash"/>
            </a:ln>
          </p:spPr>
          <p:style>
            <a:lnRef idx="2">
              <a:schemeClr val="accent1"/>
            </a:lnRef>
            <a:fillRef idx="0">
              <a:schemeClr val="accent1"/>
            </a:fillRef>
            <a:effectRef idx="1">
              <a:schemeClr val="accent1"/>
            </a:effectRef>
            <a:fontRef idx="minor">
              <a:schemeClr val="tx1"/>
            </a:fontRef>
          </p:style>
        </p:cxnSp>
        <p:sp>
          <p:nvSpPr>
            <p:cNvPr id="17" name="sdcurvelab:MR"/>
            <p:cNvSpPr txBox="1"/>
            <p:nvPr/>
          </p:nvSpPr>
          <p:spPr>
            <a:xfrm>
              <a:off x="6832396" y="5525965"/>
              <a:ext cx="473201" cy="292608"/>
            </a:xfrm>
            <a:prstGeom prst="rect">
              <a:avLst/>
            </a:prstGeom>
            <a:noFill/>
          </p:spPr>
          <p:txBody>
            <a:bodyPr wrap="square" lIns="0" tIns="0" rIns="0" bIns="0">
              <a:spAutoFit/>
            </a:bodyPr>
            <a:lstStyle/>
            <a:p>
              <a:pPr algn="l"/>
              <a:r>
                <a:rPr sz="2200" b="1" i="1" u="none">
                  <a:solidFill>
                    <a:srgbClr val="C00000"/>
                  </a:solidFill>
                  <a:latin typeface="Calibri"/>
                </a:rPr>
                <a:t>MR</a:t>
              </a:r>
            </a:p>
          </p:txBody>
        </p:sp>
      </p:grpSp>
      <p:grpSp>
        <p:nvGrpSpPr>
          <p:cNvPr id="133" name="sdpair:curve:MC"/>
          <p:cNvGrpSpPr/>
          <p:nvPr/>
        </p:nvGrpSpPr>
        <p:grpSpPr>
          <a:xfrm>
            <a:off x="1280160" y="1682847"/>
            <a:ext cx="4105197" cy="3515165"/>
            <a:chOff x="1280160" y="1682847"/>
            <a:chExt cx="4105197" cy="3515165"/>
          </a:xfrm>
        </p:grpSpPr>
        <p:cxnSp>
          <p:nvCxnSpPr>
            <p:cNvPr id="18" name="sdcurve:MC"/>
            <p:cNvCxnSpPr/>
            <p:nvPr/>
          </p:nvCxnSpPr>
          <p:spPr>
            <a:xfrm flipV="1">
              <a:off x="1280160" y="1796444"/>
              <a:ext cx="3566160" cy="3401568"/>
            </a:xfrm>
            <a:prstGeom prst="line">
              <a:avLst/>
            </a:prstGeom>
            <a:ln w="34925">
              <a:solidFill>
                <a:srgbClr val="0B2B4E"/>
              </a:solidFill>
            </a:ln>
          </p:spPr>
          <p:style>
            <a:lnRef idx="2">
              <a:schemeClr val="accent1"/>
            </a:lnRef>
            <a:fillRef idx="0">
              <a:schemeClr val="accent1"/>
            </a:fillRef>
            <a:effectRef idx="1">
              <a:schemeClr val="accent1"/>
            </a:effectRef>
            <a:fontRef idx="minor">
              <a:schemeClr val="tx1"/>
            </a:fontRef>
          </p:style>
        </p:cxnSp>
        <p:sp>
          <p:nvSpPr>
            <p:cNvPr id="19" name="sdcurvelab:MC"/>
            <p:cNvSpPr txBox="1"/>
            <p:nvPr/>
          </p:nvSpPr>
          <p:spPr>
            <a:xfrm>
              <a:off x="4912156" y="1682847"/>
              <a:ext cx="473201" cy="292608"/>
            </a:xfrm>
            <a:prstGeom prst="rect">
              <a:avLst/>
            </a:prstGeom>
            <a:noFill/>
          </p:spPr>
          <p:txBody>
            <a:bodyPr wrap="square" lIns="0" tIns="0" rIns="0" bIns="0">
              <a:spAutoFit/>
            </a:bodyPr>
            <a:lstStyle/>
            <a:p>
              <a:pPr algn="l"/>
              <a:r>
                <a:rPr sz="2200" b="1" i="1" u="none">
                  <a:solidFill>
                    <a:srgbClr val="0B2B4E"/>
                  </a:solidFill>
                  <a:latin typeface="Calibri"/>
                </a:rPr>
                <a:t>MC</a:t>
              </a:r>
            </a:p>
          </p:txBody>
        </p:sp>
      </p:grpSp>
      <p:grpSp>
        <p:nvGrpSpPr>
          <p:cNvPr id="134" name="sdpair:curve:ATC"/>
          <p:cNvGrpSpPr/>
          <p:nvPr/>
        </p:nvGrpSpPr>
        <p:grpSpPr>
          <a:xfrm>
            <a:off x="1488643" y="1558456"/>
            <a:ext cx="5223053" cy="2472890"/>
            <a:chOff x="1488643" y="1558456"/>
            <a:chExt cx="5223053" cy="2472890"/>
          </a:xfrm>
        </p:grpSpPr>
        <p:sp>
          <p:nvSpPr>
            <p:cNvPr id="20" name="sdcurve:ATC"/>
            <p:cNvSpPr/>
            <p:nvPr/>
          </p:nvSpPr>
          <p:spPr>
            <a:xfrm>
              <a:off x="1488643" y="1655699"/>
              <a:ext cx="5223053" cy="2375647"/>
            </a:xfrm>
            <a:custGeom>
              <a:avLst/>
              <a:gdLst/>
              <a:ahLst/>
              <a:cxnLst/>
              <a:rect l="0" t="0" r="r" b="b"/>
              <a:pathLst>
                <a:path w="5223053" h="2375647" fill="none">
                  <a:moveTo>
                    <a:pt x="0" y="0"/>
                  </a:moveTo>
                  <a:cubicBezTo>
                    <a:pt x="9111" y="114858"/>
                    <a:pt x="34054" y="485337"/>
                    <a:pt x="54666" y="689152"/>
                  </a:cubicBezTo>
                  <a:cubicBezTo>
                    <a:pt x="75277" y="892966"/>
                    <a:pt x="97652" y="1066033"/>
                    <a:pt x="123668" y="1222888"/>
                  </a:cubicBezTo>
                  <a:cubicBezTo>
                    <a:pt x="149683" y="1379742"/>
                    <a:pt x="177923" y="1511841"/>
                    <a:pt x="210761" y="1630280"/>
                  </a:cubicBezTo>
                  <a:cubicBezTo>
                    <a:pt x="243598" y="1748718"/>
                    <a:pt x="279244" y="1847045"/>
                    <a:pt x="320692" y="1933520"/>
                  </a:cubicBezTo>
                  <a:cubicBezTo>
                    <a:pt x="362140" y="2019994"/>
                    <a:pt x="407133" y="2089905"/>
                    <a:pt x="459449" y="2149126"/>
                  </a:cubicBezTo>
                  <a:cubicBezTo>
                    <a:pt x="511765" y="2208346"/>
                    <a:pt x="568554" y="2253649"/>
                    <a:pt x="634588" y="2288842"/>
                  </a:cubicBezTo>
                  <a:cubicBezTo>
                    <a:pt x="700621" y="2324034"/>
                    <a:pt x="772303" y="2347198"/>
                    <a:pt x="855652" y="2360280"/>
                  </a:cubicBezTo>
                  <a:cubicBezTo>
                    <a:pt x="939000" y="2373361"/>
                    <a:pt x="1029477" y="2375647"/>
                    <a:pt x="1134681" y="2367330"/>
                  </a:cubicBezTo>
                  <a:cubicBezTo>
                    <a:pt x="1239884" y="2359012"/>
                    <a:pt x="1354084" y="2340545"/>
                    <a:pt x="1486874" y="2310376"/>
                  </a:cubicBezTo>
                  <a:cubicBezTo>
                    <a:pt x="1619663" y="2280207"/>
                    <a:pt x="1763808" y="2239979"/>
                    <a:pt x="1931417" y="2186316"/>
                  </a:cubicBezTo>
                  <a:cubicBezTo>
                    <a:pt x="2099025" y="2132652"/>
                    <a:pt x="2280967" y="2068474"/>
                    <a:pt x="2492525" y="1988393"/>
                  </a:cubicBezTo>
                  <a:cubicBezTo>
                    <a:pt x="2704082" y="1908311"/>
                    <a:pt x="2933731" y="1816687"/>
                    <a:pt x="3200761" y="1705825"/>
                  </a:cubicBezTo>
                  <a:cubicBezTo>
                    <a:pt x="3467791" y="1594962"/>
                    <a:pt x="3757656" y="1470901"/>
                    <a:pt x="4094705" y="1323220"/>
                  </a:cubicBezTo>
                  <a:cubicBezTo>
                    <a:pt x="4431753" y="1175538"/>
                    <a:pt x="5034995" y="903650"/>
                    <a:pt x="5223053" y="819737"/>
                  </a:cubicBezTo>
                </a:path>
              </a:pathLst>
            </a:custGeom>
            <a:noFill/>
            <a:ln w="34925">
              <a:solidFill>
                <a:srgbClr val="E09F3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sdcurvelab:ATC"/>
            <p:cNvSpPr txBox="1"/>
            <p:nvPr/>
          </p:nvSpPr>
          <p:spPr>
            <a:xfrm>
              <a:off x="1581912" y="1558456"/>
              <a:ext cx="549402" cy="292608"/>
            </a:xfrm>
            <a:prstGeom prst="rect">
              <a:avLst/>
            </a:prstGeom>
            <a:noFill/>
          </p:spPr>
          <p:txBody>
            <a:bodyPr wrap="square" lIns="0" tIns="0" rIns="0" bIns="0">
              <a:spAutoFit/>
            </a:bodyPr>
            <a:lstStyle/>
            <a:p>
              <a:pPr algn="l"/>
              <a:r>
                <a:rPr sz="2200" b="1" i="1" u="none">
                  <a:solidFill>
                    <a:srgbClr val="E09F3E"/>
                  </a:solidFill>
                  <a:latin typeface="Calibri"/>
                </a:rPr>
                <a:t>ATC</a:t>
              </a:r>
            </a:p>
          </p:txBody>
        </p:sp>
      </p:grpSp>
      <p:cxnSp>
        <p:nvCxnSpPr>
          <p:cNvPr id="22" name="gQ"/>
          <p:cNvCxnSpPr/>
          <p:nvPr/>
        </p:nvCxnSpPr>
        <p:spPr>
          <a:xfrm flipV="1">
            <a:off x="3239588" y="2628146"/>
            <a:ext cx="0" cy="3224014"/>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050612" y="5907024"/>
            <a:ext cx="377952" cy="274320"/>
          </a:xfrm>
          <a:prstGeom prst="rect">
            <a:avLst/>
          </a:prstGeom>
          <a:noFill/>
        </p:spPr>
        <p:txBody>
          <a:bodyPr wrap="square" lIns="0" tIns="0" rIns="0" bIns="0">
            <a:spAutoFit/>
          </a:bodyPr>
          <a:lstStyle/>
          <a:p>
            <a:pPr algn="ctr"/>
            <a:r>
              <a:rPr sz="2000" b="1" i="1" u="none">
                <a:solidFill>
                  <a:srgbClr val="0B2B4E"/>
                </a:solidFill>
                <a:latin typeface="Calibri"/>
              </a:rPr>
              <a:t>Q*</a:t>
            </a:r>
          </a:p>
        </p:txBody>
      </p:sp>
      <p:cxnSp>
        <p:nvCxnSpPr>
          <p:cNvPr id="24" name="gP"/>
          <p:cNvCxnSpPr/>
          <p:nvPr/>
        </p:nvCxnSpPr>
        <p:spPr>
          <a:xfrm>
            <a:off x="1280160" y="2628146"/>
            <a:ext cx="1959428"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867156" y="2490986"/>
            <a:ext cx="339852" cy="274320"/>
          </a:xfrm>
          <a:prstGeom prst="rect">
            <a:avLst/>
          </a:prstGeom>
          <a:noFill/>
        </p:spPr>
        <p:txBody>
          <a:bodyPr wrap="square" lIns="0" tIns="0" rIns="0" bIns="0">
            <a:spAutoFit/>
          </a:bodyPr>
          <a:lstStyle/>
          <a:p>
            <a:pPr algn="r"/>
            <a:r>
              <a:rPr sz="2000" b="1" i="1" u="none">
                <a:solidFill>
                  <a:srgbClr val="0B2B4E"/>
                </a:solidFill>
                <a:latin typeface="Calibri"/>
              </a:rPr>
              <a:t>P*</a:t>
            </a:r>
          </a:p>
        </p:txBody>
      </p:sp>
      <p:cxnSp>
        <p:nvCxnSpPr>
          <p:cNvPr id="26" name="gA"/>
          <p:cNvCxnSpPr/>
          <p:nvPr/>
        </p:nvCxnSpPr>
        <p:spPr>
          <a:xfrm>
            <a:off x="1280160" y="3897192"/>
            <a:ext cx="1959428"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95705" y="3760032"/>
            <a:ext cx="511302" cy="274320"/>
          </a:xfrm>
          <a:prstGeom prst="rect">
            <a:avLst/>
          </a:prstGeom>
          <a:noFill/>
        </p:spPr>
        <p:txBody>
          <a:bodyPr wrap="square" lIns="0" tIns="0" rIns="0" bIns="0">
            <a:spAutoFit/>
          </a:bodyPr>
          <a:lstStyle/>
          <a:p>
            <a:pPr algn="r"/>
            <a:r>
              <a:rPr sz="2000" b="0" i="1" u="none">
                <a:solidFill>
                  <a:srgbClr val="0B2B4E"/>
                </a:solidFill>
                <a:latin typeface="Calibri"/>
              </a:rPr>
              <a:t>ATC</a:t>
            </a:r>
          </a:p>
        </p:txBody>
      </p:sp>
      <p:sp>
        <p:nvSpPr>
          <p:cNvPr id="28" name="Rectangle 2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5  ·  Monopoly and Monopolistic Competition</a:t>
            </a:r>
          </a:p>
        </p:txBody>
      </p:sp>
      <p:sp>
        <p:nvSpPr>
          <p:cNvPr id="31" name="TextBox 30"/>
          <p:cNvSpPr txBox="1"/>
          <p:nvPr/>
        </p:nvSpPr>
        <p:spPr>
          <a:xfrm>
            <a:off x="11475720" y="6583680"/>
            <a:ext cx="502920" cy="292608"/>
          </a:xfrm>
          <a:prstGeom prst="rect">
            <a:avLst/>
          </a:prstGeom>
          <a:noFill/>
        </p:spPr>
        <p:txBody>
          <a:bodyPr wrap="none" lIns="0" tIns="0" rIns="0" bIns="0">
            <a:spAutoFit/>
          </a:bodyPr>
          <a:lstStyle/>
          <a:p>
            <a:pPr algn="r"/>
            <a:fld id="{5F820920-0CE3-5A0E-8143-66704159DDCE}" type="slidenum">
              <a:rPr lang="en-US" sz="1200" dirty="0">
                <a:solidFill>
                  <a:srgbClr val="555B66"/>
                </a:solidFill>
                <a:latin typeface="Calibri"/>
              </a:rPr>
              <a:t>58</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1"/>
                                        </p:tgtEl>
                                        <p:attrNameLst>
                                          <p:attrName>style.visibility</p:attrName>
                                        </p:attrNameLst>
                                      </p:cBhvr>
                                      <p:to>
                                        <p:strVal val="visible"/>
                                      </p:to>
                                    </p:set>
                                    <p:animEffect transition="in" filter="fade">
                                      <p:cBhvr>
                                        <p:cTn id="7" dur="500"/>
                                        <p:tgtEl>
                                          <p:spTgt spid="13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3"/>
                                        </p:tgtEl>
                                        <p:attrNameLst>
                                          <p:attrName>style.visibility</p:attrName>
                                        </p:attrNameLst>
                                      </p:cBhvr>
                                      <p:to>
                                        <p:strVal val="visible"/>
                                      </p:to>
                                    </p:set>
                                    <p:animEffect transition="in" filter="fade">
                                      <p:cBhvr>
                                        <p:cTn id="12" dur="500"/>
                                        <p:tgtEl>
                                          <p:spTgt spid="13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2"/>
                                        </p:tgtEl>
                                        <p:attrNameLst>
                                          <p:attrName>style.visibility</p:attrName>
                                        </p:attrNameLst>
                                      </p:cBhvr>
                                      <p:to>
                                        <p:strVal val="visible"/>
                                      </p:to>
                                    </p:set>
                                    <p:animEffect transition="in" filter="fade">
                                      <p:cBhvr>
                                        <p:cTn id="17" dur="500"/>
                                        <p:tgtEl>
                                          <p:spTgt spid="13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500"/>
                                        <p:tgtEl>
                                          <p:spTgt spid="22"/>
                                        </p:tgtEl>
                                      </p:cBhvr>
                                    </p:animEffect>
                                  </p:childTnLst>
                                </p:cTn>
                              </p:par>
                              <p:par>
                                <p:cTn id="23" presetID="10" presetClass="entr" presetSubtype="0" fill="hold" nodeType="with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500"/>
                                        <p:tgtEl>
                                          <p:spTgt spid="23"/>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4"/>
                                        </p:tgtEl>
                                        <p:attrNameLst>
                                          <p:attrName>style.visibility</p:attrName>
                                        </p:attrNameLst>
                                      </p:cBhvr>
                                      <p:to>
                                        <p:strVal val="visible"/>
                                      </p:to>
                                    </p:set>
                                    <p:animEffect transition="in" filter="fade">
                                      <p:cBhvr>
                                        <p:cTn id="30" dur="500"/>
                                        <p:tgtEl>
                                          <p:spTgt spid="24"/>
                                        </p:tgtEl>
                                      </p:cBhvr>
                                    </p:animEffect>
                                  </p:childTnLst>
                                </p:cTn>
                              </p:par>
                              <p:par>
                                <p:cTn id="31" presetID="10" presetClass="entr" presetSubtype="0" fill="hold" nodeType="withEffect">
                                  <p:stCondLst>
                                    <p:cond delay="0"/>
                                  </p:stCondLst>
                                  <p:childTnLst>
                                    <p:set>
                                      <p:cBhvr>
                                        <p:cTn id="32" dur="1" fill="hold">
                                          <p:stCondLst>
                                            <p:cond delay="0"/>
                                          </p:stCondLst>
                                        </p:cTn>
                                        <p:tgtEl>
                                          <p:spTgt spid="25"/>
                                        </p:tgtEl>
                                        <p:attrNameLst>
                                          <p:attrName>style.visibility</p:attrName>
                                        </p:attrNameLst>
                                      </p:cBhvr>
                                      <p:to>
                                        <p:strVal val="visible"/>
                                      </p:to>
                                    </p:set>
                                    <p:animEffect transition="in" filter="fade">
                                      <p:cBhvr>
                                        <p:cTn id="33" dur="500"/>
                                        <p:tgtEl>
                                          <p:spTgt spid="25"/>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34"/>
                                        </p:tgtEl>
                                        <p:attrNameLst>
                                          <p:attrName>style.visibility</p:attrName>
                                        </p:attrNameLst>
                                      </p:cBhvr>
                                      <p:to>
                                        <p:strVal val="visible"/>
                                      </p:to>
                                    </p:set>
                                    <p:animEffect transition="in" filter="fade">
                                      <p:cBhvr>
                                        <p:cTn id="38" dur="500"/>
                                        <p:tgtEl>
                                          <p:spTgt spid="134"/>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fade">
                                      <p:cBhvr>
                                        <p:cTn id="43" dur="500"/>
                                        <p:tgtEl>
                                          <p:spTgt spid="26"/>
                                        </p:tgtEl>
                                      </p:cBhvr>
                                    </p:animEffect>
                                  </p:childTnLst>
                                </p:cTn>
                              </p:par>
                              <p:par>
                                <p:cTn id="44" presetID="10" presetClass="entr" presetSubtype="0" fill="hold" nodeType="with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fade">
                                      <p:cBhvr>
                                        <p:cTn id="46" dur="500"/>
                                        <p:tgtEl>
                                          <p:spTgt spid="27"/>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135"/>
                                        </p:tgtEl>
                                        <p:attrNameLst>
                                          <p:attrName>style.visibility</p:attrName>
                                        </p:attrNameLst>
                                      </p:cBhvr>
                                      <p:to>
                                        <p:strVal val="visible"/>
                                      </p:to>
                                    </p:set>
                                    <p:animEffect transition="in" filter="fade">
                                      <p:cBhvr>
                                        <p:cTn id="51" dur="500"/>
                                        <p:tgtEl>
                                          <p:spTgt spid="1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5 · Monopolistic Competition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Monopolistic Competition: Entry of New Firms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NV_s52_rId4.jpeg"/>
          <p:cNvPicPr>
            <a:picLocks noChangeAspect="1"/>
          </p:cNvPicPr>
          <p:nvPr/>
        </p:nvPicPr>
        <p:blipFill>
          <a:blip r:embed="rId3"/>
          <a:stretch>
            <a:fillRect/>
          </a:stretch>
        </p:blipFill>
        <p:spPr>
          <a:xfrm>
            <a:off x="8183879" y="1325880"/>
            <a:ext cx="1179383" cy="502920"/>
          </a:xfrm>
          <a:prstGeom prst="rect">
            <a:avLst/>
          </a:prstGeom>
        </p:spPr>
      </p:pic>
      <p:pic>
        <p:nvPicPr>
          <p:cNvPr id="8" name="Picture 7" descr="NV_s52_rId5.jpg"/>
          <p:cNvPicPr>
            <a:picLocks noChangeAspect="1"/>
          </p:cNvPicPr>
          <p:nvPr/>
        </p:nvPicPr>
        <p:blipFill>
          <a:blip r:embed="rId4"/>
          <a:stretch>
            <a:fillRect/>
          </a:stretch>
        </p:blipFill>
        <p:spPr>
          <a:xfrm>
            <a:off x="9591862" y="1325880"/>
            <a:ext cx="1562100" cy="502920"/>
          </a:xfrm>
          <a:prstGeom prst="rect">
            <a:avLst/>
          </a:prstGeom>
        </p:spPr>
      </p:pic>
      <p:pic>
        <p:nvPicPr>
          <p:cNvPr id="9" name="Picture 8" descr="NV_s52_rId6.png"/>
          <p:cNvPicPr>
            <a:picLocks noChangeAspect="1"/>
          </p:cNvPicPr>
          <p:nvPr/>
        </p:nvPicPr>
        <p:blipFill>
          <a:blip r:embed="rId5"/>
          <a:stretch>
            <a:fillRect/>
          </a:stretch>
        </p:blipFill>
        <p:spPr>
          <a:xfrm>
            <a:off x="11382562" y="1271016"/>
            <a:ext cx="612648" cy="612648"/>
          </a:xfrm>
          <a:prstGeom prst="rect">
            <a:avLst/>
          </a:prstGeom>
        </p:spPr>
      </p:pic>
      <p:cxnSp>
        <p:nvCxnSpPr>
          <p:cNvPr id="10" name="sdaxis:y"/>
          <p:cNvCxnSpPr/>
          <p:nvPr/>
        </p:nvCxnSpPr>
        <p:spPr>
          <a:xfrm flipV="1">
            <a:off x="1280160" y="1435608"/>
            <a:ext cx="0" cy="4416552"/>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11" name="sdaxis:x"/>
          <p:cNvCxnSpPr/>
          <p:nvPr/>
        </p:nvCxnSpPr>
        <p:spPr>
          <a:xfrm>
            <a:off x="1280160" y="5852160"/>
            <a:ext cx="647395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2" name="sdaxistitle:y"/>
          <p:cNvSpPr txBox="1"/>
          <p:nvPr/>
        </p:nvSpPr>
        <p:spPr>
          <a:xfrm>
            <a:off x="990980" y="1303020"/>
            <a:ext cx="216027" cy="265176"/>
          </a:xfrm>
          <a:prstGeom prst="rect">
            <a:avLst/>
          </a:prstGeom>
          <a:noFill/>
        </p:spPr>
        <p:txBody>
          <a:bodyPr wrap="square" lIns="0" tIns="0" rIns="0" bIns="0">
            <a:spAutoFit/>
          </a:bodyPr>
          <a:lstStyle/>
          <a:p>
            <a:pPr algn="l"/>
            <a:r>
              <a:rPr sz="2000" b="1" i="1" u="none">
                <a:solidFill>
                  <a:srgbClr val="0B2B4E"/>
                </a:solidFill>
                <a:latin typeface="Calibri"/>
              </a:rPr>
              <a:t>P</a:t>
            </a:r>
          </a:p>
        </p:txBody>
      </p:sp>
      <p:sp>
        <p:nvSpPr>
          <p:cNvPr id="13" name="sdaxistitle:x"/>
          <p:cNvSpPr txBox="1"/>
          <p:nvPr/>
        </p:nvSpPr>
        <p:spPr>
          <a:xfrm>
            <a:off x="7631811" y="5897880"/>
            <a:ext cx="244602" cy="265176"/>
          </a:xfrm>
          <a:prstGeom prst="rect">
            <a:avLst/>
          </a:prstGeom>
          <a:noFill/>
        </p:spPr>
        <p:txBody>
          <a:bodyPr wrap="square" lIns="0" tIns="0" rIns="0" bIns="0">
            <a:spAutoFit/>
          </a:bodyPr>
          <a:lstStyle/>
          <a:p>
            <a:pPr algn="l"/>
            <a:r>
              <a:rPr sz="2000" b="1" i="1" u="none">
                <a:solidFill>
                  <a:srgbClr val="0B2B4E"/>
                </a:solidFill>
                <a:latin typeface="Calibri"/>
              </a:rPr>
              <a:t>Q</a:t>
            </a:r>
          </a:p>
        </p:txBody>
      </p:sp>
      <p:grpSp>
        <p:nvGrpSpPr>
          <p:cNvPr id="146" name="sdpair:sdreglab:1960e15d"/>
          <p:cNvGrpSpPr/>
          <p:nvPr/>
        </p:nvGrpSpPr>
        <p:grpSpPr>
          <a:xfrm>
            <a:off x="1280160" y="3208313"/>
            <a:ext cx="1668779" cy="763695"/>
            <a:chOff x="1280160" y="3208313"/>
            <a:chExt cx="1668779" cy="763695"/>
          </a:xfrm>
        </p:grpSpPr>
        <p:sp>
          <p:nvSpPr>
            <p:cNvPr id="14" name="sdregion:1960e15d"/>
            <p:cNvSpPr/>
            <p:nvPr/>
          </p:nvSpPr>
          <p:spPr>
            <a:xfrm>
              <a:off x="1280160" y="3208313"/>
              <a:ext cx="1668779" cy="763695"/>
            </a:xfrm>
            <a:custGeom>
              <a:avLst/>
              <a:gdLst/>
              <a:ahLst/>
              <a:cxnLst/>
              <a:rect l="0" t="0" r="r" b="b"/>
              <a:pathLst>
                <a:path w="1668779" h="763695">
                  <a:moveTo>
                    <a:pt x="0" y="763695"/>
                  </a:moveTo>
                  <a:lnTo>
                    <a:pt x="1668779" y="763695"/>
                  </a:lnTo>
                  <a:lnTo>
                    <a:pt x="1668779" y="0"/>
                  </a:lnTo>
                  <a:lnTo>
                    <a:pt x="0" y="0"/>
                  </a:lnTo>
                  <a:close/>
                </a:path>
              </a:pathLst>
            </a:custGeom>
            <a:solidFill>
              <a:srgbClr val="C00000">
                <a:alpha val="22000"/>
              </a:srgbClr>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sdreglab:1960e15d"/>
            <p:cNvSpPr txBox="1"/>
            <p:nvPr/>
          </p:nvSpPr>
          <p:spPr>
            <a:xfrm>
              <a:off x="1856232" y="3392775"/>
              <a:ext cx="548640" cy="274320"/>
            </a:xfrm>
            <a:prstGeom prst="rect">
              <a:avLst/>
            </a:prstGeom>
            <a:noFill/>
          </p:spPr>
          <p:txBody>
            <a:bodyPr wrap="square" lIns="0" tIns="0" rIns="0" bIns="0" anchor="ctr">
              <a:spAutoFit/>
            </a:bodyPr>
            <a:lstStyle/>
            <a:p>
              <a:pPr algn="ctr"/>
              <a:r>
                <a:rPr sz="1600" b="1" i="0" u="none">
                  <a:solidFill>
                    <a:srgbClr val="0B2B4E"/>
                  </a:solidFill>
                  <a:latin typeface="Calibri"/>
                </a:rPr>
                <a:t>Profit</a:t>
              </a:r>
            </a:p>
          </p:txBody>
        </p:sp>
      </p:grpSp>
      <p:grpSp>
        <p:nvGrpSpPr>
          <p:cNvPr id="142" name="sdpair:curve:D1"/>
          <p:cNvGrpSpPr/>
          <p:nvPr/>
        </p:nvGrpSpPr>
        <p:grpSpPr>
          <a:xfrm>
            <a:off x="1280160" y="1927273"/>
            <a:ext cx="5928740" cy="2108747"/>
            <a:chOff x="1280160" y="1927273"/>
            <a:chExt cx="5928740" cy="2108747"/>
          </a:xfrm>
        </p:grpSpPr>
        <p:cxnSp>
          <p:nvCxnSpPr>
            <p:cNvPr id="16" name="sdcurve:D1"/>
            <p:cNvCxnSpPr/>
            <p:nvPr/>
          </p:nvCxnSpPr>
          <p:spPr>
            <a:xfrm>
              <a:off x="1280160" y="1927273"/>
              <a:ext cx="5486400" cy="1962443"/>
            </a:xfrm>
            <a:prstGeom prst="line">
              <a:avLst/>
            </a:prstGeom>
            <a:ln w="34925">
              <a:solidFill>
                <a:srgbClr val="C00000"/>
              </a:solidFill>
            </a:ln>
          </p:spPr>
          <p:style>
            <a:lnRef idx="2">
              <a:schemeClr val="accent1"/>
            </a:lnRef>
            <a:fillRef idx="0">
              <a:schemeClr val="accent1"/>
            </a:fillRef>
            <a:effectRef idx="1">
              <a:schemeClr val="accent1"/>
            </a:effectRef>
            <a:fontRef idx="minor">
              <a:schemeClr val="tx1"/>
            </a:fontRef>
          </p:style>
        </p:cxnSp>
        <p:sp>
          <p:nvSpPr>
            <p:cNvPr id="17" name="sdcurvelab:D1"/>
            <p:cNvSpPr txBox="1"/>
            <p:nvPr/>
          </p:nvSpPr>
          <p:spPr>
            <a:xfrm>
              <a:off x="6821423" y="3743412"/>
              <a:ext cx="387477" cy="292608"/>
            </a:xfrm>
            <a:prstGeom prst="rect">
              <a:avLst/>
            </a:prstGeom>
            <a:noFill/>
          </p:spPr>
          <p:txBody>
            <a:bodyPr wrap="square" lIns="0" tIns="0" rIns="0" bIns="0">
              <a:spAutoFit/>
            </a:bodyPr>
            <a:lstStyle/>
            <a:p>
              <a:pPr algn="l"/>
              <a:r>
                <a:rPr sz="2200" b="1" i="1" u="none">
                  <a:solidFill>
                    <a:srgbClr val="C00000"/>
                  </a:solidFill>
                  <a:latin typeface="Calibri"/>
                </a:rPr>
                <a:t>D</a:t>
              </a:r>
              <a:r>
                <a:rPr sz="2200" b="1" i="1" u="none" baseline="-25000">
                  <a:solidFill>
                    <a:srgbClr val="C00000"/>
                  </a:solidFill>
                  <a:latin typeface="Calibri"/>
                </a:rPr>
                <a:t>1</a:t>
              </a:r>
            </a:p>
          </p:txBody>
        </p:sp>
      </p:grpSp>
      <p:grpSp>
        <p:nvGrpSpPr>
          <p:cNvPr id="143" name="sdpair:curve:MC"/>
          <p:cNvGrpSpPr/>
          <p:nvPr/>
        </p:nvGrpSpPr>
        <p:grpSpPr>
          <a:xfrm>
            <a:off x="1280160" y="1682847"/>
            <a:ext cx="4105197" cy="3515165"/>
            <a:chOff x="1280160" y="1682847"/>
            <a:chExt cx="4105197" cy="3515165"/>
          </a:xfrm>
        </p:grpSpPr>
        <p:cxnSp>
          <p:nvCxnSpPr>
            <p:cNvPr id="18" name="sdcurve:MC"/>
            <p:cNvCxnSpPr/>
            <p:nvPr/>
          </p:nvCxnSpPr>
          <p:spPr>
            <a:xfrm flipV="1">
              <a:off x="1280160" y="1796444"/>
              <a:ext cx="3566160" cy="3401568"/>
            </a:xfrm>
            <a:prstGeom prst="line">
              <a:avLst/>
            </a:prstGeom>
            <a:ln w="34925">
              <a:solidFill>
                <a:srgbClr val="0B2B4E"/>
              </a:solidFill>
            </a:ln>
          </p:spPr>
          <p:style>
            <a:lnRef idx="2">
              <a:schemeClr val="accent1"/>
            </a:lnRef>
            <a:fillRef idx="0">
              <a:schemeClr val="accent1"/>
            </a:fillRef>
            <a:effectRef idx="1">
              <a:schemeClr val="accent1"/>
            </a:effectRef>
            <a:fontRef idx="minor">
              <a:schemeClr val="tx1"/>
            </a:fontRef>
          </p:style>
        </p:cxnSp>
        <p:sp>
          <p:nvSpPr>
            <p:cNvPr id="19" name="sdcurvelab:MC"/>
            <p:cNvSpPr txBox="1"/>
            <p:nvPr/>
          </p:nvSpPr>
          <p:spPr>
            <a:xfrm>
              <a:off x="4912156" y="1682847"/>
              <a:ext cx="473201" cy="292608"/>
            </a:xfrm>
            <a:prstGeom prst="rect">
              <a:avLst/>
            </a:prstGeom>
            <a:noFill/>
          </p:spPr>
          <p:txBody>
            <a:bodyPr wrap="square" lIns="0" tIns="0" rIns="0" bIns="0">
              <a:spAutoFit/>
            </a:bodyPr>
            <a:lstStyle/>
            <a:p>
              <a:pPr algn="l"/>
              <a:r>
                <a:rPr sz="2200" b="1" i="1" u="none">
                  <a:solidFill>
                    <a:srgbClr val="0B2B4E"/>
                  </a:solidFill>
                  <a:latin typeface="Calibri"/>
                </a:rPr>
                <a:t>MC</a:t>
              </a:r>
            </a:p>
          </p:txBody>
        </p:sp>
      </p:grpSp>
      <p:sp>
        <p:nvSpPr>
          <p:cNvPr id="20" name="sdcurve:ATC"/>
          <p:cNvSpPr/>
          <p:nvPr/>
        </p:nvSpPr>
        <p:spPr>
          <a:xfrm>
            <a:off x="1488643" y="1655699"/>
            <a:ext cx="5223053" cy="2375647"/>
          </a:xfrm>
          <a:custGeom>
            <a:avLst/>
            <a:gdLst/>
            <a:ahLst/>
            <a:cxnLst/>
            <a:rect l="0" t="0" r="r" b="b"/>
            <a:pathLst>
              <a:path w="5223053" h="2375647" fill="none">
                <a:moveTo>
                  <a:pt x="0" y="0"/>
                </a:moveTo>
                <a:cubicBezTo>
                  <a:pt x="9111" y="114858"/>
                  <a:pt x="34054" y="485337"/>
                  <a:pt x="54666" y="689152"/>
                </a:cubicBezTo>
                <a:cubicBezTo>
                  <a:pt x="75277" y="892966"/>
                  <a:pt x="97652" y="1066033"/>
                  <a:pt x="123668" y="1222888"/>
                </a:cubicBezTo>
                <a:cubicBezTo>
                  <a:pt x="149683" y="1379742"/>
                  <a:pt x="177923" y="1511841"/>
                  <a:pt x="210761" y="1630280"/>
                </a:cubicBezTo>
                <a:cubicBezTo>
                  <a:pt x="243598" y="1748718"/>
                  <a:pt x="279244" y="1847045"/>
                  <a:pt x="320692" y="1933520"/>
                </a:cubicBezTo>
                <a:cubicBezTo>
                  <a:pt x="362140" y="2019994"/>
                  <a:pt x="407133" y="2089905"/>
                  <a:pt x="459449" y="2149126"/>
                </a:cubicBezTo>
                <a:cubicBezTo>
                  <a:pt x="511765" y="2208346"/>
                  <a:pt x="568554" y="2253649"/>
                  <a:pt x="634588" y="2288842"/>
                </a:cubicBezTo>
                <a:cubicBezTo>
                  <a:pt x="700621" y="2324034"/>
                  <a:pt x="772303" y="2347198"/>
                  <a:pt x="855652" y="2360280"/>
                </a:cubicBezTo>
                <a:cubicBezTo>
                  <a:pt x="939000" y="2373361"/>
                  <a:pt x="1029477" y="2375647"/>
                  <a:pt x="1134681" y="2367330"/>
                </a:cubicBezTo>
                <a:cubicBezTo>
                  <a:pt x="1239884" y="2359012"/>
                  <a:pt x="1354084" y="2340545"/>
                  <a:pt x="1486874" y="2310376"/>
                </a:cubicBezTo>
                <a:cubicBezTo>
                  <a:pt x="1619663" y="2280207"/>
                  <a:pt x="1763808" y="2239979"/>
                  <a:pt x="1931417" y="2186316"/>
                </a:cubicBezTo>
                <a:cubicBezTo>
                  <a:pt x="2099025" y="2132652"/>
                  <a:pt x="2280967" y="2068474"/>
                  <a:pt x="2492525" y="1988393"/>
                </a:cubicBezTo>
                <a:cubicBezTo>
                  <a:pt x="2704082" y="1908311"/>
                  <a:pt x="2933731" y="1816687"/>
                  <a:pt x="3200761" y="1705825"/>
                </a:cubicBezTo>
                <a:cubicBezTo>
                  <a:pt x="3467791" y="1594962"/>
                  <a:pt x="3757656" y="1470901"/>
                  <a:pt x="4094705" y="1323220"/>
                </a:cubicBezTo>
                <a:cubicBezTo>
                  <a:pt x="4431753" y="1175538"/>
                  <a:pt x="5034995" y="903650"/>
                  <a:pt x="5223053" y="819737"/>
                </a:cubicBezTo>
              </a:path>
            </a:pathLst>
          </a:custGeom>
          <a:noFill/>
          <a:ln w="34925">
            <a:solidFill>
              <a:srgbClr val="E09F3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41" name="sdpair:arrow:141"/>
          <p:cNvGrpSpPr/>
          <p:nvPr/>
        </p:nvGrpSpPr>
        <p:grpSpPr>
          <a:xfrm>
            <a:off x="1581912" y="1558456"/>
            <a:ext cx="549402" cy="1336956"/>
            <a:chOff x="1581912" y="1558456"/>
            <a:chExt cx="549402" cy="1336956"/>
          </a:xfrm>
        </p:grpSpPr>
        <p:sp>
          <p:nvSpPr>
            <p:cNvPr id="21" name="sdcurvelab:ATC"/>
            <p:cNvSpPr txBox="1"/>
            <p:nvPr/>
          </p:nvSpPr>
          <p:spPr>
            <a:xfrm>
              <a:off x="1581912" y="1558456"/>
              <a:ext cx="549402" cy="292608"/>
            </a:xfrm>
            <a:prstGeom prst="rect">
              <a:avLst/>
            </a:prstGeom>
            <a:noFill/>
          </p:spPr>
          <p:txBody>
            <a:bodyPr wrap="square" lIns="0" tIns="0" rIns="0" bIns="0">
              <a:spAutoFit/>
            </a:bodyPr>
            <a:lstStyle/>
            <a:p>
              <a:pPr algn="l"/>
              <a:r>
                <a:rPr sz="2200" b="1" i="1" u="none">
                  <a:solidFill>
                    <a:srgbClr val="E09F3E"/>
                  </a:solidFill>
                  <a:latin typeface="Calibri"/>
                </a:rPr>
                <a:t>ATC</a:t>
              </a:r>
            </a:p>
          </p:txBody>
        </p:sp>
        <p:cxnSp>
          <p:nvCxnSpPr>
            <p:cNvPr id="22" name="ShiftArrow"/>
            <p:cNvCxnSpPr/>
            <p:nvPr/>
          </p:nvCxnSpPr>
          <p:spPr>
            <a:xfrm>
              <a:off x="2048255" y="2283784"/>
              <a:ext cx="0" cy="611628"/>
            </a:xfrm>
            <a:prstGeom prst="line">
              <a:avLst/>
            </a:prstGeom>
            <a:ln w="25400">
              <a:solidFill>
                <a:srgbClr val="E09999"/>
              </a:solidFill>
              <a:tailEnd type="triangle" w="med"/>
            </a:ln>
          </p:spPr>
          <p:style>
            <a:lnRef idx="2">
              <a:schemeClr val="accent1"/>
            </a:lnRef>
            <a:fillRef idx="0">
              <a:schemeClr val="accent1"/>
            </a:fillRef>
            <a:effectRef idx="1">
              <a:schemeClr val="accent1"/>
            </a:effectRef>
            <a:fontRef idx="minor">
              <a:schemeClr val="tx1"/>
            </a:fontRef>
          </p:style>
        </p:cxnSp>
      </p:grpSp>
      <p:cxnSp>
        <p:nvCxnSpPr>
          <p:cNvPr id="23" name="ShiftArrow2"/>
          <p:cNvCxnSpPr/>
          <p:nvPr/>
        </p:nvCxnSpPr>
        <p:spPr>
          <a:xfrm>
            <a:off x="3035808" y="2637024"/>
            <a:ext cx="0" cy="493881"/>
          </a:xfrm>
          <a:prstGeom prst="line">
            <a:avLst/>
          </a:prstGeom>
          <a:ln w="25400">
            <a:solidFill>
              <a:srgbClr val="E09999"/>
            </a:solidFill>
            <a:tailEnd type="triangle" w="med"/>
          </a:ln>
        </p:spPr>
        <p:style>
          <a:lnRef idx="2">
            <a:schemeClr val="accent1"/>
          </a:lnRef>
          <a:fillRef idx="0">
            <a:schemeClr val="accent1"/>
          </a:fillRef>
          <a:effectRef idx="1">
            <a:schemeClr val="accent1"/>
          </a:effectRef>
          <a:fontRef idx="minor">
            <a:schemeClr val="tx1"/>
          </a:fontRef>
        </p:style>
      </p:cxnSp>
      <p:grpSp>
        <p:nvGrpSpPr>
          <p:cNvPr id="144" name="sdpair:curve:D2"/>
          <p:cNvGrpSpPr/>
          <p:nvPr/>
        </p:nvGrpSpPr>
        <p:grpSpPr>
          <a:xfrm>
            <a:off x="1280160" y="2810373"/>
            <a:ext cx="5928740" cy="1536368"/>
            <a:chOff x="1280160" y="2810373"/>
            <a:chExt cx="5928740" cy="1536368"/>
          </a:xfrm>
        </p:grpSpPr>
        <p:cxnSp>
          <p:nvCxnSpPr>
            <p:cNvPr id="24" name="sdcurve:D2"/>
            <p:cNvCxnSpPr/>
            <p:nvPr/>
          </p:nvCxnSpPr>
          <p:spPr>
            <a:xfrm>
              <a:off x="1280160" y="2810373"/>
              <a:ext cx="5486400" cy="1308295"/>
            </a:xfrm>
            <a:prstGeom prst="line">
              <a:avLst/>
            </a:prstGeom>
            <a:ln w="34925">
              <a:solidFill>
                <a:srgbClr val="E09999"/>
              </a:solidFill>
            </a:ln>
          </p:spPr>
          <p:style>
            <a:lnRef idx="2">
              <a:schemeClr val="accent1"/>
            </a:lnRef>
            <a:fillRef idx="0">
              <a:schemeClr val="accent1"/>
            </a:fillRef>
            <a:effectRef idx="1">
              <a:schemeClr val="accent1"/>
            </a:effectRef>
            <a:fontRef idx="minor">
              <a:schemeClr val="tx1"/>
            </a:fontRef>
          </p:style>
        </p:cxnSp>
        <p:sp>
          <p:nvSpPr>
            <p:cNvPr id="25" name="sdcurvelab:D2"/>
            <p:cNvSpPr txBox="1"/>
            <p:nvPr/>
          </p:nvSpPr>
          <p:spPr>
            <a:xfrm>
              <a:off x="6821423" y="4054133"/>
              <a:ext cx="387477" cy="292608"/>
            </a:xfrm>
            <a:prstGeom prst="rect">
              <a:avLst/>
            </a:prstGeom>
            <a:noFill/>
          </p:spPr>
          <p:txBody>
            <a:bodyPr wrap="square" lIns="0" tIns="0" rIns="0" bIns="0">
              <a:spAutoFit/>
            </a:bodyPr>
            <a:lstStyle/>
            <a:p>
              <a:pPr algn="l"/>
              <a:r>
                <a:rPr sz="2200" b="1" i="1" u="none">
                  <a:solidFill>
                    <a:srgbClr val="E09999"/>
                  </a:solidFill>
                  <a:latin typeface="Calibri"/>
                </a:rPr>
                <a:t>D</a:t>
              </a:r>
              <a:r>
                <a:rPr sz="2200" b="1" i="1" u="none" baseline="-25000">
                  <a:solidFill>
                    <a:srgbClr val="E09999"/>
                  </a:solidFill>
                  <a:latin typeface="Calibri"/>
                </a:rPr>
                <a:t>2</a:t>
              </a:r>
            </a:p>
          </p:txBody>
        </p:sp>
      </p:grpSp>
      <p:grpSp>
        <p:nvGrpSpPr>
          <p:cNvPr id="145" name="sdpair:curve:MR2"/>
          <p:cNvGrpSpPr/>
          <p:nvPr/>
        </p:nvGrpSpPr>
        <p:grpSpPr>
          <a:xfrm>
            <a:off x="1280160" y="2810373"/>
            <a:ext cx="7050328" cy="3041787"/>
            <a:chOff x="1280160" y="2810373"/>
            <a:chExt cx="7050328" cy="3041787"/>
          </a:xfrm>
        </p:grpSpPr>
        <p:cxnSp>
          <p:nvCxnSpPr>
            <p:cNvPr id="26" name="sdcurve:MR2"/>
            <p:cNvCxnSpPr/>
            <p:nvPr/>
          </p:nvCxnSpPr>
          <p:spPr>
            <a:xfrm>
              <a:off x="1280160" y="2810373"/>
              <a:ext cx="6377940" cy="3041787"/>
            </a:xfrm>
            <a:prstGeom prst="line">
              <a:avLst/>
            </a:prstGeom>
            <a:ln w="28575">
              <a:solidFill>
                <a:srgbClr val="E09999"/>
              </a:solidFill>
              <a:prstDash val="dash"/>
            </a:ln>
          </p:spPr>
          <p:style>
            <a:lnRef idx="2">
              <a:schemeClr val="accent1"/>
            </a:lnRef>
            <a:fillRef idx="0">
              <a:schemeClr val="accent1"/>
            </a:fillRef>
            <a:effectRef idx="1">
              <a:schemeClr val="accent1"/>
            </a:effectRef>
            <a:fontRef idx="minor">
              <a:schemeClr val="tx1"/>
            </a:fontRef>
          </p:style>
        </p:cxnSp>
        <p:sp>
          <p:nvSpPr>
            <p:cNvPr id="27" name="sdcurvelab:MR2"/>
            <p:cNvSpPr txBox="1"/>
            <p:nvPr/>
          </p:nvSpPr>
          <p:spPr>
            <a:xfrm>
              <a:off x="7723936" y="5525965"/>
              <a:ext cx="606552" cy="292608"/>
            </a:xfrm>
            <a:prstGeom prst="rect">
              <a:avLst/>
            </a:prstGeom>
            <a:noFill/>
          </p:spPr>
          <p:txBody>
            <a:bodyPr wrap="square" lIns="0" tIns="0" rIns="0" bIns="0">
              <a:spAutoFit/>
            </a:bodyPr>
            <a:lstStyle/>
            <a:p>
              <a:pPr algn="l"/>
              <a:r>
                <a:rPr sz="2200" b="1" i="1" u="none">
                  <a:solidFill>
                    <a:srgbClr val="E09999"/>
                  </a:solidFill>
                  <a:latin typeface="Calibri"/>
                </a:rPr>
                <a:t>MR</a:t>
              </a:r>
              <a:r>
                <a:rPr sz="2200" b="1" i="1" u="none" baseline="-25000">
                  <a:solidFill>
                    <a:srgbClr val="E09999"/>
                  </a:solidFill>
                  <a:latin typeface="Calibri"/>
                </a:rPr>
                <a:t>2</a:t>
              </a:r>
            </a:p>
          </p:txBody>
        </p:sp>
      </p:grpSp>
      <p:cxnSp>
        <p:nvCxnSpPr>
          <p:cNvPr id="28" name="gQ"/>
          <p:cNvCxnSpPr/>
          <p:nvPr/>
        </p:nvCxnSpPr>
        <p:spPr>
          <a:xfrm flipV="1">
            <a:off x="2948939" y="3208313"/>
            <a:ext cx="0" cy="2643847"/>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2759963" y="5907024"/>
            <a:ext cx="377952" cy="274320"/>
          </a:xfrm>
          <a:prstGeom prst="rect">
            <a:avLst/>
          </a:prstGeom>
          <a:noFill/>
        </p:spPr>
        <p:txBody>
          <a:bodyPr wrap="square" lIns="0" tIns="0" rIns="0" bIns="0">
            <a:spAutoFit/>
          </a:bodyPr>
          <a:lstStyle/>
          <a:p>
            <a:pPr algn="ctr"/>
            <a:r>
              <a:rPr sz="2000" b="1" i="1" u="none">
                <a:solidFill>
                  <a:srgbClr val="0B2B4E"/>
                </a:solidFill>
                <a:latin typeface="Calibri"/>
              </a:rPr>
              <a:t>Q</a:t>
            </a:r>
            <a:r>
              <a:rPr sz="2000" b="1" i="1" u="none" baseline="-25000">
                <a:solidFill>
                  <a:srgbClr val="0B2B4E"/>
                </a:solidFill>
                <a:latin typeface="Calibri"/>
              </a:rPr>
              <a:t>2</a:t>
            </a:r>
          </a:p>
        </p:txBody>
      </p:sp>
      <p:cxnSp>
        <p:nvCxnSpPr>
          <p:cNvPr id="30" name="gP"/>
          <p:cNvCxnSpPr/>
          <p:nvPr/>
        </p:nvCxnSpPr>
        <p:spPr>
          <a:xfrm>
            <a:off x="1280160" y="3208313"/>
            <a:ext cx="1668779"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67156" y="3071153"/>
            <a:ext cx="339852" cy="274320"/>
          </a:xfrm>
          <a:prstGeom prst="rect">
            <a:avLst/>
          </a:prstGeom>
          <a:noFill/>
        </p:spPr>
        <p:txBody>
          <a:bodyPr wrap="square" lIns="0" tIns="0" rIns="0" bIns="0">
            <a:spAutoFit/>
          </a:bodyPr>
          <a:lstStyle/>
          <a:p>
            <a:pPr algn="r"/>
            <a:r>
              <a:rPr sz="2000" b="1" i="1" u="none">
                <a:solidFill>
                  <a:srgbClr val="0B2B4E"/>
                </a:solidFill>
                <a:latin typeface="Calibri"/>
              </a:rPr>
              <a:t>P</a:t>
            </a:r>
            <a:r>
              <a:rPr sz="2000" b="1" i="1" u="none" baseline="-25000">
                <a:solidFill>
                  <a:srgbClr val="0B2B4E"/>
                </a:solidFill>
                <a:latin typeface="Calibri"/>
              </a:rPr>
              <a:t>2</a:t>
            </a:r>
          </a:p>
        </p:txBody>
      </p:sp>
      <p:cxnSp>
        <p:nvCxnSpPr>
          <p:cNvPr id="32" name="gA"/>
          <p:cNvCxnSpPr/>
          <p:nvPr/>
        </p:nvCxnSpPr>
        <p:spPr>
          <a:xfrm>
            <a:off x="1280160" y="3972008"/>
            <a:ext cx="1668779"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43331" y="3834848"/>
            <a:ext cx="463677" cy="274320"/>
          </a:xfrm>
          <a:prstGeom prst="rect">
            <a:avLst/>
          </a:prstGeom>
          <a:noFill/>
        </p:spPr>
        <p:txBody>
          <a:bodyPr wrap="square" lIns="0" tIns="0" rIns="0" bIns="0">
            <a:spAutoFit/>
          </a:bodyPr>
          <a:lstStyle/>
          <a:p>
            <a:pPr algn="r"/>
            <a:r>
              <a:rPr sz="1800" b="0" i="1" u="none">
                <a:solidFill>
                  <a:srgbClr val="0B2B4E"/>
                </a:solidFill>
                <a:latin typeface="Calibri"/>
              </a:rPr>
              <a:t>ATC</a:t>
            </a:r>
          </a:p>
        </p:txBody>
      </p:sp>
      <p:grpSp>
        <p:nvGrpSpPr>
          <p:cNvPr id="140" name="Group pair 140"/>
          <p:cNvGrpSpPr/>
          <p:nvPr/>
        </p:nvGrpSpPr>
        <p:grpSpPr>
          <a:xfrm>
            <a:off x="8183879" y="2148840"/>
            <a:ext cx="3703320" cy="1417320"/>
            <a:chOff x="8183879" y="2148840"/>
            <a:chExt cx="3703320" cy="1417320"/>
          </a:xfrm>
        </p:grpSpPr>
        <p:sp>
          <p:nvSpPr>
            <p:cNvPr id="34" name="EntryNote"/>
            <p:cNvSpPr/>
            <p:nvPr/>
          </p:nvSpPr>
          <p:spPr>
            <a:xfrm>
              <a:off x="8183879" y="2148840"/>
              <a:ext cx="3703320" cy="1417320"/>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366759" y="2258568"/>
              <a:ext cx="3337560" cy="1197864"/>
            </a:xfrm>
            <a:prstGeom prst="rect">
              <a:avLst/>
            </a:prstGeom>
            <a:noFill/>
          </p:spPr>
          <p:txBody>
            <a:bodyPr wrap="square" lIns="45720" tIns="0" rIns="45720" bIns="0" anchor="ctr">
              <a:spAutoFit/>
            </a:bodyPr>
            <a:lstStyle/>
            <a:p>
              <a:pPr algn="l"/>
              <a:r>
                <a:rPr sz="1900" b="0" i="1" u="none">
                  <a:solidFill>
                    <a:srgbClr val="0B2B4E"/>
                  </a:solidFill>
                  <a:latin typeface="Calibri"/>
                </a:rPr>
                <a:t>New entrants → the incumbent’s demand curve shifts down and becomes more elastic (D</a:t>
              </a:r>
              <a:r>
                <a:rPr sz="1900" b="0" i="1" u="none" baseline="-25000">
                  <a:solidFill>
                    <a:srgbClr val="0B2B4E"/>
                  </a:solidFill>
                  <a:latin typeface="Calibri"/>
                </a:rPr>
                <a:t>2</a:t>
              </a:r>
              <a:r>
                <a:rPr sz="1900" b="0" i="1" u="none">
                  <a:solidFill>
                    <a:srgbClr val="0B2B4E"/>
                  </a:solidFill>
                  <a:latin typeface="Calibri"/>
                </a:rPr>
                <a:t>)</a:t>
              </a:r>
            </a:p>
          </p:txBody>
        </p:sp>
      </p:grpSp>
      <p:sp>
        <p:nvSpPr>
          <p:cNvPr id="36" name="EntryBar"/>
          <p:cNvSpPr/>
          <p:nvPr/>
        </p:nvSpPr>
        <p:spPr>
          <a:xfrm>
            <a:off x="8183879" y="4069080"/>
            <a:ext cx="3703320" cy="1417320"/>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900" b="1">
                <a:solidFill>
                  <a:srgbClr val="0B2B4E"/>
                </a:solidFill>
                <a:latin typeface="Calibri"/>
              </a:rPr>
              <a:t>Profits of the incumbent firm decline as more competitors with similar (but differentiated) products enter</a:t>
            </a:r>
          </a:p>
        </p:txBody>
      </p:sp>
      <p:sp>
        <p:nvSpPr>
          <p:cNvPr id="37" name="Rectangle 3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5  ·  Monopoly and Monopolistic Competition</a:t>
            </a:r>
          </a:p>
        </p:txBody>
      </p:sp>
      <p:sp>
        <p:nvSpPr>
          <p:cNvPr id="40" name="TextBox 39"/>
          <p:cNvSpPr txBox="1"/>
          <p:nvPr/>
        </p:nvSpPr>
        <p:spPr>
          <a:xfrm>
            <a:off x="11475720" y="6583680"/>
            <a:ext cx="502920" cy="292608"/>
          </a:xfrm>
          <a:prstGeom prst="rect">
            <a:avLst/>
          </a:prstGeom>
          <a:noFill/>
        </p:spPr>
        <p:txBody>
          <a:bodyPr wrap="none" lIns="0" tIns="0" rIns="0" bIns="0">
            <a:spAutoFit/>
          </a:bodyPr>
          <a:lstStyle/>
          <a:p>
            <a:pPr algn="r"/>
            <a:fld id="{0F6C8757-91A0-56B1-BB2E-C8D834533948}" type="slidenum">
              <a:rPr lang="en-US" sz="1200" dirty="0">
                <a:solidFill>
                  <a:srgbClr val="555B66"/>
                </a:solidFill>
                <a:latin typeface="Calibri"/>
              </a:rPr>
              <a:t>59</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2"/>
                                        </p:tgtEl>
                                        <p:attrNameLst>
                                          <p:attrName>style.visibility</p:attrName>
                                        </p:attrNameLst>
                                      </p:cBhvr>
                                      <p:to>
                                        <p:strVal val="visible"/>
                                      </p:to>
                                    </p:set>
                                    <p:animEffect transition="in" filter="fade">
                                      <p:cBhvr>
                                        <p:cTn id="7" dur="500"/>
                                        <p:tgtEl>
                                          <p:spTgt spid="142"/>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1"/>
                                        </p:tgtEl>
                                        <p:attrNameLst>
                                          <p:attrName>style.visibility</p:attrName>
                                        </p:attrNameLst>
                                      </p:cBhvr>
                                      <p:to>
                                        <p:strVal val="visible"/>
                                      </p:to>
                                    </p:set>
                                    <p:animEffect transition="in" filter="fade">
                                      <p:cBhvr>
                                        <p:cTn id="15" dur="500"/>
                                        <p:tgtEl>
                                          <p:spTgt spid="141"/>
                                        </p:tgtEl>
                                      </p:cBhvr>
                                    </p:animEffect>
                                  </p:childTnLst>
                                </p:cTn>
                              </p:par>
                              <p:par>
                                <p:cTn id="16" presetID="10" presetClass="entr" presetSubtype="0" fill="hold"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500"/>
                                        <p:tgtEl>
                                          <p:spTgt spid="23"/>
                                        </p:tgtEl>
                                      </p:cBhvr>
                                    </p:animEffect>
                                  </p:childTnLst>
                                </p:cTn>
                              </p:par>
                              <p:par>
                                <p:cTn id="19" presetID="10" presetClass="entr" presetSubtype="0" fill="hold" nodeType="withEffect">
                                  <p:stCondLst>
                                    <p:cond delay="0"/>
                                  </p:stCondLst>
                                  <p:childTnLst>
                                    <p:set>
                                      <p:cBhvr>
                                        <p:cTn id="20" dur="1" fill="hold">
                                          <p:stCondLst>
                                            <p:cond delay="0"/>
                                          </p:stCondLst>
                                        </p:cTn>
                                        <p:tgtEl>
                                          <p:spTgt spid="140"/>
                                        </p:tgtEl>
                                        <p:attrNameLst>
                                          <p:attrName>style.visibility</p:attrName>
                                        </p:attrNameLst>
                                      </p:cBhvr>
                                      <p:to>
                                        <p:strVal val="visible"/>
                                      </p:to>
                                    </p:set>
                                    <p:animEffect transition="in" filter="fade">
                                      <p:cBhvr>
                                        <p:cTn id="21" dur="500"/>
                                        <p:tgtEl>
                                          <p:spTgt spid="140"/>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44"/>
                                        </p:tgtEl>
                                        <p:attrNameLst>
                                          <p:attrName>style.visibility</p:attrName>
                                        </p:attrNameLst>
                                      </p:cBhvr>
                                      <p:to>
                                        <p:strVal val="visible"/>
                                      </p:to>
                                    </p:set>
                                    <p:animEffect transition="in" filter="fade">
                                      <p:cBhvr>
                                        <p:cTn id="26" dur="500"/>
                                        <p:tgtEl>
                                          <p:spTgt spid="14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43"/>
                                        </p:tgtEl>
                                        <p:attrNameLst>
                                          <p:attrName>style.visibility</p:attrName>
                                        </p:attrNameLst>
                                      </p:cBhvr>
                                      <p:to>
                                        <p:strVal val="visible"/>
                                      </p:to>
                                    </p:set>
                                    <p:animEffect transition="in" filter="fade">
                                      <p:cBhvr>
                                        <p:cTn id="31" dur="500"/>
                                        <p:tgtEl>
                                          <p:spTgt spid="143"/>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45"/>
                                        </p:tgtEl>
                                        <p:attrNameLst>
                                          <p:attrName>style.visibility</p:attrName>
                                        </p:attrNameLst>
                                      </p:cBhvr>
                                      <p:to>
                                        <p:strVal val="visible"/>
                                      </p:to>
                                    </p:set>
                                    <p:animEffect transition="in" filter="fade">
                                      <p:cBhvr>
                                        <p:cTn id="36" dur="500"/>
                                        <p:tgtEl>
                                          <p:spTgt spid="145"/>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fade">
                                      <p:cBhvr>
                                        <p:cTn id="41" dur="500"/>
                                        <p:tgtEl>
                                          <p:spTgt spid="28"/>
                                        </p:tgtEl>
                                      </p:cBhvr>
                                    </p:animEffect>
                                  </p:childTnLst>
                                </p:cTn>
                              </p:par>
                              <p:par>
                                <p:cTn id="42" presetID="10" presetClass="entr" presetSubtype="0" fill="hold" nodeType="withEffect">
                                  <p:stCondLst>
                                    <p:cond delay="0"/>
                                  </p:stCondLst>
                                  <p:childTnLst>
                                    <p:set>
                                      <p:cBhvr>
                                        <p:cTn id="43" dur="1" fill="hold">
                                          <p:stCondLst>
                                            <p:cond delay="0"/>
                                          </p:stCondLst>
                                        </p:cTn>
                                        <p:tgtEl>
                                          <p:spTgt spid="29"/>
                                        </p:tgtEl>
                                        <p:attrNameLst>
                                          <p:attrName>style.visibility</p:attrName>
                                        </p:attrNameLst>
                                      </p:cBhvr>
                                      <p:to>
                                        <p:strVal val="visible"/>
                                      </p:to>
                                    </p:set>
                                    <p:animEffect transition="in" filter="fade">
                                      <p:cBhvr>
                                        <p:cTn id="44" dur="500"/>
                                        <p:tgtEl>
                                          <p:spTgt spid="29"/>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30"/>
                                        </p:tgtEl>
                                        <p:attrNameLst>
                                          <p:attrName>style.visibility</p:attrName>
                                        </p:attrNameLst>
                                      </p:cBhvr>
                                      <p:to>
                                        <p:strVal val="visible"/>
                                      </p:to>
                                    </p:set>
                                    <p:animEffect transition="in" filter="fade">
                                      <p:cBhvr>
                                        <p:cTn id="49" dur="500"/>
                                        <p:tgtEl>
                                          <p:spTgt spid="30"/>
                                        </p:tgtEl>
                                      </p:cBhvr>
                                    </p:animEffect>
                                  </p:childTnLst>
                                </p:cTn>
                              </p:par>
                              <p:par>
                                <p:cTn id="50" presetID="10" presetClass="entr" presetSubtype="0" fill="hold" nodeType="with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fade">
                                      <p:cBhvr>
                                        <p:cTn id="52" dur="500"/>
                                        <p:tgtEl>
                                          <p:spTgt spid="31"/>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2"/>
                                        </p:tgtEl>
                                        <p:attrNameLst>
                                          <p:attrName>style.visibility</p:attrName>
                                        </p:attrNameLst>
                                      </p:cBhvr>
                                      <p:to>
                                        <p:strVal val="visible"/>
                                      </p:to>
                                    </p:set>
                                    <p:animEffect transition="in" filter="fade">
                                      <p:cBhvr>
                                        <p:cTn id="57" dur="500"/>
                                        <p:tgtEl>
                                          <p:spTgt spid="32"/>
                                        </p:tgtEl>
                                      </p:cBhvr>
                                    </p:animEffect>
                                  </p:childTnLst>
                                </p:cTn>
                              </p:par>
                              <p:par>
                                <p:cTn id="58" presetID="10" presetClass="entr" presetSubtype="0" fill="hold" nodeType="withEffect">
                                  <p:stCondLst>
                                    <p:cond delay="0"/>
                                  </p:stCondLst>
                                  <p:childTnLst>
                                    <p:set>
                                      <p:cBhvr>
                                        <p:cTn id="59" dur="1" fill="hold">
                                          <p:stCondLst>
                                            <p:cond delay="0"/>
                                          </p:stCondLst>
                                        </p:cTn>
                                        <p:tgtEl>
                                          <p:spTgt spid="33"/>
                                        </p:tgtEl>
                                        <p:attrNameLst>
                                          <p:attrName>style.visibility</p:attrName>
                                        </p:attrNameLst>
                                      </p:cBhvr>
                                      <p:to>
                                        <p:strVal val="visible"/>
                                      </p:to>
                                    </p:set>
                                    <p:animEffect transition="in" filter="fade">
                                      <p:cBhvr>
                                        <p:cTn id="60" dur="500"/>
                                        <p:tgtEl>
                                          <p:spTgt spid="33"/>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146"/>
                                        </p:tgtEl>
                                        <p:attrNameLst>
                                          <p:attrName>style.visibility</p:attrName>
                                        </p:attrNameLst>
                                      </p:cBhvr>
                                      <p:to>
                                        <p:strVal val="visible"/>
                                      </p:to>
                                    </p:set>
                                    <p:animEffect transition="in" filter="fade">
                                      <p:cBhvr>
                                        <p:cTn id="65" dur="500"/>
                                        <p:tgtEl>
                                          <p:spTgt spid="146"/>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36"/>
                                        </p:tgtEl>
                                        <p:attrNameLst>
                                          <p:attrName>style.visibility</p:attrName>
                                        </p:attrNameLst>
                                      </p:cBhvr>
                                      <p:to>
                                        <p:strVal val="visible"/>
                                      </p:to>
                                    </p:set>
                                    <p:animEffect transition="in" filter="fade">
                                      <p:cBhvr>
                                        <p:cTn id="70"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5 · Monopolistic Competition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Monopolistic Competition: Long-Run Equilibrium</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NV_s52_rId4.jpeg"/>
          <p:cNvPicPr>
            <a:picLocks noChangeAspect="1"/>
          </p:cNvPicPr>
          <p:nvPr/>
        </p:nvPicPr>
        <p:blipFill>
          <a:blip r:embed="rId3"/>
          <a:stretch>
            <a:fillRect/>
          </a:stretch>
        </p:blipFill>
        <p:spPr>
          <a:xfrm>
            <a:off x="8183879" y="1325880"/>
            <a:ext cx="1179383" cy="502920"/>
          </a:xfrm>
          <a:prstGeom prst="rect">
            <a:avLst/>
          </a:prstGeom>
        </p:spPr>
      </p:pic>
      <p:pic>
        <p:nvPicPr>
          <p:cNvPr id="8" name="Picture 7" descr="NV_s52_rId5.jpg"/>
          <p:cNvPicPr>
            <a:picLocks noChangeAspect="1"/>
          </p:cNvPicPr>
          <p:nvPr/>
        </p:nvPicPr>
        <p:blipFill>
          <a:blip r:embed="rId4"/>
          <a:stretch>
            <a:fillRect/>
          </a:stretch>
        </p:blipFill>
        <p:spPr>
          <a:xfrm>
            <a:off x="9591862" y="1325880"/>
            <a:ext cx="1562100" cy="502920"/>
          </a:xfrm>
          <a:prstGeom prst="rect">
            <a:avLst/>
          </a:prstGeom>
        </p:spPr>
      </p:pic>
      <p:pic>
        <p:nvPicPr>
          <p:cNvPr id="9" name="Picture 8" descr="NV_s52_rId6.png"/>
          <p:cNvPicPr>
            <a:picLocks noChangeAspect="1"/>
          </p:cNvPicPr>
          <p:nvPr/>
        </p:nvPicPr>
        <p:blipFill>
          <a:blip r:embed="rId5"/>
          <a:stretch>
            <a:fillRect/>
          </a:stretch>
        </p:blipFill>
        <p:spPr>
          <a:xfrm>
            <a:off x="11382562" y="1271016"/>
            <a:ext cx="612648" cy="612648"/>
          </a:xfrm>
          <a:prstGeom prst="rect">
            <a:avLst/>
          </a:prstGeom>
        </p:spPr>
      </p:pic>
      <p:cxnSp>
        <p:nvCxnSpPr>
          <p:cNvPr id="10" name="sdaxis:y"/>
          <p:cNvCxnSpPr/>
          <p:nvPr/>
        </p:nvCxnSpPr>
        <p:spPr>
          <a:xfrm flipV="1">
            <a:off x="1280160" y="1435608"/>
            <a:ext cx="0" cy="4416552"/>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11" name="sdaxis:x"/>
          <p:cNvCxnSpPr/>
          <p:nvPr/>
        </p:nvCxnSpPr>
        <p:spPr>
          <a:xfrm>
            <a:off x="1280160" y="5852160"/>
            <a:ext cx="647395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2" name="sdaxistitle:y"/>
          <p:cNvSpPr txBox="1"/>
          <p:nvPr/>
        </p:nvSpPr>
        <p:spPr>
          <a:xfrm>
            <a:off x="990980" y="1303020"/>
            <a:ext cx="216027" cy="265176"/>
          </a:xfrm>
          <a:prstGeom prst="rect">
            <a:avLst/>
          </a:prstGeom>
          <a:noFill/>
        </p:spPr>
        <p:txBody>
          <a:bodyPr wrap="square" lIns="0" tIns="0" rIns="0" bIns="0">
            <a:spAutoFit/>
          </a:bodyPr>
          <a:lstStyle/>
          <a:p>
            <a:pPr algn="l"/>
            <a:r>
              <a:rPr sz="2000" b="1" i="1" u="none">
                <a:solidFill>
                  <a:srgbClr val="0B2B4E"/>
                </a:solidFill>
                <a:latin typeface="Calibri"/>
              </a:rPr>
              <a:t>P</a:t>
            </a:r>
          </a:p>
        </p:txBody>
      </p:sp>
      <p:sp>
        <p:nvSpPr>
          <p:cNvPr id="13" name="sdaxistitle:x"/>
          <p:cNvSpPr txBox="1"/>
          <p:nvPr/>
        </p:nvSpPr>
        <p:spPr>
          <a:xfrm>
            <a:off x="7631811" y="5897880"/>
            <a:ext cx="244602" cy="265176"/>
          </a:xfrm>
          <a:prstGeom prst="rect">
            <a:avLst/>
          </a:prstGeom>
          <a:noFill/>
        </p:spPr>
        <p:txBody>
          <a:bodyPr wrap="square" lIns="0" tIns="0" rIns="0" bIns="0">
            <a:spAutoFit/>
          </a:bodyPr>
          <a:lstStyle/>
          <a:p>
            <a:pPr algn="l"/>
            <a:r>
              <a:rPr sz="2000" b="1" i="1" u="none">
                <a:solidFill>
                  <a:srgbClr val="0B2B4E"/>
                </a:solidFill>
                <a:latin typeface="Calibri"/>
              </a:rPr>
              <a:t>Q</a:t>
            </a:r>
          </a:p>
        </p:txBody>
      </p:sp>
      <p:grpSp>
        <p:nvGrpSpPr>
          <p:cNvPr id="136" name="sdpair:curve:D1"/>
          <p:cNvGrpSpPr/>
          <p:nvPr/>
        </p:nvGrpSpPr>
        <p:grpSpPr>
          <a:xfrm>
            <a:off x="1280160" y="1927273"/>
            <a:ext cx="5928740" cy="2108747"/>
            <a:chOff x="1280160" y="1927273"/>
            <a:chExt cx="5928740" cy="2108747"/>
          </a:xfrm>
        </p:grpSpPr>
        <p:cxnSp>
          <p:nvCxnSpPr>
            <p:cNvPr id="14" name="sdcurve:D1"/>
            <p:cNvCxnSpPr/>
            <p:nvPr/>
          </p:nvCxnSpPr>
          <p:spPr>
            <a:xfrm>
              <a:off x="1280160" y="1927273"/>
              <a:ext cx="5486400" cy="1962443"/>
            </a:xfrm>
            <a:prstGeom prst="line">
              <a:avLst/>
            </a:prstGeom>
            <a:ln w="34925">
              <a:solidFill>
                <a:srgbClr val="C00000"/>
              </a:solidFill>
            </a:ln>
          </p:spPr>
          <p:style>
            <a:lnRef idx="2">
              <a:schemeClr val="accent1"/>
            </a:lnRef>
            <a:fillRef idx="0">
              <a:schemeClr val="accent1"/>
            </a:fillRef>
            <a:effectRef idx="1">
              <a:schemeClr val="accent1"/>
            </a:effectRef>
            <a:fontRef idx="minor">
              <a:schemeClr val="tx1"/>
            </a:fontRef>
          </p:style>
        </p:cxnSp>
        <p:sp>
          <p:nvSpPr>
            <p:cNvPr id="15" name="sdcurvelab:D1"/>
            <p:cNvSpPr txBox="1"/>
            <p:nvPr/>
          </p:nvSpPr>
          <p:spPr>
            <a:xfrm>
              <a:off x="6821423" y="3743412"/>
              <a:ext cx="387477" cy="292608"/>
            </a:xfrm>
            <a:prstGeom prst="rect">
              <a:avLst/>
            </a:prstGeom>
            <a:noFill/>
          </p:spPr>
          <p:txBody>
            <a:bodyPr wrap="square" lIns="0" tIns="0" rIns="0" bIns="0">
              <a:spAutoFit/>
            </a:bodyPr>
            <a:lstStyle/>
            <a:p>
              <a:pPr algn="l"/>
              <a:r>
                <a:rPr sz="2200" b="1" i="1" u="none">
                  <a:solidFill>
                    <a:srgbClr val="C00000"/>
                  </a:solidFill>
                  <a:latin typeface="Calibri"/>
                </a:rPr>
                <a:t>D</a:t>
              </a:r>
              <a:r>
                <a:rPr sz="2200" b="1" i="1" u="none" baseline="-25000">
                  <a:solidFill>
                    <a:srgbClr val="C00000"/>
                  </a:solidFill>
                  <a:latin typeface="Calibri"/>
                </a:rPr>
                <a:t>1</a:t>
              </a:r>
            </a:p>
          </p:txBody>
        </p:sp>
      </p:grpSp>
      <p:grpSp>
        <p:nvGrpSpPr>
          <p:cNvPr id="137" name="sdpair:curve:MC"/>
          <p:cNvGrpSpPr/>
          <p:nvPr/>
        </p:nvGrpSpPr>
        <p:grpSpPr>
          <a:xfrm>
            <a:off x="1280160" y="1682847"/>
            <a:ext cx="4105197" cy="3515165"/>
            <a:chOff x="1280160" y="1682847"/>
            <a:chExt cx="4105197" cy="3515165"/>
          </a:xfrm>
        </p:grpSpPr>
        <p:cxnSp>
          <p:nvCxnSpPr>
            <p:cNvPr id="16" name="sdcurve:MC"/>
            <p:cNvCxnSpPr/>
            <p:nvPr/>
          </p:nvCxnSpPr>
          <p:spPr>
            <a:xfrm flipV="1">
              <a:off x="1280160" y="1796444"/>
              <a:ext cx="3566160" cy="3401568"/>
            </a:xfrm>
            <a:prstGeom prst="line">
              <a:avLst/>
            </a:prstGeom>
            <a:ln w="34925">
              <a:solidFill>
                <a:srgbClr val="0B2B4E"/>
              </a:solidFill>
            </a:ln>
          </p:spPr>
          <p:style>
            <a:lnRef idx="2">
              <a:schemeClr val="accent1"/>
            </a:lnRef>
            <a:fillRef idx="0">
              <a:schemeClr val="accent1"/>
            </a:fillRef>
            <a:effectRef idx="1">
              <a:schemeClr val="accent1"/>
            </a:effectRef>
            <a:fontRef idx="minor">
              <a:schemeClr val="tx1"/>
            </a:fontRef>
          </p:style>
        </p:cxnSp>
        <p:sp>
          <p:nvSpPr>
            <p:cNvPr id="17" name="sdcurvelab:MC"/>
            <p:cNvSpPr txBox="1"/>
            <p:nvPr/>
          </p:nvSpPr>
          <p:spPr>
            <a:xfrm>
              <a:off x="4912156" y="1682847"/>
              <a:ext cx="473201" cy="292608"/>
            </a:xfrm>
            <a:prstGeom prst="rect">
              <a:avLst/>
            </a:prstGeom>
            <a:noFill/>
          </p:spPr>
          <p:txBody>
            <a:bodyPr wrap="square" lIns="0" tIns="0" rIns="0" bIns="0">
              <a:spAutoFit/>
            </a:bodyPr>
            <a:lstStyle/>
            <a:p>
              <a:pPr algn="l"/>
              <a:r>
                <a:rPr sz="2200" b="1" i="1" u="none">
                  <a:solidFill>
                    <a:srgbClr val="0B2B4E"/>
                  </a:solidFill>
                  <a:latin typeface="Calibri"/>
                </a:rPr>
                <a:t>MC</a:t>
              </a:r>
            </a:p>
          </p:txBody>
        </p:sp>
      </p:grpSp>
      <p:grpSp>
        <p:nvGrpSpPr>
          <p:cNvPr id="138" name="sdpair:curve:ATC"/>
          <p:cNvGrpSpPr/>
          <p:nvPr/>
        </p:nvGrpSpPr>
        <p:grpSpPr>
          <a:xfrm>
            <a:off x="1488643" y="1558456"/>
            <a:ext cx="5223053" cy="2472890"/>
            <a:chOff x="1488643" y="1558456"/>
            <a:chExt cx="5223053" cy="2472890"/>
          </a:xfrm>
        </p:grpSpPr>
        <p:sp>
          <p:nvSpPr>
            <p:cNvPr id="18" name="sdcurve:ATC"/>
            <p:cNvSpPr/>
            <p:nvPr/>
          </p:nvSpPr>
          <p:spPr>
            <a:xfrm>
              <a:off x="1488643" y="1655699"/>
              <a:ext cx="5223053" cy="2375647"/>
            </a:xfrm>
            <a:custGeom>
              <a:avLst/>
              <a:gdLst/>
              <a:ahLst/>
              <a:cxnLst/>
              <a:rect l="0" t="0" r="r" b="b"/>
              <a:pathLst>
                <a:path w="5223053" h="2375647" fill="none">
                  <a:moveTo>
                    <a:pt x="0" y="0"/>
                  </a:moveTo>
                  <a:cubicBezTo>
                    <a:pt x="9111" y="114858"/>
                    <a:pt x="34054" y="485337"/>
                    <a:pt x="54666" y="689152"/>
                  </a:cubicBezTo>
                  <a:cubicBezTo>
                    <a:pt x="75277" y="892966"/>
                    <a:pt x="97652" y="1066033"/>
                    <a:pt x="123668" y="1222888"/>
                  </a:cubicBezTo>
                  <a:cubicBezTo>
                    <a:pt x="149683" y="1379742"/>
                    <a:pt x="177923" y="1511841"/>
                    <a:pt x="210761" y="1630280"/>
                  </a:cubicBezTo>
                  <a:cubicBezTo>
                    <a:pt x="243598" y="1748718"/>
                    <a:pt x="279244" y="1847045"/>
                    <a:pt x="320692" y="1933520"/>
                  </a:cubicBezTo>
                  <a:cubicBezTo>
                    <a:pt x="362140" y="2019994"/>
                    <a:pt x="407133" y="2089905"/>
                    <a:pt x="459449" y="2149126"/>
                  </a:cubicBezTo>
                  <a:cubicBezTo>
                    <a:pt x="511765" y="2208346"/>
                    <a:pt x="568554" y="2253649"/>
                    <a:pt x="634588" y="2288842"/>
                  </a:cubicBezTo>
                  <a:cubicBezTo>
                    <a:pt x="700621" y="2324034"/>
                    <a:pt x="772303" y="2347198"/>
                    <a:pt x="855652" y="2360280"/>
                  </a:cubicBezTo>
                  <a:cubicBezTo>
                    <a:pt x="939000" y="2373361"/>
                    <a:pt x="1029477" y="2375647"/>
                    <a:pt x="1134681" y="2367330"/>
                  </a:cubicBezTo>
                  <a:cubicBezTo>
                    <a:pt x="1239884" y="2359012"/>
                    <a:pt x="1354084" y="2340545"/>
                    <a:pt x="1486874" y="2310376"/>
                  </a:cubicBezTo>
                  <a:cubicBezTo>
                    <a:pt x="1619663" y="2280207"/>
                    <a:pt x="1763808" y="2239979"/>
                    <a:pt x="1931417" y="2186316"/>
                  </a:cubicBezTo>
                  <a:cubicBezTo>
                    <a:pt x="2099025" y="2132652"/>
                    <a:pt x="2280967" y="2068474"/>
                    <a:pt x="2492525" y="1988393"/>
                  </a:cubicBezTo>
                  <a:cubicBezTo>
                    <a:pt x="2704082" y="1908311"/>
                    <a:pt x="2933731" y="1816687"/>
                    <a:pt x="3200761" y="1705825"/>
                  </a:cubicBezTo>
                  <a:cubicBezTo>
                    <a:pt x="3467791" y="1594962"/>
                    <a:pt x="3757656" y="1470901"/>
                    <a:pt x="4094705" y="1323220"/>
                  </a:cubicBezTo>
                  <a:cubicBezTo>
                    <a:pt x="4431753" y="1175538"/>
                    <a:pt x="5034995" y="903650"/>
                    <a:pt x="5223053" y="819737"/>
                  </a:cubicBezTo>
                </a:path>
              </a:pathLst>
            </a:custGeom>
            <a:noFill/>
            <a:ln w="34925">
              <a:solidFill>
                <a:srgbClr val="E09F3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sdcurvelab:ATC"/>
            <p:cNvSpPr txBox="1"/>
            <p:nvPr/>
          </p:nvSpPr>
          <p:spPr>
            <a:xfrm>
              <a:off x="1581912" y="1558456"/>
              <a:ext cx="549402" cy="292608"/>
            </a:xfrm>
            <a:prstGeom prst="rect">
              <a:avLst/>
            </a:prstGeom>
            <a:noFill/>
          </p:spPr>
          <p:txBody>
            <a:bodyPr wrap="square" lIns="0" tIns="0" rIns="0" bIns="0">
              <a:spAutoFit/>
            </a:bodyPr>
            <a:lstStyle/>
            <a:p>
              <a:pPr algn="l"/>
              <a:r>
                <a:rPr sz="2200" b="1" i="1" u="none">
                  <a:solidFill>
                    <a:srgbClr val="E09F3E"/>
                  </a:solidFill>
                  <a:latin typeface="Calibri"/>
                </a:rPr>
                <a:t>ATC</a:t>
              </a:r>
            </a:p>
          </p:txBody>
        </p:sp>
      </p:grpSp>
      <p:grpSp>
        <p:nvGrpSpPr>
          <p:cNvPr id="139" name="sdpair:curve:D_LR"/>
          <p:cNvGrpSpPr/>
          <p:nvPr/>
        </p:nvGrpSpPr>
        <p:grpSpPr>
          <a:xfrm>
            <a:off x="1280160" y="3825860"/>
            <a:ext cx="6195439" cy="1127526"/>
            <a:chOff x="1280160" y="3825860"/>
            <a:chExt cx="6195439" cy="1127526"/>
          </a:xfrm>
        </p:grpSpPr>
        <p:cxnSp>
          <p:nvCxnSpPr>
            <p:cNvPr id="20" name="sdcurve:D_LR"/>
            <p:cNvCxnSpPr/>
            <p:nvPr/>
          </p:nvCxnSpPr>
          <p:spPr>
            <a:xfrm>
              <a:off x="1280160" y="3825860"/>
              <a:ext cx="5486400" cy="981222"/>
            </a:xfrm>
            <a:prstGeom prst="line">
              <a:avLst/>
            </a:prstGeom>
            <a:ln w="34925">
              <a:solidFill>
                <a:srgbClr val="E09999"/>
              </a:solidFill>
            </a:ln>
          </p:spPr>
          <p:style>
            <a:lnRef idx="2">
              <a:schemeClr val="accent1"/>
            </a:lnRef>
            <a:fillRef idx="0">
              <a:schemeClr val="accent1"/>
            </a:fillRef>
            <a:effectRef idx="1">
              <a:schemeClr val="accent1"/>
            </a:effectRef>
            <a:fontRef idx="minor">
              <a:schemeClr val="tx1"/>
            </a:fontRef>
          </p:style>
        </p:cxnSp>
        <p:sp>
          <p:nvSpPr>
            <p:cNvPr id="21" name="sdcurvelab:D_LR"/>
            <p:cNvSpPr txBox="1"/>
            <p:nvPr/>
          </p:nvSpPr>
          <p:spPr>
            <a:xfrm>
              <a:off x="6821423" y="4660778"/>
              <a:ext cx="654176" cy="292608"/>
            </a:xfrm>
            <a:prstGeom prst="rect">
              <a:avLst/>
            </a:prstGeom>
            <a:noFill/>
          </p:spPr>
          <p:txBody>
            <a:bodyPr wrap="square" lIns="0" tIns="0" rIns="0" bIns="0">
              <a:spAutoFit/>
            </a:bodyPr>
            <a:lstStyle/>
            <a:p>
              <a:pPr algn="l"/>
              <a:r>
                <a:rPr sz="2200" b="1" i="1" u="none">
                  <a:solidFill>
                    <a:srgbClr val="E09999"/>
                  </a:solidFill>
                  <a:latin typeface="Calibri"/>
                </a:rPr>
                <a:t>D</a:t>
              </a:r>
              <a:r>
                <a:rPr sz="2200" b="1" i="1" u="none" baseline="-25000">
                  <a:solidFill>
                    <a:srgbClr val="E09999"/>
                  </a:solidFill>
                  <a:latin typeface="Calibri"/>
                </a:rPr>
                <a:t>LR</a:t>
              </a:r>
            </a:p>
          </p:txBody>
        </p:sp>
      </p:grpSp>
      <p:grpSp>
        <p:nvGrpSpPr>
          <p:cNvPr id="140" name="sdpair:curve:MR_LR"/>
          <p:cNvGrpSpPr/>
          <p:nvPr/>
        </p:nvGrpSpPr>
        <p:grpSpPr>
          <a:xfrm>
            <a:off x="1280160" y="3825860"/>
            <a:ext cx="6604012" cy="2026300"/>
            <a:chOff x="1280160" y="3825860"/>
            <a:chExt cx="6604012" cy="2026300"/>
          </a:xfrm>
        </p:grpSpPr>
        <p:cxnSp>
          <p:nvCxnSpPr>
            <p:cNvPr id="22" name="sdcurve:MR_LR"/>
            <p:cNvCxnSpPr/>
            <p:nvPr/>
          </p:nvCxnSpPr>
          <p:spPr>
            <a:xfrm>
              <a:off x="1280160" y="3825860"/>
              <a:ext cx="5664923" cy="2026300"/>
            </a:xfrm>
            <a:prstGeom prst="line">
              <a:avLst/>
            </a:prstGeom>
            <a:ln w="28575">
              <a:solidFill>
                <a:srgbClr val="E09999"/>
              </a:solidFill>
              <a:prstDash val="dash"/>
            </a:ln>
          </p:spPr>
          <p:style>
            <a:lnRef idx="2">
              <a:schemeClr val="accent1"/>
            </a:lnRef>
            <a:fillRef idx="0">
              <a:schemeClr val="accent1"/>
            </a:fillRef>
            <a:effectRef idx="1">
              <a:schemeClr val="accent1"/>
            </a:effectRef>
            <a:fontRef idx="minor">
              <a:schemeClr val="tx1"/>
            </a:fontRef>
          </p:style>
        </p:cxnSp>
        <p:sp>
          <p:nvSpPr>
            <p:cNvPr id="23" name="sdcurvelab:MR_LR"/>
            <p:cNvSpPr txBox="1"/>
            <p:nvPr/>
          </p:nvSpPr>
          <p:spPr>
            <a:xfrm>
              <a:off x="7010920" y="5525965"/>
              <a:ext cx="873252" cy="292608"/>
            </a:xfrm>
            <a:prstGeom prst="rect">
              <a:avLst/>
            </a:prstGeom>
            <a:noFill/>
          </p:spPr>
          <p:txBody>
            <a:bodyPr wrap="square" lIns="0" tIns="0" rIns="0" bIns="0">
              <a:spAutoFit/>
            </a:bodyPr>
            <a:lstStyle/>
            <a:p>
              <a:pPr algn="l"/>
              <a:r>
                <a:rPr sz="2200" b="1" i="1" u="none">
                  <a:solidFill>
                    <a:srgbClr val="E09999"/>
                  </a:solidFill>
                  <a:latin typeface="Calibri"/>
                </a:rPr>
                <a:t>MR</a:t>
              </a:r>
              <a:r>
                <a:rPr sz="2200" b="1" i="1" u="none" baseline="-25000">
                  <a:solidFill>
                    <a:srgbClr val="E09999"/>
                  </a:solidFill>
                  <a:latin typeface="Calibri"/>
                </a:rPr>
                <a:t>LR</a:t>
              </a:r>
            </a:p>
          </p:txBody>
        </p:sp>
      </p:grpSp>
      <p:sp>
        <p:nvSpPr>
          <p:cNvPr id="24" name="PtLR"/>
          <p:cNvSpPr/>
          <p:nvPr/>
        </p:nvSpPr>
        <p:spPr>
          <a:xfrm>
            <a:off x="2257795" y="3944392"/>
            <a:ext cx="137160" cy="137160"/>
          </a:xfrm>
          <a:prstGeom prst="ellipse">
            <a:avLst/>
          </a:prstGeom>
          <a:solidFill>
            <a:srgbClr val="E09F3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5" name="gQ"/>
          <p:cNvCxnSpPr/>
          <p:nvPr/>
        </p:nvCxnSpPr>
        <p:spPr>
          <a:xfrm flipV="1">
            <a:off x="2326375" y="4012972"/>
            <a:ext cx="0" cy="1839188"/>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26" name="gP"/>
          <p:cNvCxnSpPr/>
          <p:nvPr/>
        </p:nvCxnSpPr>
        <p:spPr>
          <a:xfrm>
            <a:off x="1280160" y="4012972"/>
            <a:ext cx="1046215"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7" name="tQ"/>
          <p:cNvSpPr txBox="1"/>
          <p:nvPr/>
        </p:nvSpPr>
        <p:spPr>
          <a:xfrm>
            <a:off x="2018337" y="5907024"/>
            <a:ext cx="616077" cy="274320"/>
          </a:xfrm>
          <a:prstGeom prst="rect">
            <a:avLst/>
          </a:prstGeom>
          <a:noFill/>
        </p:spPr>
        <p:txBody>
          <a:bodyPr wrap="square" lIns="0" tIns="0" rIns="0" bIns="0">
            <a:spAutoFit/>
          </a:bodyPr>
          <a:lstStyle/>
          <a:p>
            <a:pPr algn="ctr"/>
            <a:r>
              <a:rPr sz="2000" b="1" i="1" u="none">
                <a:solidFill>
                  <a:srgbClr val="0B2B4E"/>
                </a:solidFill>
                <a:latin typeface="Calibri"/>
              </a:rPr>
              <a:t>Q</a:t>
            </a:r>
            <a:r>
              <a:rPr sz="2000" b="1" i="1" u="none" baseline="-25000">
                <a:solidFill>
                  <a:srgbClr val="0B2B4E"/>
                </a:solidFill>
                <a:latin typeface="Calibri"/>
              </a:rPr>
              <a:t>LR</a:t>
            </a:r>
          </a:p>
        </p:txBody>
      </p:sp>
      <p:sp>
        <p:nvSpPr>
          <p:cNvPr id="28" name="tP"/>
          <p:cNvSpPr txBox="1"/>
          <p:nvPr/>
        </p:nvSpPr>
        <p:spPr>
          <a:xfrm>
            <a:off x="-37719" y="3875812"/>
            <a:ext cx="1244727" cy="274320"/>
          </a:xfrm>
          <a:prstGeom prst="rect">
            <a:avLst/>
          </a:prstGeom>
          <a:noFill/>
        </p:spPr>
        <p:txBody>
          <a:bodyPr wrap="square" lIns="0" tIns="0" rIns="0" bIns="0">
            <a:spAutoFit/>
          </a:bodyPr>
          <a:lstStyle/>
          <a:p>
            <a:pPr algn="r"/>
            <a:r>
              <a:rPr sz="2000" b="1" i="1" u="none">
                <a:solidFill>
                  <a:srgbClr val="0B2B4E"/>
                </a:solidFill>
                <a:latin typeface="Calibri"/>
              </a:rPr>
              <a:t>P</a:t>
            </a:r>
            <a:r>
              <a:rPr sz="2000" b="1" i="1" u="none" baseline="-25000">
                <a:solidFill>
                  <a:srgbClr val="0B2B4E"/>
                </a:solidFill>
                <a:latin typeface="Calibri"/>
              </a:rPr>
              <a:t>LR</a:t>
            </a:r>
            <a:r>
              <a:rPr sz="2000" b="1" i="1" u="none">
                <a:solidFill>
                  <a:srgbClr val="0B2B4E"/>
                </a:solidFill>
                <a:latin typeface="Calibri"/>
              </a:rPr>
              <a:t> = ATC</a:t>
            </a:r>
          </a:p>
        </p:txBody>
      </p:sp>
      <p:grpSp>
        <p:nvGrpSpPr>
          <p:cNvPr id="135" name="Group pair 135"/>
          <p:cNvGrpSpPr/>
          <p:nvPr/>
        </p:nvGrpSpPr>
        <p:grpSpPr>
          <a:xfrm>
            <a:off x="8183879" y="2148840"/>
            <a:ext cx="3703320" cy="1234440"/>
            <a:chOff x="8183879" y="2148840"/>
            <a:chExt cx="3703320" cy="1234440"/>
          </a:xfrm>
        </p:grpSpPr>
        <p:sp>
          <p:nvSpPr>
            <p:cNvPr id="29" name="LRNote"/>
            <p:cNvSpPr/>
            <p:nvPr/>
          </p:nvSpPr>
          <p:spPr>
            <a:xfrm>
              <a:off x="8183879" y="2148840"/>
              <a:ext cx="3703320" cy="1234440"/>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366759" y="2258568"/>
              <a:ext cx="3337560" cy="1014984"/>
            </a:xfrm>
            <a:prstGeom prst="rect">
              <a:avLst/>
            </a:prstGeom>
            <a:noFill/>
          </p:spPr>
          <p:txBody>
            <a:bodyPr wrap="square" lIns="45720" tIns="0" rIns="45720" bIns="0" anchor="ctr">
              <a:spAutoFit/>
            </a:bodyPr>
            <a:lstStyle/>
            <a:p>
              <a:pPr algn="l"/>
              <a:r>
                <a:rPr sz="1900" b="0" i="0" u="none">
                  <a:solidFill>
                    <a:srgbClr val="0B2B4E"/>
                  </a:solidFill>
                  <a:latin typeface="Calibri"/>
                </a:rPr>
                <a:t>Entry shifts demand down and makes it more elastic (flatter)</a:t>
              </a:r>
            </a:p>
          </p:txBody>
        </p:sp>
      </p:grpSp>
      <p:sp>
        <p:nvSpPr>
          <p:cNvPr id="31" name="LRBar"/>
          <p:cNvSpPr/>
          <p:nvPr/>
        </p:nvSpPr>
        <p:spPr>
          <a:xfrm>
            <a:off x="8183879" y="3840480"/>
            <a:ext cx="3703320" cy="2148840"/>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900" b="1">
                <a:solidFill>
                  <a:srgbClr val="0B2B4E"/>
                </a:solidFill>
                <a:latin typeface="Calibri"/>
              </a:rPr>
              <a:t>In the long run, each monopolistically competitive firm earns zero economic profit (P = ATC)</a:t>
            </a:r>
          </a:p>
          <a:p>
            <a:pPr algn="ctr">
              <a:spcBef>
                <a:spcPts val="800"/>
              </a:spcBef>
            </a:pPr>
            <a:r>
              <a:rPr sz="1500" b="0" i="1">
                <a:solidFill>
                  <a:srgbClr val="0B2B4E"/>
                </a:solidFill>
                <a:latin typeface="Calibri"/>
              </a:rPr>
              <a:t>Note: This holds under the assumption that firms are symmetric in costs but produce differentiated products</a:t>
            </a:r>
          </a:p>
        </p:txBody>
      </p:sp>
      <p:sp>
        <p:nvSpPr>
          <p:cNvPr id="32" name="Rectangle 3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5  ·  Monopoly and Monopolistic Competition</a:t>
            </a:r>
          </a:p>
        </p:txBody>
      </p:sp>
      <p:sp>
        <p:nvSpPr>
          <p:cNvPr id="35" name="TextBox 34"/>
          <p:cNvSpPr txBox="1"/>
          <p:nvPr/>
        </p:nvSpPr>
        <p:spPr>
          <a:xfrm>
            <a:off x="11475720" y="6583680"/>
            <a:ext cx="502920" cy="292608"/>
          </a:xfrm>
          <a:prstGeom prst="rect">
            <a:avLst/>
          </a:prstGeom>
          <a:noFill/>
        </p:spPr>
        <p:txBody>
          <a:bodyPr wrap="none" lIns="0" tIns="0" rIns="0" bIns="0">
            <a:spAutoFit/>
          </a:bodyPr>
          <a:lstStyle/>
          <a:p>
            <a:pPr algn="r"/>
            <a:fld id="{26C31B40-B3B2-576C-9AE7-BEDF2C7178F0}" type="slidenum">
              <a:rPr lang="en-US" sz="1200" dirty="0">
                <a:solidFill>
                  <a:srgbClr val="555B66"/>
                </a:solidFill>
                <a:latin typeface="Calibri"/>
              </a:rPr>
              <a:t>60</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5"/>
                                        </p:tgtEl>
                                        <p:attrNameLst>
                                          <p:attrName>style.visibility</p:attrName>
                                        </p:attrNameLst>
                                      </p:cBhvr>
                                      <p:to>
                                        <p:strVal val="visible"/>
                                      </p:to>
                                    </p:set>
                                    <p:animEffect transition="in" filter="fade">
                                      <p:cBhvr>
                                        <p:cTn id="7" dur="500"/>
                                        <p:tgtEl>
                                          <p:spTgt spid="135"/>
                                        </p:tgtEl>
                                      </p:cBhvr>
                                    </p:animEffect>
                                  </p:childTnLst>
                                </p:cTn>
                              </p:par>
                              <p:par>
                                <p:cTn id="8" presetID="10" presetClass="entr" presetSubtype="0" fill="hold" nodeType="withEffect">
                                  <p:stCondLst>
                                    <p:cond delay="0"/>
                                  </p:stCondLst>
                                  <p:childTnLst>
                                    <p:set>
                                      <p:cBhvr>
                                        <p:cTn id="9" dur="1" fill="hold">
                                          <p:stCondLst>
                                            <p:cond delay="0"/>
                                          </p:stCondLst>
                                        </p:cTn>
                                        <p:tgtEl>
                                          <p:spTgt spid="139"/>
                                        </p:tgtEl>
                                        <p:attrNameLst>
                                          <p:attrName>style.visibility</p:attrName>
                                        </p:attrNameLst>
                                      </p:cBhvr>
                                      <p:to>
                                        <p:strVal val="visible"/>
                                      </p:to>
                                    </p:set>
                                    <p:animEffect transition="in" filter="fade">
                                      <p:cBhvr>
                                        <p:cTn id="10" dur="500"/>
                                        <p:tgtEl>
                                          <p:spTgt spid="13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0"/>
                                        </p:tgtEl>
                                        <p:attrNameLst>
                                          <p:attrName>style.visibility</p:attrName>
                                        </p:attrNameLst>
                                      </p:cBhvr>
                                      <p:to>
                                        <p:strVal val="visible"/>
                                      </p:to>
                                    </p:set>
                                    <p:animEffect transition="in" filter="fade">
                                      <p:cBhvr>
                                        <p:cTn id="15" dur="500"/>
                                        <p:tgtEl>
                                          <p:spTgt spid="14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500"/>
                                        <p:tgtEl>
                                          <p:spTgt spid="25"/>
                                        </p:tgtEl>
                                      </p:cBhvr>
                                    </p:animEffect>
                                  </p:childTnLst>
                                </p:cTn>
                              </p:par>
                              <p:par>
                                <p:cTn id="21" presetID="10" presetClass="entr" presetSubtype="0" fill="hold" nodeType="with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5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500"/>
                                        <p:tgtEl>
                                          <p:spTgt spid="24"/>
                                        </p:tgtEl>
                                      </p:cBhvr>
                                    </p:animEffect>
                                  </p:childTnLst>
                                </p:cTn>
                              </p:par>
                              <p:par>
                                <p:cTn id="27" presetID="10" presetClass="entr" presetSubtype="0" fill="hold" nodeType="with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fade">
                                      <p:cBhvr>
                                        <p:cTn id="29" dur="500"/>
                                        <p:tgtEl>
                                          <p:spTgt spid="27"/>
                                        </p:tgtEl>
                                      </p:cBhvr>
                                    </p:animEffect>
                                  </p:childTnLst>
                                </p:cTn>
                              </p:par>
                              <p:par>
                                <p:cTn id="30" presetID="10" presetClass="entr" presetSubtype="0" fill="hold" nodeType="with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500"/>
                                        <p:tgtEl>
                                          <p:spTgt spid="2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5 · Monopolistic Competition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Barriers to Entry</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80599" y="1417320"/>
            <a:ext cx="11230497" cy="4937760"/>
          </a:xfrm>
          <a:prstGeom prst="rect">
            <a:avLst/>
          </a:prstGeom>
          <a:noFill/>
        </p:spPr>
        <p:txBody>
          <a:bodyPr wrap="square" lIns="0" tIns="0" rIns="0" bIns="0" anchor="ctr">
            <a:noAutofit/>
          </a:bodyPr>
          <a:lstStyle>
            <a:lvl1pPr marL="342900" indent="-342900">
              <a:spcBef>
                <a:spcPts val="1800"/>
              </a:spcBef>
              <a:buClr>
                <a:srgbClr val="0B2B4E"/>
              </a:buClr>
              <a:buFont typeface="Calibri"/>
              <a:buChar char="▪"/>
              <a:defRPr sz="3000" b="0">
                <a:solidFill>
                  <a:srgbClr val="0B2B4E"/>
                </a:solidFill>
                <a:latin typeface="Calibri"/>
              </a:defRPr>
            </a:lvl1pPr>
            <a:lvl2pPr marL="685800" indent="-228600">
              <a:spcBef>
                <a:spcPts val="300"/>
              </a:spcBef>
              <a:buClr>
                <a:srgbClr val="0B2B4E"/>
              </a:buClr>
              <a:buFont typeface="Calibri"/>
              <a:buChar char="–"/>
              <a:defRPr sz="2800" b="0">
                <a:solidFill>
                  <a:srgbClr val="0B2B4E"/>
                </a:solidFill>
                <a:latin typeface="Calibri"/>
              </a:defRPr>
            </a:lvl2pPr>
          </a:lstStyle>
          <a:p>
            <a:pPr algn="l"/>
            <a:r>
              <a:rPr>
                <a:latin typeface="Calibri"/>
              </a:rPr>
              <a:t>Entry erodes profits in a monopolistically competitive market</a:t>
            </a:r>
          </a:p>
          <a:p>
            <a:pPr algn="l"/>
            <a:r>
              <a:rPr>
                <a:latin typeface="Calibri"/>
              </a:rPr>
              <a:t>Different from monopoly: A monopolist makes positive economic profits</a:t>
            </a:r>
          </a:p>
          <a:p>
            <a:pPr algn="l"/>
            <a:r>
              <a:rPr>
                <a:latin typeface="Calibri"/>
              </a:rPr>
              <a:t>Why the difference?</a:t>
            </a:r>
          </a:p>
          <a:p>
            <a:pPr lvl="1" algn="l"/>
            <a:r>
              <a:rPr b="1">
                <a:solidFill>
                  <a:srgbClr val="0070C0"/>
                </a:solidFill>
                <a:latin typeface="Calibri"/>
              </a:rPr>
              <a:t>Barriers to entry </a:t>
            </a:r>
            <a:r>
              <a:rPr>
                <a:latin typeface="Calibri"/>
              </a:rPr>
              <a:t>protect a monopolist</a:t>
            </a:r>
          </a:p>
          <a:p>
            <a:pPr lvl="1" algn="l"/>
            <a:r>
              <a:rPr>
                <a:latin typeface="Calibri"/>
              </a:rPr>
              <a:t>Can firms create barriers to entry?</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5  ·  Monopoly and Monopolistic Competition</a:t>
            </a:r>
          </a:p>
        </p:txBody>
      </p:sp>
      <p:sp>
        <p:nvSpPr>
          <p:cNvPr id="11" name="TextBox 10"/>
          <p:cNvSpPr txBox="1"/>
          <p:nvPr/>
        </p:nvSpPr>
        <p:spPr>
          <a:xfrm>
            <a:off x="11475720" y="6583680"/>
            <a:ext cx="502920" cy="292608"/>
          </a:xfrm>
          <a:prstGeom prst="rect">
            <a:avLst/>
          </a:prstGeom>
          <a:noFill/>
        </p:spPr>
        <p:txBody>
          <a:bodyPr wrap="none" lIns="0" tIns="0" rIns="0" bIns="0">
            <a:spAutoFit/>
          </a:bodyPr>
          <a:lstStyle/>
          <a:p>
            <a:pPr algn="r"/>
            <a:fld id="{21A80A6E-165F-5783-AAF6-988F3E4BDE1E}" type="slidenum">
              <a:rPr lang="en-US" sz="1200" dirty="0">
                <a:solidFill>
                  <a:srgbClr val="555B66"/>
                </a:solidFill>
                <a:latin typeface="Calibri"/>
              </a:rPr>
              <a:t>61</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fade">
                                      <p:cBhvr>
                                        <p:cTn id="17" dur="500"/>
                                        <p:tgtEl>
                                          <p:spTgt spid="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xEl>
                                              <p:pRg st="4" end="4"/>
                                            </p:txEl>
                                          </p:spTgt>
                                        </p:tgtEl>
                                        <p:attrNameLst>
                                          <p:attrName>style.visibility</p:attrName>
                                        </p:attrNameLst>
                                      </p:cBhvr>
                                      <p:to>
                                        <p:strVal val="visible"/>
                                      </p:to>
                                    </p:set>
                                    <p:animEffect transition="in" filter="fade">
                                      <p:cBhvr>
                                        <p:cTn id="22"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5 · Monopolistic Competition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“Structural” Barriers to Entry</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80599" y="1554480"/>
            <a:ext cx="4480560" cy="4480560"/>
          </a:xfrm>
          <a:prstGeom prst="rect">
            <a:avLst/>
          </a:prstGeom>
          <a:noFill/>
        </p:spPr>
        <p:txBody>
          <a:bodyPr wrap="square" lIns="0" tIns="0" rIns="0" bIns="0">
            <a:noAutofit/>
          </a:bodyPr>
          <a:lstStyle>
            <a:lvl1pPr marL="342900" indent="-342900">
              <a:spcBef>
                <a:spcPts val="3600"/>
              </a:spcBef>
              <a:buClr>
                <a:srgbClr val="0B2B4E"/>
              </a:buClr>
              <a:buFont typeface="Calibri"/>
              <a:buChar char="▪"/>
              <a:defRPr sz="3000" b="0">
                <a:solidFill>
                  <a:srgbClr val="0B2B4E"/>
                </a:solidFill>
                <a:latin typeface="Calibri"/>
              </a:defRPr>
            </a:lvl1pPr>
            <a:lvl2pPr marL="685800" indent="-228600">
              <a:spcBef>
                <a:spcPts val="300"/>
              </a:spcBef>
              <a:buClr>
                <a:srgbClr val="0B2B4E"/>
              </a:buClr>
              <a:buFont typeface="Calibri"/>
              <a:buChar char="–"/>
              <a:defRPr sz="2400" b="0">
                <a:solidFill>
                  <a:srgbClr val="0B2B4E"/>
                </a:solidFill>
                <a:latin typeface="Calibri"/>
              </a:defRPr>
            </a:lvl2pPr>
          </a:lstStyle>
          <a:p>
            <a:pPr algn="l"/>
            <a:r>
              <a:rPr>
                <a:latin typeface="Calibri"/>
              </a:rPr>
              <a:t>Legal barriers</a:t>
            </a:r>
          </a:p>
          <a:p>
            <a:pPr algn="l"/>
            <a:r>
              <a:rPr>
                <a:latin typeface="Calibri"/>
              </a:rPr>
              <a:t>Network effect</a:t>
            </a:r>
          </a:p>
          <a:p>
            <a:pPr algn="l"/>
            <a:r>
              <a:rPr>
                <a:latin typeface="Calibri"/>
              </a:rPr>
              <a:t>Economies of scale</a:t>
            </a:r>
          </a:p>
          <a:p>
            <a:pPr algn="l"/>
            <a:r>
              <a:rPr>
                <a:latin typeface="Calibri"/>
              </a:rPr>
              <a:t>Learning</a:t>
            </a:r>
          </a:p>
          <a:p>
            <a:pPr algn="l"/>
            <a:r>
              <a:rPr>
                <a:latin typeface="Calibri"/>
              </a:rPr>
              <a:t>Control of resources</a:t>
            </a:r>
          </a:p>
        </p:txBody>
      </p:sp>
      <p:pic>
        <p:nvPicPr>
          <p:cNvPr id="8" name="imgLegal" descr="NV_fda.jpeg"/>
          <p:cNvPicPr>
            <a:picLocks noChangeAspect="1"/>
          </p:cNvPicPr>
          <p:nvPr/>
        </p:nvPicPr>
        <p:blipFill>
          <a:blip r:embed="rId3"/>
          <a:stretch>
            <a:fillRect/>
          </a:stretch>
        </p:blipFill>
        <p:spPr>
          <a:xfrm>
            <a:off x="3785615" y="1481328"/>
            <a:ext cx="2395728" cy="704088"/>
          </a:xfrm>
          <a:prstGeom prst="roundRect">
            <a:avLst>
              <a:gd name="adj" fmla="val 6000"/>
            </a:avLst>
          </a:prstGeom>
          <a:effectLst>
            <a:outerShdw blurRad="50800" dist="38100" dir="2700000" algn="tl" rotWithShape="0">
              <a:srgbClr val="000000">
                <a:alpha val="50000"/>
              </a:srgbClr>
            </a:outerShdw>
          </a:effectLst>
        </p:spPr>
      </p:pic>
      <p:grpSp>
        <p:nvGrpSpPr>
          <p:cNvPr id="12" name="imgNetwork"/>
          <p:cNvGrpSpPr/>
          <p:nvPr/>
        </p:nvGrpSpPr>
        <p:grpSpPr>
          <a:xfrm>
            <a:off x="5120640" y="2395728"/>
            <a:ext cx="2542032" cy="758952"/>
            <a:chOff x="5120640" y="2395728"/>
            <a:chExt cx="2542032" cy="758952"/>
          </a:xfrm>
        </p:grpSpPr>
        <p:pic>
          <p:nvPicPr>
            <p:cNvPr id="9" name="Picture 8" descr="NV_s54_rId7.png"/>
            <p:cNvPicPr>
              <a:picLocks noChangeAspect="1"/>
            </p:cNvPicPr>
            <p:nvPr/>
          </p:nvPicPr>
          <p:blipFill>
            <a:blip r:embed="rId4"/>
            <a:stretch>
              <a:fillRect/>
            </a:stretch>
          </p:blipFill>
          <p:spPr>
            <a:xfrm>
              <a:off x="5120640" y="2395728"/>
              <a:ext cx="978408" cy="758952"/>
            </a:xfrm>
            <a:prstGeom prst="rect">
              <a:avLst/>
            </a:prstGeom>
          </p:spPr>
        </p:pic>
        <p:pic>
          <p:nvPicPr>
            <p:cNvPr id="10" name="Picture 9" descr="NV_s54_rId8.png"/>
            <p:cNvPicPr>
              <a:picLocks noChangeAspect="1"/>
            </p:cNvPicPr>
            <p:nvPr/>
          </p:nvPicPr>
          <p:blipFill>
            <a:blip r:embed="rId5"/>
            <a:stretch>
              <a:fillRect/>
            </a:stretch>
          </p:blipFill>
          <p:spPr>
            <a:xfrm>
              <a:off x="6254496" y="2395728"/>
              <a:ext cx="612648" cy="758952"/>
            </a:xfrm>
            <a:prstGeom prst="rect">
              <a:avLst/>
            </a:prstGeom>
          </p:spPr>
        </p:pic>
        <p:pic>
          <p:nvPicPr>
            <p:cNvPr id="11" name="Picture 10" descr="NV_s54_rId9.png"/>
            <p:cNvPicPr>
              <a:picLocks noChangeAspect="1"/>
            </p:cNvPicPr>
            <p:nvPr/>
          </p:nvPicPr>
          <p:blipFill>
            <a:blip r:embed="rId6"/>
            <a:stretch>
              <a:fillRect/>
            </a:stretch>
          </p:blipFill>
          <p:spPr>
            <a:xfrm>
              <a:off x="6995160" y="2395728"/>
              <a:ext cx="667512" cy="758952"/>
            </a:xfrm>
            <a:prstGeom prst="rect">
              <a:avLst/>
            </a:prstGeom>
          </p:spPr>
        </p:pic>
      </p:grpSp>
      <p:pic>
        <p:nvPicPr>
          <p:cNvPr id="13" name="imgScale" descr="NV_s54_rId6.png"/>
          <p:cNvPicPr>
            <a:picLocks noChangeAspect="1"/>
          </p:cNvPicPr>
          <p:nvPr/>
        </p:nvPicPr>
        <p:blipFill>
          <a:blip r:embed="rId7"/>
          <a:stretch>
            <a:fillRect/>
          </a:stretch>
        </p:blipFill>
        <p:spPr>
          <a:xfrm>
            <a:off x="5001768" y="3355848"/>
            <a:ext cx="2459736" cy="603504"/>
          </a:xfrm>
          <a:prstGeom prst="rect">
            <a:avLst/>
          </a:prstGeom>
        </p:spPr>
      </p:pic>
      <p:pic>
        <p:nvPicPr>
          <p:cNvPr id="14" name="imgLearn" descr="NV_s54_rId3.png"/>
          <p:cNvPicPr>
            <a:picLocks noChangeAspect="1"/>
          </p:cNvPicPr>
          <p:nvPr/>
        </p:nvPicPr>
        <p:blipFill>
          <a:blip r:embed="rId8"/>
          <a:stretch>
            <a:fillRect/>
          </a:stretch>
        </p:blipFill>
        <p:spPr>
          <a:xfrm>
            <a:off x="3840480" y="3767328"/>
            <a:ext cx="2752344" cy="1746504"/>
          </a:xfrm>
          <a:prstGeom prst="rect">
            <a:avLst/>
          </a:prstGeom>
        </p:spPr>
      </p:pic>
      <p:pic>
        <p:nvPicPr>
          <p:cNvPr id="15" name="imgRes" descr="NV_s54_rId4.png"/>
          <p:cNvPicPr>
            <a:picLocks noChangeAspect="1"/>
          </p:cNvPicPr>
          <p:nvPr/>
        </p:nvPicPr>
        <p:blipFill>
          <a:blip r:embed="rId9"/>
          <a:stretch>
            <a:fillRect/>
          </a:stretch>
        </p:blipFill>
        <p:spPr>
          <a:xfrm>
            <a:off x="6099048" y="4617720"/>
            <a:ext cx="1737360" cy="1737360"/>
          </a:xfrm>
          <a:prstGeom prst="rect">
            <a:avLst/>
          </a:prstGeom>
        </p:spPr>
      </p:pic>
      <p:sp>
        <p:nvSpPr>
          <p:cNvPr id="16" name="Rectangle 15"/>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5  ·  Monopoly and Monopolistic Competition</a:t>
            </a:r>
          </a:p>
        </p:txBody>
      </p:sp>
      <p:sp>
        <p:nvSpPr>
          <p:cNvPr id="19" name="TextBox 18"/>
          <p:cNvSpPr txBox="1"/>
          <p:nvPr/>
        </p:nvSpPr>
        <p:spPr>
          <a:xfrm>
            <a:off x="11475720" y="6583680"/>
            <a:ext cx="502920" cy="292608"/>
          </a:xfrm>
          <a:prstGeom prst="rect">
            <a:avLst/>
          </a:prstGeom>
          <a:noFill/>
        </p:spPr>
        <p:txBody>
          <a:bodyPr wrap="none" lIns="0" tIns="0" rIns="0" bIns="0">
            <a:spAutoFit/>
          </a:bodyPr>
          <a:lstStyle/>
          <a:p>
            <a:pPr algn="r"/>
            <a:fld id="{CE89B108-9381-5E04-A273-4FE9F535F17B}" type="slidenum">
              <a:rPr lang="en-US" sz="1200" dirty="0">
                <a:solidFill>
                  <a:srgbClr val="555B66"/>
                </a:solidFill>
                <a:latin typeface="Calibri"/>
              </a:rPr>
              <a:t>62</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Effect transition="in" filter="fade">
                                      <p:cBhvr>
                                        <p:cTn id="15" dur="500"/>
                                        <p:tgtEl>
                                          <p:spTgt spid="7">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animEffect transition="in" filter="fade">
                                      <p:cBhvr>
                                        <p:cTn id="23" dur="500"/>
                                        <p:tgtEl>
                                          <p:spTgt spid="7">
                                            <p:txEl>
                                              <p:pRg st="3" end="3"/>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0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7">
                                            <p:txEl>
                                              <p:pRg st="4" end="4"/>
                                            </p:txEl>
                                          </p:spTgt>
                                        </p:tgtEl>
                                        <p:attrNameLst>
                                          <p:attrName>style.visibility</p:attrName>
                                        </p:attrNameLst>
                                      </p:cBhvr>
                                      <p:to>
                                        <p:strVal val="visible"/>
                                      </p:to>
                                    </p:set>
                                    <p:animEffect transition="in" filter="fade">
                                      <p:cBhvr>
                                        <p:cTn id="31" dur="500"/>
                                        <p:tgtEl>
                                          <p:spTgt spid="7">
                                            <p:txEl>
                                              <p:pRg st="4" end="4"/>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5 · Monopolistic Competition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Switching Costs Can Also Raise Barriers to Entry</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9" name="col0"/>
          <p:cNvGrpSpPr/>
          <p:nvPr/>
        </p:nvGrpSpPr>
        <p:grpSpPr>
          <a:xfrm>
            <a:off x="411480" y="1828800"/>
            <a:ext cx="3474720" cy="2992665"/>
            <a:chOff x="411480" y="1828800"/>
            <a:chExt cx="3474720" cy="2992665"/>
          </a:xfrm>
        </p:grpSpPr>
        <p:sp>
          <p:nvSpPr>
            <p:cNvPr id="7" name="TextBox 6"/>
            <p:cNvSpPr txBox="1"/>
            <p:nvPr/>
          </p:nvSpPr>
          <p:spPr>
            <a:xfrm>
              <a:off x="411480" y="1828800"/>
              <a:ext cx="3474720" cy="457200"/>
            </a:xfrm>
            <a:prstGeom prst="rect">
              <a:avLst/>
            </a:prstGeom>
            <a:noFill/>
          </p:spPr>
          <p:txBody>
            <a:bodyPr wrap="square" lIns="0" tIns="0" rIns="0" bIns="0">
              <a:spAutoFit/>
            </a:bodyPr>
            <a:lstStyle/>
            <a:p>
              <a:pPr algn="ctr"/>
              <a:r>
                <a:rPr sz="2800" b="1" i="0" u="none">
                  <a:solidFill>
                    <a:srgbClr val="0B2B4E"/>
                  </a:solidFill>
                  <a:latin typeface="Calibri"/>
                </a:rPr>
                <a:t>Loyalty programs</a:t>
              </a:r>
            </a:p>
          </p:txBody>
        </p:sp>
        <p:pic>
          <p:nvPicPr>
            <p:cNvPr id="8" name="Picture 7" descr="NV_s55_rId5.jpg"/>
            <p:cNvPicPr>
              <a:picLocks noChangeAspect="1"/>
            </p:cNvPicPr>
            <p:nvPr/>
          </p:nvPicPr>
          <p:blipFill>
            <a:blip r:embed="rId3"/>
            <a:stretch>
              <a:fillRect/>
            </a:stretch>
          </p:blipFill>
          <p:spPr>
            <a:xfrm>
              <a:off x="502920" y="2630895"/>
              <a:ext cx="3291840" cy="2190570"/>
            </a:xfrm>
            <a:prstGeom prst="roundRect">
              <a:avLst>
                <a:gd name="adj" fmla="val 8000"/>
              </a:avLst>
            </a:prstGeom>
            <a:effectLst>
              <a:outerShdw blurRad="50800" dist="38100" dir="2700000" algn="tl" rotWithShape="0">
                <a:srgbClr val="000000">
                  <a:alpha val="50000"/>
                </a:srgbClr>
              </a:outerShdw>
            </a:effectLst>
          </p:spPr>
        </p:pic>
      </p:grpSp>
      <p:grpSp>
        <p:nvGrpSpPr>
          <p:cNvPr id="12" name="col1"/>
          <p:cNvGrpSpPr/>
          <p:nvPr/>
        </p:nvGrpSpPr>
        <p:grpSpPr>
          <a:xfrm>
            <a:off x="4361688" y="1828800"/>
            <a:ext cx="3474720" cy="2879915"/>
            <a:chOff x="4361688" y="1828800"/>
            <a:chExt cx="3474720" cy="2879915"/>
          </a:xfrm>
        </p:grpSpPr>
        <p:sp>
          <p:nvSpPr>
            <p:cNvPr id="10" name="TextBox 9"/>
            <p:cNvSpPr txBox="1"/>
            <p:nvPr/>
          </p:nvSpPr>
          <p:spPr>
            <a:xfrm>
              <a:off x="4361688" y="1828800"/>
              <a:ext cx="3474720" cy="457200"/>
            </a:xfrm>
            <a:prstGeom prst="rect">
              <a:avLst/>
            </a:prstGeom>
            <a:noFill/>
          </p:spPr>
          <p:txBody>
            <a:bodyPr wrap="square" lIns="0" tIns="0" rIns="0" bIns="0">
              <a:spAutoFit/>
            </a:bodyPr>
            <a:lstStyle/>
            <a:p>
              <a:pPr algn="ctr"/>
              <a:r>
                <a:rPr sz="2800" b="1" i="0" u="none">
                  <a:solidFill>
                    <a:srgbClr val="0B2B4E"/>
                  </a:solidFill>
                  <a:latin typeface="Calibri"/>
                </a:rPr>
                <a:t>Compatibility</a:t>
              </a:r>
            </a:p>
          </p:txBody>
        </p:sp>
        <p:pic>
          <p:nvPicPr>
            <p:cNvPr id="11" name="Picture 10" descr="NV_s55_rId4.png"/>
            <p:cNvPicPr>
              <a:picLocks noChangeAspect="1"/>
            </p:cNvPicPr>
            <p:nvPr/>
          </p:nvPicPr>
          <p:blipFill>
            <a:blip r:embed="rId4"/>
            <a:stretch>
              <a:fillRect/>
            </a:stretch>
          </p:blipFill>
          <p:spPr>
            <a:xfrm>
              <a:off x="4453128" y="2743645"/>
              <a:ext cx="3291840" cy="1965070"/>
            </a:xfrm>
            <a:prstGeom prst="roundRect">
              <a:avLst>
                <a:gd name="adj" fmla="val 8000"/>
              </a:avLst>
            </a:prstGeom>
            <a:effectLst>
              <a:outerShdw blurRad="50800" dist="38100" dir="2700000" algn="tl" rotWithShape="0">
                <a:srgbClr val="000000">
                  <a:alpha val="50000"/>
                </a:srgbClr>
              </a:outerShdw>
            </a:effectLst>
          </p:spPr>
        </p:pic>
      </p:grpSp>
      <p:grpSp>
        <p:nvGrpSpPr>
          <p:cNvPr id="15" name="col2"/>
          <p:cNvGrpSpPr/>
          <p:nvPr/>
        </p:nvGrpSpPr>
        <p:grpSpPr>
          <a:xfrm>
            <a:off x="8311896" y="1828800"/>
            <a:ext cx="3474720" cy="2693692"/>
            <a:chOff x="8311896" y="1828800"/>
            <a:chExt cx="3474720" cy="2693692"/>
          </a:xfrm>
        </p:grpSpPr>
        <p:sp>
          <p:nvSpPr>
            <p:cNvPr id="13" name="TextBox 12"/>
            <p:cNvSpPr txBox="1"/>
            <p:nvPr/>
          </p:nvSpPr>
          <p:spPr>
            <a:xfrm>
              <a:off x="8311896" y="1828800"/>
              <a:ext cx="3474720" cy="457200"/>
            </a:xfrm>
            <a:prstGeom prst="rect">
              <a:avLst/>
            </a:prstGeom>
            <a:noFill/>
          </p:spPr>
          <p:txBody>
            <a:bodyPr wrap="square" lIns="0" tIns="0" rIns="0" bIns="0">
              <a:spAutoFit/>
            </a:bodyPr>
            <a:lstStyle/>
            <a:p>
              <a:pPr algn="ctr"/>
              <a:r>
                <a:rPr sz="2800" b="1" i="0" u="none">
                  <a:solidFill>
                    <a:srgbClr val="0B2B4E"/>
                  </a:solidFill>
                  <a:latin typeface="Calibri"/>
                </a:rPr>
                <a:t>Learning</a:t>
              </a:r>
            </a:p>
          </p:txBody>
        </p:sp>
        <p:pic>
          <p:nvPicPr>
            <p:cNvPr id="14" name="Picture 13" descr="CT3_s12_rId4.png"/>
            <p:cNvPicPr>
              <a:picLocks noChangeAspect="1"/>
            </p:cNvPicPr>
            <p:nvPr/>
          </p:nvPicPr>
          <p:blipFill>
            <a:blip r:embed="rId5"/>
            <a:stretch>
              <a:fillRect/>
            </a:stretch>
          </p:blipFill>
          <p:spPr>
            <a:xfrm>
              <a:off x="8403336" y="2929868"/>
              <a:ext cx="3291840" cy="1592624"/>
            </a:xfrm>
            <a:prstGeom prst="rect">
              <a:avLst/>
            </a:prstGeom>
          </p:spPr>
        </p:pic>
      </p:grpSp>
      <p:sp>
        <p:nvSpPr>
          <p:cNvPr id="16" name="Rectangle 15"/>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5  ·  Monopoly and Monopolistic Competition</a:t>
            </a:r>
          </a:p>
        </p:txBody>
      </p:sp>
      <p:sp>
        <p:nvSpPr>
          <p:cNvPr id="19" name="TextBox 18"/>
          <p:cNvSpPr txBox="1"/>
          <p:nvPr/>
        </p:nvSpPr>
        <p:spPr>
          <a:xfrm>
            <a:off x="11475720" y="6583680"/>
            <a:ext cx="502920" cy="292608"/>
          </a:xfrm>
          <a:prstGeom prst="rect">
            <a:avLst/>
          </a:prstGeom>
          <a:noFill/>
        </p:spPr>
        <p:txBody>
          <a:bodyPr wrap="none" lIns="0" tIns="0" rIns="0" bIns="0">
            <a:spAutoFit/>
          </a:bodyPr>
          <a:lstStyle/>
          <a:p>
            <a:pPr algn="r"/>
            <a:fld id="{B3935316-30D0-5953-85AF-5E090D7EBF07}" type="slidenum">
              <a:rPr lang="en-US" sz="1200" dirty="0">
                <a:solidFill>
                  <a:srgbClr val="555B66"/>
                </a:solidFill>
                <a:latin typeface="Calibri"/>
              </a:rPr>
              <a:t>63</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__PE_POLL_EMBED_ID" val="6dd03da2-f829-4108-9cab-acbbc314d959"/>
</p:tagLst>
</file>

<file path=ppt/tags/tag2.xml><?xml version="1.0" encoding="utf-8"?>
<p:tagLst xmlns:a="http://schemas.openxmlformats.org/drawingml/2006/main" xmlns:r="http://schemas.openxmlformats.org/officeDocument/2006/relationships" xmlns:p="http://schemas.openxmlformats.org/presentationml/2006/main">
  <p:tag name="__PE_POLL_EMBED_ID" val="29ff4e46-c7fa-4b7b-9966-2edf2f0db74c"/>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474</TotalTime>
  <Words>10801</Words>
  <Application>Microsoft Office PowerPoint</Application>
  <PresentationFormat>Widescreen</PresentationFormat>
  <Paragraphs>1129</Paragraphs>
  <Slides>63</Slides>
  <Notes>62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63</vt:i4>
      </vt:variant>
    </vt:vector>
  </HeadingPairs>
  <TitlesOfParts>
    <vt:vector size="68" baseType="lpstr">
      <vt:lpstr>Aptos</vt:lpstr>
      <vt:lpstr>Arial</vt:lpstr>
      <vt:lpstr>Calibri</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Voigtlaender, Nico</cp:lastModifiedBy>
  <cp:revision>44</cp:revision>
  <dcterms:created xsi:type="dcterms:W3CDTF">2013-01-27T09:14:16Z</dcterms:created>
  <dcterms:modified xsi:type="dcterms:W3CDTF">2026-10-23T18:05:33Z</dcterms:modified>
  <cp:category/>
</cp:coreProperties>
</file>