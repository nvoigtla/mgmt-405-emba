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71" r:id="rId2"/>
    <p:sldId id="272" r:id="rId3"/>
    <p:sldId id="273" r:id="rId4"/>
    <p:sldId id="274" r:id="rId5"/>
    <p:sldId id="275" r:id="rId6"/>
    <p:sldId id="276" r:id="rId7"/>
    <p:sldId id="313" r:id="rId8"/>
    <p:sldId id="280" r:id="rId9"/>
    <p:sldId id="277" r:id="rId10"/>
    <p:sldId id="27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CE759D-A173-45ED-B48A-26B5D0853028}"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3D31B-DD57-42B7-9C93-DCA493AC4DBB}" type="slidenum">
              <a:rPr lang="en-US" smtClean="0"/>
              <a:t>‹#›</a:t>
            </a:fld>
            <a:endParaRPr lang="en-US"/>
          </a:p>
        </p:txBody>
      </p:sp>
    </p:spTree>
    <p:extLst>
      <p:ext uri="{BB962C8B-B14F-4D97-AF65-F5344CB8AC3E}">
        <p14:creationId xmlns:p14="http://schemas.microsoft.com/office/powerpoint/2010/main" val="179189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Marginal Revenue = Marginal Cost when Demand is Linear</a:t>
            </a:r>
          </a:p>
          <a:p>
            <a:r>
              <a:t>To set MR=MC, you need to know MC. For now, we assume a constant marginal cost: MC=$200. The harder part is MR. What is marginal revenue? In words, it is the change in revenues when you sell one more unit of the good. To get there, we want to find out what total revenue is only as a function of Q, so that we can take the derivative of revenue with respect to Q. </a:t>
            </a:r>
          </a:p>
          <a:p>
            <a:endParaRPr/>
          </a:p>
          <a:p>
            <a:r>
              <a:t>Let's write down a specific demand function and work through an example using this demand function:</a:t>
            </a:r>
          </a:p>
          <a:p>
            <a:r>
              <a:t>Q=1600-4P</a:t>
            </a:r>
          </a:p>
          <a:p>
            <a:endParaRPr/>
          </a:p>
          <a:p>
            <a:r>
              <a:t>The Recipe</a:t>
            </a:r>
          </a:p>
          <a:p>
            <a:r>
              <a:t>There are three steps to get to the mathematical answer for MR. You can apply this recipe whenever you face this type of problem:</a:t>
            </a:r>
          </a:p>
          <a:p>
            <a:endParaRPr/>
          </a:p>
          <a:p>
            <a:r>
              <a:t>Invert your demand. That's the inconvenient legacy of Alfred Marshall that I mentioned in class:</a:t>
            </a:r>
          </a:p>
          <a:p>
            <a:r>
              <a:t>P=400 - 1/4 Q</a:t>
            </a:r>
          </a:p>
          <a:p>
            <a:r>
              <a:t>(If you're wondering what I did here, I just took our demand function, put P on the left side, Q on the right side and divided everything by 4).</a:t>
            </a:r>
          </a:p>
          <a:p>
            <a:endParaRPr/>
          </a:p>
          <a:p>
            <a:r>
              <a:t>Write down total revenue. What's total revenue? It is P times Q. So:</a:t>
            </a:r>
          </a:p>
          <a:p>
            <a:r>
              <a:t>PQ=400Q-1/4 * Q^2</a:t>
            </a:r>
          </a:p>
          <a:p>
            <a:r>
              <a:t>(Here I just multiplied the previous equation by Q: easy!)</a:t>
            </a:r>
          </a:p>
          <a:p>
            <a:endParaRPr/>
          </a:p>
          <a:p>
            <a:r>
              <a:t>Find Marginal Revenue. That's the hardest step. It entails taking the derivative of PQ with respect to Q. You may or may not know any calculus. But (I promise!) you can do this even if you don't know any calculus. All you need to know is that the derivative of Q with respect to Q is 1, and that the derivative of Q2 with respect to Q is 2Q:</a:t>
            </a:r>
          </a:p>
          <a:p>
            <a:endParaRPr/>
          </a:p>
          <a:p>
            <a:r>
              <a:t>MR=(∆PQ)/∆Q=400-1/2Q</a:t>
            </a:r>
          </a:p>
          <a:p>
            <a:endParaRPr/>
          </a:p>
          <a:p>
            <a:r>
              <a:t>So now we have MR. You will notice that MR has twice the slope of the inverse demand function. The slope of the inverse demand function is -1/4 and the slope of MR is -1/2. When demand is linear, MR is always twice as steep as demand.  </a:t>
            </a:r>
          </a:p>
          <a:p>
            <a:r>
              <a:t> </a:t>
            </a:r>
          </a:p>
          <a:p>
            <a:r>
              <a:t>Where MR=0, demand is unit elastic</a:t>
            </a:r>
          </a:p>
          <a:p>
            <a:r>
              <a:t> </a:t>
            </a:r>
          </a:p>
          <a:p>
            <a:r>
              <a:t>Try to understand intuitively why the elasticity of demand is exactly -1 when MR=0!</a:t>
            </a:r>
          </a:p>
          <a:p>
            <a:endParaRPr/>
          </a:p>
          <a:p>
            <a:r>
              <a:t>Total revenue is maximized where E_d=-1. If MR&gt;0, then TR must be rising as Q increases. If MR&lt;0, then TR must be declining. </a:t>
            </a:r>
          </a:p>
          <a:p>
            <a:r>
              <a:t> </a:t>
            </a:r>
          </a:p>
          <a:p>
            <a:r>
              <a:t>Note that your goal is to maximize profits, not total revenue. A consideration of costs matters.</a:t>
            </a:r>
          </a:p>
          <a:p>
            <a:endParaRPr/>
          </a:p>
          <a:p>
            <a:r>
              <a:t>Now we set MR equal to MC ($200) and we are done:</a:t>
            </a:r>
          </a:p>
          <a:p>
            <a:r>
              <a:t>MR=MC</a:t>
            </a:r>
          </a:p>
          <a:p>
            <a:r>
              <a:t>400-12Q=200</a:t>
            </a:r>
          </a:p>
          <a:p>
            <a:r>
              <a:t>Q=400</a:t>
            </a:r>
          </a:p>
          <a:p>
            <a:endParaRPr/>
          </a:p>
          <a:p>
            <a:r>
              <a:t>So now we know that maximizing profits entails setting Q=400. What about the price P? Well, that's easy to find: our price-quantity combination must be located on the demand curve. So from the inverse demand we derived earlier, we find:</a:t>
            </a:r>
          </a:p>
          <a:p>
            <a:endParaRPr/>
          </a:p>
          <a:p>
            <a:r>
              <a:t>P=400-1/4Q=400-100=$300</a:t>
            </a:r>
          </a:p>
          <a:p>
            <a:endParaRPr/>
          </a:p>
          <a:p>
            <a:r>
              <a:t>Maximizing profits, here, entails setting Q=400 units and P=$300.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Marginal Revenue when Q=10-0.5P
https://www.polleverywhere.com/multiple_choice_polls/hj1ivMTBaXH6hMPPQBFLc?state=opened&amp;flow=Default&amp;onscreen=persist</a:t>
            </a:r>
          </a:p>
        </p:txBody>
      </p:sp>
      <p:sp>
        <p:nvSpPr>
          <p:cNvPr id="4" name="Slide Number Placeholder 3"/>
          <p:cNvSpPr>
            <a:spLocks noGrp="1"/>
          </p:cNvSpPr>
          <p:nvPr>
            <p:ph type="sldNum" sz="quarter" idx="5"/>
          </p:nvPr>
        </p:nvSpPr>
        <p:spPr/>
        <p:txBody>
          <a:bodyPr/>
          <a:lstStyle/>
          <a:p>
            <a:fld id="{60C3D31B-DD57-42B7-9C93-DCA493AC4DBB}" type="slidenum">
              <a:rPr lang="en-US" smtClean="0"/>
              <a:t>7</a:t>
            </a:fld>
            <a:endParaRPr lang="en-US"/>
          </a:p>
        </p:txBody>
      </p:sp>
      <p:sp>
        <p:nvSpPr>
          <p:cNvPr id="5" name="TextBox 4">
            <a:extLst>
              <a:ext uri="{FF2B5EF4-FFF2-40B4-BE49-F238E27FC236}">
                <a16:creationId xmlns:a16="http://schemas.microsoft.com/office/drawing/2014/main" id="{4BAE4AED-870C-8506-3058-B13FAD3552F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960208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isn’t MR just P? </a:t>
            </a:r>
          </a:p>
          <a:p>
            <a:endParaRPr/>
          </a:p>
          <a:p>
            <a:r>
              <a:t>For a firm with market power (which we will assume here), they will face downward sloping demand. In order to sell additional unit, it will have to lower the price. It will lower the price not just for the marginal unit, but for all units. This reduces the revenue the firm receives for the other units it sells. When computing the marginal revenue from the additional unit, it must also subtract the loss it suffers on every other unit.</a:t>
            </a:r>
          </a:p>
          <a:p>
            <a:endParaRPr/>
          </a:p>
          <a:p>
            <a:r>
              <a:t>Is there any situation under which MR=P? </a:t>
            </a:r>
          </a:p>
          <a:p>
            <a:endParaRPr/>
          </a:p>
          <a:p>
            <a:r>
              <a:t>Infinite elasticity. When the good is perfectly elastic, a firm doesn’t have to lower the price in order to sell more goods [quantity doesn’t depend on price]; the firm can sell any amount at a given price, so marginal revenue just equals P. This is known as perfect competition, which we will return to in the second half of the course when we discuss market power.</a:t>
            </a:r>
          </a:p>
          <a:p>
            <a:endParaRPr/>
          </a:p>
          <a:p>
            <a:r>
              <a:t>Can MR be negative? </a:t>
            </a:r>
          </a:p>
          <a:p>
            <a:endParaRPr/>
          </a:p>
          <a:p>
            <a:r>
              <a:t>Yes! In the left side of this plot, we see that MR is negative. To the right of the point of unit elasticity, TR is declining, meaning that each additional unit contributes negatively. That is another way of saying that MR is negative.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Marginal Revenue</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2  ·  Video 2</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58010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BFBFBF"/>
                </a:solidFill>
                <a:latin typeface="Calibri"/>
              </a:rPr>
              <a:t>The </a:t>
            </a:r>
            <a:r>
              <a:rPr lang="en-US" sz="2500" b="1" dirty="0">
                <a:solidFill>
                  <a:srgbClr val="BFBFBF"/>
                </a:solidFill>
                <a:latin typeface="Calibri"/>
              </a:rPr>
              <a:t>L</a:t>
            </a:r>
            <a:r>
              <a:rPr sz="2500" b="1" dirty="0">
                <a:solidFill>
                  <a:srgbClr val="BFBFBF"/>
                </a:solidFill>
                <a:latin typeface="Calibri"/>
              </a:rPr>
              <a:t>aw of </a:t>
            </a:r>
            <a:r>
              <a:rPr lang="en-US" sz="2500" b="1" dirty="0">
                <a:solidFill>
                  <a:srgbClr val="BFBFBF"/>
                </a:solidFill>
                <a:latin typeface="Calibri"/>
              </a:rPr>
              <a:t>D</a:t>
            </a:r>
            <a:r>
              <a:rPr sz="2500" b="1" dirty="0">
                <a:solidFill>
                  <a:srgbClr val="BFBFBF"/>
                </a:solidFill>
                <a:latin typeface="Calibri"/>
              </a:rPr>
              <a:t>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2" name="TextBox 11"/>
          <p:cNvSpPr txBox="1"/>
          <p:nvPr/>
        </p:nvSpPr>
        <p:spPr>
          <a:xfrm>
            <a:off x="1874519" y="3244316"/>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BFBFBF"/>
                </a:solidFill>
                <a:latin typeface="Calibri"/>
              </a:rPr>
              <a:t>Demand and </a:t>
            </a:r>
            <a:r>
              <a:rPr lang="en-US" sz="2500" b="1" dirty="0">
                <a:solidFill>
                  <a:srgbClr val="BFBFBF"/>
                </a:solidFill>
                <a:latin typeface="Calibri"/>
              </a:rPr>
              <a:t>R</a:t>
            </a:r>
            <a:r>
              <a:rPr sz="2500" b="1" dirty="0">
                <a:solidFill>
                  <a:srgbClr val="BFBFBF"/>
                </a:solidFill>
                <a:latin typeface="Calibri"/>
              </a:rPr>
              <a:t>evenue</a:t>
            </a:r>
          </a:p>
        </p:txBody>
      </p:sp>
      <p:sp>
        <p:nvSpPr>
          <p:cNvPr id="13" name="Oval 12"/>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BFBFBF"/>
                </a:solidFill>
                <a:latin typeface="Calibri"/>
              </a:rPr>
              <a:t>3a</a:t>
            </a:r>
          </a:p>
        </p:txBody>
      </p:sp>
      <p:sp>
        <p:nvSpPr>
          <p:cNvPr id="14" name="TextBox 13"/>
          <p:cNvSpPr txBox="1"/>
          <p:nvPr/>
        </p:nvSpPr>
        <p:spPr>
          <a:xfrm>
            <a:off x="2084831" y="4076420"/>
            <a:ext cx="10058400" cy="338554"/>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dirty="0">
                <a:solidFill>
                  <a:srgbClr val="BFBFBF"/>
                </a:solidFill>
                <a:latin typeface="Calibri"/>
              </a:rPr>
              <a:t>Elasticity and </a:t>
            </a:r>
            <a:r>
              <a:rPr lang="en-US" sz="2200" b="1" dirty="0">
                <a:solidFill>
                  <a:srgbClr val="BFBFBF"/>
                </a:solidFill>
                <a:latin typeface="Calibri"/>
              </a:rPr>
              <a:t>R</a:t>
            </a:r>
            <a:r>
              <a:rPr sz="2200" b="1" dirty="0">
                <a:solidFill>
                  <a:srgbClr val="BFBFBF"/>
                </a:solidFill>
                <a:latin typeface="Calibri"/>
              </a:rPr>
              <a:t>evenue</a:t>
            </a:r>
          </a:p>
        </p:txBody>
      </p:sp>
      <p:sp>
        <p:nvSpPr>
          <p:cNvPr id="15" name="Rounded Rectangle 14"/>
          <p:cNvSpPr/>
          <p:nvPr/>
        </p:nvSpPr>
        <p:spPr>
          <a:xfrm>
            <a:off x="1252728" y="4768596"/>
            <a:ext cx="10680192"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0B2B4E"/>
                </a:solidFill>
                <a:latin typeface="Calibri"/>
              </a:rPr>
              <a:t>3b</a:t>
            </a:r>
          </a:p>
        </p:txBody>
      </p:sp>
      <p:sp>
        <p:nvSpPr>
          <p:cNvPr id="17" name="TextBox 16"/>
          <p:cNvSpPr txBox="1"/>
          <p:nvPr/>
        </p:nvSpPr>
        <p:spPr>
          <a:xfrm>
            <a:off x="2084831" y="4823460"/>
            <a:ext cx="10058400" cy="677108"/>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dirty="0">
                <a:solidFill>
                  <a:srgbClr val="0B2B4E"/>
                </a:solidFill>
                <a:latin typeface="Calibri"/>
              </a:rPr>
              <a:t>Marginal </a:t>
            </a:r>
            <a:r>
              <a:rPr lang="en-US" sz="2200" b="1" dirty="0">
                <a:solidFill>
                  <a:srgbClr val="0B2B4E"/>
                </a:solidFill>
                <a:latin typeface="Calibri"/>
              </a:rPr>
              <a:t>R</a:t>
            </a:r>
            <a:r>
              <a:rPr sz="2200" b="1" dirty="0">
                <a:solidFill>
                  <a:srgbClr val="0B2B4E"/>
                </a:solidFill>
                <a:latin typeface="Calibri"/>
              </a:rPr>
              <a:t>evenue</a:t>
            </a:r>
          </a:p>
          <a:p>
            <a:pPr algn="l">
              <a:spcBef>
                <a:spcPts val="0"/>
              </a:spcBef>
              <a:buNone/>
            </a:pPr>
            <a:r>
              <a:rPr sz="2200" dirty="0">
                <a:solidFill>
                  <a:srgbClr val="555B66"/>
                </a:solidFill>
                <a:latin typeface="Calibri"/>
              </a:rPr>
              <a:t>The extra revenue from selling one more unit</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9" name="TextBox 18"/>
          <p:cNvSpPr txBox="1"/>
          <p:nvPr/>
        </p:nvSpPr>
        <p:spPr>
          <a:xfrm>
            <a:off x="1874519" y="574062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BFBFBF"/>
                </a:solidFill>
                <a:latin typeface="Calibri"/>
              </a:rPr>
              <a:t>Demand </a:t>
            </a:r>
            <a:r>
              <a:rPr lang="en-US" sz="2500" b="1" dirty="0">
                <a:solidFill>
                  <a:srgbClr val="BFBFBF"/>
                </a:solidFill>
                <a:latin typeface="Calibri"/>
              </a:rPr>
              <a:t>E</a:t>
            </a:r>
            <a:r>
              <a:rPr sz="2500" b="1" dirty="0">
                <a:solidFill>
                  <a:srgbClr val="BFBFBF"/>
                </a:solidFill>
                <a:latin typeface="Calibri"/>
              </a:rPr>
              <a:t>stimation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D11E3725-2B2B-5068-95F8-EA42C5BEA37A}"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lang="en-US" sz="3200" b="1" i="0" u="none" dirty="0">
                <a:solidFill>
                  <a:srgbClr val="0B2B4E"/>
                </a:solidFill>
                <a:latin typeface="Calibri"/>
              </a:rPr>
              <a:t>Context: </a:t>
            </a:r>
            <a:r>
              <a:rPr sz="3200" b="1" i="0" u="none" dirty="0">
                <a:solidFill>
                  <a:srgbClr val="0B2B4E"/>
                </a:solidFill>
                <a:latin typeface="Calibri"/>
              </a:rPr>
              <a:t>Why Do We Care About Marginal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00200"/>
            <a:ext cx="10149840" cy="96012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buNone/>
            </a:pPr>
            <a:r>
              <a:rPr sz="2300">
                <a:solidFill>
                  <a:srgbClr val="0B2B4E"/>
                </a:solidFill>
                <a:latin typeface="Calibri"/>
              </a:rPr>
              <a:t>General objective: maximize </a:t>
            </a:r>
            <a:r>
              <a:rPr sz="2300" b="1">
                <a:solidFill>
                  <a:srgbClr val="0B2B4E"/>
                </a:solidFill>
                <a:latin typeface="Calibri"/>
              </a:rPr>
              <a:t>net benefits</a:t>
            </a:r>
          </a:p>
          <a:p>
            <a:pPr lvl="1" algn="l"/>
            <a:r>
              <a:rPr sz="2000">
                <a:latin typeface="Calibri"/>
              </a:rPr>
              <a:t>Use marginal analysis</a:t>
            </a:r>
          </a:p>
        </p:txBody>
      </p:sp>
      <p:sp>
        <p:nvSpPr>
          <p:cNvPr id="8" name="Rounded Rectangle 7"/>
          <p:cNvSpPr/>
          <p:nvPr/>
        </p:nvSpPr>
        <p:spPr>
          <a:xfrm>
            <a:off x="1463040" y="2526030"/>
            <a:ext cx="9262872" cy="658368"/>
          </a:xfrm>
          <a:prstGeom prst="roundRect">
            <a:avLst>
              <a:gd name="adj" fmla="val 1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Net benefits are maximized where MB = MC</a:t>
            </a:r>
          </a:p>
        </p:txBody>
      </p:sp>
      <p:sp>
        <p:nvSpPr>
          <p:cNvPr id="9" name="TextBox 8"/>
          <p:cNvSpPr txBox="1"/>
          <p:nvPr/>
        </p:nvSpPr>
        <p:spPr>
          <a:xfrm>
            <a:off x="1005840" y="3611880"/>
            <a:ext cx="10149840" cy="50292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buNone/>
            </a:pPr>
            <a:r>
              <a:rPr sz="2300">
                <a:solidFill>
                  <a:srgbClr val="0B2B4E"/>
                </a:solidFill>
                <a:latin typeface="Calibri"/>
              </a:rPr>
              <a:t>Firms’ objective: maximize </a:t>
            </a:r>
            <a:r>
              <a:rPr sz="2300" b="1">
                <a:solidFill>
                  <a:srgbClr val="0B2B4E"/>
                </a:solidFill>
                <a:latin typeface="Calibri"/>
              </a:rPr>
              <a:t>profits</a:t>
            </a:r>
          </a:p>
        </p:txBody>
      </p:sp>
      <p:sp>
        <p:nvSpPr>
          <p:cNvPr id="10" name="Rounded Rectangle 9"/>
          <p:cNvSpPr/>
          <p:nvPr/>
        </p:nvSpPr>
        <p:spPr>
          <a:xfrm>
            <a:off x="1463040" y="4114800"/>
            <a:ext cx="9262872" cy="658368"/>
          </a:xfrm>
          <a:prstGeom prst="roundRect">
            <a:avLst>
              <a:gd name="adj" fmla="val 1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Produce where Marginal Revenue (MR) = Marginal Cost (MC)</a:t>
            </a:r>
          </a:p>
        </p:txBody>
      </p:sp>
      <p:sp>
        <p:nvSpPr>
          <p:cNvPr id="11" name="TextBox 10"/>
          <p:cNvSpPr txBox="1"/>
          <p:nvPr/>
        </p:nvSpPr>
        <p:spPr>
          <a:xfrm>
            <a:off x="1005840" y="5257800"/>
            <a:ext cx="10149840"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buNone/>
            </a:pPr>
            <a:r>
              <a:rPr sz="2300" dirty="0">
                <a:solidFill>
                  <a:srgbClr val="0B2B4E"/>
                </a:solidFill>
                <a:latin typeface="Calibri"/>
              </a:rPr>
              <a:t>Today: how to compute </a:t>
            </a:r>
            <a:r>
              <a:rPr sz="2300" b="1" i="1" dirty="0">
                <a:solidFill>
                  <a:srgbClr val="0B2B4E"/>
                </a:solidFill>
                <a:latin typeface="Calibri"/>
              </a:rPr>
              <a:t>MR</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1F781904-1376-5E0B-A609-DB08D4E0BB65}"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Marginal Revenue: Definition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737360"/>
            <a:ext cx="11338560" cy="1371600"/>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a:latin typeface="Calibri"/>
              </a:rPr>
              <a:t>Intuitively:</a:t>
            </a:r>
            <a:r>
              <a:rPr>
                <a:latin typeface="Calibri"/>
              </a:rPr>
              <a:t>  Additional revenue from selling one more unit</a:t>
            </a:r>
          </a:p>
          <a:p>
            <a:pPr algn="l"/>
            <a:r>
              <a:rPr b="1">
                <a:latin typeface="Calibri"/>
              </a:rPr>
              <a:t>Mathematically:</a:t>
            </a:r>
            <a:r>
              <a:rPr>
                <a:latin typeface="Calibri"/>
              </a:rPr>
              <a:t>  How much total revenue changes when quantity sold increases by one unit</a:t>
            </a:r>
          </a:p>
        </p:txBody>
      </p:sp>
      <mc:AlternateContent xmlns:mc="http://schemas.openxmlformats.org/markup-compatibility/2006" xmlns:a14="http://schemas.microsoft.com/office/drawing/2010/main">
        <mc:Choice Requires="a14">
          <p:sp>
            <p:nvSpPr>
              <p:cNvPr id="8" name="TextBox 7"/>
              <p:cNvSpPr txBox="1"/>
              <p:nvPr/>
            </p:nvSpPr>
            <p:spPr>
              <a:xfrm>
                <a:off x="3977639" y="3429000"/>
                <a:ext cx="4206240" cy="12344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3000" b="0" i="1">
                    <a:solidFill>
                      <a:srgbClr val="0B2B4E"/>
                    </a:solidFill>
                    <a:latin typeface="Cambria Math"/>
                  </a:defRPr>
                </a:pPr>
                <a14:m>
                  <m:oMathPara xmlns:m="http://schemas.openxmlformats.org/officeDocument/2006/math">
                    <m:oMath>
                      <m:r>
                        <m:rPr>
                          <m:sty m:val="p"/>
                        </m:rPr>
                        <a:rPr lang="en-US" sz="3000" b="0" i="0">
                          <a:solidFill>
                            <a:srgbClr val="0B2B4E"/>
                          </a:solidFill>
                          <a:latin typeface="Cambria Math"/>
                        </a:rPr>
                        <m:t>MR</m:t>
                      </m:r>
                      <m:r>
                        <a:rPr lang="en-US" sz="3000" b="0" i="0">
                          <a:solidFill>
                            <a:srgbClr val="0B2B4E"/>
                          </a:solidFill>
                          <a:latin typeface="Cambria Math"/>
                        </a:rPr>
                        <m:t> = </m:t>
                      </m:r>
                      <m:f>
                        <m:fPr>
                          <m:ctrlPr>
                            <a:rPr lang="en-US" sz="3000" b="0" i="0">
                              <a:solidFill>
                                <a:srgbClr val="0B2B4E"/>
                              </a:solidFill>
                              <a:latin typeface="Cambria Math"/>
                            </a:rPr>
                          </m:ctrlPr>
                        </m:fPr>
                        <m:num>
                          <m:r>
                            <m:rPr>
                              <m:sty m:val="p"/>
                            </m:rPr>
                            <a:rPr lang="en-US" sz="3000" b="0" i="0">
                              <a:solidFill>
                                <a:srgbClr val="0B2B4E"/>
                              </a:solidFill>
                              <a:latin typeface="Cambria Math"/>
                            </a:rPr>
                            <m:t>ΔTR</m:t>
                          </m:r>
                        </m:num>
                        <m:den>
                          <m:r>
                            <m:rPr>
                              <m:sty m:val="p"/>
                            </m:rPr>
                            <a:rPr lang="en-US" sz="3000" b="0" i="0">
                              <a:solidFill>
                                <a:srgbClr val="0B2B4E"/>
                              </a:solidFill>
                              <a:latin typeface="Cambria Math"/>
                            </a:rPr>
                            <m:t>Δ</m:t>
                          </m:r>
                          <m:r>
                            <a:rPr lang="en-US" sz="3000" b="0" i="1">
                              <a:solidFill>
                                <a:srgbClr val="0B2B4E"/>
                              </a:solidFill>
                              <a:latin typeface="Cambria Math"/>
                              <a:ea typeface="Cambria Math"/>
                            </a:rPr>
                            <m:t>𝑄</m:t>
                          </m:r>
                        </m:den>
                      </m:f>
                      <m:r>
                        <a:rPr lang="en-US" sz="3000" b="0" i="0">
                          <a:solidFill>
                            <a:srgbClr val="0B2B4E"/>
                          </a:solidFill>
                          <a:latin typeface="Cambria Math"/>
                        </a:rPr>
                        <m:t> = </m:t>
                      </m:r>
                      <m:f>
                        <m:fPr>
                          <m:ctrlPr>
                            <a:rPr lang="en-US" sz="3000" b="0" i="1">
                              <a:solidFill>
                                <a:srgbClr val="0B2B4E"/>
                              </a:solidFill>
                              <a:latin typeface="Cambria Math"/>
                              <a:ea typeface="Cambria Math"/>
                            </a:rPr>
                          </m:ctrlPr>
                        </m:fPr>
                        <m:num>
                          <m:r>
                            <a:rPr lang="en-US" sz="3000" b="0" i="1">
                              <a:solidFill>
                                <a:srgbClr val="0B2B4E"/>
                              </a:solidFill>
                              <a:latin typeface="Cambria Math"/>
                              <a:ea typeface="Cambria Math"/>
                            </a:rPr>
                            <m:t>𝑑</m:t>
                          </m:r>
                          <m:r>
                            <m:rPr>
                              <m:sty m:val="p"/>
                            </m:rPr>
                            <a:rPr lang="en-US" sz="3000" b="0" i="0">
                              <a:solidFill>
                                <a:srgbClr val="0B2B4E"/>
                              </a:solidFill>
                              <a:latin typeface="Cambria Math"/>
                            </a:rPr>
                            <m:t>TR</m:t>
                          </m:r>
                        </m:num>
                        <m:den>
                          <m:r>
                            <a:rPr lang="en-US" sz="3000" b="0" i="1">
                              <a:solidFill>
                                <a:srgbClr val="0B2B4E"/>
                              </a:solidFill>
                              <a:latin typeface="Cambria Math"/>
                              <a:ea typeface="Cambria Math"/>
                            </a:rPr>
                            <m:t>𝑑𝑄</m:t>
                          </m:r>
                        </m:den>
                      </m:f>
                    </m:oMath>
                  </m:oMathPara>
                </a14:m>
                <a:endParaRPr lang="en-US" sz="3000"/>
              </a:p>
            </p:txBody>
          </p:sp>
        </mc:Choice>
        <mc:Fallback xmlns="">
          <p:sp>
            <p:nvSpPr>
              <p:cNvPr id="8" name="TextBox 7"/>
              <p:cNvSpPr txBox="1">
                <a:spLocks noRot="1" noChangeAspect="1" noMove="1" noResize="1" noEditPoints="1" noAdjustHandles="1" noChangeArrowheads="1" noChangeShapeType="1" noTextEdit="1"/>
              </p:cNvSpPr>
              <p:nvPr/>
            </p:nvSpPr>
            <p:spPr>
              <a:xfrm>
                <a:off x="3977639" y="3429000"/>
                <a:ext cx="4206240" cy="1234440"/>
              </a:xfrm>
              <a:prstGeom prst="roundRect">
                <a:avLst>
                  <a:gd name="adj" fmla="val 25000"/>
                </a:avLst>
              </a:prstGeom>
              <a:blipFill>
                <a:blip r:embed="rId2"/>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9" name="TextBox 8"/>
          <p:cNvSpPr txBox="1"/>
          <p:nvPr/>
        </p:nvSpPr>
        <p:spPr>
          <a:xfrm>
            <a:off x="8549640" y="3703320"/>
            <a:ext cx="1828800" cy="365760"/>
          </a:xfrm>
          <a:prstGeom prst="rect">
            <a:avLst/>
          </a:prstGeom>
          <a:noFill/>
        </p:spPr>
        <p:txBody>
          <a:bodyPr wrap="square" lIns="0" tIns="0" rIns="0" bIns="0">
            <a:spAutoFit/>
          </a:bodyPr>
          <a:lstStyle/>
          <a:p>
            <a:pPr algn="l"/>
            <a:r>
              <a:rPr sz="1800" b="1" i="0" u="none">
                <a:solidFill>
                  <a:srgbClr val="0070C0"/>
                </a:solidFill>
                <a:latin typeface="Calibri"/>
              </a:rPr>
              <a:t>Derivative</a:t>
            </a:r>
          </a:p>
        </p:txBody>
      </p:sp>
      <p:cxnSp>
        <p:nvCxnSpPr>
          <p:cNvPr id="10" name="Connector 9"/>
          <p:cNvCxnSpPr/>
          <p:nvPr/>
        </p:nvCxnSpPr>
        <p:spPr>
          <a:xfrm flipH="1">
            <a:off x="7909560" y="3886200"/>
            <a:ext cx="594360" cy="91439"/>
          </a:xfrm>
          <a:prstGeom prst="line">
            <a:avLst/>
          </a:prstGeom>
          <a:ln w="22225">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9159" y="5166360"/>
            <a:ext cx="11338560" cy="73152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a:latin typeface="Calibri"/>
              </a:rPr>
              <a:t>How to compute </a:t>
            </a:r>
            <a:r>
              <a:rPr b="1" i="1">
                <a:latin typeface="Calibri"/>
              </a:rPr>
              <a:t>MR</a:t>
            </a:r>
            <a:r>
              <a:rPr b="1">
                <a:latin typeface="Calibri"/>
              </a:rPr>
              <a:t> : start from the demand function and use a 3-step method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0D79D32D-CBB0-5A36-872D-80D6EDC94917}"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Calculus Refresher: Derivatives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7" name="Group pair 117"/>
          <p:cNvGrpSpPr/>
          <p:nvPr/>
        </p:nvGrpSpPr>
        <p:grpSpPr>
          <a:xfrm>
            <a:off x="1615744" y="1481328"/>
            <a:ext cx="8961120" cy="1188720"/>
            <a:chOff x="1615744" y="1481328"/>
            <a:chExt cx="8961120" cy="1188720"/>
          </a:xfrm>
        </p:grpSpPr>
        <p:sp>
          <p:nvSpPr>
            <p:cNvPr id="7" name="Rounded Rectangle 6"/>
            <p:cNvSpPr/>
            <p:nvPr/>
          </p:nvSpPr>
          <p:spPr>
            <a:xfrm>
              <a:off x="1615744" y="1481328"/>
              <a:ext cx="8961120" cy="118872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98624" y="1737134"/>
              <a:ext cx="8595360" cy="677108"/>
            </a:xfrm>
            <a:prstGeom prst="rect">
              <a:avLst/>
            </a:prstGeom>
            <a:noFill/>
          </p:spPr>
          <p:txBody>
            <a:bodyPr wrap="square" lIns="45720" tIns="0" rIns="45720" bIns="0" anchor="ctr">
              <a:spAutoFit/>
            </a:bodyPr>
            <a:lstStyle/>
            <a:p>
              <a:pPr algn="ctr"/>
              <a:r>
                <a:rPr sz="2200" b="1" i="0" u="none" dirty="0">
                  <a:solidFill>
                    <a:srgbClr val="0B2B4E"/>
                  </a:solidFill>
                  <a:latin typeface="Calibri"/>
                </a:rPr>
                <a:t>A derivative measures a rate of change.</a:t>
              </a:r>
              <a:r>
                <a:rPr sz="2200" b="0" i="0" u="none" dirty="0">
                  <a:solidFill>
                    <a:srgbClr val="0B2B4E"/>
                  </a:solidFill>
                  <a:latin typeface="Calibri"/>
                </a:rPr>
                <a:t>
</a:t>
              </a:r>
              <a:r>
                <a:rPr sz="2200" b="0" i="0" u="none" dirty="0" err="1">
                  <a:solidFill>
                    <a:srgbClr val="0B2B4E"/>
                  </a:solidFill>
                  <a:latin typeface="Calibri"/>
                </a:rPr>
                <a:t>dY</a:t>
              </a:r>
              <a:r>
                <a:rPr sz="2200" b="0" i="0" u="none" dirty="0">
                  <a:solidFill>
                    <a:srgbClr val="0B2B4E"/>
                  </a:solidFill>
                  <a:latin typeface="Calibri"/>
                </a:rPr>
                <a:t>/</a:t>
              </a:r>
              <a:r>
                <a:rPr sz="2200" b="0" i="0" u="none" dirty="0" err="1">
                  <a:solidFill>
                    <a:srgbClr val="0B2B4E"/>
                  </a:solidFill>
                  <a:latin typeface="Calibri"/>
                </a:rPr>
                <a:t>dX</a:t>
              </a:r>
              <a:r>
                <a:rPr sz="2200" b="0" i="0" u="none" dirty="0">
                  <a:solidFill>
                    <a:srgbClr val="0B2B4E"/>
                  </a:solidFill>
                  <a:latin typeface="Calibri"/>
                </a:rPr>
                <a:t> is the change in </a:t>
              </a:r>
              <a:r>
                <a:rPr sz="2200" b="0" i="1" u="none" dirty="0">
                  <a:solidFill>
                    <a:srgbClr val="0B2B4E"/>
                  </a:solidFill>
                  <a:latin typeface="Calibri"/>
                </a:rPr>
                <a:t>Y</a:t>
              </a:r>
              <a:r>
                <a:rPr sz="2200" b="0" i="0" u="none" dirty="0">
                  <a:solidFill>
                    <a:srgbClr val="0B2B4E"/>
                  </a:solidFill>
                  <a:latin typeface="Calibri"/>
                </a:rPr>
                <a:t> caused by a small (marginal) change in </a:t>
              </a:r>
              <a:r>
                <a:rPr sz="2200" b="0" i="1" u="none" dirty="0">
                  <a:solidFill>
                    <a:srgbClr val="0B2B4E"/>
                  </a:solidFill>
                  <a:latin typeface="Calibri"/>
                </a:rPr>
                <a:t>X</a:t>
              </a:r>
              <a:endParaRPr sz="2200" b="0" i="0" u="none" dirty="0">
                <a:solidFill>
                  <a:srgbClr val="0B2B4E"/>
                </a:solidFill>
                <a:latin typeface="Calibri"/>
              </a:endParaRPr>
            </a:p>
          </p:txBody>
        </p:sp>
      </p:grpSp>
      <p:sp>
        <p:nvSpPr>
          <p:cNvPr id="9" name="TextBox 8"/>
          <p:cNvSpPr txBox="1"/>
          <p:nvPr/>
        </p:nvSpPr>
        <p:spPr>
          <a:xfrm>
            <a:off x="685800" y="2880360"/>
            <a:ext cx="5212080" cy="365760"/>
          </a:xfrm>
          <a:prstGeom prst="rect">
            <a:avLst/>
          </a:prstGeom>
          <a:noFill/>
        </p:spPr>
        <p:txBody>
          <a:bodyPr wrap="square" lIns="0" tIns="0" rIns="0" bIns="0">
            <a:spAutoFit/>
          </a:bodyPr>
          <a:lstStyle/>
          <a:p>
            <a:pPr algn="l"/>
            <a:r>
              <a:rPr sz="2200" b="1" i="0" u="none">
                <a:solidFill>
                  <a:srgbClr val="0B2B4E"/>
                </a:solidFill>
                <a:latin typeface="Calibri"/>
              </a:rPr>
              <a:t>The general rule</a:t>
            </a:r>
          </a:p>
        </p:txBody>
      </p:sp>
      <mc:AlternateContent xmlns:mc="http://schemas.openxmlformats.org/markup-compatibility/2006" xmlns:a14="http://schemas.microsoft.com/office/drawing/2010/main">
        <mc:Choice Requires="a14">
          <p:sp>
            <p:nvSpPr>
              <p:cNvPr id="10" name="TextBox 9"/>
              <p:cNvSpPr txBox="1"/>
              <p:nvPr/>
            </p:nvSpPr>
            <p:spPr>
              <a:xfrm>
                <a:off x="685800" y="3364992"/>
                <a:ext cx="5212080" cy="2103120"/>
              </a:xfrm>
              <a:prstGeom prst="rect">
                <a:avLst/>
              </a:prstGeom>
              <a:noFill/>
            </p:spPr>
            <p:txBody>
              <a:bodyPr wrap="square" lIns="45720" tIns="0" rIns="45720" bIns="0">
                <a:spAutoFit/>
              </a:bodyPr>
              <a:lstStyle/>
              <a:p>
                <a:r>
                  <a:rPr lang="en-US" sz="2100">
                    <a:solidFill>
                      <a:srgbClr val="0B2B4E"/>
                    </a:solidFill>
                    <a:latin typeface="Calibri"/>
                  </a:rPr>
                  <a:t>If   </a:t>
                </a:r>
                <a14:m>
                  <m:oMath xmlns:m="http://schemas.openxmlformats.org/officeDocument/2006/math">
                    <m:r>
                      <a:rPr lang="en-US" sz="2400" b="0" i="1">
                        <a:solidFill>
                          <a:srgbClr val="0B2B4E"/>
                        </a:solidFill>
                        <a:latin typeface="Cambria Math"/>
                        <a:ea typeface="Cambria Math"/>
                      </a:rPr>
                      <m:t>𝑌</m:t>
                    </m:r>
                    <m:r>
                      <a:rPr lang="en-US" sz="2400" b="0" i="0">
                        <a:solidFill>
                          <a:srgbClr val="0B2B4E"/>
                        </a:solidFill>
                        <a:latin typeface="Cambria Math"/>
                      </a:rPr>
                      <m:t> = </m:t>
                    </m:r>
                    <m:r>
                      <a:rPr lang="en-US" sz="2400" b="0" i="1">
                        <a:solidFill>
                          <a:srgbClr val="0B2B4E"/>
                        </a:solidFill>
                        <a:latin typeface="Cambria Math"/>
                        <a:ea typeface="Cambria Math"/>
                      </a:rPr>
                      <m:t>𝑎</m:t>
                    </m:r>
                    <m:r>
                      <a:rPr lang="en-US" sz="2400" b="0" i="0">
                        <a:solidFill>
                          <a:srgbClr val="0B2B4E"/>
                        </a:solidFill>
                        <a:latin typeface="Cambria Math"/>
                      </a:rPr>
                      <m:t> + </m:t>
                    </m:r>
                    <m:r>
                      <a:rPr lang="en-US" sz="2400" b="0" i="1">
                        <a:solidFill>
                          <a:srgbClr val="0B2B4E"/>
                        </a:solidFill>
                        <a:latin typeface="Cambria Math"/>
                        <a:ea typeface="Cambria Math"/>
                      </a:rPr>
                      <m:t>𝑏𝑋</m:t>
                    </m:r>
                    <m:r>
                      <a:rPr lang="en-US" sz="2400" b="0" i="0">
                        <a:solidFill>
                          <a:srgbClr val="0B2B4E"/>
                        </a:solidFill>
                        <a:latin typeface="Cambria Math"/>
                      </a:rPr>
                      <m:t> + </m:t>
                    </m:r>
                    <m:r>
                      <a:rPr lang="en-US" sz="2400" b="0" i="1">
                        <a:solidFill>
                          <a:srgbClr val="0B2B4E"/>
                        </a:solidFill>
                        <a:latin typeface="Cambria Math"/>
                        <a:ea typeface="Cambria Math"/>
                      </a:rPr>
                      <m:t>𝑐</m:t>
                    </m:r>
                    <m:sSup>
                      <m:sSupPr>
                        <m:ctrlPr>
                          <a:rPr lang="en-US" sz="2400" b="0" i="1">
                            <a:solidFill>
                              <a:srgbClr val="0B2B4E"/>
                            </a:solidFill>
                            <a:latin typeface="Cambria Math"/>
                            <a:ea typeface="Cambria Math"/>
                          </a:rPr>
                        </m:ctrlPr>
                      </m:sSupPr>
                      <m:e>
                        <m:r>
                          <a:rPr lang="en-US" sz="2400" b="0" i="1">
                            <a:solidFill>
                              <a:srgbClr val="0B2B4E"/>
                            </a:solidFill>
                            <a:latin typeface="Cambria Math"/>
                            <a:ea typeface="Cambria Math"/>
                          </a:rPr>
                          <m:t>𝑋</m:t>
                        </m:r>
                      </m:e>
                      <m:sup>
                        <m:r>
                          <a:rPr lang="en-US" sz="2400" b="0" i="0">
                            <a:solidFill>
                              <a:srgbClr val="0B2B4E"/>
                            </a:solidFill>
                            <a:latin typeface="Cambria Math"/>
                          </a:rPr>
                          <m:t>2</m:t>
                        </m:r>
                      </m:sup>
                    </m:sSup>
                  </m:oMath>
                </a14:m>
                <a:endParaRPr lang="en-US"/>
              </a:p>
              <a:p>
                <a:r>
                  <a:rPr lang="en-US" sz="1800">
                    <a:solidFill>
                      <a:srgbClr val="0B2B4E"/>
                    </a:solidFill>
                    <a:latin typeface="Calibri"/>
                  </a:rPr>
                  <a:t>with a, b, c constant,</a:t>
                </a:r>
                <a:endParaRPr lang="en-US"/>
              </a:p>
              <a:p>
                <a:endParaRPr lang="en-US"/>
              </a:p>
              <a:p>
                <a:r>
                  <a:rPr lang="en-US" sz="2100">
                    <a:solidFill>
                      <a:srgbClr val="0B2B4E"/>
                    </a:solidFill>
                    <a:latin typeface="Calibri"/>
                  </a:rPr>
                  <a:t>then   </a:t>
                </a:r>
                <a14:m>
                  <m:oMath xmlns:m="http://schemas.openxmlformats.org/officeDocument/2006/math">
                    <m:f>
                      <m:fPr>
                        <m:ctrlPr>
                          <a:rPr lang="en-US" sz="2400" b="0" i="1">
                            <a:solidFill>
                              <a:srgbClr val="0B2B4E"/>
                            </a:solidFill>
                            <a:latin typeface="Cambria Math"/>
                            <a:ea typeface="Cambria Math"/>
                          </a:rPr>
                        </m:ctrlPr>
                      </m:fPr>
                      <m:num>
                        <m:r>
                          <a:rPr lang="en-US" sz="2400" b="0" i="1">
                            <a:solidFill>
                              <a:srgbClr val="0B2B4E"/>
                            </a:solidFill>
                            <a:latin typeface="Cambria Math"/>
                            <a:ea typeface="Cambria Math"/>
                          </a:rPr>
                          <m:t>𝑑𝑌</m:t>
                        </m:r>
                      </m:num>
                      <m:den>
                        <m:r>
                          <a:rPr lang="en-US" sz="2400" b="0" i="1">
                            <a:solidFill>
                              <a:srgbClr val="0B2B4E"/>
                            </a:solidFill>
                            <a:latin typeface="Cambria Math"/>
                            <a:ea typeface="Cambria Math"/>
                          </a:rPr>
                          <m:t>𝑑𝑋</m:t>
                        </m:r>
                      </m:den>
                    </m:f>
                    <m:r>
                      <a:rPr lang="en-US" sz="2400" b="0" i="0">
                        <a:solidFill>
                          <a:srgbClr val="0B2B4E"/>
                        </a:solidFill>
                        <a:latin typeface="Cambria Math"/>
                      </a:rPr>
                      <m:t> = </m:t>
                    </m:r>
                    <m:r>
                      <a:rPr lang="en-US" sz="2400" b="0" i="1">
                        <a:solidFill>
                          <a:srgbClr val="0B2B4E"/>
                        </a:solidFill>
                        <a:latin typeface="Cambria Math"/>
                        <a:ea typeface="Cambria Math"/>
                      </a:rPr>
                      <m:t>𝑏</m:t>
                    </m:r>
                    <m:r>
                      <a:rPr lang="en-US" sz="2400" b="0" i="0">
                        <a:solidFill>
                          <a:srgbClr val="0B2B4E"/>
                        </a:solidFill>
                        <a:latin typeface="Cambria Math"/>
                      </a:rPr>
                      <m:t> + 2</m:t>
                    </m:r>
                    <m:r>
                      <a:rPr lang="en-US" sz="2400" b="0" i="1">
                        <a:solidFill>
                          <a:srgbClr val="0B2B4E"/>
                        </a:solidFill>
                        <a:latin typeface="Cambria Math"/>
                        <a:ea typeface="Cambria Math"/>
                      </a:rPr>
                      <m:t>𝑐𝑋</m:t>
                    </m:r>
                  </m:oMath>
                </a14:m>
                <a:endParaRPr lang="en-US"/>
              </a:p>
            </p:txBody>
          </p:sp>
        </mc:Choice>
        <mc:Fallback xmlns="">
          <p:sp>
            <p:nvSpPr>
              <p:cNvPr id="10" name="TextBox 9"/>
              <p:cNvSpPr txBox="1">
                <a:spLocks noRot="1" noChangeAspect="1" noMove="1" noResize="1" noEditPoints="1" noAdjustHandles="1" noChangeArrowheads="1" noChangeShapeType="1" noTextEdit="1"/>
              </p:cNvSpPr>
              <p:nvPr/>
            </p:nvSpPr>
            <p:spPr>
              <a:xfrm>
                <a:off x="685800" y="3364992"/>
                <a:ext cx="5212080" cy="2103120"/>
              </a:xfrm>
              <a:prstGeom prst="rect">
                <a:avLst/>
              </a:prstGeom>
              <a:blipFill>
                <a:blip r:embed="rId2"/>
                <a:stretch>
                  <a:fillRect l="-2339" t="-2319"/>
                </a:stretch>
              </a:blipFill>
            </p:spPr>
            <p:txBody>
              <a:bodyPr/>
              <a:lstStyle/>
              <a:p>
                <a:r>
                  <a:rPr lang="en-US">
                    <a:noFill/>
                  </a:rPr>
                  <a:t> </a:t>
                </a:r>
              </a:p>
            </p:txBody>
          </p:sp>
        </mc:Fallback>
      </mc:AlternateContent>
      <p:sp>
        <p:nvSpPr>
          <p:cNvPr id="11" name="TextBox 10"/>
          <p:cNvSpPr txBox="1"/>
          <p:nvPr/>
        </p:nvSpPr>
        <p:spPr>
          <a:xfrm>
            <a:off x="6446520" y="2880360"/>
            <a:ext cx="5074920" cy="365760"/>
          </a:xfrm>
          <a:prstGeom prst="rect">
            <a:avLst/>
          </a:prstGeom>
          <a:noFill/>
        </p:spPr>
        <p:txBody>
          <a:bodyPr wrap="square" lIns="0" tIns="0" rIns="0" bIns="0">
            <a:spAutoFit/>
          </a:bodyPr>
          <a:lstStyle/>
          <a:p>
            <a:pPr algn="l"/>
            <a:r>
              <a:rPr sz="2200" b="1" i="0" u="none">
                <a:solidFill>
                  <a:srgbClr val="0B2B4E"/>
                </a:solidFill>
                <a:latin typeface="Calibri"/>
              </a:rPr>
              <a:t>A worked example</a:t>
            </a:r>
          </a:p>
        </p:txBody>
      </p:sp>
      <mc:AlternateContent xmlns:mc="http://schemas.openxmlformats.org/markup-compatibility/2006" xmlns:a14="http://schemas.microsoft.com/office/drawing/2010/main">
        <mc:Choice Requires="a14">
          <p:sp>
            <p:nvSpPr>
              <p:cNvPr id="12" name="TextBox 11"/>
              <p:cNvSpPr txBox="1"/>
              <p:nvPr/>
            </p:nvSpPr>
            <p:spPr>
              <a:xfrm>
                <a:off x="6446520" y="3364992"/>
                <a:ext cx="5074920" cy="2103120"/>
              </a:xfrm>
              <a:prstGeom prst="rect">
                <a:avLst/>
              </a:prstGeom>
              <a:noFill/>
            </p:spPr>
            <p:txBody>
              <a:bodyPr wrap="square" lIns="45720" tIns="0" rIns="45720" bIns="0">
                <a:spAutoFit/>
              </a:bodyPr>
              <a:lstStyle/>
              <a:p>
                <a:r>
                  <a:rPr lang="en-US" sz="1800">
                    <a:solidFill>
                      <a:srgbClr val="0B2B4E"/>
                    </a:solidFill>
                    <a:latin typeface="Calibri"/>
                  </a:rPr>
                  <a:t>With a = 1, b = 3, c = 2:</a:t>
                </a:r>
                <a:endParaRPr lang="en-US"/>
              </a:p>
              <a:p>
                <a:pPr/>
                <a14:m>
                  <m:oMathPara xmlns:m="http://schemas.openxmlformats.org/officeDocument/2006/math">
                    <m:oMath>
                      <m:r>
                        <a:rPr lang="en-US" sz="2400" b="0" i="1">
                          <a:solidFill>
                            <a:srgbClr val="0B2B4E"/>
                          </a:solidFill>
                          <a:latin typeface="Cambria Math"/>
                          <a:ea typeface="Cambria Math"/>
                        </a:rPr>
                        <m:t>𝑌</m:t>
                      </m:r>
                      <m:r>
                        <a:rPr lang="en-US" sz="2400" b="0" i="0">
                          <a:solidFill>
                            <a:srgbClr val="0B2B4E"/>
                          </a:solidFill>
                          <a:latin typeface="Cambria Math"/>
                        </a:rPr>
                        <m:t> = 1 + 3</m:t>
                      </m:r>
                      <m:r>
                        <a:rPr lang="en-US" sz="2400" b="0" i="1">
                          <a:solidFill>
                            <a:srgbClr val="0B2B4E"/>
                          </a:solidFill>
                          <a:latin typeface="Cambria Math"/>
                          <a:ea typeface="Cambria Math"/>
                        </a:rPr>
                        <m:t>𝑋</m:t>
                      </m:r>
                      <m:r>
                        <a:rPr lang="en-US" sz="2400" b="0" i="0">
                          <a:solidFill>
                            <a:srgbClr val="0B2B4E"/>
                          </a:solidFill>
                          <a:latin typeface="Cambria Math"/>
                        </a:rPr>
                        <m:t> + 2</m:t>
                      </m:r>
                      <m:sSup>
                        <m:sSupPr>
                          <m:ctrlPr>
                            <a:rPr lang="en-US" sz="2400" b="0" i="1">
                              <a:solidFill>
                                <a:srgbClr val="0B2B4E"/>
                              </a:solidFill>
                              <a:latin typeface="Cambria Math"/>
                              <a:ea typeface="Cambria Math"/>
                            </a:rPr>
                          </m:ctrlPr>
                        </m:sSupPr>
                        <m:e>
                          <m:r>
                            <a:rPr lang="en-US" sz="2400" b="0" i="1">
                              <a:solidFill>
                                <a:srgbClr val="0B2B4E"/>
                              </a:solidFill>
                              <a:latin typeface="Cambria Math"/>
                              <a:ea typeface="Cambria Math"/>
                            </a:rPr>
                            <m:t>𝑋</m:t>
                          </m:r>
                        </m:e>
                        <m:sup>
                          <m:r>
                            <a:rPr lang="en-US" sz="2400" b="0" i="0">
                              <a:solidFill>
                                <a:srgbClr val="0B2B4E"/>
                              </a:solidFill>
                              <a:latin typeface="Cambria Math"/>
                            </a:rPr>
                            <m:t>2</m:t>
                          </m:r>
                        </m:sup>
                      </m:sSup>
                    </m:oMath>
                  </m:oMathPara>
                </a14:m>
                <a:endParaRPr lang="en-US"/>
              </a:p>
              <a:p>
                <a:endParaRPr lang="en-US"/>
              </a:p>
              <a:p>
                <a:pPr/>
                <a14:m>
                  <m:oMathPara xmlns:m="http://schemas.openxmlformats.org/officeDocument/2006/math">
                    <m:oMath>
                      <m:f>
                        <m:fPr>
                          <m:ctrlPr>
                            <a:rPr lang="en-US" sz="2400" b="0" i="1">
                              <a:solidFill>
                                <a:srgbClr val="0B2B4E"/>
                              </a:solidFill>
                              <a:latin typeface="Cambria Math"/>
                              <a:ea typeface="Cambria Math"/>
                            </a:rPr>
                          </m:ctrlPr>
                        </m:fPr>
                        <m:num>
                          <m:r>
                            <a:rPr lang="en-US" sz="2400" b="0" i="1">
                              <a:solidFill>
                                <a:srgbClr val="0B2B4E"/>
                              </a:solidFill>
                              <a:latin typeface="Cambria Math"/>
                              <a:ea typeface="Cambria Math"/>
                            </a:rPr>
                            <m:t>𝑑𝑌</m:t>
                          </m:r>
                        </m:num>
                        <m:den>
                          <m:r>
                            <a:rPr lang="en-US" sz="2400" b="0" i="1">
                              <a:solidFill>
                                <a:srgbClr val="0B2B4E"/>
                              </a:solidFill>
                              <a:latin typeface="Cambria Math"/>
                              <a:ea typeface="Cambria Math"/>
                            </a:rPr>
                            <m:t>𝑑𝑋</m:t>
                          </m:r>
                        </m:den>
                      </m:f>
                      <m:r>
                        <a:rPr lang="en-US" sz="2400" b="0" i="0">
                          <a:solidFill>
                            <a:srgbClr val="0B2B4E"/>
                          </a:solidFill>
                          <a:latin typeface="Cambria Math"/>
                        </a:rPr>
                        <m:t> = 3 + 2⋅2⋅</m:t>
                      </m:r>
                      <m:r>
                        <a:rPr lang="en-US" sz="2400" b="0" i="1">
                          <a:solidFill>
                            <a:srgbClr val="0B2B4E"/>
                          </a:solidFill>
                          <a:latin typeface="Cambria Math"/>
                          <a:ea typeface="Cambria Math"/>
                        </a:rPr>
                        <m:t>𝑋</m:t>
                      </m:r>
                      <m:r>
                        <a:rPr lang="en-US" sz="2400" b="0" i="0">
                          <a:solidFill>
                            <a:srgbClr val="0B2B4E"/>
                          </a:solidFill>
                          <a:latin typeface="Cambria Math"/>
                        </a:rPr>
                        <m:t> = 3 + 4</m:t>
                      </m:r>
                      <m:r>
                        <a:rPr lang="en-US" sz="2400" b="0" i="1">
                          <a:solidFill>
                            <a:srgbClr val="0B2B4E"/>
                          </a:solidFill>
                          <a:latin typeface="Cambria Math"/>
                          <a:ea typeface="Cambria Math"/>
                        </a:rPr>
                        <m:t>𝑋</m:t>
                      </m:r>
                    </m:oMath>
                  </m:oMathPara>
                </a14:m>
                <a:endParaRPr lang="en-US"/>
              </a:p>
            </p:txBody>
          </p:sp>
        </mc:Choice>
        <mc:Fallback xmlns="">
          <p:sp>
            <p:nvSpPr>
              <p:cNvPr id="12" name="TextBox 11"/>
              <p:cNvSpPr txBox="1">
                <a:spLocks noRot="1" noChangeAspect="1" noMove="1" noResize="1" noEditPoints="1" noAdjustHandles="1" noChangeArrowheads="1" noChangeShapeType="1" noTextEdit="1"/>
              </p:cNvSpPr>
              <p:nvPr/>
            </p:nvSpPr>
            <p:spPr>
              <a:xfrm>
                <a:off x="6446520" y="3364992"/>
                <a:ext cx="5074920" cy="2103120"/>
              </a:xfrm>
              <a:prstGeom prst="rect">
                <a:avLst/>
              </a:prstGeom>
              <a:blipFill>
                <a:blip r:embed="rId3"/>
                <a:stretch>
                  <a:fillRect l="-1923" t="-3768"/>
                </a:stretch>
              </a:blipFill>
            </p:spPr>
            <p:txBody>
              <a:bodyPr/>
              <a:lstStyle/>
              <a:p>
                <a:r>
                  <a:rPr lang="en-US">
                    <a:noFill/>
                  </a:rPr>
                  <a:t> </a:t>
                </a:r>
              </a:p>
            </p:txBody>
          </p:sp>
        </mc:Fallback>
      </mc:AlternateContent>
      <p:sp>
        <p:nvSpPr>
          <p:cNvPr id="13" name="Rounded Rectangle 12"/>
          <p:cNvSpPr/>
          <p:nvPr/>
        </p:nvSpPr>
        <p:spPr>
          <a:xfrm>
            <a:off x="4160520" y="5806440"/>
            <a:ext cx="3886200" cy="50292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  See TA’s Math Review Videos</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7" name="TextBox 16"/>
          <p:cNvSpPr txBox="1"/>
          <p:nvPr/>
        </p:nvSpPr>
        <p:spPr>
          <a:xfrm>
            <a:off x="11475720" y="6583680"/>
            <a:ext cx="502920" cy="292608"/>
          </a:xfrm>
          <a:prstGeom prst="rect">
            <a:avLst/>
          </a:prstGeom>
          <a:noFill/>
        </p:spPr>
        <p:txBody>
          <a:bodyPr wrap="none" lIns="0" tIns="0" rIns="0" bIns="0">
            <a:spAutoFit/>
          </a:bodyPr>
          <a:lstStyle/>
          <a:p>
            <a:pPr algn="r"/>
            <a:fld id="{5DCA6EF3-CA19-5683-AC1B-F9B07305DAD0}"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3-Step Method </a:t>
            </a:r>
            <a:r>
              <a:rPr lang="en-US" sz="3200" b="1" i="0" u="none">
                <a:solidFill>
                  <a:srgbClr val="0B2B4E"/>
                </a:solidFill>
                <a:latin typeface="Calibri"/>
              </a:rPr>
              <a:t>to Compute Marginal Revenue</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0" name="Group pair 120"/>
          <p:cNvGrpSpPr/>
          <p:nvPr/>
        </p:nvGrpSpPr>
        <p:grpSpPr>
          <a:xfrm>
            <a:off x="389159" y="1417320"/>
            <a:ext cx="5394960" cy="685800"/>
            <a:chOff x="389159" y="1417320"/>
            <a:chExt cx="5394960" cy="685800"/>
          </a:xfrm>
        </p:grpSpPr>
        <p:sp>
          <p:nvSpPr>
            <p:cNvPr id="7" name="Rounded Rectangle 6"/>
            <p:cNvSpPr/>
            <p:nvPr/>
          </p:nvSpPr>
          <p:spPr>
            <a:xfrm>
              <a:off x="389159" y="1417320"/>
              <a:ext cx="5394960" cy="6858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2039" y="1527048"/>
              <a:ext cx="5029200" cy="466344"/>
            </a:xfrm>
            <a:prstGeom prst="rect">
              <a:avLst/>
            </a:prstGeom>
            <a:noFill/>
          </p:spPr>
          <p:txBody>
            <a:bodyPr wrap="square" lIns="45720" tIns="0" rIns="45720" bIns="0" anchor="ctr">
              <a:spAutoFit/>
            </a:bodyPr>
            <a:lstStyle/>
            <a:p>
              <a:pPr algn="l"/>
              <a:r>
                <a:rPr sz="1800" b="1" i="0" u="none">
                  <a:solidFill>
                    <a:srgbClr val="0B2B4E"/>
                  </a:solidFill>
                  <a:latin typeface="Calibri"/>
                </a:rPr>
                <a:t>Suppose demand is:   Q = 1,600 − 4P</a:t>
              </a:r>
            </a:p>
          </p:txBody>
        </p:sp>
      </p:grpSp>
      <p:sp>
        <p:nvSpPr>
          <p:cNvPr id="9" name="TextBox 8"/>
          <p:cNvSpPr txBox="1"/>
          <p:nvPr/>
        </p:nvSpPr>
        <p:spPr>
          <a:xfrm>
            <a:off x="389159" y="2304288"/>
            <a:ext cx="5349240" cy="618118"/>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dirty="0">
                <a:solidFill>
                  <a:srgbClr val="0B2B4E"/>
                </a:solidFill>
                <a:latin typeface="Calibri"/>
              </a:rPr>
              <a:t>Step 1:  Calculate inverse demand</a:t>
            </a:r>
            <a:r>
              <a:rPr sz="1900" dirty="0">
                <a:solidFill>
                  <a:srgbClr val="0B2B4E"/>
                </a:solidFill>
                <a:latin typeface="Calibri"/>
              </a:rPr>
              <a:t> (solve for P)</a:t>
            </a:r>
          </a:p>
          <a:p>
            <a:pPr algn="l">
              <a:spcBef>
                <a:spcPts val="500"/>
              </a:spcBef>
              <a:buNone/>
            </a:pPr>
            <a:r>
              <a:rPr sz="1700" dirty="0">
                <a:solidFill>
                  <a:srgbClr val="555B66"/>
                </a:solidFill>
                <a:latin typeface="Calibri"/>
              </a:rPr>
              <a:t>Rearrange demand so </a:t>
            </a:r>
            <a:r>
              <a:rPr sz="1700" i="1" dirty="0">
                <a:solidFill>
                  <a:srgbClr val="555B66"/>
                </a:solidFill>
                <a:latin typeface="Calibri"/>
              </a:rPr>
              <a:t>P</a:t>
            </a:r>
            <a:r>
              <a:rPr sz="1700" dirty="0">
                <a:solidFill>
                  <a:srgbClr val="555B66"/>
                </a:solidFill>
                <a:latin typeface="Calibri"/>
              </a:rPr>
              <a:t> is a function of </a:t>
            </a:r>
            <a:r>
              <a:rPr sz="1700" i="1" dirty="0">
                <a:solidFill>
                  <a:srgbClr val="555B66"/>
                </a:solidFill>
                <a:latin typeface="Calibri"/>
              </a:rPr>
              <a:t>Q</a:t>
            </a:r>
            <a:r>
              <a:rPr lang="en-US" sz="1700" i="1" dirty="0">
                <a:solidFill>
                  <a:srgbClr val="555B66"/>
                </a:solidFill>
                <a:latin typeface="Calibri"/>
              </a:rPr>
              <a:t>:  P(Q)</a:t>
            </a:r>
            <a:endParaRPr sz="1700" i="1" dirty="0">
              <a:solidFill>
                <a:srgbClr val="555B66"/>
              </a:solidFill>
              <a:latin typeface="Calibri"/>
            </a:endParaRPr>
          </a:p>
        </p:txBody>
      </p:sp>
      <mc:AlternateContent xmlns:mc="http://schemas.openxmlformats.org/markup-compatibility/2006" xmlns:a14="http://schemas.microsoft.com/office/drawing/2010/main">
        <mc:Choice Requires="a14">
          <p:sp>
            <p:nvSpPr>
              <p:cNvPr id="10" name="TextBox 9"/>
              <p:cNvSpPr txBox="1"/>
              <p:nvPr/>
            </p:nvSpPr>
            <p:spPr>
              <a:xfrm>
                <a:off x="5897880" y="2212848"/>
                <a:ext cx="5760720" cy="1051560"/>
              </a:xfrm>
              <a:prstGeom prst="roundRect">
                <a:avLst>
                  <a:gd name="adj" fmla="val 25000"/>
                </a:avLst>
              </a:prstGeom>
              <a:solidFill>
                <a:srgbClr val="FDF6E6"/>
              </a:solidFill>
              <a:ln w="9525">
                <a:solidFill>
                  <a:srgbClr val="0B2B4E"/>
                </a:solidFill>
              </a:ln>
            </p:spPr>
            <p:txBody>
              <a:bodyPr wrap="square" anchor="ctr">
                <a:spAutoFit/>
              </a:bodyPr>
              <a:lstStyle/>
              <a:p>
                <a:pPr algn="ctr">
                  <a:defRPr sz="2100" b="0" i="1">
                    <a:solidFill>
                      <a:srgbClr val="0B2B4E"/>
                    </a:solidFill>
                    <a:latin typeface="Cambria Math"/>
                  </a:defRPr>
                </a:pPr>
                <a14:m>
                  <m:oMathPara xmlns:m="http://schemas.openxmlformats.org/officeDocument/2006/math">
                    <m:oMath>
                      <m:r>
                        <a:rPr lang="en-US" sz="2100" b="0" i="1">
                          <a:solidFill>
                            <a:srgbClr val="0B2B4E"/>
                          </a:solidFill>
                          <a:latin typeface="Cambria Math"/>
                          <a:ea typeface="Cambria Math"/>
                        </a:rPr>
                        <m:t>𝑃</m:t>
                      </m:r>
                      <m:r>
                        <a:rPr lang="en-US" sz="2100" b="0" i="0">
                          <a:solidFill>
                            <a:srgbClr val="0B2B4E"/>
                          </a:solidFill>
                          <a:latin typeface="Cambria Math"/>
                        </a:rPr>
                        <m:t> = 400 − </m:t>
                      </m:r>
                      <m:f>
                        <m:fPr>
                          <m:ctrlPr>
                            <a:rPr lang="en-US" sz="2100" b="0" i="0">
                              <a:solidFill>
                                <a:srgbClr val="0B2B4E"/>
                              </a:solidFill>
                              <a:latin typeface="Cambria Math"/>
                            </a:rPr>
                          </m:ctrlPr>
                        </m:fPr>
                        <m:num>
                          <m:r>
                            <a:rPr lang="en-US" sz="2100" b="0" i="0">
                              <a:solidFill>
                                <a:srgbClr val="0B2B4E"/>
                              </a:solidFill>
                              <a:latin typeface="Cambria Math"/>
                            </a:rPr>
                            <m:t>1</m:t>
                          </m:r>
                        </m:num>
                        <m:den>
                          <m:r>
                            <a:rPr lang="en-US" sz="2100" b="0" i="0">
                              <a:solidFill>
                                <a:srgbClr val="0B2B4E"/>
                              </a:solidFill>
                              <a:latin typeface="Cambria Math"/>
                            </a:rPr>
                            <m:t>4</m:t>
                          </m:r>
                        </m:den>
                      </m:f>
                      <m:r>
                        <a:rPr lang="en-US" sz="2100" b="0" i="1">
                          <a:solidFill>
                            <a:srgbClr val="0B2B4E"/>
                          </a:solidFill>
                          <a:latin typeface="Cambria Math"/>
                          <a:ea typeface="Cambria Math"/>
                        </a:rPr>
                        <m:t>𝑄</m:t>
                      </m:r>
                    </m:oMath>
                  </m:oMathPara>
                </a14:m>
                <a:endParaRPr lang="en-US" sz="2100"/>
              </a:p>
            </p:txBody>
          </p:sp>
        </mc:Choice>
        <mc:Fallback xmlns="">
          <p:sp>
            <p:nvSpPr>
              <p:cNvPr id="10" name="TextBox 9"/>
              <p:cNvSpPr txBox="1">
                <a:spLocks noRot="1" noChangeAspect="1" noMove="1" noResize="1" noEditPoints="1" noAdjustHandles="1" noChangeArrowheads="1" noChangeShapeType="1" noTextEdit="1"/>
              </p:cNvSpPr>
              <p:nvPr/>
            </p:nvSpPr>
            <p:spPr>
              <a:xfrm>
                <a:off x="5897880" y="2212848"/>
                <a:ext cx="5760720" cy="1051560"/>
              </a:xfrm>
              <a:prstGeom prst="roundRect">
                <a:avLst>
                  <a:gd name="adj" fmla="val 25000"/>
                </a:avLst>
              </a:prstGeom>
              <a:blipFill>
                <a:blip r:embed="rId3"/>
                <a:stretch>
                  <a:fillRect/>
                </a:stretch>
              </a:blipFill>
              <a:ln w="9525">
                <a:solidFill>
                  <a:srgbClr val="0B2B4E"/>
                </a:solidFill>
              </a:ln>
            </p:spPr>
            <p:txBody>
              <a:bodyPr/>
              <a:lstStyle/>
              <a:p>
                <a:r>
                  <a:rPr lang="en-US">
                    <a:noFill/>
                  </a:rPr>
                  <a:t> </a:t>
                </a:r>
              </a:p>
            </p:txBody>
          </p:sp>
        </mc:Fallback>
      </mc:AlternateContent>
      <p:sp>
        <p:nvSpPr>
          <p:cNvPr id="11" name="TextBox 10"/>
          <p:cNvSpPr txBox="1"/>
          <p:nvPr/>
        </p:nvSpPr>
        <p:spPr>
          <a:xfrm>
            <a:off x="389159" y="3584448"/>
            <a:ext cx="5349240" cy="879728"/>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dirty="0">
                <a:solidFill>
                  <a:srgbClr val="0B2B4E"/>
                </a:solidFill>
                <a:latin typeface="Calibri"/>
              </a:rPr>
              <a:t>Step 2:  Calculate total revenue </a:t>
            </a:r>
            <a:r>
              <a:rPr sz="1900" dirty="0">
                <a:solidFill>
                  <a:srgbClr val="0B2B4E"/>
                </a:solidFill>
                <a:latin typeface="Calibri"/>
              </a:rPr>
              <a:t>(multiply P</a:t>
            </a:r>
            <a:r>
              <a:rPr lang="en-US" sz="1900" dirty="0">
                <a:solidFill>
                  <a:srgbClr val="0B2B4E"/>
                </a:solidFill>
                <a:latin typeface="Calibri"/>
              </a:rPr>
              <a:t>(Q)</a:t>
            </a:r>
            <a:r>
              <a:rPr sz="1900" dirty="0">
                <a:solidFill>
                  <a:srgbClr val="0B2B4E"/>
                </a:solidFill>
                <a:latin typeface="Calibri"/>
              </a:rPr>
              <a:t> by Q)</a:t>
            </a:r>
          </a:p>
          <a:p>
            <a:pPr algn="l">
              <a:spcBef>
                <a:spcPts val="500"/>
              </a:spcBef>
              <a:buNone/>
            </a:pPr>
            <a:r>
              <a:rPr sz="1700" i="1" dirty="0">
                <a:solidFill>
                  <a:srgbClr val="555B66"/>
                </a:solidFill>
                <a:latin typeface="Calibri"/>
              </a:rPr>
              <a:t>TR = P · Q</a:t>
            </a:r>
            <a:r>
              <a:rPr sz="1700" dirty="0">
                <a:solidFill>
                  <a:srgbClr val="555B66"/>
                </a:solidFill>
                <a:latin typeface="Calibri"/>
              </a:rPr>
              <a:t>; replace P with inverse demand so TR is a function of </a:t>
            </a:r>
            <a:r>
              <a:rPr sz="1700" i="1" dirty="0">
                <a:solidFill>
                  <a:srgbClr val="555B66"/>
                </a:solidFill>
                <a:latin typeface="Calibri"/>
              </a:rPr>
              <a:t>Q</a:t>
            </a:r>
            <a:r>
              <a:rPr sz="1700" dirty="0">
                <a:solidFill>
                  <a:srgbClr val="555B66"/>
                </a:solidFill>
                <a:latin typeface="Calibri"/>
              </a:rPr>
              <a:t> only</a:t>
            </a:r>
          </a:p>
        </p:txBody>
      </p:sp>
      <mc:AlternateContent xmlns:mc="http://schemas.openxmlformats.org/markup-compatibility/2006" xmlns:a14="http://schemas.microsoft.com/office/drawing/2010/main">
        <mc:Choice Requires="a14">
          <p:sp>
            <p:nvSpPr>
              <p:cNvPr id="12" name="TextBox 11"/>
              <p:cNvSpPr txBox="1"/>
              <p:nvPr/>
            </p:nvSpPr>
            <p:spPr>
              <a:xfrm>
                <a:off x="5897880" y="3493008"/>
                <a:ext cx="5760720" cy="1051560"/>
              </a:xfrm>
              <a:prstGeom prst="roundRect">
                <a:avLst>
                  <a:gd name="adj" fmla="val 25000"/>
                </a:avLst>
              </a:prstGeom>
              <a:solidFill>
                <a:srgbClr val="FDF6E6"/>
              </a:solidFill>
              <a:ln w="9525">
                <a:solidFill>
                  <a:srgbClr val="0B2B4E"/>
                </a:solidFill>
              </a:ln>
            </p:spPr>
            <p:txBody>
              <a:bodyPr wrap="square" anchor="ctr">
                <a:spAutoFit/>
              </a:bodyPr>
              <a:lstStyle/>
              <a:p>
                <a:pPr algn="ctr">
                  <a:defRPr sz="2100" b="0" i="1">
                    <a:solidFill>
                      <a:srgbClr val="0B2B4E"/>
                    </a:solidFill>
                    <a:latin typeface="Cambria Math"/>
                  </a:defRPr>
                </a:pPr>
                <a14:m>
                  <m:oMathPara xmlns:m="http://schemas.openxmlformats.org/officeDocument/2006/math">
                    <m:oMath>
                      <m:r>
                        <m:rPr>
                          <m:sty m:val="p"/>
                        </m:rPr>
                        <a:rPr lang="en-US" sz="2100" b="0" i="0">
                          <a:solidFill>
                            <a:srgbClr val="0B2B4E"/>
                          </a:solidFill>
                          <a:latin typeface="Cambria Math"/>
                        </a:rPr>
                        <m:t>TR</m:t>
                      </m:r>
                      <m:r>
                        <a:rPr lang="en-US" sz="2100" b="0" i="0">
                          <a:solidFill>
                            <a:srgbClr val="0B2B4E"/>
                          </a:solidFill>
                          <a:latin typeface="Cambria Math"/>
                        </a:rPr>
                        <m:t> = (400 − </m:t>
                      </m:r>
                      <m:f>
                        <m:fPr>
                          <m:ctrlPr>
                            <a:rPr lang="en-US" sz="2100" b="0" i="0">
                              <a:solidFill>
                                <a:srgbClr val="0B2B4E"/>
                              </a:solidFill>
                              <a:latin typeface="Cambria Math"/>
                            </a:rPr>
                          </m:ctrlPr>
                        </m:fPr>
                        <m:num>
                          <m:r>
                            <a:rPr lang="en-US" sz="2100" b="0" i="0">
                              <a:solidFill>
                                <a:srgbClr val="0B2B4E"/>
                              </a:solidFill>
                              <a:latin typeface="Cambria Math"/>
                            </a:rPr>
                            <m:t>1</m:t>
                          </m:r>
                        </m:num>
                        <m:den>
                          <m:r>
                            <a:rPr lang="en-US" sz="2100" b="0" i="0">
                              <a:solidFill>
                                <a:srgbClr val="0B2B4E"/>
                              </a:solidFill>
                              <a:latin typeface="Cambria Math"/>
                            </a:rPr>
                            <m:t>4</m:t>
                          </m:r>
                        </m:den>
                      </m:f>
                      <m:r>
                        <a:rPr lang="en-US" sz="2100" b="0" i="1">
                          <a:solidFill>
                            <a:srgbClr val="0B2B4E"/>
                          </a:solidFill>
                          <a:latin typeface="Cambria Math"/>
                          <a:ea typeface="Cambria Math"/>
                        </a:rPr>
                        <m:t>𝑄</m:t>
                      </m:r>
                      <m:r>
                        <a:rPr lang="en-US" sz="2100" b="0" i="0">
                          <a:solidFill>
                            <a:srgbClr val="0B2B4E"/>
                          </a:solidFill>
                          <a:latin typeface="Cambria Math"/>
                        </a:rPr>
                        <m:t>) ∙ </m:t>
                      </m:r>
                      <m:r>
                        <a:rPr lang="en-US" sz="2100" b="0" i="1">
                          <a:solidFill>
                            <a:srgbClr val="0B2B4E"/>
                          </a:solidFill>
                          <a:latin typeface="Cambria Math"/>
                          <a:ea typeface="Cambria Math"/>
                        </a:rPr>
                        <m:t>𝑄</m:t>
                      </m:r>
                      <m:r>
                        <a:rPr lang="en-US" sz="2100" b="0" i="0">
                          <a:solidFill>
                            <a:srgbClr val="0B2B4E"/>
                          </a:solidFill>
                          <a:latin typeface="Cambria Math"/>
                        </a:rPr>
                        <m:t> = 400∙</m:t>
                      </m:r>
                      <m:r>
                        <a:rPr lang="en-US" sz="2100" b="0" i="1">
                          <a:solidFill>
                            <a:srgbClr val="0B2B4E"/>
                          </a:solidFill>
                          <a:latin typeface="Cambria Math"/>
                          <a:ea typeface="Cambria Math"/>
                        </a:rPr>
                        <m:t>𝑄</m:t>
                      </m:r>
                      <m:r>
                        <a:rPr lang="en-US" sz="2100" b="0" i="0">
                          <a:solidFill>
                            <a:srgbClr val="0B2B4E"/>
                          </a:solidFill>
                          <a:latin typeface="Cambria Math"/>
                        </a:rPr>
                        <m:t> − </m:t>
                      </m:r>
                      <m:f>
                        <m:fPr>
                          <m:ctrlPr>
                            <a:rPr lang="en-US" sz="2100" b="0" i="0">
                              <a:solidFill>
                                <a:srgbClr val="0B2B4E"/>
                              </a:solidFill>
                              <a:latin typeface="Cambria Math"/>
                            </a:rPr>
                          </m:ctrlPr>
                        </m:fPr>
                        <m:num>
                          <m:r>
                            <a:rPr lang="en-US" sz="2100" b="0" i="0">
                              <a:solidFill>
                                <a:srgbClr val="0B2B4E"/>
                              </a:solidFill>
                              <a:latin typeface="Cambria Math"/>
                            </a:rPr>
                            <m:t>1</m:t>
                          </m:r>
                        </m:num>
                        <m:den>
                          <m:r>
                            <a:rPr lang="en-US" sz="2100" b="0" i="0">
                              <a:solidFill>
                                <a:srgbClr val="0B2B4E"/>
                              </a:solidFill>
                              <a:latin typeface="Cambria Math"/>
                            </a:rPr>
                            <m:t>4</m:t>
                          </m:r>
                        </m:den>
                      </m:f>
                      <m:sSup>
                        <m:sSupPr>
                          <m:ctrlPr>
                            <a:rPr lang="en-US" sz="2100" b="0" i="1">
                              <a:solidFill>
                                <a:srgbClr val="0B2B4E"/>
                              </a:solidFill>
                              <a:latin typeface="Cambria Math"/>
                              <a:ea typeface="Cambria Math"/>
                            </a:rPr>
                          </m:ctrlPr>
                        </m:sSupPr>
                        <m:e>
                          <m:r>
                            <a:rPr lang="en-US" sz="2100" b="0" i="1">
                              <a:solidFill>
                                <a:srgbClr val="0B2B4E"/>
                              </a:solidFill>
                              <a:latin typeface="Cambria Math"/>
                              <a:ea typeface="Cambria Math"/>
                            </a:rPr>
                            <m:t>𝑄</m:t>
                          </m:r>
                        </m:e>
                        <m:sup>
                          <m:r>
                            <a:rPr lang="en-US" sz="2100" b="0" i="0">
                              <a:solidFill>
                                <a:srgbClr val="0B2B4E"/>
                              </a:solidFill>
                              <a:latin typeface="Cambria Math"/>
                            </a:rPr>
                            <m:t>2</m:t>
                          </m:r>
                        </m:sup>
                      </m:sSup>
                    </m:oMath>
                  </m:oMathPara>
                </a14:m>
                <a:endParaRPr lang="en-US" sz="2100"/>
              </a:p>
            </p:txBody>
          </p:sp>
        </mc:Choice>
        <mc:Fallback xmlns="">
          <p:sp>
            <p:nvSpPr>
              <p:cNvPr id="12" name="TextBox 11"/>
              <p:cNvSpPr txBox="1">
                <a:spLocks noRot="1" noChangeAspect="1" noMove="1" noResize="1" noEditPoints="1" noAdjustHandles="1" noChangeArrowheads="1" noChangeShapeType="1" noTextEdit="1"/>
              </p:cNvSpPr>
              <p:nvPr/>
            </p:nvSpPr>
            <p:spPr>
              <a:xfrm>
                <a:off x="5897880" y="3493008"/>
                <a:ext cx="5760720" cy="1051560"/>
              </a:xfrm>
              <a:prstGeom prst="roundRect">
                <a:avLst>
                  <a:gd name="adj" fmla="val 25000"/>
                </a:avLst>
              </a:prstGeom>
              <a:blipFill>
                <a:blip r:embed="rId4"/>
                <a:stretch>
                  <a:fillRect/>
                </a:stretch>
              </a:blipFill>
              <a:ln w="9525">
                <a:solidFill>
                  <a:srgbClr val="0B2B4E"/>
                </a:solidFill>
              </a:ln>
            </p:spPr>
            <p:txBody>
              <a:bodyPr/>
              <a:lstStyle/>
              <a:p>
                <a:r>
                  <a:rPr lang="en-US">
                    <a:noFill/>
                  </a:rPr>
                  <a:t> </a:t>
                </a:r>
              </a:p>
            </p:txBody>
          </p:sp>
        </mc:Fallback>
      </mc:AlternateContent>
      <p:sp>
        <p:nvSpPr>
          <p:cNvPr id="13" name="TextBox 12"/>
          <p:cNvSpPr txBox="1"/>
          <p:nvPr/>
        </p:nvSpPr>
        <p:spPr>
          <a:xfrm>
            <a:off x="389159" y="4864608"/>
            <a:ext cx="5349240" cy="109728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Step 3:  Compute Marginal Revenue from total revenue </a:t>
            </a:r>
            <a:r>
              <a:rPr sz="1900">
                <a:solidFill>
                  <a:srgbClr val="0B2B4E"/>
                </a:solidFill>
                <a:latin typeface="Calibri"/>
              </a:rPr>
              <a:t>(MR = dTR/dQ)</a:t>
            </a:r>
          </a:p>
          <a:p>
            <a:pPr algn="l">
              <a:spcBef>
                <a:spcPts val="500"/>
              </a:spcBef>
              <a:buNone/>
            </a:pPr>
            <a:r>
              <a:rPr sz="1700">
                <a:solidFill>
                  <a:srgbClr val="555B66"/>
                </a:solidFill>
                <a:latin typeface="Calibri"/>
              </a:rPr>
              <a:t>Take the derivative of </a:t>
            </a:r>
            <a:r>
              <a:rPr sz="1700" i="1">
                <a:solidFill>
                  <a:srgbClr val="555B66"/>
                </a:solidFill>
                <a:latin typeface="Calibri"/>
              </a:rPr>
              <a:t>TR</a:t>
            </a:r>
            <a:r>
              <a:rPr sz="1700">
                <a:solidFill>
                  <a:srgbClr val="555B66"/>
                </a:solidFill>
                <a:latin typeface="Calibri"/>
              </a:rPr>
              <a:t> with respect to </a:t>
            </a:r>
            <a:r>
              <a:rPr sz="1700" i="1">
                <a:solidFill>
                  <a:srgbClr val="555B66"/>
                </a:solidFill>
                <a:latin typeface="Calibri"/>
              </a:rPr>
              <a:t>Q</a:t>
            </a:r>
          </a:p>
        </p:txBody>
      </p:sp>
      <mc:AlternateContent xmlns:mc="http://schemas.openxmlformats.org/markup-compatibility/2006" xmlns:a14="http://schemas.microsoft.com/office/drawing/2010/main">
        <mc:Choice Requires="a14">
          <p:sp>
            <p:nvSpPr>
              <p:cNvPr id="14" name="TextBox 13"/>
              <p:cNvSpPr txBox="1"/>
              <p:nvPr/>
            </p:nvSpPr>
            <p:spPr>
              <a:xfrm>
                <a:off x="5897880" y="4773168"/>
                <a:ext cx="5760720" cy="1051560"/>
              </a:xfrm>
              <a:prstGeom prst="roundRect">
                <a:avLst>
                  <a:gd name="adj" fmla="val 25000"/>
                </a:avLst>
              </a:prstGeom>
              <a:solidFill>
                <a:srgbClr val="FDF6E6"/>
              </a:solidFill>
              <a:ln w="9525">
                <a:solidFill>
                  <a:srgbClr val="0B2B4E"/>
                </a:solidFill>
              </a:ln>
            </p:spPr>
            <p:txBody>
              <a:bodyPr wrap="square" anchor="ctr">
                <a:spAutoFit/>
              </a:bodyPr>
              <a:lstStyle/>
              <a:p>
                <a:pPr algn="ctr">
                  <a:defRPr sz="2100" b="0" i="1">
                    <a:solidFill>
                      <a:srgbClr val="0B2B4E"/>
                    </a:solidFill>
                    <a:latin typeface="Cambria Math"/>
                  </a:defRPr>
                </a:pPr>
                <a14:m>
                  <m:oMathPara xmlns:m="http://schemas.openxmlformats.org/officeDocument/2006/math">
                    <m:oMath>
                      <m:r>
                        <m:rPr>
                          <m:sty m:val="p"/>
                        </m:rPr>
                        <a:rPr lang="en-US" sz="2100" b="0" i="0">
                          <a:solidFill>
                            <a:srgbClr val="0B2B4E"/>
                          </a:solidFill>
                          <a:latin typeface="Cambria Math"/>
                        </a:rPr>
                        <m:t>MR</m:t>
                      </m:r>
                      <m:r>
                        <a:rPr lang="en-US" sz="2100" b="0" i="0">
                          <a:solidFill>
                            <a:srgbClr val="0B2B4E"/>
                          </a:solidFill>
                          <a:latin typeface="Cambria Math"/>
                        </a:rPr>
                        <m:t> = 400 − (2⋅</m:t>
                      </m:r>
                      <m:f>
                        <m:fPr>
                          <m:ctrlPr>
                            <a:rPr lang="en-US" sz="2100" b="0" i="0">
                              <a:solidFill>
                                <a:srgbClr val="0B2B4E"/>
                              </a:solidFill>
                              <a:latin typeface="Cambria Math"/>
                            </a:rPr>
                          </m:ctrlPr>
                        </m:fPr>
                        <m:num>
                          <m:r>
                            <a:rPr lang="en-US" sz="2100" b="0" i="0">
                              <a:solidFill>
                                <a:srgbClr val="0B2B4E"/>
                              </a:solidFill>
                              <a:latin typeface="Cambria Math"/>
                            </a:rPr>
                            <m:t>1</m:t>
                          </m:r>
                        </m:num>
                        <m:den>
                          <m:r>
                            <a:rPr lang="en-US" sz="2100" b="0" i="0">
                              <a:solidFill>
                                <a:srgbClr val="0B2B4E"/>
                              </a:solidFill>
                              <a:latin typeface="Cambria Math"/>
                            </a:rPr>
                            <m:t>4</m:t>
                          </m:r>
                        </m:den>
                      </m:f>
                      <m:r>
                        <a:rPr lang="en-US" sz="2100" b="0" i="0">
                          <a:solidFill>
                            <a:srgbClr val="0B2B4E"/>
                          </a:solidFill>
                          <a:latin typeface="Cambria Math"/>
                        </a:rPr>
                        <m:t>)∙</m:t>
                      </m:r>
                      <m:r>
                        <a:rPr lang="en-US" sz="2100" b="0" i="1">
                          <a:solidFill>
                            <a:srgbClr val="0B2B4E"/>
                          </a:solidFill>
                          <a:latin typeface="Cambria Math"/>
                          <a:ea typeface="Cambria Math"/>
                        </a:rPr>
                        <m:t>𝑄</m:t>
                      </m:r>
                      <m:r>
                        <a:rPr lang="en-US" sz="2100" b="0" i="0">
                          <a:solidFill>
                            <a:srgbClr val="0B2B4E"/>
                          </a:solidFill>
                          <a:latin typeface="Cambria Math"/>
                        </a:rPr>
                        <m:t> = 400 − </m:t>
                      </m:r>
                      <m:f>
                        <m:fPr>
                          <m:ctrlPr>
                            <a:rPr lang="en-US" sz="2100" b="0" i="0">
                              <a:solidFill>
                                <a:srgbClr val="0B2B4E"/>
                              </a:solidFill>
                              <a:latin typeface="Cambria Math"/>
                            </a:rPr>
                          </m:ctrlPr>
                        </m:fPr>
                        <m:num>
                          <m:r>
                            <a:rPr lang="en-US" sz="2100" b="0" i="0">
                              <a:solidFill>
                                <a:srgbClr val="0B2B4E"/>
                              </a:solidFill>
                              <a:latin typeface="Cambria Math"/>
                            </a:rPr>
                            <m:t>1</m:t>
                          </m:r>
                        </m:num>
                        <m:den>
                          <m:r>
                            <a:rPr lang="en-US" sz="2100" b="0" i="0">
                              <a:solidFill>
                                <a:srgbClr val="0B2B4E"/>
                              </a:solidFill>
                              <a:latin typeface="Cambria Math"/>
                            </a:rPr>
                            <m:t>2</m:t>
                          </m:r>
                        </m:den>
                      </m:f>
                      <m:r>
                        <a:rPr lang="en-US" sz="2100" b="0" i="1">
                          <a:solidFill>
                            <a:srgbClr val="0B2B4E"/>
                          </a:solidFill>
                          <a:latin typeface="Cambria Math"/>
                          <a:ea typeface="Cambria Math"/>
                        </a:rPr>
                        <m:t>𝑄</m:t>
                      </m:r>
                    </m:oMath>
                  </m:oMathPara>
                </a14:m>
                <a:endParaRPr lang="en-US" sz="2100"/>
              </a:p>
            </p:txBody>
          </p:sp>
        </mc:Choice>
        <mc:Fallback xmlns="">
          <p:sp>
            <p:nvSpPr>
              <p:cNvPr id="14" name="TextBox 13"/>
              <p:cNvSpPr txBox="1">
                <a:spLocks noRot="1" noChangeAspect="1" noMove="1" noResize="1" noEditPoints="1" noAdjustHandles="1" noChangeArrowheads="1" noChangeShapeType="1" noTextEdit="1"/>
              </p:cNvSpPr>
              <p:nvPr/>
            </p:nvSpPr>
            <p:spPr>
              <a:xfrm>
                <a:off x="5897880" y="4773168"/>
                <a:ext cx="5760720" cy="1051560"/>
              </a:xfrm>
              <a:prstGeom prst="roundRect">
                <a:avLst>
                  <a:gd name="adj" fmla="val 25000"/>
                </a:avLst>
              </a:prstGeom>
              <a:blipFill>
                <a:blip r:embed="rId5"/>
                <a:stretch>
                  <a:fillRect/>
                </a:stretch>
              </a:blipFill>
              <a:ln w="9525">
                <a:solidFill>
                  <a:srgbClr val="0B2B4E"/>
                </a:solidFill>
              </a:ln>
            </p:spPr>
            <p:txBody>
              <a:bodyPr/>
              <a:lstStyle/>
              <a:p>
                <a:r>
                  <a:rPr lang="en-US">
                    <a:noFill/>
                  </a:rPr>
                  <a:t> </a:t>
                </a:r>
              </a:p>
            </p:txBody>
          </p:sp>
        </mc:Fallback>
      </mc:AlternateContent>
      <p:sp>
        <p:nvSpPr>
          <p:cNvPr id="15" name="Rounded Rectangle 14"/>
          <p:cNvSpPr/>
          <p:nvPr/>
        </p:nvSpPr>
        <p:spPr>
          <a:xfrm>
            <a:off x="3108960" y="5961888"/>
            <a:ext cx="2377440"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2B4E"/>
                </a:solidFill>
                <a:latin typeface="Calibri"/>
              </a:rPr>
              <a:t>✎  Problem Set 2</a:t>
            </a:r>
          </a:p>
        </p:txBody>
      </p:sp>
      <p:sp>
        <p:nvSpPr>
          <p:cNvPr id="16" name="Rounded Rectangle 15"/>
          <p:cNvSpPr/>
          <p:nvPr/>
        </p:nvSpPr>
        <p:spPr>
          <a:xfrm>
            <a:off x="5760720" y="5961888"/>
            <a:ext cx="3291840"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2B4E"/>
                </a:solidFill>
                <a:latin typeface="Calibri"/>
              </a:rPr>
              <a:t>▤  Teaching Note: Marginal Revenue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8805CC04-5CE8-5D74-9E68-D8915217C41F}"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1B7FD6-0BF8-D79D-2B46-54DE390E50E0}"/>
              </a:ext>
            </a:extLst>
          </p:cNvPr>
          <p:cNvPicPr>
            <a:picLocks/>
          </p:cNvPicPr>
          <p:nvPr>
            <p:custDataLst>
              <p:tags r:id="rId1"/>
            </p:custDataLst>
          </p:nvPr>
        </p:nvPicPr>
        <p:blipFill>
          <a:blip r:embed="rId4"/>
          <a:stretch>
            <a:fillRect/>
          </a:stretch>
        </p:blipFill>
        <p:spPr>
          <a:xfrm>
            <a:off x="252304" y="128016"/>
            <a:ext cx="11434572" cy="5999988"/>
          </a:xfrm>
          <a:prstGeom prst="rect">
            <a:avLst/>
          </a:prstGeom>
        </p:spPr>
      </p:pic>
      <p:grpSp>
        <p:nvGrpSpPr>
          <p:cNvPr id="4" name="Group 14">
            <a:extLst>
              <a:ext uri="{FF2B5EF4-FFF2-40B4-BE49-F238E27FC236}">
                <a16:creationId xmlns:a16="http://schemas.microsoft.com/office/drawing/2014/main" id="{B9FAD457-222F-FED9-A3E3-FAC1238E56E3}"/>
              </a:ext>
            </a:extLst>
          </p:cNvPr>
          <p:cNvGrpSpPr/>
          <p:nvPr/>
        </p:nvGrpSpPr>
        <p:grpSpPr>
          <a:xfrm>
            <a:off x="8641080" y="6190488"/>
            <a:ext cx="3298616" cy="539496"/>
            <a:chOff x="7550576" y="5715000"/>
            <a:chExt cx="4389120" cy="658368"/>
          </a:xfrm>
        </p:grpSpPr>
        <p:sp>
          <p:nvSpPr>
            <p:cNvPr id="5" name="Rectangle 8">
              <a:extLst>
                <a:ext uri="{FF2B5EF4-FFF2-40B4-BE49-F238E27FC236}">
                  <a16:creationId xmlns:a16="http://schemas.microsoft.com/office/drawing/2014/main" id="{6FA86D9E-88F1-4DF6-51E5-B980B4C630C4}"/>
                </a:ext>
              </a:extLst>
            </p:cNvPr>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9">
              <a:extLst>
                <a:ext uri="{FF2B5EF4-FFF2-40B4-BE49-F238E27FC236}">
                  <a16:creationId xmlns:a16="http://schemas.microsoft.com/office/drawing/2014/main" id="{746582B0-B5C3-BAFE-2C82-C896C3C09E5B}"/>
                </a:ext>
              </a:extLst>
            </p:cNvPr>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dirty="0">
                  <a:solidFill>
                    <a:srgbClr val="0B2B4E"/>
                  </a:solidFill>
                  <a:latin typeface="Calibri"/>
                </a:rPr>
                <a:t>Poll Break</a:t>
              </a:r>
            </a:p>
          </p:txBody>
        </p:sp>
      </p:grpSp>
    </p:spTree>
    <p:extLst>
      <p:ext uri="{BB962C8B-B14F-4D97-AF65-F5344CB8AC3E}">
        <p14:creationId xmlns:p14="http://schemas.microsoft.com/office/powerpoint/2010/main" val="1537760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Rectangle 3"/>
          <p:cNvSpPr/>
          <p:nvPr/>
        </p:nvSpPr>
        <p:spPr>
          <a:xfrm>
            <a:off x="251999" y="1170432"/>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1999" y="1156716"/>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999" y="502920"/>
            <a:ext cx="11687697" cy="64008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3000" b="0">
                <a:solidFill>
                  <a:srgbClr val="0B2B4E"/>
                </a:solidFill>
                <a:latin typeface="Calibri"/>
              </a:defRPr>
            </a:lvl1pPr>
            <a:lvl2pPr marL="685800" indent="-228600">
              <a:spcBef>
                <a:spcPts val="300"/>
              </a:spcBef>
              <a:buClr>
                <a:srgbClr val="555B66"/>
              </a:buClr>
              <a:buFont typeface="Calibri"/>
              <a:buChar char="–"/>
              <a:defRPr sz="2600" b="0">
                <a:solidFill>
                  <a:srgbClr val="555B66"/>
                </a:solidFill>
                <a:latin typeface="Calibri"/>
              </a:defRPr>
            </a:lvl2pPr>
          </a:lstStyle>
          <a:p>
            <a:pPr algn="l">
              <a:buNone/>
            </a:pPr>
            <a:r>
              <a:rPr sz="3000" b="1">
                <a:solidFill>
                  <a:srgbClr val="0B2B4E"/>
                </a:solidFill>
                <a:latin typeface="Calibri"/>
              </a:rPr>
              <a:t>Solution: If  </a:t>
            </a:r>
            <a:r>
              <a:rPr sz="3000" b="1" i="1">
                <a:solidFill>
                  <a:srgbClr val="0B2B4E"/>
                </a:solidFill>
                <a:latin typeface="Calibri"/>
              </a:rPr>
              <a:t>Q = 10 − 0.5P</a:t>
            </a:r>
            <a:r>
              <a:rPr sz="3000" b="1">
                <a:solidFill>
                  <a:srgbClr val="0B2B4E"/>
                </a:solidFill>
                <a:latin typeface="Calibri"/>
              </a:rPr>
              <a:t> , What Is  </a:t>
            </a:r>
            <a:r>
              <a:rPr sz="3000" b="1" i="1">
                <a:solidFill>
                  <a:srgbClr val="0B2B4E"/>
                </a:solidFill>
                <a:latin typeface="Calibri"/>
              </a:rPr>
              <a:t>MR</a:t>
            </a:r>
            <a:r>
              <a:rPr sz="3000" b="1">
                <a:solidFill>
                  <a:srgbClr val="0B2B4E"/>
                </a:solidFill>
                <a:latin typeface="Calibri"/>
              </a:rPr>
              <a:t> ?</a:t>
            </a:r>
          </a:p>
        </p:txBody>
      </p:sp>
      <p:sp>
        <p:nvSpPr>
          <p:cNvPr id="7" name="TextBox 6"/>
          <p:cNvSpPr txBox="1"/>
          <p:nvPr/>
        </p:nvSpPr>
        <p:spPr>
          <a:xfrm>
            <a:off x="389159" y="2167128"/>
            <a:ext cx="4937760" cy="82296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b="1">
                <a:solidFill>
                  <a:srgbClr val="0B2B4E"/>
                </a:solidFill>
                <a:latin typeface="Calibri"/>
              </a:rPr>
              <a:t>1.  Inverse Demand:</a:t>
            </a:r>
          </a:p>
        </p:txBody>
      </p:sp>
      <mc:AlternateContent xmlns:mc="http://schemas.openxmlformats.org/markup-compatibility/2006" xmlns:a14="http://schemas.microsoft.com/office/drawing/2010/main">
        <mc:Choice Requires="a14">
          <p:sp>
            <p:nvSpPr>
              <p:cNvPr id="8" name="TextBox 7"/>
              <p:cNvSpPr txBox="1"/>
              <p:nvPr/>
            </p:nvSpPr>
            <p:spPr>
              <a:xfrm>
                <a:off x="5532120" y="1965960"/>
                <a:ext cx="6126480" cy="1005840"/>
              </a:xfrm>
              <a:prstGeom prst="roundRect">
                <a:avLst>
                  <a:gd name="adj" fmla="val 25000"/>
                </a:avLst>
              </a:prstGeom>
              <a:solidFill>
                <a:srgbClr val="FDF6E6"/>
              </a:solidFill>
              <a:ln w="9525">
                <a:solidFill>
                  <a:srgbClr val="0B2B4E"/>
                </a:solidFill>
              </a:ln>
            </p:spPr>
            <p:txBody>
              <a:bodyPr wrap="square" anchor="ctr">
                <a:spAutoFit/>
              </a:bodyPr>
              <a:lstStyle/>
              <a:p>
                <a:pPr algn="ctr">
                  <a:defRPr sz="2200" b="0" i="1">
                    <a:solidFill>
                      <a:srgbClr val="0B2B4E"/>
                    </a:solidFill>
                    <a:latin typeface="Cambria Math"/>
                  </a:defRPr>
                </a:pPr>
                <a14:m>
                  <m:oMathPara xmlns:m="http://schemas.openxmlformats.org/officeDocument/2006/math">
                    <m:oMath>
                      <m:r>
                        <a:rPr lang="en-US" sz="2200" b="0" i="1">
                          <a:solidFill>
                            <a:srgbClr val="0B2B4E"/>
                          </a:solidFill>
                          <a:latin typeface="Cambria Math"/>
                          <a:ea typeface="Cambria Math"/>
                        </a:rPr>
                        <m:t>𝑃</m:t>
                      </m:r>
                      <m:r>
                        <a:rPr lang="en-US" sz="2200" b="0" i="0">
                          <a:solidFill>
                            <a:srgbClr val="0B2B4E"/>
                          </a:solidFill>
                          <a:latin typeface="Cambria Math"/>
                        </a:rPr>
                        <m:t> = 20 − 2</m:t>
                      </m:r>
                      <m:r>
                        <a:rPr lang="en-US" sz="2200" b="0" i="1">
                          <a:solidFill>
                            <a:srgbClr val="0B2B4E"/>
                          </a:solidFill>
                          <a:latin typeface="Cambria Math"/>
                          <a:ea typeface="Cambria Math"/>
                        </a:rPr>
                        <m:t>𝑄</m:t>
                      </m:r>
                    </m:oMath>
                  </m:oMathPara>
                </a14:m>
                <a:endParaRPr lang="en-US" sz="2200"/>
              </a:p>
            </p:txBody>
          </p:sp>
        </mc:Choice>
        <mc:Fallback xmlns="">
          <p:sp>
            <p:nvSpPr>
              <p:cNvPr id="8" name="TextBox 7"/>
              <p:cNvSpPr txBox="1">
                <a:spLocks noRot="1" noChangeAspect="1" noMove="1" noResize="1" noEditPoints="1" noAdjustHandles="1" noChangeArrowheads="1" noChangeShapeType="1" noTextEdit="1"/>
              </p:cNvSpPr>
              <p:nvPr/>
            </p:nvSpPr>
            <p:spPr>
              <a:xfrm>
                <a:off x="5532120" y="1965960"/>
                <a:ext cx="6126480" cy="1005840"/>
              </a:xfrm>
              <a:prstGeom prst="roundRect">
                <a:avLst>
                  <a:gd name="adj" fmla="val 25000"/>
                </a:avLst>
              </a:prstGeom>
              <a:blipFill>
                <a:blip r:embed="rId2"/>
                <a:stretch>
                  <a:fillRect/>
                </a:stretch>
              </a:blipFill>
              <a:ln w="9525">
                <a:solidFill>
                  <a:srgbClr val="0B2B4E"/>
                </a:solidFill>
              </a:ln>
            </p:spPr>
            <p:txBody>
              <a:bodyPr/>
              <a:lstStyle/>
              <a:p>
                <a:r>
                  <a:rPr lang="en-US">
                    <a:noFill/>
                  </a:rPr>
                  <a:t> </a:t>
                </a:r>
              </a:p>
            </p:txBody>
          </p:sp>
        </mc:Fallback>
      </mc:AlternateContent>
      <p:sp>
        <p:nvSpPr>
          <p:cNvPr id="9" name="TextBox 8"/>
          <p:cNvSpPr txBox="1"/>
          <p:nvPr/>
        </p:nvSpPr>
        <p:spPr>
          <a:xfrm>
            <a:off x="389159" y="3493008"/>
            <a:ext cx="4937760" cy="82296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b="1">
                <a:solidFill>
                  <a:srgbClr val="0B2B4E"/>
                </a:solidFill>
                <a:latin typeface="Calibri"/>
              </a:rPr>
              <a:t>2.  Total revenue:  TR = P ∙ Q</a:t>
            </a:r>
          </a:p>
        </p:txBody>
      </p:sp>
      <mc:AlternateContent xmlns:mc="http://schemas.openxmlformats.org/markup-compatibility/2006" xmlns:a14="http://schemas.microsoft.com/office/drawing/2010/main">
        <mc:Choice Requires="a14">
          <p:sp>
            <p:nvSpPr>
              <p:cNvPr id="10" name="TextBox 9"/>
              <p:cNvSpPr txBox="1"/>
              <p:nvPr/>
            </p:nvSpPr>
            <p:spPr>
              <a:xfrm>
                <a:off x="5532120" y="3291840"/>
                <a:ext cx="6126480" cy="1005840"/>
              </a:xfrm>
              <a:prstGeom prst="roundRect">
                <a:avLst>
                  <a:gd name="adj" fmla="val 25000"/>
                </a:avLst>
              </a:prstGeom>
              <a:solidFill>
                <a:srgbClr val="FDF6E6"/>
              </a:solidFill>
              <a:ln w="9525">
                <a:solidFill>
                  <a:srgbClr val="0B2B4E"/>
                </a:solidFill>
              </a:ln>
            </p:spPr>
            <p:txBody>
              <a:bodyPr wrap="square" anchor="ctr">
                <a:spAutoFit/>
              </a:bodyPr>
              <a:lstStyle/>
              <a:p>
                <a:pPr algn="ctr">
                  <a:defRPr sz="2200" b="0" i="1">
                    <a:solidFill>
                      <a:srgbClr val="0B2B4E"/>
                    </a:solidFill>
                    <a:latin typeface="Cambria Math"/>
                  </a:defRPr>
                </a:pPr>
                <a14:m>
                  <m:oMathPara xmlns:m="http://schemas.openxmlformats.org/officeDocument/2006/math">
                    <m:oMath>
                      <m:r>
                        <m:rPr>
                          <m:sty m:val="p"/>
                        </m:rPr>
                        <a:rPr lang="en-US" sz="2200" b="0" i="0">
                          <a:solidFill>
                            <a:srgbClr val="0B2B4E"/>
                          </a:solidFill>
                          <a:latin typeface="Cambria Math"/>
                        </a:rPr>
                        <m:t>TR</m:t>
                      </m:r>
                      <m:r>
                        <a:rPr lang="en-US" sz="2200" b="0" i="0">
                          <a:solidFill>
                            <a:srgbClr val="0B2B4E"/>
                          </a:solidFill>
                          <a:latin typeface="Cambria Math"/>
                        </a:rPr>
                        <m:t> = (20 − 2</m:t>
                      </m:r>
                      <m:r>
                        <a:rPr lang="en-US" sz="2200" b="0" i="1">
                          <a:solidFill>
                            <a:srgbClr val="0B2B4E"/>
                          </a:solidFill>
                          <a:latin typeface="Cambria Math"/>
                          <a:ea typeface="Cambria Math"/>
                        </a:rPr>
                        <m:t>𝑄</m:t>
                      </m:r>
                      <m:r>
                        <a:rPr lang="en-US" sz="2200" b="0" i="0">
                          <a:solidFill>
                            <a:srgbClr val="0B2B4E"/>
                          </a:solidFill>
                          <a:latin typeface="Cambria Math"/>
                        </a:rPr>
                        <m:t>) ∙ </m:t>
                      </m:r>
                      <m:r>
                        <a:rPr lang="en-US" sz="2200" b="0" i="1">
                          <a:solidFill>
                            <a:srgbClr val="0B2B4E"/>
                          </a:solidFill>
                          <a:latin typeface="Cambria Math"/>
                          <a:ea typeface="Cambria Math"/>
                        </a:rPr>
                        <m:t>𝑄</m:t>
                      </m:r>
                      <m:r>
                        <a:rPr lang="en-US" sz="2200" b="0" i="0">
                          <a:solidFill>
                            <a:srgbClr val="0B2B4E"/>
                          </a:solidFill>
                          <a:latin typeface="Cambria Math"/>
                        </a:rPr>
                        <m:t> = 20</m:t>
                      </m:r>
                      <m:r>
                        <a:rPr lang="en-US" sz="2200" b="0" i="1">
                          <a:solidFill>
                            <a:srgbClr val="0B2B4E"/>
                          </a:solidFill>
                          <a:latin typeface="Cambria Math"/>
                          <a:ea typeface="Cambria Math"/>
                        </a:rPr>
                        <m:t>𝑄</m:t>
                      </m:r>
                      <m:r>
                        <a:rPr lang="en-US" sz="2200" b="0" i="0">
                          <a:solidFill>
                            <a:srgbClr val="0B2B4E"/>
                          </a:solidFill>
                          <a:latin typeface="Cambria Math"/>
                        </a:rPr>
                        <m:t> − 2</m:t>
                      </m:r>
                      <m:sSup>
                        <m:sSupPr>
                          <m:ctrlPr>
                            <a:rPr lang="en-US" sz="2200" b="0" i="1">
                              <a:solidFill>
                                <a:srgbClr val="0B2B4E"/>
                              </a:solidFill>
                              <a:latin typeface="Cambria Math"/>
                              <a:ea typeface="Cambria Math"/>
                            </a:rPr>
                          </m:ctrlPr>
                        </m:sSupPr>
                        <m:e>
                          <m:r>
                            <a:rPr lang="en-US" sz="2200" b="0" i="1">
                              <a:solidFill>
                                <a:srgbClr val="0B2B4E"/>
                              </a:solidFill>
                              <a:latin typeface="Cambria Math"/>
                              <a:ea typeface="Cambria Math"/>
                            </a:rPr>
                            <m:t>𝑄</m:t>
                          </m:r>
                        </m:e>
                        <m:sup>
                          <m:r>
                            <a:rPr lang="en-US" sz="2200" b="0" i="0">
                              <a:solidFill>
                                <a:srgbClr val="0B2B4E"/>
                              </a:solidFill>
                              <a:latin typeface="Cambria Math"/>
                            </a:rPr>
                            <m:t>2</m:t>
                          </m:r>
                        </m:sup>
                      </m:sSup>
                    </m:oMath>
                  </m:oMathPara>
                </a14:m>
                <a:endParaRPr lang="en-US" sz="2200"/>
              </a:p>
            </p:txBody>
          </p:sp>
        </mc:Choice>
        <mc:Fallback xmlns="">
          <p:sp>
            <p:nvSpPr>
              <p:cNvPr id="10" name="TextBox 9"/>
              <p:cNvSpPr txBox="1">
                <a:spLocks noRot="1" noChangeAspect="1" noMove="1" noResize="1" noEditPoints="1" noAdjustHandles="1" noChangeArrowheads="1" noChangeShapeType="1" noTextEdit="1"/>
              </p:cNvSpPr>
              <p:nvPr/>
            </p:nvSpPr>
            <p:spPr>
              <a:xfrm>
                <a:off x="5532120" y="3291840"/>
                <a:ext cx="6126480" cy="1005840"/>
              </a:xfrm>
              <a:prstGeom prst="roundRect">
                <a:avLst>
                  <a:gd name="adj" fmla="val 25000"/>
                </a:avLst>
              </a:prstGeom>
              <a:blipFill>
                <a:blip r:embed="rId3"/>
                <a:stretch>
                  <a:fillRect/>
                </a:stretch>
              </a:blipFill>
              <a:ln w="9525">
                <a:solidFill>
                  <a:srgbClr val="0B2B4E"/>
                </a:solidFill>
              </a:ln>
            </p:spPr>
            <p:txBody>
              <a:bodyPr/>
              <a:lstStyle/>
              <a:p>
                <a:r>
                  <a:rPr lang="en-US">
                    <a:noFill/>
                  </a:rPr>
                  <a:t> </a:t>
                </a:r>
              </a:p>
            </p:txBody>
          </p:sp>
        </mc:Fallback>
      </mc:AlternateContent>
      <p:sp>
        <p:nvSpPr>
          <p:cNvPr id="11" name="TextBox 10"/>
          <p:cNvSpPr txBox="1"/>
          <p:nvPr/>
        </p:nvSpPr>
        <p:spPr>
          <a:xfrm>
            <a:off x="389159" y="4818888"/>
            <a:ext cx="4937760" cy="82296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b="1">
                <a:solidFill>
                  <a:srgbClr val="0B2B4E"/>
                </a:solidFill>
                <a:latin typeface="Calibri"/>
              </a:rPr>
              <a:t>3.  Derivative of TR w.r.t. Q:</a:t>
            </a:r>
          </a:p>
        </p:txBody>
      </p:sp>
      <mc:AlternateContent xmlns:mc="http://schemas.openxmlformats.org/markup-compatibility/2006" xmlns:a14="http://schemas.microsoft.com/office/drawing/2010/main">
        <mc:Choice Requires="a14">
          <p:sp>
            <p:nvSpPr>
              <p:cNvPr id="12" name="TextBox 11"/>
              <p:cNvSpPr txBox="1"/>
              <p:nvPr/>
            </p:nvSpPr>
            <p:spPr>
              <a:xfrm>
                <a:off x="5532120" y="4617720"/>
                <a:ext cx="6126480" cy="1005840"/>
              </a:xfrm>
              <a:prstGeom prst="roundRect">
                <a:avLst>
                  <a:gd name="adj" fmla="val 25000"/>
                </a:avLst>
              </a:prstGeom>
              <a:solidFill>
                <a:srgbClr val="FDF6E6"/>
              </a:solidFill>
              <a:ln w="9525">
                <a:solidFill>
                  <a:srgbClr val="0B2B4E"/>
                </a:solidFill>
              </a:ln>
            </p:spPr>
            <p:txBody>
              <a:bodyPr wrap="square" anchor="ctr">
                <a:spAutoFit/>
              </a:bodyPr>
              <a:lstStyle/>
              <a:p>
                <a:pPr algn="ctr">
                  <a:defRPr sz="2200" b="0" i="1">
                    <a:solidFill>
                      <a:srgbClr val="C00000"/>
                    </a:solidFill>
                    <a:latin typeface="Cambria Math"/>
                  </a:defRPr>
                </a:pPr>
                <a14:m>
                  <m:oMathPara xmlns:m="http://schemas.openxmlformats.org/officeDocument/2006/math">
                    <m:oMath>
                      <m:r>
                        <m:rPr>
                          <m:sty m:val="p"/>
                        </m:rPr>
                        <a:rPr lang="en-US" sz="2200" b="0" i="0">
                          <a:solidFill>
                            <a:srgbClr val="C00000"/>
                          </a:solidFill>
                          <a:latin typeface="Cambria Math"/>
                        </a:rPr>
                        <m:t>MR</m:t>
                      </m:r>
                      <m:r>
                        <a:rPr lang="en-US" sz="2200" b="0" i="0">
                          <a:solidFill>
                            <a:srgbClr val="C00000"/>
                          </a:solidFill>
                          <a:latin typeface="Cambria Math"/>
                        </a:rPr>
                        <m:t> = </m:t>
                      </m:r>
                      <m:f>
                        <m:fPr>
                          <m:ctrlPr>
                            <a:rPr lang="en-US" sz="2200" b="0" i="1">
                              <a:solidFill>
                                <a:srgbClr val="C00000"/>
                              </a:solidFill>
                              <a:latin typeface="Cambria Math"/>
                              <a:ea typeface="Cambria Math"/>
                            </a:rPr>
                          </m:ctrlPr>
                        </m:fPr>
                        <m:num>
                          <m:r>
                            <a:rPr lang="en-US" sz="2200" b="0" i="1">
                              <a:solidFill>
                                <a:srgbClr val="C00000"/>
                              </a:solidFill>
                              <a:latin typeface="Cambria Math"/>
                              <a:ea typeface="Cambria Math"/>
                            </a:rPr>
                            <m:t>𝑑</m:t>
                          </m:r>
                          <m:r>
                            <m:rPr>
                              <m:sty m:val="p"/>
                            </m:rPr>
                            <a:rPr lang="en-US" sz="2200" b="0" i="0">
                              <a:solidFill>
                                <a:srgbClr val="C00000"/>
                              </a:solidFill>
                              <a:latin typeface="Cambria Math"/>
                            </a:rPr>
                            <m:t>TR</m:t>
                          </m:r>
                        </m:num>
                        <m:den>
                          <m:r>
                            <a:rPr lang="en-US" sz="2200" b="0" i="1">
                              <a:solidFill>
                                <a:srgbClr val="C00000"/>
                              </a:solidFill>
                              <a:latin typeface="Cambria Math"/>
                              <a:ea typeface="Cambria Math"/>
                            </a:rPr>
                            <m:t>𝑑𝑄</m:t>
                          </m:r>
                        </m:den>
                      </m:f>
                      <m:r>
                        <a:rPr lang="en-US" sz="2200" b="0" i="0">
                          <a:solidFill>
                            <a:srgbClr val="C00000"/>
                          </a:solidFill>
                          <a:latin typeface="Cambria Math"/>
                        </a:rPr>
                        <m:t> = 20 − 4</m:t>
                      </m:r>
                      <m:r>
                        <a:rPr lang="en-US" sz="2200" b="0" i="1">
                          <a:solidFill>
                            <a:srgbClr val="C00000"/>
                          </a:solidFill>
                          <a:latin typeface="Cambria Math"/>
                          <a:ea typeface="Cambria Math"/>
                        </a:rPr>
                        <m:t>𝑄</m:t>
                      </m:r>
                    </m:oMath>
                  </m:oMathPara>
                </a14:m>
                <a:endParaRPr lang="en-US" sz="2200"/>
              </a:p>
            </p:txBody>
          </p:sp>
        </mc:Choice>
        <mc:Fallback xmlns="">
          <p:sp>
            <p:nvSpPr>
              <p:cNvPr id="12" name="TextBox 11"/>
              <p:cNvSpPr txBox="1">
                <a:spLocks noRot="1" noChangeAspect="1" noMove="1" noResize="1" noEditPoints="1" noAdjustHandles="1" noChangeArrowheads="1" noChangeShapeType="1" noTextEdit="1"/>
              </p:cNvSpPr>
              <p:nvPr/>
            </p:nvSpPr>
            <p:spPr>
              <a:xfrm>
                <a:off x="5532120" y="4617720"/>
                <a:ext cx="6126480" cy="1005840"/>
              </a:xfrm>
              <a:prstGeom prst="roundRect">
                <a:avLst>
                  <a:gd name="adj" fmla="val 25000"/>
                </a:avLst>
              </a:prstGeom>
              <a:blipFill>
                <a:blip r:embed="rId4"/>
                <a:stretch>
                  <a:fillRect/>
                </a:stretch>
              </a:blipFill>
              <a:ln w="9525">
                <a:solidFill>
                  <a:srgbClr val="0B2B4E"/>
                </a:solidFill>
              </a:ln>
            </p:spPr>
            <p:txBody>
              <a:bodyPr/>
              <a:lstStyle/>
              <a:p>
                <a:r>
                  <a:rPr lang="en-US">
                    <a:noFill/>
                  </a:rPr>
                  <a:t> </a:t>
                </a:r>
              </a:p>
            </p:txBody>
          </p:sp>
        </mc:Fallback>
      </mc:AlternateContent>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E0729668-7938-543C-9968-420033430F3B}" type="slidenum">
              <a:rPr lang="en-US" sz="1200" dirty="0">
                <a:solidFill>
                  <a:srgbClr val="555B66"/>
                </a:solidFill>
                <a:latin typeface="Calibri"/>
              </a:rPr>
              <a:t>8</a:t>
            </a:fld>
            <a:endParaRPr lang="en-US" sz="1200" dirty="0">
              <a:solidFill>
                <a:srgbClr val="555B66"/>
              </a:solidFill>
              <a:latin typeface="Calibri"/>
            </a:endParaRPr>
          </a:p>
        </p:txBody>
      </p:sp>
    </p:spTree>
    <p:extLst>
      <p:ext uri="{BB962C8B-B14F-4D97-AF65-F5344CB8AC3E}">
        <p14:creationId xmlns:p14="http://schemas.microsoft.com/office/powerpoint/2010/main" val="117672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MR: Graphical Representation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600200" y="1572768"/>
            <a:ext cx="0" cy="2130552"/>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00200" y="3703320"/>
            <a:ext cx="5925312"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17320" y="1344168"/>
            <a:ext cx="640080" cy="292608"/>
          </a:xfrm>
          <a:prstGeom prst="rect">
            <a:avLst/>
          </a:prstGeom>
          <a:noFill/>
        </p:spPr>
        <p:txBody>
          <a:bodyPr wrap="square" lIns="0" tIns="0" rIns="0" bIns="0">
            <a:spAutoFit/>
          </a:bodyPr>
          <a:lstStyle/>
          <a:p>
            <a:pPr algn="l"/>
            <a:r>
              <a:rPr sz="1600" b="1" i="1" u="none" dirty="0">
                <a:solidFill>
                  <a:srgbClr val="0B2B4E"/>
                </a:solidFill>
                <a:latin typeface="Calibri"/>
              </a:rPr>
              <a:t>P</a:t>
            </a:r>
          </a:p>
        </p:txBody>
      </p:sp>
      <p:sp>
        <p:nvSpPr>
          <p:cNvPr id="10" name="TextBox 9"/>
          <p:cNvSpPr txBox="1"/>
          <p:nvPr/>
        </p:nvSpPr>
        <p:spPr>
          <a:xfrm>
            <a:off x="7392924" y="3729283"/>
            <a:ext cx="548640" cy="292608"/>
          </a:xfrm>
          <a:prstGeom prst="rect">
            <a:avLst/>
          </a:prstGeom>
          <a:noFill/>
        </p:spPr>
        <p:txBody>
          <a:bodyPr wrap="square" lIns="0" tIns="0" rIns="0" bIns="0">
            <a:spAutoFit/>
          </a:bodyPr>
          <a:lstStyle/>
          <a:p>
            <a:pPr algn="l"/>
            <a:r>
              <a:rPr sz="1600" b="1" i="1" u="none" dirty="0">
                <a:solidFill>
                  <a:srgbClr val="0B2B4E"/>
                </a:solidFill>
                <a:latin typeface="Calibri"/>
              </a:rPr>
              <a:t>Q</a:t>
            </a:r>
          </a:p>
        </p:txBody>
      </p:sp>
      <p:cxnSp>
        <p:nvCxnSpPr>
          <p:cNvPr id="11" name="Connector 10"/>
          <p:cNvCxnSpPr/>
          <p:nvPr/>
        </p:nvCxnSpPr>
        <p:spPr>
          <a:xfrm flipV="1">
            <a:off x="1600200" y="4133087"/>
            <a:ext cx="0" cy="2130553"/>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00200" y="6263640"/>
            <a:ext cx="5925312"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257839" y="3931920"/>
            <a:ext cx="640080" cy="292608"/>
          </a:xfrm>
          <a:prstGeom prst="rect">
            <a:avLst/>
          </a:prstGeom>
          <a:noFill/>
        </p:spPr>
        <p:txBody>
          <a:bodyPr wrap="square" lIns="0" tIns="0" rIns="0" bIns="0">
            <a:spAutoFit/>
          </a:bodyPr>
          <a:lstStyle/>
          <a:p>
            <a:pPr algn="l"/>
            <a:r>
              <a:rPr sz="1600" b="1" i="1" u="none" dirty="0">
                <a:solidFill>
                  <a:srgbClr val="0B2B4E"/>
                </a:solidFill>
                <a:latin typeface="Calibri"/>
              </a:rPr>
              <a:t>TR</a:t>
            </a:r>
          </a:p>
        </p:txBody>
      </p:sp>
      <p:sp>
        <p:nvSpPr>
          <p:cNvPr id="14" name="TextBox 13"/>
          <p:cNvSpPr txBox="1"/>
          <p:nvPr/>
        </p:nvSpPr>
        <p:spPr>
          <a:xfrm>
            <a:off x="7463655" y="6284214"/>
            <a:ext cx="548640" cy="292608"/>
          </a:xfrm>
          <a:prstGeom prst="rect">
            <a:avLst/>
          </a:prstGeom>
          <a:noFill/>
        </p:spPr>
        <p:txBody>
          <a:bodyPr wrap="square" lIns="0" tIns="0" rIns="0" bIns="0">
            <a:spAutoFit/>
          </a:bodyPr>
          <a:lstStyle/>
          <a:p>
            <a:pPr algn="l"/>
            <a:r>
              <a:rPr sz="1600" b="1" i="1" u="none">
                <a:solidFill>
                  <a:srgbClr val="0B2B4E"/>
                </a:solidFill>
                <a:latin typeface="Calibri"/>
              </a:rPr>
              <a:t>Q</a:t>
            </a:r>
          </a:p>
        </p:txBody>
      </p:sp>
      <p:grpSp>
        <p:nvGrpSpPr>
          <p:cNvPr id="62" name="Group 61">
            <a:extLst>
              <a:ext uri="{FF2B5EF4-FFF2-40B4-BE49-F238E27FC236}">
                <a16:creationId xmlns:a16="http://schemas.microsoft.com/office/drawing/2014/main" id="{6D0E0E6E-EA8C-1207-DB98-4804487E5071}"/>
              </a:ext>
            </a:extLst>
          </p:cNvPr>
          <p:cNvGrpSpPr/>
          <p:nvPr/>
        </p:nvGrpSpPr>
        <p:grpSpPr>
          <a:xfrm>
            <a:off x="1600200" y="1955799"/>
            <a:ext cx="3017520" cy="2076704"/>
            <a:chOff x="1600200" y="1955799"/>
            <a:chExt cx="3017520" cy="2076704"/>
          </a:xfrm>
        </p:grpSpPr>
        <p:cxnSp>
          <p:nvCxnSpPr>
            <p:cNvPr id="17" name="Connector 16"/>
            <p:cNvCxnSpPr/>
            <p:nvPr/>
          </p:nvCxnSpPr>
          <p:spPr>
            <a:xfrm>
              <a:off x="1600200" y="1955799"/>
              <a:ext cx="2560320" cy="1747521"/>
            </a:xfrm>
            <a:prstGeom prst="line">
              <a:avLst/>
            </a:prstGeom>
            <a:ln w="34925">
              <a:solidFill>
                <a:srgbClr val="0070C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848356" y="3026156"/>
              <a:ext cx="640080" cy="320040"/>
            </a:xfrm>
            <a:prstGeom prst="rect">
              <a:avLst/>
            </a:prstGeom>
            <a:noFill/>
          </p:spPr>
          <p:txBody>
            <a:bodyPr wrap="square" lIns="0" tIns="0" rIns="0" bIns="0">
              <a:spAutoFit/>
            </a:bodyPr>
            <a:lstStyle/>
            <a:p>
              <a:pPr algn="l"/>
              <a:r>
                <a:rPr sz="1600" b="1" i="1" u="none" dirty="0">
                  <a:solidFill>
                    <a:srgbClr val="0070C0"/>
                  </a:solidFill>
                  <a:latin typeface="Calibri"/>
                </a:rPr>
                <a:t>MR</a:t>
              </a:r>
            </a:p>
          </p:txBody>
        </p:sp>
        <p:sp>
          <p:nvSpPr>
            <p:cNvPr id="20" name="TextBox 19"/>
            <p:cNvSpPr txBox="1"/>
            <p:nvPr/>
          </p:nvSpPr>
          <p:spPr>
            <a:xfrm>
              <a:off x="3703320" y="3758183"/>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grpSp>
      <p:grpSp>
        <p:nvGrpSpPr>
          <p:cNvPr id="61" name="Group 60">
            <a:extLst>
              <a:ext uri="{FF2B5EF4-FFF2-40B4-BE49-F238E27FC236}">
                <a16:creationId xmlns:a16="http://schemas.microsoft.com/office/drawing/2014/main" id="{91B0E364-DF43-1ACE-207B-34ECA3D2B882}"/>
              </a:ext>
            </a:extLst>
          </p:cNvPr>
          <p:cNvGrpSpPr/>
          <p:nvPr/>
        </p:nvGrpSpPr>
        <p:grpSpPr>
          <a:xfrm>
            <a:off x="621792" y="1827783"/>
            <a:ext cx="6663619" cy="2204720"/>
            <a:chOff x="621792" y="1827783"/>
            <a:chExt cx="6663619" cy="2204720"/>
          </a:xfrm>
        </p:grpSpPr>
        <p:cxnSp>
          <p:nvCxnSpPr>
            <p:cNvPr id="15" name="Connector 14"/>
            <p:cNvCxnSpPr/>
            <p:nvPr/>
          </p:nvCxnSpPr>
          <p:spPr>
            <a:xfrm>
              <a:off x="1600200" y="1955799"/>
              <a:ext cx="5120640" cy="1747521"/>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28211" y="3438143"/>
              <a:ext cx="457200" cy="320040"/>
            </a:xfrm>
            <a:prstGeom prst="rect">
              <a:avLst/>
            </a:prstGeom>
            <a:noFill/>
          </p:spPr>
          <p:txBody>
            <a:bodyPr wrap="square" lIns="0" tIns="0" rIns="0" bIns="0">
              <a:spAutoFit/>
            </a:bodyPr>
            <a:lstStyle/>
            <a:p>
              <a:pPr algn="l"/>
              <a:r>
                <a:rPr sz="1800" b="1" i="0" u="none" dirty="0">
                  <a:solidFill>
                    <a:srgbClr val="0B2B4E"/>
                  </a:solidFill>
                  <a:latin typeface="Calibri"/>
                </a:rPr>
                <a:t>D</a:t>
              </a:r>
            </a:p>
          </p:txBody>
        </p:sp>
        <p:sp>
          <p:nvSpPr>
            <p:cNvPr id="19" name="TextBox 18"/>
            <p:cNvSpPr txBox="1"/>
            <p:nvPr/>
          </p:nvSpPr>
          <p:spPr>
            <a:xfrm>
              <a:off x="621792" y="1827783"/>
              <a:ext cx="868680" cy="274320"/>
            </a:xfrm>
            <a:prstGeom prst="rect">
              <a:avLst/>
            </a:prstGeom>
            <a:noFill/>
          </p:spPr>
          <p:txBody>
            <a:bodyPr wrap="square" lIns="0" tIns="0" rIns="0" bIns="0">
              <a:spAutoFit/>
            </a:bodyPr>
            <a:lstStyle/>
            <a:p>
              <a:pPr algn="r"/>
              <a:r>
                <a:rPr sz="1500" b="0" i="0" u="none">
                  <a:solidFill>
                    <a:srgbClr val="0B2B4E"/>
                  </a:solidFill>
                  <a:latin typeface="Calibri"/>
                </a:rPr>
                <a:t>400</a:t>
              </a:r>
            </a:p>
          </p:txBody>
        </p:sp>
        <p:sp>
          <p:nvSpPr>
            <p:cNvPr id="21" name="TextBox 20"/>
            <p:cNvSpPr txBox="1"/>
            <p:nvPr/>
          </p:nvSpPr>
          <p:spPr>
            <a:xfrm>
              <a:off x="6263640" y="3758183"/>
              <a:ext cx="914400" cy="274320"/>
            </a:xfrm>
            <a:prstGeom prst="rect">
              <a:avLst/>
            </a:prstGeom>
            <a:noFill/>
          </p:spPr>
          <p:txBody>
            <a:bodyPr wrap="square" lIns="0" tIns="0" rIns="0" bIns="0">
              <a:spAutoFit/>
            </a:bodyPr>
            <a:lstStyle/>
            <a:p>
              <a:pPr algn="ctr"/>
              <a:r>
                <a:rPr sz="1500" b="0" i="0" u="none">
                  <a:solidFill>
                    <a:srgbClr val="0B2B4E"/>
                  </a:solidFill>
                  <a:latin typeface="Calibri"/>
                </a:rPr>
                <a:t>1600</a:t>
              </a:r>
            </a:p>
          </p:txBody>
        </p:sp>
      </p:grpSp>
      <p:grpSp>
        <p:nvGrpSpPr>
          <p:cNvPr id="133" name="Group 132">
            <a:extLst>
              <a:ext uri="{FF2B5EF4-FFF2-40B4-BE49-F238E27FC236}">
                <a16:creationId xmlns:a16="http://schemas.microsoft.com/office/drawing/2014/main" id="{FB095576-AF8D-B0AF-E75C-DCB57864F166}"/>
              </a:ext>
            </a:extLst>
          </p:cNvPr>
          <p:cNvGrpSpPr/>
          <p:nvPr/>
        </p:nvGrpSpPr>
        <p:grpSpPr>
          <a:xfrm>
            <a:off x="4407419" y="2837303"/>
            <a:ext cx="2647175" cy="454702"/>
            <a:chOff x="4407419" y="2837303"/>
            <a:chExt cx="2647175" cy="454702"/>
          </a:xfrm>
        </p:grpSpPr>
        <p:sp>
          <p:nvSpPr>
            <p:cNvPr id="23" name="Right Brace 22"/>
            <p:cNvSpPr/>
            <p:nvPr/>
          </p:nvSpPr>
          <p:spPr>
            <a:xfrm rot="17388011">
              <a:off x="5496985" y="1954146"/>
              <a:ext cx="248293" cy="2427425"/>
            </a:xfrm>
            <a:prstGeom prst="rightBrace">
              <a:avLst>
                <a:gd name="adj1" fmla="val 8333"/>
                <a:gd name="adj2" fmla="val 50333"/>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rot="1157093">
              <a:off x="5042914" y="2837303"/>
              <a:ext cx="2011680" cy="310896"/>
            </a:xfrm>
            <a:prstGeom prst="rect">
              <a:avLst/>
            </a:prstGeom>
            <a:noFill/>
          </p:spPr>
          <p:txBody>
            <a:bodyPr wrap="square" lIns="0" tIns="0" rIns="0" bIns="0">
              <a:spAutoFit/>
            </a:bodyPr>
            <a:lstStyle/>
            <a:p>
              <a:pPr algn="l"/>
              <a:r>
                <a:rPr sz="1600" b="1" i="0" u="none" dirty="0">
                  <a:solidFill>
                    <a:srgbClr val="0070C0"/>
                  </a:solidFill>
                  <a:latin typeface="Calibri"/>
                </a:rPr>
                <a:t>Inelastic portion</a:t>
              </a:r>
            </a:p>
          </p:txBody>
        </p:sp>
      </p:grpSp>
      <p:grpSp>
        <p:nvGrpSpPr>
          <p:cNvPr id="63" name="Group 62">
            <a:extLst>
              <a:ext uri="{FF2B5EF4-FFF2-40B4-BE49-F238E27FC236}">
                <a16:creationId xmlns:a16="http://schemas.microsoft.com/office/drawing/2014/main" id="{4175DE3E-3F62-4EC4-797B-F363D83E6E5D}"/>
              </a:ext>
            </a:extLst>
          </p:cNvPr>
          <p:cNvGrpSpPr/>
          <p:nvPr/>
        </p:nvGrpSpPr>
        <p:grpSpPr>
          <a:xfrm>
            <a:off x="1600200" y="3933613"/>
            <a:ext cx="5120640" cy="2330027"/>
            <a:chOff x="1600200" y="3933613"/>
            <a:chExt cx="5120640" cy="2330027"/>
          </a:xfrm>
        </p:grpSpPr>
        <p:sp>
          <p:nvSpPr>
            <p:cNvPr id="28" name="Rectangle 27"/>
            <p:cNvSpPr/>
            <p:nvPr/>
          </p:nvSpPr>
          <p:spPr>
            <a:xfrm>
              <a:off x="1600200" y="3933613"/>
              <a:ext cx="5120640" cy="2330027"/>
            </a:xfrm>
            <a:custGeom>
              <a:avLst/>
              <a:gdLst/>
              <a:ahLst/>
              <a:cxnLst/>
              <a:rect l="0" t="0" r="5120640" b="2330027"/>
              <a:pathLst>
                <a:path w="5120640" h="2330027">
                  <a:moveTo>
                    <a:pt x="0" y="2330027"/>
                  </a:moveTo>
                  <a:cubicBezTo>
                    <a:pt x="1706880" y="0"/>
                    <a:pt x="3413760" y="0"/>
                    <a:pt x="5120640" y="2330027"/>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00700" y="4843779"/>
              <a:ext cx="731520" cy="320040"/>
            </a:xfrm>
            <a:prstGeom prst="rect">
              <a:avLst/>
            </a:prstGeom>
            <a:noFill/>
          </p:spPr>
          <p:txBody>
            <a:bodyPr wrap="square" lIns="0" tIns="0" rIns="0" bIns="0">
              <a:spAutoFit/>
            </a:bodyPr>
            <a:lstStyle/>
            <a:p>
              <a:pPr algn="l"/>
              <a:r>
                <a:rPr sz="1600" b="1" i="1" u="none">
                  <a:solidFill>
                    <a:srgbClr val="E09F3E"/>
                  </a:solidFill>
                  <a:latin typeface="Calibri"/>
                </a:rPr>
                <a:t>TR</a:t>
              </a:r>
            </a:p>
          </p:txBody>
        </p:sp>
      </p:grpSp>
      <p:grpSp>
        <p:nvGrpSpPr>
          <p:cNvPr id="134" name="Group 133">
            <a:extLst>
              <a:ext uri="{FF2B5EF4-FFF2-40B4-BE49-F238E27FC236}">
                <a16:creationId xmlns:a16="http://schemas.microsoft.com/office/drawing/2014/main" id="{C8F41695-D553-762A-1CF9-C50A16ECBFA6}"/>
              </a:ext>
            </a:extLst>
          </p:cNvPr>
          <p:cNvGrpSpPr/>
          <p:nvPr/>
        </p:nvGrpSpPr>
        <p:grpSpPr>
          <a:xfrm>
            <a:off x="4110228" y="2472174"/>
            <a:ext cx="1371600" cy="407677"/>
            <a:chOff x="4110228" y="2472174"/>
            <a:chExt cx="1371600" cy="407677"/>
          </a:xfrm>
        </p:grpSpPr>
        <p:sp>
          <p:nvSpPr>
            <p:cNvPr id="24" name="Oval 23"/>
            <p:cNvSpPr/>
            <p:nvPr/>
          </p:nvSpPr>
          <p:spPr>
            <a:xfrm>
              <a:off x="4110228" y="2779267"/>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0228" y="2472174"/>
              <a:ext cx="1371600" cy="292608"/>
            </a:xfrm>
            <a:prstGeom prst="rect">
              <a:avLst/>
            </a:prstGeom>
            <a:noFill/>
          </p:spPr>
          <p:txBody>
            <a:bodyPr wrap="square" lIns="0" tIns="0" rIns="0" bIns="0">
              <a:spAutoFit/>
            </a:bodyPr>
            <a:lstStyle/>
            <a:p>
              <a:pPr algn="l"/>
              <a:r>
                <a:rPr sz="1600" b="1" i="0" u="none" dirty="0">
                  <a:solidFill>
                    <a:srgbClr val="0B2B4E"/>
                  </a:solidFill>
                  <a:latin typeface="Calibri"/>
                </a:rPr>
                <a:t>E</a:t>
              </a:r>
              <a:r>
                <a:rPr sz="1600" b="1" i="0" u="none" baseline="-25000" dirty="0">
                  <a:solidFill>
                    <a:srgbClr val="0B2B4E"/>
                  </a:solidFill>
                  <a:latin typeface="Calibri"/>
                </a:rPr>
                <a:t>D</a:t>
              </a:r>
              <a:r>
                <a:rPr sz="1600" b="1" i="0" u="none" dirty="0">
                  <a:solidFill>
                    <a:srgbClr val="0B2B4E"/>
                  </a:solidFill>
                  <a:latin typeface="Calibri"/>
                </a:rPr>
                <a:t> = −1</a:t>
              </a:r>
            </a:p>
          </p:txBody>
        </p:sp>
      </p:grpSp>
      <p:grpSp>
        <p:nvGrpSpPr>
          <p:cNvPr id="135" name="Group 134">
            <a:extLst>
              <a:ext uri="{FF2B5EF4-FFF2-40B4-BE49-F238E27FC236}">
                <a16:creationId xmlns:a16="http://schemas.microsoft.com/office/drawing/2014/main" id="{1CD7C8E9-5562-F64F-6729-8F7AE8DC7626}"/>
              </a:ext>
            </a:extLst>
          </p:cNvPr>
          <p:cNvGrpSpPr/>
          <p:nvPr/>
        </p:nvGrpSpPr>
        <p:grpSpPr>
          <a:xfrm>
            <a:off x="3703320" y="2829559"/>
            <a:ext cx="914400" cy="3763264"/>
            <a:chOff x="3703320" y="2829559"/>
            <a:chExt cx="914400" cy="3763264"/>
          </a:xfrm>
        </p:grpSpPr>
        <p:sp>
          <p:nvSpPr>
            <p:cNvPr id="30" name="TextBox 29"/>
            <p:cNvSpPr txBox="1"/>
            <p:nvPr/>
          </p:nvSpPr>
          <p:spPr>
            <a:xfrm>
              <a:off x="3703320" y="6318503"/>
              <a:ext cx="914400" cy="274320"/>
            </a:xfrm>
            <a:prstGeom prst="rect">
              <a:avLst/>
            </a:prstGeom>
            <a:noFill/>
          </p:spPr>
          <p:txBody>
            <a:bodyPr wrap="square" lIns="0" tIns="0" rIns="0" bIns="0">
              <a:spAutoFit/>
            </a:bodyPr>
            <a:lstStyle/>
            <a:p>
              <a:pPr algn="ctr"/>
              <a:r>
                <a:rPr sz="1500" b="0" i="0" u="none" dirty="0">
                  <a:solidFill>
                    <a:srgbClr val="0B2B4E"/>
                  </a:solidFill>
                  <a:latin typeface="Calibri"/>
                </a:rPr>
                <a:t>800</a:t>
              </a:r>
            </a:p>
          </p:txBody>
        </p:sp>
        <p:cxnSp>
          <p:nvCxnSpPr>
            <p:cNvPr id="31" name="Connector 30"/>
            <p:cNvCxnSpPr/>
            <p:nvPr/>
          </p:nvCxnSpPr>
          <p:spPr>
            <a:xfrm>
              <a:off x="4160520" y="2829559"/>
              <a:ext cx="0" cy="343408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130" name="Group 129">
            <a:extLst>
              <a:ext uri="{FF2B5EF4-FFF2-40B4-BE49-F238E27FC236}">
                <a16:creationId xmlns:a16="http://schemas.microsoft.com/office/drawing/2014/main" id="{57680BE5-4C68-4A67-1047-97EE0650AFEA}"/>
              </a:ext>
            </a:extLst>
          </p:cNvPr>
          <p:cNvGrpSpPr/>
          <p:nvPr/>
        </p:nvGrpSpPr>
        <p:grpSpPr>
          <a:xfrm>
            <a:off x="4219957" y="4104131"/>
            <a:ext cx="5311764" cy="466545"/>
            <a:chOff x="4219957" y="4104131"/>
            <a:chExt cx="5311764" cy="466545"/>
          </a:xfrm>
        </p:grpSpPr>
        <p:grpSp>
          <p:nvGrpSpPr>
            <p:cNvPr id="141" name="Group pair 141"/>
            <p:cNvGrpSpPr/>
            <p:nvPr/>
          </p:nvGrpSpPr>
          <p:grpSpPr>
            <a:xfrm>
              <a:off x="6187024" y="4104131"/>
              <a:ext cx="3344697" cy="466545"/>
              <a:chOff x="8001000" y="3977639"/>
              <a:chExt cx="3886200" cy="914400"/>
            </a:xfrm>
          </p:grpSpPr>
          <p:sp>
            <p:nvSpPr>
              <p:cNvPr id="34" name="Rounded Rectangle 33"/>
              <p:cNvSpPr/>
              <p:nvPr/>
            </p:nvSpPr>
            <p:spPr>
              <a:xfrm>
                <a:off x="8001000" y="3977639"/>
                <a:ext cx="3886200" cy="9144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83881" y="4178468"/>
                <a:ext cx="3520440" cy="512740"/>
              </a:xfrm>
              <a:prstGeom prst="rect">
                <a:avLst/>
              </a:prstGeom>
              <a:noFill/>
            </p:spPr>
            <p:txBody>
              <a:bodyPr wrap="square" lIns="45720" tIns="0" rIns="45720" bIns="0" anchor="ctr">
                <a:spAutoFit/>
              </a:bodyPr>
              <a:lstStyle/>
              <a:p>
                <a:pPr algn="l"/>
                <a:r>
                  <a:rPr sz="1700" b="1" i="0" u="none" dirty="0">
                    <a:solidFill>
                      <a:srgbClr val="0070C0"/>
                    </a:solidFill>
                    <a:latin typeface="Calibri"/>
                  </a:rPr>
                  <a:t>TR is max</a:t>
                </a:r>
                <a:r>
                  <a:rPr lang="en-US" sz="1700" b="1" i="0" u="none" dirty="0">
                    <a:solidFill>
                      <a:srgbClr val="0070C0"/>
                    </a:solidFill>
                    <a:latin typeface="Calibri"/>
                  </a:rPr>
                  <a:t>imized</a:t>
                </a:r>
                <a:r>
                  <a:rPr sz="1700" b="1" i="0" u="none" dirty="0">
                    <a:solidFill>
                      <a:srgbClr val="0070C0"/>
                    </a:solidFill>
                    <a:latin typeface="Calibri"/>
                  </a:rPr>
                  <a:t> where MR = 0</a:t>
                </a:r>
              </a:p>
            </p:txBody>
          </p:sp>
        </p:grpSp>
        <p:cxnSp>
          <p:nvCxnSpPr>
            <p:cNvPr id="36" name="Connector 35"/>
            <p:cNvCxnSpPr>
              <a:cxnSpLocks/>
            </p:cNvCxnSpPr>
            <p:nvPr/>
          </p:nvCxnSpPr>
          <p:spPr>
            <a:xfrm flipH="1">
              <a:off x="4219957" y="4162652"/>
              <a:ext cx="1967067" cy="335179"/>
            </a:xfrm>
            <a:prstGeom prst="line">
              <a:avLst/>
            </a:prstGeom>
            <a:ln w="2222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40" name="TextBox 39"/>
          <p:cNvSpPr txBox="1"/>
          <p:nvPr/>
        </p:nvSpPr>
        <p:spPr>
          <a:xfrm>
            <a:off x="11475720" y="6583680"/>
            <a:ext cx="502920" cy="292608"/>
          </a:xfrm>
          <a:prstGeom prst="rect">
            <a:avLst/>
          </a:prstGeom>
          <a:noFill/>
        </p:spPr>
        <p:txBody>
          <a:bodyPr wrap="none" lIns="0" tIns="0" rIns="0" bIns="0">
            <a:spAutoFit/>
          </a:bodyPr>
          <a:lstStyle/>
          <a:p>
            <a:pPr algn="r"/>
            <a:fld id="{57E788C4-EDEA-506B-9706-C2817ED5B6F6}" type="slidenum">
              <a:rPr lang="en-US" sz="1200" dirty="0">
                <a:solidFill>
                  <a:srgbClr val="555B66"/>
                </a:solidFill>
                <a:latin typeface="Calibri"/>
              </a:rPr>
              <a:t>9</a:t>
            </a:fld>
            <a:endParaRPr lang="en-US" sz="1200" dirty="0">
              <a:solidFill>
                <a:srgbClr val="555B66"/>
              </a:solidFill>
              <a:latin typeface="Calibri"/>
            </a:endParaRPr>
          </a:p>
        </p:txBody>
      </p:sp>
      <p:grpSp>
        <p:nvGrpSpPr>
          <p:cNvPr id="132" name="Group 131">
            <a:extLst>
              <a:ext uri="{FF2B5EF4-FFF2-40B4-BE49-F238E27FC236}">
                <a16:creationId xmlns:a16="http://schemas.microsoft.com/office/drawing/2014/main" id="{0027994C-1E2F-51DD-FA73-0F454DDC4935}"/>
              </a:ext>
            </a:extLst>
          </p:cNvPr>
          <p:cNvGrpSpPr/>
          <p:nvPr/>
        </p:nvGrpSpPr>
        <p:grpSpPr>
          <a:xfrm>
            <a:off x="1681996" y="1888005"/>
            <a:ext cx="2647175" cy="422365"/>
            <a:chOff x="1681996" y="1888005"/>
            <a:chExt cx="2647175" cy="422365"/>
          </a:xfrm>
        </p:grpSpPr>
        <p:sp>
          <p:nvSpPr>
            <p:cNvPr id="41" name="Right Brace 40">
              <a:extLst>
                <a:ext uri="{FF2B5EF4-FFF2-40B4-BE49-F238E27FC236}">
                  <a16:creationId xmlns:a16="http://schemas.microsoft.com/office/drawing/2014/main" id="{33525340-3A10-FCE9-255A-BF68B2D75425}"/>
                </a:ext>
              </a:extLst>
            </p:cNvPr>
            <p:cNvSpPr/>
            <p:nvPr/>
          </p:nvSpPr>
          <p:spPr>
            <a:xfrm rot="17388011">
              <a:off x="2771562" y="972511"/>
              <a:ext cx="248293" cy="2427425"/>
            </a:xfrm>
            <a:prstGeom prst="rightBrace">
              <a:avLst>
                <a:gd name="adj1" fmla="val 8333"/>
                <a:gd name="adj2" fmla="val 50333"/>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6B5C9FB2-C471-4A74-AA98-E3FC505424F2}"/>
                </a:ext>
              </a:extLst>
            </p:cNvPr>
            <p:cNvSpPr txBox="1"/>
            <p:nvPr/>
          </p:nvSpPr>
          <p:spPr>
            <a:xfrm rot="1157093">
              <a:off x="2317491" y="1888005"/>
              <a:ext cx="2011680" cy="246221"/>
            </a:xfrm>
            <a:prstGeom prst="rect">
              <a:avLst/>
            </a:prstGeom>
            <a:noFill/>
          </p:spPr>
          <p:txBody>
            <a:bodyPr wrap="square" lIns="0" tIns="0" rIns="0" bIns="0">
              <a:spAutoFit/>
            </a:bodyPr>
            <a:lstStyle/>
            <a:p>
              <a:pPr algn="l"/>
              <a:r>
                <a:rPr lang="en-US" sz="1600" b="1" i="0" u="none" dirty="0">
                  <a:solidFill>
                    <a:srgbClr val="0070C0"/>
                  </a:solidFill>
                  <a:latin typeface="Calibri"/>
                </a:rPr>
                <a:t>E</a:t>
              </a:r>
              <a:r>
                <a:rPr sz="1600" b="1" i="0" u="none" dirty="0">
                  <a:solidFill>
                    <a:srgbClr val="0070C0"/>
                  </a:solidFill>
                  <a:latin typeface="Calibri"/>
                </a:rPr>
                <a:t>lastic portion</a:t>
              </a:r>
            </a:p>
          </p:txBody>
        </p:sp>
      </p:grpSp>
      <p:grpSp>
        <p:nvGrpSpPr>
          <p:cNvPr id="49" name="Group pair 140">
            <a:extLst>
              <a:ext uri="{FF2B5EF4-FFF2-40B4-BE49-F238E27FC236}">
                <a16:creationId xmlns:a16="http://schemas.microsoft.com/office/drawing/2014/main" id="{FB46FDB4-A000-CDBD-0CA3-7A8CE6F5E1C9}"/>
              </a:ext>
            </a:extLst>
          </p:cNvPr>
          <p:cNvGrpSpPr/>
          <p:nvPr/>
        </p:nvGrpSpPr>
        <p:grpSpPr>
          <a:xfrm>
            <a:off x="7968995" y="3234682"/>
            <a:ext cx="1828799" cy="320040"/>
            <a:chOff x="8001000" y="1554480"/>
            <a:chExt cx="3886200" cy="1965960"/>
          </a:xfrm>
        </p:grpSpPr>
        <p:sp>
          <p:nvSpPr>
            <p:cNvPr id="50" name="Rounded Rectangle 31">
              <a:extLst>
                <a:ext uri="{FF2B5EF4-FFF2-40B4-BE49-F238E27FC236}">
                  <a16:creationId xmlns:a16="http://schemas.microsoft.com/office/drawing/2014/main" id="{D4784D15-2F9C-5402-BCA3-9E13480D5454}"/>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8919FE71-1AD0-F7E2-52AB-1111ADB57091}"/>
                </a:ext>
              </a:extLst>
            </p:cNvPr>
            <p:cNvSpPr txBox="1"/>
            <p:nvPr/>
          </p:nvSpPr>
          <p:spPr>
            <a:xfrm>
              <a:off x="8183880" y="2406655"/>
              <a:ext cx="3520440" cy="261610"/>
            </a:xfrm>
            <a:prstGeom prst="rect">
              <a:avLst/>
            </a:prstGeom>
            <a:noFill/>
          </p:spPr>
          <p:txBody>
            <a:bodyPr wrap="square" lIns="45720" tIns="0" rIns="45720" bIns="0" anchor="ctr">
              <a:spAutoFit/>
            </a:bodyPr>
            <a:lstStyle/>
            <a:p>
              <a:pPr algn="l"/>
              <a:r>
                <a:rPr sz="1700" b="1" i="1" u="none" dirty="0">
                  <a:solidFill>
                    <a:srgbClr val="0070C0"/>
                  </a:solidFill>
                  <a:latin typeface="Calibri"/>
                </a:rPr>
                <a:t>MR = 400 − Q/2</a:t>
              </a:r>
            </a:p>
          </p:txBody>
        </p:sp>
      </p:grpSp>
      <p:grpSp>
        <p:nvGrpSpPr>
          <p:cNvPr id="52" name="Group pair 140">
            <a:extLst>
              <a:ext uri="{FF2B5EF4-FFF2-40B4-BE49-F238E27FC236}">
                <a16:creationId xmlns:a16="http://schemas.microsoft.com/office/drawing/2014/main" id="{661A58B8-B41D-816B-D3B3-5D7C3392033F}"/>
              </a:ext>
            </a:extLst>
          </p:cNvPr>
          <p:cNvGrpSpPr/>
          <p:nvPr/>
        </p:nvGrpSpPr>
        <p:grpSpPr>
          <a:xfrm>
            <a:off x="7926234" y="1714026"/>
            <a:ext cx="1828799" cy="320040"/>
            <a:chOff x="8001000" y="1554480"/>
            <a:chExt cx="3886200" cy="1965960"/>
          </a:xfrm>
        </p:grpSpPr>
        <p:sp>
          <p:nvSpPr>
            <p:cNvPr id="53" name="Rounded Rectangle 31">
              <a:extLst>
                <a:ext uri="{FF2B5EF4-FFF2-40B4-BE49-F238E27FC236}">
                  <a16:creationId xmlns:a16="http://schemas.microsoft.com/office/drawing/2014/main" id="{73DC029C-6D5F-5D8B-264D-8F2B7FB64E87}"/>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2F89AD8F-282D-48C4-99A2-43D4655E49D0}"/>
                </a:ext>
              </a:extLst>
            </p:cNvPr>
            <p:cNvSpPr txBox="1"/>
            <p:nvPr/>
          </p:nvSpPr>
          <p:spPr>
            <a:xfrm>
              <a:off x="8183880" y="1733944"/>
              <a:ext cx="3520441" cy="1607033"/>
            </a:xfrm>
            <a:prstGeom prst="rect">
              <a:avLst/>
            </a:prstGeom>
            <a:noFill/>
          </p:spPr>
          <p:txBody>
            <a:bodyPr wrap="square" lIns="45720" tIns="0" rIns="45720" bIns="0" anchor="ctr">
              <a:spAutoFit/>
            </a:bodyPr>
            <a:lstStyle/>
            <a:p>
              <a:r>
                <a:rPr lang="en-US" sz="1700" i="1" dirty="0">
                  <a:solidFill>
                    <a:srgbClr val="0B2B4E"/>
                  </a:solidFill>
                </a:rPr>
                <a:t>Q = 1,600 − 4P</a:t>
              </a:r>
            </a:p>
          </p:txBody>
        </p:sp>
      </p:grpSp>
      <p:grpSp>
        <p:nvGrpSpPr>
          <p:cNvPr id="55" name="Group pair 140">
            <a:extLst>
              <a:ext uri="{FF2B5EF4-FFF2-40B4-BE49-F238E27FC236}">
                <a16:creationId xmlns:a16="http://schemas.microsoft.com/office/drawing/2014/main" id="{969E7D4D-70F7-5000-5795-09643581142C}"/>
              </a:ext>
            </a:extLst>
          </p:cNvPr>
          <p:cNvGrpSpPr/>
          <p:nvPr/>
        </p:nvGrpSpPr>
        <p:grpSpPr>
          <a:xfrm>
            <a:off x="8398764" y="2155266"/>
            <a:ext cx="1828799" cy="320040"/>
            <a:chOff x="8001000" y="1554480"/>
            <a:chExt cx="3886200" cy="1965960"/>
          </a:xfrm>
        </p:grpSpPr>
        <p:sp>
          <p:nvSpPr>
            <p:cNvPr id="56" name="Rounded Rectangle 31">
              <a:extLst>
                <a:ext uri="{FF2B5EF4-FFF2-40B4-BE49-F238E27FC236}">
                  <a16:creationId xmlns:a16="http://schemas.microsoft.com/office/drawing/2014/main" id="{2C65A8EC-773F-9163-7A50-0D54A9D8A3D3}"/>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59C28ACB-EE1C-71C6-2FA2-E44FA8C54218}"/>
                </a:ext>
              </a:extLst>
            </p:cNvPr>
            <p:cNvSpPr txBox="1"/>
            <p:nvPr/>
          </p:nvSpPr>
          <p:spPr>
            <a:xfrm>
              <a:off x="8183880" y="1733944"/>
              <a:ext cx="3520441" cy="1607033"/>
            </a:xfrm>
            <a:prstGeom prst="rect">
              <a:avLst/>
            </a:prstGeom>
            <a:noFill/>
          </p:spPr>
          <p:txBody>
            <a:bodyPr wrap="square" lIns="45720" tIns="0" rIns="45720" bIns="0" anchor="ctr">
              <a:spAutoFit/>
            </a:bodyPr>
            <a:lstStyle/>
            <a:p>
              <a:r>
                <a:rPr lang="en-US" sz="1700" i="1" dirty="0">
                  <a:solidFill>
                    <a:srgbClr val="0B2B4E"/>
                  </a:solidFill>
                </a:rPr>
                <a:t>P = 400 − Q/4</a:t>
              </a:r>
            </a:p>
          </p:txBody>
        </p:sp>
      </p:grpSp>
      <p:grpSp>
        <p:nvGrpSpPr>
          <p:cNvPr id="58" name="Group pair 140">
            <a:extLst>
              <a:ext uri="{FF2B5EF4-FFF2-40B4-BE49-F238E27FC236}">
                <a16:creationId xmlns:a16="http://schemas.microsoft.com/office/drawing/2014/main" id="{92EC2280-C112-CA7B-9925-FE38DA911442}"/>
              </a:ext>
            </a:extLst>
          </p:cNvPr>
          <p:cNvGrpSpPr/>
          <p:nvPr/>
        </p:nvGrpSpPr>
        <p:grpSpPr>
          <a:xfrm>
            <a:off x="8398764" y="2604207"/>
            <a:ext cx="1828799" cy="320040"/>
            <a:chOff x="8001000" y="1554480"/>
            <a:chExt cx="3886200" cy="1965960"/>
          </a:xfrm>
        </p:grpSpPr>
        <p:sp>
          <p:nvSpPr>
            <p:cNvPr id="59" name="Rounded Rectangle 31">
              <a:extLst>
                <a:ext uri="{FF2B5EF4-FFF2-40B4-BE49-F238E27FC236}">
                  <a16:creationId xmlns:a16="http://schemas.microsoft.com/office/drawing/2014/main" id="{D4724653-69D9-BEB0-C3DD-25C449C4D358}"/>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C6F4D73D-EE75-110D-247C-3706102251F6}"/>
                </a:ext>
              </a:extLst>
            </p:cNvPr>
            <p:cNvSpPr txBox="1"/>
            <p:nvPr/>
          </p:nvSpPr>
          <p:spPr>
            <a:xfrm>
              <a:off x="8183880" y="1733944"/>
              <a:ext cx="3520441" cy="1607033"/>
            </a:xfrm>
            <a:prstGeom prst="rect">
              <a:avLst/>
            </a:prstGeom>
            <a:noFill/>
          </p:spPr>
          <p:txBody>
            <a:bodyPr wrap="square" lIns="45720" tIns="0" rIns="45720" bIns="0" anchor="ctr">
              <a:spAutoFit/>
            </a:bodyPr>
            <a:lstStyle/>
            <a:p>
              <a:r>
                <a:rPr lang="en-US" sz="1700" i="1" dirty="0">
                  <a:solidFill>
                    <a:srgbClr val="0B2B4E"/>
                  </a:solidFill>
                </a:rPr>
                <a:t>TR = 400Q − Q²/4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Why Is MR Different From the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0510489" cy="3108543"/>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i="1" dirty="0">
                <a:latin typeface="Calibri"/>
              </a:rPr>
              <a:t>MR</a:t>
            </a:r>
            <a:r>
              <a:rPr dirty="0">
                <a:latin typeface="Calibri"/>
              </a:rPr>
              <a:t> : additional revenue from selling one more unit. Sounds like the price! But…</a:t>
            </a:r>
          </a:p>
          <a:p>
            <a:pPr algn="l"/>
            <a:r>
              <a:rPr dirty="0">
                <a:latin typeface="Calibri"/>
              </a:rPr>
              <a:t>Law of demand: you need to lower the price to sell one more unit</a:t>
            </a:r>
          </a:p>
          <a:p>
            <a:pPr algn="l"/>
            <a:r>
              <a:rPr dirty="0">
                <a:latin typeface="Calibri"/>
              </a:rPr>
              <a:t>The lower price will apply to </a:t>
            </a:r>
            <a:r>
              <a:rPr i="1" dirty="0">
                <a:latin typeface="Calibri"/>
              </a:rPr>
              <a:t>all</a:t>
            </a:r>
            <a:r>
              <a:rPr dirty="0">
                <a:latin typeface="Calibri"/>
              </a:rPr>
              <a:t> units, not just the extra one</a:t>
            </a:r>
          </a:p>
          <a:p>
            <a:pPr algn="l"/>
            <a:r>
              <a:rPr i="1" dirty="0">
                <a:latin typeface="Calibri"/>
              </a:rPr>
              <a:t>MR</a:t>
            </a:r>
            <a:r>
              <a:rPr dirty="0">
                <a:latin typeface="Calibri"/>
              </a:rPr>
              <a:t> from selling one additional unit takes into account the loss on every other unit  →  </a:t>
            </a:r>
            <a:r>
              <a:rPr b="1" i="1" dirty="0">
                <a:latin typeface="Calibri"/>
              </a:rPr>
              <a:t>MR &lt; P</a:t>
            </a:r>
          </a:p>
          <a:p>
            <a:r>
              <a:rPr lang="en-US" sz="2200" u="sng" dirty="0">
                <a:latin typeface="Calibri"/>
              </a:rPr>
              <a:t>Note</a:t>
            </a:r>
            <a:r>
              <a:rPr sz="2200" dirty="0">
                <a:latin typeface="Calibri"/>
              </a:rPr>
              <a:t>: </a:t>
            </a:r>
            <a:r>
              <a:rPr lang="en-US" sz="2200" dirty="0">
                <a:latin typeface="Calibri"/>
              </a:rPr>
              <a:t>When </a:t>
            </a:r>
            <a:r>
              <a:rPr lang="en-US" sz="2000" b="1" i="1" dirty="0"/>
              <a:t>MR &lt; 0, </a:t>
            </a:r>
            <a:r>
              <a:rPr sz="2200" b="1" dirty="0">
                <a:latin typeface="Calibri"/>
              </a:rPr>
              <a:t>Total</a:t>
            </a:r>
            <a:r>
              <a:rPr sz="2200" dirty="0">
                <a:latin typeface="Calibri"/>
              </a:rPr>
              <a:t> Revenues (</a:t>
            </a:r>
            <a:r>
              <a:rPr sz="2200" i="1" dirty="0">
                <a:latin typeface="Calibri"/>
              </a:rPr>
              <a:t>TR</a:t>
            </a:r>
            <a:r>
              <a:rPr sz="2200" dirty="0">
                <a:latin typeface="Calibri"/>
              </a:rPr>
              <a:t>) decrease</a:t>
            </a:r>
            <a:r>
              <a:rPr lang="en-US" sz="2200" dirty="0">
                <a:latin typeface="Calibri"/>
              </a:rPr>
              <a:t> as price falls (and </a:t>
            </a:r>
            <a:r>
              <a:rPr sz="2200" i="1" dirty="0">
                <a:latin typeface="Calibri"/>
              </a:rPr>
              <a:t>Q</a:t>
            </a:r>
            <a:r>
              <a:rPr sz="2200" dirty="0">
                <a:latin typeface="Calibri"/>
              </a:rPr>
              <a:t> increases</a:t>
            </a:r>
            <a:r>
              <a:rPr lang="en-US" sz="2200" dirty="0">
                <a:latin typeface="Calibri"/>
              </a:rPr>
              <a:t>)</a:t>
            </a:r>
            <a:endParaRPr sz="2200" dirty="0">
              <a:latin typeface="Calibri"/>
            </a:endParaRP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AA790C0B-6B70-5B65-9ADE-9A8C3E542444}" type="slidenum">
              <a:rPr lang="en-US" sz="1200" dirty="0">
                <a:solidFill>
                  <a:srgbClr val="555B66"/>
                </a:solidFill>
                <a:latin typeface="Calibri"/>
              </a:rPr>
              <a:t>10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cc96dfb5-4d00-489e-8188-3c342d72674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1627</Words>
  <Application>Microsoft Office PowerPoint</Application>
  <PresentationFormat>Widescreen</PresentationFormat>
  <Paragraphs>169</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18</cp:revision>
  <dcterms:created xsi:type="dcterms:W3CDTF">2013-01-27T09:14:16Z</dcterms:created>
  <dcterms:modified xsi:type="dcterms:W3CDTF">2026-08-25T21:53:07Z</dcterms:modified>
  <cp:category/>
</cp:coreProperties>
</file>