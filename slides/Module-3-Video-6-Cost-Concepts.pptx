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345" r:id="rId2"/>
    <p:sldId id="296" r:id="rId3"/>
    <p:sldId id="297" r:id="rId4"/>
    <p:sldId id="298" r:id="rId5"/>
    <p:sldId id="301" r:id="rId6"/>
    <p:sldId id="302" r:id="rId7"/>
    <p:sldId id="258" r:id="rId8"/>
    <p:sldId id="303" r:id="rId9"/>
    <p:sldId id="309" r:id="rId10"/>
    <p:sldId id="310" r:id="rId11"/>
    <p:sldId id="311" r:id="rId12"/>
    <p:sldId id="315" r:id="rId13"/>
    <p:sldId id="316" r:id="rId14"/>
    <p:sldId id="31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TC</c:v>
                </c:pt>
              </c:strCache>
            </c:strRef>
          </c:tx>
          <c:spPr>
            <a:ln w="34925">
              <a:solidFill>
                <a:srgbClr val="0B2B4E"/>
              </a:solidFill>
            </a:ln>
          </c:spPr>
          <c:marker>
            <c:symbol val="none"/>
          </c:marker>
          <c:xVal>
            <c:numRef>
              <c:f>Sheet1!$A$2:$A$42</c:f>
              <c:numCache>
                <c:formatCode>General</c:formatCode>
                <c:ptCount val="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numCache>
            </c:numRef>
          </c:xVal>
          <c:yVal>
            <c:numRef>
              <c:f>Sheet1!$B$2:$B$42</c:f>
              <c:numCache>
                <c:formatCode>General</c:formatCode>
                <c:ptCount val="41"/>
                <c:pt idx="0">
                  <c:v>10</c:v>
                </c:pt>
                <c:pt idx="1">
                  <c:v>10.775</c:v>
                </c:pt>
                <c:pt idx="2">
                  <c:v>11.6</c:v>
                </c:pt>
                <c:pt idx="3">
                  <c:v>12.475</c:v>
                </c:pt>
                <c:pt idx="4">
                  <c:v>13.4</c:v>
                </c:pt>
                <c:pt idx="5">
                  <c:v>14.375</c:v>
                </c:pt>
                <c:pt idx="6">
                  <c:v>15.4</c:v>
                </c:pt>
                <c:pt idx="7">
                  <c:v>16.475000000000001</c:v>
                </c:pt>
                <c:pt idx="8">
                  <c:v>17.600000000000001</c:v>
                </c:pt>
                <c:pt idx="9">
                  <c:v>18.774999999999999</c:v>
                </c:pt>
                <c:pt idx="10">
                  <c:v>20</c:v>
                </c:pt>
                <c:pt idx="11">
                  <c:v>21.274999999999999</c:v>
                </c:pt>
                <c:pt idx="12">
                  <c:v>22.6</c:v>
                </c:pt>
                <c:pt idx="13">
                  <c:v>23.975000000000001</c:v>
                </c:pt>
                <c:pt idx="14">
                  <c:v>25.4</c:v>
                </c:pt>
                <c:pt idx="15">
                  <c:v>26.875</c:v>
                </c:pt>
                <c:pt idx="16">
                  <c:v>28.4</c:v>
                </c:pt>
                <c:pt idx="17">
                  <c:v>29.975000000000001</c:v>
                </c:pt>
                <c:pt idx="18">
                  <c:v>31.6</c:v>
                </c:pt>
                <c:pt idx="19">
                  <c:v>33.274999999999999</c:v>
                </c:pt>
                <c:pt idx="20">
                  <c:v>35</c:v>
                </c:pt>
                <c:pt idx="21">
                  <c:v>36.774999999999999</c:v>
                </c:pt>
                <c:pt idx="22">
                  <c:v>38.6</c:v>
                </c:pt>
                <c:pt idx="23">
                  <c:v>40.475000000000001</c:v>
                </c:pt>
                <c:pt idx="24">
                  <c:v>42.4</c:v>
                </c:pt>
                <c:pt idx="25">
                  <c:v>44.375</c:v>
                </c:pt>
                <c:pt idx="26">
                  <c:v>46.4</c:v>
                </c:pt>
                <c:pt idx="27">
                  <c:v>48.475000000000001</c:v>
                </c:pt>
                <c:pt idx="28">
                  <c:v>50.6</c:v>
                </c:pt>
                <c:pt idx="29">
                  <c:v>52.774999999999999</c:v>
                </c:pt>
                <c:pt idx="30">
                  <c:v>55</c:v>
                </c:pt>
                <c:pt idx="31">
                  <c:v>57.274999999999999</c:v>
                </c:pt>
                <c:pt idx="32">
                  <c:v>59.6</c:v>
                </c:pt>
                <c:pt idx="33">
                  <c:v>61.975000000000001</c:v>
                </c:pt>
                <c:pt idx="34">
                  <c:v>64.400000000000006</c:v>
                </c:pt>
                <c:pt idx="35">
                  <c:v>66.875</c:v>
                </c:pt>
                <c:pt idx="36">
                  <c:v>69.400000000000006</c:v>
                </c:pt>
                <c:pt idx="37">
                  <c:v>71.974999999999994</c:v>
                </c:pt>
                <c:pt idx="38">
                  <c:v>74.599999999999994</c:v>
                </c:pt>
                <c:pt idx="39">
                  <c:v>77.275000000000006</c:v>
                </c:pt>
                <c:pt idx="40">
                  <c:v>80</c:v>
                </c:pt>
              </c:numCache>
            </c:numRef>
          </c:yVal>
          <c:smooth val="1"/>
          <c:extLst>
            <c:ext xmlns:c16="http://schemas.microsoft.com/office/drawing/2014/chart" uri="{C3380CC4-5D6E-409C-BE32-E72D297353CC}">
              <c16:uniqueId val="{00000000-7A8A-41C2-82E6-597FEBC01566}"/>
            </c:ext>
          </c:extLst>
        </c:ser>
        <c:ser>
          <c:idx val="1"/>
          <c:order val="1"/>
          <c:tx>
            <c:strRef>
              <c:f>Sheet1!$B$44</c:f>
              <c:strCache>
                <c:ptCount val="1"/>
                <c:pt idx="0">
                  <c:v>TC (data)</c:v>
                </c:pt>
              </c:strCache>
            </c:strRef>
          </c:tx>
          <c:spPr>
            <a:ln>
              <a:noFill/>
            </a:ln>
          </c:spPr>
          <c:marker>
            <c:symbol val="circle"/>
            <c:size val="9"/>
            <c:spPr>
              <a:solidFill>
                <a:srgbClr val="0B2B4E"/>
              </a:solidFill>
              <a:ln>
                <a:solidFill>
                  <a:srgbClr val="0B2B4E"/>
                </a:solidFill>
              </a:ln>
            </c:spPr>
          </c:marker>
          <c:xVal>
            <c:numRef>
              <c:f>Sheet1!$A$45:$A$55</c:f>
              <c:numCache>
                <c:formatCode>General</c:formatCode>
                <c:ptCount val="11"/>
                <c:pt idx="0">
                  <c:v>0</c:v>
                </c:pt>
                <c:pt idx="1">
                  <c:v>100</c:v>
                </c:pt>
                <c:pt idx="2">
                  <c:v>200</c:v>
                </c:pt>
                <c:pt idx="3">
                  <c:v>300</c:v>
                </c:pt>
                <c:pt idx="4">
                  <c:v>400</c:v>
                </c:pt>
                <c:pt idx="5">
                  <c:v>500</c:v>
                </c:pt>
                <c:pt idx="6">
                  <c:v>600</c:v>
                </c:pt>
                <c:pt idx="7">
                  <c:v>700</c:v>
                </c:pt>
                <c:pt idx="8">
                  <c:v>800</c:v>
                </c:pt>
                <c:pt idx="9">
                  <c:v>900</c:v>
                </c:pt>
                <c:pt idx="10">
                  <c:v>1000</c:v>
                </c:pt>
              </c:numCache>
            </c:numRef>
          </c:xVal>
          <c:yVal>
            <c:numRef>
              <c:f>Sheet1!$B$45:$B$55</c:f>
              <c:numCache>
                <c:formatCode>General</c:formatCode>
                <c:ptCount val="11"/>
                <c:pt idx="0">
                  <c:v>8.9518585083675646</c:v>
                </c:pt>
                <c:pt idx="1">
                  <c:v>11.071234685525397</c:v>
                </c:pt>
                <c:pt idx="2">
                  <c:v>14.172702660546314</c:v>
                </c:pt>
                <c:pt idx="3">
                  <c:v>25.650720502151994</c:v>
                </c:pt>
                <c:pt idx="4">
                  <c:v>25.666261602766166</c:v>
                </c:pt>
                <c:pt idx="5">
                  <c:v>31.280633454653746</c:v>
                </c:pt>
                <c:pt idx="6">
                  <c:v>50.806136410257444</c:v>
                </c:pt>
                <c:pt idx="7">
                  <c:v>57.409979773793637</c:v>
                </c:pt>
                <c:pt idx="8">
                  <c:v>51.270695548720816</c:v>
                </c:pt>
                <c:pt idx="9">
                  <c:v>79.61693772629792</c:v>
                </c:pt>
                <c:pt idx="10">
                  <c:v>87.720059398447688</c:v>
                </c:pt>
              </c:numCache>
            </c:numRef>
          </c:yVal>
          <c:smooth val="0"/>
          <c:extLst>
            <c:ext xmlns:c16="http://schemas.microsoft.com/office/drawing/2014/chart" uri="{C3380CC4-5D6E-409C-BE32-E72D297353CC}">
              <c16:uniqueId val="{00000001-7A8A-41C2-82E6-597FEBC01566}"/>
            </c:ext>
          </c:extLst>
        </c:ser>
        <c:dLbls>
          <c:showLegendKey val="0"/>
          <c:showVal val="0"/>
          <c:showCatName val="0"/>
          <c:showSerName val="0"/>
          <c:showPercent val="0"/>
          <c:showBubbleSize val="0"/>
        </c:dLbls>
        <c:axId val="-2128940872"/>
        <c:axId val="-2129643912"/>
      </c:scatterChart>
      <c:valAx>
        <c:axId val="-2128940872"/>
        <c:scaling>
          <c:orientation val="minMax"/>
          <c:max val="1000"/>
          <c:min val="0"/>
        </c:scaling>
        <c:delete val="0"/>
        <c:axPos val="b"/>
        <c:title>
          <c:tx>
            <c:rich>
              <a:bodyPr/>
              <a:lstStyle/>
              <a:p>
                <a:r>
                  <a:rPr lang="en-US" sz="1600" b="1" i="1">
                    <a:solidFill>
                      <a:srgbClr val="0B2B4E"/>
                    </a:solidFill>
                    <a:latin typeface="Calibri"/>
                  </a:rPr>
                  <a:t>Q   (vehicles per week)</a:t>
                </a:r>
              </a:p>
            </c:rich>
          </c:tx>
          <c:overlay val="0"/>
        </c:title>
        <c:numFmt formatCode="General" sourceLinked="1"/>
        <c:majorTickMark val="out"/>
        <c:minorTickMark val="none"/>
        <c:tickLblPos val="nextTo"/>
        <c:txPr>
          <a:bodyPr/>
          <a:lstStyle/>
          <a:p>
            <a:pPr>
              <a:defRPr sz="1400">
                <a:solidFill>
                  <a:srgbClr val="0B2B4E"/>
                </a:solidFill>
                <a:latin typeface="Calibri"/>
              </a:defRPr>
            </a:pPr>
            <a:endParaRPr lang="en-US"/>
          </a:p>
        </c:txPr>
        <c:crossAx val="-2129643912"/>
        <c:crosses val="autoZero"/>
        <c:crossBetween val="midCat"/>
        <c:majorUnit val="200"/>
      </c:valAx>
      <c:valAx>
        <c:axId val="-2129643912"/>
        <c:scaling>
          <c:orientation val="minMax"/>
          <c:max val="110"/>
          <c:min val="0"/>
        </c:scaling>
        <c:delete val="0"/>
        <c:axPos val="l"/>
        <c:majorGridlines>
          <c:spPr>
            <a:ln w="9525" cap="flat" cmpd="sng" algn="ctr">
              <a:solidFill>
                <a:srgbClr val="C8CDD3"/>
              </a:solidFill>
              <a:prstDash val="dash"/>
            </a:ln>
          </c:spPr>
        </c:majorGridlines>
        <c:title>
          <c:tx>
            <c:rich>
              <a:bodyPr/>
              <a:lstStyle/>
              <a:p>
                <a:r>
                  <a:rPr lang="en-US" sz="1600" b="1" i="1">
                    <a:solidFill>
                      <a:srgbClr val="0B2B4E"/>
                    </a:solidFill>
                    <a:latin typeface="Calibri"/>
                  </a:rPr>
                  <a:t>TC   ($M)</a:t>
                </a:r>
              </a:p>
            </c:rich>
          </c:tx>
          <c:overlay val="0"/>
        </c:title>
        <c:numFmt formatCode="General" sourceLinked="1"/>
        <c:majorTickMark val="out"/>
        <c:minorTickMark val="none"/>
        <c:tickLblPos val="nextTo"/>
        <c:txPr>
          <a:bodyPr/>
          <a:lstStyle/>
          <a:p>
            <a:pPr>
              <a:defRPr sz="1400">
                <a:solidFill>
                  <a:srgbClr val="0B2B4E"/>
                </a:solidFill>
                <a:latin typeface="Calibri"/>
              </a:defRPr>
            </a:pPr>
            <a:endParaRPr lang="en-US"/>
          </a:p>
        </c:txPr>
        <c:crossAx val="-2128940872"/>
        <c:crosses val="autoZero"/>
        <c:crossBetween val="midCat"/>
        <c:majorUnit val="10"/>
      </c:valAx>
    </c:plotArea>
    <c:legend>
      <c:legendPos val="r"/>
      <c:layout>
        <c:manualLayout>
          <c:xMode val="edge"/>
          <c:yMode val="edge"/>
          <c:x val="0.2"/>
          <c:y val="0.05"/>
          <c:w val="0.18"/>
          <c:h val="0.25"/>
        </c:manualLayout>
      </c:layout>
      <c:overlay val="0"/>
      <c:spPr>
        <a:solidFill>
          <a:srgbClr val="FFFFFF"/>
        </a:solidFill>
        <a:ln w="9525">
          <a:solidFill>
            <a:srgbClr val="0B2B4E"/>
          </a:solidFill>
        </a:ln>
      </c:spPr>
      <c:txPr>
        <a:bodyPr/>
        <a:lstStyle/>
        <a:p>
          <a:pPr>
            <a:defRPr sz="1800">
              <a:solidFill>
                <a:srgbClr val="0B2B4E"/>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TC</c:v>
                </c:pt>
              </c:strCache>
            </c:strRef>
          </c:tx>
          <c:spPr>
            <a:ln w="34925">
              <a:solidFill>
                <a:srgbClr val="0B2B4E"/>
              </a:solidFill>
            </a:ln>
          </c:spPr>
          <c:marker>
            <c:symbol val="none"/>
          </c:marker>
          <c:xVal>
            <c:numRef>
              <c:f>Sheet1!$A$2:$A$42</c:f>
              <c:numCache>
                <c:formatCode>General</c:formatCode>
                <c:ptCount val="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numCache>
            </c:numRef>
          </c:xVal>
          <c:yVal>
            <c:numRef>
              <c:f>Sheet1!$B$2:$B$42</c:f>
              <c:numCache>
                <c:formatCode>General</c:formatCode>
                <c:ptCount val="41"/>
                <c:pt idx="0">
                  <c:v>10</c:v>
                </c:pt>
                <c:pt idx="1">
                  <c:v>10.775</c:v>
                </c:pt>
                <c:pt idx="2">
                  <c:v>11.6</c:v>
                </c:pt>
                <c:pt idx="3">
                  <c:v>12.475</c:v>
                </c:pt>
                <c:pt idx="4">
                  <c:v>13.4</c:v>
                </c:pt>
                <c:pt idx="5">
                  <c:v>14.375</c:v>
                </c:pt>
                <c:pt idx="6">
                  <c:v>15.4</c:v>
                </c:pt>
                <c:pt idx="7">
                  <c:v>16.475000000000001</c:v>
                </c:pt>
                <c:pt idx="8">
                  <c:v>17.600000000000001</c:v>
                </c:pt>
                <c:pt idx="9">
                  <c:v>18.774999999999999</c:v>
                </c:pt>
                <c:pt idx="10">
                  <c:v>20</c:v>
                </c:pt>
                <c:pt idx="11">
                  <c:v>21.274999999999999</c:v>
                </c:pt>
                <c:pt idx="12">
                  <c:v>22.6</c:v>
                </c:pt>
                <c:pt idx="13">
                  <c:v>23.975000000000001</c:v>
                </c:pt>
                <c:pt idx="14">
                  <c:v>25.4</c:v>
                </c:pt>
                <c:pt idx="15">
                  <c:v>26.875</c:v>
                </c:pt>
                <c:pt idx="16">
                  <c:v>28.4</c:v>
                </c:pt>
                <c:pt idx="17">
                  <c:v>29.975000000000001</c:v>
                </c:pt>
                <c:pt idx="18">
                  <c:v>31.6</c:v>
                </c:pt>
                <c:pt idx="19">
                  <c:v>33.274999999999999</c:v>
                </c:pt>
                <c:pt idx="20">
                  <c:v>35</c:v>
                </c:pt>
                <c:pt idx="21">
                  <c:v>36.774999999999999</c:v>
                </c:pt>
                <c:pt idx="22">
                  <c:v>38.6</c:v>
                </c:pt>
                <c:pt idx="23">
                  <c:v>40.475000000000001</c:v>
                </c:pt>
                <c:pt idx="24">
                  <c:v>42.4</c:v>
                </c:pt>
                <c:pt idx="25">
                  <c:v>44.375</c:v>
                </c:pt>
                <c:pt idx="26">
                  <c:v>46.4</c:v>
                </c:pt>
                <c:pt idx="27">
                  <c:v>48.475000000000001</c:v>
                </c:pt>
                <c:pt idx="28">
                  <c:v>50.6</c:v>
                </c:pt>
                <c:pt idx="29">
                  <c:v>52.774999999999999</c:v>
                </c:pt>
                <c:pt idx="30">
                  <c:v>55</c:v>
                </c:pt>
                <c:pt idx="31">
                  <c:v>57.274999999999999</c:v>
                </c:pt>
                <c:pt idx="32">
                  <c:v>59.6</c:v>
                </c:pt>
                <c:pt idx="33">
                  <c:v>61.975000000000001</c:v>
                </c:pt>
                <c:pt idx="34">
                  <c:v>64.400000000000006</c:v>
                </c:pt>
                <c:pt idx="35">
                  <c:v>66.875</c:v>
                </c:pt>
                <c:pt idx="36">
                  <c:v>69.400000000000006</c:v>
                </c:pt>
                <c:pt idx="37">
                  <c:v>71.974999999999994</c:v>
                </c:pt>
                <c:pt idx="38">
                  <c:v>74.599999999999994</c:v>
                </c:pt>
                <c:pt idx="39">
                  <c:v>77.275000000000006</c:v>
                </c:pt>
                <c:pt idx="40">
                  <c:v>80</c:v>
                </c:pt>
              </c:numCache>
            </c:numRef>
          </c:yVal>
          <c:smooth val="1"/>
          <c:extLst>
            <c:ext xmlns:c16="http://schemas.microsoft.com/office/drawing/2014/chart" uri="{C3380CC4-5D6E-409C-BE32-E72D297353CC}">
              <c16:uniqueId val="{00000000-3D46-4AF8-8B57-DFE75B178F27}"/>
            </c:ext>
          </c:extLst>
        </c:ser>
        <c:ser>
          <c:idx val="1"/>
          <c:order val="1"/>
          <c:tx>
            <c:strRef>
              <c:f>Sheet1!$B$44</c:f>
              <c:strCache>
                <c:ptCount val="1"/>
                <c:pt idx="0">
                  <c:v>TFC</c:v>
                </c:pt>
              </c:strCache>
            </c:strRef>
          </c:tx>
          <c:spPr>
            <a:ln w="34925">
              <a:solidFill>
                <a:srgbClr val="E09F3E"/>
              </a:solidFill>
            </a:ln>
          </c:spPr>
          <c:marker>
            <c:symbol val="none"/>
          </c:marker>
          <c:xVal>
            <c:numRef>
              <c:f>Sheet1!$A$45:$A$85</c:f>
              <c:numCache>
                <c:formatCode>General</c:formatCode>
                <c:ptCount val="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numCache>
            </c:numRef>
          </c:xVal>
          <c:yVal>
            <c:numRef>
              <c:f>Sheet1!$B$45:$B$85</c:f>
              <c:numCache>
                <c:formatCode>General</c:formatCode>
                <c:ptCount val="41"/>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pt idx="16">
                  <c:v>10</c:v>
                </c:pt>
                <c:pt idx="17">
                  <c:v>10</c:v>
                </c:pt>
                <c:pt idx="18">
                  <c:v>10</c:v>
                </c:pt>
                <c:pt idx="19">
                  <c:v>10</c:v>
                </c:pt>
                <c:pt idx="20">
                  <c:v>10</c:v>
                </c:pt>
                <c:pt idx="21">
                  <c:v>10</c:v>
                </c:pt>
                <c:pt idx="22">
                  <c:v>10</c:v>
                </c:pt>
                <c:pt idx="23">
                  <c:v>10</c:v>
                </c:pt>
                <c:pt idx="24">
                  <c:v>10</c:v>
                </c:pt>
                <c:pt idx="25">
                  <c:v>10</c:v>
                </c:pt>
                <c:pt idx="26">
                  <c:v>10</c:v>
                </c:pt>
                <c:pt idx="27">
                  <c:v>10</c:v>
                </c:pt>
                <c:pt idx="28">
                  <c:v>10</c:v>
                </c:pt>
                <c:pt idx="29">
                  <c:v>10</c:v>
                </c:pt>
                <c:pt idx="30">
                  <c:v>10</c:v>
                </c:pt>
                <c:pt idx="31">
                  <c:v>10</c:v>
                </c:pt>
                <c:pt idx="32">
                  <c:v>10</c:v>
                </c:pt>
                <c:pt idx="33">
                  <c:v>10</c:v>
                </c:pt>
                <c:pt idx="34">
                  <c:v>10</c:v>
                </c:pt>
                <c:pt idx="35">
                  <c:v>10</c:v>
                </c:pt>
                <c:pt idx="36">
                  <c:v>10</c:v>
                </c:pt>
                <c:pt idx="37">
                  <c:v>10</c:v>
                </c:pt>
                <c:pt idx="38">
                  <c:v>10</c:v>
                </c:pt>
                <c:pt idx="39">
                  <c:v>10</c:v>
                </c:pt>
                <c:pt idx="40">
                  <c:v>10</c:v>
                </c:pt>
              </c:numCache>
            </c:numRef>
          </c:yVal>
          <c:smooth val="1"/>
          <c:extLst>
            <c:ext xmlns:c16="http://schemas.microsoft.com/office/drawing/2014/chart" uri="{C3380CC4-5D6E-409C-BE32-E72D297353CC}">
              <c16:uniqueId val="{00000001-3D46-4AF8-8B57-DFE75B178F27}"/>
            </c:ext>
          </c:extLst>
        </c:ser>
        <c:ser>
          <c:idx val="2"/>
          <c:order val="2"/>
          <c:tx>
            <c:strRef>
              <c:f>Sheet1!$B$87</c:f>
              <c:strCache>
                <c:ptCount val="1"/>
                <c:pt idx="0">
                  <c:v>TVC</c:v>
                </c:pt>
              </c:strCache>
            </c:strRef>
          </c:tx>
          <c:spPr>
            <a:ln w="34925">
              <a:solidFill>
                <a:srgbClr val="C0504D"/>
              </a:solidFill>
            </a:ln>
          </c:spPr>
          <c:marker>
            <c:symbol val="none"/>
          </c:marker>
          <c:xVal>
            <c:numRef>
              <c:f>Sheet1!$A$88:$A$128</c:f>
              <c:numCache>
                <c:formatCode>General</c:formatCode>
                <c:ptCount val="4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numCache>
            </c:numRef>
          </c:xVal>
          <c:yVal>
            <c:numRef>
              <c:f>Sheet1!$B$88:$B$128</c:f>
              <c:numCache>
                <c:formatCode>General</c:formatCode>
                <c:ptCount val="41"/>
                <c:pt idx="0">
                  <c:v>0</c:v>
                </c:pt>
                <c:pt idx="1">
                  <c:v>0.77500000000000002</c:v>
                </c:pt>
                <c:pt idx="2">
                  <c:v>1.6</c:v>
                </c:pt>
                <c:pt idx="3">
                  <c:v>2.4750000000000001</c:v>
                </c:pt>
                <c:pt idx="4">
                  <c:v>3.4</c:v>
                </c:pt>
                <c:pt idx="5">
                  <c:v>4.375</c:v>
                </c:pt>
                <c:pt idx="6">
                  <c:v>5.4</c:v>
                </c:pt>
                <c:pt idx="7">
                  <c:v>6.4749999999999996</c:v>
                </c:pt>
                <c:pt idx="8">
                  <c:v>7.6</c:v>
                </c:pt>
                <c:pt idx="9">
                  <c:v>8.7750000000000004</c:v>
                </c:pt>
                <c:pt idx="10">
                  <c:v>10</c:v>
                </c:pt>
                <c:pt idx="11">
                  <c:v>11.275</c:v>
                </c:pt>
                <c:pt idx="12">
                  <c:v>12.6</c:v>
                </c:pt>
                <c:pt idx="13">
                  <c:v>13.975</c:v>
                </c:pt>
                <c:pt idx="14">
                  <c:v>15.4</c:v>
                </c:pt>
                <c:pt idx="15">
                  <c:v>16.875</c:v>
                </c:pt>
                <c:pt idx="16">
                  <c:v>18.399999999999999</c:v>
                </c:pt>
                <c:pt idx="17">
                  <c:v>19.975000000000001</c:v>
                </c:pt>
                <c:pt idx="18">
                  <c:v>21.6</c:v>
                </c:pt>
                <c:pt idx="19">
                  <c:v>23.274999999999999</c:v>
                </c:pt>
                <c:pt idx="20">
                  <c:v>25</c:v>
                </c:pt>
                <c:pt idx="21">
                  <c:v>26.774999999999999</c:v>
                </c:pt>
                <c:pt idx="22">
                  <c:v>28.6</c:v>
                </c:pt>
                <c:pt idx="23">
                  <c:v>30.475000000000001</c:v>
                </c:pt>
                <c:pt idx="24">
                  <c:v>32.4</c:v>
                </c:pt>
                <c:pt idx="25">
                  <c:v>34.375</c:v>
                </c:pt>
                <c:pt idx="26">
                  <c:v>36.4</c:v>
                </c:pt>
                <c:pt idx="27">
                  <c:v>38.475000000000001</c:v>
                </c:pt>
                <c:pt idx="28">
                  <c:v>40.6</c:v>
                </c:pt>
                <c:pt idx="29">
                  <c:v>42.774999999999999</c:v>
                </c:pt>
                <c:pt idx="30">
                  <c:v>45</c:v>
                </c:pt>
                <c:pt idx="31">
                  <c:v>47.274999999999999</c:v>
                </c:pt>
                <c:pt idx="32">
                  <c:v>49.6</c:v>
                </c:pt>
                <c:pt idx="33">
                  <c:v>51.975000000000001</c:v>
                </c:pt>
                <c:pt idx="34">
                  <c:v>54.4</c:v>
                </c:pt>
                <c:pt idx="35">
                  <c:v>56.875</c:v>
                </c:pt>
                <c:pt idx="36">
                  <c:v>59.4</c:v>
                </c:pt>
                <c:pt idx="37">
                  <c:v>61.975000000000001</c:v>
                </c:pt>
                <c:pt idx="38">
                  <c:v>64.599999999999994</c:v>
                </c:pt>
                <c:pt idx="39">
                  <c:v>67.275000000000006</c:v>
                </c:pt>
                <c:pt idx="40">
                  <c:v>70</c:v>
                </c:pt>
              </c:numCache>
            </c:numRef>
          </c:yVal>
          <c:smooth val="1"/>
          <c:extLst>
            <c:ext xmlns:c16="http://schemas.microsoft.com/office/drawing/2014/chart" uri="{C3380CC4-5D6E-409C-BE32-E72D297353CC}">
              <c16:uniqueId val="{00000002-3D46-4AF8-8B57-DFE75B178F27}"/>
            </c:ext>
          </c:extLst>
        </c:ser>
        <c:dLbls>
          <c:showLegendKey val="0"/>
          <c:showVal val="0"/>
          <c:showCatName val="0"/>
          <c:showSerName val="0"/>
          <c:showPercent val="0"/>
          <c:showBubbleSize val="0"/>
        </c:dLbls>
        <c:axId val="-2128940872"/>
        <c:axId val="-2129643912"/>
      </c:scatterChart>
      <c:valAx>
        <c:axId val="-2128940872"/>
        <c:scaling>
          <c:orientation val="minMax"/>
          <c:max val="1000"/>
          <c:min val="0"/>
        </c:scaling>
        <c:delete val="0"/>
        <c:axPos val="b"/>
        <c:title>
          <c:tx>
            <c:rich>
              <a:bodyPr/>
              <a:lstStyle/>
              <a:p>
                <a:r>
                  <a:rPr lang="en-US" sz="1800" b="1" i="1">
                    <a:solidFill>
                      <a:srgbClr val="0B2B4E"/>
                    </a:solidFill>
                    <a:latin typeface="Calibri"/>
                  </a:rPr>
                  <a:t>Q   (vehicles per week)</a:t>
                </a:r>
              </a:p>
            </c:rich>
          </c:tx>
          <c:overlay val="0"/>
        </c:title>
        <c:numFmt formatCode="General" sourceLinked="1"/>
        <c:majorTickMark val="out"/>
        <c:minorTickMark val="none"/>
        <c:tickLblPos val="nextTo"/>
        <c:txPr>
          <a:bodyPr/>
          <a:lstStyle/>
          <a:p>
            <a:pPr>
              <a:defRPr sz="1600">
                <a:solidFill>
                  <a:srgbClr val="0B2B4E"/>
                </a:solidFill>
                <a:latin typeface="Calibri"/>
              </a:defRPr>
            </a:pPr>
            <a:endParaRPr lang="en-US"/>
          </a:p>
        </c:txPr>
        <c:crossAx val="-2129643912"/>
        <c:crosses val="autoZero"/>
        <c:crossBetween val="midCat"/>
        <c:majorUnit val="200"/>
      </c:valAx>
      <c:valAx>
        <c:axId val="-2129643912"/>
        <c:scaling>
          <c:orientation val="minMax"/>
          <c:max val="90"/>
          <c:min val="0"/>
        </c:scaling>
        <c:delete val="0"/>
        <c:axPos val="l"/>
        <c:majorGridlines>
          <c:spPr>
            <a:ln w="9525" cap="flat" cmpd="sng" algn="ctr">
              <a:solidFill>
                <a:srgbClr val="C8CDD3"/>
              </a:solidFill>
              <a:prstDash val="dash"/>
            </a:ln>
          </c:spPr>
        </c:majorGridlines>
        <c:title>
          <c:tx>
            <c:rich>
              <a:bodyPr/>
              <a:lstStyle/>
              <a:p>
                <a:r>
                  <a:rPr lang="en-US" sz="1800" b="1" i="1">
                    <a:solidFill>
                      <a:srgbClr val="0B2B4E"/>
                    </a:solidFill>
                    <a:latin typeface="Calibri"/>
                  </a:rPr>
                  <a:t>Cost   ($M)</a:t>
                </a:r>
              </a:p>
            </c:rich>
          </c:tx>
          <c:overlay val="0"/>
        </c:title>
        <c:numFmt formatCode="General" sourceLinked="1"/>
        <c:majorTickMark val="out"/>
        <c:minorTickMark val="none"/>
        <c:tickLblPos val="nextTo"/>
        <c:txPr>
          <a:bodyPr/>
          <a:lstStyle/>
          <a:p>
            <a:pPr>
              <a:defRPr sz="1600">
                <a:solidFill>
                  <a:srgbClr val="0B2B4E"/>
                </a:solidFill>
                <a:latin typeface="Calibri"/>
              </a:defRPr>
            </a:pPr>
            <a:endParaRPr lang="en-US"/>
          </a:p>
        </c:txPr>
        <c:crossAx val="-2128940872"/>
        <c:crosses val="autoZero"/>
        <c:crossBetween val="midCat"/>
        <c:majorUnit val="10"/>
      </c:valAx>
    </c:plotArea>
    <c:legend>
      <c:legendPos val="r"/>
      <c:layout>
        <c:manualLayout>
          <c:xMode val="edge"/>
          <c:yMode val="edge"/>
          <c:x val="0.193"/>
          <c:y val="0.14899999999999999"/>
          <c:w val="0.15"/>
          <c:h val="0.221"/>
        </c:manualLayout>
      </c:layout>
      <c:overlay val="0"/>
      <c:spPr>
        <a:solidFill>
          <a:srgbClr val="FFFFFF"/>
        </a:solidFill>
        <a:ln w="9525">
          <a:solidFill>
            <a:srgbClr val="0B2B4E"/>
          </a:solidFill>
        </a:ln>
      </c:spPr>
      <c:txPr>
        <a:bodyPr/>
        <a:lstStyle/>
        <a:p>
          <a:pPr>
            <a:defRPr sz="1800">
              <a:solidFill>
                <a:srgbClr val="0B2B4E"/>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2872569057646513"/>
          <c:y val="4.5672603842114391E-2"/>
          <c:w val="0.79662349869506943"/>
          <c:h val="0.74657618660696368"/>
        </c:manualLayout>
      </c:layout>
      <c:scatterChart>
        <c:scatterStyle val="lineMarker"/>
        <c:varyColors val="0"/>
        <c:ser>
          <c:idx val="0"/>
          <c:order val="0"/>
          <c:tx>
            <c:strRef>
              <c:f>Sheet1!$B$1</c:f>
              <c:strCache>
                <c:ptCount val="1"/>
                <c:pt idx="0">
                  <c:v>ATC</c:v>
                </c:pt>
              </c:strCache>
            </c:strRef>
          </c:tx>
          <c:spPr>
            <a:ln w="34925">
              <a:solidFill>
                <a:srgbClr val="2E75B6"/>
              </a:solidFill>
            </a:ln>
          </c:spPr>
          <c:marker>
            <c:symbol val="none"/>
          </c:marker>
          <c:xVal>
            <c:numRef>
              <c:f>Sheet1!$A$2:$A$38</c:f>
              <c:numCache>
                <c:formatCode>General</c:formatCode>
                <c:ptCount val="37"/>
                <c:pt idx="0">
                  <c:v>100</c:v>
                </c:pt>
                <c:pt idx="1">
                  <c:v>125</c:v>
                </c:pt>
                <c:pt idx="2">
                  <c:v>150</c:v>
                </c:pt>
                <c:pt idx="3">
                  <c:v>175</c:v>
                </c:pt>
                <c:pt idx="4">
                  <c:v>200</c:v>
                </c:pt>
                <c:pt idx="5">
                  <c:v>225</c:v>
                </c:pt>
                <c:pt idx="6">
                  <c:v>250</c:v>
                </c:pt>
                <c:pt idx="7">
                  <c:v>275</c:v>
                </c:pt>
                <c:pt idx="8">
                  <c:v>300</c:v>
                </c:pt>
                <c:pt idx="9">
                  <c:v>325</c:v>
                </c:pt>
                <c:pt idx="10">
                  <c:v>350</c:v>
                </c:pt>
                <c:pt idx="11">
                  <c:v>375</c:v>
                </c:pt>
                <c:pt idx="12">
                  <c:v>400</c:v>
                </c:pt>
                <c:pt idx="13">
                  <c:v>425</c:v>
                </c:pt>
                <c:pt idx="14">
                  <c:v>450</c:v>
                </c:pt>
                <c:pt idx="15">
                  <c:v>475</c:v>
                </c:pt>
                <c:pt idx="16">
                  <c:v>500</c:v>
                </c:pt>
                <c:pt idx="17">
                  <c:v>525</c:v>
                </c:pt>
                <c:pt idx="18">
                  <c:v>550</c:v>
                </c:pt>
                <c:pt idx="19">
                  <c:v>575</c:v>
                </c:pt>
                <c:pt idx="20">
                  <c:v>600</c:v>
                </c:pt>
                <c:pt idx="21">
                  <c:v>625</c:v>
                </c:pt>
                <c:pt idx="22">
                  <c:v>650</c:v>
                </c:pt>
                <c:pt idx="23">
                  <c:v>675</c:v>
                </c:pt>
                <c:pt idx="24">
                  <c:v>700</c:v>
                </c:pt>
                <c:pt idx="25">
                  <c:v>725</c:v>
                </c:pt>
                <c:pt idx="26">
                  <c:v>750</c:v>
                </c:pt>
                <c:pt idx="27">
                  <c:v>775</c:v>
                </c:pt>
                <c:pt idx="28">
                  <c:v>800</c:v>
                </c:pt>
                <c:pt idx="29">
                  <c:v>825</c:v>
                </c:pt>
                <c:pt idx="30">
                  <c:v>850</c:v>
                </c:pt>
                <c:pt idx="31">
                  <c:v>875</c:v>
                </c:pt>
                <c:pt idx="32">
                  <c:v>900</c:v>
                </c:pt>
                <c:pt idx="33">
                  <c:v>925</c:v>
                </c:pt>
                <c:pt idx="34">
                  <c:v>950</c:v>
                </c:pt>
                <c:pt idx="35">
                  <c:v>975</c:v>
                </c:pt>
                <c:pt idx="36">
                  <c:v>1000</c:v>
                </c:pt>
              </c:numCache>
            </c:numRef>
          </c:xVal>
          <c:yVal>
            <c:numRef>
              <c:f>Sheet1!$B$2:$B$38</c:f>
              <c:numCache>
                <c:formatCode>General</c:formatCode>
                <c:ptCount val="37"/>
                <c:pt idx="0">
                  <c:v>134</c:v>
                </c:pt>
                <c:pt idx="1">
                  <c:v>115</c:v>
                </c:pt>
                <c:pt idx="2">
                  <c:v>102.66666666666667</c:v>
                </c:pt>
                <c:pt idx="3">
                  <c:v>94.142857142857139</c:v>
                </c:pt>
                <c:pt idx="4">
                  <c:v>88</c:v>
                </c:pt>
                <c:pt idx="5">
                  <c:v>83.444444444444443</c:v>
                </c:pt>
                <c:pt idx="6">
                  <c:v>80</c:v>
                </c:pt>
                <c:pt idx="7">
                  <c:v>77.36363636363636</c:v>
                </c:pt>
                <c:pt idx="8">
                  <c:v>75.333333333333343</c:v>
                </c:pt>
                <c:pt idx="9">
                  <c:v>73.769230769230759</c:v>
                </c:pt>
                <c:pt idx="10">
                  <c:v>72.571428571428584</c:v>
                </c:pt>
                <c:pt idx="11">
                  <c:v>71.666666666666671</c:v>
                </c:pt>
                <c:pt idx="12">
                  <c:v>71</c:v>
                </c:pt>
                <c:pt idx="13">
                  <c:v>70.52941176470587</c:v>
                </c:pt>
                <c:pt idx="14">
                  <c:v>70.222222222222214</c:v>
                </c:pt>
                <c:pt idx="15">
                  <c:v>70.05263157894737</c:v>
                </c:pt>
                <c:pt idx="16">
                  <c:v>70</c:v>
                </c:pt>
                <c:pt idx="17">
                  <c:v>70.047619047619051</c:v>
                </c:pt>
                <c:pt idx="18">
                  <c:v>70.181818181818173</c:v>
                </c:pt>
                <c:pt idx="19">
                  <c:v>70.391304347826079</c:v>
                </c:pt>
                <c:pt idx="20">
                  <c:v>70.666666666666671</c:v>
                </c:pt>
                <c:pt idx="21">
                  <c:v>71</c:v>
                </c:pt>
                <c:pt idx="22">
                  <c:v>71.384615384615373</c:v>
                </c:pt>
                <c:pt idx="23">
                  <c:v>71.814814814814824</c:v>
                </c:pt>
                <c:pt idx="24">
                  <c:v>72.285714285714292</c:v>
                </c:pt>
                <c:pt idx="25">
                  <c:v>72.793103448275858</c:v>
                </c:pt>
                <c:pt idx="26">
                  <c:v>73.333333333333343</c:v>
                </c:pt>
                <c:pt idx="27">
                  <c:v>73.903225806451601</c:v>
                </c:pt>
                <c:pt idx="28">
                  <c:v>74.5</c:v>
                </c:pt>
                <c:pt idx="29">
                  <c:v>75.121212121212125</c:v>
                </c:pt>
                <c:pt idx="30">
                  <c:v>75.764705882352942</c:v>
                </c:pt>
                <c:pt idx="31">
                  <c:v>76.428571428571416</c:v>
                </c:pt>
                <c:pt idx="32">
                  <c:v>77.111111111111114</c:v>
                </c:pt>
                <c:pt idx="33">
                  <c:v>77.810810810810807</c:v>
                </c:pt>
                <c:pt idx="34">
                  <c:v>78.526315789473685</c:v>
                </c:pt>
                <c:pt idx="35">
                  <c:v>79.256410256410248</c:v>
                </c:pt>
                <c:pt idx="36">
                  <c:v>80</c:v>
                </c:pt>
              </c:numCache>
            </c:numRef>
          </c:yVal>
          <c:smooth val="1"/>
          <c:extLst>
            <c:ext xmlns:c16="http://schemas.microsoft.com/office/drawing/2014/chart" uri="{C3380CC4-5D6E-409C-BE32-E72D297353CC}">
              <c16:uniqueId val="{00000000-FE2F-44AE-873B-96EA39CD733E}"/>
            </c:ext>
          </c:extLst>
        </c:ser>
        <c:ser>
          <c:idx val="1"/>
          <c:order val="1"/>
          <c:tx>
            <c:strRef>
              <c:f>Sheet1!$B$40</c:f>
              <c:strCache>
                <c:ptCount val="1"/>
                <c:pt idx="0">
                  <c:v>AFC</c:v>
                </c:pt>
              </c:strCache>
            </c:strRef>
          </c:tx>
          <c:spPr>
            <a:ln w="34925">
              <a:solidFill>
                <a:srgbClr val="ED7D31"/>
              </a:solidFill>
            </a:ln>
          </c:spPr>
          <c:marker>
            <c:symbol val="none"/>
          </c:marker>
          <c:xVal>
            <c:numRef>
              <c:f>Sheet1!$A$41:$A$77</c:f>
              <c:numCache>
                <c:formatCode>General</c:formatCode>
                <c:ptCount val="37"/>
                <c:pt idx="0">
                  <c:v>100</c:v>
                </c:pt>
                <c:pt idx="1">
                  <c:v>125</c:v>
                </c:pt>
                <c:pt idx="2">
                  <c:v>150</c:v>
                </c:pt>
                <c:pt idx="3">
                  <c:v>175</c:v>
                </c:pt>
                <c:pt idx="4">
                  <c:v>200</c:v>
                </c:pt>
                <c:pt idx="5">
                  <c:v>225</c:v>
                </c:pt>
                <c:pt idx="6">
                  <c:v>250</c:v>
                </c:pt>
                <c:pt idx="7">
                  <c:v>275</c:v>
                </c:pt>
                <c:pt idx="8">
                  <c:v>300</c:v>
                </c:pt>
                <c:pt idx="9">
                  <c:v>325</c:v>
                </c:pt>
                <c:pt idx="10">
                  <c:v>350</c:v>
                </c:pt>
                <c:pt idx="11">
                  <c:v>375</c:v>
                </c:pt>
                <c:pt idx="12">
                  <c:v>400</c:v>
                </c:pt>
                <c:pt idx="13">
                  <c:v>425</c:v>
                </c:pt>
                <c:pt idx="14">
                  <c:v>450</c:v>
                </c:pt>
                <c:pt idx="15">
                  <c:v>475</c:v>
                </c:pt>
                <c:pt idx="16">
                  <c:v>500</c:v>
                </c:pt>
                <c:pt idx="17">
                  <c:v>525</c:v>
                </c:pt>
                <c:pt idx="18">
                  <c:v>550</c:v>
                </c:pt>
                <c:pt idx="19">
                  <c:v>575</c:v>
                </c:pt>
                <c:pt idx="20">
                  <c:v>600</c:v>
                </c:pt>
                <c:pt idx="21">
                  <c:v>625</c:v>
                </c:pt>
                <c:pt idx="22">
                  <c:v>650</c:v>
                </c:pt>
                <c:pt idx="23">
                  <c:v>675</c:v>
                </c:pt>
                <c:pt idx="24">
                  <c:v>700</c:v>
                </c:pt>
                <c:pt idx="25">
                  <c:v>725</c:v>
                </c:pt>
                <c:pt idx="26">
                  <c:v>750</c:v>
                </c:pt>
                <c:pt idx="27">
                  <c:v>775</c:v>
                </c:pt>
                <c:pt idx="28">
                  <c:v>800</c:v>
                </c:pt>
                <c:pt idx="29">
                  <c:v>825</c:v>
                </c:pt>
                <c:pt idx="30">
                  <c:v>850</c:v>
                </c:pt>
                <c:pt idx="31">
                  <c:v>875</c:v>
                </c:pt>
                <c:pt idx="32">
                  <c:v>900</c:v>
                </c:pt>
                <c:pt idx="33">
                  <c:v>925</c:v>
                </c:pt>
                <c:pt idx="34">
                  <c:v>950</c:v>
                </c:pt>
                <c:pt idx="35">
                  <c:v>975</c:v>
                </c:pt>
                <c:pt idx="36">
                  <c:v>1000</c:v>
                </c:pt>
              </c:numCache>
            </c:numRef>
          </c:xVal>
          <c:yVal>
            <c:numRef>
              <c:f>Sheet1!$B$41:$B$77</c:f>
              <c:numCache>
                <c:formatCode>General</c:formatCode>
                <c:ptCount val="37"/>
                <c:pt idx="0">
                  <c:v>100</c:v>
                </c:pt>
                <c:pt idx="1">
                  <c:v>80</c:v>
                </c:pt>
                <c:pt idx="2">
                  <c:v>66.666666666666671</c:v>
                </c:pt>
                <c:pt idx="3">
                  <c:v>57.142857142857146</c:v>
                </c:pt>
                <c:pt idx="4">
                  <c:v>50</c:v>
                </c:pt>
                <c:pt idx="5">
                  <c:v>44.444444444444443</c:v>
                </c:pt>
                <c:pt idx="6">
                  <c:v>40</c:v>
                </c:pt>
                <c:pt idx="7">
                  <c:v>36.36363636363636</c:v>
                </c:pt>
                <c:pt idx="8">
                  <c:v>33.333333333333336</c:v>
                </c:pt>
                <c:pt idx="9">
                  <c:v>30.76923076923077</c:v>
                </c:pt>
                <c:pt idx="10">
                  <c:v>28.571428571428573</c:v>
                </c:pt>
                <c:pt idx="11">
                  <c:v>26.666666666666668</c:v>
                </c:pt>
                <c:pt idx="12">
                  <c:v>25</c:v>
                </c:pt>
                <c:pt idx="13">
                  <c:v>23.52941176470588</c:v>
                </c:pt>
                <c:pt idx="14">
                  <c:v>22.222222222222221</c:v>
                </c:pt>
                <c:pt idx="15">
                  <c:v>21.05263157894737</c:v>
                </c:pt>
                <c:pt idx="16">
                  <c:v>20</c:v>
                </c:pt>
                <c:pt idx="17">
                  <c:v>19.047619047619047</c:v>
                </c:pt>
                <c:pt idx="18">
                  <c:v>18.18181818181818</c:v>
                </c:pt>
                <c:pt idx="19">
                  <c:v>17.39130434782609</c:v>
                </c:pt>
                <c:pt idx="20">
                  <c:v>16.666666666666668</c:v>
                </c:pt>
                <c:pt idx="21">
                  <c:v>16</c:v>
                </c:pt>
                <c:pt idx="22">
                  <c:v>15.384615384615385</c:v>
                </c:pt>
                <c:pt idx="23">
                  <c:v>14.814814814814815</c:v>
                </c:pt>
                <c:pt idx="24">
                  <c:v>14.285714285714286</c:v>
                </c:pt>
                <c:pt idx="25">
                  <c:v>13.793103448275863</c:v>
                </c:pt>
                <c:pt idx="26">
                  <c:v>13.333333333333334</c:v>
                </c:pt>
                <c:pt idx="27">
                  <c:v>12.903225806451614</c:v>
                </c:pt>
                <c:pt idx="28">
                  <c:v>12.5</c:v>
                </c:pt>
                <c:pt idx="29">
                  <c:v>12.121212121212121</c:v>
                </c:pt>
                <c:pt idx="30">
                  <c:v>11.76470588235294</c:v>
                </c:pt>
                <c:pt idx="31">
                  <c:v>11.428571428571429</c:v>
                </c:pt>
                <c:pt idx="32">
                  <c:v>11.111111111111111</c:v>
                </c:pt>
                <c:pt idx="33">
                  <c:v>10.810810810810811</c:v>
                </c:pt>
                <c:pt idx="34">
                  <c:v>10.526315789473685</c:v>
                </c:pt>
                <c:pt idx="35">
                  <c:v>10.256410256410255</c:v>
                </c:pt>
                <c:pt idx="36">
                  <c:v>10</c:v>
                </c:pt>
              </c:numCache>
            </c:numRef>
          </c:yVal>
          <c:smooth val="1"/>
          <c:extLst>
            <c:ext xmlns:c16="http://schemas.microsoft.com/office/drawing/2014/chart" uri="{C3380CC4-5D6E-409C-BE32-E72D297353CC}">
              <c16:uniqueId val="{00000001-FE2F-44AE-873B-96EA39CD733E}"/>
            </c:ext>
          </c:extLst>
        </c:ser>
        <c:ser>
          <c:idx val="2"/>
          <c:order val="2"/>
          <c:tx>
            <c:strRef>
              <c:f>Sheet1!$B$79</c:f>
              <c:strCache>
                <c:ptCount val="1"/>
                <c:pt idx="0">
                  <c:v>AVC</c:v>
                </c:pt>
              </c:strCache>
            </c:strRef>
          </c:tx>
          <c:spPr>
            <a:ln w="34925">
              <a:solidFill>
                <a:srgbClr val="70AD47"/>
              </a:solidFill>
            </a:ln>
          </c:spPr>
          <c:marker>
            <c:symbol val="none"/>
          </c:marker>
          <c:xVal>
            <c:numRef>
              <c:f>Sheet1!$A$80:$A$116</c:f>
              <c:numCache>
                <c:formatCode>General</c:formatCode>
                <c:ptCount val="37"/>
                <c:pt idx="0">
                  <c:v>100</c:v>
                </c:pt>
                <c:pt idx="1">
                  <c:v>125</c:v>
                </c:pt>
                <c:pt idx="2">
                  <c:v>150</c:v>
                </c:pt>
                <c:pt idx="3">
                  <c:v>175</c:v>
                </c:pt>
                <c:pt idx="4">
                  <c:v>200</c:v>
                </c:pt>
                <c:pt idx="5">
                  <c:v>225</c:v>
                </c:pt>
                <c:pt idx="6">
                  <c:v>250</c:v>
                </c:pt>
                <c:pt idx="7">
                  <c:v>275</c:v>
                </c:pt>
                <c:pt idx="8">
                  <c:v>300</c:v>
                </c:pt>
                <c:pt idx="9">
                  <c:v>325</c:v>
                </c:pt>
                <c:pt idx="10">
                  <c:v>350</c:v>
                </c:pt>
                <c:pt idx="11">
                  <c:v>375</c:v>
                </c:pt>
                <c:pt idx="12">
                  <c:v>400</c:v>
                </c:pt>
                <c:pt idx="13">
                  <c:v>425</c:v>
                </c:pt>
                <c:pt idx="14">
                  <c:v>450</c:v>
                </c:pt>
                <c:pt idx="15">
                  <c:v>475</c:v>
                </c:pt>
                <c:pt idx="16">
                  <c:v>500</c:v>
                </c:pt>
                <c:pt idx="17">
                  <c:v>525</c:v>
                </c:pt>
                <c:pt idx="18">
                  <c:v>550</c:v>
                </c:pt>
                <c:pt idx="19">
                  <c:v>575</c:v>
                </c:pt>
                <c:pt idx="20">
                  <c:v>600</c:v>
                </c:pt>
                <c:pt idx="21">
                  <c:v>625</c:v>
                </c:pt>
                <c:pt idx="22">
                  <c:v>650</c:v>
                </c:pt>
                <c:pt idx="23">
                  <c:v>675</c:v>
                </c:pt>
                <c:pt idx="24">
                  <c:v>700</c:v>
                </c:pt>
                <c:pt idx="25">
                  <c:v>725</c:v>
                </c:pt>
                <c:pt idx="26">
                  <c:v>750</c:v>
                </c:pt>
                <c:pt idx="27">
                  <c:v>775</c:v>
                </c:pt>
                <c:pt idx="28">
                  <c:v>800</c:v>
                </c:pt>
                <c:pt idx="29">
                  <c:v>825</c:v>
                </c:pt>
                <c:pt idx="30">
                  <c:v>850</c:v>
                </c:pt>
                <c:pt idx="31">
                  <c:v>875</c:v>
                </c:pt>
                <c:pt idx="32">
                  <c:v>900</c:v>
                </c:pt>
                <c:pt idx="33">
                  <c:v>925</c:v>
                </c:pt>
                <c:pt idx="34">
                  <c:v>950</c:v>
                </c:pt>
                <c:pt idx="35">
                  <c:v>975</c:v>
                </c:pt>
                <c:pt idx="36">
                  <c:v>1000</c:v>
                </c:pt>
              </c:numCache>
            </c:numRef>
          </c:xVal>
          <c:yVal>
            <c:numRef>
              <c:f>Sheet1!$B$80:$B$116</c:f>
              <c:numCache>
                <c:formatCode>General</c:formatCode>
                <c:ptCount val="37"/>
                <c:pt idx="0">
                  <c:v>34</c:v>
                </c:pt>
                <c:pt idx="1">
                  <c:v>35</c:v>
                </c:pt>
                <c:pt idx="2">
                  <c:v>36</c:v>
                </c:pt>
                <c:pt idx="3">
                  <c:v>37</c:v>
                </c:pt>
                <c:pt idx="4">
                  <c:v>38</c:v>
                </c:pt>
                <c:pt idx="5">
                  <c:v>39</c:v>
                </c:pt>
                <c:pt idx="6">
                  <c:v>40</c:v>
                </c:pt>
                <c:pt idx="7">
                  <c:v>41</c:v>
                </c:pt>
                <c:pt idx="8">
                  <c:v>42</c:v>
                </c:pt>
                <c:pt idx="9">
                  <c:v>43</c:v>
                </c:pt>
                <c:pt idx="10">
                  <c:v>44</c:v>
                </c:pt>
                <c:pt idx="11">
                  <c:v>45</c:v>
                </c:pt>
                <c:pt idx="12">
                  <c:v>46</c:v>
                </c:pt>
                <c:pt idx="13">
                  <c:v>47</c:v>
                </c:pt>
                <c:pt idx="14">
                  <c:v>48</c:v>
                </c:pt>
                <c:pt idx="15">
                  <c:v>49</c:v>
                </c:pt>
                <c:pt idx="16">
                  <c:v>50</c:v>
                </c:pt>
                <c:pt idx="17">
                  <c:v>51</c:v>
                </c:pt>
                <c:pt idx="18">
                  <c:v>52</c:v>
                </c:pt>
                <c:pt idx="19">
                  <c:v>53</c:v>
                </c:pt>
                <c:pt idx="20">
                  <c:v>54</c:v>
                </c:pt>
                <c:pt idx="21">
                  <c:v>55</c:v>
                </c:pt>
                <c:pt idx="22">
                  <c:v>56</c:v>
                </c:pt>
                <c:pt idx="23">
                  <c:v>57</c:v>
                </c:pt>
                <c:pt idx="24">
                  <c:v>58</c:v>
                </c:pt>
                <c:pt idx="25">
                  <c:v>59</c:v>
                </c:pt>
                <c:pt idx="26">
                  <c:v>60</c:v>
                </c:pt>
                <c:pt idx="27">
                  <c:v>61</c:v>
                </c:pt>
                <c:pt idx="28">
                  <c:v>62</c:v>
                </c:pt>
                <c:pt idx="29">
                  <c:v>63</c:v>
                </c:pt>
                <c:pt idx="30">
                  <c:v>64</c:v>
                </c:pt>
                <c:pt idx="31">
                  <c:v>65</c:v>
                </c:pt>
                <c:pt idx="32">
                  <c:v>66</c:v>
                </c:pt>
                <c:pt idx="33">
                  <c:v>67</c:v>
                </c:pt>
                <c:pt idx="34">
                  <c:v>68</c:v>
                </c:pt>
                <c:pt idx="35">
                  <c:v>69</c:v>
                </c:pt>
                <c:pt idx="36">
                  <c:v>70</c:v>
                </c:pt>
              </c:numCache>
            </c:numRef>
          </c:yVal>
          <c:smooth val="1"/>
          <c:extLst>
            <c:ext xmlns:c16="http://schemas.microsoft.com/office/drawing/2014/chart" uri="{C3380CC4-5D6E-409C-BE32-E72D297353CC}">
              <c16:uniqueId val="{00000002-FE2F-44AE-873B-96EA39CD733E}"/>
            </c:ext>
          </c:extLst>
        </c:ser>
        <c:ser>
          <c:idx val="3"/>
          <c:order val="3"/>
          <c:tx>
            <c:strRef>
              <c:f>Sheet1!$B$118</c:f>
              <c:strCache>
                <c:ptCount val="1"/>
                <c:pt idx="0">
                  <c:v>MC</c:v>
                </c:pt>
              </c:strCache>
            </c:strRef>
          </c:tx>
          <c:spPr>
            <a:ln w="34925">
              <a:solidFill>
                <a:srgbClr val="C00000"/>
              </a:solidFill>
            </a:ln>
          </c:spPr>
          <c:marker>
            <c:symbol val="none"/>
          </c:marker>
          <c:xVal>
            <c:numRef>
              <c:f>Sheet1!$A$119:$A$155</c:f>
              <c:numCache>
                <c:formatCode>General</c:formatCode>
                <c:ptCount val="37"/>
                <c:pt idx="0">
                  <c:v>100</c:v>
                </c:pt>
                <c:pt idx="1">
                  <c:v>125</c:v>
                </c:pt>
                <c:pt idx="2">
                  <c:v>150</c:v>
                </c:pt>
                <c:pt idx="3">
                  <c:v>175</c:v>
                </c:pt>
                <c:pt idx="4">
                  <c:v>200</c:v>
                </c:pt>
                <c:pt idx="5">
                  <c:v>225</c:v>
                </c:pt>
                <c:pt idx="6">
                  <c:v>250</c:v>
                </c:pt>
                <c:pt idx="7">
                  <c:v>275</c:v>
                </c:pt>
                <c:pt idx="8">
                  <c:v>300</c:v>
                </c:pt>
                <c:pt idx="9">
                  <c:v>325</c:v>
                </c:pt>
                <c:pt idx="10">
                  <c:v>350</c:v>
                </c:pt>
                <c:pt idx="11">
                  <c:v>375</c:v>
                </c:pt>
                <c:pt idx="12">
                  <c:v>400</c:v>
                </c:pt>
                <c:pt idx="13">
                  <c:v>425</c:v>
                </c:pt>
                <c:pt idx="14">
                  <c:v>450</c:v>
                </c:pt>
                <c:pt idx="15">
                  <c:v>475</c:v>
                </c:pt>
                <c:pt idx="16">
                  <c:v>500</c:v>
                </c:pt>
                <c:pt idx="17">
                  <c:v>525</c:v>
                </c:pt>
                <c:pt idx="18">
                  <c:v>550</c:v>
                </c:pt>
                <c:pt idx="19">
                  <c:v>575</c:v>
                </c:pt>
                <c:pt idx="20">
                  <c:v>600</c:v>
                </c:pt>
                <c:pt idx="21">
                  <c:v>625</c:v>
                </c:pt>
                <c:pt idx="22">
                  <c:v>650</c:v>
                </c:pt>
                <c:pt idx="23">
                  <c:v>675</c:v>
                </c:pt>
                <c:pt idx="24">
                  <c:v>700</c:v>
                </c:pt>
                <c:pt idx="25">
                  <c:v>725</c:v>
                </c:pt>
                <c:pt idx="26">
                  <c:v>750</c:v>
                </c:pt>
                <c:pt idx="27">
                  <c:v>775</c:v>
                </c:pt>
                <c:pt idx="28">
                  <c:v>800</c:v>
                </c:pt>
                <c:pt idx="29">
                  <c:v>825</c:v>
                </c:pt>
                <c:pt idx="30">
                  <c:v>850</c:v>
                </c:pt>
                <c:pt idx="31">
                  <c:v>875</c:v>
                </c:pt>
                <c:pt idx="32">
                  <c:v>900</c:v>
                </c:pt>
                <c:pt idx="33">
                  <c:v>925</c:v>
                </c:pt>
                <c:pt idx="34">
                  <c:v>950</c:v>
                </c:pt>
                <c:pt idx="35">
                  <c:v>975</c:v>
                </c:pt>
                <c:pt idx="36">
                  <c:v>1000</c:v>
                </c:pt>
              </c:numCache>
            </c:numRef>
          </c:xVal>
          <c:yVal>
            <c:numRef>
              <c:f>Sheet1!$B$119:$B$155</c:f>
              <c:numCache>
                <c:formatCode>General</c:formatCode>
                <c:ptCount val="37"/>
                <c:pt idx="0">
                  <c:v>38</c:v>
                </c:pt>
                <c:pt idx="1">
                  <c:v>40</c:v>
                </c:pt>
                <c:pt idx="2">
                  <c:v>42</c:v>
                </c:pt>
                <c:pt idx="3">
                  <c:v>44</c:v>
                </c:pt>
                <c:pt idx="4">
                  <c:v>46</c:v>
                </c:pt>
                <c:pt idx="5">
                  <c:v>48</c:v>
                </c:pt>
                <c:pt idx="6">
                  <c:v>50</c:v>
                </c:pt>
                <c:pt idx="7">
                  <c:v>52</c:v>
                </c:pt>
                <c:pt idx="8">
                  <c:v>54</c:v>
                </c:pt>
                <c:pt idx="9">
                  <c:v>56</c:v>
                </c:pt>
                <c:pt idx="10">
                  <c:v>58</c:v>
                </c:pt>
                <c:pt idx="11">
                  <c:v>60</c:v>
                </c:pt>
                <c:pt idx="12">
                  <c:v>62</c:v>
                </c:pt>
                <c:pt idx="13">
                  <c:v>64</c:v>
                </c:pt>
                <c:pt idx="14">
                  <c:v>66</c:v>
                </c:pt>
                <c:pt idx="15">
                  <c:v>68</c:v>
                </c:pt>
                <c:pt idx="16">
                  <c:v>70</c:v>
                </c:pt>
                <c:pt idx="17">
                  <c:v>72</c:v>
                </c:pt>
                <c:pt idx="18">
                  <c:v>74</c:v>
                </c:pt>
                <c:pt idx="19">
                  <c:v>76</c:v>
                </c:pt>
                <c:pt idx="20">
                  <c:v>78</c:v>
                </c:pt>
                <c:pt idx="21">
                  <c:v>80</c:v>
                </c:pt>
                <c:pt idx="22">
                  <c:v>82</c:v>
                </c:pt>
                <c:pt idx="23">
                  <c:v>84</c:v>
                </c:pt>
                <c:pt idx="24">
                  <c:v>86</c:v>
                </c:pt>
                <c:pt idx="25">
                  <c:v>88</c:v>
                </c:pt>
                <c:pt idx="26">
                  <c:v>90</c:v>
                </c:pt>
                <c:pt idx="27">
                  <c:v>92</c:v>
                </c:pt>
                <c:pt idx="28">
                  <c:v>94</c:v>
                </c:pt>
                <c:pt idx="29">
                  <c:v>96</c:v>
                </c:pt>
                <c:pt idx="30">
                  <c:v>98</c:v>
                </c:pt>
                <c:pt idx="31">
                  <c:v>100</c:v>
                </c:pt>
                <c:pt idx="32">
                  <c:v>102</c:v>
                </c:pt>
                <c:pt idx="33">
                  <c:v>104</c:v>
                </c:pt>
                <c:pt idx="34">
                  <c:v>106</c:v>
                </c:pt>
                <c:pt idx="35">
                  <c:v>108</c:v>
                </c:pt>
                <c:pt idx="36">
                  <c:v>110</c:v>
                </c:pt>
              </c:numCache>
            </c:numRef>
          </c:yVal>
          <c:smooth val="1"/>
          <c:extLst>
            <c:ext xmlns:c16="http://schemas.microsoft.com/office/drawing/2014/chart" uri="{C3380CC4-5D6E-409C-BE32-E72D297353CC}">
              <c16:uniqueId val="{00000003-FE2F-44AE-873B-96EA39CD733E}"/>
            </c:ext>
          </c:extLst>
        </c:ser>
        <c:dLbls>
          <c:showLegendKey val="0"/>
          <c:showVal val="0"/>
          <c:showCatName val="0"/>
          <c:showSerName val="0"/>
          <c:showPercent val="0"/>
          <c:showBubbleSize val="0"/>
        </c:dLbls>
        <c:axId val="-2128940872"/>
        <c:axId val="-2129643912"/>
      </c:scatterChart>
      <c:valAx>
        <c:axId val="-2128940872"/>
        <c:scaling>
          <c:orientation val="minMax"/>
          <c:max val="1000"/>
          <c:min val="0"/>
        </c:scaling>
        <c:delete val="0"/>
        <c:axPos val="b"/>
        <c:title>
          <c:tx>
            <c:rich>
              <a:bodyPr/>
              <a:lstStyle/>
              <a:p>
                <a:r>
                  <a:rPr lang="en-US" sz="1800" b="1" i="1">
                    <a:solidFill>
                      <a:srgbClr val="0B2B4E"/>
                    </a:solidFill>
                    <a:latin typeface="Calibri"/>
                  </a:rPr>
                  <a:t>Q   (vehicles per week)</a:t>
                </a:r>
              </a:p>
            </c:rich>
          </c:tx>
          <c:overlay val="0"/>
        </c:title>
        <c:numFmt formatCode="General" sourceLinked="1"/>
        <c:majorTickMark val="out"/>
        <c:minorTickMark val="none"/>
        <c:tickLblPos val="nextTo"/>
        <c:txPr>
          <a:bodyPr/>
          <a:lstStyle/>
          <a:p>
            <a:pPr>
              <a:defRPr sz="1600">
                <a:solidFill>
                  <a:srgbClr val="0B2B4E"/>
                </a:solidFill>
                <a:latin typeface="Calibri"/>
              </a:defRPr>
            </a:pPr>
            <a:endParaRPr lang="en-US"/>
          </a:p>
        </c:txPr>
        <c:crossAx val="-2129643912"/>
        <c:crosses val="autoZero"/>
        <c:crossBetween val="midCat"/>
        <c:majorUnit val="100"/>
      </c:valAx>
      <c:valAx>
        <c:axId val="-2129643912"/>
        <c:scaling>
          <c:orientation val="minMax"/>
          <c:max val="110"/>
          <c:min val="0"/>
        </c:scaling>
        <c:delete val="0"/>
        <c:axPos val="l"/>
        <c:majorGridlines>
          <c:spPr>
            <a:ln w="9525" cap="flat" cmpd="sng" algn="ctr">
              <a:solidFill>
                <a:srgbClr val="C8CDD3"/>
              </a:solidFill>
              <a:prstDash val="dash"/>
            </a:ln>
          </c:spPr>
        </c:majorGridlines>
        <c:title>
          <c:tx>
            <c:rich>
              <a:bodyPr/>
              <a:lstStyle/>
              <a:p>
                <a:r>
                  <a:rPr lang="en-US" sz="1800" b="1" i="1">
                    <a:solidFill>
                      <a:srgbClr val="0B2B4E"/>
                    </a:solidFill>
                    <a:latin typeface="Calibri"/>
                  </a:rPr>
                  <a:t>Per-unit cost   ($K)</a:t>
                </a:r>
              </a:p>
            </c:rich>
          </c:tx>
          <c:overlay val="0"/>
        </c:title>
        <c:numFmt formatCode="General" sourceLinked="1"/>
        <c:majorTickMark val="out"/>
        <c:minorTickMark val="none"/>
        <c:tickLblPos val="nextTo"/>
        <c:txPr>
          <a:bodyPr/>
          <a:lstStyle/>
          <a:p>
            <a:pPr>
              <a:defRPr sz="1600">
                <a:solidFill>
                  <a:srgbClr val="0B2B4E"/>
                </a:solidFill>
                <a:latin typeface="Calibri"/>
              </a:defRPr>
            </a:pPr>
            <a:endParaRPr lang="en-US"/>
          </a:p>
        </c:txPr>
        <c:crossAx val="-2128940872"/>
        <c:crosses val="autoZero"/>
        <c:crossBetween val="midCat"/>
        <c:majorUnit val="10"/>
      </c:valAx>
    </c:plotArea>
    <c:legend>
      <c:legendPos val="r"/>
      <c:layout>
        <c:manualLayout>
          <c:xMode val="edge"/>
          <c:yMode val="edge"/>
          <c:x val="0.77600000000000002"/>
          <c:y val="0.39200000000000002"/>
          <c:w val="0.14000000000000001"/>
          <c:h val="0.3"/>
        </c:manualLayout>
      </c:layout>
      <c:overlay val="0"/>
      <c:spPr>
        <a:solidFill>
          <a:srgbClr val="FFFFFF"/>
        </a:solidFill>
        <a:ln w="9525">
          <a:solidFill>
            <a:srgbClr val="0B2B4E"/>
          </a:solidFill>
        </a:ln>
      </c:spPr>
      <c:txPr>
        <a:bodyPr/>
        <a:lstStyle/>
        <a:p>
          <a:pPr>
            <a:defRPr sz="1800">
              <a:solidFill>
                <a:srgbClr val="0B2B4E"/>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wraps up production, the question of what to make and with which inputs. Now we turn to Part 2, costs. The question shifts to what it costs to produce, and just as importantly, which costs should actually drive a decision. That second part trips up a lot of smart people, so we spend real time on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sort costs into three buckets. First, variable costs. These rise and fall with how much you produce, things like raw materials, the workers you hire, and shipping. Because they change with output, you always weigh them in a decision. Second, fixed costs. These do not change with output, things like rent, insurance, and past R and D. They matter mainly for the big long-run choices, whether to enter, exit, or change capacity. Third, and the one to watch, sunk costs. A sunk cost is a fixed cost you have already spent and cannot get back. We give sunk costs their own slides next, because they are the ones people most often mishandle.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group exercise to test the sunk-cost idea. For a business trip you can drive your own car and get reimbursed 50 cents a mile, or take the company car, where your company covers the full cost. Look at what your own car costs you per mile. Insurance is 20 cents, maintenance 20 cents, electricity 15 cents, and the lease works out to 45 cents. The instinct is to add all of that up and compare. But here is the trap. The lease is a sunk cost. You are paying it whether or not you take this trip, so it should not enter the decision at all. The only costs that belong in the comparison are the ones that actually change when you drive, the insurance, maintenance, and electricity. Take a moment in your groups to decide which car you should use, keeping the lease out of it, and we will work through it together.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logic is playing out right now at Meta. Since 2020 Meta has poured somewhere around 70 billion dollars into Reality Labs, its virtual and augmented reality division, and the Wall Street Journal puts the figure north of 77 billion. The Quest headsets and the Horizon Worlds platform never reached mass adoption, revenue stayed thin, and the payoff kept getting pushed further out. Wall Street kept asking when it would pay off. In 2026 Meta made the call to shift a big chunk of that spending over to AI. That is exactly the sunk-cost discipline from Waterworld, in a modern setting. The tens of billions already spent are gone. The only question that matters is where the next dollar earns the most going forward.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Apple gives us the same lesson with a twist. In 2024 Apple canceled Project Titan, its electric car effort, after about a decade of work and roughly 10 billion dollars spent. Now, that 10 billion is a sunk cost, so by itself it is not a reason to keep going, and it is not a reason to quit either. It is simply gone. The real reason to stop was opportunity cost. The capital, and especially the 2,000 or so engineers on the project, had a more valuable use elsewhere, in Apple's AI work and Apple Intelligence. So Apple reallocated them to the higher-return opportunity. That is the key idea on this slide. Opportunity cost is the value of the next-best use of the same dollars and people. Cutting the car was not about refusing to waste the 10 billion. It was about putting scarce engineers where they create the most value now.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Rivian needs more production capacity and has 2 ways to get it. Build a new factory for 6 billion dollars, or expand and upgrade the outdated plant it already owns for 5 billion. The finished plant is the same either way, so on construction cost alone the expansion looks cheaper by a billion. Now look at the row labelled fixed costs, or opportunity costs. If the old plant has no other use, keeping it costs Rivian nothing. That plant is sunk, the expansion totals 5 billion against 6, and expanding wins. But change one fact. Suppose a buyer would pay 2 billion for that plant. Expanding it now means giving up those 2 billion, and that forgone sale is a cost of the expansion even though no money leaves the company. The expansion really costs 5 plus 2, which is 7 billion, against 6 billion for the new factory. The ranking flips. Same 2 options, same construction bills, opposite answer, and the only thing that changed is whether the asset you already own has a market.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05016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cheat sheet you will come back to for the rest of the module, so let me walk the three groups quickly. Total cost splits into total fixed cost and total variable cost, and remember, fixed cost here excludes anything sunk. Then the averages, which are just those totals spread over the number of units. Average fixed cost is fixed cost divided by quantity, average variable cost is variable cost divided by quantity, and average total cost is the two added together. Finally, the one we use most for decisions, marginal cost. That is the change in cost from producing one more unit. Since fixed cost does not change, marginal cost comes entirely from the variable side. Keep this slide handy, because these six terms show up everywhere from here 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build a cost function from data, back at Rivian's Georgia plant. The dots are actual weekly cost observations at different output levels. The smooth navy curve is the cost function we fit through them. Read it in three pieces. Where the curve meets the vertical axis, that is fixed cost, the roughly 10 million dollars a week Rivian pays even at zero output. Then there is a straight-line part, a constant cost of about 30,000 dollars for each vehicle. And finally a gently curving part, a quadratic term, that makes total cost rise faster than output as the plant gets busy. That upward bend matters. It means marginal cost is increasing, so each additional car costs a little more than the last as the plant approaches its limits.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that same cost curve split into its two parts, so you can see where the money goes. The flat line at the bottom is total fixed cost, the 10 million dollars a week that does not change with output. Everything above it is total variable cost, which grows with production and includes that rising quadratic piece. Add the two together and you get the total cost curve. Watch how the balance shifts as output grows. At low volumes the fixed cost dominates, it is most of what you are paying. But as output climbs, the variable cost takes over and becomes the larger share. That shift is why the same plant can feel fixed-cost-heavy when it is quiet and variable-cost-heavy when it is running flat out.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same cost function expressed per vehicle, which is how managers usually think about it. The U-shaped curve is average total cost, the cost per car. It falls at first as the big fixed cost gets spread over more vehicles, reaches a minimum, and then rises again as the increasing marginal cost takes over. There are three things to read off it. First, average total cost drops below the roughly 80,000 dollar sales price at an output of about 250 cars a week, so that is where the plant starts making money on average. Second, the minimum of average total cost sits exactly where the marginal cost curve crosses it, which is always the case and worth remembering. Third, past that point average cost turns back up, pushed by the rising marginal cost. So there is a sweet-spot output where the cost per car is lowest.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most of the decisions in this course, we will use a simpler, cleaner version of a cost function, the naive linear one. Total cost is just a fixed cost plus a constant marginal cost per unit. On the chart, the line starts up the vertical axis at the fixed cost, and then rises at a steady slope. That slope is the marginal cost, here 500 dollars per unit, and it is the same for every additional unit. It is the simplest possible cost model, a flat fee plus a constant per-unit cost, and it is good enough for most of what we do. We will bring back the more complex curved shapes only when scale really changes the story.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that same simple cost function seen per unit. Because marginal cost is constant at 500 dollars, the marginal cost line is flat. And when marginal cost is constant, it equals average variable cost, so those two lie right on top of each other at 500. The interesting curve is average total cost, the one sloping downward. It starts high, because at low output the fixed cost is spread over just a few units, and it falls steadily toward 500 as output grows and the fixed cost gets diluted across more and more units. So the takeaway is simple. With constant marginal cost, producing more does not lower the cost of the next unit, but it does keep lowering the average, because the fixed cost is shared more widely.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quick reality check before we move on. Real cost functions are not always a straight line. The classic textbook shape is a U for marginal cost. On the left you can see total, variable, and fixed cost, with the total curve bending upward at high output. On the right is the marginal cost itself, and it is U-shaped. It starts high when the plant is barely used, falls to a low point at the plant's sweet spot, and then rises again when you push past capacity into overtime and congestion. We saw the rising part in Rivian's quadratic cost. For most decisions in this course we will still use the simpler linear marginal cost, and only reach for the U-shape when scale genuinely drives the answer.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Cost Concepts</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3  ·  Video 6</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7" name="TextBox 16"/>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8" name="Rounded Rectangle 17"/>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19" name="Oval 18"/>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5</a:t>
            </a:r>
          </a:p>
        </p:txBody>
      </p:sp>
      <p:sp>
        <p:nvSpPr>
          <p:cNvPr id="20" name="TextBox 19"/>
          <p:cNvSpPr txBox="1"/>
          <p:nvPr/>
        </p:nvSpPr>
        <p:spPr>
          <a:xfrm>
            <a:off x="1874519" y="433473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Long Run: The Optimal Input Mix</a:t>
            </a:r>
          </a:p>
        </p:txBody>
      </p:sp>
      <p:sp>
        <p:nvSpPr>
          <p:cNvPr id="21" name="Rounded Rectangle 20"/>
          <p:cNvSpPr/>
          <p:nvPr/>
        </p:nvSpPr>
        <p:spPr>
          <a:xfrm>
            <a:off x="10332720" y="441426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5</a:t>
            </a:r>
          </a:p>
        </p:txBody>
      </p:sp>
      <p:sp>
        <p:nvSpPr>
          <p:cNvPr id="22" name="Rounded Rectangle 21"/>
          <p:cNvSpPr/>
          <p:nvPr/>
        </p:nvSpPr>
        <p:spPr>
          <a:xfrm>
            <a:off x="822960" y="4912614"/>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6</a:t>
            </a:r>
          </a:p>
        </p:txBody>
      </p:sp>
      <p:sp>
        <p:nvSpPr>
          <p:cNvPr id="24" name="TextBox 23"/>
          <p:cNvSpPr txBox="1"/>
          <p:nvPr/>
        </p:nvSpPr>
        <p:spPr>
          <a:xfrm>
            <a:off x="1874519" y="4967478"/>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Cost Concepts</a:t>
            </a:r>
          </a:p>
          <a:p>
            <a:pPr algn="l">
              <a:spcBef>
                <a:spcPts val="0"/>
              </a:spcBef>
              <a:buNone/>
            </a:pPr>
            <a:r>
              <a:rPr sz="2200">
                <a:solidFill>
                  <a:srgbClr val="555B66"/>
                </a:solidFill>
                <a:latin typeface="Calibri"/>
              </a:rPr>
              <a:t>Fixed, variable, marginal, and sunk costs, and which ones matter</a:t>
            </a:r>
          </a:p>
        </p:txBody>
      </p:sp>
      <p:sp>
        <p:nvSpPr>
          <p:cNvPr id="25" name="Rounded Rectangle 24"/>
          <p:cNvSpPr/>
          <p:nvPr/>
        </p:nvSpPr>
        <p:spPr>
          <a:xfrm>
            <a:off x="10332720" y="513207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2DB18AEB-6F3A-5D2F-99F2-AAFEDB67B91B}"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Three Cost Types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0867" y="1874519"/>
            <a:ext cx="3611880" cy="640080"/>
          </a:xfrm>
          <a:prstGeom prst="roundRect">
            <a:avLst>
              <a:gd name="adj" fmla="val 12000"/>
            </a:avLst>
          </a:prstGeom>
          <a:solidFill>
            <a:srgbClr val="1B5E20"/>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Variable Costs</a:t>
            </a:r>
          </a:p>
        </p:txBody>
      </p:sp>
      <p:sp>
        <p:nvSpPr>
          <p:cNvPr id="8" name="Rectangle 7"/>
          <p:cNvSpPr/>
          <p:nvPr/>
        </p:nvSpPr>
        <p:spPr>
          <a:xfrm>
            <a:off x="540867" y="2514600"/>
            <a:ext cx="3611880" cy="1371600"/>
          </a:xfrm>
          <a:prstGeom prst="roundRect">
            <a:avLst>
              <a:gd name="adj" fmla="val 12000"/>
            </a:avLst>
          </a:prstGeom>
          <a:solidFill>
            <a:srgbClr val="FFFFFF"/>
          </a:solidFill>
          <a:ln w="19050">
            <a:solidFill>
              <a:srgbClr val="1B5E2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Depend on volume produced (Q)</a:t>
            </a:r>
          </a:p>
          <a:p>
            <a:pPr algn="ctr">
              <a:spcBef>
                <a:spcPts val="1200"/>
              </a:spcBef>
            </a:pPr>
            <a:r>
              <a:rPr sz="1800" b="0">
                <a:solidFill>
                  <a:srgbClr val="0B2B4E"/>
                </a:solidFill>
                <a:latin typeface="Calibri"/>
              </a:rPr>
              <a:t>→  Always consider!</a:t>
            </a:r>
          </a:p>
        </p:txBody>
      </p:sp>
      <p:sp>
        <p:nvSpPr>
          <p:cNvPr id="9" name="Rounded Rectangle 8"/>
          <p:cNvSpPr/>
          <p:nvPr/>
        </p:nvSpPr>
        <p:spPr>
          <a:xfrm>
            <a:off x="54086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18872" tIns="54864" rIns="73152" rtlCol="0" anchor="t"/>
          <a:lstStyle/>
          <a:p>
            <a:pPr algn="l"/>
            <a:r>
              <a:rPr sz="1200" b="1" i="1">
                <a:solidFill>
                  <a:srgbClr val="0B2B4E"/>
                </a:solidFill>
                <a:latin typeface="Calibri"/>
              </a:rPr>
              <a:t>Examples</a:t>
            </a:r>
          </a:p>
          <a:p>
            <a:pPr algn="l"/>
            <a:r>
              <a:rPr sz="1400" b="0">
                <a:solidFill>
                  <a:srgbClr val="0B2B4E"/>
                </a:solidFill>
                <a:latin typeface="Calibri"/>
              </a:rPr>
              <a:t>•  Buy raw materials</a:t>
            </a:r>
          </a:p>
          <a:p>
            <a:pPr algn="l"/>
            <a:r>
              <a:rPr sz="1400" b="0">
                <a:solidFill>
                  <a:srgbClr val="0B2B4E"/>
                </a:solidFill>
                <a:latin typeface="Calibri"/>
              </a:rPr>
              <a:t>•  Hire workers</a:t>
            </a:r>
          </a:p>
          <a:p>
            <a:pPr algn="l"/>
            <a:r>
              <a:rPr sz="1400" b="0">
                <a:solidFill>
                  <a:srgbClr val="0B2B4E"/>
                </a:solidFill>
                <a:latin typeface="Calibri"/>
              </a:rPr>
              <a:t>•  Shipping &amp; packaging</a:t>
            </a:r>
          </a:p>
        </p:txBody>
      </p:sp>
      <p:sp>
        <p:nvSpPr>
          <p:cNvPr id="10" name="Rectangle 9"/>
          <p:cNvSpPr/>
          <p:nvPr/>
        </p:nvSpPr>
        <p:spPr>
          <a:xfrm>
            <a:off x="4289907" y="1874519"/>
            <a:ext cx="3611880" cy="6400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Fixed Costs</a:t>
            </a:r>
          </a:p>
        </p:txBody>
      </p:sp>
      <p:sp>
        <p:nvSpPr>
          <p:cNvPr id="11" name="Rectangle 10"/>
          <p:cNvSpPr/>
          <p:nvPr/>
        </p:nvSpPr>
        <p:spPr>
          <a:xfrm>
            <a:off x="4289907" y="2514600"/>
            <a:ext cx="3611880" cy="1371600"/>
          </a:xfrm>
          <a:prstGeom prst="roundRect">
            <a:avLst>
              <a:gd name="adj" fmla="val 12000"/>
            </a:avLst>
          </a:prstGeom>
          <a:solidFill>
            <a:srgbClr val="FFFFFF"/>
          </a:solidFill>
          <a:ln w="1905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Do not depend on quantity produced (Q)</a:t>
            </a:r>
          </a:p>
          <a:p>
            <a:pPr algn="ctr">
              <a:spcBef>
                <a:spcPts val="1200"/>
              </a:spcBef>
            </a:pPr>
            <a:r>
              <a:rPr sz="1800" b="0">
                <a:solidFill>
                  <a:srgbClr val="0B2B4E"/>
                </a:solidFill>
                <a:latin typeface="Calibri"/>
              </a:rPr>
              <a:t>→  Consider for long-run decisions</a:t>
            </a:r>
          </a:p>
          <a:p>
            <a:pPr algn="ctr"/>
            <a:r>
              <a:rPr sz="1800" b="0">
                <a:solidFill>
                  <a:srgbClr val="0B2B4E"/>
                </a:solidFill>
                <a:latin typeface="Calibri"/>
              </a:rPr>
              <a:t>(entry, exit, capacity)</a:t>
            </a:r>
          </a:p>
        </p:txBody>
      </p:sp>
      <p:sp>
        <p:nvSpPr>
          <p:cNvPr id="12" name="Rounded Rectangle 11"/>
          <p:cNvSpPr/>
          <p:nvPr/>
        </p:nvSpPr>
        <p:spPr>
          <a:xfrm>
            <a:off x="428990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18872" tIns="54864" rIns="73152" rtlCol="0" anchor="t"/>
          <a:lstStyle/>
          <a:p>
            <a:pPr algn="l"/>
            <a:r>
              <a:rPr sz="1200" b="1" i="1">
                <a:solidFill>
                  <a:srgbClr val="0B2B4E"/>
                </a:solidFill>
                <a:latin typeface="Calibri"/>
              </a:rPr>
              <a:t>Examples</a:t>
            </a:r>
          </a:p>
          <a:p>
            <a:pPr algn="l"/>
            <a:r>
              <a:rPr sz="1400" b="0">
                <a:solidFill>
                  <a:srgbClr val="0B2B4E"/>
                </a:solidFill>
                <a:latin typeface="Calibri"/>
              </a:rPr>
              <a:t>•  Rent / lease payments</a:t>
            </a:r>
          </a:p>
          <a:p>
            <a:pPr algn="l"/>
            <a:r>
              <a:rPr sz="1400" b="0">
                <a:solidFill>
                  <a:srgbClr val="0B2B4E"/>
                </a:solidFill>
                <a:latin typeface="Calibri"/>
              </a:rPr>
              <a:t>•  Insurance &amp; property tax</a:t>
            </a:r>
          </a:p>
          <a:p>
            <a:pPr algn="l"/>
            <a:r>
              <a:rPr sz="1400" b="0">
                <a:solidFill>
                  <a:srgbClr val="0B2B4E"/>
                </a:solidFill>
                <a:latin typeface="Calibri"/>
              </a:rPr>
              <a:t>•  R&amp;D investments (for future innovation)</a:t>
            </a:r>
          </a:p>
        </p:txBody>
      </p:sp>
      <p:sp>
        <p:nvSpPr>
          <p:cNvPr id="13" name="Rectangle 12"/>
          <p:cNvSpPr/>
          <p:nvPr/>
        </p:nvSpPr>
        <p:spPr>
          <a:xfrm>
            <a:off x="8038947" y="1874519"/>
            <a:ext cx="3611880" cy="640080"/>
          </a:xfrm>
          <a:prstGeom prst="roundRect">
            <a:avLst>
              <a:gd name="adj" fmla="val 12000"/>
            </a:avLst>
          </a:prstGeom>
          <a:solidFill>
            <a:srgbClr val="C00000"/>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Sunk Costs</a:t>
            </a:r>
          </a:p>
        </p:txBody>
      </p:sp>
      <p:sp>
        <p:nvSpPr>
          <p:cNvPr id="14" name="Rectangle 13"/>
          <p:cNvSpPr/>
          <p:nvPr/>
        </p:nvSpPr>
        <p:spPr>
          <a:xfrm>
            <a:off x="8038947" y="2514600"/>
            <a:ext cx="3611880" cy="1371600"/>
          </a:xfrm>
          <a:prstGeom prst="roundRect">
            <a:avLst>
              <a:gd name="adj" fmla="val 12000"/>
            </a:avLst>
          </a:prstGeom>
          <a:solidFill>
            <a:srgbClr val="FFFFFF"/>
          </a:solidFill>
          <a:ln w="19050">
            <a:solidFill>
              <a:srgbClr val="C00000"/>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0">
                <a:solidFill>
                  <a:srgbClr val="0B2B4E"/>
                </a:solidFill>
                <a:latin typeface="Calibri"/>
              </a:rPr>
              <a:t>A fixed cost that </a:t>
            </a:r>
          </a:p>
          <a:p>
            <a:pPr algn="ctr">
              <a:spcAft>
                <a:spcPts val="1200"/>
              </a:spcAft>
            </a:pPr>
            <a:r>
              <a:rPr sz="1800" b="0">
                <a:solidFill>
                  <a:srgbClr val="0B2B4E"/>
                </a:solidFill>
                <a:latin typeface="Calibri"/>
              </a:rPr>
              <a:t>cannot be recovered
→  Ignore!</a:t>
            </a:r>
          </a:p>
        </p:txBody>
      </p:sp>
      <p:sp>
        <p:nvSpPr>
          <p:cNvPr id="15" name="Rounded Rectangle 14"/>
          <p:cNvSpPr/>
          <p:nvPr/>
        </p:nvSpPr>
        <p:spPr>
          <a:xfrm>
            <a:off x="8038947" y="3977639"/>
            <a:ext cx="3611880" cy="1097280"/>
          </a:xfrm>
          <a:prstGeom prst="roundRect">
            <a:avLst>
              <a:gd name="adj" fmla="val 1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lIns="118872" tIns="54864" rIns="73152" rtlCol="0" anchor="t"/>
          <a:lstStyle/>
          <a:p>
            <a:pPr algn="l"/>
            <a:r>
              <a:rPr sz="1200" b="1" i="1">
                <a:solidFill>
                  <a:srgbClr val="0B2B4E"/>
                </a:solidFill>
                <a:latin typeface="Calibri"/>
              </a:rPr>
              <a:t>Examples</a:t>
            </a:r>
          </a:p>
          <a:p>
            <a:pPr algn="l"/>
            <a:r>
              <a:rPr sz="1400" b="0">
                <a:solidFill>
                  <a:srgbClr val="0B2B4E"/>
                </a:solidFill>
                <a:latin typeface="Calibri"/>
              </a:rPr>
              <a:t>•  Past R&amp;D</a:t>
            </a:r>
          </a:p>
          <a:p>
            <a:pPr algn="l"/>
            <a:r>
              <a:rPr sz="1400" b="0">
                <a:solidFill>
                  <a:srgbClr val="0B2B4E"/>
                </a:solidFill>
                <a:latin typeface="Calibri"/>
              </a:rPr>
              <a:t>•  Past advertising</a:t>
            </a:r>
          </a:p>
          <a:p>
            <a:pPr algn="l"/>
            <a:r>
              <a:rPr sz="1400" b="0">
                <a:solidFill>
                  <a:srgbClr val="0B2B4E"/>
                </a:solidFill>
                <a:latin typeface="Calibri"/>
              </a:rPr>
              <a:t>•  Non-refundable deposits</a:t>
            </a:r>
          </a:p>
        </p:txBody>
      </p:sp>
      <p:sp>
        <p:nvSpPr>
          <p:cNvPr id="16" name="Rounded Rectangle 15"/>
          <p:cNvSpPr/>
          <p:nvPr/>
        </p:nvSpPr>
        <p:spPr>
          <a:xfrm>
            <a:off x="8038947" y="5405247"/>
            <a:ext cx="3611880" cy="747521"/>
          </a:xfrm>
          <a:prstGeom prst="roundRect">
            <a:avLst>
              <a:gd name="adj" fmla="val 30000"/>
            </a:avLst>
          </a:prstGeom>
          <a:solidFill>
            <a:srgbClr val="C00000"/>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Sunk costs should not affect managerial decisions</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E0DEB749-D898-491F-A19E-BC26983DEBDE}"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a:solidFill>
                  <a:srgbClr val="0B2B4E"/>
                </a:solidFill>
                <a:latin typeface="Calibri"/>
              </a:rPr>
              <a:t>Your </a:t>
            </a:r>
            <a:r>
              <a:rPr sz="3200" b="1" i="0" dirty="0">
                <a:solidFill>
                  <a:srgbClr val="0B2B4E"/>
                </a:solidFill>
                <a:latin typeface="Calibri"/>
              </a:rPr>
              <a:t>Car or the Company Car?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502920"/>
          </a:xfrm>
          <a:prstGeom prst="rect">
            <a:avLst/>
          </a:prstGeom>
          <a:noFill/>
        </p:spPr>
        <p:txBody>
          <a:bodyPr wrap="square" lIns="0" tIns="0" rIns="0" bIns="0">
            <a:spAutoFit/>
          </a:bodyPr>
          <a:lstStyle/>
          <a:p>
            <a:pPr algn="l"/>
            <a:r>
              <a:rPr sz="2200" b="1" i="0">
                <a:solidFill>
                  <a:srgbClr val="0B2B4E"/>
                </a:solidFill>
                <a:latin typeface="Calibri"/>
              </a:rPr>
              <a:t>For a business trip, you can use:</a:t>
            </a:r>
          </a:p>
        </p:txBody>
      </p:sp>
      <p:sp>
        <p:nvSpPr>
          <p:cNvPr id="8" name="Rectangle 7"/>
          <p:cNvSpPr/>
          <p:nvPr/>
        </p:nvSpPr>
        <p:spPr>
          <a:xfrm>
            <a:off x="792327" y="2240280"/>
            <a:ext cx="5029200" cy="128016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B2B4E"/>
                </a:solidFill>
                <a:latin typeface="Calibri"/>
              </a:rPr>
              <a:t>Your own car</a:t>
            </a:r>
          </a:p>
          <a:p>
            <a:pPr algn="ctr"/>
            <a:r>
              <a:rPr sz="2000" b="1">
                <a:solidFill>
                  <a:srgbClr val="0B2B4E"/>
                </a:solidFill>
                <a:latin typeface="Calibri"/>
              </a:rPr>
              <a:t>
→  you are reimbursed 50¢ / mile</a:t>
            </a:r>
          </a:p>
        </p:txBody>
      </p:sp>
      <p:sp>
        <p:nvSpPr>
          <p:cNvPr id="9" name="Rectangle 8"/>
          <p:cNvSpPr/>
          <p:nvPr/>
        </p:nvSpPr>
        <p:spPr>
          <a:xfrm>
            <a:off x="6370167" y="2240280"/>
            <a:ext cx="5029200" cy="1280160"/>
          </a:xfrm>
          <a:prstGeom prst="rect">
            <a:avLst/>
          </a:prstGeom>
          <a:solidFill>
            <a:srgbClr val="FFFFFF"/>
          </a:solidFill>
          <a:ln w="19050">
            <a:solidFill>
              <a:srgbClr val="0B2B4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B2B4E"/>
                </a:solidFill>
                <a:latin typeface="Calibri"/>
              </a:rPr>
              <a:t>Company car</a:t>
            </a:r>
          </a:p>
          <a:p>
            <a:pPr algn="ctr"/>
            <a:r>
              <a:rPr sz="2000" b="1">
                <a:solidFill>
                  <a:srgbClr val="0B2B4E"/>
                </a:solidFill>
                <a:latin typeface="Calibri"/>
              </a:rPr>
              <a:t>
(full cost incl. charge paid by your company)</a:t>
            </a:r>
          </a:p>
        </p:txBody>
      </p:sp>
      <p:sp>
        <p:nvSpPr>
          <p:cNvPr id="10" name="Rounded Rectangle 9"/>
          <p:cNvSpPr/>
          <p:nvPr/>
        </p:nvSpPr>
        <p:spPr>
          <a:xfrm>
            <a:off x="792327" y="3657600"/>
            <a:ext cx="5029200" cy="1371600"/>
          </a:xfrm>
          <a:prstGeom prst="roundRect">
            <a:avLst>
              <a:gd name="adj" fmla="val 4000"/>
            </a:avLst>
          </a:prstGeom>
          <a:solidFill>
            <a:srgbClr val="FFFFFF"/>
          </a:solidFill>
          <a:ln w="254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2327" y="3749039"/>
            <a:ext cx="5029200" cy="365760"/>
          </a:xfrm>
          <a:prstGeom prst="rect">
            <a:avLst/>
          </a:prstGeom>
          <a:noFill/>
        </p:spPr>
        <p:txBody>
          <a:bodyPr wrap="square" lIns="0" tIns="0" rIns="0" bIns="0">
            <a:spAutoFit/>
          </a:bodyPr>
          <a:lstStyle/>
          <a:p>
            <a:pPr algn="ctr"/>
            <a:r>
              <a:rPr sz="1800" b="0" i="1">
                <a:solidFill>
                  <a:srgbClr val="555B66"/>
                </a:solidFill>
                <a:latin typeface="Calibri"/>
              </a:rPr>
              <a:t>Costs associated with your car  (per mile driven):</a:t>
            </a:r>
          </a:p>
        </p:txBody>
      </p:sp>
      <p:sp>
        <p:nvSpPr>
          <p:cNvPr id="12" name="Rectangle 11"/>
          <p:cNvSpPr/>
          <p:nvPr/>
        </p:nvSpPr>
        <p:spPr>
          <a:xfrm>
            <a:off x="975207" y="413537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20¢   insurance</a:t>
            </a:r>
          </a:p>
        </p:txBody>
      </p:sp>
      <p:sp>
        <p:nvSpPr>
          <p:cNvPr id="13" name="Rectangle 12"/>
          <p:cNvSpPr/>
          <p:nvPr/>
        </p:nvSpPr>
        <p:spPr>
          <a:xfrm>
            <a:off x="3352647" y="413537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20¢   maintenance</a:t>
            </a:r>
          </a:p>
        </p:txBody>
      </p:sp>
      <p:sp>
        <p:nvSpPr>
          <p:cNvPr id="14" name="Rectangle 13"/>
          <p:cNvSpPr/>
          <p:nvPr/>
        </p:nvSpPr>
        <p:spPr>
          <a:xfrm>
            <a:off x="975207" y="454685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15¢   electricity</a:t>
            </a:r>
          </a:p>
        </p:txBody>
      </p:sp>
      <p:sp>
        <p:nvSpPr>
          <p:cNvPr id="15" name="Rectangle 14"/>
          <p:cNvSpPr/>
          <p:nvPr/>
        </p:nvSpPr>
        <p:spPr>
          <a:xfrm>
            <a:off x="3352647" y="4546854"/>
            <a:ext cx="2286000" cy="3657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45¢   lease on the vehicle</a:t>
            </a:r>
          </a:p>
        </p:txBody>
      </p:sp>
      <p:sp>
        <p:nvSpPr>
          <p:cNvPr id="16" name="TextBox 15"/>
          <p:cNvSpPr txBox="1"/>
          <p:nvPr/>
        </p:nvSpPr>
        <p:spPr>
          <a:xfrm>
            <a:off x="251999" y="5317236"/>
            <a:ext cx="11687697" cy="411480"/>
          </a:xfrm>
          <a:prstGeom prst="rect">
            <a:avLst/>
          </a:prstGeom>
          <a:noFill/>
        </p:spPr>
        <p:txBody>
          <a:bodyPr wrap="square" lIns="0" tIns="0" rIns="0" bIns="0">
            <a:spAutoFit/>
          </a:bodyPr>
          <a:lstStyle/>
          <a:p>
            <a:pPr algn="ctr"/>
            <a:r>
              <a:rPr sz="2200" b="1" i="0">
                <a:solidFill>
                  <a:srgbClr val="0B2B4E"/>
                </a:solidFill>
                <a:latin typeface="Calibri"/>
              </a:rPr>
              <a:t>⇒  Should you use your own car or the company car?</a:t>
            </a:r>
          </a:p>
        </p:txBody>
      </p:sp>
      <p:sp>
        <p:nvSpPr>
          <p:cNvPr id="17" name="Rectangle 16"/>
          <p:cNvSpPr/>
          <p:nvPr/>
        </p:nvSpPr>
        <p:spPr>
          <a:xfrm>
            <a:off x="9427788" y="5797296"/>
            <a:ext cx="2694412"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831949" y="5797296"/>
            <a:ext cx="1886089"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2" name="TextBox 21"/>
          <p:cNvSpPr txBox="1"/>
          <p:nvPr/>
        </p:nvSpPr>
        <p:spPr>
          <a:xfrm>
            <a:off x="11430000" y="6583680"/>
            <a:ext cx="548640" cy="292608"/>
          </a:xfrm>
          <a:prstGeom prst="rect">
            <a:avLst/>
          </a:prstGeom>
          <a:noFill/>
        </p:spPr>
        <p:txBody>
          <a:bodyPr wrap="square" lIns="0" tIns="0" rIns="0" bIns="0">
            <a:spAutoFit/>
          </a:bodyPr>
          <a:lstStyle/>
          <a:p>
            <a:pPr algn="r"/>
            <a:fld id="{55D888DE-34F1-42C5-9CD8-3A458327FA77}" type="slidenum">
              <a:rPr sz="1200" b="0" i="0">
                <a:solidFill>
                  <a:srgbClr val="555B66"/>
                </a:solidFill>
                <a:latin typeface="Calibri"/>
              </a:rPr>
              <a:t>4</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Sunk Cost:  Meta's Reality Labs Has Lost $70B+</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35608"/>
            <a:ext cx="6400800" cy="2971800"/>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Meta poured ~$70B into Reality Labs since 2020</a:t>
            </a:r>
          </a:p>
          <a:p>
            <a:pPr lvl="1" algn="l"/>
            <a:r>
              <a:rPr dirty="0">
                <a:latin typeface="Calibri"/>
              </a:rPr>
              <a:t>Quest headsets, Horizon Worlds – thin adoption, little revenue</a:t>
            </a:r>
          </a:p>
          <a:p>
            <a:pPr lvl="1" algn="l"/>
            <a:r>
              <a:rPr dirty="0">
                <a:latin typeface="Calibri"/>
              </a:rPr>
              <a:t>Hardware/software still not commercially viable – payoff keeps slipping</a:t>
            </a:r>
          </a:p>
          <a:p>
            <a:pPr algn="l"/>
            <a:r>
              <a:rPr dirty="0">
                <a:latin typeface="Calibri"/>
              </a:rPr>
              <a:t>Wall Street kept asking when it pays off</a:t>
            </a:r>
          </a:p>
          <a:p>
            <a:pPr algn="l"/>
            <a:r>
              <a:rPr dirty="0">
                <a:latin typeface="Calibri"/>
              </a:rPr>
              <a:t>In 2026: Decision to shift spending to AI</a:t>
            </a:r>
          </a:p>
        </p:txBody>
      </p:sp>
      <p:pic>
        <p:nvPicPr>
          <p:cNvPr id="8" name="Picture 7" descr="_zuckerberg_realitylabs.png"/>
          <p:cNvPicPr>
            <a:picLocks noChangeAspect="1"/>
          </p:cNvPicPr>
          <p:nvPr/>
        </p:nvPicPr>
        <p:blipFill>
          <a:blip r:embed="rId3"/>
          <a:stretch>
            <a:fillRect/>
          </a:stretch>
        </p:blipFill>
        <p:spPr>
          <a:xfrm>
            <a:off x="6739128" y="1975104"/>
            <a:ext cx="5276088" cy="3438144"/>
          </a:xfrm>
          <a:prstGeom prst="roundRect">
            <a:avLst>
              <a:gd name="adj" fmla="val 8000"/>
            </a:avLst>
          </a:prstGeom>
          <a:effectLst>
            <a:outerShdw blurRad="50800" dist="38100" dir="2700000" algn="tl" rotWithShape="0">
              <a:srgbClr val="000000">
                <a:alpha val="50000"/>
              </a:srgbClr>
            </a:outerShdw>
          </a:effectLst>
        </p:spPr>
      </p:pic>
      <p:pic>
        <p:nvPicPr>
          <p:cNvPr id="9" name="Picture 8" descr="_wsj_meta_reality_labs.png"/>
          <p:cNvPicPr>
            <a:picLocks noChangeAspect="1"/>
          </p:cNvPicPr>
          <p:nvPr/>
        </p:nvPicPr>
        <p:blipFill>
          <a:blip r:embed="rId4"/>
          <a:stretch>
            <a:fillRect/>
          </a:stretch>
        </p:blipFill>
        <p:spPr>
          <a:xfrm>
            <a:off x="256032" y="4782312"/>
            <a:ext cx="6007608" cy="1627632"/>
          </a:xfrm>
          <a:prstGeom prst="rect">
            <a:avLst/>
          </a:prstGeom>
          <a:ln w="9525">
            <a:solidFill>
              <a:srgbClr val="555B66"/>
            </a:solidFill>
          </a:ln>
          <a:effectLst>
            <a:outerShdw blurRad="50800" dist="38100" dir="2700000" algn="tl" rotWithShape="0">
              <a:srgbClr val="000000">
                <a:alpha val="45000"/>
              </a:srgbClr>
            </a:outerShdw>
          </a:effectLst>
        </p:spPr>
      </p:pic>
      <p:sp>
        <p:nvSpPr>
          <p:cNvPr id="10" name="Rounded Rectangle 9"/>
          <p:cNvSpPr/>
          <p:nvPr/>
        </p:nvSpPr>
        <p:spPr>
          <a:xfrm>
            <a:off x="6656832" y="5852160"/>
            <a:ext cx="3502152" cy="502920"/>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dirty="0">
                <a:solidFill>
                  <a:srgbClr val="0B2B4E"/>
                </a:solidFill>
                <a:latin typeface="Calibri"/>
              </a:rPr>
              <a:t>→ Classic sunk-cost discipline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FE5C4291-B6AE-4D72-87A6-150ABEAAD460}" type="slidenum">
              <a:rPr sz="1200" b="0" i="0">
                <a:solidFill>
                  <a:srgbClr val="555B66"/>
                </a:solidFill>
                <a:latin typeface="Calibri"/>
              </a:rPr>
              <a:t>5</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Sunk Cost &amp; Opportunity Cost:  Apple's Canceled Apple Car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6400800" cy="3364992"/>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Apple killed Project Titan in 2024 after ~10 years and ~$10B spent</a:t>
            </a:r>
          </a:p>
          <a:p>
            <a:pPr algn="l"/>
            <a:r>
              <a:rPr dirty="0">
                <a:latin typeface="Calibri"/>
              </a:rPr>
              <a:t>Sunk costs not a reason to keep going</a:t>
            </a:r>
          </a:p>
          <a:p>
            <a:pPr algn="l"/>
            <a:r>
              <a:rPr dirty="0">
                <a:latin typeface="Calibri"/>
              </a:rPr>
              <a:t>Real reason to stop: opportunity cost of capital + 2,000 engineers</a:t>
            </a:r>
          </a:p>
          <a:p>
            <a:pPr lvl="1" algn="l"/>
            <a:r>
              <a:rPr dirty="0">
                <a:latin typeface="Calibri"/>
              </a:rPr>
              <a:t>Reallocated → AI / Apple Intelligence (with higher expected returns)</a:t>
            </a:r>
          </a:p>
        </p:txBody>
      </p:sp>
      <p:pic>
        <p:nvPicPr>
          <p:cNvPr id="8" name="Picture 7" descr="slide48_rId3.jpg"/>
          <p:cNvPicPr>
            <a:picLocks noChangeAspect="1"/>
          </p:cNvPicPr>
          <p:nvPr/>
        </p:nvPicPr>
        <p:blipFill>
          <a:blip r:embed="rId3"/>
          <a:stretch>
            <a:fillRect/>
          </a:stretch>
        </p:blipFill>
        <p:spPr>
          <a:xfrm>
            <a:off x="6812280" y="2011680"/>
            <a:ext cx="5074920" cy="2733690"/>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6812280" y="4800600"/>
            <a:ext cx="5074920" cy="320040"/>
          </a:xfrm>
          <a:prstGeom prst="rect">
            <a:avLst/>
          </a:prstGeom>
          <a:noFill/>
        </p:spPr>
        <p:txBody>
          <a:bodyPr wrap="square" lIns="0" tIns="0" rIns="0" bIns="0">
            <a:spAutoFit/>
          </a:bodyPr>
          <a:lstStyle/>
          <a:p>
            <a:pPr algn="ctr"/>
            <a:r>
              <a:rPr sz="1100" b="0" i="1">
                <a:solidFill>
                  <a:srgbClr val="555B66"/>
                </a:solidFill>
                <a:latin typeface="Calibri"/>
              </a:rPr>
              <a:t>Vanarama Apple Car concept  (fair use, © Vanarama)</a:t>
            </a:r>
          </a:p>
        </p:txBody>
      </p:sp>
      <p:sp>
        <p:nvSpPr>
          <p:cNvPr id="10" name="Rounded Rectangle 9"/>
          <p:cNvSpPr/>
          <p:nvPr/>
        </p:nvSpPr>
        <p:spPr>
          <a:xfrm>
            <a:off x="1399032" y="5495544"/>
            <a:ext cx="9601200" cy="502920"/>
          </a:xfrm>
          <a:prstGeom prst="roundRect">
            <a:avLst>
              <a:gd name="adj" fmla="val 2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Opportunity cost  =  the next-best alternative use for the same dollars  &amp;  engineers</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6C9BF22D-27F7-461D-A232-7D1483A36169}" type="slidenum">
              <a:rPr sz="1200" b="0" i="0">
                <a:solidFill>
                  <a:srgbClr val="555B66"/>
                </a:solidFill>
                <a:latin typeface="Calibri"/>
              </a:rPr>
              <a:t>6</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Accounting for Opportunity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stBullets"/>
          <p:cNvSpPr txBox="1"/>
          <p:nvPr/>
        </p:nvSpPr>
        <p:spPr>
          <a:xfrm>
            <a:off x="251999" y="1351930"/>
            <a:ext cx="11687697" cy="137160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Rivian needs to expand production capacity</a:t>
            </a:r>
          </a:p>
          <a:p>
            <a:pPr lvl="1" algn="l"/>
            <a:r>
              <a:rPr>
                <a:latin typeface="Calibri"/>
              </a:rPr>
              <a:t>Either build new factory for $6 billion</a:t>
            </a:r>
          </a:p>
          <a:p>
            <a:pPr lvl="1" algn="l"/>
            <a:r>
              <a:rPr>
                <a:latin typeface="Calibri"/>
              </a:rPr>
              <a:t>Or expand/upgrade outdated existing plant for $5 billion</a:t>
            </a:r>
          </a:p>
          <a:p>
            <a:pPr lvl="1" algn="l"/>
            <a:r>
              <a:rPr>
                <a:latin typeface="Calibri"/>
              </a:rPr>
              <a:t>Both options yield identical final plants</a:t>
            </a:r>
          </a:p>
        </p:txBody>
      </p:sp>
      <p:grpSp>
        <p:nvGrpSpPr>
          <p:cNvPr id="9130" name="CostTableFigure"/>
          <p:cNvGrpSpPr/>
          <p:nvPr/>
        </p:nvGrpSpPr>
        <p:grpSpPr>
          <a:xfrm>
            <a:off x="841248" y="3017520"/>
            <a:ext cx="10515600" cy="2743200"/>
            <a:chOff x="841248" y="2834640"/>
            <a:chExt cx="10515600" cy="2743200"/>
          </a:xfrm>
        </p:grpSpPr>
        <p:sp>
          <p:nvSpPr>
            <p:cNvPr id="8" name="TableCard"/>
            <p:cNvSpPr/>
            <p:nvPr/>
          </p:nvSpPr>
          <p:spPr>
            <a:xfrm>
              <a:off x="841248" y="2834640"/>
              <a:ext cx="10515600" cy="27432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ostTable"/>
            <p:cNvGraphicFramePr>
              <a:graphicFrameLocks noGrp="1"/>
            </p:cNvGraphicFramePr>
            <p:nvPr/>
          </p:nvGraphicFramePr>
          <p:xfrm>
            <a:off x="841248" y="2834640"/>
            <a:ext cx="10515600" cy="2743200"/>
          </p:xfrm>
          <a:graphic>
            <a:graphicData uri="http://schemas.openxmlformats.org/drawingml/2006/table">
              <a:tbl>
                <a:tblPr>
                  <a:tableStyleId>{5C22544A-7EE6-4342-B048-85BDC9FD1C3A}</a:tableStyleId>
                </a:tblPr>
                <a:tblGrid>
                  <a:gridCol w="24688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20624">
                  <a:tc>
                    <a:txBody>
                      <a:bodyPr/>
                      <a:lstStyle/>
                      <a:p>
                        <a:pPr algn="l"/>
                        <a:endParaRPr/>
                      </a:p>
                    </a:txBody>
                    <a:tcPr marT="18288" marB="18288" anchor="ctr">
                      <a:solidFill>
                        <a:srgbClr val="0B2B4E"/>
                      </a:solidFill>
                    </a:tcPr>
                  </a:tc>
                  <a:tc>
                    <a:txBody>
                      <a:bodyPr/>
                      <a:lstStyle/>
                      <a:p>
                        <a:pPr algn="ctr"/>
                        <a:r>
                          <a:rPr sz="1800" b="1">
                            <a:solidFill>
                              <a:srgbClr val="FFFFFF"/>
                            </a:solidFill>
                            <a:latin typeface="Calibri"/>
                          </a:rPr>
                          <a:t>New Factory</a:t>
                        </a:r>
                      </a:p>
                    </a:txBody>
                    <a:tcPr marT="18288" marB="18288" anchor="ctr">
                      <a:solidFill>
                        <a:srgbClr val="0B2B4E"/>
                      </a:solidFill>
                    </a:tcPr>
                  </a:tc>
                  <a:tc gridSpan="2">
                    <a:txBody>
                      <a:bodyPr/>
                      <a:lstStyle/>
                      <a:p>
                        <a:pPr algn="ctr"/>
                        <a:r>
                          <a:rPr sz="1800" b="1">
                            <a:solidFill>
                              <a:srgbClr val="FFFFFF"/>
                            </a:solidFill>
                            <a:latin typeface="Calibri"/>
                          </a:rPr>
                          <a:t>Expand Capacity of Existing Factory</a:t>
                        </a:r>
                      </a:p>
                    </a:txBody>
                    <a:tcPr marT="18288" marB="18288" anchor="ctr">
                      <a:solidFill>
                        <a:srgbClr val="0B2B4E"/>
                      </a:solidFill>
                    </a:tcPr>
                  </a:tc>
                  <a:tc hMerge="1">
                    <a:txBody>
                      <a:bodyPr/>
                      <a:lstStyle/>
                      <a:p>
                        <a:endParaRPr/>
                      </a:p>
                    </a:txBody>
                    <a:tcPr/>
                  </a:tc>
                  <a:extLst>
                    <a:ext uri="{0D108BD9-81ED-4DB2-BD59-A6C34878D82A}">
                      <a16:rowId xmlns:a16="http://schemas.microsoft.com/office/drawing/2014/main" val="10000"/>
                    </a:ext>
                  </a:extLst>
                </a:tr>
                <a:tr h="694944">
                  <a:tc>
                    <a:txBody>
                      <a:bodyPr/>
                      <a:lstStyle/>
                      <a:p>
                        <a:pPr algn="l"/>
                        <a:endParaRPr/>
                      </a:p>
                    </a:txBody>
                    <a:tcPr marT="18288" marB="18288" anchor="ctr">
                      <a:solidFill>
                        <a:srgbClr val="FDF6E6"/>
                      </a:solidFill>
                    </a:tcPr>
                  </a:tc>
                  <a:tc>
                    <a:txBody>
                      <a:bodyPr/>
                      <a:lstStyle/>
                      <a:p>
                        <a:pPr algn="ctr"/>
                        <a:endParaRPr/>
                      </a:p>
                    </a:txBody>
                    <a:tcPr marT="18288" marB="18288" anchor="ctr">
                      <a:solidFill>
                        <a:srgbClr val="FDF6E6"/>
                      </a:solidFill>
                    </a:tcPr>
                  </a:tc>
                  <a:tc>
                    <a:txBody>
                      <a:bodyPr/>
                      <a:lstStyle/>
                      <a:p>
                        <a:pPr algn="ctr"/>
                        <a:r>
                          <a:rPr sz="1700" b="0" i="1" dirty="0">
                            <a:solidFill>
                              <a:srgbClr val="0B2B4E"/>
                            </a:solidFill>
                            <a:latin typeface="Calibri"/>
                          </a:rPr>
                          <a:t>Existing factory cannot </a:t>
                        </a:r>
                        <a:endParaRPr lang="de-DE" sz="1700" b="0" i="1" dirty="0">
                          <a:solidFill>
                            <a:srgbClr val="0B2B4E"/>
                          </a:solidFill>
                          <a:latin typeface="Calibri"/>
                        </a:endParaRPr>
                      </a:p>
                      <a:p>
                        <a:pPr algn="ctr"/>
                        <a:r>
                          <a:rPr sz="1700" b="0" i="1" dirty="0">
                            <a:solidFill>
                              <a:srgbClr val="0B2B4E"/>
                            </a:solidFill>
                            <a:latin typeface="Calibri"/>
                          </a:rPr>
                          <a:t>be used otherwise</a:t>
                        </a:r>
                      </a:p>
                    </a:txBody>
                    <a:tcPr marT="18288" marB="18288" anchor="ctr">
                      <a:solidFill>
                        <a:srgbClr val="FDF6E6"/>
                      </a:solidFill>
                    </a:tcPr>
                  </a:tc>
                  <a:tc>
                    <a:txBody>
                      <a:bodyPr/>
                      <a:lstStyle/>
                      <a:p>
                        <a:pPr algn="ctr"/>
                        <a:r>
                          <a:rPr sz="1700" b="0" i="1" dirty="0">
                            <a:solidFill>
                              <a:srgbClr val="0B2B4E"/>
                            </a:solidFill>
                            <a:latin typeface="Calibri"/>
                          </a:rPr>
                          <a:t>Existing factory can </a:t>
                        </a:r>
                        <a:endParaRPr lang="de-DE" sz="1700" b="0" i="1" dirty="0">
                          <a:solidFill>
                            <a:srgbClr val="0B2B4E"/>
                          </a:solidFill>
                          <a:latin typeface="Calibri"/>
                        </a:endParaRPr>
                      </a:p>
                      <a:p>
                        <a:pPr algn="ctr"/>
                        <a:r>
                          <a:rPr sz="1700" b="0" i="1" dirty="0">
                            <a:solidFill>
                              <a:srgbClr val="0B2B4E"/>
                            </a:solidFill>
                            <a:latin typeface="Calibri"/>
                          </a:rPr>
                          <a:t>be sold for $2B</a:t>
                        </a:r>
                      </a:p>
                    </a:txBody>
                    <a:tcPr marT="18288" marB="18288" anchor="ctr">
                      <a:solidFill>
                        <a:srgbClr val="FDF6E6"/>
                      </a:solidFill>
                    </a:tcPr>
                  </a:tc>
                  <a:extLst>
                    <a:ext uri="{0D108BD9-81ED-4DB2-BD59-A6C34878D82A}">
                      <a16:rowId xmlns:a16="http://schemas.microsoft.com/office/drawing/2014/main" val="10001"/>
                    </a:ext>
                  </a:extLst>
                </a:tr>
                <a:tr h="475488">
                  <a:tc>
                    <a:txBody>
                      <a:bodyPr/>
                      <a:lstStyle/>
                      <a:p>
                        <a:pPr algn="l"/>
                        <a:r>
                          <a:rPr sz="1800" b="0">
                            <a:solidFill>
                              <a:srgbClr val="0B2B4E"/>
                            </a:solidFill>
                            <a:latin typeface="Calibri"/>
                          </a:rPr>
                          <a:t>Construction Costs</a:t>
                        </a:r>
                      </a:p>
                    </a:txBody>
                    <a:tcPr marT="18288" marB="18288" anchor="ctr">
                      <a:solidFill>
                        <a:srgbClr val="FFFFFF"/>
                      </a:solidFill>
                    </a:tcPr>
                  </a:tc>
                  <a:tc>
                    <a:txBody>
                      <a:bodyPr/>
                      <a:lstStyle/>
                      <a:p>
                        <a:pPr algn="ctr"/>
                        <a:r>
                          <a:rPr sz="1800" b="0">
                            <a:solidFill>
                              <a:srgbClr val="0B2B4E"/>
                            </a:solidFill>
                            <a:latin typeface="Calibri"/>
                          </a:rPr>
                          <a:t>$6B</a:t>
                        </a:r>
                      </a:p>
                    </a:txBody>
                    <a:tcPr marT="18288" marB="18288" anchor="ctr">
                      <a:solidFill>
                        <a:srgbClr val="FFFFFF"/>
                      </a:solidFill>
                    </a:tcPr>
                  </a:tc>
                  <a:tc>
                    <a:txBody>
                      <a:bodyPr/>
                      <a:lstStyle/>
                      <a:p>
                        <a:pPr algn="ctr"/>
                        <a:r>
                          <a:rPr sz="1800" b="0" dirty="0">
                            <a:solidFill>
                              <a:srgbClr val="0B2B4E"/>
                            </a:solidFill>
                            <a:latin typeface="Calibri"/>
                          </a:rPr>
                          <a:t>$5B</a:t>
                        </a:r>
                      </a:p>
                    </a:txBody>
                    <a:tcPr marT="18288" marB="18288" anchor="ctr">
                      <a:solidFill>
                        <a:srgbClr val="FFFFFF"/>
                      </a:solidFill>
                    </a:tcPr>
                  </a:tc>
                  <a:tc>
                    <a:txBody>
                      <a:bodyPr/>
                      <a:lstStyle/>
                      <a:p>
                        <a:pPr algn="ctr"/>
                        <a:r>
                          <a:rPr sz="1800" b="0">
                            <a:solidFill>
                              <a:srgbClr val="0B2B4E"/>
                            </a:solidFill>
                            <a:latin typeface="Calibri"/>
                          </a:rPr>
                          <a:t>$5B</a:t>
                        </a:r>
                      </a:p>
                    </a:txBody>
                    <a:tcPr marT="18288" marB="18288" anchor="ctr">
                      <a:solidFill>
                        <a:srgbClr val="FFFFFF"/>
                      </a:solidFill>
                    </a:tcPr>
                  </a:tc>
                  <a:extLst>
                    <a:ext uri="{0D108BD9-81ED-4DB2-BD59-A6C34878D82A}">
                      <a16:rowId xmlns:a16="http://schemas.microsoft.com/office/drawing/2014/main" val="10002"/>
                    </a:ext>
                  </a:extLst>
                </a:tr>
                <a:tr h="676656">
                  <a:tc>
                    <a:txBody>
                      <a:bodyPr/>
                      <a:lstStyle/>
                      <a:p>
                        <a:pPr algn="l"/>
                        <a:r>
                          <a:rPr sz="1800" b="0">
                            <a:solidFill>
                              <a:srgbClr val="0B2B4E"/>
                            </a:solidFill>
                            <a:latin typeface="Calibri"/>
                          </a:rPr>
                          <a:t>Fixed Costs</a:t>
                        </a:r>
                      </a:p>
                      <a:p>
                        <a:pPr algn="l"/>
                        <a:r>
                          <a:rPr sz="1800" b="0">
                            <a:solidFill>
                              <a:srgbClr val="0B2B4E"/>
                            </a:solidFill>
                            <a:latin typeface="Calibri"/>
                          </a:rPr>
                          <a:t>(opportunity costs)</a:t>
                        </a:r>
                      </a:p>
                    </a:txBody>
                    <a:tcPr marT="18288" marB="18288" anchor="ctr">
                      <a:solidFill>
                        <a:srgbClr val="FDF6E6"/>
                      </a:solidFill>
                    </a:tcPr>
                  </a:tc>
                  <a:tc>
                    <a:txBody>
                      <a:bodyPr/>
                      <a:lstStyle/>
                      <a:p>
                        <a:pPr algn="ctr"/>
                        <a:r>
                          <a:rPr sz="1800" b="0">
                            <a:solidFill>
                              <a:srgbClr val="0B2B4E"/>
                            </a:solidFill>
                            <a:latin typeface="Calibri"/>
                          </a:rPr>
                          <a:t>0</a:t>
                        </a:r>
                      </a:p>
                    </a:txBody>
                    <a:tcPr marT="18288" marB="18288" anchor="ctr">
                      <a:solidFill>
                        <a:srgbClr val="FDF6E6"/>
                      </a:solidFill>
                    </a:tcPr>
                  </a:tc>
                  <a:tc>
                    <a:txBody>
                      <a:bodyPr/>
                      <a:lstStyle/>
                      <a:p>
                        <a:pPr algn="ctr"/>
                        <a:r>
                          <a:rPr sz="1800" b="0" kern="1200" dirty="0">
                            <a:solidFill>
                              <a:srgbClr val="0B2B4E"/>
                            </a:solidFill>
                            <a:latin typeface="Calibri"/>
                            <a:ea typeface="+mn-ea"/>
                            <a:cs typeface="+mn-cs"/>
                          </a:rPr>
                          <a:t>0</a:t>
                        </a:r>
                      </a:p>
                    </a:txBody>
                    <a:tcPr marT="18288" marB="18288" anchor="ctr">
                      <a:solidFill>
                        <a:srgbClr val="FDF6E6"/>
                      </a:solidFill>
                    </a:tcPr>
                  </a:tc>
                  <a:tc>
                    <a:txBody>
                      <a:bodyPr/>
                      <a:lstStyle/>
                      <a:p>
                        <a:pPr marL="0" algn="ctr" defTabSz="457200" rtl="0" eaLnBrk="1" latinLnBrk="0" hangingPunct="1"/>
                        <a:r>
                          <a:rPr sz="1800" b="0" kern="1200" dirty="0">
                            <a:solidFill>
                              <a:srgbClr val="0B2B4E"/>
                            </a:solidFill>
                            <a:latin typeface="Calibri"/>
                            <a:ea typeface="+mn-ea"/>
                            <a:cs typeface="+mn-cs"/>
                          </a:rPr>
                          <a:t>$2B</a:t>
                        </a:r>
                      </a:p>
                    </a:txBody>
                    <a:tcPr marT="18288" marB="18288" anchor="ctr">
                      <a:solidFill>
                        <a:srgbClr val="FDF6E6"/>
                      </a:solidFill>
                    </a:tcPr>
                  </a:tc>
                  <a:extLst>
                    <a:ext uri="{0D108BD9-81ED-4DB2-BD59-A6C34878D82A}">
                      <a16:rowId xmlns:a16="http://schemas.microsoft.com/office/drawing/2014/main" val="10003"/>
                    </a:ext>
                  </a:extLst>
                </a:tr>
                <a:tr h="475488">
                  <a:tc>
                    <a:txBody>
                      <a:bodyPr/>
                      <a:lstStyle/>
                      <a:p>
                        <a:pPr algn="l"/>
                        <a:r>
                          <a:rPr sz="1800" b="1">
                            <a:solidFill>
                              <a:srgbClr val="0B2B4E"/>
                            </a:solidFill>
                            <a:latin typeface="Calibri"/>
                          </a:rPr>
                          <a:t>Total</a:t>
                        </a:r>
                      </a:p>
                    </a:txBody>
                    <a:tcPr marT="18288" marB="18288" anchor="ctr">
                      <a:solidFill>
                        <a:srgbClr val="FFFFFF"/>
                      </a:solidFill>
                    </a:tcPr>
                  </a:tc>
                  <a:tc>
                    <a:txBody>
                      <a:bodyPr/>
                      <a:lstStyle/>
                      <a:p>
                        <a:pPr algn="ctr"/>
                        <a:r>
                          <a:rPr sz="1800" b="1">
                            <a:solidFill>
                              <a:srgbClr val="0B2B4E"/>
                            </a:solidFill>
                            <a:latin typeface="Calibri"/>
                          </a:rPr>
                          <a:t>$6B</a:t>
                        </a:r>
                      </a:p>
                    </a:txBody>
                    <a:tcPr marT="18288" marB="18288" anchor="ctr">
                      <a:solidFill>
                        <a:srgbClr val="FFFFFF"/>
                      </a:solidFill>
                    </a:tcPr>
                  </a:tc>
                  <a:tc>
                    <a:txBody>
                      <a:bodyPr/>
                      <a:lstStyle/>
                      <a:p>
                        <a:pPr algn="ctr"/>
                        <a:r>
                          <a:rPr sz="1800" b="1">
                            <a:solidFill>
                              <a:srgbClr val="0B2B4E"/>
                            </a:solidFill>
                            <a:latin typeface="Calibri"/>
                          </a:rPr>
                          <a:t>$5B</a:t>
                        </a:r>
                      </a:p>
                    </a:txBody>
                    <a:tcPr marT="18288" marB="18288" anchor="ctr">
                      <a:solidFill>
                        <a:srgbClr val="FFFFFF"/>
                      </a:solidFill>
                    </a:tcPr>
                  </a:tc>
                  <a:tc>
                    <a:txBody>
                      <a:bodyPr/>
                      <a:lstStyle/>
                      <a:p>
                        <a:pPr algn="ctr"/>
                        <a:r>
                          <a:rPr sz="1800" b="1" dirty="0">
                            <a:solidFill>
                              <a:srgbClr val="0B2B4E"/>
                            </a:solidFill>
                            <a:latin typeface="Calibri"/>
                          </a:rPr>
                          <a:t>$7B</a:t>
                        </a:r>
                      </a:p>
                    </a:txBody>
                    <a:tcPr marT="18288" marB="18288" anchor="ctr">
                      <a:solidFill>
                        <a:srgbClr val="FFFFFF"/>
                      </a:solidFill>
                    </a:tcPr>
                  </a:tc>
                  <a:extLst>
                    <a:ext uri="{0D108BD9-81ED-4DB2-BD59-A6C34878D82A}">
                      <a16:rowId xmlns:a16="http://schemas.microsoft.com/office/drawing/2014/main" val="10004"/>
                    </a:ext>
                  </a:extLst>
                </a:tr>
              </a:tbl>
            </a:graphicData>
          </a:graphic>
        </p:graphicFrame>
      </p:grpSp>
      <p:sp>
        <p:nvSpPr>
          <p:cNvPr id="10" name="ConclusionLeft"/>
          <p:cNvSpPr/>
          <p:nvPr/>
        </p:nvSpPr>
        <p:spPr>
          <a:xfrm>
            <a:off x="5330952" y="5841341"/>
            <a:ext cx="2971800" cy="457200"/>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  Expansion is best option</a:t>
            </a:r>
          </a:p>
        </p:txBody>
      </p:sp>
      <p:sp>
        <p:nvSpPr>
          <p:cNvPr id="11" name="ConclusionRight"/>
          <p:cNvSpPr/>
          <p:nvPr/>
        </p:nvSpPr>
        <p:spPr>
          <a:xfrm>
            <a:off x="8567928" y="5843016"/>
            <a:ext cx="2907792" cy="457200"/>
          </a:xfrm>
          <a:prstGeom prst="roundRect">
            <a:avLst>
              <a:gd name="adj" fmla="val 2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0B2B4E"/>
                </a:solidFill>
                <a:latin typeface="Calibri"/>
              </a:rPr>
              <a:t>→  Build new is best option</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A159B8AD-B436-59A8-8584-E0C3ACF6CB1A}" type="slidenum">
              <a:rPr lang="en-US" sz="1200" dirty="0">
                <a:solidFill>
                  <a:srgbClr val="555B66"/>
                </a:solidFill>
                <a:latin typeface="Calibri"/>
              </a:rPr>
              <a:t>7</a:t>
            </a:fld>
            <a:endParaRPr lang="en-US" sz="1200" dirty="0">
              <a:solidFill>
                <a:srgbClr val="555B66"/>
              </a:solidFill>
              <a:latin typeface="Calibri"/>
            </a:endParaRPr>
          </a:p>
        </p:txBody>
      </p:sp>
      <p:sp>
        <p:nvSpPr>
          <p:cNvPr id="16" name="Oval 9">
            <a:extLst>
              <a:ext uri="{FF2B5EF4-FFF2-40B4-BE49-F238E27FC236}">
                <a16:creationId xmlns:a16="http://schemas.microsoft.com/office/drawing/2014/main" id="{7AF1CAAA-A180-BDA6-7FB5-60CE9700D30C}"/>
              </a:ext>
            </a:extLst>
          </p:cNvPr>
          <p:cNvSpPr>
            <a:spLocks noChangeArrowheads="1"/>
          </p:cNvSpPr>
          <p:nvPr/>
        </p:nvSpPr>
        <p:spPr bwMode="auto">
          <a:xfrm>
            <a:off x="6436100" y="4712350"/>
            <a:ext cx="806631" cy="542260"/>
          </a:xfrm>
          <a:prstGeom prst="ellipse">
            <a:avLst/>
          </a:prstGeom>
          <a:noFill/>
          <a:ln w="25400">
            <a:solidFill>
              <a:srgbClr val="C00000"/>
            </a:solidFill>
            <a:round/>
            <a:headEnd type="none" w="sm" len="sm"/>
            <a:tailEnd type="none" w="sm" len="sm"/>
          </a:ln>
          <a:effectLst/>
        </p:spPr>
        <p:txBody>
          <a:bodyPr wrap="none" lIns="90217" tIns="45109" rIns="90217" bIns="45109" anchor="ctr"/>
          <a:lstStyle/>
          <a:p>
            <a:endParaRPr lang="en-US" sz="1688"/>
          </a:p>
        </p:txBody>
      </p:sp>
      <p:sp>
        <p:nvSpPr>
          <p:cNvPr id="17" name="TextBox 16">
            <a:extLst>
              <a:ext uri="{FF2B5EF4-FFF2-40B4-BE49-F238E27FC236}">
                <a16:creationId xmlns:a16="http://schemas.microsoft.com/office/drawing/2014/main" id="{1894190A-27DE-E9D2-CD1D-77FFB3FD40C2}"/>
              </a:ext>
            </a:extLst>
          </p:cNvPr>
          <p:cNvSpPr txBox="1"/>
          <p:nvPr/>
        </p:nvSpPr>
        <p:spPr>
          <a:xfrm>
            <a:off x="7129253" y="5005117"/>
            <a:ext cx="651140" cy="369332"/>
          </a:xfrm>
          <a:prstGeom prst="rect">
            <a:avLst/>
          </a:prstGeom>
          <a:noFill/>
          <a:ln w="19050">
            <a:noFill/>
          </a:ln>
        </p:spPr>
        <p:txBody>
          <a:bodyPr wrap="none" rtlCol="0">
            <a:spAutoFit/>
          </a:bodyPr>
          <a:lstStyle/>
          <a:p>
            <a:r>
              <a:rPr lang="en-US" dirty="0">
                <a:solidFill>
                  <a:srgbClr val="C00000"/>
                </a:solidFill>
                <a:latin typeface="Whitney Book" pitchFamily="50" charset="0"/>
                <a:ea typeface="Times New Roman"/>
                <a:cs typeface="Whitney Book" pitchFamily="50" charset="0"/>
              </a:rPr>
              <a:t>Sunk</a:t>
            </a:r>
          </a:p>
        </p:txBody>
      </p:sp>
      <p:sp>
        <p:nvSpPr>
          <p:cNvPr id="18" name="Oval 9">
            <a:extLst>
              <a:ext uri="{FF2B5EF4-FFF2-40B4-BE49-F238E27FC236}">
                <a16:creationId xmlns:a16="http://schemas.microsoft.com/office/drawing/2014/main" id="{4D15A3A5-9B9A-A515-6B9A-8F6E98660CEB}"/>
              </a:ext>
            </a:extLst>
          </p:cNvPr>
          <p:cNvSpPr>
            <a:spLocks noChangeArrowheads="1"/>
          </p:cNvSpPr>
          <p:nvPr/>
        </p:nvSpPr>
        <p:spPr bwMode="auto">
          <a:xfrm>
            <a:off x="9427464" y="4666905"/>
            <a:ext cx="806631" cy="542260"/>
          </a:xfrm>
          <a:prstGeom prst="ellipse">
            <a:avLst/>
          </a:prstGeom>
          <a:noFill/>
          <a:ln w="25400">
            <a:solidFill>
              <a:srgbClr val="C00000"/>
            </a:solidFill>
            <a:round/>
            <a:headEnd type="none" w="sm" len="sm"/>
            <a:tailEnd type="none" w="sm" len="sm"/>
          </a:ln>
          <a:effectLst/>
        </p:spPr>
        <p:txBody>
          <a:bodyPr wrap="none" lIns="90217" tIns="45109" rIns="90217" bIns="45109" anchor="ctr"/>
          <a:lstStyle/>
          <a:p>
            <a:endParaRPr lang="en-US" sz="1688"/>
          </a:p>
        </p:txBody>
      </p:sp>
      <p:sp>
        <p:nvSpPr>
          <p:cNvPr id="19" name="TextBox 18">
            <a:extLst>
              <a:ext uri="{FF2B5EF4-FFF2-40B4-BE49-F238E27FC236}">
                <a16:creationId xmlns:a16="http://schemas.microsoft.com/office/drawing/2014/main" id="{B3640D6D-86C3-152F-CBE0-B58B070B5CCB}"/>
              </a:ext>
            </a:extLst>
          </p:cNvPr>
          <p:cNvSpPr txBox="1"/>
          <p:nvPr/>
        </p:nvSpPr>
        <p:spPr>
          <a:xfrm>
            <a:off x="9965126" y="5133823"/>
            <a:ext cx="1926168" cy="369332"/>
          </a:xfrm>
          <a:prstGeom prst="rect">
            <a:avLst/>
          </a:prstGeom>
          <a:noFill/>
          <a:ln w="19050">
            <a:noFill/>
          </a:ln>
        </p:spPr>
        <p:txBody>
          <a:bodyPr wrap="none" rtlCol="0">
            <a:spAutoFit/>
          </a:bodyPr>
          <a:lstStyle/>
          <a:p>
            <a:r>
              <a:rPr lang="en-US" dirty="0">
                <a:solidFill>
                  <a:srgbClr val="C00000"/>
                </a:solidFill>
                <a:latin typeface="Whitney Book" pitchFamily="50" charset="0"/>
                <a:ea typeface="Times New Roman"/>
                <a:cs typeface="Whitney Book" pitchFamily="50" charset="0"/>
              </a:rPr>
              <a:t>Resell opportunity</a:t>
            </a:r>
          </a:p>
        </p:txBody>
      </p:sp>
      <p:sp>
        <p:nvSpPr>
          <p:cNvPr id="20" name="Oval 9">
            <a:extLst>
              <a:ext uri="{FF2B5EF4-FFF2-40B4-BE49-F238E27FC236}">
                <a16:creationId xmlns:a16="http://schemas.microsoft.com/office/drawing/2014/main" id="{E1484CF7-4714-ECF1-6A38-15710F0BD917}"/>
              </a:ext>
            </a:extLst>
          </p:cNvPr>
          <p:cNvSpPr>
            <a:spLocks noChangeArrowheads="1"/>
          </p:cNvSpPr>
          <p:nvPr/>
        </p:nvSpPr>
        <p:spPr bwMode="auto">
          <a:xfrm>
            <a:off x="8709549" y="3296438"/>
            <a:ext cx="2277077" cy="902040"/>
          </a:xfrm>
          <a:prstGeom prst="ellipse">
            <a:avLst/>
          </a:prstGeom>
          <a:noFill/>
          <a:ln w="25400">
            <a:solidFill>
              <a:srgbClr val="C00000"/>
            </a:solidFill>
            <a:round/>
            <a:headEnd type="none" w="sm" len="sm"/>
            <a:tailEnd type="none" w="sm" len="sm"/>
          </a:ln>
          <a:effectLst/>
        </p:spPr>
        <p:txBody>
          <a:bodyPr wrap="none" lIns="90217" tIns="45109" rIns="90217" bIns="45109" anchor="ctr"/>
          <a:lstStyle/>
          <a:p>
            <a:endParaRPr lang="en-US" sz="1688"/>
          </a:p>
        </p:txBody>
      </p:sp>
      <p:sp>
        <p:nvSpPr>
          <p:cNvPr id="21" name="Oval 9">
            <a:extLst>
              <a:ext uri="{FF2B5EF4-FFF2-40B4-BE49-F238E27FC236}">
                <a16:creationId xmlns:a16="http://schemas.microsoft.com/office/drawing/2014/main" id="{22246988-B846-7EBF-C1F0-9E76245B6229}"/>
              </a:ext>
            </a:extLst>
          </p:cNvPr>
          <p:cNvSpPr>
            <a:spLocks noChangeArrowheads="1"/>
          </p:cNvSpPr>
          <p:nvPr/>
        </p:nvSpPr>
        <p:spPr bwMode="auto">
          <a:xfrm>
            <a:off x="5724144" y="3245436"/>
            <a:ext cx="2185416" cy="982441"/>
          </a:xfrm>
          <a:prstGeom prst="ellipse">
            <a:avLst/>
          </a:prstGeom>
          <a:noFill/>
          <a:ln w="25400">
            <a:solidFill>
              <a:srgbClr val="C00000"/>
            </a:solidFill>
            <a:round/>
            <a:headEnd type="none" w="sm" len="sm"/>
            <a:tailEnd type="none" w="sm" len="sm"/>
          </a:ln>
          <a:effectLst/>
        </p:spPr>
        <p:txBody>
          <a:bodyPr wrap="none" lIns="90217" tIns="45109" rIns="90217" bIns="45109" anchor="ctr"/>
          <a:lstStyle/>
          <a:p>
            <a:endParaRPr lang="en-US" sz="1688" dirty="0"/>
          </a:p>
        </p:txBody>
      </p:sp>
    </p:spTree>
    <p:extLst>
      <p:ext uri="{BB962C8B-B14F-4D97-AF65-F5344CB8AC3E}">
        <p14:creationId xmlns:p14="http://schemas.microsoft.com/office/powerpoint/2010/main" val="2519544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6" grpId="0" animBg="1"/>
      <p:bldP spid="17" grpId="0"/>
      <p:bldP spid="18" grpId="0" animBg="1"/>
      <p:bldP spid="19" grpId="0"/>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Dictionary of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02336" y="1737360"/>
            <a:ext cx="11686032" cy="365760"/>
          </a:xfrm>
          <a:prstGeom prst="rect">
            <a:avLst/>
          </a:prstGeom>
          <a:noFill/>
        </p:spPr>
        <p:txBody>
          <a:bodyPr wrap="square" lIns="0" tIns="0" rIns="0" bIns="0">
            <a:spAutoFit/>
          </a:bodyPr>
          <a:lstStyle/>
          <a:p>
            <a:pPr algn="ctr"/>
            <a:r>
              <a:rPr sz="2400" b="0" i="1">
                <a:solidFill>
                  <a:srgbClr val="555B66"/>
                </a:solidFill>
                <a:latin typeface="Calibri"/>
              </a:rPr>
              <a:t>Cheat sheet to refer back to</a:t>
            </a:r>
          </a:p>
        </p:txBody>
      </p:sp>
      <p:sp>
        <p:nvSpPr>
          <p:cNvPr id="8" name="Rectangle 7"/>
          <p:cNvSpPr/>
          <p:nvPr/>
        </p:nvSpPr>
        <p:spPr>
          <a:xfrm>
            <a:off x="403707" y="2505456"/>
            <a:ext cx="370332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Total Cost</a:t>
            </a:r>
          </a:p>
        </p:txBody>
      </p:sp>
      <mc:AlternateContent xmlns:mc="http://schemas.openxmlformats.org/markup-compatibility/2006" xmlns:a14="http://schemas.microsoft.com/office/drawing/2010/main">
        <mc:Choice Requires="a14">
          <p:sp>
            <p:nvSpPr>
              <p:cNvPr id="9" name="TextBox 8"/>
              <p:cNvSpPr txBox="1"/>
              <p:nvPr/>
            </p:nvSpPr>
            <p:spPr>
              <a:xfrm>
                <a:off x="403707" y="3099816"/>
                <a:ext cx="3703320" cy="868680"/>
              </a:xfrm>
              <a:prstGeom prst="rect">
                <a:avLst/>
              </a:prstGeom>
              <a:solidFill>
                <a:srgbClr val="FDF6E6"/>
              </a:solidFill>
              <a:ln w="9525">
                <a:solidFill>
                  <a:srgbClr val="0B2B4E"/>
                </a:solidFill>
              </a:ln>
            </p:spPr>
            <p:txBody>
              <a:bodyPr wrap="square" anchor="ctr">
                <a:spAutoFit/>
              </a:bodyPr>
              <a:lstStyle/>
              <a:p>
                <a:pPr algn="ctr">
                  <a:defRPr sz="2200" b="0" i="1">
                    <a:solidFill>
                      <a:srgbClr val="0B2B4E"/>
                    </a:solidFill>
                    <a:latin typeface="Cambria Math"/>
                  </a:defRPr>
                </a:pPr>
                <a14:m>
                  <m:oMathPara xmlns:m="http://schemas.openxmlformats.org/officeDocument/2006/math">
                    <m:oMath>
                      <m:r>
                        <m:rPr>
                          <m:sty m:val="p"/>
                        </m:rPr>
                        <a:rPr lang="en-US" sz="2200" b="0" i="0">
                          <a:latin typeface="Cambria Math"/>
                        </a:rPr>
                        <m:t>TC</m:t>
                      </m:r>
                      <m:r>
                        <a:rPr lang="en-US" sz="2200" b="0" i="0">
                          <a:latin typeface="Cambria Math"/>
                        </a:rPr>
                        <m:t> = </m:t>
                      </m:r>
                      <m:r>
                        <m:rPr>
                          <m:sty m:val="p"/>
                        </m:rPr>
                        <a:rPr lang="en-US" sz="2200" b="0" i="0">
                          <a:latin typeface="Cambria Math"/>
                        </a:rPr>
                        <m:t>TFC</m:t>
                      </m:r>
                      <m:r>
                        <a:rPr lang="en-US" sz="2200" b="0" i="0">
                          <a:latin typeface="Cambria Math"/>
                        </a:rPr>
                        <m:t> + </m:t>
                      </m:r>
                      <m:r>
                        <m:rPr>
                          <m:sty m:val="p"/>
                        </m:rPr>
                        <a:rPr lang="en-US" sz="2200" b="0" i="0">
                          <a:latin typeface="Cambria Math"/>
                        </a:rPr>
                        <m:t>TVC</m:t>
                      </m:r>
                    </m:oMath>
                  </m:oMathPara>
                </a14:m>
                <a:endParaRPr lang="en-US" sz="2200"/>
              </a:p>
            </p:txBody>
          </p:sp>
        </mc:Choice>
        <mc:Fallback xmlns="">
          <p:sp>
            <p:nvSpPr>
              <p:cNvPr id="9" name="TextBox 8"/>
              <p:cNvSpPr txBox="1">
                <a:spLocks noRot="1" noChangeAspect="1" noMove="1" noResize="1" noEditPoints="1" noAdjustHandles="1" noChangeArrowheads="1" noChangeShapeType="1" noTextEdit="1"/>
              </p:cNvSpPr>
              <p:nvPr/>
            </p:nvSpPr>
            <p:spPr>
              <a:xfrm>
                <a:off x="403707" y="3099816"/>
                <a:ext cx="3703320" cy="868680"/>
              </a:xfrm>
              <a:prstGeom prst="rect">
                <a:avLst/>
              </a:prstGeom>
              <a:blipFill>
                <a:blip r:embed="rId3"/>
                <a:stretch>
                  <a:fillRect/>
                </a:stretch>
              </a:blipFill>
              <a:ln w="9525">
                <a:solidFill>
                  <a:srgbClr val="0B2B4E"/>
                </a:solidFill>
              </a:ln>
            </p:spPr>
            <p:txBody>
              <a:bodyPr/>
              <a:lstStyle/>
              <a:p>
                <a:r>
                  <a:rPr lang="en-US">
                    <a:noFill/>
                  </a:rPr>
                  <a:t> </a:t>
                </a:r>
              </a:p>
            </p:txBody>
          </p:sp>
        </mc:Fallback>
      </mc:AlternateContent>
      <p:sp>
        <p:nvSpPr>
          <p:cNvPr id="10" name="TextBox 9"/>
          <p:cNvSpPr txBox="1"/>
          <p:nvPr/>
        </p:nvSpPr>
        <p:spPr>
          <a:xfrm>
            <a:off x="540867" y="4105656"/>
            <a:ext cx="3429000" cy="256032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TFC = Total Fixed Cost</a:t>
            </a:r>
          </a:p>
          <a:p>
            <a:pPr lvl="1" algn="l"/>
            <a:r>
              <a:rPr>
                <a:latin typeface="Calibri"/>
              </a:rPr>
              <a:t>(ignore sunk costs)</a:t>
            </a:r>
          </a:p>
          <a:p>
            <a:pPr algn="l"/>
            <a:r>
              <a:rPr>
                <a:latin typeface="Calibri"/>
              </a:rPr>
              <a:t>TVC = Total Variable Cost</a:t>
            </a:r>
          </a:p>
        </p:txBody>
      </p:sp>
      <p:sp>
        <p:nvSpPr>
          <p:cNvPr id="11" name="Rectangle 10"/>
          <p:cNvSpPr/>
          <p:nvPr/>
        </p:nvSpPr>
        <p:spPr>
          <a:xfrm>
            <a:off x="4244187" y="2505456"/>
            <a:ext cx="370332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Average Cost</a:t>
            </a:r>
          </a:p>
        </p:txBody>
      </p:sp>
      <mc:AlternateContent xmlns:mc="http://schemas.openxmlformats.org/markup-compatibility/2006" xmlns:a14="http://schemas.microsoft.com/office/drawing/2010/main">
        <mc:Choice Requires="a14">
          <p:sp>
            <p:nvSpPr>
              <p:cNvPr id="12" name="TextBox 11"/>
              <p:cNvSpPr txBox="1"/>
              <p:nvPr/>
            </p:nvSpPr>
            <p:spPr>
              <a:xfrm>
                <a:off x="4244187" y="3099816"/>
                <a:ext cx="3703320" cy="868680"/>
              </a:xfrm>
              <a:prstGeom prst="rect">
                <a:avLst/>
              </a:prstGeom>
              <a:solidFill>
                <a:srgbClr val="FDF6E6"/>
              </a:solidFill>
              <a:ln w="9525">
                <a:solidFill>
                  <a:srgbClr val="0B2B4E"/>
                </a:solidFill>
              </a:ln>
            </p:spPr>
            <p:txBody>
              <a:bodyPr wrap="square" anchor="ctr">
                <a:spAutoFit/>
              </a:bodyPr>
              <a:lstStyle/>
              <a:p>
                <a:pPr algn="ctr">
                  <a:defRPr sz="2200" b="0" i="1">
                    <a:solidFill>
                      <a:srgbClr val="0B2B4E"/>
                    </a:solidFill>
                    <a:latin typeface="Cambria Math"/>
                  </a:defRPr>
                </a:pPr>
                <a14:m>
                  <m:oMathPara xmlns:m="http://schemas.openxmlformats.org/officeDocument/2006/math">
                    <m:oMath>
                      <m:r>
                        <m:rPr>
                          <m:sty m:val="p"/>
                        </m:rPr>
                        <a:rPr lang="en-US" sz="2200" b="0" i="0">
                          <a:latin typeface="Cambria Math"/>
                        </a:rPr>
                        <m:t>ATC</m:t>
                      </m:r>
                      <m:r>
                        <a:rPr lang="en-US" sz="2200" b="0" i="0">
                          <a:latin typeface="Cambria Math"/>
                        </a:rPr>
                        <m:t> = </m:t>
                      </m:r>
                      <m:f>
                        <m:fPr>
                          <m:ctrlPr>
                            <a:rPr lang="en-US" sz="2200" b="0" i="0">
                              <a:latin typeface="Cambria Math"/>
                            </a:rPr>
                          </m:ctrlPr>
                        </m:fPr>
                        <m:num>
                          <m:r>
                            <m:rPr>
                              <m:sty m:val="p"/>
                            </m:rPr>
                            <a:rPr lang="en-US" sz="2200" b="0" i="0">
                              <a:latin typeface="Cambria Math"/>
                            </a:rPr>
                            <m:t>TC</m:t>
                          </m:r>
                        </m:num>
                        <m:den>
                          <m:r>
                            <m:rPr>
                              <m:sty m:val="p"/>
                            </m:rPr>
                            <a:rPr lang="en-US" sz="2200" b="0" i="0">
                              <a:latin typeface="Cambria Math"/>
                            </a:rPr>
                            <m:t>Q</m:t>
                          </m:r>
                        </m:den>
                      </m:f>
                    </m:oMath>
                  </m:oMathPara>
                </a14:m>
                <a:endParaRPr lang="en-US" sz="2200"/>
              </a:p>
            </p:txBody>
          </p:sp>
        </mc:Choice>
        <mc:Fallback xmlns="">
          <p:sp>
            <p:nvSpPr>
              <p:cNvPr id="12" name="TextBox 11"/>
              <p:cNvSpPr txBox="1">
                <a:spLocks noRot="1" noChangeAspect="1" noMove="1" noResize="1" noEditPoints="1" noAdjustHandles="1" noChangeArrowheads="1" noChangeShapeType="1" noTextEdit="1"/>
              </p:cNvSpPr>
              <p:nvPr/>
            </p:nvSpPr>
            <p:spPr>
              <a:xfrm>
                <a:off x="4244187" y="3099816"/>
                <a:ext cx="3703320" cy="868680"/>
              </a:xfrm>
              <a:prstGeom prst="rect">
                <a:avLst/>
              </a:prstGeom>
              <a:blipFill>
                <a:blip r:embed="rId4"/>
                <a:stretch>
                  <a:fillRect/>
                </a:stretch>
              </a:blipFill>
              <a:ln w="9525">
                <a:solidFill>
                  <a:srgbClr val="0B2B4E"/>
                </a:solidFill>
              </a:ln>
            </p:spPr>
            <p:txBody>
              <a:bodyPr/>
              <a:lstStyle/>
              <a:p>
                <a:r>
                  <a:rPr lang="en-US">
                    <a:noFill/>
                  </a:rPr>
                  <a:t> </a:t>
                </a:r>
              </a:p>
            </p:txBody>
          </p:sp>
        </mc:Fallback>
      </mc:AlternateContent>
      <p:sp>
        <p:nvSpPr>
          <p:cNvPr id="13" name="TextBox 12"/>
          <p:cNvSpPr txBox="1"/>
          <p:nvPr/>
        </p:nvSpPr>
        <p:spPr>
          <a:xfrm>
            <a:off x="4381347" y="4105656"/>
            <a:ext cx="3429000" cy="256032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AFC = TFC / Q</a:t>
            </a:r>
          </a:p>
          <a:p>
            <a:pPr algn="l"/>
            <a:r>
              <a:rPr>
                <a:latin typeface="Calibri"/>
              </a:rPr>
              <a:t>AVC = TVC / Q</a:t>
            </a:r>
          </a:p>
          <a:p>
            <a:pPr algn="l"/>
            <a:r>
              <a:rPr>
                <a:latin typeface="Calibri"/>
              </a:rPr>
              <a:t>ATC = AFC + AVC</a:t>
            </a:r>
          </a:p>
        </p:txBody>
      </p:sp>
      <p:sp>
        <p:nvSpPr>
          <p:cNvPr id="14" name="Rectangle 13"/>
          <p:cNvSpPr/>
          <p:nvPr/>
        </p:nvSpPr>
        <p:spPr>
          <a:xfrm>
            <a:off x="8084667" y="2505456"/>
            <a:ext cx="3703320" cy="50292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Marginal Cost</a:t>
            </a:r>
          </a:p>
        </p:txBody>
      </p:sp>
      <mc:AlternateContent xmlns:mc="http://schemas.openxmlformats.org/markup-compatibility/2006" xmlns:a14="http://schemas.microsoft.com/office/drawing/2010/main">
        <mc:Choice Requires="a14">
          <p:sp>
            <p:nvSpPr>
              <p:cNvPr id="15" name="TextBox 14"/>
              <p:cNvSpPr txBox="1"/>
              <p:nvPr/>
            </p:nvSpPr>
            <p:spPr>
              <a:xfrm>
                <a:off x="8084667" y="3099816"/>
                <a:ext cx="3703320" cy="868680"/>
              </a:xfrm>
              <a:prstGeom prst="rect">
                <a:avLst/>
              </a:prstGeom>
              <a:solidFill>
                <a:srgbClr val="FDF6E6"/>
              </a:solidFill>
              <a:ln w="9525">
                <a:solidFill>
                  <a:srgbClr val="0B2B4E"/>
                </a:solidFill>
              </a:ln>
            </p:spPr>
            <p:txBody>
              <a:bodyPr wrap="square" anchor="ctr">
                <a:spAutoFit/>
              </a:bodyPr>
              <a:lstStyle/>
              <a:p>
                <a:pPr algn="ctr">
                  <a:defRPr sz="2200" b="0" i="1">
                    <a:solidFill>
                      <a:srgbClr val="0B2B4E"/>
                    </a:solidFill>
                    <a:latin typeface="Cambria Math"/>
                  </a:defRPr>
                </a:pPr>
                <a14:m>
                  <m:oMathPara xmlns:m="http://schemas.openxmlformats.org/officeDocument/2006/math">
                    <m:oMath>
                      <m:r>
                        <m:rPr>
                          <m:sty m:val="p"/>
                        </m:rPr>
                        <a:rPr lang="en-US" sz="2200" b="0" i="0">
                          <a:latin typeface="Cambria Math"/>
                        </a:rPr>
                        <m:t>MC</m:t>
                      </m:r>
                      <m:r>
                        <a:rPr lang="en-US" sz="2200" b="0" i="0">
                          <a:latin typeface="Cambria Math"/>
                        </a:rPr>
                        <m:t> = </m:t>
                      </m:r>
                      <m:f>
                        <m:fPr>
                          <m:ctrlPr>
                            <a:rPr lang="en-US" sz="2200" b="0" i="0">
                              <a:latin typeface="Cambria Math"/>
                            </a:rPr>
                          </m:ctrlPr>
                        </m:fPr>
                        <m:num>
                          <m:r>
                            <m:rPr>
                              <m:sty m:val="p"/>
                            </m:rPr>
                            <a:rPr lang="en-US" sz="2200" b="0" i="0">
                              <a:latin typeface="Cambria Math"/>
                            </a:rPr>
                            <m:t>ΔTC</m:t>
                          </m:r>
                        </m:num>
                        <m:den>
                          <m:r>
                            <m:rPr>
                              <m:sty m:val="p"/>
                            </m:rPr>
                            <a:rPr lang="en-US" sz="2200" b="0" i="0">
                              <a:latin typeface="Cambria Math"/>
                            </a:rPr>
                            <m:t>ΔQ</m:t>
                          </m:r>
                        </m:den>
                      </m:f>
                    </m:oMath>
                  </m:oMathPara>
                </a14:m>
                <a:endParaRPr lang="en-US" sz="2200"/>
              </a:p>
            </p:txBody>
          </p:sp>
        </mc:Choice>
        <mc:Fallback xmlns="">
          <p:sp>
            <p:nvSpPr>
              <p:cNvPr id="15" name="TextBox 14"/>
              <p:cNvSpPr txBox="1">
                <a:spLocks noRot="1" noChangeAspect="1" noMove="1" noResize="1" noEditPoints="1" noAdjustHandles="1" noChangeArrowheads="1" noChangeShapeType="1" noTextEdit="1"/>
              </p:cNvSpPr>
              <p:nvPr/>
            </p:nvSpPr>
            <p:spPr>
              <a:xfrm>
                <a:off x="8084667" y="3099816"/>
                <a:ext cx="3703320" cy="868680"/>
              </a:xfrm>
              <a:prstGeom prst="rect">
                <a:avLst/>
              </a:prstGeom>
              <a:blipFill>
                <a:blip r:embed="rId5"/>
                <a:stretch>
                  <a:fillRect/>
                </a:stretch>
              </a:blipFill>
              <a:ln w="9525">
                <a:solidFill>
                  <a:srgbClr val="0B2B4E"/>
                </a:solidFill>
              </a:ln>
            </p:spPr>
            <p:txBody>
              <a:bodyPr/>
              <a:lstStyle/>
              <a:p>
                <a:r>
                  <a:rPr lang="en-US">
                    <a:noFill/>
                  </a:rPr>
                  <a:t> </a:t>
                </a:r>
              </a:p>
            </p:txBody>
          </p:sp>
        </mc:Fallback>
      </mc:AlternateContent>
      <p:sp>
        <p:nvSpPr>
          <p:cNvPr id="16" name="TextBox 15"/>
          <p:cNvSpPr txBox="1"/>
          <p:nvPr/>
        </p:nvSpPr>
        <p:spPr>
          <a:xfrm>
            <a:off x="8221827" y="4105656"/>
            <a:ext cx="3429000" cy="256032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 ΔTVC / ΔQ  (TFC is constant)</a:t>
            </a:r>
          </a:p>
          <a:p>
            <a:pPr algn="l"/>
            <a:r>
              <a:rPr>
                <a:latin typeface="Calibri"/>
              </a:rPr>
              <a:t>Derivative form:</a:t>
            </a:r>
          </a:p>
          <a:p>
            <a:pPr lvl="1" algn="l"/>
            <a:r>
              <a:rPr>
                <a:latin typeface="Calibri"/>
              </a:rPr>
              <a:t>MC = dTC / dQ</a:t>
            </a:r>
          </a:p>
          <a:p>
            <a:pPr lvl="1" algn="l"/>
            <a:r>
              <a:rPr>
                <a:latin typeface="Calibri"/>
              </a:rPr>
              <a:t>    = dTVC / dQ</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CB56A5C6-EA3F-4875-9F1C-EEFE166A62C7}" type="slidenum">
              <a:rPr sz="1200" b="0" i="0">
                <a:solidFill>
                  <a:srgbClr val="555B66"/>
                </a:solidFill>
                <a:latin typeface="Calibri"/>
              </a:rPr>
              <a:t>8</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Rivian's Georgia Plant —  Weekly Cost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35024"/>
            <a:ext cx="11687697" cy="365760"/>
          </a:xfrm>
          <a:prstGeom prst="rect">
            <a:avLst/>
          </a:prstGeom>
          <a:noFill/>
        </p:spPr>
        <p:txBody>
          <a:bodyPr wrap="square" lIns="0" tIns="0" rIns="0" bIns="0">
            <a:spAutoFit/>
          </a:bodyPr>
          <a:lstStyle/>
          <a:p>
            <a:pPr algn="ctr"/>
            <a:r>
              <a:rPr sz="2400" b="0" i="1">
                <a:solidFill>
                  <a:srgbClr val="0B2B4E"/>
                </a:solidFill>
                <a:latin typeface="Calibri"/>
              </a:rPr>
              <a:t>Collect data on total cost at different output levels (Q)  →  Estimate the cost function</a:t>
            </a:r>
          </a:p>
        </p:txBody>
      </p:sp>
      <mc:AlternateContent xmlns:mc="http://schemas.openxmlformats.org/markup-compatibility/2006" xmlns:a14="http://schemas.microsoft.com/office/drawing/2010/main">
        <mc:Choice Requires="a14">
          <p:sp>
            <p:nvSpPr>
              <p:cNvPr id="8" name="TextBox 7"/>
              <p:cNvSpPr txBox="1"/>
              <p:nvPr/>
            </p:nvSpPr>
            <p:spPr>
              <a:xfrm>
                <a:off x="1066647" y="1783080"/>
                <a:ext cx="10058400" cy="548640"/>
              </a:xfrm>
              <a:prstGeom prst="roundRect">
                <a:avLst>
                  <a:gd name="adj" fmla="val 25000"/>
                </a:avLst>
              </a:prstGeom>
              <a:solidFill>
                <a:srgbClr val="0B2B4E"/>
              </a:solidFill>
              <a:effectLst>
                <a:outerShdw blurRad="50800" dist="38100" dir="2700000" algn="tl" rotWithShape="0">
                  <a:srgbClr val="000000">
                    <a:alpha val="45000"/>
                  </a:srgbClr>
                </a:outerShdw>
              </a:effectLst>
            </p:spPr>
            <p:txBody>
              <a:bodyPr wrap="square" anchor="ctr">
                <a:spAutoFit/>
              </a:bodyPr>
              <a:lstStyle/>
              <a:p>
                <a:pPr algn="ctr">
                  <a:defRPr sz="2200" b="0" i="1">
                    <a:solidFill>
                      <a:srgbClr val="FFFFFF"/>
                    </a:solidFill>
                    <a:latin typeface="Cambria Math"/>
                  </a:defRPr>
                </a:pPr>
                <a14:m>
                  <m:oMathPara xmlns:m="http://schemas.openxmlformats.org/officeDocument/2006/math">
                    <m:oMath>
                      <m:r>
                        <m:rPr>
                          <m:sty m:val="p"/>
                        </m:rPr>
                        <a:rPr lang="en-US" sz="2200" b="0" i="0">
                          <a:latin typeface="Cambria Math"/>
                        </a:rPr>
                        <m:t>Estimated</m:t>
                      </m:r>
                      <m:r>
                        <a:rPr lang="en-US" sz="2200" b="0" i="0">
                          <a:latin typeface="Cambria Math"/>
                        </a:rPr>
                        <m:t> </m:t>
                      </m:r>
                      <m:r>
                        <m:rPr>
                          <m:sty m:val="p"/>
                        </m:rPr>
                        <a:rPr lang="en-US" sz="2200" b="0" i="0">
                          <a:latin typeface="Cambria Math"/>
                        </a:rPr>
                        <m:t>cost</m:t>
                      </m:r>
                      <m:r>
                        <a:rPr lang="en-US" sz="2200" b="0" i="0">
                          <a:latin typeface="Cambria Math"/>
                        </a:rPr>
                        <m:t> </m:t>
                      </m:r>
                      <m:r>
                        <m:rPr>
                          <m:sty m:val="p"/>
                        </m:rPr>
                        <a:rPr lang="en-US" sz="2200" b="0" i="0">
                          <a:latin typeface="Cambria Math"/>
                        </a:rPr>
                        <m:t>curve</m:t>
                      </m:r>
                      <m:r>
                        <a:rPr lang="en-US" sz="2200" b="0" i="0">
                          <a:latin typeface="Cambria Math"/>
                        </a:rPr>
                        <m:t>:   </m:t>
                      </m:r>
                      <m:r>
                        <m:rPr>
                          <m:sty m:val="p"/>
                        </m:rPr>
                        <a:rPr lang="en-US" sz="2200" b="0" i="0">
                          <a:latin typeface="Cambria Math"/>
                        </a:rPr>
                        <m:t>TC</m:t>
                      </m:r>
                      <m:r>
                        <a:rPr lang="en-US" sz="2200" b="0" i="0">
                          <a:latin typeface="Cambria Math"/>
                        </a:rPr>
                        <m:t> = 10,000,000 + 30,000 · </m:t>
                      </m:r>
                      <m:r>
                        <a:rPr lang="en-US" sz="2200" b="0" i="1">
                          <a:latin typeface="Cambria Math"/>
                          <a:ea typeface="Cambria Math"/>
                        </a:rPr>
                        <m:t>𝑄</m:t>
                      </m:r>
                      <m:r>
                        <a:rPr lang="en-US" sz="2200" b="0" i="0">
                          <a:latin typeface="Cambria Math"/>
                        </a:rPr>
                        <m:t> + 40 · </m:t>
                      </m:r>
                      <m:sSup>
                        <m:sSupPr>
                          <m:ctrlPr>
                            <a:rPr lang="en-US" sz="2200" b="0" i="1">
                              <a:latin typeface="Cambria Math"/>
                              <a:ea typeface="Cambria Math"/>
                            </a:rPr>
                          </m:ctrlPr>
                        </m:sSupPr>
                        <m:e>
                          <m:r>
                            <a:rPr lang="en-US" sz="2200" b="0" i="1">
                              <a:latin typeface="Cambria Math"/>
                              <a:ea typeface="Cambria Math"/>
                            </a:rPr>
                            <m:t>𝑄</m:t>
                          </m:r>
                        </m:e>
                        <m:sup>
                          <m:r>
                            <a:rPr lang="en-US" sz="2200" b="0" i="0">
                              <a:latin typeface="Cambria Math"/>
                            </a:rPr>
                            <m:t>2</m:t>
                          </m:r>
                        </m:sup>
                      </m:sSup>
                    </m:oMath>
                  </m:oMathPara>
                </a14:m>
                <a:endParaRPr lang="en-US" sz="2200"/>
              </a:p>
            </p:txBody>
          </p:sp>
        </mc:Choice>
        <mc:Fallback xmlns="">
          <p:sp>
            <p:nvSpPr>
              <p:cNvPr id="8" name="TextBox 7"/>
              <p:cNvSpPr txBox="1">
                <a:spLocks noRot="1" noChangeAspect="1" noMove="1" noResize="1" noEditPoints="1" noAdjustHandles="1" noChangeArrowheads="1" noChangeShapeType="1" noTextEdit="1"/>
              </p:cNvSpPr>
              <p:nvPr/>
            </p:nvSpPr>
            <p:spPr>
              <a:xfrm>
                <a:off x="1066647" y="1783080"/>
                <a:ext cx="10058400" cy="548640"/>
              </a:xfrm>
              <a:prstGeom prst="roundRect">
                <a:avLst>
                  <a:gd name="adj" fmla="val 25000"/>
                </a:avLst>
              </a:prstGeom>
              <a:blipFill>
                <a:blip r:embed="rId3"/>
                <a:stretch>
                  <a:fillRect/>
                </a:stretch>
              </a:blipFill>
              <a:effectLst>
                <a:outerShdw blurRad="50800" dist="38100" dir="2700000" algn="tl" rotWithShape="0">
                  <a:srgbClr val="000000">
                    <a:alpha val="45000"/>
                  </a:srgbClr>
                </a:outerShdw>
              </a:effectLst>
            </p:spPr>
            <p:txBody>
              <a:bodyPr/>
              <a:lstStyle/>
              <a:p>
                <a:r>
                  <a:rPr lang="en-US">
                    <a:noFill/>
                  </a:rPr>
                  <a:t> </a:t>
                </a:r>
              </a:p>
            </p:txBody>
          </p:sp>
        </mc:Fallback>
      </mc:AlternateContent>
      <p:graphicFrame>
        <p:nvGraphicFramePr>
          <p:cNvPr id="9" name="Chart 8"/>
          <p:cNvGraphicFramePr>
            <a:graphicFrameLocks noGrp="1"/>
          </p:cNvGraphicFramePr>
          <p:nvPr/>
        </p:nvGraphicFramePr>
        <p:xfrm>
          <a:off x="2286000" y="2423160"/>
          <a:ext cx="7589520"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310896" y="4723791"/>
            <a:ext cx="1828800" cy="384048"/>
          </a:xfrm>
          <a:prstGeom prst="rect">
            <a:avLst/>
          </a:prstGeom>
          <a:noFill/>
        </p:spPr>
        <p:txBody>
          <a:bodyPr wrap="square" lIns="0" tIns="0" rIns="0" bIns="0">
            <a:spAutoFit/>
          </a:bodyPr>
          <a:lstStyle/>
          <a:p>
            <a:pPr algn="r"/>
            <a:r>
              <a:rPr sz="1800" b="1" i="0">
                <a:solidFill>
                  <a:srgbClr val="C00000"/>
                </a:solidFill>
                <a:latin typeface="Calibri"/>
              </a:rPr>
              <a:t>Fixed Cost</a:t>
            </a:r>
          </a:p>
        </p:txBody>
      </p:sp>
      <p:cxnSp>
        <p:nvCxnSpPr>
          <p:cNvPr id="11" name="Connector 10"/>
          <p:cNvCxnSpPr/>
          <p:nvPr/>
        </p:nvCxnSpPr>
        <p:spPr>
          <a:xfrm>
            <a:off x="2203704" y="4878324"/>
            <a:ext cx="512064" cy="0"/>
          </a:xfrm>
          <a:prstGeom prst="line">
            <a:avLst/>
          </a:prstGeom>
          <a:ln w="28575">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95247" y="5897880"/>
            <a:ext cx="96012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Quadratic term:  cost rises faster than output, i.e. marginal cost is increasing</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6" name="TextBox 15"/>
          <p:cNvSpPr txBox="1"/>
          <p:nvPr/>
        </p:nvSpPr>
        <p:spPr>
          <a:xfrm>
            <a:off x="11430000" y="6583680"/>
            <a:ext cx="548640" cy="292608"/>
          </a:xfrm>
          <a:prstGeom prst="rect">
            <a:avLst/>
          </a:prstGeom>
          <a:noFill/>
        </p:spPr>
        <p:txBody>
          <a:bodyPr wrap="square" lIns="0" tIns="0" rIns="0" bIns="0">
            <a:spAutoFit/>
          </a:bodyPr>
          <a:lstStyle/>
          <a:p>
            <a:pPr algn="r"/>
            <a:fld id="{AB4AEA0B-73B6-45AB-9F4E-24C4B4EB775E}" type="slidenum">
              <a:rPr sz="1200" b="0" i="0">
                <a:solidFill>
                  <a:srgbClr val="555B66"/>
                </a:solidFill>
                <a:latin typeface="Calibri"/>
              </a:rPr>
              <a:t>9</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Rivian's Georgia Plant —  Cost Components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0" y="1444752"/>
            <a:ext cx="7562088" cy="4270248"/>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extLst>
              <p:ext uri="{D42A27DB-BD31-4B8C-83A1-F6EECF244321}">
                <p14:modId xmlns:p14="http://schemas.microsoft.com/office/powerpoint/2010/main" val="3867721347"/>
              </p:ext>
            </p:extLst>
          </p:nvPr>
        </p:nvGraphicFramePr>
        <p:xfrm>
          <a:off x="2267712" y="1444752"/>
          <a:ext cx="7562088" cy="4270248"/>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p:cNvSpPr/>
          <p:nvPr/>
        </p:nvSpPr>
        <p:spPr>
          <a:xfrm>
            <a:off x="838047" y="5852160"/>
            <a:ext cx="1051560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Fixed costs dominate at low Q;  the quadratic TVC overtakes at scale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3" name="TextBox 12"/>
          <p:cNvSpPr txBox="1"/>
          <p:nvPr/>
        </p:nvSpPr>
        <p:spPr>
          <a:xfrm>
            <a:off x="11430000" y="6583680"/>
            <a:ext cx="548640" cy="292608"/>
          </a:xfrm>
          <a:prstGeom prst="rect">
            <a:avLst/>
          </a:prstGeom>
          <a:noFill/>
        </p:spPr>
        <p:txBody>
          <a:bodyPr wrap="square" lIns="0" tIns="0" rIns="0" bIns="0">
            <a:spAutoFit/>
          </a:bodyPr>
          <a:lstStyle/>
          <a:p>
            <a:pPr algn="r"/>
            <a:fld id="{5F44A8FB-3D0F-46E0-B277-FA49B2D2A1DB}" type="slidenum">
              <a:rPr sz="1200" b="0" i="0">
                <a:solidFill>
                  <a:srgbClr val="555B66"/>
                </a:solidFill>
                <a:latin typeface="Calibri"/>
              </a:rPr>
              <a:t>10</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Rivian's Georgia Plant —  Per-Unit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0" y="2340864"/>
            <a:ext cx="7562088" cy="4105656"/>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nvGraphicFramePr>
        <p:xfrm>
          <a:off x="2286000" y="2340864"/>
          <a:ext cx="7562088" cy="4105656"/>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p:cNvSpPr/>
          <p:nvPr/>
        </p:nvSpPr>
        <p:spPr>
          <a:xfrm>
            <a:off x="2011680" y="1327708"/>
            <a:ext cx="2743200" cy="644652"/>
          </a:xfrm>
          <a:prstGeom prst="roundRect">
            <a:avLst>
              <a:gd name="adj" fmla="val 8000"/>
            </a:avLst>
          </a:prstGeom>
          <a:solidFill>
            <a:srgbClr val="FDF6E6"/>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ATC falls below sales price ($80k)  at Q ≈ 250</a:t>
            </a:r>
          </a:p>
        </p:txBody>
      </p:sp>
      <p:cxnSp>
        <p:nvCxnSpPr>
          <p:cNvPr id="10" name="Connector 9"/>
          <p:cNvCxnSpPr/>
          <p:nvPr/>
        </p:nvCxnSpPr>
        <p:spPr>
          <a:xfrm>
            <a:off x="4304995" y="2022652"/>
            <a:ext cx="449885" cy="1281075"/>
          </a:xfrm>
          <a:prstGeom prst="line">
            <a:avLst/>
          </a:prstGeom>
          <a:ln w="19050">
            <a:solidFill>
              <a:srgbClr val="0B2B4E"/>
            </a:solidFill>
            <a:tailEnd type="triangle" w="lg"/>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953304" y="1327708"/>
            <a:ext cx="2606040" cy="644652"/>
          </a:xfrm>
          <a:prstGeom prst="roundRect">
            <a:avLst>
              <a:gd name="adj" fmla="val 8000"/>
            </a:avLst>
          </a:prstGeom>
          <a:solidFill>
            <a:srgbClr val="FDF6E6"/>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The minimum of ATC is where it crosses MC</a:t>
            </a:r>
          </a:p>
        </p:txBody>
      </p:sp>
      <p:cxnSp>
        <p:nvCxnSpPr>
          <p:cNvPr id="12" name="Connector 11"/>
          <p:cNvCxnSpPr/>
          <p:nvPr/>
        </p:nvCxnSpPr>
        <p:spPr>
          <a:xfrm>
            <a:off x="6095390" y="1986076"/>
            <a:ext cx="160934" cy="1652321"/>
          </a:xfrm>
          <a:prstGeom prst="line">
            <a:avLst/>
          </a:prstGeom>
          <a:ln w="19050">
            <a:solidFill>
              <a:srgbClr val="0B2B4E"/>
            </a:solidFill>
            <a:tailEnd type="triangle" w="lg"/>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830007" y="1378915"/>
            <a:ext cx="2194560" cy="617220"/>
          </a:xfrm>
          <a:prstGeom prst="roundRect">
            <a:avLst>
              <a:gd name="adj" fmla="val 8000"/>
            </a:avLst>
          </a:prstGeom>
          <a:solidFill>
            <a:srgbClr val="FDF6E6"/>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ATC increases again due to rising MC</a:t>
            </a:r>
          </a:p>
        </p:txBody>
      </p:sp>
      <p:cxnSp>
        <p:nvCxnSpPr>
          <p:cNvPr id="14" name="Connector 13"/>
          <p:cNvCxnSpPr/>
          <p:nvPr/>
        </p:nvCxnSpPr>
        <p:spPr>
          <a:xfrm>
            <a:off x="8730691" y="2022652"/>
            <a:ext cx="50292" cy="1399947"/>
          </a:xfrm>
          <a:prstGeom prst="line">
            <a:avLst/>
          </a:prstGeom>
          <a:ln w="19050">
            <a:solidFill>
              <a:srgbClr val="0B2B4E"/>
            </a:solidFill>
            <a:tailEnd type="triangle" w="lg"/>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8" name="TextBox 17"/>
          <p:cNvSpPr txBox="1"/>
          <p:nvPr/>
        </p:nvSpPr>
        <p:spPr>
          <a:xfrm>
            <a:off x="11430000" y="6583680"/>
            <a:ext cx="548640" cy="292608"/>
          </a:xfrm>
          <a:prstGeom prst="rect">
            <a:avLst/>
          </a:prstGeom>
          <a:noFill/>
        </p:spPr>
        <p:txBody>
          <a:bodyPr wrap="square" lIns="0" tIns="0" rIns="0" bIns="0">
            <a:spAutoFit/>
          </a:bodyPr>
          <a:lstStyle/>
          <a:p>
            <a:pPr algn="r"/>
            <a:fld id="{3744E573-908F-402A-85AB-0776AA4F3142}" type="slidenum">
              <a:rPr sz="1200" b="0" i="0">
                <a:solidFill>
                  <a:srgbClr val="555B66"/>
                </a:solidFill>
                <a:latin typeface="Calibri"/>
              </a:rPr>
              <a:t>11</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dirty="0">
                <a:solidFill>
                  <a:srgbClr val="0B2B4E"/>
                </a:solidFill>
                <a:latin typeface="Calibri"/>
              </a:rPr>
              <a:t>In practice, we will </a:t>
            </a:r>
            <a:r>
              <a:rPr lang="de-DE" sz="3200" b="1" i="0" dirty="0">
                <a:solidFill>
                  <a:srgbClr val="0B2B4E"/>
                </a:solidFill>
                <a:latin typeface="Calibri"/>
              </a:rPr>
              <a:t>often </a:t>
            </a:r>
            <a:r>
              <a:rPr sz="3200" b="1" i="0" dirty="0">
                <a:solidFill>
                  <a:srgbClr val="0B2B4E"/>
                </a:solidFill>
                <a:latin typeface="Calibri"/>
              </a:rPr>
              <a:t>usually use a naïve linear cost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463040" y="1828800"/>
            <a:ext cx="0" cy="3108959"/>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63040" y="4937760"/>
            <a:ext cx="6858000" cy="0"/>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1417320"/>
            <a:ext cx="1828800" cy="365760"/>
          </a:xfrm>
          <a:prstGeom prst="rect">
            <a:avLst/>
          </a:prstGeom>
          <a:noFill/>
        </p:spPr>
        <p:txBody>
          <a:bodyPr wrap="square" lIns="0" tIns="0" rIns="0" bIns="0">
            <a:spAutoFit/>
          </a:bodyPr>
          <a:lstStyle/>
          <a:p>
            <a:pPr algn="l"/>
            <a:r>
              <a:rPr sz="1800" b="1" i="0">
                <a:solidFill>
                  <a:srgbClr val="0B2B4E"/>
                </a:solidFill>
                <a:latin typeface="Calibri"/>
              </a:rPr>
              <a:t>$  (Total cost)</a:t>
            </a:r>
          </a:p>
        </p:txBody>
      </p:sp>
      <p:sp>
        <p:nvSpPr>
          <p:cNvPr id="10" name="TextBox 9"/>
          <p:cNvSpPr txBox="1"/>
          <p:nvPr/>
        </p:nvSpPr>
        <p:spPr>
          <a:xfrm>
            <a:off x="6035040" y="5048794"/>
            <a:ext cx="3200400" cy="365760"/>
          </a:xfrm>
          <a:prstGeom prst="rect">
            <a:avLst/>
          </a:prstGeom>
          <a:noFill/>
        </p:spPr>
        <p:txBody>
          <a:bodyPr wrap="square" lIns="0" tIns="0" rIns="0" bIns="0">
            <a:spAutoFit/>
          </a:bodyPr>
          <a:lstStyle/>
          <a:p>
            <a:pPr algn="l"/>
            <a:r>
              <a:rPr sz="1800" b="1" i="0">
                <a:solidFill>
                  <a:srgbClr val="0B2B4E"/>
                </a:solidFill>
                <a:latin typeface="Calibri"/>
              </a:rPr>
              <a:t>Q  (quantity produced)</a:t>
            </a:r>
          </a:p>
        </p:txBody>
      </p:sp>
      <p:sp>
        <p:nvSpPr>
          <p:cNvPr id="11" name="TextBox 10"/>
          <p:cNvSpPr txBox="1"/>
          <p:nvPr/>
        </p:nvSpPr>
        <p:spPr>
          <a:xfrm>
            <a:off x="822960" y="4123508"/>
            <a:ext cx="640080" cy="365760"/>
          </a:xfrm>
          <a:prstGeom prst="rect">
            <a:avLst/>
          </a:prstGeom>
          <a:noFill/>
        </p:spPr>
        <p:txBody>
          <a:bodyPr wrap="square" lIns="0" tIns="0" rIns="0" bIns="0">
            <a:spAutoFit/>
          </a:bodyPr>
          <a:lstStyle/>
          <a:p>
            <a:pPr algn="l"/>
            <a:r>
              <a:rPr sz="1800" b="1" i="0">
                <a:solidFill>
                  <a:srgbClr val="E09F3E"/>
                </a:solidFill>
                <a:latin typeface="Calibri"/>
              </a:rPr>
              <a:t>TFC</a:t>
            </a:r>
          </a:p>
        </p:txBody>
      </p:sp>
      <p:cxnSp>
        <p:nvCxnSpPr>
          <p:cNvPr id="12" name="Connector 11"/>
          <p:cNvCxnSpPr/>
          <p:nvPr/>
        </p:nvCxnSpPr>
        <p:spPr>
          <a:xfrm>
            <a:off x="1417320" y="4271554"/>
            <a:ext cx="91440" cy="0"/>
          </a:xfrm>
          <a:prstGeom prst="line">
            <a:avLst/>
          </a:prstGeom>
          <a:ln w="254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463040" y="2124890"/>
            <a:ext cx="6400800" cy="2146662"/>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8138160" y="2057400"/>
                <a:ext cx="3474720" cy="1097280"/>
              </a:xfrm>
              <a:prstGeom prst="roundRect">
                <a:avLst>
                  <a:gd name="adj" fmla="val 18000"/>
                </a:avLst>
              </a:prstGeom>
              <a:solidFill>
                <a:srgbClr val="E09F3E"/>
              </a:solidFill>
              <a:effectLst>
                <a:outerShdw blurRad="50800" dist="38100" dir="2700000" algn="tl" rotWithShape="0">
                  <a:srgbClr val="000000">
                    <a:alpha val="45000"/>
                  </a:srgbClr>
                </a:outerShdw>
              </a:effectLst>
            </p:spPr>
            <p:txBody>
              <a:bodyPr wrap="square" lIns="91440" tIns="45720" rIns="91440" bIns="45720" anchor="ctr">
                <a:noAutofit/>
              </a:bodyPr>
              <a:lstStyle/>
              <a:p>
                <a:pPr algn="ctr"/>
                <a:r>
                  <a:rPr lang="en-US" sz="1800" b="1" i="0">
                    <a:solidFill>
                      <a:srgbClr val="0B2B4E"/>
                    </a:solidFill>
                    <a:latin typeface="Calibri"/>
                  </a:rPr>
                  <a:t>Example:</a:t>
                </a:r>
              </a:p>
              <a:p>
                <a:pPr algn="ctr">
                  <a:defRPr sz="2400" b="0" i="1">
                    <a:solidFill>
                      <a:srgbClr val="0B2B4E"/>
                    </a:solidFill>
                    <a:latin typeface="Cambria Math"/>
                  </a:defRPr>
                </a:pPr>
                <a14:m>
                  <m:oMathPara xmlns:m="http://schemas.openxmlformats.org/officeDocument/2006/math">
                    <m:oMath>
                      <m:r>
                        <m:rPr>
                          <m:sty m:val="p"/>
                        </m:rPr>
                        <a:rPr lang="en-US" sz="2400" b="0" i="0">
                          <a:latin typeface="Cambria Math"/>
                        </a:rPr>
                        <m:t>TC</m:t>
                      </m:r>
                      <m:r>
                        <a:rPr lang="en-US" sz="2400" b="0" i="0">
                          <a:latin typeface="Cambria Math"/>
                        </a:rPr>
                        <m:t> = </m:t>
                      </m:r>
                      <m:r>
                        <m:rPr>
                          <m:sty m:val="p"/>
                        </m:rPr>
                        <a:rPr lang="en-US" sz="2400" b="0" i="0">
                          <a:latin typeface="Cambria Math"/>
                        </a:rPr>
                        <m:t>TFC</m:t>
                      </m:r>
                      <m:r>
                        <a:rPr lang="en-US" sz="2400" b="0" i="0">
                          <a:latin typeface="Cambria Math"/>
                        </a:rPr>
                        <m:t> + 500 · </m:t>
                      </m:r>
                      <m:r>
                        <a:rPr lang="en-US" sz="2400" b="0" i="1">
                          <a:latin typeface="Cambria Math"/>
                          <a:ea typeface="Cambria Math"/>
                        </a:rPr>
                        <m:t>𝑄</m:t>
                      </m:r>
                    </m:oMath>
                  </m:oMathPara>
                </a14:m>
                <a:endParaRPr lang="en-US" sz="2400"/>
              </a:p>
            </p:txBody>
          </p:sp>
        </mc:Choice>
        <mc:Fallback xmlns="">
          <p:sp>
            <p:nvSpPr>
              <p:cNvPr id="14" name="TextBox 13"/>
              <p:cNvSpPr txBox="1">
                <a:spLocks noRot="1" noChangeAspect="1" noMove="1" noResize="1" noEditPoints="1" noAdjustHandles="1" noChangeArrowheads="1" noChangeShapeType="1" noTextEdit="1"/>
              </p:cNvSpPr>
              <p:nvPr/>
            </p:nvSpPr>
            <p:spPr>
              <a:xfrm>
                <a:off x="8138160" y="2057400"/>
                <a:ext cx="3474720" cy="1097280"/>
              </a:xfrm>
              <a:prstGeom prst="roundRect">
                <a:avLst>
                  <a:gd name="adj" fmla="val 18000"/>
                </a:avLst>
              </a:prstGeom>
              <a:blipFill>
                <a:blip r:embed="rId3"/>
                <a:stretch>
                  <a:fillRect/>
                </a:stretch>
              </a:blipFill>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15" name="Rounded Rectangle 14"/>
          <p:cNvSpPr/>
          <p:nvPr/>
        </p:nvSpPr>
        <p:spPr>
          <a:xfrm>
            <a:off x="5303520" y="3531324"/>
            <a:ext cx="2194560" cy="4114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slope  =  $500</a:t>
            </a:r>
          </a:p>
        </p:txBody>
      </p:sp>
      <p:sp>
        <p:nvSpPr>
          <p:cNvPr id="16" name="Rounded Rectangle 15"/>
          <p:cNvSpPr/>
          <p:nvPr/>
        </p:nvSpPr>
        <p:spPr>
          <a:xfrm>
            <a:off x="838047" y="5806440"/>
            <a:ext cx="1051560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FFFFFF"/>
                </a:solidFill>
                <a:latin typeface="Calibri"/>
              </a:rPr>
              <a:t>Linear TC :  fixed cost  +  constant marginal cost  ($500 / unit)</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9B097165-9822-480A-9315-7CF04282C041}" type="slidenum">
              <a:rPr sz="1200" b="0" i="0">
                <a:solidFill>
                  <a:srgbClr val="555B66"/>
                </a:solidFill>
                <a:latin typeface="Calibri"/>
              </a:rPr>
              <a:t>12</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Naïve Linear Cost Function:  Per-Unit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463040" y="1828800"/>
            <a:ext cx="0" cy="3108959"/>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63040" y="4937760"/>
            <a:ext cx="6858000" cy="0"/>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1417320"/>
            <a:ext cx="1828800" cy="365760"/>
          </a:xfrm>
          <a:prstGeom prst="rect">
            <a:avLst/>
          </a:prstGeom>
          <a:noFill/>
        </p:spPr>
        <p:txBody>
          <a:bodyPr wrap="square" lIns="0" tIns="0" rIns="0" bIns="0">
            <a:spAutoFit/>
          </a:bodyPr>
          <a:lstStyle/>
          <a:p>
            <a:pPr algn="l"/>
            <a:r>
              <a:rPr sz="1800" b="1" i="0">
                <a:solidFill>
                  <a:srgbClr val="0B2B4E"/>
                </a:solidFill>
                <a:latin typeface="Calibri"/>
              </a:rPr>
              <a:t>$ per unit</a:t>
            </a:r>
          </a:p>
        </p:txBody>
      </p:sp>
      <p:sp>
        <p:nvSpPr>
          <p:cNvPr id="10" name="TextBox 9"/>
          <p:cNvSpPr txBox="1"/>
          <p:nvPr/>
        </p:nvSpPr>
        <p:spPr>
          <a:xfrm>
            <a:off x="6035040" y="5048794"/>
            <a:ext cx="3200400" cy="365760"/>
          </a:xfrm>
          <a:prstGeom prst="rect">
            <a:avLst/>
          </a:prstGeom>
          <a:noFill/>
        </p:spPr>
        <p:txBody>
          <a:bodyPr wrap="square" lIns="0" tIns="0" rIns="0" bIns="0">
            <a:spAutoFit/>
          </a:bodyPr>
          <a:lstStyle/>
          <a:p>
            <a:pPr algn="l"/>
            <a:r>
              <a:rPr sz="1800" b="1" i="0">
                <a:solidFill>
                  <a:srgbClr val="0B2B4E"/>
                </a:solidFill>
                <a:latin typeface="Calibri"/>
              </a:rPr>
              <a:t>Q  (quantity produced)</a:t>
            </a:r>
          </a:p>
        </p:txBody>
      </p:sp>
      <p:cxnSp>
        <p:nvCxnSpPr>
          <p:cNvPr id="11" name="Connector 10"/>
          <p:cNvCxnSpPr/>
          <p:nvPr/>
        </p:nvCxnSpPr>
        <p:spPr>
          <a:xfrm>
            <a:off x="1645920" y="4114800"/>
            <a:ext cx="6400800" cy="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60" name="AC Curve"/>
          <p:cNvSpPr/>
          <p:nvPr/>
        </p:nvSpPr>
        <p:spPr>
          <a:xfrm>
            <a:off x="1828800" y="2194560"/>
            <a:ext cx="6217920" cy="1828800"/>
          </a:xfrm>
          <a:custGeom>
            <a:avLst/>
            <a:gdLst/>
            <a:ahLst/>
            <a:cxnLst/>
            <a:rect l="0" t="0" r="100000" b="100000"/>
            <a:pathLst>
              <a:path w="100000" h="100000" fill="none">
                <a:moveTo>
                  <a:pt x="0" y="0"/>
                </a:moveTo>
                <a:cubicBezTo>
                  <a:pt x="10000" y="70000"/>
                  <a:pt x="55000" y="98000"/>
                  <a:pt x="100000" y="100000"/>
                </a:cubicBezTo>
              </a:path>
            </a:pathLst>
          </a:custGeom>
          <a:noFill/>
          <a:ln w="34925" cap="rnd">
            <a:solidFill>
              <a:srgbClr val="0B2B4E"/>
            </a:solidFill>
          </a:ln>
        </p:spPr>
        <p:txBody>
          <a:bodyPr/>
          <a:lstStyle/>
          <a:p>
            <a:endParaRPr lang="en-US"/>
          </a:p>
        </p:txBody>
      </p:sp>
      <p:sp>
        <p:nvSpPr>
          <p:cNvPr id="61" name="AC Label"/>
          <p:cNvSpPr txBox="1"/>
          <p:nvPr/>
        </p:nvSpPr>
        <p:spPr>
          <a:xfrm>
            <a:off x="2103120" y="2194560"/>
            <a:ext cx="731520" cy="365760"/>
          </a:xfrm>
          <a:prstGeom prst="rect">
            <a:avLst/>
          </a:prstGeom>
          <a:noFill/>
        </p:spPr>
        <p:txBody>
          <a:bodyPr wrap="square" lIns="0" tIns="0" rIns="0" bIns="0">
            <a:spAutoFit/>
          </a:bodyPr>
          <a:lstStyle/>
          <a:p>
            <a:pPr algn="l"/>
            <a:r>
              <a:rPr lang="en-US" sz="1800" b="1" i="0">
                <a:solidFill>
                  <a:srgbClr val="0B2B4E"/>
                </a:solidFill>
                <a:latin typeface="Calibri"/>
              </a:rPr>
              <a:t>ATC</a:t>
            </a:r>
          </a:p>
        </p:txBody>
      </p:sp>
      <p:sp>
        <p:nvSpPr>
          <p:cNvPr id="12" name="TextBox 11"/>
          <p:cNvSpPr txBox="1"/>
          <p:nvPr/>
        </p:nvSpPr>
        <p:spPr>
          <a:xfrm>
            <a:off x="822960" y="3931920"/>
            <a:ext cx="640080" cy="365760"/>
          </a:xfrm>
          <a:prstGeom prst="rect">
            <a:avLst/>
          </a:prstGeom>
          <a:noFill/>
        </p:spPr>
        <p:txBody>
          <a:bodyPr wrap="square" lIns="0" tIns="0" rIns="0" bIns="0">
            <a:spAutoFit/>
          </a:bodyPr>
          <a:lstStyle/>
          <a:p>
            <a:pPr algn="r"/>
            <a:r>
              <a:rPr sz="1800" b="1" i="0">
                <a:solidFill>
                  <a:srgbClr val="E09F3E"/>
                </a:solidFill>
                <a:latin typeface="Calibri"/>
              </a:rPr>
              <a:t>500</a:t>
            </a:r>
          </a:p>
        </p:txBody>
      </p:sp>
      <p:sp>
        <p:nvSpPr>
          <p:cNvPr id="13" name="TextBox 12"/>
          <p:cNvSpPr txBox="1"/>
          <p:nvPr/>
        </p:nvSpPr>
        <p:spPr>
          <a:xfrm>
            <a:off x="3246120" y="4206240"/>
            <a:ext cx="3291840" cy="502920"/>
          </a:xfrm>
          <a:prstGeom prst="rect">
            <a:avLst/>
          </a:prstGeom>
          <a:noFill/>
        </p:spPr>
        <p:txBody>
          <a:bodyPr wrap="square" lIns="0" tIns="0" rIns="0" bIns="0" anchor="ctr">
            <a:noAutofit/>
          </a:bodyPr>
          <a:lstStyle/>
          <a:p>
            <a:pPr algn="ctr"/>
            <a:r>
              <a:rPr lang="en-US" sz="1800" b="0" i="1">
                <a:solidFill>
                  <a:srgbClr val="0B2B4E"/>
                </a:solidFill>
                <a:latin typeface="Calibri"/>
              </a:rPr>
              <a:t>MC = AVC = $500</a:t>
            </a:r>
          </a:p>
        </p:txBody>
      </p:sp>
      <p:sp>
        <p:nvSpPr>
          <p:cNvPr id="14" name="TextBox 13"/>
          <p:cNvSpPr txBox="1"/>
          <p:nvPr/>
        </p:nvSpPr>
        <p:spPr>
          <a:xfrm>
            <a:off x="8321040" y="2743200"/>
            <a:ext cx="3017520" cy="1143000"/>
          </a:xfrm>
          <a:prstGeom prst="roundRect">
            <a:avLst>
              <a:gd name="adj" fmla="val 12000"/>
            </a:avLst>
          </a:prstGeom>
          <a:solidFill>
            <a:srgbClr val="FDF6E6"/>
          </a:solidFill>
          <a:ln w="19050">
            <a:solidFill>
              <a:srgbClr val="E09F3E"/>
            </a:solidFill>
            <a:round/>
          </a:ln>
          <a:effectLst>
            <a:outerShdw blurRad="50800" dist="38100" dir="2700000" algn="tl" rotWithShape="0">
              <a:srgbClr val="000000">
                <a:alpha val="45000"/>
              </a:srgbClr>
            </a:outerShdw>
          </a:effectLst>
        </p:spPr>
        <p:txBody>
          <a:bodyPr wrap="square" lIns="82296" tIns="45720" rIns="82296" bIns="45720" anchor="ctr">
            <a:noAutofit/>
          </a:bodyPr>
          <a:lstStyle/>
          <a:p>
            <a:pPr algn="ctr"/>
            <a:r>
              <a:rPr lang="en-US" sz="1600" b="1" i="0">
                <a:solidFill>
                  <a:srgbClr val="0B2B4E"/>
                </a:solidFill>
                <a:latin typeface="Calibri"/>
              </a:rPr>
              <a:t>Note:</a:t>
            </a:r>
          </a:p>
          <a:p>
            <a:pPr algn="ctr"/>
            <a:r>
              <a:rPr lang="en-US" sz="2200" b="1" i="0">
                <a:solidFill>
                  <a:srgbClr val="0B2B4E"/>
                </a:solidFill>
                <a:latin typeface="Calibri"/>
              </a:rPr>
              <a:t>When MC is constant,</a:t>
            </a:r>
          </a:p>
          <a:p>
            <a:pPr algn="ctr"/>
            <a:r>
              <a:rPr lang="en-US" sz="2200" b="1" i="0">
                <a:solidFill>
                  <a:srgbClr val="0B2B4E"/>
                </a:solidFill>
                <a:latin typeface="Calibri"/>
              </a:rPr>
              <a:t>it equals AVC</a:t>
            </a:r>
          </a:p>
        </p:txBody>
      </p:sp>
      <p:sp>
        <p:nvSpPr>
          <p:cNvPr id="15" name="Rounded Rectangle 14"/>
          <p:cNvSpPr/>
          <p:nvPr/>
        </p:nvSpPr>
        <p:spPr>
          <a:xfrm>
            <a:off x="838047" y="5806440"/>
            <a:ext cx="105156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Per-unit cost:  constant marginal cost,  ATC falls as fixed cost spreads</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9" name="TextBox 18"/>
          <p:cNvSpPr txBox="1"/>
          <p:nvPr/>
        </p:nvSpPr>
        <p:spPr>
          <a:xfrm>
            <a:off x="11430000" y="6583680"/>
            <a:ext cx="548640" cy="292608"/>
          </a:xfrm>
          <a:prstGeom prst="rect">
            <a:avLst/>
          </a:prstGeom>
          <a:noFill/>
        </p:spPr>
        <p:txBody>
          <a:bodyPr wrap="square" lIns="0" tIns="0" rIns="0" bIns="0">
            <a:spAutoFit/>
          </a:bodyPr>
          <a:lstStyle/>
          <a:p>
            <a:pPr algn="r"/>
            <a:fld id="{8997CE9E-95A9-4FF7-9174-1FFC614505BB}" type="slidenum">
              <a:rPr sz="1200" b="0" i="0">
                <a:solidFill>
                  <a:srgbClr val="555B66"/>
                </a:solidFill>
                <a:latin typeface="Calibri"/>
              </a:rPr>
              <a:t>13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500"/>
                                        <p:tgtEl>
                                          <p:spTgt spid="60"/>
                                        </p:tgtEl>
                                      </p:cBhvr>
                                    </p:animEffect>
                                  </p:childTnLst>
                                </p:cTn>
                              </p:par>
                              <p:par>
                                <p:cTn id="19" presetID="10" presetClass="entr" presetSubtype="0"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500"/>
                                        <p:tgtEl>
                                          <p:spTgt spid="6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Cost Concepts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More Complex Cost Functions:  When MC Isn't Linear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63_rId1.jpg"/>
          <p:cNvPicPr>
            <a:picLocks noChangeAspect="1"/>
          </p:cNvPicPr>
          <p:nvPr/>
        </p:nvPicPr>
        <p:blipFill>
          <a:blip r:embed="rId3"/>
          <a:stretch>
            <a:fillRect/>
          </a:stretch>
        </p:blipFill>
        <p:spPr>
          <a:xfrm>
            <a:off x="457200" y="1828800"/>
            <a:ext cx="4573709" cy="3291840"/>
          </a:xfrm>
          <a:prstGeom prst="rect">
            <a:avLst/>
          </a:prstGeom>
          <a:effectLst>
            <a:outerShdw blurRad="50800" dist="38100" dir="2700000" algn="tl" rotWithShape="0">
              <a:srgbClr val="000000">
                <a:alpha val="45000"/>
              </a:srgbClr>
            </a:outerShdw>
          </a:effectLst>
        </p:spPr>
      </p:pic>
      <p:pic>
        <p:nvPicPr>
          <p:cNvPr id="8" name="Picture 7" descr="slide63_rId2.jpg"/>
          <p:cNvPicPr>
            <a:picLocks noChangeAspect="1"/>
          </p:cNvPicPr>
          <p:nvPr/>
        </p:nvPicPr>
        <p:blipFill>
          <a:blip r:embed="rId4"/>
          <a:stretch>
            <a:fillRect/>
          </a:stretch>
        </p:blipFill>
        <p:spPr>
          <a:xfrm>
            <a:off x="6400800" y="1828800"/>
            <a:ext cx="4912123" cy="3291840"/>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457200" y="5166360"/>
            <a:ext cx="5486400" cy="274320"/>
          </a:xfrm>
          <a:prstGeom prst="rect">
            <a:avLst/>
          </a:prstGeom>
          <a:noFill/>
        </p:spPr>
        <p:txBody>
          <a:bodyPr wrap="square" lIns="0" tIns="0" rIns="0" bIns="0">
            <a:spAutoFit/>
          </a:bodyPr>
          <a:lstStyle/>
          <a:p>
            <a:pPr algn="ctr"/>
            <a:r>
              <a:rPr sz="1400" b="0" i="1">
                <a:solidFill>
                  <a:srgbClr val="555B66"/>
                </a:solidFill>
                <a:latin typeface="Calibri"/>
              </a:rPr>
              <a:t>Total / variable / fixed cost — convex at high Q</a:t>
            </a:r>
          </a:p>
        </p:txBody>
      </p:sp>
      <p:sp>
        <p:nvSpPr>
          <p:cNvPr id="10" name="TextBox 9"/>
          <p:cNvSpPr txBox="1"/>
          <p:nvPr/>
        </p:nvSpPr>
        <p:spPr>
          <a:xfrm>
            <a:off x="6400800" y="5166360"/>
            <a:ext cx="5486400" cy="274320"/>
          </a:xfrm>
          <a:prstGeom prst="rect">
            <a:avLst/>
          </a:prstGeom>
          <a:noFill/>
        </p:spPr>
        <p:txBody>
          <a:bodyPr wrap="square" lIns="0" tIns="0" rIns="0" bIns="0">
            <a:spAutoFit/>
          </a:bodyPr>
          <a:lstStyle/>
          <a:p>
            <a:pPr algn="ctr"/>
            <a:r>
              <a:rPr sz="1400" b="0" i="1">
                <a:solidFill>
                  <a:srgbClr val="555B66"/>
                </a:solidFill>
                <a:latin typeface="Calibri"/>
              </a:rPr>
              <a:t>Marginal cost — U-shape (high at low + high Q)</a:t>
            </a:r>
          </a:p>
        </p:txBody>
      </p:sp>
      <p:sp>
        <p:nvSpPr>
          <p:cNvPr id="11" name="Rounded Rectangle 10"/>
          <p:cNvSpPr/>
          <p:nvPr/>
        </p:nvSpPr>
        <p:spPr>
          <a:xfrm>
            <a:off x="609447" y="5943600"/>
            <a:ext cx="109728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Keep MC linear when possible — use the U-shape only when scale really matters</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5" name="TextBox 14"/>
          <p:cNvSpPr txBox="1"/>
          <p:nvPr/>
        </p:nvSpPr>
        <p:spPr>
          <a:xfrm>
            <a:off x="11430000" y="6583680"/>
            <a:ext cx="548640" cy="292608"/>
          </a:xfrm>
          <a:prstGeom prst="rect">
            <a:avLst/>
          </a:prstGeom>
          <a:noFill/>
        </p:spPr>
        <p:txBody>
          <a:bodyPr wrap="square" lIns="0" tIns="0" rIns="0" bIns="0">
            <a:spAutoFit/>
          </a:bodyPr>
          <a:lstStyle/>
          <a:p>
            <a:pPr algn="r"/>
            <a:fld id="{7BA888B6-AB9C-4435-84F2-DD58D85C5A89}" type="slidenum">
              <a:rPr sz="1200" b="0" i="0">
                <a:solidFill>
                  <a:srgbClr val="555B66"/>
                </a:solidFill>
                <a:latin typeface="Calibri"/>
              </a:rPr>
              <a:t>14</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2980</Words>
  <Application>Microsoft Office PowerPoint</Application>
  <PresentationFormat>Widescreen</PresentationFormat>
  <Paragraphs>215</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 Math</vt:lpstr>
      <vt:lpstr>Whitney 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53</cp:revision>
  <dcterms:created xsi:type="dcterms:W3CDTF">2013-01-27T09:14:16Z</dcterms:created>
  <dcterms:modified xsi:type="dcterms:W3CDTF">2026-08-27T21:56:09Z</dcterms:modified>
  <cp:category/>
</cp:coreProperties>
</file>