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344" r:id="rId2"/>
    <p:sldId id="318" r:id="rId3"/>
    <p:sldId id="319" r:id="rId4"/>
    <p:sldId id="320" r:id="rId5"/>
    <p:sldId id="321" r:id="rId6"/>
    <p:sldId id="322" r:id="rId7"/>
    <p:sldId id="323" r:id="rId8"/>
    <p:sldId id="324" r:id="rId9"/>
    <p:sldId id="32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transition. We have covered the cost concepts, fixed, variable, marginal, and average. Now we look at what happens in the long run, when the plant size itself can change. Three ideas are coming up. How long-run and short-run cost curves relate, how the long-run average cost curve is built as an envelope, and economies of scale.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compare the short run and the long run side by side, because they lead to different cost outcomes. In the short run your capital is fixed. You are stuck with the plant you have, which might be too big or too small for the output you actually need, and the only way to change output is to hire or let go of workers. In the long run everything is flexible. You get to choose the plant size from scratch and pick the best mix of capital and labor for whatever output you expect. More freedom can only help. So long-run cost is never higher than short-run cost at the same output, and usually it is lower, because the long run lets you build exactly the right-sized plant.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the long-run cost curve is actually built, and it is a nice picture. Each possible plant size has its own short-run average cost curve, the U-shaped ones. A small plant is cheapest at low output, a medium plant at medium output, and a large plant at high output. Now, in the long run you get to pick the plant size for whatever output you want. So for each level of output, you choose the plant that produces it most cheaply. If you trace the lowest cost available at every output, you sweep out the curve along the bottom, and that lower envelope is the long-run average cost curve. In this drawing the envelope slopes downward, which means bigger scale brings a lower cost per unit. That is economies of scale, and it is exactly what we turn to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the key question for the long run is this. What happens to average cost as a firm gets bigger? There are three possible answers, shown here as three little cost curves. On the left, average cost falls as output grows. That is economies of scale, bigger means cheaper per unit, and you see it in things like utilities and chip-fabrication plants, where huge fixed costs get spread very wide. In the middle, average cost is flat. Size does not matter, which fits a chain of identical outlets, where the hundredth store costs about the same to run as the first. On the right, average cost rises. That is diseconomies of scale, where a firm gets too big and complex to manage well. Many real businesses pass through all three as they grow.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does bigger often mean cheaper? There are a few classic reasons, and they are all on the technology side. First, specialization and the division of labor. On Ford's assembly line each worker masters one narrow task, which is far more productive than one craftsman building a whole car. Second, lumpiness, or indivisibility. You cannot build half a research lab or half a network. The fixed cost is the same whether you serve one million customers or a hundred million, so the cost per customer falls as you grow. Third, and this one is elegant, geometry. For a cargo ship, an aircraft fuselage, or a pipeline, the useful volume grows faster than the surface area you have to build and pay for. So doubling the material more than doubles the capacity. Put those together and larger scale keeps pushing the cost per unit down.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economies of scale in one clean comparison, from aviation. On the left is the Embraer E175, a regional jet. It lists for about 50 million dollars and carries 76 passengers. On the right is the Boeing 787-9, a wide-body, at about 290 million dollars and around 290 passengers. Now the number that matters to an airline is the cost per available seat-mile, how much it costs to fly one seat one mile. The regional jet comes in around 15 cents, while the big wide-body is down near 9 cents. That is roughly 40 percent cheaper per seat-mile on the larger plane. Why? Most of the costs, the fuel, the two pilots, the landing fees, scale with the airframe, not with the number of seats. Spread those costs across nearly 300 seats instead of 76, and the cost per seat-mile drops. It is the same square-cube geometry we just saw, now flying.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Of course bigger is not always better, and this slide is the other side of the coin. As a firm grows, coordination, communication, and control all get harder, and they get harder faster than the firm grows. You add layers of management, so information has to travel up and down a longer chain before anything happens. Monitoring a team of 50 is one thing. Monitoring 5,000 is a completely different problem, with more room for misaligned incentives and free-riding. And the support functions, HR, accounting, legal, and compliance, tend to balloon faster than headcount.</a:t>
            </a:r>
          </a:p>
          <a:p>
            <a:r>
              <a:rPr lang="en-US"/>
              <a:t>Intel is the case on the right. In April 2025 its new CEO, Lip-Bu Tan, sent a memo to all Intel employees titled “Our Path Forward”. In it he wrote that as Intel refocused on engineering it would also remove organizational complexity, because many teams were 8 or more layers deep, and that this creates unnecessary bureaucracy that slows the company down. He asked his executive team to take a fresh look at their organizations, with a focus on removing layers, increasing spans of control, and empowering top performers. His reason was one sentence. Our competitors are lean, fast and agile, and that is what we must become to improve our execution.</a:t>
            </a:r>
          </a:p>
          <a:p>
            <a:r>
              <a:rPr lang="en-US"/>
              <a:t>Look at the picture with me. On the left is the tall organization, layer upon layer of people, with the wiring between them tangled into knots. On the right is the flat one, where the top is 2 steps away from the people doing the work. Nothing about the chip-making technology changed between those 2 pictures. What changed is the cost of running the organization around it.</a:t>
            </a:r>
          </a:p>
          <a:p>
            <a:r>
              <a:rPr lang="en-US"/>
              <a:t>There is one more thing about this example. A few slides ago the semiconductor fab was our illustration of economies of scale, because the enormous fixed cost of a fabrication plant gets spread over more and more wafers. Intel has those scale economies in the fab and these diseconomies in the org chart at the same time. Both forces act on the same firm, and the shape of the long-run average cost curve is the net of the two. At some point the frictions outweigh the savings, and average cost turns back up.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Economies of scale is about making more of one thing. Economies of scope is its cousin, and it is about making a broader range of things. The idea is that producing two or more related products together can be cheaper than producing them separately, because they share expensive capabilities. Think of shared engineering know-how, a shared brand and sales channel, a shared supply chain, and shared customer data. Airbus is a good example. It designed the giant A380 and the small A318 with shared engineering, common cockpit elements, and the same supplier base, so building both is cheaper than if two separate firms built each alone. Apple does the same across the iPhone, iPad, and Mac, sharing its chips and its operating system. Scope is about breadth, scale is about depth, and the strongest firms exploit both.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Economies of Scale and Scope</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7</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0" name="TextBox 19"/>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1" name="Rounded Rectangle 20"/>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3" name="TextBox 22"/>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4" name="Rounded Rectangle 23"/>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5" name="Rounded Rectangle 24"/>
          <p:cNvSpPr/>
          <p:nvPr/>
        </p:nvSpPr>
        <p:spPr>
          <a:xfrm>
            <a:off x="822960" y="563041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7</a:t>
            </a:r>
          </a:p>
        </p:txBody>
      </p:sp>
      <p:sp>
        <p:nvSpPr>
          <p:cNvPr id="27" name="TextBox 26"/>
          <p:cNvSpPr txBox="1"/>
          <p:nvPr/>
        </p:nvSpPr>
        <p:spPr>
          <a:xfrm>
            <a:off x="1874519" y="568528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Economies of Scale and Scope</a:t>
            </a:r>
          </a:p>
          <a:p>
            <a:pPr algn="l">
              <a:spcBef>
                <a:spcPts val="0"/>
              </a:spcBef>
              <a:buNone/>
            </a:pPr>
            <a:r>
              <a:rPr sz="2200">
                <a:solidFill>
                  <a:srgbClr val="555B66"/>
                </a:solidFill>
                <a:latin typeface="Calibri"/>
              </a:rPr>
              <a:t>When bigger or broader production lowers cost per unit</a:t>
            </a:r>
          </a:p>
        </p:txBody>
      </p:sp>
      <p:sp>
        <p:nvSpPr>
          <p:cNvPr id="28" name="Rounded Rectangle 27"/>
          <p:cNvSpPr/>
          <p:nvPr/>
        </p:nvSpPr>
        <p:spPr>
          <a:xfrm>
            <a:off x="10332720" y="584987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C18E819D-0ACA-5316-B8E3-F04F1624C714}"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Short-Run vs. Long-Run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51999" y="1828800"/>
            <a:ext cx="548640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Short Run</a:t>
            </a:r>
          </a:p>
        </p:txBody>
      </p:sp>
      <p:sp>
        <p:nvSpPr>
          <p:cNvPr id="8" name="Rounded Rectangle 7"/>
          <p:cNvSpPr/>
          <p:nvPr/>
        </p:nvSpPr>
        <p:spPr>
          <a:xfrm>
            <a:off x="5921279" y="1828800"/>
            <a:ext cx="548640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Long Run</a:t>
            </a:r>
          </a:p>
        </p:txBody>
      </p:sp>
      <p:sp>
        <p:nvSpPr>
          <p:cNvPr id="30" name="SR Panel"/>
          <p:cNvSpPr txBox="1"/>
          <p:nvPr/>
        </p:nvSpPr>
        <p:spPr>
          <a:xfrm>
            <a:off x="256032" y="2697480"/>
            <a:ext cx="5486400" cy="1874519"/>
          </a:xfrm>
          <a:prstGeom prst="roundRect">
            <a:avLst>
              <a:gd name="adj" fmla="val 6000"/>
            </a:avLst>
          </a:prstGeom>
          <a:solidFill>
            <a:srgbClr val="FFFFFF"/>
          </a:solidFill>
          <a:ln w="15875">
            <a:solidFill>
              <a:srgbClr val="0B2B4E"/>
            </a:solidFill>
            <a:round/>
          </a:ln>
          <a:effectLst>
            <a:outerShdw blurRad="50800" dist="38100" dir="2700000" algn="tl" rotWithShape="0">
              <a:srgbClr val="000000">
                <a:alpha val="40000"/>
              </a:srgbClr>
            </a:outerShdw>
          </a:effectLst>
        </p:spPr>
        <p:txBody>
          <a:bodyPr wrap="square" lIns="118872" tIns="82296" rIns="91440" bIns="82296" anchor="ctr">
            <a:noAutofit/>
          </a:bodyPr>
          <a:lstStyle/>
          <a:p>
            <a:pPr algn="l"/>
            <a:r>
              <a:rPr lang="en-US" sz="1800" b="0" i="0" dirty="0">
                <a:solidFill>
                  <a:srgbClr val="0B2B4E"/>
                </a:solidFill>
                <a:latin typeface="Calibri"/>
              </a:rPr>
              <a:t>Capital (K)  is </a:t>
            </a:r>
            <a:r>
              <a:rPr lang="en-US" sz="1800" b="0" i="0" u="sng" dirty="0">
                <a:solidFill>
                  <a:srgbClr val="0B2B4E"/>
                </a:solidFill>
                <a:latin typeface="Calibri"/>
              </a:rPr>
              <a:t>fixed</a:t>
            </a:r>
          </a:p>
          <a:p>
            <a:pPr algn="l">
              <a:spcBef>
                <a:spcPts val="1000"/>
              </a:spcBef>
            </a:pPr>
            <a:r>
              <a:rPr lang="en-US" sz="1800" b="0" i="0" dirty="0">
                <a:solidFill>
                  <a:srgbClr val="0B2B4E"/>
                </a:solidFill>
                <a:latin typeface="Calibri"/>
              </a:rPr>
              <a:t>Plant size may be too large / too small</a:t>
            </a:r>
          </a:p>
          <a:p>
            <a:pPr algn="l">
              <a:spcBef>
                <a:spcPts val="1000"/>
              </a:spcBef>
            </a:pPr>
            <a:r>
              <a:rPr lang="en-US" sz="1800" b="0" i="0" dirty="0">
                <a:solidFill>
                  <a:srgbClr val="0B2B4E"/>
                </a:solidFill>
                <a:latin typeface="Calibri"/>
              </a:rPr>
              <a:t>Labor  (L)  is flexible</a:t>
            </a:r>
          </a:p>
          <a:p>
            <a:pPr algn="l">
              <a:spcBef>
                <a:spcPts val="1000"/>
              </a:spcBef>
            </a:pPr>
            <a:r>
              <a:rPr lang="en-US" sz="1800" b="0" i="0" dirty="0">
                <a:solidFill>
                  <a:srgbClr val="0B2B4E"/>
                </a:solidFill>
                <a:latin typeface="Calibri"/>
              </a:rPr>
              <a:t>→  Adjust Q by hiring / firing labor</a:t>
            </a:r>
          </a:p>
        </p:txBody>
      </p:sp>
      <p:sp>
        <p:nvSpPr>
          <p:cNvPr id="31" name="LR Panel"/>
          <p:cNvSpPr txBox="1"/>
          <p:nvPr/>
        </p:nvSpPr>
        <p:spPr>
          <a:xfrm>
            <a:off x="5925312" y="2697480"/>
            <a:ext cx="5486400" cy="1874519"/>
          </a:xfrm>
          <a:prstGeom prst="roundRect">
            <a:avLst>
              <a:gd name="adj" fmla="val 6000"/>
            </a:avLst>
          </a:prstGeom>
          <a:solidFill>
            <a:srgbClr val="FFFFFF"/>
          </a:solidFill>
          <a:ln w="15875">
            <a:solidFill>
              <a:srgbClr val="0B2B4E"/>
            </a:solidFill>
            <a:round/>
          </a:ln>
          <a:effectLst>
            <a:outerShdw blurRad="50800" dist="38100" dir="2700000" algn="tl" rotWithShape="0">
              <a:srgbClr val="000000">
                <a:alpha val="40000"/>
              </a:srgbClr>
            </a:outerShdw>
          </a:effectLst>
        </p:spPr>
        <p:txBody>
          <a:bodyPr wrap="square" lIns="118872" tIns="82296" rIns="91440" bIns="82296" anchor="ctr">
            <a:noAutofit/>
          </a:bodyPr>
          <a:lstStyle/>
          <a:p>
            <a:pPr algn="l"/>
            <a:r>
              <a:rPr lang="en-US" sz="1800" b="0" i="0" u="sng" dirty="0">
                <a:solidFill>
                  <a:srgbClr val="0B2B4E"/>
                </a:solidFill>
                <a:latin typeface="Calibri"/>
              </a:rPr>
              <a:t>Both</a:t>
            </a:r>
            <a:r>
              <a:rPr lang="en-US" sz="1800" b="0" i="0" dirty="0">
                <a:solidFill>
                  <a:srgbClr val="0B2B4E"/>
                </a:solidFill>
                <a:latin typeface="Calibri"/>
              </a:rPr>
              <a:t> K and L flexible</a:t>
            </a:r>
          </a:p>
          <a:p>
            <a:pPr algn="l">
              <a:spcBef>
                <a:spcPts val="1000"/>
              </a:spcBef>
            </a:pPr>
            <a:r>
              <a:rPr lang="en-US" sz="1800" b="0" i="0" dirty="0">
                <a:solidFill>
                  <a:srgbClr val="0B2B4E"/>
                </a:solidFill>
                <a:latin typeface="Calibri"/>
              </a:rPr>
              <a:t>Choose plant size from scratch</a:t>
            </a:r>
          </a:p>
          <a:p>
            <a:pPr algn="l">
              <a:spcBef>
                <a:spcPts val="1000"/>
              </a:spcBef>
            </a:pPr>
            <a:r>
              <a:rPr lang="en-US" sz="1800" b="0" i="0" dirty="0">
                <a:solidFill>
                  <a:srgbClr val="0B2B4E"/>
                </a:solidFill>
                <a:latin typeface="Calibri"/>
              </a:rPr>
              <a:t>Pick optimal input mix for any (anticipated) Q</a:t>
            </a:r>
          </a:p>
          <a:p>
            <a:pPr algn="l">
              <a:spcBef>
                <a:spcPts val="1000"/>
              </a:spcBef>
            </a:pPr>
            <a:r>
              <a:rPr lang="en-US" sz="1800" b="0" i="0" dirty="0">
                <a:solidFill>
                  <a:srgbClr val="0B2B4E"/>
                </a:solidFill>
                <a:latin typeface="Calibri"/>
              </a:rPr>
              <a:t>→  Change K and L to produce Q at lowest-possible cost</a:t>
            </a:r>
          </a:p>
        </p:txBody>
      </p:sp>
      <p:sp>
        <p:nvSpPr>
          <p:cNvPr id="18" name="Rounded Rectangle 17"/>
          <p:cNvSpPr/>
          <p:nvPr/>
        </p:nvSpPr>
        <p:spPr>
          <a:xfrm>
            <a:off x="892079" y="5367528"/>
            <a:ext cx="100584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0B2B4E"/>
                </a:solidFill>
                <a:latin typeface="Calibri"/>
              </a:rPr>
              <a:t>Long-run </a:t>
            </a:r>
            <a:r>
              <a:rPr lang="de-DE" sz="2000" b="1" dirty="0" err="1">
                <a:solidFill>
                  <a:srgbClr val="0B2B4E"/>
                </a:solidFill>
                <a:latin typeface="Calibri"/>
              </a:rPr>
              <a:t>provides</a:t>
            </a:r>
            <a:r>
              <a:rPr lang="de-DE" sz="2000" b="1" dirty="0">
                <a:solidFill>
                  <a:srgbClr val="0B2B4E"/>
                </a:solidFill>
                <a:latin typeface="Calibri"/>
              </a:rPr>
              <a:t> </a:t>
            </a:r>
            <a:r>
              <a:rPr sz="2000" b="1" dirty="0">
                <a:solidFill>
                  <a:srgbClr val="0B2B4E"/>
                </a:solidFill>
                <a:latin typeface="Calibri"/>
              </a:rPr>
              <a:t>more freedom</a:t>
            </a:r>
            <a:r>
              <a:rPr lang="de-DE" sz="2000" b="1" dirty="0">
                <a:solidFill>
                  <a:srgbClr val="0B2B4E"/>
                </a:solidFill>
                <a:latin typeface="Calibri"/>
              </a:rPr>
              <a:t> </a:t>
            </a:r>
            <a:r>
              <a:rPr lang="de-DE" sz="2000" b="1" dirty="0" err="1">
                <a:solidFill>
                  <a:srgbClr val="0B2B4E"/>
                </a:solidFill>
                <a:latin typeface="Calibri"/>
              </a:rPr>
              <a:t>to</a:t>
            </a:r>
            <a:r>
              <a:rPr lang="de-DE" sz="2000" b="1" dirty="0">
                <a:solidFill>
                  <a:srgbClr val="0B2B4E"/>
                </a:solidFill>
                <a:latin typeface="Calibri"/>
              </a:rPr>
              <a:t> </a:t>
            </a:r>
            <a:r>
              <a:rPr lang="de-DE" sz="2000" b="1" dirty="0" err="1">
                <a:solidFill>
                  <a:srgbClr val="0B2B4E"/>
                </a:solidFill>
                <a:latin typeface="Calibri"/>
              </a:rPr>
              <a:t>optimize</a:t>
            </a:r>
            <a:r>
              <a:rPr sz="2000" b="1" dirty="0">
                <a:solidFill>
                  <a:srgbClr val="0B2B4E"/>
                </a:solidFill>
                <a:latin typeface="Calibri"/>
              </a:rPr>
              <a:t>  ⇒  </a:t>
            </a:r>
            <a:r>
              <a:rPr lang="de-DE" sz="2000" b="1" dirty="0" err="1">
                <a:solidFill>
                  <a:srgbClr val="0B2B4E"/>
                </a:solidFill>
                <a:latin typeface="Calibri"/>
              </a:rPr>
              <a:t>typically</a:t>
            </a:r>
            <a:r>
              <a:rPr lang="de-DE" sz="2000" b="1" dirty="0">
                <a:solidFill>
                  <a:srgbClr val="0B2B4E"/>
                </a:solidFill>
                <a:latin typeface="Calibri"/>
              </a:rPr>
              <a:t> </a:t>
            </a:r>
            <a:r>
              <a:rPr lang="de-DE" sz="2000" b="1" dirty="0" err="1">
                <a:solidFill>
                  <a:srgbClr val="0B2B4E"/>
                </a:solidFill>
                <a:latin typeface="Calibri"/>
              </a:rPr>
              <a:t>lower</a:t>
            </a:r>
            <a:r>
              <a:rPr lang="de-DE" sz="2000" b="1" dirty="0">
                <a:solidFill>
                  <a:srgbClr val="0B2B4E"/>
                </a:solidFill>
                <a:latin typeface="Calibri"/>
              </a:rPr>
              <a:t> </a:t>
            </a:r>
            <a:r>
              <a:rPr lang="de-DE" sz="2000" b="1" dirty="0" err="1">
                <a:solidFill>
                  <a:srgbClr val="0B2B4E"/>
                </a:solidFill>
                <a:latin typeface="Calibri"/>
              </a:rPr>
              <a:t>average</a:t>
            </a:r>
            <a:r>
              <a:rPr lang="de-DE" sz="2000" b="1" dirty="0">
                <a:solidFill>
                  <a:srgbClr val="0B2B4E"/>
                </a:solidFill>
                <a:latin typeface="Calibri"/>
              </a:rPr>
              <a:t> </a:t>
            </a:r>
            <a:r>
              <a:rPr lang="de-DE" sz="2000" b="1" dirty="0" err="1">
                <a:solidFill>
                  <a:srgbClr val="0B2B4E"/>
                </a:solidFill>
                <a:latin typeface="Calibri"/>
              </a:rPr>
              <a:t>costs</a:t>
            </a:r>
            <a:endParaRPr sz="2000" b="1" dirty="0">
              <a:solidFill>
                <a:srgbClr val="0B2B4E"/>
              </a:solidFill>
              <a:latin typeface="Calibri"/>
            </a:endParaRP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2" name="TextBox 21"/>
          <p:cNvSpPr txBox="1"/>
          <p:nvPr/>
        </p:nvSpPr>
        <p:spPr>
          <a:xfrm>
            <a:off x="11430000" y="6583680"/>
            <a:ext cx="548640" cy="292608"/>
          </a:xfrm>
          <a:prstGeom prst="rect">
            <a:avLst/>
          </a:prstGeom>
          <a:noFill/>
        </p:spPr>
        <p:txBody>
          <a:bodyPr wrap="square" lIns="0" tIns="0" rIns="0" bIns="0">
            <a:spAutoFit/>
          </a:bodyPr>
          <a:lstStyle/>
          <a:p>
            <a:pPr algn="r"/>
            <a:fld id="{2C3C2F67-B6E5-492F-844B-C158B98E4C97}"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L</a:t>
            </a:r>
            <a:r>
              <a:rPr lang="en-US" sz="3200" b="1" i="0" dirty="0">
                <a:solidFill>
                  <a:srgbClr val="0B2B4E"/>
                </a:solidFill>
                <a:latin typeface="Calibri"/>
              </a:rPr>
              <a:t>ong-Run</a:t>
            </a:r>
            <a:r>
              <a:rPr sz="3200" b="1" i="0" dirty="0">
                <a:solidFill>
                  <a:srgbClr val="0B2B4E"/>
                </a:solidFill>
                <a:latin typeface="Calibri"/>
              </a:rPr>
              <a:t> Average Cost Is the Lower Envelope of S</a:t>
            </a:r>
            <a:r>
              <a:rPr lang="en-US" sz="3200" b="1" i="0" dirty="0">
                <a:solidFill>
                  <a:srgbClr val="0B2B4E"/>
                </a:solidFill>
                <a:latin typeface="Calibri"/>
              </a:rPr>
              <a:t>hort-Run</a:t>
            </a:r>
            <a:r>
              <a:rPr sz="3200" b="1" i="0" dirty="0">
                <a:solidFill>
                  <a:srgbClr val="0B2B4E"/>
                </a:solidFill>
                <a:latin typeface="Calibri"/>
              </a:rPr>
              <a:t> Curves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097280" y="5303520"/>
            <a:ext cx="10332720" cy="0"/>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97280" y="1920240"/>
            <a:ext cx="0" cy="3383280"/>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41" name="SAC small"/>
          <p:cNvSpPr/>
          <p:nvPr/>
        </p:nvSpPr>
        <p:spPr>
          <a:xfrm rot="995437">
            <a:off x="1378427" y="2859514"/>
            <a:ext cx="3711738" cy="681043"/>
          </a:xfrm>
          <a:custGeom>
            <a:avLst/>
            <a:gdLst/>
            <a:ahLst/>
            <a:cxnLst/>
            <a:rect l="0" t="0" r="0" b="0"/>
            <a:pathLst>
              <a:path w="100000" h="100000" fill="none">
                <a:moveTo>
                  <a:pt x="0" y="0"/>
                </a:moveTo>
                <a:quadBezTo>
                  <a:pt x="24999" y="100000"/>
                  <a:pt x="50000" y="100000"/>
                </a:quadBezTo>
                <a:quadBezTo>
                  <a:pt x="75000" y="100000"/>
                  <a:pt x="100000" y="0"/>
                </a:quadBezTo>
              </a:path>
            </a:pathLst>
          </a:custGeom>
          <a:noFill/>
          <a:ln w="28575" cap="rnd">
            <a:solidFill>
              <a:srgbClr val="555B66"/>
            </a:solidFill>
            <a:round/>
          </a:ln>
        </p:spPr>
        <p:txBody>
          <a:bodyPr/>
          <a:lstStyle/>
          <a:p>
            <a:endParaRPr lang="en-US"/>
          </a:p>
        </p:txBody>
      </p:sp>
      <p:sp>
        <p:nvSpPr>
          <p:cNvPr id="42" name="SAC medium"/>
          <p:cNvSpPr/>
          <p:nvPr/>
        </p:nvSpPr>
        <p:spPr>
          <a:xfrm>
            <a:off x="3703827" y="3200036"/>
            <a:ext cx="4450079" cy="699332"/>
          </a:xfrm>
          <a:custGeom>
            <a:avLst/>
            <a:gdLst/>
            <a:ahLst/>
            <a:cxnLst/>
            <a:rect l="0" t="0" r="0" b="0"/>
            <a:pathLst>
              <a:path w="100000" h="100000" fill="none">
                <a:moveTo>
                  <a:pt x="0" y="0"/>
                </a:moveTo>
                <a:quadBezTo>
                  <a:pt x="25000" y="100000"/>
                  <a:pt x="50000" y="100000"/>
                </a:quadBezTo>
                <a:quadBezTo>
                  <a:pt x="75000" y="100000"/>
                  <a:pt x="100000" y="0"/>
                </a:quadBezTo>
              </a:path>
            </a:pathLst>
          </a:custGeom>
          <a:noFill/>
          <a:ln w="28575" cap="rnd">
            <a:solidFill>
              <a:srgbClr val="555B66"/>
            </a:solidFill>
            <a:round/>
          </a:ln>
        </p:spPr>
        <p:txBody>
          <a:bodyPr/>
          <a:lstStyle/>
          <a:p>
            <a:endParaRPr lang="en-US"/>
          </a:p>
        </p:txBody>
      </p:sp>
      <p:sp>
        <p:nvSpPr>
          <p:cNvPr id="43" name="SAC large"/>
          <p:cNvSpPr/>
          <p:nvPr/>
        </p:nvSpPr>
        <p:spPr>
          <a:xfrm rot="440113">
            <a:off x="6055838" y="3635141"/>
            <a:ext cx="4830353" cy="651942"/>
          </a:xfrm>
          <a:custGeom>
            <a:avLst/>
            <a:gdLst/>
            <a:ahLst/>
            <a:cxnLst/>
            <a:rect l="0" t="0" r="0" b="0"/>
            <a:pathLst>
              <a:path w="100000" h="100000" fill="none">
                <a:moveTo>
                  <a:pt x="0" y="0"/>
                </a:moveTo>
                <a:quadBezTo>
                  <a:pt x="25000" y="100000"/>
                  <a:pt x="50000" y="100000"/>
                </a:quadBezTo>
                <a:quadBezTo>
                  <a:pt x="74999" y="100000"/>
                  <a:pt x="100000" y="0"/>
                </a:quadBezTo>
              </a:path>
            </a:pathLst>
          </a:custGeom>
          <a:noFill/>
          <a:ln w="28575" cap="rnd">
            <a:solidFill>
              <a:srgbClr val="555B66"/>
            </a:solidFill>
            <a:round/>
          </a:ln>
        </p:spPr>
        <p:txBody>
          <a:bodyPr/>
          <a:lstStyle/>
          <a:p>
            <a:endParaRPr lang="en-US"/>
          </a:p>
        </p:txBody>
      </p:sp>
      <p:cxnSp>
        <p:nvCxnSpPr>
          <p:cNvPr id="50" name="Approx LAC Line"/>
          <p:cNvCxnSpPr>
            <a:cxnSpLocks/>
          </p:cNvCxnSpPr>
          <p:nvPr/>
        </p:nvCxnSpPr>
        <p:spPr>
          <a:xfrm>
            <a:off x="2118862" y="3519178"/>
            <a:ext cx="7475665" cy="1059828"/>
          </a:xfrm>
          <a:prstGeom prst="line">
            <a:avLst/>
          </a:prstGeom>
          <a:ln w="28575">
            <a:solidFill>
              <a:srgbClr val="0B2B4E"/>
            </a:solidFill>
            <a:prstDash val="dash"/>
          </a:ln>
        </p:spPr>
      </p:cxnSp>
      <p:sp>
        <p:nvSpPr>
          <p:cNvPr id="46" name="LAC Envelope"/>
          <p:cNvSpPr/>
          <p:nvPr/>
        </p:nvSpPr>
        <p:spPr>
          <a:xfrm>
            <a:off x="1581952" y="2513740"/>
            <a:ext cx="9326091" cy="1852569"/>
          </a:xfrm>
          <a:custGeom>
            <a:avLst/>
            <a:gdLst/>
            <a:ahLst/>
            <a:cxnLst/>
            <a:rect l="0" t="0" r="0" b="0"/>
            <a:pathLst>
              <a:path w="100000" h="100000" fill="none">
                <a:moveTo>
                  <a:pt x="0" y="0"/>
                </a:moveTo>
                <a:lnTo>
                  <a:pt x="944" y="2578"/>
                </a:lnTo>
                <a:lnTo>
                  <a:pt x="1905" y="7582"/>
                </a:lnTo>
                <a:lnTo>
                  <a:pt x="2883" y="12963"/>
                </a:lnTo>
                <a:lnTo>
                  <a:pt x="3877" y="18069"/>
                </a:lnTo>
                <a:lnTo>
                  <a:pt x="4887" y="22900"/>
                </a:lnTo>
                <a:lnTo>
                  <a:pt x="5913" y="26977"/>
                </a:lnTo>
                <a:lnTo>
                  <a:pt x="6956" y="30808"/>
                </a:lnTo>
                <a:lnTo>
                  <a:pt x="8015" y="34875"/>
                </a:lnTo>
                <a:lnTo>
                  <a:pt x="8730" y="38258"/>
                </a:lnTo>
                <a:lnTo>
                  <a:pt x="9816" y="41437"/>
                </a:lnTo>
                <a:lnTo>
                  <a:pt x="10918" y="44372"/>
                </a:lnTo>
                <a:lnTo>
                  <a:pt x="11662" y="47103"/>
                </a:lnTo>
                <a:lnTo>
                  <a:pt x="12792" y="49630"/>
                </a:lnTo>
                <a:lnTo>
                  <a:pt x="13554" y="51637"/>
                </a:lnTo>
                <a:lnTo>
                  <a:pt x="14710" y="53757"/>
                </a:lnTo>
                <a:lnTo>
                  <a:pt x="15491" y="55407"/>
                </a:lnTo>
                <a:lnTo>
                  <a:pt x="16674" y="57119"/>
                </a:lnTo>
                <a:lnTo>
                  <a:pt x="17473" y="58412"/>
                </a:lnTo>
                <a:lnTo>
                  <a:pt x="18684" y="59716"/>
                </a:lnTo>
                <a:lnTo>
                  <a:pt x="19500" y="60541"/>
                </a:lnTo>
                <a:lnTo>
                  <a:pt x="20738" y="61437"/>
                </a:lnTo>
                <a:lnTo>
                  <a:pt x="21573" y="62068"/>
                </a:lnTo>
                <a:lnTo>
                  <a:pt x="22414" y="62464"/>
                </a:lnTo>
                <a:lnTo>
                  <a:pt x="23690" y="62789"/>
                </a:lnTo>
                <a:lnTo>
                  <a:pt x="24550" y="62901"/>
                </a:lnTo>
                <a:lnTo>
                  <a:pt x="25417" y="62879"/>
                </a:lnTo>
                <a:lnTo>
                  <a:pt x="26291" y="62736"/>
                </a:lnTo>
                <a:lnTo>
                  <a:pt x="27173" y="62388"/>
                </a:lnTo>
                <a:lnTo>
                  <a:pt x="28509" y="61816"/>
                </a:lnTo>
                <a:lnTo>
                  <a:pt x="29408" y="61234"/>
                </a:lnTo>
                <a:lnTo>
                  <a:pt x="30315" y="60907"/>
                </a:lnTo>
                <a:lnTo>
                  <a:pt x="31201" y="61647"/>
                </a:lnTo>
                <a:lnTo>
                  <a:pt x="32195" y="63472"/>
                </a:lnTo>
                <a:lnTo>
                  <a:pt x="33189" y="65307"/>
                </a:lnTo>
                <a:lnTo>
                  <a:pt x="34184" y="67011"/>
                </a:lnTo>
                <a:lnTo>
                  <a:pt x="35178" y="68584"/>
                </a:lnTo>
                <a:lnTo>
                  <a:pt x="36172" y="70026"/>
                </a:lnTo>
                <a:lnTo>
                  <a:pt x="37166" y="71337"/>
                </a:lnTo>
                <a:lnTo>
                  <a:pt x="38160" y="72516"/>
                </a:lnTo>
                <a:lnTo>
                  <a:pt x="39154" y="73565"/>
                </a:lnTo>
                <a:lnTo>
                  <a:pt x="40148" y="74482"/>
                </a:lnTo>
                <a:lnTo>
                  <a:pt x="41142" y="75269"/>
                </a:lnTo>
                <a:lnTo>
                  <a:pt x="42136" y="75924"/>
                </a:lnTo>
                <a:lnTo>
                  <a:pt x="43130" y="76449"/>
                </a:lnTo>
                <a:lnTo>
                  <a:pt x="44125" y="76842"/>
                </a:lnTo>
                <a:lnTo>
                  <a:pt x="45119" y="77104"/>
                </a:lnTo>
                <a:lnTo>
                  <a:pt x="46113" y="77230"/>
                </a:lnTo>
                <a:lnTo>
                  <a:pt x="47107" y="77230"/>
                </a:lnTo>
                <a:lnTo>
                  <a:pt x="48101" y="77104"/>
                </a:lnTo>
                <a:lnTo>
                  <a:pt x="49095" y="76842"/>
                </a:lnTo>
                <a:lnTo>
                  <a:pt x="50089" y="76449"/>
                </a:lnTo>
                <a:lnTo>
                  <a:pt x="51083" y="75924"/>
                </a:lnTo>
                <a:lnTo>
                  <a:pt x="52077" y="75269"/>
                </a:lnTo>
                <a:lnTo>
                  <a:pt x="53071" y="74482"/>
                </a:lnTo>
                <a:lnTo>
                  <a:pt x="54065" y="73565"/>
                </a:lnTo>
                <a:lnTo>
                  <a:pt x="55060" y="72516"/>
                </a:lnTo>
                <a:lnTo>
                  <a:pt x="56054" y="71610"/>
                </a:lnTo>
                <a:lnTo>
                  <a:pt x="56695" y="71872"/>
                </a:lnTo>
                <a:lnTo>
                  <a:pt x="57717" y="74000"/>
                </a:lnTo>
                <a:lnTo>
                  <a:pt x="58743" y="76451"/>
                </a:lnTo>
                <a:lnTo>
                  <a:pt x="59771" y="78780"/>
                </a:lnTo>
                <a:lnTo>
                  <a:pt x="60803" y="80989"/>
                </a:lnTo>
                <a:lnTo>
                  <a:pt x="61837" y="83076"/>
                </a:lnTo>
                <a:lnTo>
                  <a:pt x="62875" y="84407"/>
                </a:lnTo>
                <a:lnTo>
                  <a:pt x="63509" y="85979"/>
                </a:lnTo>
                <a:lnTo>
                  <a:pt x="64437" y="87764"/>
                </a:lnTo>
                <a:lnTo>
                  <a:pt x="65483" y="89427"/>
                </a:lnTo>
                <a:lnTo>
                  <a:pt x="66531" y="90969"/>
                </a:lnTo>
                <a:lnTo>
                  <a:pt x="67583" y="92389"/>
                </a:lnTo>
                <a:lnTo>
                  <a:pt x="68637" y="93689"/>
                </a:lnTo>
                <a:lnTo>
                  <a:pt x="69695" y="94867"/>
                </a:lnTo>
                <a:lnTo>
                  <a:pt x="70756" y="95924"/>
                </a:lnTo>
                <a:lnTo>
                  <a:pt x="71820" y="96860"/>
                </a:lnTo>
                <a:lnTo>
                  <a:pt x="72887" y="97675"/>
                </a:lnTo>
                <a:lnTo>
                  <a:pt x="73957" y="98368"/>
                </a:lnTo>
                <a:lnTo>
                  <a:pt x="75031" y="98941"/>
                </a:lnTo>
                <a:lnTo>
                  <a:pt x="76107" y="99392"/>
                </a:lnTo>
                <a:lnTo>
                  <a:pt x="77187" y="99722"/>
                </a:lnTo>
                <a:lnTo>
                  <a:pt x="78269" y="99930"/>
                </a:lnTo>
                <a:lnTo>
                  <a:pt x="79355" y="100000"/>
                </a:lnTo>
                <a:lnTo>
                  <a:pt x="80444" y="99975"/>
                </a:lnTo>
                <a:lnTo>
                  <a:pt x="81535" y="99830"/>
                </a:lnTo>
                <a:lnTo>
                  <a:pt x="82630" y="99554"/>
                </a:lnTo>
                <a:lnTo>
                  <a:pt x="83729" y="99156"/>
                </a:lnTo>
                <a:lnTo>
                  <a:pt x="84830" y="98638"/>
                </a:lnTo>
                <a:lnTo>
                  <a:pt x="85934" y="97998"/>
                </a:lnTo>
                <a:lnTo>
                  <a:pt x="87041" y="97238"/>
                </a:lnTo>
                <a:lnTo>
                  <a:pt x="88152" y="96356"/>
                </a:lnTo>
                <a:lnTo>
                  <a:pt x="89266" y="95353"/>
                </a:lnTo>
                <a:lnTo>
                  <a:pt x="90382" y="94228"/>
                </a:lnTo>
                <a:lnTo>
                  <a:pt x="91502" y="92983"/>
                </a:lnTo>
                <a:lnTo>
                  <a:pt x="92625" y="91616"/>
                </a:lnTo>
                <a:lnTo>
                  <a:pt x="93751" y="90128"/>
                </a:lnTo>
                <a:lnTo>
                  <a:pt x="94880" y="88519"/>
                </a:lnTo>
                <a:lnTo>
                  <a:pt x="96012" y="86789"/>
                </a:lnTo>
                <a:lnTo>
                  <a:pt x="97148" y="84937"/>
                </a:lnTo>
                <a:lnTo>
                  <a:pt x="98286" y="82965"/>
                </a:lnTo>
                <a:lnTo>
                  <a:pt x="99428" y="81589"/>
                </a:lnTo>
                <a:lnTo>
                  <a:pt x="100000" y="81235"/>
                </a:lnTo>
              </a:path>
            </a:pathLst>
          </a:custGeom>
          <a:noFill/>
          <a:ln w="44450" cap="rnd">
            <a:solidFill>
              <a:srgbClr val="B8860B"/>
            </a:solidFill>
            <a:round/>
          </a:ln>
        </p:spPr>
        <p:txBody>
          <a:bodyPr/>
          <a:lstStyle/>
          <a:p>
            <a:endParaRPr lang="en-US"/>
          </a:p>
        </p:txBody>
      </p:sp>
      <p:sp>
        <p:nvSpPr>
          <p:cNvPr id="51" name="Approx LAC Label"/>
          <p:cNvSpPr txBox="1"/>
          <p:nvPr/>
        </p:nvSpPr>
        <p:spPr>
          <a:xfrm>
            <a:off x="5772433" y="4331474"/>
            <a:ext cx="2286000" cy="307777"/>
          </a:xfrm>
          <a:prstGeom prst="rect">
            <a:avLst/>
          </a:prstGeom>
          <a:noFill/>
        </p:spPr>
        <p:txBody>
          <a:bodyPr wrap="square" lIns="0" tIns="0" rIns="0" bIns="0">
            <a:spAutoFit/>
          </a:bodyPr>
          <a:lstStyle/>
          <a:p>
            <a:pPr algn="l"/>
            <a:r>
              <a:rPr sz="2000" b="1" i="1" dirty="0">
                <a:solidFill>
                  <a:srgbClr val="0B2B4E"/>
                </a:solidFill>
                <a:latin typeface="Calibri"/>
              </a:rPr>
              <a:t>approximate LAC</a:t>
            </a:r>
          </a:p>
        </p:txBody>
      </p:sp>
      <p:sp>
        <p:nvSpPr>
          <p:cNvPr id="9" name="TextBox 8"/>
          <p:cNvSpPr txBox="1"/>
          <p:nvPr/>
        </p:nvSpPr>
        <p:spPr>
          <a:xfrm>
            <a:off x="10168128" y="5349240"/>
            <a:ext cx="1353312" cy="276999"/>
          </a:xfrm>
          <a:prstGeom prst="rect">
            <a:avLst/>
          </a:prstGeom>
          <a:noFill/>
        </p:spPr>
        <p:txBody>
          <a:bodyPr wrap="square" lIns="0" tIns="0" rIns="0" bIns="0">
            <a:spAutoFit/>
          </a:bodyPr>
          <a:lstStyle/>
          <a:p>
            <a:pPr algn="l"/>
            <a:r>
              <a:rPr b="0" i="1" dirty="0">
                <a:solidFill>
                  <a:srgbClr val="555B66"/>
                </a:solidFill>
                <a:latin typeface="Calibri"/>
              </a:rPr>
              <a:t>Q  (output)</a:t>
            </a:r>
          </a:p>
        </p:txBody>
      </p:sp>
      <p:sp>
        <p:nvSpPr>
          <p:cNvPr id="10" name="TextBox 9"/>
          <p:cNvSpPr txBox="1"/>
          <p:nvPr/>
        </p:nvSpPr>
        <p:spPr>
          <a:xfrm>
            <a:off x="609447" y="1645920"/>
            <a:ext cx="914400" cy="274320"/>
          </a:xfrm>
          <a:prstGeom prst="rect">
            <a:avLst/>
          </a:prstGeom>
          <a:noFill/>
        </p:spPr>
        <p:txBody>
          <a:bodyPr wrap="square" lIns="0" tIns="0" rIns="0" bIns="0">
            <a:spAutoFit/>
          </a:bodyPr>
          <a:lstStyle/>
          <a:p>
            <a:pPr algn="r"/>
            <a:r>
              <a:rPr b="0" i="1" dirty="0">
                <a:solidFill>
                  <a:srgbClr val="555B66"/>
                </a:solidFill>
                <a:latin typeface="Calibri"/>
              </a:rPr>
              <a:t>$ / unit</a:t>
            </a:r>
          </a:p>
        </p:txBody>
      </p:sp>
      <p:sp>
        <p:nvSpPr>
          <p:cNvPr id="12" name="TextBox 11"/>
          <p:cNvSpPr txBox="1"/>
          <p:nvPr/>
        </p:nvSpPr>
        <p:spPr>
          <a:xfrm>
            <a:off x="2138269" y="2669325"/>
            <a:ext cx="1645920" cy="553998"/>
          </a:xfrm>
          <a:prstGeom prst="rect">
            <a:avLst/>
          </a:prstGeom>
          <a:noFill/>
        </p:spPr>
        <p:txBody>
          <a:bodyPr wrap="square" lIns="0" tIns="0" rIns="0" bIns="0">
            <a:spAutoFit/>
          </a:bodyPr>
          <a:lstStyle/>
          <a:p>
            <a:pPr algn="ctr"/>
            <a:r>
              <a:rPr b="0" i="1" dirty="0">
                <a:solidFill>
                  <a:srgbClr val="555B66"/>
                </a:solidFill>
                <a:latin typeface="Calibri"/>
              </a:rPr>
              <a:t>SAC </a:t>
            </a:r>
            <a:endParaRPr lang="de-DE" b="0" i="1" dirty="0">
              <a:solidFill>
                <a:srgbClr val="555B66"/>
              </a:solidFill>
              <a:latin typeface="Calibri"/>
            </a:endParaRPr>
          </a:p>
          <a:p>
            <a:pPr algn="ctr"/>
            <a:r>
              <a:rPr b="0" i="1" dirty="0">
                <a:solidFill>
                  <a:srgbClr val="555B66"/>
                </a:solidFill>
                <a:latin typeface="Calibri"/>
              </a:rPr>
              <a:t> (small plant)</a:t>
            </a:r>
          </a:p>
        </p:txBody>
      </p:sp>
      <p:sp>
        <p:nvSpPr>
          <p:cNvPr id="14" name="TextBox 13"/>
          <p:cNvSpPr txBox="1"/>
          <p:nvPr/>
        </p:nvSpPr>
        <p:spPr>
          <a:xfrm>
            <a:off x="4915439" y="3232151"/>
            <a:ext cx="1645920" cy="553998"/>
          </a:xfrm>
          <a:prstGeom prst="rect">
            <a:avLst/>
          </a:prstGeom>
          <a:noFill/>
        </p:spPr>
        <p:txBody>
          <a:bodyPr wrap="square" lIns="0" tIns="0" rIns="0" bIns="0">
            <a:spAutoFit/>
          </a:bodyPr>
          <a:lstStyle/>
          <a:p>
            <a:pPr algn="ctr"/>
            <a:r>
              <a:rPr b="0" i="1" dirty="0">
                <a:solidFill>
                  <a:srgbClr val="555B66"/>
                </a:solidFill>
                <a:latin typeface="Calibri"/>
              </a:rPr>
              <a:t>SAC  </a:t>
            </a:r>
            <a:endParaRPr lang="de-DE" b="0" i="1" dirty="0">
              <a:solidFill>
                <a:srgbClr val="555B66"/>
              </a:solidFill>
              <a:latin typeface="Calibri"/>
            </a:endParaRPr>
          </a:p>
          <a:p>
            <a:pPr algn="ctr"/>
            <a:r>
              <a:rPr b="0" i="1" dirty="0">
                <a:solidFill>
                  <a:srgbClr val="555B66"/>
                </a:solidFill>
                <a:latin typeface="Calibri"/>
              </a:rPr>
              <a:t>(medium plant)</a:t>
            </a:r>
          </a:p>
        </p:txBody>
      </p:sp>
      <p:sp>
        <p:nvSpPr>
          <p:cNvPr id="16" name="TextBox 15"/>
          <p:cNvSpPr txBox="1"/>
          <p:nvPr/>
        </p:nvSpPr>
        <p:spPr>
          <a:xfrm>
            <a:off x="7948608" y="3634009"/>
            <a:ext cx="1645920" cy="553998"/>
          </a:xfrm>
          <a:prstGeom prst="rect">
            <a:avLst/>
          </a:prstGeom>
          <a:noFill/>
        </p:spPr>
        <p:txBody>
          <a:bodyPr wrap="square" lIns="0" tIns="0" rIns="0" bIns="0">
            <a:spAutoFit/>
          </a:bodyPr>
          <a:lstStyle/>
          <a:p>
            <a:pPr algn="ctr"/>
            <a:r>
              <a:rPr b="0" i="1" dirty="0">
                <a:solidFill>
                  <a:srgbClr val="555B66"/>
                </a:solidFill>
                <a:latin typeface="Calibri"/>
              </a:rPr>
              <a:t>SAC </a:t>
            </a:r>
            <a:endParaRPr lang="de-DE" b="0" i="1" dirty="0">
              <a:solidFill>
                <a:srgbClr val="555B66"/>
              </a:solidFill>
              <a:latin typeface="Calibri"/>
            </a:endParaRPr>
          </a:p>
          <a:p>
            <a:pPr algn="ctr"/>
            <a:r>
              <a:rPr b="0" i="1" dirty="0">
                <a:solidFill>
                  <a:srgbClr val="555B66"/>
                </a:solidFill>
                <a:latin typeface="Calibri"/>
              </a:rPr>
              <a:t>(large plant)</a:t>
            </a:r>
          </a:p>
        </p:txBody>
      </p:sp>
      <p:sp>
        <p:nvSpPr>
          <p:cNvPr id="19" name="TextBox 18"/>
          <p:cNvSpPr txBox="1"/>
          <p:nvPr/>
        </p:nvSpPr>
        <p:spPr>
          <a:xfrm>
            <a:off x="9793688" y="4294759"/>
            <a:ext cx="2398007" cy="307777"/>
          </a:xfrm>
          <a:prstGeom prst="rect">
            <a:avLst/>
          </a:prstGeom>
          <a:noFill/>
        </p:spPr>
        <p:txBody>
          <a:bodyPr wrap="square" lIns="0" tIns="0" rIns="0" bIns="0">
            <a:spAutoFit/>
          </a:bodyPr>
          <a:lstStyle/>
          <a:p>
            <a:pPr algn="l"/>
            <a:r>
              <a:rPr sz="2000" b="1" i="1" dirty="0">
                <a:solidFill>
                  <a:srgbClr val="E09F3E"/>
                </a:solidFill>
                <a:latin typeface="Calibri"/>
              </a:rPr>
              <a:t>LAC  =  lower envelope</a:t>
            </a:r>
          </a:p>
        </p:txBody>
      </p:sp>
      <p:sp>
        <p:nvSpPr>
          <p:cNvPr id="20" name="Rounded Rectangle 19"/>
          <p:cNvSpPr/>
          <p:nvPr/>
        </p:nvSpPr>
        <p:spPr>
          <a:xfrm>
            <a:off x="609447" y="5723524"/>
            <a:ext cx="109728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0B2B4E"/>
                </a:solidFill>
                <a:latin typeface="Calibri"/>
              </a:rPr>
              <a:t>LAC is the lower envelope of all SAC curves:  pick the best plant for each Q</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4" name="TextBox 23"/>
          <p:cNvSpPr txBox="1"/>
          <p:nvPr/>
        </p:nvSpPr>
        <p:spPr>
          <a:xfrm>
            <a:off x="11430000" y="6583680"/>
            <a:ext cx="548640" cy="292608"/>
          </a:xfrm>
          <a:prstGeom prst="rect">
            <a:avLst/>
          </a:prstGeom>
          <a:noFill/>
        </p:spPr>
        <p:txBody>
          <a:bodyPr wrap="square" lIns="0" tIns="0" rIns="0" bIns="0">
            <a:spAutoFit/>
          </a:bodyPr>
          <a:lstStyle/>
          <a:p>
            <a:pPr algn="r"/>
            <a:fld id="{76D378F8-6A43-4AE8-8732-4F2FFFF59BE9}"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500"/>
                                        <p:tgtEl>
                                          <p:spTgt spid="50"/>
                                        </p:tgtEl>
                                      </p:cBhvr>
                                    </p:animEffect>
                                  </p:childTnLst>
                                </p:cTn>
                              </p:par>
                              <p:par>
                                <p:cTn id="40" presetID="10" presetClass="entr" presetSubtype="0" fill="hold" nodeType="with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Economies of Scale:  Three Possible Patterns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30887"/>
          </a:xfrm>
          <a:prstGeom prst="rect">
            <a:avLst/>
          </a:prstGeom>
          <a:noFill/>
        </p:spPr>
        <p:txBody>
          <a:bodyPr wrap="square" lIns="0" tIns="0" rIns="0" bIns="0">
            <a:spAutoFit/>
          </a:bodyPr>
          <a:lstStyle/>
          <a:p>
            <a:pPr algn="ctr"/>
            <a:r>
              <a:rPr sz="2800" b="0" i="1" dirty="0">
                <a:solidFill>
                  <a:srgbClr val="555B66"/>
                </a:solidFill>
                <a:latin typeface="Calibri"/>
              </a:rPr>
              <a:t>What happens to long-run </a:t>
            </a:r>
            <a:r>
              <a:rPr lang="en-US" sz="2800" b="0" i="1" dirty="0">
                <a:solidFill>
                  <a:srgbClr val="555B66"/>
                </a:solidFill>
                <a:latin typeface="Calibri"/>
              </a:rPr>
              <a:t>average cost</a:t>
            </a:r>
            <a:r>
              <a:rPr sz="2800" b="0" i="1" dirty="0">
                <a:solidFill>
                  <a:srgbClr val="555B66"/>
                </a:solidFill>
                <a:latin typeface="Calibri"/>
              </a:rPr>
              <a:t> </a:t>
            </a:r>
            <a:r>
              <a:rPr lang="en-US" sz="2800" b="0" i="1" dirty="0">
                <a:solidFill>
                  <a:srgbClr val="555B66"/>
                </a:solidFill>
                <a:latin typeface="Calibri"/>
              </a:rPr>
              <a:t>(LAC) </a:t>
            </a:r>
            <a:r>
              <a:rPr sz="2800" b="0" i="1" dirty="0">
                <a:solidFill>
                  <a:srgbClr val="555B66"/>
                </a:solidFill>
                <a:latin typeface="Calibri"/>
              </a:rPr>
              <a:t>as output grows?</a:t>
            </a:r>
          </a:p>
        </p:txBody>
      </p:sp>
      <p:sp>
        <p:nvSpPr>
          <p:cNvPr id="41" name="s65 card 41"/>
          <p:cNvSpPr/>
          <p:nvPr/>
        </p:nvSpPr>
        <p:spPr>
          <a:xfrm>
            <a:off x="457200" y="2606040"/>
            <a:ext cx="3584448" cy="3456432"/>
          </a:xfrm>
          <a:prstGeom prst="roundRect">
            <a:avLst>
              <a:gd name="adj" fmla="val 6000"/>
            </a:avLst>
          </a:prstGeom>
          <a:solidFill>
            <a:srgbClr val="FFFFFF"/>
          </a:solidFill>
          <a:ln w="15875">
            <a:solidFill>
              <a:srgbClr val="0B2B4E"/>
            </a:solidFill>
            <a:round/>
          </a:ln>
          <a:effectLst>
            <a:outerShdw blurRad="50800" dist="38100" dir="2700000" algn="tl" rotWithShape="0">
              <a:srgbClr val="000000">
                <a:alpha val="35000"/>
              </a:srgbClr>
            </a:outerShdw>
          </a:effectLst>
        </p:spPr>
        <p:txBody>
          <a:bodyPr/>
          <a:lstStyle/>
          <a:p>
            <a:endParaRPr lang="en-US"/>
          </a:p>
        </p:txBody>
      </p:sp>
      <p:sp>
        <p:nvSpPr>
          <p:cNvPr id="42" name="s65 txt 42"/>
          <p:cNvSpPr txBox="1"/>
          <p:nvPr/>
        </p:nvSpPr>
        <p:spPr>
          <a:xfrm>
            <a:off x="457200" y="2770632"/>
            <a:ext cx="3584448" cy="530352"/>
          </a:xfrm>
          <a:prstGeom prst="rect">
            <a:avLst/>
          </a:prstGeom>
          <a:noFill/>
        </p:spPr>
        <p:txBody>
          <a:bodyPr wrap="square" lIns="0" tIns="0" rIns="0" bIns="0" anchor="t">
            <a:noAutofit/>
          </a:bodyPr>
          <a:lstStyle/>
          <a:p>
            <a:pPr algn="ctr"/>
            <a:r>
              <a:rPr lang="en-US" sz="2400" b="1" i="0">
                <a:solidFill>
                  <a:srgbClr val="0B2B4E"/>
                </a:solidFill>
                <a:latin typeface="Calibri"/>
              </a:rPr>
              <a:t>Economies of Scale</a:t>
            </a:r>
          </a:p>
        </p:txBody>
      </p:sp>
      <p:cxnSp>
        <p:nvCxnSpPr>
          <p:cNvPr id="43" name="s65 yax 43"/>
          <p:cNvCxnSpPr/>
          <p:nvPr/>
        </p:nvCxnSpPr>
        <p:spPr>
          <a:xfrm>
            <a:off x="960120" y="3429000"/>
            <a:ext cx="0" cy="1417320"/>
          </a:xfrm>
          <a:prstGeom prst="line">
            <a:avLst/>
          </a:prstGeom>
          <a:ln w="19050">
            <a:solidFill>
              <a:srgbClr val="0B2B4E"/>
            </a:solidFill>
            <a:headEnd type="triangle" w="med" len="med"/>
          </a:ln>
        </p:spPr>
      </p:cxnSp>
      <p:cxnSp>
        <p:nvCxnSpPr>
          <p:cNvPr id="44" name="s65 xax 44"/>
          <p:cNvCxnSpPr/>
          <p:nvPr/>
        </p:nvCxnSpPr>
        <p:spPr>
          <a:xfrm>
            <a:off x="960120" y="4846320"/>
            <a:ext cx="2743200" cy="0"/>
          </a:xfrm>
          <a:prstGeom prst="line">
            <a:avLst/>
          </a:prstGeom>
          <a:ln w="19050">
            <a:solidFill>
              <a:srgbClr val="0B2B4E"/>
            </a:solidFill>
            <a:tailEnd type="triangle" w="med" len="med"/>
          </a:ln>
        </p:spPr>
      </p:cxnSp>
      <p:sp>
        <p:nvSpPr>
          <p:cNvPr id="45" name="s65 LAC 45"/>
          <p:cNvSpPr/>
          <p:nvPr/>
        </p:nvSpPr>
        <p:spPr>
          <a:xfrm>
            <a:off x="960120" y="3474720"/>
            <a:ext cx="2697480" cy="1371600"/>
          </a:xfrm>
          <a:custGeom>
            <a:avLst/>
            <a:gdLst/>
            <a:ahLst/>
            <a:cxnLst/>
            <a:rect l="0" t="0" r="0" b="0"/>
            <a:pathLst>
              <a:path w="100000" h="100000" fill="none">
                <a:moveTo>
                  <a:pt x="5000" y="9000"/>
                </a:moveTo>
                <a:quadBezTo>
                  <a:pt x="30000" y="84000"/>
                  <a:pt x="96000" y="82000"/>
                </a:quadBezTo>
              </a:path>
            </a:pathLst>
          </a:custGeom>
          <a:noFill/>
          <a:ln w="28575" cap="rnd">
            <a:solidFill>
              <a:srgbClr val="E09F3E"/>
            </a:solidFill>
            <a:round/>
          </a:ln>
        </p:spPr>
        <p:txBody>
          <a:bodyPr/>
          <a:lstStyle/>
          <a:p>
            <a:endParaRPr lang="en-US"/>
          </a:p>
        </p:txBody>
      </p:sp>
      <p:sp>
        <p:nvSpPr>
          <p:cNvPr id="46" name="s65 txt 46"/>
          <p:cNvSpPr txBox="1"/>
          <p:nvPr/>
        </p:nvSpPr>
        <p:spPr>
          <a:xfrm>
            <a:off x="2443734" y="4183380"/>
            <a:ext cx="731520" cy="256032"/>
          </a:xfrm>
          <a:prstGeom prst="rect">
            <a:avLst/>
          </a:prstGeom>
          <a:noFill/>
        </p:spPr>
        <p:txBody>
          <a:bodyPr wrap="square" lIns="0" tIns="0" rIns="0" bIns="0" anchor="t">
            <a:noAutofit/>
          </a:bodyPr>
          <a:lstStyle/>
          <a:p>
            <a:pPr algn="l"/>
            <a:r>
              <a:rPr lang="en-US" sz="1800" b="1" i="1" dirty="0">
                <a:solidFill>
                  <a:srgbClr val="E09F3E"/>
                </a:solidFill>
                <a:latin typeface="Calibri"/>
              </a:rPr>
              <a:t>LAC</a:t>
            </a:r>
          </a:p>
        </p:txBody>
      </p:sp>
      <p:sp>
        <p:nvSpPr>
          <p:cNvPr id="47" name="s65 txt 47"/>
          <p:cNvSpPr txBox="1"/>
          <p:nvPr/>
        </p:nvSpPr>
        <p:spPr>
          <a:xfrm>
            <a:off x="457200" y="5010912"/>
            <a:ext cx="3584448" cy="384048"/>
          </a:xfrm>
          <a:prstGeom prst="rect">
            <a:avLst/>
          </a:prstGeom>
          <a:noFill/>
        </p:spPr>
        <p:txBody>
          <a:bodyPr wrap="square" lIns="0" tIns="0" rIns="0" bIns="0" anchor="t">
            <a:noAutofit/>
          </a:bodyPr>
          <a:lstStyle/>
          <a:p>
            <a:pPr algn="ctr"/>
            <a:r>
              <a:rPr lang="en-US" sz="2000" b="1" i="0">
                <a:solidFill>
                  <a:srgbClr val="0B2B4E"/>
                </a:solidFill>
                <a:latin typeface="Calibri"/>
              </a:rPr>
              <a:t>bigger ⇒ cheaper per unit</a:t>
            </a:r>
          </a:p>
        </p:txBody>
      </p:sp>
      <p:sp>
        <p:nvSpPr>
          <p:cNvPr id="48" name="s65 txt 48"/>
          <p:cNvSpPr txBox="1"/>
          <p:nvPr/>
        </p:nvSpPr>
        <p:spPr>
          <a:xfrm>
            <a:off x="457200" y="5468112"/>
            <a:ext cx="3584448" cy="329184"/>
          </a:xfrm>
          <a:prstGeom prst="rect">
            <a:avLst/>
          </a:prstGeom>
          <a:noFill/>
        </p:spPr>
        <p:txBody>
          <a:bodyPr wrap="square" lIns="0" tIns="0" rIns="0" bIns="0" anchor="t">
            <a:noAutofit/>
          </a:bodyPr>
          <a:lstStyle/>
          <a:p>
            <a:pPr algn="ctr"/>
            <a:r>
              <a:rPr lang="en-US" sz="1600" b="0" i="1">
                <a:solidFill>
                  <a:srgbClr val="555B66"/>
                </a:solidFill>
                <a:latin typeface="Calibri"/>
              </a:rPr>
              <a:t>e.g. utilities · chip fabs</a:t>
            </a:r>
          </a:p>
        </p:txBody>
      </p:sp>
      <p:sp>
        <p:nvSpPr>
          <p:cNvPr id="49" name="s65 card 49"/>
          <p:cNvSpPr/>
          <p:nvPr/>
        </p:nvSpPr>
        <p:spPr>
          <a:xfrm>
            <a:off x="4302252" y="2606040"/>
            <a:ext cx="3584448" cy="3456432"/>
          </a:xfrm>
          <a:prstGeom prst="roundRect">
            <a:avLst>
              <a:gd name="adj" fmla="val 6000"/>
            </a:avLst>
          </a:prstGeom>
          <a:solidFill>
            <a:srgbClr val="FFFFFF"/>
          </a:solidFill>
          <a:ln w="15875">
            <a:solidFill>
              <a:srgbClr val="0B2B4E"/>
            </a:solidFill>
            <a:round/>
          </a:ln>
          <a:effectLst>
            <a:outerShdw blurRad="50800" dist="38100" dir="2700000" algn="tl" rotWithShape="0">
              <a:srgbClr val="000000">
                <a:alpha val="35000"/>
              </a:srgbClr>
            </a:outerShdw>
          </a:effectLst>
        </p:spPr>
        <p:txBody>
          <a:bodyPr/>
          <a:lstStyle/>
          <a:p>
            <a:endParaRPr lang="en-US"/>
          </a:p>
        </p:txBody>
      </p:sp>
      <p:sp>
        <p:nvSpPr>
          <p:cNvPr id="50" name="s65 txt 50"/>
          <p:cNvSpPr txBox="1"/>
          <p:nvPr/>
        </p:nvSpPr>
        <p:spPr>
          <a:xfrm>
            <a:off x="4302252" y="2770632"/>
            <a:ext cx="3584448" cy="530352"/>
          </a:xfrm>
          <a:prstGeom prst="rect">
            <a:avLst/>
          </a:prstGeom>
          <a:noFill/>
        </p:spPr>
        <p:txBody>
          <a:bodyPr wrap="square" lIns="0" tIns="0" rIns="0" bIns="0" anchor="t">
            <a:noAutofit/>
          </a:bodyPr>
          <a:lstStyle/>
          <a:p>
            <a:pPr algn="ctr"/>
            <a:r>
              <a:rPr lang="en-US" sz="2400" b="1" i="0">
                <a:solidFill>
                  <a:srgbClr val="0B2B4E"/>
                </a:solidFill>
                <a:latin typeface="Calibri"/>
              </a:rPr>
              <a:t>Constant Returns</a:t>
            </a:r>
          </a:p>
        </p:txBody>
      </p:sp>
      <p:cxnSp>
        <p:nvCxnSpPr>
          <p:cNvPr id="51" name="s65 yax 51"/>
          <p:cNvCxnSpPr/>
          <p:nvPr/>
        </p:nvCxnSpPr>
        <p:spPr>
          <a:xfrm>
            <a:off x="4805172" y="3429000"/>
            <a:ext cx="0" cy="1417320"/>
          </a:xfrm>
          <a:prstGeom prst="line">
            <a:avLst/>
          </a:prstGeom>
          <a:ln w="19050">
            <a:solidFill>
              <a:srgbClr val="0B2B4E"/>
            </a:solidFill>
            <a:headEnd type="triangle" w="med" len="med"/>
          </a:ln>
        </p:spPr>
      </p:cxnSp>
      <p:cxnSp>
        <p:nvCxnSpPr>
          <p:cNvPr id="52" name="s65 xax 52"/>
          <p:cNvCxnSpPr/>
          <p:nvPr/>
        </p:nvCxnSpPr>
        <p:spPr>
          <a:xfrm>
            <a:off x="4805172" y="4846320"/>
            <a:ext cx="2743200" cy="0"/>
          </a:xfrm>
          <a:prstGeom prst="line">
            <a:avLst/>
          </a:prstGeom>
          <a:ln w="19050">
            <a:solidFill>
              <a:srgbClr val="0B2B4E"/>
            </a:solidFill>
            <a:tailEnd type="triangle" w="med" len="med"/>
          </a:ln>
        </p:spPr>
      </p:cxnSp>
      <p:sp>
        <p:nvSpPr>
          <p:cNvPr id="53" name="s65 LAC 53"/>
          <p:cNvSpPr/>
          <p:nvPr/>
        </p:nvSpPr>
        <p:spPr>
          <a:xfrm>
            <a:off x="4805172" y="3474720"/>
            <a:ext cx="2697480" cy="1371600"/>
          </a:xfrm>
          <a:custGeom>
            <a:avLst/>
            <a:gdLst/>
            <a:ahLst/>
            <a:cxnLst/>
            <a:rect l="0" t="0" r="0" b="0"/>
            <a:pathLst>
              <a:path w="100000" h="100000" fill="none">
                <a:moveTo>
                  <a:pt x="6000" y="50000"/>
                </a:moveTo>
                <a:lnTo>
                  <a:pt x="96000" y="50000"/>
                </a:lnTo>
              </a:path>
            </a:pathLst>
          </a:custGeom>
          <a:noFill/>
          <a:ln w="28575" cap="rnd">
            <a:solidFill>
              <a:srgbClr val="E09F3E"/>
            </a:solidFill>
            <a:round/>
          </a:ln>
        </p:spPr>
        <p:txBody>
          <a:bodyPr/>
          <a:lstStyle/>
          <a:p>
            <a:endParaRPr lang="en-US"/>
          </a:p>
        </p:txBody>
      </p:sp>
      <p:sp>
        <p:nvSpPr>
          <p:cNvPr id="54" name="s65 txt 54"/>
          <p:cNvSpPr txBox="1"/>
          <p:nvPr/>
        </p:nvSpPr>
        <p:spPr>
          <a:xfrm>
            <a:off x="6019038" y="3858768"/>
            <a:ext cx="731520" cy="256032"/>
          </a:xfrm>
          <a:prstGeom prst="rect">
            <a:avLst/>
          </a:prstGeom>
          <a:noFill/>
        </p:spPr>
        <p:txBody>
          <a:bodyPr wrap="square" lIns="0" tIns="0" rIns="0" bIns="0" anchor="t">
            <a:noAutofit/>
          </a:bodyPr>
          <a:lstStyle/>
          <a:p>
            <a:pPr algn="l"/>
            <a:r>
              <a:rPr lang="en-US" sz="1800" b="1" i="1">
                <a:solidFill>
                  <a:srgbClr val="E09F3E"/>
                </a:solidFill>
                <a:latin typeface="Calibri"/>
              </a:rPr>
              <a:t>LAC</a:t>
            </a:r>
          </a:p>
        </p:txBody>
      </p:sp>
      <p:sp>
        <p:nvSpPr>
          <p:cNvPr id="55" name="s65 txt 55"/>
          <p:cNvSpPr txBox="1"/>
          <p:nvPr/>
        </p:nvSpPr>
        <p:spPr>
          <a:xfrm>
            <a:off x="4302252" y="5010912"/>
            <a:ext cx="3584448" cy="384048"/>
          </a:xfrm>
          <a:prstGeom prst="rect">
            <a:avLst/>
          </a:prstGeom>
          <a:noFill/>
        </p:spPr>
        <p:txBody>
          <a:bodyPr wrap="square" lIns="0" tIns="0" rIns="0" bIns="0" anchor="t">
            <a:noAutofit/>
          </a:bodyPr>
          <a:lstStyle/>
          <a:p>
            <a:pPr algn="ctr"/>
            <a:r>
              <a:rPr lang="en-US" sz="2000" b="1" i="0" dirty="0">
                <a:solidFill>
                  <a:srgbClr val="0B2B4E"/>
                </a:solidFill>
                <a:latin typeface="Calibri"/>
              </a:rPr>
              <a:t>scale doesn’t matter</a:t>
            </a:r>
          </a:p>
        </p:txBody>
      </p:sp>
      <p:sp>
        <p:nvSpPr>
          <p:cNvPr id="56" name="s65 txt 56"/>
          <p:cNvSpPr txBox="1"/>
          <p:nvPr/>
        </p:nvSpPr>
        <p:spPr>
          <a:xfrm>
            <a:off x="4302252" y="5468112"/>
            <a:ext cx="3584448" cy="329184"/>
          </a:xfrm>
          <a:prstGeom prst="rect">
            <a:avLst/>
          </a:prstGeom>
          <a:noFill/>
        </p:spPr>
        <p:txBody>
          <a:bodyPr wrap="square" lIns="0" tIns="0" rIns="0" bIns="0" anchor="t">
            <a:noAutofit/>
          </a:bodyPr>
          <a:lstStyle/>
          <a:p>
            <a:pPr algn="ctr"/>
            <a:r>
              <a:rPr lang="en-US" sz="1600" b="0" i="1">
                <a:solidFill>
                  <a:srgbClr val="555B66"/>
                </a:solidFill>
                <a:latin typeface="Calibri"/>
              </a:rPr>
              <a:t>e.g. identical outlets</a:t>
            </a:r>
          </a:p>
        </p:txBody>
      </p:sp>
      <p:sp>
        <p:nvSpPr>
          <p:cNvPr id="57" name="s65 card 57"/>
          <p:cNvSpPr/>
          <p:nvPr/>
        </p:nvSpPr>
        <p:spPr>
          <a:xfrm>
            <a:off x="8147304" y="2606040"/>
            <a:ext cx="3584448" cy="3456432"/>
          </a:xfrm>
          <a:prstGeom prst="roundRect">
            <a:avLst>
              <a:gd name="adj" fmla="val 6000"/>
            </a:avLst>
          </a:prstGeom>
          <a:solidFill>
            <a:srgbClr val="FFFFFF"/>
          </a:solidFill>
          <a:ln w="15875">
            <a:solidFill>
              <a:srgbClr val="0B2B4E"/>
            </a:solidFill>
            <a:round/>
          </a:ln>
          <a:effectLst>
            <a:outerShdw blurRad="50800" dist="38100" dir="2700000" algn="tl" rotWithShape="0">
              <a:srgbClr val="000000">
                <a:alpha val="35000"/>
              </a:srgbClr>
            </a:outerShdw>
          </a:effectLst>
        </p:spPr>
        <p:txBody>
          <a:bodyPr/>
          <a:lstStyle/>
          <a:p>
            <a:endParaRPr lang="en-US"/>
          </a:p>
        </p:txBody>
      </p:sp>
      <p:sp>
        <p:nvSpPr>
          <p:cNvPr id="58" name="s65 txt 58"/>
          <p:cNvSpPr txBox="1"/>
          <p:nvPr/>
        </p:nvSpPr>
        <p:spPr>
          <a:xfrm>
            <a:off x="8147304" y="2770632"/>
            <a:ext cx="3584448" cy="530352"/>
          </a:xfrm>
          <a:prstGeom prst="rect">
            <a:avLst/>
          </a:prstGeom>
          <a:noFill/>
        </p:spPr>
        <p:txBody>
          <a:bodyPr wrap="square" lIns="0" tIns="0" rIns="0" bIns="0" anchor="t">
            <a:noAutofit/>
          </a:bodyPr>
          <a:lstStyle/>
          <a:p>
            <a:pPr algn="ctr"/>
            <a:r>
              <a:rPr lang="en-US" sz="2400" b="1" i="0">
                <a:solidFill>
                  <a:srgbClr val="0B2B4E"/>
                </a:solidFill>
                <a:latin typeface="Calibri"/>
              </a:rPr>
              <a:t>Diseconomies of Scale</a:t>
            </a:r>
          </a:p>
        </p:txBody>
      </p:sp>
      <p:cxnSp>
        <p:nvCxnSpPr>
          <p:cNvPr id="59" name="s65 yax 59"/>
          <p:cNvCxnSpPr/>
          <p:nvPr/>
        </p:nvCxnSpPr>
        <p:spPr>
          <a:xfrm>
            <a:off x="8650224" y="3429000"/>
            <a:ext cx="0" cy="1417320"/>
          </a:xfrm>
          <a:prstGeom prst="line">
            <a:avLst/>
          </a:prstGeom>
          <a:ln w="19050">
            <a:solidFill>
              <a:srgbClr val="0B2B4E"/>
            </a:solidFill>
            <a:headEnd type="triangle" w="med" len="med"/>
          </a:ln>
        </p:spPr>
      </p:cxnSp>
      <p:cxnSp>
        <p:nvCxnSpPr>
          <p:cNvPr id="60" name="s65 xax 60"/>
          <p:cNvCxnSpPr/>
          <p:nvPr/>
        </p:nvCxnSpPr>
        <p:spPr>
          <a:xfrm>
            <a:off x="8650224" y="4846320"/>
            <a:ext cx="2743200" cy="0"/>
          </a:xfrm>
          <a:prstGeom prst="line">
            <a:avLst/>
          </a:prstGeom>
          <a:ln w="19050">
            <a:solidFill>
              <a:srgbClr val="0B2B4E"/>
            </a:solidFill>
            <a:tailEnd type="triangle" w="med" len="med"/>
          </a:ln>
        </p:spPr>
      </p:cxnSp>
      <p:sp>
        <p:nvSpPr>
          <p:cNvPr id="61" name="s65 LAC 61"/>
          <p:cNvSpPr/>
          <p:nvPr/>
        </p:nvSpPr>
        <p:spPr>
          <a:xfrm>
            <a:off x="8650224" y="3474720"/>
            <a:ext cx="2697480" cy="1371600"/>
          </a:xfrm>
          <a:custGeom>
            <a:avLst/>
            <a:gdLst/>
            <a:ahLst/>
            <a:cxnLst/>
            <a:rect l="0" t="0" r="0" b="0"/>
            <a:pathLst>
              <a:path w="100000" h="100000" fill="none">
                <a:moveTo>
                  <a:pt x="5000" y="82000"/>
                </a:moveTo>
                <a:quadBezTo>
                  <a:pt x="62000" y="80000"/>
                  <a:pt x="96000" y="12000"/>
                </a:quadBezTo>
              </a:path>
            </a:pathLst>
          </a:custGeom>
          <a:noFill/>
          <a:ln w="28575" cap="rnd">
            <a:solidFill>
              <a:srgbClr val="E09F3E"/>
            </a:solidFill>
            <a:round/>
          </a:ln>
        </p:spPr>
        <p:txBody>
          <a:bodyPr/>
          <a:lstStyle/>
          <a:p>
            <a:endParaRPr lang="en-US"/>
          </a:p>
        </p:txBody>
      </p:sp>
      <p:sp>
        <p:nvSpPr>
          <p:cNvPr id="62" name="s65 txt 62"/>
          <p:cNvSpPr txBox="1"/>
          <p:nvPr/>
        </p:nvSpPr>
        <p:spPr>
          <a:xfrm>
            <a:off x="9944639" y="4009644"/>
            <a:ext cx="731520" cy="256032"/>
          </a:xfrm>
          <a:prstGeom prst="rect">
            <a:avLst/>
          </a:prstGeom>
          <a:noFill/>
        </p:spPr>
        <p:txBody>
          <a:bodyPr wrap="square" lIns="0" tIns="0" rIns="0" bIns="0" anchor="t">
            <a:noAutofit/>
          </a:bodyPr>
          <a:lstStyle/>
          <a:p>
            <a:pPr algn="l"/>
            <a:r>
              <a:rPr lang="en-US" sz="1800" b="1" i="1" dirty="0">
                <a:solidFill>
                  <a:srgbClr val="E09F3E"/>
                </a:solidFill>
                <a:latin typeface="Calibri"/>
              </a:rPr>
              <a:t>LAC</a:t>
            </a:r>
          </a:p>
        </p:txBody>
      </p:sp>
      <p:sp>
        <p:nvSpPr>
          <p:cNvPr id="63" name="s65 txt 63"/>
          <p:cNvSpPr txBox="1"/>
          <p:nvPr/>
        </p:nvSpPr>
        <p:spPr>
          <a:xfrm>
            <a:off x="8147304" y="5010912"/>
            <a:ext cx="3584448" cy="384048"/>
          </a:xfrm>
          <a:prstGeom prst="rect">
            <a:avLst/>
          </a:prstGeom>
          <a:noFill/>
        </p:spPr>
        <p:txBody>
          <a:bodyPr wrap="square" lIns="0" tIns="0" rIns="0" bIns="0" anchor="t">
            <a:noAutofit/>
          </a:bodyPr>
          <a:lstStyle/>
          <a:p>
            <a:pPr algn="ctr"/>
            <a:r>
              <a:rPr lang="en-US" sz="2000" b="1" i="0">
                <a:solidFill>
                  <a:srgbClr val="0B2B4E"/>
                </a:solidFill>
                <a:latin typeface="Calibri"/>
              </a:rPr>
              <a:t>too big to manage</a:t>
            </a:r>
          </a:p>
        </p:txBody>
      </p:sp>
      <p:sp>
        <p:nvSpPr>
          <p:cNvPr id="64" name="s65 txt 64"/>
          <p:cNvSpPr txBox="1"/>
          <p:nvPr/>
        </p:nvSpPr>
        <p:spPr>
          <a:xfrm>
            <a:off x="8147304" y="5468112"/>
            <a:ext cx="3584448" cy="329184"/>
          </a:xfrm>
          <a:prstGeom prst="rect">
            <a:avLst/>
          </a:prstGeom>
          <a:noFill/>
        </p:spPr>
        <p:txBody>
          <a:bodyPr wrap="square" lIns="0" tIns="0" rIns="0" bIns="0" anchor="t">
            <a:noAutofit/>
          </a:bodyPr>
          <a:lstStyle/>
          <a:p>
            <a:pPr algn="ctr"/>
            <a:r>
              <a:rPr lang="en-US" sz="1600" b="0" i="1">
                <a:solidFill>
                  <a:srgbClr val="555B66"/>
                </a:solidFill>
                <a:latin typeface="Calibri"/>
              </a:rPr>
              <a:t>e.g. sprawling firms</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7" name="TextBox 16"/>
          <p:cNvSpPr txBox="1"/>
          <p:nvPr/>
        </p:nvSpPr>
        <p:spPr>
          <a:xfrm>
            <a:off x="11430000" y="6583680"/>
            <a:ext cx="548640" cy="292608"/>
          </a:xfrm>
          <a:prstGeom prst="rect">
            <a:avLst/>
          </a:prstGeom>
          <a:noFill/>
        </p:spPr>
        <p:txBody>
          <a:bodyPr wrap="square" lIns="0" tIns="0" rIns="0" bIns="0">
            <a:spAutoFit/>
          </a:bodyPr>
          <a:lstStyle/>
          <a:p>
            <a:pPr algn="r"/>
            <a:fld id="{4B4D79B1-889E-4CAD-BA73-AFEDD3BDBAAC}" type="slidenum">
              <a:rPr sz="1200" b="0" i="0">
                <a:solidFill>
                  <a:srgbClr val="555B66"/>
                </a:solidFill>
                <a:latin typeface="Calibri"/>
              </a:rPr>
              <a:t>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par>
                                <p:cTn id="20" presetID="10" presetClass="entr" presetSubtype="0" fill="hold"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par>
                                <p:cTn id="23" presetID="10"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par>
                                <p:cTn id="26" presetID="10" presetClass="entr" presetSubtype="0" fill="hold"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par>
                                <p:cTn id="34" presetID="10" presetClass="entr" presetSubtype="0" fill="hold" nodeType="with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par>
                                <p:cTn id="37" presetID="10"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fade">
                                      <p:cBhvr>
                                        <p:cTn id="39" dur="500"/>
                                        <p:tgtEl>
                                          <p:spTgt spid="51"/>
                                        </p:tgtEl>
                                      </p:cBhvr>
                                    </p:animEffect>
                                  </p:childTnLst>
                                </p:cTn>
                              </p:par>
                              <p:par>
                                <p:cTn id="40" presetID="10" presetClass="entr" presetSubtype="0" fill="hold" nodeType="with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500"/>
                                        <p:tgtEl>
                                          <p:spTgt spid="52"/>
                                        </p:tgtEl>
                                      </p:cBhvr>
                                    </p:animEffect>
                                  </p:childTnLst>
                                </p:cTn>
                              </p:par>
                              <p:par>
                                <p:cTn id="43" presetID="10" presetClass="entr" presetSubtype="0" fill="hold" nodeType="with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par>
                                <p:cTn id="52" presetID="10" presetClass="entr" presetSubtype="0" fill="hold" nodeType="with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fade">
                                      <p:cBhvr>
                                        <p:cTn id="59" dur="500"/>
                                        <p:tgtEl>
                                          <p:spTgt spid="57"/>
                                        </p:tgtEl>
                                      </p:cBhvr>
                                    </p:animEffect>
                                  </p:childTnLst>
                                </p:cTn>
                              </p:par>
                              <p:par>
                                <p:cTn id="60" presetID="10" presetClass="entr" presetSubtype="0" fill="hold"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fade">
                                      <p:cBhvr>
                                        <p:cTn id="62" dur="500"/>
                                        <p:tgtEl>
                                          <p:spTgt spid="58"/>
                                        </p:tgtEl>
                                      </p:cBhvr>
                                    </p:animEffect>
                                  </p:childTnLst>
                                </p:cTn>
                              </p:par>
                              <p:par>
                                <p:cTn id="63" presetID="10" presetClass="entr" presetSubtype="0"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fade">
                                      <p:cBhvr>
                                        <p:cTn id="65" dur="500"/>
                                        <p:tgtEl>
                                          <p:spTgt spid="59"/>
                                        </p:tgtEl>
                                      </p:cBhvr>
                                    </p:animEffect>
                                  </p:childTnLst>
                                </p:cTn>
                              </p:par>
                              <p:par>
                                <p:cTn id="66" presetID="10" presetClass="entr" presetSubtype="0" fill="hold" nodeType="with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fade">
                                      <p:cBhvr>
                                        <p:cTn id="68" dur="500"/>
                                        <p:tgtEl>
                                          <p:spTgt spid="60"/>
                                        </p:tgtEl>
                                      </p:cBhvr>
                                    </p:animEffect>
                                  </p:childTnLst>
                                </p:cTn>
                              </p:par>
                              <p:par>
                                <p:cTn id="69" presetID="10" presetClass="entr" presetSubtype="0" fill="hold" nodeType="with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fade">
                                      <p:cBhvr>
                                        <p:cTn id="71" dur="500"/>
                                        <p:tgtEl>
                                          <p:spTgt spid="61"/>
                                        </p:tgtEl>
                                      </p:cBhvr>
                                    </p:animEffect>
                                  </p:childTnLst>
                                </p:cTn>
                              </p:par>
                              <p:par>
                                <p:cTn id="72" presetID="10" presetClass="entr" presetSubtype="0" fill="hold" nodeType="with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fade">
                                      <p:cBhvr>
                                        <p:cTn id="74" dur="500"/>
                                        <p:tgtEl>
                                          <p:spTgt spid="62"/>
                                        </p:tgtEl>
                                      </p:cBhvr>
                                    </p:animEffect>
                                  </p:childTnLst>
                                </p:cTn>
                              </p:par>
                              <p:par>
                                <p:cTn id="75" presetID="10" presetClass="entr" presetSubtype="0" fill="hold"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500"/>
                                        <p:tgtEl>
                                          <p:spTgt spid="63"/>
                                        </p:tgtEl>
                                      </p:cBhvr>
                                    </p:animEffect>
                                  </p:childTnLst>
                                </p:cTn>
                              </p:par>
                              <p:par>
                                <p:cTn id="78" presetID="10" presetClass="entr" presetSubtype="0" fill="hold" nodeType="withEffect">
                                  <p:stCondLst>
                                    <p:cond delay="0"/>
                                  </p:stCondLst>
                                  <p:childTnLst>
                                    <p:set>
                                      <p:cBhvr>
                                        <p:cTn id="79" dur="1" fill="hold">
                                          <p:stCondLst>
                                            <p:cond delay="0"/>
                                          </p:stCondLst>
                                        </p:cTn>
                                        <p:tgtEl>
                                          <p:spTgt spid="64"/>
                                        </p:tgtEl>
                                        <p:attrNameLst>
                                          <p:attrName>style.visibility</p:attrName>
                                        </p:attrNameLst>
                                      </p:cBhvr>
                                      <p:to>
                                        <p:strVal val="visible"/>
                                      </p:to>
                                    </p:set>
                                    <p:animEffect transition="in" filter="fade">
                                      <p:cBhvr>
                                        <p:cTn id="8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Technological Reasons for Economies of Scale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385542"/>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sz="2800" dirty="0">
                <a:latin typeface="Calibri"/>
              </a:rPr>
              <a:t>Speciali</a:t>
            </a:r>
            <a:r>
              <a:rPr lang="en-US" sz="2800" dirty="0">
                <a:latin typeface="Calibri"/>
              </a:rPr>
              <a:t>z</a:t>
            </a:r>
            <a:r>
              <a:rPr sz="2800" dirty="0">
                <a:latin typeface="Calibri"/>
              </a:rPr>
              <a:t>ation and division of labor</a:t>
            </a:r>
          </a:p>
          <a:p>
            <a:pPr lvl="1" algn="l"/>
            <a:r>
              <a:rPr sz="2400" dirty="0">
                <a:latin typeface="Calibri"/>
              </a:rPr>
              <a:t>E.g., Ford assembly line vs. one craftsman building the whole car</a:t>
            </a:r>
          </a:p>
          <a:p>
            <a:pPr algn="l">
              <a:spcBef>
                <a:spcPts val="1800"/>
              </a:spcBef>
            </a:pPr>
            <a:r>
              <a:rPr sz="2800" dirty="0">
                <a:latin typeface="Calibri"/>
              </a:rPr>
              <a:t>Lumpiness / indivisibilities of inputs</a:t>
            </a:r>
          </a:p>
          <a:p>
            <a:pPr lvl="1" algn="l"/>
            <a:r>
              <a:rPr sz="2400" dirty="0">
                <a:latin typeface="Calibri"/>
              </a:rPr>
              <a:t>R&amp;D, network infrastructure, brand investment</a:t>
            </a:r>
          </a:p>
          <a:p>
            <a:pPr lvl="1" algn="l"/>
            <a:r>
              <a:rPr sz="2400" dirty="0">
                <a:latin typeface="Calibri"/>
              </a:rPr>
              <a:t>Same fixed asset serves more customers as scale grows</a:t>
            </a:r>
          </a:p>
          <a:p>
            <a:pPr algn="l">
              <a:spcBef>
                <a:spcPts val="1800"/>
              </a:spcBef>
            </a:pPr>
            <a:r>
              <a:rPr sz="2800" dirty="0">
                <a:latin typeface="Calibri"/>
              </a:rPr>
              <a:t>Appropriate technology shifts with scale</a:t>
            </a:r>
          </a:p>
          <a:p>
            <a:pPr lvl="1" algn="l"/>
            <a:r>
              <a:rPr sz="2400" dirty="0">
                <a:latin typeface="Calibri"/>
              </a:rPr>
              <a:t>Big firms can run dedicated lines, automation, AI/data infra</a:t>
            </a:r>
            <a:r>
              <a:rPr lang="en-US" sz="2400" dirty="0">
                <a:latin typeface="Calibri"/>
              </a:rPr>
              <a:t>structure</a:t>
            </a:r>
            <a:endParaRPr sz="2400" dirty="0">
              <a:latin typeface="Calibri"/>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tIns="0" rIns="0" bIns="0">
            <a:spAutoFit/>
          </a:bodyPr>
          <a:lstStyle/>
          <a:p>
            <a:pPr algn="r"/>
            <a:fld id="{6CB70AA0-EF45-4243-BEAE-1F2FCE11C533}"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4"/>
                                            </p:txEl>
                                          </p:spTgt>
                                        </p:tgtEl>
                                        <p:attrNameLst>
                                          <p:attrName>style.visibility</p:attrName>
                                        </p:attrNameLst>
                                      </p:cBhvr>
                                      <p:to>
                                        <p:strVal val="visible"/>
                                      </p:to>
                                    </p:set>
                                    <p:animEffect transition="in" filter="fade">
                                      <p:cBhvr>
                                        <p:cTn id="7" dur="500"/>
                                        <p:tgtEl>
                                          <p:spTgt spid="7">
                                            <p:txEl>
                                              <p:pRg st="2"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5" end="6"/>
                                            </p:txEl>
                                          </p:spTgt>
                                        </p:tgtEl>
                                        <p:attrNameLst>
                                          <p:attrName>style.visibility</p:attrName>
                                        </p:attrNameLst>
                                      </p:cBhvr>
                                      <p:to>
                                        <p:strVal val="visible"/>
                                      </p:to>
                                    </p:set>
                                    <p:animEffect transition="in" filter="fade">
                                      <p:cBhvr>
                                        <p:cTn id="12" dur="500"/>
                                        <p:tgtEl>
                                          <p:spTgt spid="7">
                                            <p:txEl>
                                              <p:pRg st="5"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Economies of Scale in Aviation:  E175 vs. 787</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72287" y="1783080"/>
            <a:ext cx="5486400" cy="4023360"/>
          </a:xfrm>
          <a:prstGeom prst="roundRect">
            <a:avLst>
              <a:gd name="adj" fmla="val 6000"/>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472287" y="1874520"/>
            <a:ext cx="5486400" cy="365760"/>
          </a:xfrm>
          <a:prstGeom prst="rect">
            <a:avLst/>
          </a:prstGeom>
          <a:noFill/>
        </p:spPr>
        <p:txBody>
          <a:bodyPr wrap="square" lIns="0" tIns="0" rIns="0" bIns="0">
            <a:spAutoFit/>
          </a:bodyPr>
          <a:lstStyle/>
          <a:p>
            <a:pPr algn="ctr"/>
            <a:r>
              <a:rPr sz="2400" b="1" i="0">
                <a:solidFill>
                  <a:srgbClr val="0B2B4E"/>
                </a:solidFill>
                <a:latin typeface="Calibri"/>
              </a:rPr>
              <a:t>Embraer E175  ·  Regional Jet</a:t>
            </a:r>
          </a:p>
        </p:txBody>
      </p:sp>
      <p:pic>
        <p:nvPicPr>
          <p:cNvPr id="9" name="Picture 8" descr="slide69_rId1.png"/>
          <p:cNvPicPr>
            <a:picLocks noChangeAspect="1"/>
          </p:cNvPicPr>
          <p:nvPr/>
        </p:nvPicPr>
        <p:blipFill>
          <a:blip r:embed="rId3"/>
          <a:stretch>
            <a:fillRect/>
          </a:stretch>
        </p:blipFill>
        <p:spPr>
          <a:xfrm>
            <a:off x="2203704" y="2542032"/>
            <a:ext cx="2011680" cy="978408"/>
          </a:xfrm>
          <a:prstGeom prst="roundRect">
            <a:avLst>
              <a:gd name="adj" fmla="val 6000"/>
            </a:avLst>
          </a:prstGeom>
          <a:effectLst>
            <a:outerShdw blurRad="50800" dist="38100" dir="2700000" algn="tl" rotWithShape="0">
              <a:srgbClr val="000000">
                <a:alpha val="50000"/>
              </a:srgbClr>
            </a:outerShdw>
          </a:effectLst>
        </p:spPr>
      </p:pic>
      <p:sp>
        <p:nvSpPr>
          <p:cNvPr id="10" name="TextBox 9"/>
          <p:cNvSpPr txBox="1"/>
          <p:nvPr/>
        </p:nvSpPr>
        <p:spPr>
          <a:xfrm>
            <a:off x="838047" y="3931920"/>
            <a:ext cx="4754880" cy="320040"/>
          </a:xfrm>
          <a:prstGeom prst="rect">
            <a:avLst/>
          </a:prstGeom>
          <a:noFill/>
        </p:spPr>
        <p:txBody>
          <a:bodyPr wrap="square" lIns="0" tIns="0" rIns="0" bIns="0">
            <a:spAutoFit/>
          </a:bodyPr>
          <a:lstStyle/>
          <a:p>
            <a:pPr algn="l"/>
            <a:r>
              <a:rPr sz="2000" b="0" i="0" dirty="0">
                <a:solidFill>
                  <a:srgbClr val="0B2B4E"/>
                </a:solidFill>
                <a:latin typeface="Calibri"/>
              </a:rPr>
              <a:t>List price:    ~ $50 M</a:t>
            </a:r>
          </a:p>
        </p:txBody>
      </p:sp>
      <p:sp>
        <p:nvSpPr>
          <p:cNvPr id="11" name="TextBox 10"/>
          <p:cNvSpPr txBox="1"/>
          <p:nvPr/>
        </p:nvSpPr>
        <p:spPr>
          <a:xfrm>
            <a:off x="838047" y="4370832"/>
            <a:ext cx="4754880" cy="320040"/>
          </a:xfrm>
          <a:prstGeom prst="rect">
            <a:avLst/>
          </a:prstGeom>
          <a:noFill/>
        </p:spPr>
        <p:txBody>
          <a:bodyPr wrap="square" lIns="0" tIns="0" rIns="0" bIns="0">
            <a:spAutoFit/>
          </a:bodyPr>
          <a:lstStyle/>
          <a:p>
            <a:pPr algn="l"/>
            <a:r>
              <a:rPr sz="2000" b="0" i="0">
                <a:solidFill>
                  <a:srgbClr val="0B2B4E"/>
                </a:solidFill>
                <a:latin typeface="Calibri"/>
              </a:rPr>
              <a:t>Seats:           76 passengers</a:t>
            </a:r>
          </a:p>
        </p:txBody>
      </p:sp>
      <p:sp>
        <p:nvSpPr>
          <p:cNvPr id="13" name="TextBox 12"/>
          <p:cNvSpPr txBox="1"/>
          <p:nvPr/>
        </p:nvSpPr>
        <p:spPr>
          <a:xfrm>
            <a:off x="838047" y="5248656"/>
            <a:ext cx="4937760" cy="320040"/>
          </a:xfrm>
          <a:prstGeom prst="rect">
            <a:avLst/>
          </a:prstGeom>
          <a:noFill/>
        </p:spPr>
        <p:txBody>
          <a:bodyPr wrap="square" lIns="0" tIns="0" rIns="0" bIns="0">
            <a:spAutoFit/>
          </a:bodyPr>
          <a:lstStyle/>
          <a:p>
            <a:pPr algn="l"/>
            <a:r>
              <a:rPr sz="2000" b="1" i="0">
                <a:solidFill>
                  <a:srgbClr val="0B2B4E"/>
                </a:solidFill>
                <a:latin typeface="Calibri"/>
              </a:rPr>
              <a:t>Cost per Available Seat-Mile (CASM):  ≈ 15¢</a:t>
            </a:r>
          </a:p>
        </p:txBody>
      </p:sp>
      <p:sp>
        <p:nvSpPr>
          <p:cNvPr id="60" name="TextBox 40"/>
          <p:cNvSpPr txBox="1"/>
          <p:nvPr/>
        </p:nvSpPr>
        <p:spPr>
          <a:xfrm>
            <a:off x="838505" y="4809744"/>
            <a:ext cx="4754880" cy="320040"/>
          </a:xfrm>
          <a:prstGeom prst="rect">
            <a:avLst/>
          </a:prstGeom>
          <a:noFill/>
        </p:spPr>
        <p:txBody>
          <a:bodyPr wrap="square" lIns="0" tIns="0" rIns="0" bIns="0">
            <a:spAutoFit/>
          </a:bodyPr>
          <a:lstStyle/>
          <a:p>
            <a:pPr algn="l"/>
            <a:r>
              <a:rPr sz="2000" b="0" i="0">
                <a:solidFill>
                  <a:srgbClr val="0B2B4E"/>
                </a:solidFill>
                <a:latin typeface="Calibri"/>
              </a:rPr>
              <a:t>Avg. stage length:    ~ 500 mi</a:t>
            </a:r>
          </a:p>
        </p:txBody>
      </p:sp>
      <p:sp>
        <p:nvSpPr>
          <p:cNvPr id="14" name="Rounded Rectangle 13"/>
          <p:cNvSpPr/>
          <p:nvPr/>
        </p:nvSpPr>
        <p:spPr>
          <a:xfrm>
            <a:off x="6233007" y="1783080"/>
            <a:ext cx="5486400" cy="4023360"/>
          </a:xfrm>
          <a:prstGeom prst="roundRect">
            <a:avLst>
              <a:gd name="adj" fmla="val 6000"/>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233007" y="1874520"/>
            <a:ext cx="5486400" cy="365760"/>
          </a:xfrm>
          <a:prstGeom prst="rect">
            <a:avLst/>
          </a:prstGeom>
          <a:noFill/>
        </p:spPr>
        <p:txBody>
          <a:bodyPr wrap="square" lIns="0" tIns="0" rIns="0" bIns="0">
            <a:spAutoFit/>
          </a:bodyPr>
          <a:lstStyle/>
          <a:p>
            <a:pPr algn="ctr"/>
            <a:r>
              <a:rPr sz="2400" b="1" i="0" dirty="0">
                <a:solidFill>
                  <a:srgbClr val="0B2B4E"/>
                </a:solidFill>
                <a:latin typeface="Calibri"/>
              </a:rPr>
              <a:t>Boeing 787-9  ·  Wide-Body</a:t>
            </a:r>
          </a:p>
        </p:txBody>
      </p:sp>
      <p:pic>
        <p:nvPicPr>
          <p:cNvPr id="16" name="Picture 15" descr="slide69_rId2.jpg"/>
          <p:cNvPicPr>
            <a:picLocks noChangeAspect="1"/>
          </p:cNvPicPr>
          <p:nvPr/>
        </p:nvPicPr>
        <p:blipFill>
          <a:blip r:embed="rId4"/>
          <a:srcRect l="3000" t="12000" r="3000" b="32000"/>
          <a:stretch>
            <a:fillRect/>
          </a:stretch>
        </p:blipFill>
        <p:spPr>
          <a:xfrm>
            <a:off x="7013448" y="2359152"/>
            <a:ext cx="3931920" cy="1335024"/>
          </a:xfrm>
          <a:prstGeom prst="roundRect">
            <a:avLst>
              <a:gd name="adj" fmla="val 6000"/>
            </a:avLst>
          </a:prstGeom>
          <a:effectLst>
            <a:outerShdw blurRad="50800" dist="38100" dir="2700000" algn="tl" rotWithShape="0">
              <a:srgbClr val="000000">
                <a:alpha val="50000"/>
              </a:srgbClr>
            </a:outerShdw>
          </a:effectLst>
        </p:spPr>
      </p:pic>
      <p:sp>
        <p:nvSpPr>
          <p:cNvPr id="17" name="TextBox 16"/>
          <p:cNvSpPr txBox="1"/>
          <p:nvPr/>
        </p:nvSpPr>
        <p:spPr>
          <a:xfrm>
            <a:off x="6598767" y="3931920"/>
            <a:ext cx="4754880" cy="320040"/>
          </a:xfrm>
          <a:prstGeom prst="rect">
            <a:avLst/>
          </a:prstGeom>
          <a:noFill/>
        </p:spPr>
        <p:txBody>
          <a:bodyPr wrap="square" lIns="0" tIns="0" rIns="0" bIns="0">
            <a:spAutoFit/>
          </a:bodyPr>
          <a:lstStyle/>
          <a:p>
            <a:pPr algn="l"/>
            <a:r>
              <a:rPr sz="2000" b="0" i="0">
                <a:solidFill>
                  <a:srgbClr val="0B2B4E"/>
                </a:solidFill>
                <a:latin typeface="Calibri"/>
              </a:rPr>
              <a:t>List price:    ~ $290 M</a:t>
            </a:r>
          </a:p>
        </p:txBody>
      </p:sp>
      <p:sp>
        <p:nvSpPr>
          <p:cNvPr id="18" name="TextBox 17"/>
          <p:cNvSpPr txBox="1"/>
          <p:nvPr/>
        </p:nvSpPr>
        <p:spPr>
          <a:xfrm>
            <a:off x="6598767" y="4370832"/>
            <a:ext cx="4754880" cy="320040"/>
          </a:xfrm>
          <a:prstGeom prst="rect">
            <a:avLst/>
          </a:prstGeom>
          <a:noFill/>
        </p:spPr>
        <p:txBody>
          <a:bodyPr wrap="square" lIns="0" tIns="0" rIns="0" bIns="0">
            <a:spAutoFit/>
          </a:bodyPr>
          <a:lstStyle/>
          <a:p>
            <a:pPr algn="l"/>
            <a:r>
              <a:rPr sz="2000" b="0" i="0">
                <a:solidFill>
                  <a:srgbClr val="0B2B4E"/>
                </a:solidFill>
                <a:latin typeface="Calibri"/>
              </a:rPr>
              <a:t>Seats:           ~ 290 passengers</a:t>
            </a:r>
          </a:p>
        </p:txBody>
      </p:sp>
      <p:sp>
        <p:nvSpPr>
          <p:cNvPr id="20" name="TextBox 19"/>
          <p:cNvSpPr txBox="1"/>
          <p:nvPr/>
        </p:nvSpPr>
        <p:spPr>
          <a:xfrm>
            <a:off x="6598767" y="5248656"/>
            <a:ext cx="4937760" cy="320040"/>
          </a:xfrm>
          <a:prstGeom prst="rect">
            <a:avLst/>
          </a:prstGeom>
          <a:noFill/>
        </p:spPr>
        <p:txBody>
          <a:bodyPr wrap="square" lIns="0" tIns="0" rIns="0" bIns="0">
            <a:spAutoFit/>
          </a:bodyPr>
          <a:lstStyle/>
          <a:p>
            <a:pPr algn="l"/>
            <a:r>
              <a:rPr sz="2000" b="1" i="0">
                <a:solidFill>
                  <a:srgbClr val="0B2B4E"/>
                </a:solidFill>
                <a:latin typeface="Calibri"/>
              </a:rPr>
              <a:t>Cost per Available Seat-Mile (CASM):  ≈ 9¢</a:t>
            </a:r>
          </a:p>
        </p:txBody>
      </p:sp>
      <p:sp>
        <p:nvSpPr>
          <p:cNvPr id="61" name="TextBox 41"/>
          <p:cNvSpPr txBox="1"/>
          <p:nvPr/>
        </p:nvSpPr>
        <p:spPr>
          <a:xfrm>
            <a:off x="6599225" y="4809744"/>
            <a:ext cx="4754880" cy="320040"/>
          </a:xfrm>
          <a:prstGeom prst="rect">
            <a:avLst/>
          </a:prstGeom>
          <a:noFill/>
        </p:spPr>
        <p:txBody>
          <a:bodyPr wrap="square" lIns="0" tIns="0" rIns="0" bIns="0">
            <a:spAutoFit/>
          </a:bodyPr>
          <a:lstStyle/>
          <a:p>
            <a:pPr algn="l"/>
            <a:r>
              <a:rPr sz="2000" b="0" i="0">
                <a:solidFill>
                  <a:srgbClr val="0B2B4E"/>
                </a:solidFill>
                <a:latin typeface="Calibri"/>
              </a:rPr>
              <a:t>Avg. stage length:    ~ 6,500 mi</a:t>
            </a:r>
          </a:p>
        </p:txBody>
      </p:sp>
      <p:sp>
        <p:nvSpPr>
          <p:cNvPr id="21" name="Rounded Rectangle 20"/>
          <p:cNvSpPr/>
          <p:nvPr/>
        </p:nvSpPr>
        <p:spPr>
          <a:xfrm>
            <a:off x="3055467" y="5911596"/>
            <a:ext cx="580644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0B2B4E"/>
                </a:solidFill>
                <a:latin typeface="Calibri"/>
              </a:rPr>
              <a:t>Bigger plane  →  ~40% lower cost per seat-mile</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5" name="TextBox 24"/>
          <p:cNvSpPr txBox="1"/>
          <p:nvPr/>
        </p:nvSpPr>
        <p:spPr>
          <a:xfrm>
            <a:off x="11430000" y="6583680"/>
            <a:ext cx="548640" cy="292608"/>
          </a:xfrm>
          <a:prstGeom prst="rect">
            <a:avLst/>
          </a:prstGeom>
          <a:noFill/>
        </p:spPr>
        <p:txBody>
          <a:bodyPr wrap="square" lIns="0" tIns="0" rIns="0" bIns="0">
            <a:spAutoFit/>
          </a:bodyPr>
          <a:lstStyle/>
          <a:p>
            <a:pPr algn="r"/>
            <a:fld id="{17291D30-24C5-440F-A203-1F5F11F57B18}" type="slidenum">
              <a:rPr sz="1200" b="0" i="0">
                <a:solidFill>
                  <a:srgbClr val="555B66"/>
                </a:solidFill>
                <a:latin typeface="Calibri"/>
              </a:rPr>
              <a:t>7</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500"/>
                                        <p:tgtEl>
                                          <p:spTgt spid="60"/>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Reasons for </a:t>
            </a:r>
            <a:r>
              <a:rPr sz="3200" b="1" i="0" dirty="0">
                <a:solidFill>
                  <a:srgbClr val="C00000"/>
                </a:solidFill>
                <a:latin typeface="Calibri"/>
              </a:rPr>
              <a:t>Dis</a:t>
            </a:r>
            <a:r>
              <a:rPr sz="3200" b="1" i="0" dirty="0">
                <a:solidFill>
                  <a:srgbClr val="0B2B4E"/>
                </a:solidFill>
                <a:latin typeface="Calibri"/>
              </a:rPr>
              <a:t>economies of Scale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0943" y="1362456"/>
            <a:ext cx="6283593" cy="4208332"/>
          </a:xfrm>
          <a:prstGeom prst="rect">
            <a:avLst/>
          </a:prstGeom>
          <a:noFill/>
        </p:spPr>
        <p:txBody>
          <a:bodyPr wrap="square" lIns="0" tIns="0" rIns="0" bIns="0">
            <a:spAutoFit/>
          </a:bodyPr>
          <a:lstStyle>
            <a:lvl1pPr marL="342900" indent="-342900">
              <a:lnSpc>
                <a:spcPct val="85000"/>
              </a:lnSpc>
              <a:spcBef>
                <a:spcPts val="1000"/>
              </a:spcBef>
              <a:buClr>
                <a:srgbClr val="0B2B4E"/>
              </a:buClr>
              <a:buFont typeface="Calibri"/>
              <a:buChar char="▪"/>
              <a:defRPr sz="2400" b="0">
                <a:solidFill>
                  <a:srgbClr val="0B2B4E"/>
                </a:solidFill>
                <a:latin typeface="Calibri"/>
              </a:defRPr>
            </a:lvl1pPr>
            <a:lvl2pPr marL="685800" indent="-228600">
              <a:lnSpc>
                <a:spcPct val="85000"/>
              </a:lnSpc>
              <a:spcBef>
                <a:spcPts val="300"/>
              </a:spcBef>
              <a:buClr>
                <a:srgbClr val="555B66"/>
              </a:buClr>
              <a:buFont typeface="Calibri"/>
              <a:buChar char="–"/>
              <a:defRPr sz="2200" b="0">
                <a:solidFill>
                  <a:srgbClr val="555B66"/>
                </a:solidFill>
                <a:latin typeface="Calibri"/>
              </a:defRPr>
            </a:lvl2pPr>
          </a:lstStyle>
          <a:p>
            <a:pPr algn="l"/>
            <a:r>
              <a:rPr dirty="0">
                <a:latin typeface="Calibri"/>
              </a:rPr>
              <a:t>Coordination, communication, control  get harder</a:t>
            </a:r>
          </a:p>
          <a:p>
            <a:pPr lvl="1" algn="l"/>
            <a:r>
              <a:rPr dirty="0">
                <a:latin typeface="Calibri"/>
              </a:rPr>
              <a:t>More layers of management </a:t>
            </a:r>
            <a:r>
              <a:rPr lang="en-US" dirty="0">
                <a:latin typeface="Calibri"/>
              </a:rPr>
              <a:t> </a:t>
            </a:r>
            <a:r>
              <a:rPr lang="en-US" dirty="0">
                <a:latin typeface="Calibri"/>
                <a:sym typeface="Wingdings" panose="05000000000000000000" pitchFamily="2" charset="2"/>
              </a:rPr>
              <a:t> complexity</a:t>
            </a:r>
            <a:endParaRPr dirty="0">
              <a:latin typeface="Calibri"/>
            </a:endParaRPr>
          </a:p>
          <a:p>
            <a:pPr lvl="1" algn="l"/>
            <a:r>
              <a:rPr dirty="0">
                <a:latin typeface="Calibri"/>
              </a:rPr>
              <a:t>Information has to travel up and down a longer chain</a:t>
            </a:r>
          </a:p>
          <a:p>
            <a:pPr algn="l">
              <a:spcBef>
                <a:spcPts val="600"/>
              </a:spcBef>
            </a:pPr>
            <a:r>
              <a:rPr dirty="0">
                <a:latin typeface="Calibri"/>
              </a:rPr>
              <a:t>Monitoring a bigger workforce is disproportionately costly</a:t>
            </a:r>
          </a:p>
          <a:p>
            <a:pPr lvl="1" algn="l"/>
            <a:r>
              <a:rPr dirty="0">
                <a:latin typeface="Calibri"/>
              </a:rPr>
              <a:t>Misaligned incentives, free-riding, principal-agent problems</a:t>
            </a:r>
          </a:p>
          <a:p>
            <a:pPr algn="l">
              <a:spcBef>
                <a:spcPts val="600"/>
              </a:spcBef>
            </a:pPr>
            <a:r>
              <a:rPr dirty="0">
                <a:latin typeface="Calibri"/>
              </a:rPr>
              <a:t>Bureaucracy and staff functions grow </a:t>
            </a:r>
            <a:r>
              <a:rPr lang="en-US" dirty="0">
                <a:latin typeface="Calibri"/>
              </a:rPr>
              <a:t>disproportionately </a:t>
            </a:r>
            <a:endParaRPr dirty="0">
              <a:latin typeface="Calibri"/>
            </a:endParaRPr>
          </a:p>
          <a:p>
            <a:pPr lvl="1" algn="l"/>
            <a:r>
              <a:rPr dirty="0">
                <a:latin typeface="Calibri"/>
              </a:rPr>
              <a:t>HR, accounting, legal, compliance hire to support scale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1" name="TextBox 10"/>
          <p:cNvSpPr txBox="1"/>
          <p:nvPr/>
        </p:nvSpPr>
        <p:spPr>
          <a:xfrm>
            <a:off x="11430000" y="6583680"/>
            <a:ext cx="548640" cy="292608"/>
          </a:xfrm>
          <a:prstGeom prst="rect">
            <a:avLst/>
          </a:prstGeom>
          <a:noFill/>
        </p:spPr>
        <p:txBody>
          <a:bodyPr wrap="square" lIns="0" tIns="0" rIns="0" bIns="0">
            <a:spAutoFit/>
          </a:bodyPr>
          <a:lstStyle/>
          <a:p>
            <a:pPr algn="r"/>
            <a:fld id="{F7B7C1D1-0818-4F6A-9F61-5121A6B7FDA7}" type="slidenum">
              <a:rPr sz="1200" b="0" i="0">
                <a:solidFill>
                  <a:srgbClr val="555B66"/>
                </a:solidFill>
                <a:latin typeface="Calibri"/>
              </a:rPr>
              <a:t>8</a:t>
            </a:fld>
            <a:endParaRPr sz="1200" b="0" i="0">
              <a:solidFill>
                <a:srgbClr val="555B66"/>
              </a:solidFill>
              <a:latin typeface="Calibri"/>
            </a:endParaRPr>
          </a:p>
        </p:txBody>
      </p:sp>
      <p:grpSp>
        <p:nvGrpSpPr>
          <p:cNvPr id="12" name="Group 11">
            <a:extLst>
              <a:ext uri="{FF2B5EF4-FFF2-40B4-BE49-F238E27FC236}">
                <a16:creationId xmlns:a16="http://schemas.microsoft.com/office/drawing/2014/main" id="{FB0E0D0A-1A90-8310-171E-5D3E40DE1CF1}"/>
              </a:ext>
            </a:extLst>
          </p:cNvPr>
          <p:cNvGrpSpPr/>
          <p:nvPr/>
        </p:nvGrpSpPr>
        <p:grpSpPr>
          <a:xfrm>
            <a:off x="6884504" y="1417321"/>
            <a:ext cx="5055192" cy="5038344"/>
            <a:chOff x="6884504" y="1417321"/>
            <a:chExt cx="5055192" cy="5038344"/>
          </a:xfrm>
        </p:grpSpPr>
        <p:sp>
          <p:nvSpPr>
            <p:cNvPr id="30" name="IntelCallout"/>
            <p:cNvSpPr/>
            <p:nvPr/>
          </p:nvSpPr>
          <p:spPr>
            <a:xfrm>
              <a:off x="6884504" y="1417321"/>
              <a:ext cx="5055192" cy="5038344"/>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txBody>
            <a:bodyPr wrap="square" lIns="182880" tIns="109728" rIns="182880" bIns="109728" anchor="t">
              <a:noAutofit/>
            </a:bodyPr>
            <a:lstStyle/>
            <a:p>
              <a:pPr algn="l">
                <a:lnSpc>
                  <a:spcPct val="90000"/>
                </a:lnSpc>
                <a:buNone/>
              </a:pPr>
              <a:r>
                <a:rPr lang="en-US" sz="2000" b="1" dirty="0">
                  <a:solidFill>
                    <a:srgbClr val="0B2B4E"/>
                  </a:solidFill>
                  <a:latin typeface="Calibri"/>
                </a:rPr>
                <a:t>Example: Intel, 2025</a:t>
              </a:r>
            </a:p>
            <a:p>
              <a:pPr algn="l">
                <a:lnSpc>
                  <a:spcPct val="90000"/>
                </a:lnSpc>
                <a:spcBef>
                  <a:spcPts val="500"/>
                </a:spcBef>
                <a:buNone/>
              </a:pPr>
              <a:r>
                <a:rPr lang="en-US" sz="1800" dirty="0">
                  <a:solidFill>
                    <a:srgbClr val="0B2B4E"/>
                  </a:solidFill>
                  <a:latin typeface="Calibri"/>
                </a:rPr>
                <a:t>Many teams ran 8 or more layers deep. The CEO called this “unnecessary bureaucracy that slows us down” and ordered layers removed, spans of control widened.</a:t>
              </a:r>
            </a:p>
          </p:txBody>
        </p:sp>
        <p:pic>
          <p:nvPicPr>
            <p:cNvPr id="13" name="Picture 12">
              <a:extLst>
                <a:ext uri="{FF2B5EF4-FFF2-40B4-BE49-F238E27FC236}">
                  <a16:creationId xmlns:a16="http://schemas.microsoft.com/office/drawing/2014/main" id="{AF59A1CE-24CF-5D00-9A67-A3F5E9B3D008}"/>
                </a:ext>
              </a:extLst>
            </p:cNvPr>
            <p:cNvPicPr>
              <a:picLocks noChangeAspect="1"/>
            </p:cNvPicPr>
            <p:nvPr/>
          </p:nvPicPr>
          <p:blipFill>
            <a:blip r:embed="rId3"/>
            <a:stretch>
              <a:fillRect/>
            </a:stretch>
          </p:blipFill>
          <p:spPr>
            <a:xfrm>
              <a:off x="7004871" y="3129124"/>
              <a:ext cx="4814457" cy="3097092"/>
            </a:xfrm>
            <a:prstGeom prst="roundRect">
              <a:avLst>
                <a:gd name="adj" fmla="val 8000"/>
              </a:avLst>
            </a:prstGeom>
            <a:effectLst>
              <a:outerShdw blurRad="50800" dist="38100" dir="2700000" algn="tl" rotWithShape="0">
                <a:srgbClr val="000000">
                  <a:alpha val="50000"/>
                </a:srgb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xEl>
                                              <p:pRg st="3" end="4"/>
                                            </p:txEl>
                                          </p:spTgt>
                                        </p:tgtEl>
                                        <p:attrNameLst>
                                          <p:attrName>style.visibility</p:attrName>
                                        </p:attrNameLst>
                                      </p:cBhvr>
                                      <p:to>
                                        <p:strVal val="visible"/>
                                      </p:to>
                                    </p:set>
                                    <p:animEffect transition="in" filter="fade">
                                      <p:cBhvr>
                                        <p:cTn id="11" dur="500"/>
                                        <p:tgtEl>
                                          <p:spTgt spid="7">
                                            <p:txEl>
                                              <p:pRg st="3"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5" end="6"/>
                                            </p:txEl>
                                          </p:spTgt>
                                        </p:tgtEl>
                                        <p:attrNameLst>
                                          <p:attrName>style.visibility</p:attrName>
                                        </p:attrNameLst>
                                      </p:cBhvr>
                                      <p:to>
                                        <p:strVal val="visible"/>
                                      </p:to>
                                    </p:set>
                                    <p:animEffect transition="in" filter="fade">
                                      <p:cBhvr>
                                        <p:cTn id="16" dur="500"/>
                                        <p:tgtEl>
                                          <p:spTgt spid="7">
                                            <p:txEl>
                                              <p:pRg st="5"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Economies of Scale and Scope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Economies of Scope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51999" y="1519761"/>
            <a:ext cx="11687697" cy="82296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Economies of scope:   producing 2+ related products together is cheaper than separately</a:t>
            </a:r>
          </a:p>
        </p:txBody>
      </p:sp>
      <p:sp>
        <p:nvSpPr>
          <p:cNvPr id="8" name="TextBox 7"/>
          <p:cNvSpPr txBox="1"/>
          <p:nvPr/>
        </p:nvSpPr>
        <p:spPr>
          <a:xfrm>
            <a:off x="251999" y="2617041"/>
            <a:ext cx="5943600" cy="1862048"/>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sz="2400" dirty="0">
                <a:latin typeface="Calibri"/>
              </a:rPr>
              <a:t>Shared input production</a:t>
            </a:r>
          </a:p>
          <a:p>
            <a:pPr algn="l"/>
            <a:r>
              <a:rPr sz="2400" dirty="0">
                <a:latin typeface="Calibri"/>
              </a:rPr>
              <a:t>Shared engineering know-how &amp; R&amp;D</a:t>
            </a:r>
          </a:p>
          <a:p>
            <a:pPr algn="l"/>
            <a:r>
              <a:rPr sz="2400" dirty="0">
                <a:latin typeface="Calibri"/>
              </a:rPr>
              <a:t>Shared brand, sales channel, marketing</a:t>
            </a:r>
          </a:p>
          <a:p>
            <a:pPr algn="l"/>
            <a:r>
              <a:rPr sz="2400" dirty="0">
                <a:latin typeface="Calibri"/>
              </a:rPr>
              <a:t>Shared supply chain &amp; customer data</a:t>
            </a:r>
          </a:p>
        </p:txBody>
      </p:sp>
      <p:grpSp>
        <p:nvGrpSpPr>
          <p:cNvPr id="18" name="Group 17">
            <a:extLst>
              <a:ext uri="{FF2B5EF4-FFF2-40B4-BE49-F238E27FC236}">
                <a16:creationId xmlns:a16="http://schemas.microsoft.com/office/drawing/2014/main" id="{0EC50581-78B8-4C5F-D7BA-6E029F9A8F14}"/>
              </a:ext>
            </a:extLst>
          </p:cNvPr>
          <p:cNvGrpSpPr/>
          <p:nvPr/>
        </p:nvGrpSpPr>
        <p:grpSpPr>
          <a:xfrm>
            <a:off x="6858000" y="2509171"/>
            <a:ext cx="5376012" cy="3269837"/>
            <a:chOff x="6858000" y="2509171"/>
            <a:chExt cx="5376012" cy="3269837"/>
          </a:xfrm>
        </p:grpSpPr>
        <p:sp>
          <p:nvSpPr>
            <p:cNvPr id="10" name="TextBox 9"/>
            <p:cNvSpPr txBox="1"/>
            <p:nvPr/>
          </p:nvSpPr>
          <p:spPr>
            <a:xfrm>
              <a:off x="7204812" y="5550408"/>
              <a:ext cx="5029200" cy="228600"/>
            </a:xfrm>
            <a:prstGeom prst="rect">
              <a:avLst/>
            </a:prstGeom>
            <a:noFill/>
          </p:spPr>
          <p:txBody>
            <a:bodyPr wrap="square" lIns="0" tIns="0" rIns="0" bIns="0">
              <a:spAutoFit/>
            </a:bodyPr>
            <a:lstStyle/>
            <a:p>
              <a:pPr algn="ctr"/>
              <a:r>
                <a:rPr sz="1100" b="0" i="1">
                  <a:solidFill>
                    <a:srgbClr val="555B66"/>
                  </a:solidFill>
                  <a:latin typeface="Calibri"/>
                </a:rPr>
                <a:t>British Airways A380 + A318  (CC BY-SA, Wikimedia)</a:t>
              </a:r>
            </a:p>
          </p:txBody>
        </p:sp>
        <p:grpSp>
          <p:nvGrpSpPr>
            <p:cNvPr id="17" name="Group 16">
              <a:extLst>
                <a:ext uri="{FF2B5EF4-FFF2-40B4-BE49-F238E27FC236}">
                  <a16:creationId xmlns:a16="http://schemas.microsoft.com/office/drawing/2014/main" id="{B3FD63AC-C8C5-4F22-278E-2D3EDF5F39C1}"/>
                </a:ext>
              </a:extLst>
            </p:cNvPr>
            <p:cNvGrpSpPr/>
            <p:nvPr/>
          </p:nvGrpSpPr>
          <p:grpSpPr>
            <a:xfrm>
              <a:off x="6858000" y="2509171"/>
              <a:ext cx="5110836" cy="2995517"/>
              <a:chOff x="2917596" y="2076689"/>
              <a:chExt cx="5110836" cy="2995517"/>
            </a:xfrm>
          </p:grpSpPr>
          <p:pic>
            <p:nvPicPr>
              <p:cNvPr id="9" name="Picture 8" descr="slide71_rId1.jpg"/>
              <p:cNvPicPr>
                <a:picLocks noChangeAspect="1"/>
              </p:cNvPicPr>
              <p:nvPr/>
            </p:nvPicPr>
            <p:blipFill>
              <a:blip r:embed="rId3"/>
              <a:stretch>
                <a:fillRect/>
              </a:stretch>
            </p:blipFill>
            <p:spPr>
              <a:xfrm>
                <a:off x="2999232" y="2076689"/>
                <a:ext cx="5029200" cy="2995517"/>
              </a:xfrm>
              <a:prstGeom prst="roundRect">
                <a:avLst>
                  <a:gd name="adj" fmla="val 6000"/>
                </a:avLst>
              </a:prstGeom>
              <a:effectLst>
                <a:outerShdw blurRad="50800" dist="38100" dir="2700000" algn="tl" rotWithShape="0">
                  <a:srgbClr val="000000">
                    <a:alpha val="50000"/>
                  </a:srgbClr>
                </a:outerShdw>
              </a:effectLst>
            </p:spPr>
          </p:pic>
          <p:sp>
            <p:nvSpPr>
              <p:cNvPr id="11" name="TextBox 10"/>
              <p:cNvSpPr txBox="1"/>
              <p:nvPr/>
            </p:nvSpPr>
            <p:spPr>
              <a:xfrm>
                <a:off x="2917596" y="2200217"/>
                <a:ext cx="5029200" cy="228600"/>
              </a:xfrm>
              <a:prstGeom prst="rect">
                <a:avLst/>
              </a:prstGeom>
              <a:noFill/>
            </p:spPr>
            <p:txBody>
              <a:bodyPr wrap="square" lIns="0" tIns="0" rIns="0" bIns="0">
                <a:spAutoFit/>
              </a:bodyPr>
              <a:lstStyle/>
              <a:p>
                <a:pPr algn="ctr"/>
                <a:r>
                  <a:rPr sz="1200" b="0" i="1" dirty="0">
                    <a:solidFill>
                      <a:srgbClr val="0B2B4E"/>
                    </a:solidFill>
                    <a:latin typeface="Calibri"/>
                  </a:rPr>
                  <a:t>Example: Airbus's A380 and A318 share engineering, supply chain, brand</a:t>
                </a:r>
              </a:p>
            </p:txBody>
          </p:sp>
        </p:grpSp>
      </p:grpSp>
      <p:sp>
        <p:nvSpPr>
          <p:cNvPr id="12" name="Rounded Rectangle 11"/>
          <p:cNvSpPr/>
          <p:nvPr/>
        </p:nvSpPr>
        <p:spPr>
          <a:xfrm>
            <a:off x="838047" y="5943600"/>
            <a:ext cx="105156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Scope ≠ scale:  one firm, MANY products  →  cheaper than splitting them up</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4759AE94-087E-423F-830C-1C925D01E3C2}" type="slidenum">
              <a:rPr sz="1200" b="0" i="0">
                <a:solidFill>
                  <a:srgbClr val="555B66"/>
                </a:solidFill>
                <a:latin typeface="Calibri"/>
              </a:rPr>
              <a:t>9</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TotalTime>
  <Words>2194</Words>
  <Application>Microsoft Office PowerPoint</Application>
  <PresentationFormat>Widescreen</PresentationFormat>
  <Paragraphs>139</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66</cp:revision>
  <dcterms:created xsi:type="dcterms:W3CDTF">2013-01-27T09:14:16Z</dcterms:created>
  <dcterms:modified xsi:type="dcterms:W3CDTF">2026-08-31T16:24:02Z</dcterms:modified>
  <cp:category/>
</cp:coreProperties>
</file>