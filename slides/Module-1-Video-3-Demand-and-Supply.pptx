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30" r:id="rId2"/>
    <p:sldId id="331" r:id="rId3"/>
    <p:sldId id="332" r:id="rId4"/>
    <p:sldId id="333" r:id="rId5"/>
    <p:sldId id="334" r:id="rId6"/>
    <p:sldId id="335" r:id="rId7"/>
    <p:sldId id="336" r:id="rId8"/>
    <p:sldId id="337" r:id="rId9"/>
    <p:sldId id="338" r:id="rId10"/>
    <p:sldId id="33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7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3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3 covers supply and demand, the workhorse framework of the whole course.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video is about demand and supply: how buyers and sellers each respond to price, and how to tell a movement along a curve from a shift of the curve itself.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question is how supply and demand together set the price and the quantity traded. The range of application is enormous: how growth in China affects the price of oil, of textiles, of electric cars. Once you can draw the two curves, you can reason about almost any market.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a:t>
            </a:r>
          </a:p>
          <a:p>
            <a:r>
              <a:t>We will get into this in much more detail next week.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a:t>
            </a:r>
          </a:p>
          <a:p>
            <a:r>
              <a:t>We will get into this in much more detail next week.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aside from price, we are holding everything else constant, including consumers’ income, tastes, price of other goods.</a:t>
            </a:r>
          </a:p>
          <a:p>
            <a: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This will make the demand curve downward sloping.</a:t>
            </a:r>
          </a:p>
          <a:p>
            <a:r>
              <a:t>We will get into this in much more detail next week.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distinction students most often get wrong, so it is worth slowing down. A movement along D is a response to price with everything else held constant: the price rises from P1 to P2 and the quantity demanded falls from Q1 to Q2. A shift of D is caused by something other than price, such as higher income, and it moves the whole curve out to D prime, so at the same price P1 the quantity demanded is now Q3. Same curve, two very different events.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AI build-out is a textbook non-price factor. Nothing about the price of a chip changed; what changed is how badly firms want them, because training and running AI models takes large numbers of specialised processors. So the whole demand curve moves out, from D to D prime. Read it at a fixed price: at P1 the quantity demanded goes from Q1 to Q2. Note that there is no supply curve here yet — we are still looking at demand on its own, and we will put the two sides together in Video 4. That is also why the chart does not mark a new quantity: without supply we cannot say what happens to the price.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price rises, quantity supplied will increase. Intuition for upward sloping: many firms experience increasing costs of production as their output rises; need to earn higher price in order to be willing to sell more output. We will get into this in much more detail in Module 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mirror image on the supply side. A movement along S is the response to price alone: the price rises from P1 to P2 and existing firms supply more, from Q1 to Q2. A shift of S comes from something else, such as better technology, cheaper inputs, or new firms entering, and it moves the whole curve out to S prime, so at the same price P2 the quantity supplied is Q3.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874519"/>
            <a:ext cx="10545775" cy="830997"/>
          </a:xfrm>
          <a:prstGeom prst="rect">
            <a:avLst/>
          </a:prstGeom>
          <a:noFill/>
        </p:spPr>
        <p:txBody>
          <a:bodyPr wrap="square" lIns="0" tIns="0" rIns="0" bIns="0">
            <a:spAutoFit/>
          </a:bodyPr>
          <a:lstStyle/>
          <a:p>
            <a:pPr algn="ctr"/>
            <a:r>
              <a:rPr sz="5400" b="1" i="0" u="none" dirty="0">
                <a:solidFill>
                  <a:srgbClr val="0B2B4E"/>
                </a:solidFill>
                <a:latin typeface="Calibri"/>
              </a:rPr>
              <a:t>Demand</a:t>
            </a:r>
            <a:r>
              <a:rPr lang="en-US" sz="5400" b="1" i="0" u="none" dirty="0">
                <a:solidFill>
                  <a:srgbClr val="0B2B4E"/>
                </a:solidFill>
                <a:latin typeface="Calibri"/>
              </a:rPr>
              <a:t> and Supply</a:t>
            </a:r>
            <a:endParaRPr sz="5400" b="1" i="0" u="none" dirty="0">
              <a:solidFill>
                <a:srgbClr val="0B2B4E"/>
              </a:solidFill>
              <a:latin typeface="Calibri"/>
            </a:endParaRPr>
          </a:p>
        </p:txBody>
      </p:sp>
      <p:sp>
        <p:nvSpPr>
          <p:cNvPr id="3" name="TextBox 2"/>
          <p:cNvSpPr txBox="1"/>
          <p:nvPr/>
        </p:nvSpPr>
        <p:spPr>
          <a:xfrm>
            <a:off x="0" y="315468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1 – Video 3</a:t>
            </a:r>
          </a:p>
        </p:txBody>
      </p:sp>
      <p:sp>
        <p:nvSpPr>
          <p:cNvPr id="4" name="Rectangle 3"/>
          <p:cNvSpPr/>
          <p:nvPr/>
        </p:nvSpPr>
        <p:spPr>
          <a:xfrm>
            <a:off x="4267047" y="40965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43484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029200"/>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1</a:t>
            </a:r>
          </a:p>
        </p:txBody>
      </p:sp>
      <p:sp>
        <p:nvSpPr>
          <p:cNvPr id="8" name="TextBox 7"/>
          <p:cNvSpPr txBox="1"/>
          <p:nvPr/>
        </p:nvSpPr>
        <p:spPr>
          <a:xfrm>
            <a:off x="1874519" y="1495044"/>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Markets</a:t>
            </a:r>
          </a:p>
        </p:txBody>
      </p:sp>
      <p:sp>
        <p:nvSpPr>
          <p:cNvPr id="9" name="Rounded Rectangle 8"/>
          <p:cNvSpPr/>
          <p:nvPr/>
        </p:nvSpPr>
        <p:spPr>
          <a:xfrm>
            <a:off x="822960" y="2272284"/>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1" name="TextBox 10"/>
          <p:cNvSpPr txBox="1"/>
          <p:nvPr/>
        </p:nvSpPr>
        <p:spPr>
          <a:xfrm>
            <a:off x="1874519" y="2327148"/>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and supply</a:t>
            </a:r>
          </a:p>
          <a:p>
            <a:pPr algn="l">
              <a:spcBef>
                <a:spcPts val="0"/>
              </a:spcBef>
              <a:buNone/>
            </a:pPr>
            <a:r>
              <a:rPr sz="2200">
                <a:solidFill>
                  <a:srgbClr val="555B66"/>
                </a:solidFill>
                <a:latin typeface="Calibri"/>
              </a:rPr>
              <a:t>Video 3: how buyers and sellers each respond to price</a:t>
            </a: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chemeClr val="bg1">
                    <a:lumMod val="75000"/>
                  </a:schemeClr>
                </a:solidFill>
                <a:latin typeface="Calibri"/>
              </a:rPr>
              <a:t>3</a:t>
            </a:r>
          </a:p>
        </p:txBody>
      </p:sp>
      <p:sp>
        <p:nvSpPr>
          <p:cNvPr id="13" name="TextBox 12"/>
          <p:cNvSpPr txBox="1"/>
          <p:nvPr/>
        </p:nvSpPr>
        <p:spPr>
          <a:xfrm>
            <a:off x="1874519" y="3159252"/>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Equilibrium</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4</a:t>
            </a:r>
          </a:p>
        </p:txBody>
      </p:sp>
      <p:sp>
        <p:nvSpPr>
          <p:cNvPr id="15" name="TextBox 14"/>
          <p:cNvSpPr txBox="1"/>
          <p:nvPr/>
        </p:nvSpPr>
        <p:spPr>
          <a:xfrm>
            <a:off x="1874519" y="3991356"/>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Economic costs include opportunity costs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5</a:t>
            </a:r>
          </a:p>
        </p:txBody>
      </p:sp>
      <p:sp>
        <p:nvSpPr>
          <p:cNvPr id="17" name="TextBox 16"/>
          <p:cNvSpPr txBox="1"/>
          <p:nvPr/>
        </p:nvSpPr>
        <p:spPr>
          <a:xfrm>
            <a:off x="1874519" y="4823460"/>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Ignore sunk costs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6</a:t>
            </a:r>
          </a:p>
        </p:txBody>
      </p:sp>
      <p:sp>
        <p:nvSpPr>
          <p:cNvPr id="19" name="TextBox 18"/>
          <p:cNvSpPr txBox="1"/>
          <p:nvPr/>
        </p:nvSpPr>
        <p:spPr>
          <a:xfrm>
            <a:off x="1874519" y="5655564"/>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Use cost-benefit and marginal analysis</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A4C6DCD1-CCBD-540B-BF60-3B7B5F405290}"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Demand-Supply Analysis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11687697" cy="4892040"/>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How do supply and demand determine market prices and the quantity produced/consumed?</a:t>
            </a:r>
          </a:p>
          <a:p>
            <a:pPr algn="l"/>
            <a:r>
              <a:rPr>
                <a:latin typeface="Calibri"/>
              </a:rPr>
              <a:t>Wide variety of applications</a:t>
            </a:r>
          </a:p>
          <a:p>
            <a:pPr algn="l"/>
            <a:r>
              <a:rPr>
                <a:latin typeface="Calibri"/>
              </a:rPr>
              <a:t>Example:</a:t>
            </a:r>
          </a:p>
          <a:p>
            <a:pPr lvl="1" algn="l"/>
            <a:r>
              <a:rPr>
                <a:latin typeface="Calibri"/>
              </a:rPr>
              <a:t>How does growth in China affect the price of oil? The price of textiles? The price of (electric) cars?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CB972BC2-82CB-5C6F-AF19-7106BC1EEDA4}"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2" name="Group pair 112"/>
          <p:cNvGrpSpPr/>
          <p:nvPr/>
        </p:nvGrpSpPr>
        <p:grpSpPr>
          <a:xfrm>
            <a:off x="1417320" y="1422849"/>
            <a:ext cx="9738360" cy="1371600"/>
            <a:chOff x="1417320" y="1422849"/>
            <a:chExt cx="9738360" cy="1371600"/>
          </a:xfrm>
        </p:grpSpPr>
        <p:sp>
          <p:nvSpPr>
            <p:cNvPr id="7" name="Rounded Rectangle 6"/>
            <p:cNvSpPr/>
            <p:nvPr/>
          </p:nvSpPr>
          <p:spPr>
            <a:xfrm>
              <a:off x="1417320" y="1422849"/>
              <a:ext cx="9738360" cy="13716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532577"/>
              <a:ext cx="9372600" cy="1152144"/>
            </a:xfrm>
            <a:prstGeom prst="rect">
              <a:avLst/>
            </a:prstGeom>
            <a:noFill/>
          </p:spPr>
          <p:txBody>
            <a:bodyPr wrap="square" lIns="45720" tIns="0" rIns="45720" bIns="0" anchor="ctr">
              <a:spAutoFit/>
            </a:bodyPr>
            <a:lstStyle/>
            <a:p>
              <a:pPr algn="l"/>
              <a:r>
                <a:rPr sz="2400" b="1" i="0" u="none">
                  <a:solidFill>
                    <a:srgbClr val="0B2B4E"/>
                  </a:solidFill>
                  <a:latin typeface="Calibri"/>
                </a:rPr>
                <a:t>Definition</a:t>
              </a:r>
              <a:r>
                <a:rPr sz="2400" b="0" i="0" u="none">
                  <a:solidFill>
                    <a:srgbClr val="0B2B4E"/>
                  </a:solidFill>
                  <a:latin typeface="Calibri"/>
                </a:rPr>
                <a:t>: the relationship between the quantity of a good that consumers are willing to buy and the price of the good, </a:t>
              </a:r>
              <a:r>
                <a:rPr sz="2400" b="0" i="1" u="sng">
                  <a:solidFill>
                    <a:srgbClr val="0B2B4E"/>
                  </a:solidFill>
                  <a:latin typeface="Calibri"/>
                </a:rPr>
                <a:t>holding everything else constant</a:t>
              </a: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8BE8F451-805B-50E6-9893-1EE6C8D1B9CA}"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2600" b="1" i="0" u="none">
                <a:solidFill>
                  <a:srgbClr val="0B2B4E"/>
                </a:solidFill>
                <a:latin typeface="Calibri"/>
              </a:rPr>
              <a:t>“Holding Everything Else Constant” – “Ceteris Paribus” (c.p.)</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675120" cy="4892040"/>
          </a:xfrm>
          <a:prstGeom prst="rect">
            <a:avLst/>
          </a:prstGeom>
          <a:noFill/>
        </p:spPr>
        <p:txBody>
          <a:bodyPr wrap="square" lIns="0" tIns="0" rIns="0" bIns="0" anchor="ctr">
            <a:spAutoFit/>
          </a:bodyPr>
          <a:lstStyle>
            <a:lvl1pPr marL="342900" indent="-342900">
              <a:spcBef>
                <a:spcPts val="10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solidFill>
                  <a:srgbClr val="C00000"/>
                </a:solidFill>
                <a:latin typeface="Calibri"/>
              </a:rPr>
              <a:t>Want to know:</a:t>
            </a:r>
            <a:r>
              <a:rPr>
                <a:latin typeface="Calibri"/>
              </a:rPr>
              <a:t> how the quantity demanded of an ice cream cone changes with a price increase</a:t>
            </a:r>
          </a:p>
          <a:p>
            <a:pPr algn="l"/>
            <a:r>
              <a:rPr>
                <a:solidFill>
                  <a:srgbClr val="C00000"/>
                </a:solidFill>
                <a:latin typeface="Calibri"/>
              </a:rPr>
              <a:t>Assume: </a:t>
            </a:r>
            <a:r>
              <a:rPr>
                <a:latin typeface="Calibri"/>
              </a:rPr>
              <a:t>Everything else that affects the quantity demanded remains constant</a:t>
            </a:r>
          </a:p>
          <a:p>
            <a:pPr algn="l"/>
            <a:r>
              <a:rPr>
                <a:solidFill>
                  <a:srgbClr val="C00000"/>
                </a:solidFill>
                <a:latin typeface="Calibri"/>
              </a:rPr>
              <a:t>What is held constant?</a:t>
            </a:r>
          </a:p>
          <a:p>
            <a:pPr lvl="1" algn="l"/>
            <a:r>
              <a:rPr>
                <a:latin typeface="Calibri"/>
              </a:rPr>
              <a:t>Consumer income</a:t>
            </a:r>
          </a:p>
          <a:p>
            <a:pPr lvl="1" algn="l"/>
            <a:r>
              <a:rPr>
                <a:latin typeface="Calibri"/>
              </a:rPr>
              <a:t>Outside temperature</a:t>
            </a:r>
          </a:p>
          <a:p>
            <a:pPr lvl="1" algn="l"/>
            <a:r>
              <a:rPr>
                <a:latin typeface="Calibri"/>
              </a:rPr>
              <a:t>Prices of related goods</a:t>
            </a:r>
          </a:p>
          <a:p>
            <a:pPr lvl="1" algn="l"/>
            <a:r>
              <a:rPr>
                <a:latin typeface="Calibri"/>
              </a:rPr>
              <a:t>Size, shape, quality of the ice cream cone</a:t>
            </a:r>
          </a:p>
          <a:p>
            <a:pPr lvl="1" algn="l"/>
            <a:r>
              <a:rPr i="1">
                <a:latin typeface="Calibri"/>
              </a:rPr>
              <a:t>…everything</a:t>
            </a:r>
            <a:r>
              <a:rPr>
                <a:latin typeface="Calibri"/>
              </a:rPr>
              <a:t> other than price</a:t>
            </a:r>
          </a:p>
        </p:txBody>
      </p:sp>
      <p:grpSp>
        <p:nvGrpSpPr>
          <p:cNvPr id="113" name="sdgroup:cones"/>
          <p:cNvGrpSpPr/>
          <p:nvPr/>
        </p:nvGrpSpPr>
        <p:grpSpPr>
          <a:xfrm>
            <a:off x="7360920" y="1783080"/>
            <a:ext cx="4206240" cy="3945155"/>
            <a:chOff x="7360920" y="1783080"/>
            <a:chExt cx="4206240" cy="3945155"/>
          </a:xfrm>
        </p:grpSpPr>
        <p:sp>
          <p:nvSpPr>
            <p:cNvPr id="8" name="sdlabel:cones"/>
            <p:cNvSpPr txBox="1"/>
            <p:nvPr/>
          </p:nvSpPr>
          <p:spPr>
            <a:xfrm>
              <a:off x="7360920" y="1783080"/>
              <a:ext cx="4206240" cy="566928"/>
            </a:xfrm>
            <a:prstGeom prst="rect">
              <a:avLst/>
            </a:prstGeom>
            <a:noFill/>
          </p:spPr>
          <p:txBody>
            <a:bodyPr wrap="square" lIns="0" tIns="0" rIns="0" bIns="0">
              <a:spAutoFit/>
            </a:bodyPr>
            <a:lstStyle/>
            <a:p>
              <a:pPr algn="ctr"/>
              <a:r>
                <a:rPr sz="1600" b="1" i="0" u="none">
                  <a:solidFill>
                    <a:srgbClr val="0B2B4E"/>
                  </a:solidFill>
                  <a:latin typeface="Calibri"/>
                </a:rPr>
                <a:t>Things are not held constant between these two cones</a:t>
              </a:r>
            </a:p>
          </p:txBody>
        </p:sp>
        <p:pic>
          <p:nvPicPr>
            <p:cNvPr id="9" name="sdpic:cones" descr="v3_s05_rId3.png"/>
            <p:cNvPicPr>
              <a:picLocks noChangeAspect="1"/>
            </p:cNvPicPr>
            <p:nvPr/>
          </p:nvPicPr>
          <p:blipFill>
            <a:blip r:embed="rId3"/>
            <a:stretch>
              <a:fillRect/>
            </a:stretch>
          </p:blipFill>
          <p:spPr>
            <a:xfrm>
              <a:off x="7543800" y="2377440"/>
              <a:ext cx="3886200" cy="3350795"/>
            </a:xfrm>
            <a:prstGeom prst="roundRect">
              <a:avLst>
                <a:gd name="adj" fmla="val 8000"/>
              </a:avLst>
            </a:prstGeom>
            <a:effectLst>
              <a:outerShdw blurRad="50800" dist="38100" dir="2700000" algn="tl" rotWithShape="0">
                <a:srgbClr val="000000">
                  <a:alpha val="50000"/>
                </a:srgbClr>
              </a:outerShdw>
            </a:effectLst>
          </p:spPr>
        </p:pic>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E098812F-7B2C-5338-A27D-12F45D1836F7}"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9" name="Group pair 119"/>
          <p:cNvGrpSpPr/>
          <p:nvPr/>
        </p:nvGrpSpPr>
        <p:grpSpPr>
          <a:xfrm>
            <a:off x="1234440" y="1554480"/>
            <a:ext cx="9738360" cy="868680"/>
            <a:chOff x="1234440" y="1554480"/>
            <a:chExt cx="9738360" cy="868680"/>
          </a:xfrm>
        </p:grpSpPr>
        <p:sp>
          <p:nvSpPr>
            <p:cNvPr id="7" name="Rounded Rectangle 6"/>
            <p:cNvSpPr/>
            <p:nvPr/>
          </p:nvSpPr>
          <p:spPr>
            <a:xfrm>
              <a:off x="1234440" y="1554480"/>
              <a:ext cx="9738360" cy="8686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664208"/>
              <a:ext cx="9372600" cy="649224"/>
            </a:xfrm>
            <a:prstGeom prst="rect">
              <a:avLst/>
            </a:prstGeom>
            <a:noFill/>
          </p:spPr>
          <p:txBody>
            <a:bodyPr wrap="square" lIns="45720" tIns="0" rIns="45720" bIns="0" anchor="ctr">
              <a:spAutoFit/>
            </a:bodyPr>
            <a:lstStyle/>
            <a:p>
              <a:pPr algn="l"/>
              <a:r>
                <a:rPr sz="1800" b="1" i="0" u="none">
                  <a:solidFill>
                    <a:srgbClr val="0B2B4E"/>
                  </a:solidFill>
                  <a:latin typeface="Calibri"/>
                </a:rPr>
                <a:t>Definition</a:t>
              </a:r>
              <a:r>
                <a:rPr sz="1800" b="0" i="0" u="none">
                  <a:solidFill>
                    <a:srgbClr val="0B2B4E"/>
                  </a:solidFill>
                  <a:latin typeface="Calibri"/>
                </a:rPr>
                <a:t>: the relationship between the quantity of a good that consumers are willing to buy and the price of the good, </a:t>
              </a:r>
              <a:r>
                <a:rPr sz="1800" b="0" i="1" u="sng">
                  <a:solidFill>
                    <a:srgbClr val="0B2B4E"/>
                  </a:solidFill>
                  <a:latin typeface="Calibri"/>
                </a:rPr>
                <a:t>holding everything else constant</a:t>
              </a:r>
            </a:p>
          </p:txBody>
        </p:sp>
      </p:grpSp>
      <p:sp>
        <p:nvSpPr>
          <p:cNvPr id="9" name="TextBox 8"/>
          <p:cNvSpPr txBox="1"/>
          <p:nvPr/>
        </p:nvSpPr>
        <p:spPr>
          <a:xfrm>
            <a:off x="434879" y="2880360"/>
            <a:ext cx="6035040" cy="2926080"/>
          </a:xfrm>
          <a:prstGeom prst="rect">
            <a:avLst/>
          </a:prstGeom>
          <a:noFill/>
        </p:spPr>
        <p:txBody>
          <a:bodyPr wrap="square" lIns="0" tIns="0" rIns="0" bIns="0" anchor="ctr">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buNone/>
            </a:pPr>
            <a:r>
              <a:rPr sz="2400">
                <a:solidFill>
                  <a:srgbClr val="0B2B4E"/>
                </a:solidFill>
                <a:latin typeface="Calibri"/>
              </a:rPr>
              <a:t>The demand curve is </a:t>
            </a:r>
            <a:r>
              <a:rPr sz="2400" i="1">
                <a:solidFill>
                  <a:srgbClr val="C00000"/>
                </a:solidFill>
                <a:latin typeface="Calibri"/>
              </a:rPr>
              <a:t>downward sloping:</a:t>
            </a:r>
            <a:r>
              <a:rPr sz="2400">
                <a:solidFill>
                  <a:srgbClr val="0B2B4E"/>
                </a:solidFill>
                <a:latin typeface="Calibri"/>
              </a:rPr>
              <a:t> consumers want to purchase more of a good as its price goes down, </a:t>
            </a:r>
            <a:r>
              <a:rPr sz="2400" i="1">
                <a:solidFill>
                  <a:srgbClr val="0B2B4E"/>
                </a:solidFill>
                <a:latin typeface="Calibri"/>
              </a:rPr>
              <a:t>all else constant</a:t>
            </a:r>
          </a:p>
        </p:txBody>
      </p:sp>
      <p:cxnSp>
        <p:nvCxnSpPr>
          <p:cNvPr id="10" name="Connector 9"/>
          <p:cNvCxnSpPr/>
          <p:nvPr/>
        </p:nvCxnSpPr>
        <p:spPr>
          <a:xfrm flipV="1">
            <a:off x="7863840" y="3081527"/>
            <a:ext cx="0" cy="29077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5989320"/>
            <a:ext cx="37307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78040" y="2679191"/>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3" name="TextBox 12"/>
          <p:cNvSpPr txBox="1"/>
          <p:nvPr/>
        </p:nvSpPr>
        <p:spPr>
          <a:xfrm>
            <a:off x="11064240" y="6080759"/>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4" name="Connector 13"/>
          <p:cNvCxnSpPr/>
          <p:nvPr/>
        </p:nvCxnSpPr>
        <p:spPr>
          <a:xfrm>
            <a:off x="8149132" y="3630168"/>
            <a:ext cx="2424989" cy="197510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645444" y="5321808"/>
            <a:ext cx="822960" cy="292608"/>
          </a:xfrm>
          <a:prstGeom prst="rect">
            <a:avLst/>
          </a:prstGeom>
          <a:noFill/>
        </p:spPr>
        <p:txBody>
          <a:bodyPr wrap="square" lIns="0" tIns="0" rIns="0" bIns="0">
            <a:spAutoFit/>
          </a:bodyPr>
          <a:lstStyle/>
          <a:p>
            <a:pPr algn="l"/>
            <a:r>
              <a:rPr sz="2000" b="1" i="1" u="none">
                <a:solidFill>
                  <a:srgbClr val="0B2B4E"/>
                </a:solidFill>
                <a:latin typeface="Calibri"/>
              </a:rPr>
              <a:t>D</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EC317E35-AC66-538C-932E-02B1EFBB37F1}"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035040" cy="489204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b="1">
                <a:solidFill>
                  <a:srgbClr val="0B2B4E"/>
                </a:solidFill>
                <a:latin typeface="Calibri"/>
              </a:rPr>
              <a:t>Distinguish between:</a:t>
            </a:r>
          </a:p>
          <a:p>
            <a:pPr algn="l"/>
            <a:r>
              <a:rPr i="1">
                <a:solidFill>
                  <a:srgbClr val="C00000"/>
                </a:solidFill>
                <a:latin typeface="Calibri"/>
              </a:rPr>
              <a:t>i) Movement along D:</a:t>
            </a:r>
            <a:r>
              <a:rPr>
                <a:latin typeface="Calibri"/>
              </a:rPr>
              <a:t> changes in quantity demanded when price changes, </a:t>
            </a:r>
            <a:r>
              <a:rPr i="1">
                <a:latin typeface="Calibri"/>
              </a:rPr>
              <a:t>all else constant</a:t>
            </a:r>
          </a:p>
          <a:p>
            <a:pPr algn="l"/>
            <a:r>
              <a:rPr i="1">
                <a:solidFill>
                  <a:srgbClr val="007A33"/>
                </a:solidFill>
                <a:latin typeface="Calibri"/>
              </a:rPr>
              <a:t>ii) Shift in Demand:</a:t>
            </a:r>
            <a:r>
              <a:rPr>
                <a:latin typeface="Calibri"/>
              </a:rPr>
              <a:t> changes in demand due to non-price factors</a:t>
            </a:r>
          </a:p>
          <a:p>
            <a:pPr lvl="1" algn="l"/>
            <a:r>
              <a:rPr>
                <a:latin typeface="Calibri"/>
              </a:rPr>
              <a:t>e.g. higher income shifts the demand curve to the right (from </a:t>
            </a:r>
            <a:r>
              <a:rPr i="1">
                <a:latin typeface="Calibri"/>
              </a:rPr>
              <a:t>D</a:t>
            </a:r>
            <a:r>
              <a:rPr>
                <a:latin typeface="Calibri"/>
              </a:rPr>
              <a:t> to </a:t>
            </a:r>
            <a:r>
              <a:rPr i="1">
                <a:latin typeface="Calibri"/>
              </a:rPr>
              <a:t>D′</a:t>
            </a:r>
            <a:r>
              <a:rPr>
                <a:latin typeface="Calibri"/>
              </a:rPr>
              <a:t>)</a:t>
            </a:r>
          </a:p>
        </p:txBody>
      </p:sp>
      <p:cxnSp>
        <p:nvCxnSpPr>
          <p:cNvPr id="8" name="Connector 7"/>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1" name="TextBox 10"/>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2" name="Connector 11"/>
          <p:cNvCxnSpPr/>
          <p:nvPr/>
        </p:nvCxnSpPr>
        <p:spPr>
          <a:xfrm>
            <a:off x="7406640" y="4185666"/>
            <a:ext cx="176936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76004" y="4185666"/>
            <a:ext cx="0" cy="166649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6640" y="3445002"/>
            <a:ext cx="9829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389619" y="3445002"/>
            <a:ext cx="0" cy="240715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99831" y="2889504"/>
            <a:ext cx="2752345" cy="259232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571835" y="5205907"/>
            <a:ext cx="822960" cy="292608"/>
          </a:xfrm>
          <a:prstGeom prst="rect">
            <a:avLst/>
          </a:prstGeom>
          <a:noFill/>
        </p:spPr>
        <p:txBody>
          <a:bodyPr wrap="square" lIns="0" tIns="0" rIns="0" bIns="0">
            <a:spAutoFit/>
          </a:bodyPr>
          <a:lstStyle/>
          <a:p>
            <a:pPr algn="l"/>
            <a:r>
              <a:rPr sz="2000" b="1" i="1" u="none">
                <a:solidFill>
                  <a:srgbClr val="E09F3E"/>
                </a:solidFill>
                <a:latin typeface="Calibri"/>
              </a:rPr>
              <a:t>D</a:t>
            </a:r>
          </a:p>
        </p:txBody>
      </p:sp>
      <p:cxnSp>
        <p:nvCxnSpPr>
          <p:cNvPr id="18" name="Connector 17"/>
          <p:cNvCxnSpPr/>
          <p:nvPr/>
        </p:nvCxnSpPr>
        <p:spPr>
          <a:xfrm>
            <a:off x="8389619" y="3445002"/>
            <a:ext cx="786385" cy="740664"/>
          </a:xfrm>
          <a:prstGeom prst="line">
            <a:avLst/>
          </a:prstGeom>
          <a:ln w="57150">
            <a:solidFill>
              <a:srgbClr val="C00000"/>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09279" y="3037636"/>
            <a:ext cx="548640" cy="274320"/>
          </a:xfrm>
          <a:prstGeom prst="rect">
            <a:avLst/>
          </a:prstGeom>
          <a:noFill/>
        </p:spPr>
        <p:txBody>
          <a:bodyPr wrap="square" lIns="0" tIns="0" rIns="0" bIns="0">
            <a:spAutoFit/>
          </a:bodyPr>
          <a:lstStyle/>
          <a:p>
            <a:pPr algn="l"/>
            <a:r>
              <a:rPr sz="1800" b="1" i="1" u="none">
                <a:solidFill>
                  <a:srgbClr val="C00000"/>
                </a:solidFill>
                <a:latin typeface="Calibri"/>
              </a:rPr>
              <a:t>i)</a:t>
            </a:r>
          </a:p>
        </p:txBody>
      </p:sp>
      <p:grpSp>
        <p:nvGrpSpPr>
          <p:cNvPr id="134" name="sdgroup:Dp"/>
          <p:cNvGrpSpPr/>
          <p:nvPr/>
        </p:nvGrpSpPr>
        <p:grpSpPr>
          <a:xfrm>
            <a:off x="8822131" y="2741371"/>
            <a:ext cx="3184864" cy="2259025"/>
            <a:chOff x="8822131" y="2741371"/>
            <a:chExt cx="3184864" cy="2259025"/>
          </a:xfrm>
        </p:grpSpPr>
        <p:cxnSp>
          <p:nvCxnSpPr>
            <p:cNvPr id="20" name="sdcurve:Dp"/>
            <p:cNvCxnSpPr/>
            <p:nvPr/>
          </p:nvCxnSpPr>
          <p:spPr>
            <a:xfrm>
              <a:off x="8822131" y="2741371"/>
              <a:ext cx="2398471" cy="2259025"/>
            </a:xfrm>
            <a:prstGeom prst="line">
              <a:avLst/>
            </a:prstGeom>
            <a:ln w="34925">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21" name="sdlabel:Dp"/>
            <p:cNvSpPr txBox="1"/>
            <p:nvPr/>
          </p:nvSpPr>
          <p:spPr>
            <a:xfrm>
              <a:off x="11184035" y="4621375"/>
              <a:ext cx="822960" cy="292608"/>
            </a:xfrm>
            <a:prstGeom prst="rect">
              <a:avLst/>
            </a:prstGeom>
            <a:noFill/>
          </p:spPr>
          <p:txBody>
            <a:bodyPr wrap="square" lIns="0" tIns="0" rIns="0" bIns="0">
              <a:spAutoFit/>
            </a:bodyPr>
            <a:lstStyle/>
            <a:p>
              <a:pPr algn="l"/>
              <a:r>
                <a:rPr sz="2000" b="1" i="1" u="none">
                  <a:solidFill>
                    <a:srgbClr val="007A33"/>
                  </a:solidFill>
                  <a:latin typeface="Calibri"/>
                </a:rPr>
                <a:t>D’</a:t>
              </a:r>
            </a:p>
          </p:txBody>
        </p:sp>
        <p:cxnSp>
          <p:nvCxnSpPr>
            <p:cNvPr id="24" name="sdarrow:ii"/>
            <p:cNvCxnSpPr/>
            <p:nvPr/>
          </p:nvCxnSpPr>
          <p:spPr>
            <a:xfrm flipV="1">
              <a:off x="9273830" y="3857848"/>
              <a:ext cx="432511" cy="259232"/>
            </a:xfrm>
            <a:prstGeom prst="line">
              <a:avLst/>
            </a:prstGeom>
            <a:ln w="25400">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sp>
          <p:nvSpPr>
            <p:cNvPr id="25" name="sdlabel:ii"/>
            <p:cNvSpPr txBox="1"/>
            <p:nvPr/>
          </p:nvSpPr>
          <p:spPr>
            <a:xfrm>
              <a:off x="9313149" y="3677718"/>
              <a:ext cx="640080" cy="274320"/>
            </a:xfrm>
            <a:prstGeom prst="rect">
              <a:avLst/>
            </a:prstGeom>
            <a:noFill/>
          </p:spPr>
          <p:txBody>
            <a:bodyPr wrap="square" lIns="0" tIns="0" rIns="0" bIns="0">
              <a:spAutoFit/>
            </a:bodyPr>
            <a:lstStyle/>
            <a:p>
              <a:pPr algn="l"/>
              <a:r>
                <a:rPr sz="1800" b="1" i="1" u="none">
                  <a:solidFill>
                    <a:srgbClr val="007A33"/>
                  </a:solidFill>
                  <a:latin typeface="Calibri"/>
                </a:rPr>
                <a:t>ii)</a:t>
              </a:r>
            </a:p>
          </p:txBody>
        </p:sp>
      </p:grpSp>
      <p:grpSp>
        <p:nvGrpSpPr>
          <p:cNvPr id="135" name="sdgroup:Q3"/>
          <p:cNvGrpSpPr/>
          <p:nvPr/>
        </p:nvGrpSpPr>
        <p:grpSpPr>
          <a:xfrm>
            <a:off x="9176004" y="4185666"/>
            <a:ext cx="1636776" cy="1995678"/>
            <a:chOff x="9176004" y="4185666"/>
            <a:chExt cx="1636776" cy="1995678"/>
          </a:xfrm>
        </p:grpSpPr>
        <p:cxnSp>
          <p:nvCxnSpPr>
            <p:cNvPr id="22" name="sdguide:v:Q3"/>
            <p:cNvCxnSpPr/>
            <p:nvPr/>
          </p:nvCxnSpPr>
          <p:spPr>
            <a:xfrm>
              <a:off x="10355580" y="4185666"/>
              <a:ext cx="0" cy="166649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3" name="sdguide:h:Q3"/>
            <p:cNvCxnSpPr/>
            <p:nvPr/>
          </p:nvCxnSpPr>
          <p:spPr>
            <a:xfrm>
              <a:off x="9176004" y="4185666"/>
              <a:ext cx="117957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0" name="sdxlab:Q3"/>
            <p:cNvSpPr txBox="1"/>
            <p:nvPr/>
          </p:nvSpPr>
          <p:spPr>
            <a:xfrm>
              <a:off x="9898380"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3</a:t>
              </a:r>
            </a:p>
          </p:txBody>
        </p:sp>
      </p:grpSp>
      <p:sp>
        <p:nvSpPr>
          <p:cNvPr id="26" name="TextBox 25"/>
          <p:cNvSpPr txBox="1"/>
          <p:nvPr/>
        </p:nvSpPr>
        <p:spPr>
          <a:xfrm>
            <a:off x="6464807" y="4048506"/>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7" name="TextBox 26"/>
          <p:cNvSpPr txBox="1"/>
          <p:nvPr/>
        </p:nvSpPr>
        <p:spPr>
          <a:xfrm>
            <a:off x="6464807" y="3307842"/>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2</a:t>
            </a:r>
          </a:p>
        </p:txBody>
      </p:sp>
      <p:sp>
        <p:nvSpPr>
          <p:cNvPr id="28" name="TextBox 27"/>
          <p:cNvSpPr txBox="1"/>
          <p:nvPr/>
        </p:nvSpPr>
        <p:spPr>
          <a:xfrm>
            <a:off x="8718804"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sp>
        <p:nvSpPr>
          <p:cNvPr id="29" name="TextBox 28"/>
          <p:cNvSpPr txBox="1"/>
          <p:nvPr/>
        </p:nvSpPr>
        <p:spPr>
          <a:xfrm>
            <a:off x="7932419"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2</a:t>
            </a: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3655CD08-94F7-5EC5-BB1A-BBA38EEAC6D6}"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fade">
                                      <p:cBhvr>
                                        <p:cTn id="30" dur="500"/>
                                        <p:tgtEl>
                                          <p:spTgt spid="7">
                                            <p:txEl>
                                              <p:pRg st="2" end="2"/>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500"/>
                                        <p:tgtEl>
                                          <p:spTgt spid="7">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4"/>
                                        </p:tgtEl>
                                        <p:attrNameLst>
                                          <p:attrName>style.visibility</p:attrName>
                                        </p:attrNameLst>
                                      </p:cBhvr>
                                      <p:to>
                                        <p:strVal val="visible"/>
                                      </p:to>
                                    </p:set>
                                    <p:animEffect transition="in" filter="fade">
                                      <p:cBhvr>
                                        <p:cTn id="38" dur="500"/>
                                        <p:tgtEl>
                                          <p:spTgt spid="13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5"/>
                                        </p:tgtEl>
                                        <p:attrNameLst>
                                          <p:attrName>style.visibility</p:attrName>
                                        </p:attrNameLst>
                                      </p:cBhvr>
                                      <p:to>
                                        <p:strVal val="visible"/>
                                      </p:to>
                                    </p:set>
                                    <p:animEffect transition="in" filter="fade">
                                      <p:cBhvr>
                                        <p:cTn id="43"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AI and the Demand for Computer Chips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035040" cy="169164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Firms are racing to build the capacity to train and run AI models</a:t>
            </a:r>
          </a:p>
          <a:p>
            <a:pPr algn="l"/>
            <a:r>
              <a:rPr dirty="0">
                <a:latin typeface="Calibri"/>
              </a:rPr>
              <a:t>Demand for AI accelerator chips is rising dramatically</a:t>
            </a:r>
          </a:p>
        </p:txBody>
      </p:sp>
      <p:pic>
        <p:nvPicPr>
          <p:cNvPr id="8" name="sdpic:chips" descr="AI_Accelerator_Chips.png"/>
          <p:cNvPicPr>
            <a:picLocks noChangeAspect="1"/>
          </p:cNvPicPr>
          <p:nvPr/>
        </p:nvPicPr>
        <p:blipFill>
          <a:blip r:embed="rId3"/>
          <a:stretch>
            <a:fillRect/>
          </a:stretch>
        </p:blipFill>
        <p:spPr>
          <a:xfrm>
            <a:off x="868680" y="3375397"/>
            <a:ext cx="4846320" cy="2339603"/>
          </a:xfrm>
          <a:prstGeom prst="roundRect">
            <a:avLst>
              <a:gd name="adj" fmla="val 8000"/>
            </a:avLst>
          </a:prstGeom>
          <a:effectLst>
            <a:outerShdw blurRad="50800" dist="38100" dir="2700000" algn="tl" rotWithShape="0">
              <a:srgbClr val="000000">
                <a:alpha val="50000"/>
              </a:srgbClr>
            </a:outerShdw>
          </a:effectLst>
        </p:spPr>
      </p:pic>
      <p:cxnSp>
        <p:nvCxnSpPr>
          <p:cNvPr id="9" name="Connector 8"/>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2" name="TextBox 11"/>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grpSp>
        <p:nvGrpSpPr>
          <p:cNvPr id="127" name="sdgroup:Q1"/>
          <p:cNvGrpSpPr/>
          <p:nvPr/>
        </p:nvGrpSpPr>
        <p:grpSpPr>
          <a:xfrm>
            <a:off x="6464807" y="4048506"/>
            <a:ext cx="3168397" cy="2132838"/>
            <a:chOff x="6464807" y="4048506"/>
            <a:chExt cx="3168397" cy="2132838"/>
          </a:xfrm>
        </p:grpSpPr>
        <p:cxnSp>
          <p:nvCxnSpPr>
            <p:cNvPr id="13" name="sdguide:h:P1"/>
            <p:cNvCxnSpPr/>
            <p:nvPr/>
          </p:nvCxnSpPr>
          <p:spPr>
            <a:xfrm>
              <a:off x="7406640" y="4185666"/>
              <a:ext cx="176936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sdguide:v:Q1"/>
            <p:cNvCxnSpPr/>
            <p:nvPr/>
          </p:nvCxnSpPr>
          <p:spPr>
            <a:xfrm>
              <a:off x="9176004" y="4185666"/>
              <a:ext cx="0" cy="166649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sdylab:P1"/>
            <p:cNvSpPr txBox="1"/>
            <p:nvPr/>
          </p:nvSpPr>
          <p:spPr>
            <a:xfrm>
              <a:off x="6464807" y="4048506"/>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1" name="sdxlab:Q1"/>
            <p:cNvSpPr txBox="1"/>
            <p:nvPr/>
          </p:nvSpPr>
          <p:spPr>
            <a:xfrm>
              <a:off x="8718804"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grpSp>
      <p:grpSp>
        <p:nvGrpSpPr>
          <p:cNvPr id="125" name="sdgroup:D"/>
          <p:cNvGrpSpPr/>
          <p:nvPr/>
        </p:nvGrpSpPr>
        <p:grpSpPr>
          <a:xfrm>
            <a:off x="7799831" y="2889504"/>
            <a:ext cx="3594964" cy="2609011"/>
            <a:chOff x="7799831" y="2889504"/>
            <a:chExt cx="3594964" cy="2609011"/>
          </a:xfrm>
        </p:grpSpPr>
        <p:cxnSp>
          <p:nvCxnSpPr>
            <p:cNvPr id="15" name="sdcurve:D"/>
            <p:cNvCxnSpPr/>
            <p:nvPr/>
          </p:nvCxnSpPr>
          <p:spPr>
            <a:xfrm>
              <a:off x="7799831" y="2889504"/>
              <a:ext cx="2752345" cy="259232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6" name="sdlabel:D"/>
            <p:cNvSpPr txBox="1"/>
            <p:nvPr/>
          </p:nvSpPr>
          <p:spPr>
            <a:xfrm>
              <a:off x="10571835" y="5205907"/>
              <a:ext cx="822960" cy="292608"/>
            </a:xfrm>
            <a:prstGeom prst="rect">
              <a:avLst/>
            </a:prstGeom>
            <a:noFill/>
          </p:spPr>
          <p:txBody>
            <a:bodyPr wrap="square" lIns="0" tIns="0" rIns="0" bIns="0">
              <a:spAutoFit/>
            </a:bodyPr>
            <a:lstStyle/>
            <a:p>
              <a:pPr algn="l"/>
              <a:r>
                <a:rPr sz="2000" b="1" i="1" u="none">
                  <a:solidFill>
                    <a:srgbClr val="E09F3E"/>
                  </a:solidFill>
                  <a:latin typeface="Calibri"/>
                </a:rPr>
                <a:t>D</a:t>
              </a:r>
            </a:p>
          </p:txBody>
        </p:sp>
      </p:grpSp>
      <p:grpSp>
        <p:nvGrpSpPr>
          <p:cNvPr id="126" name="sdgroup:Dp"/>
          <p:cNvGrpSpPr/>
          <p:nvPr/>
        </p:nvGrpSpPr>
        <p:grpSpPr>
          <a:xfrm>
            <a:off x="8822131" y="2741371"/>
            <a:ext cx="3184864" cy="2259025"/>
            <a:chOff x="8822131" y="2741371"/>
            <a:chExt cx="3184864" cy="2259025"/>
          </a:xfrm>
        </p:grpSpPr>
        <p:cxnSp>
          <p:nvCxnSpPr>
            <p:cNvPr id="17" name="sdcurve:Dp"/>
            <p:cNvCxnSpPr/>
            <p:nvPr/>
          </p:nvCxnSpPr>
          <p:spPr>
            <a:xfrm>
              <a:off x="8822131" y="2741371"/>
              <a:ext cx="2398471" cy="2259025"/>
            </a:xfrm>
            <a:prstGeom prst="line">
              <a:avLst/>
            </a:prstGeom>
            <a:ln w="34925">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18" name="sdlabel:Dp"/>
            <p:cNvSpPr txBox="1"/>
            <p:nvPr/>
          </p:nvSpPr>
          <p:spPr>
            <a:xfrm>
              <a:off x="11184035" y="4621375"/>
              <a:ext cx="822960" cy="292608"/>
            </a:xfrm>
            <a:prstGeom prst="rect">
              <a:avLst/>
            </a:prstGeom>
            <a:noFill/>
          </p:spPr>
          <p:txBody>
            <a:bodyPr wrap="square" lIns="0" tIns="0" rIns="0" bIns="0">
              <a:spAutoFit/>
            </a:bodyPr>
            <a:lstStyle/>
            <a:p>
              <a:pPr algn="l"/>
              <a:r>
                <a:rPr sz="2000" b="1" i="1" u="none">
                  <a:solidFill>
                    <a:srgbClr val="007A33"/>
                  </a:solidFill>
                  <a:latin typeface="Calibri"/>
                </a:rPr>
                <a:t>D’</a:t>
              </a:r>
            </a:p>
          </p:txBody>
        </p:sp>
        <p:cxnSp>
          <p:nvCxnSpPr>
            <p:cNvPr id="19" name="sdarrow:shift"/>
            <p:cNvCxnSpPr/>
            <p:nvPr/>
          </p:nvCxnSpPr>
          <p:spPr>
            <a:xfrm flipV="1">
              <a:off x="9273830" y="3857848"/>
              <a:ext cx="432511" cy="259232"/>
            </a:xfrm>
            <a:prstGeom prst="line">
              <a:avLst/>
            </a:prstGeom>
            <a:ln w="25400">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gr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5" name="TextBox 24"/>
          <p:cNvSpPr txBox="1"/>
          <p:nvPr/>
        </p:nvSpPr>
        <p:spPr>
          <a:xfrm>
            <a:off x="11475720" y="6583680"/>
            <a:ext cx="502920" cy="292608"/>
          </a:xfrm>
          <a:prstGeom prst="rect">
            <a:avLst/>
          </a:prstGeom>
          <a:noFill/>
        </p:spPr>
        <p:txBody>
          <a:bodyPr wrap="none" lIns="0" tIns="0" rIns="0" bIns="0">
            <a:spAutoFit/>
          </a:bodyPr>
          <a:lstStyle/>
          <a:p>
            <a:pPr algn="r"/>
            <a:fld id="{2D51E997-482C-5AB1-8E65-EB8009E358F8}"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par>
                                <p:cTn id="8" presetID="10" presetClass="entr" presetSubtype="0" fill="hold" nodeType="with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500"/>
                                        <p:tgtEl>
                                          <p:spTgt spid="1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6"/>
                                        </p:tgtEl>
                                        <p:attrNameLst>
                                          <p:attrName>style.visibility</p:attrName>
                                        </p:attrNameLst>
                                      </p:cBhvr>
                                      <p:to>
                                        <p:strVal val="visible"/>
                                      </p:to>
                                    </p:set>
                                    <p:animEffect transition="in" filter="fade">
                                      <p:cBhvr>
                                        <p:cTn id="1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Supply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9" name="Group pair 119"/>
          <p:cNvGrpSpPr/>
          <p:nvPr/>
        </p:nvGrpSpPr>
        <p:grpSpPr>
          <a:xfrm>
            <a:off x="1234440" y="1554480"/>
            <a:ext cx="9738360" cy="868680"/>
            <a:chOff x="1234440" y="1554480"/>
            <a:chExt cx="9738360" cy="868680"/>
          </a:xfrm>
        </p:grpSpPr>
        <p:sp>
          <p:nvSpPr>
            <p:cNvPr id="7" name="Rounded Rectangle 6"/>
            <p:cNvSpPr/>
            <p:nvPr/>
          </p:nvSpPr>
          <p:spPr>
            <a:xfrm>
              <a:off x="1234440" y="1554480"/>
              <a:ext cx="9738360" cy="8686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664208"/>
              <a:ext cx="9372600" cy="649224"/>
            </a:xfrm>
            <a:prstGeom prst="rect">
              <a:avLst/>
            </a:prstGeom>
            <a:noFill/>
          </p:spPr>
          <p:txBody>
            <a:bodyPr wrap="square" lIns="45720" tIns="0" rIns="45720" bIns="0" anchor="ctr">
              <a:spAutoFit/>
            </a:bodyPr>
            <a:lstStyle/>
            <a:p>
              <a:pPr algn="l"/>
              <a:r>
                <a:rPr sz="1800" b="1" i="0" u="none">
                  <a:solidFill>
                    <a:srgbClr val="0B2B4E"/>
                  </a:solidFill>
                  <a:latin typeface="Calibri"/>
                </a:rPr>
                <a:t>Definition</a:t>
              </a:r>
              <a:r>
                <a:rPr sz="1800" b="0" i="0" u="none">
                  <a:solidFill>
                    <a:srgbClr val="0B2B4E"/>
                  </a:solidFill>
                  <a:latin typeface="Calibri"/>
                </a:rPr>
                <a:t>: Describes the relationship between the quantity of a good that producers are willing to sell and the price of the good, </a:t>
              </a:r>
              <a:r>
                <a:rPr sz="1800" b="0" i="1" u="sng">
                  <a:solidFill>
                    <a:srgbClr val="0B2B4E"/>
                  </a:solidFill>
                  <a:latin typeface="Calibri"/>
                </a:rPr>
                <a:t>holding everything else constant</a:t>
              </a:r>
            </a:p>
          </p:txBody>
        </p:sp>
      </p:grpSp>
      <p:sp>
        <p:nvSpPr>
          <p:cNvPr id="9" name="TextBox 8"/>
          <p:cNvSpPr txBox="1"/>
          <p:nvPr/>
        </p:nvSpPr>
        <p:spPr>
          <a:xfrm>
            <a:off x="434879" y="2880360"/>
            <a:ext cx="6035040" cy="2926080"/>
          </a:xfrm>
          <a:prstGeom prst="rect">
            <a:avLst/>
          </a:prstGeom>
          <a:noFill/>
        </p:spPr>
        <p:txBody>
          <a:bodyPr wrap="square" lIns="0" tIns="0" rIns="0" bIns="0" anchor="ctr">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buNone/>
            </a:pPr>
            <a:r>
              <a:rPr sz="2400" i="1">
                <a:solidFill>
                  <a:srgbClr val="C00000"/>
                </a:solidFill>
                <a:latin typeface="Calibri"/>
              </a:rPr>
              <a:t>Upward sloping:</a:t>
            </a:r>
            <a:r>
              <a:rPr sz="2400">
                <a:solidFill>
                  <a:srgbClr val="0B2B4E"/>
                </a:solidFill>
                <a:latin typeface="Calibri"/>
              </a:rPr>
              <a:t> the higher the price, the more firms are able and willing to produce and sell, </a:t>
            </a:r>
            <a:r>
              <a:rPr sz="2400" i="1">
                <a:solidFill>
                  <a:srgbClr val="0B2B4E"/>
                </a:solidFill>
                <a:latin typeface="Calibri"/>
              </a:rPr>
              <a:t>all else constant</a:t>
            </a:r>
          </a:p>
        </p:txBody>
      </p:sp>
      <p:cxnSp>
        <p:nvCxnSpPr>
          <p:cNvPr id="10" name="Connector 9"/>
          <p:cNvCxnSpPr/>
          <p:nvPr/>
        </p:nvCxnSpPr>
        <p:spPr>
          <a:xfrm flipV="1">
            <a:off x="7863840" y="3081527"/>
            <a:ext cx="0" cy="29077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5989320"/>
            <a:ext cx="37307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78040" y="2679191"/>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3" name="TextBox 12"/>
          <p:cNvSpPr txBox="1"/>
          <p:nvPr/>
        </p:nvSpPr>
        <p:spPr>
          <a:xfrm>
            <a:off x="11064240" y="6080759"/>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cxnSp>
        <p:nvCxnSpPr>
          <p:cNvPr id="14" name="Connector 13"/>
          <p:cNvCxnSpPr/>
          <p:nvPr/>
        </p:nvCxnSpPr>
        <p:spPr>
          <a:xfrm flipV="1">
            <a:off x="8149132" y="3630168"/>
            <a:ext cx="2424989" cy="1920239"/>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645444" y="3374135"/>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919582EC-26A3-5FDE-9A63-332CE2516606}"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3 · Supply and Demand</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Market Supply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035040" cy="489204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b="1">
                <a:solidFill>
                  <a:srgbClr val="0B2B4E"/>
                </a:solidFill>
                <a:latin typeface="Calibri"/>
              </a:rPr>
              <a:t>Distinguish between:</a:t>
            </a:r>
          </a:p>
          <a:p>
            <a:pPr algn="l"/>
            <a:r>
              <a:rPr i="1">
                <a:solidFill>
                  <a:srgbClr val="C00000"/>
                </a:solidFill>
                <a:latin typeface="Calibri"/>
              </a:rPr>
              <a:t>i) Movement along S:</a:t>
            </a:r>
            <a:r>
              <a:rPr>
                <a:latin typeface="Calibri"/>
              </a:rPr>
              <a:t> changes in quantity supplied when price changes, </a:t>
            </a:r>
            <a:r>
              <a:rPr i="1">
                <a:latin typeface="Calibri"/>
              </a:rPr>
              <a:t>all else constant</a:t>
            </a:r>
          </a:p>
          <a:p>
            <a:pPr lvl="1" algn="l"/>
            <a:r>
              <a:rPr>
                <a:latin typeface="Calibri"/>
              </a:rPr>
              <a:t>Existing firms supply more when prices rise</a:t>
            </a:r>
          </a:p>
          <a:p>
            <a:pPr algn="l"/>
            <a:r>
              <a:rPr i="1">
                <a:solidFill>
                  <a:srgbClr val="007A33"/>
                </a:solidFill>
                <a:latin typeface="Calibri"/>
              </a:rPr>
              <a:t>ii) Shifts in S:</a:t>
            </a:r>
            <a:r>
              <a:rPr>
                <a:latin typeface="Calibri"/>
              </a:rPr>
              <a:t> changes in supply; e.g. a shift to the right (from </a:t>
            </a:r>
            <a:r>
              <a:rPr i="1">
                <a:latin typeface="Calibri"/>
              </a:rPr>
              <a:t>S</a:t>
            </a:r>
            <a:r>
              <a:rPr>
                <a:latin typeface="Calibri"/>
              </a:rPr>
              <a:t> to </a:t>
            </a:r>
            <a:r>
              <a:rPr i="1">
                <a:latin typeface="Calibri"/>
              </a:rPr>
              <a:t>S′</a:t>
            </a:r>
            <a:r>
              <a:rPr>
                <a:latin typeface="Calibri"/>
              </a:rPr>
              <a:t>)</a:t>
            </a:r>
          </a:p>
          <a:p>
            <a:pPr lvl="1" algn="l"/>
            <a:r>
              <a:rPr>
                <a:latin typeface="Calibri"/>
              </a:rPr>
              <a:t>Example: better technology, lower input prices, new firms enter the market</a:t>
            </a:r>
          </a:p>
        </p:txBody>
      </p:sp>
      <p:cxnSp>
        <p:nvCxnSpPr>
          <p:cNvPr id="8" name="Connector 7"/>
          <p:cNvCxnSpPr/>
          <p:nvPr/>
        </p:nvCxnSpPr>
        <p:spPr>
          <a:xfrm flipV="1">
            <a:off x="7406640" y="1984248"/>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0664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20840" y="1581912"/>
            <a:ext cx="1828800" cy="292608"/>
          </a:xfrm>
          <a:prstGeom prst="rect">
            <a:avLst/>
          </a:prstGeom>
          <a:noFill/>
        </p:spPr>
        <p:txBody>
          <a:bodyPr wrap="square" lIns="0" tIns="0" rIns="0" bIns="0">
            <a:spAutoFit/>
          </a:bodyPr>
          <a:lstStyle/>
          <a:p>
            <a:pPr algn="l"/>
            <a:r>
              <a:rPr sz="1600" b="1" i="1" u="none">
                <a:solidFill>
                  <a:srgbClr val="0B2B4E"/>
                </a:solidFill>
                <a:latin typeface="Calibri"/>
              </a:rPr>
              <a:t>Price ($)</a:t>
            </a:r>
          </a:p>
        </p:txBody>
      </p:sp>
      <p:sp>
        <p:nvSpPr>
          <p:cNvPr id="11" name="TextBox 10"/>
          <p:cNvSpPr txBox="1"/>
          <p:nvPr/>
        </p:nvSpPr>
        <p:spPr>
          <a:xfrm>
            <a:off x="10972799" y="5943600"/>
            <a:ext cx="1645920" cy="292608"/>
          </a:xfrm>
          <a:prstGeom prst="rect">
            <a:avLst/>
          </a:prstGeom>
          <a:noFill/>
        </p:spPr>
        <p:txBody>
          <a:bodyPr wrap="square" lIns="0" tIns="0" rIns="0" bIns="0">
            <a:spAutoFit/>
          </a:bodyPr>
          <a:lstStyle/>
          <a:p>
            <a:pPr algn="l"/>
            <a:r>
              <a:rPr sz="1600" b="1" i="1" u="none">
                <a:solidFill>
                  <a:srgbClr val="0B2B4E"/>
                </a:solidFill>
                <a:latin typeface="Calibri"/>
              </a:rPr>
              <a:t>Quantity</a:t>
            </a:r>
          </a:p>
        </p:txBody>
      </p:sp>
      <p:grpSp>
        <p:nvGrpSpPr>
          <p:cNvPr id="135" name="sdgroup:P2"/>
          <p:cNvGrpSpPr/>
          <p:nvPr/>
        </p:nvGrpSpPr>
        <p:grpSpPr>
          <a:xfrm>
            <a:off x="6464807" y="3678174"/>
            <a:ext cx="3168397" cy="2503170"/>
            <a:chOff x="6464807" y="3678174"/>
            <a:chExt cx="3168397" cy="2503170"/>
          </a:xfrm>
        </p:grpSpPr>
        <p:cxnSp>
          <p:nvCxnSpPr>
            <p:cNvPr id="12" name="sdguide:h:P2"/>
            <p:cNvCxnSpPr/>
            <p:nvPr/>
          </p:nvCxnSpPr>
          <p:spPr>
            <a:xfrm>
              <a:off x="7406640" y="3815334"/>
              <a:ext cx="176936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3" name="sdguide:v:Q2"/>
            <p:cNvCxnSpPr/>
            <p:nvPr/>
          </p:nvCxnSpPr>
          <p:spPr>
            <a:xfrm>
              <a:off x="9176004" y="3815334"/>
              <a:ext cx="0" cy="203682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sdylab:P2"/>
            <p:cNvSpPr txBox="1"/>
            <p:nvPr/>
          </p:nvSpPr>
          <p:spPr>
            <a:xfrm>
              <a:off x="6464807" y="3678174"/>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2</a:t>
              </a:r>
            </a:p>
          </p:txBody>
        </p:sp>
        <p:sp>
          <p:nvSpPr>
            <p:cNvPr id="28" name="sdxlab:Q2"/>
            <p:cNvSpPr txBox="1"/>
            <p:nvPr/>
          </p:nvSpPr>
          <p:spPr>
            <a:xfrm>
              <a:off x="8718804"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2</a:t>
              </a:r>
            </a:p>
          </p:txBody>
        </p:sp>
      </p:grpSp>
      <p:grpSp>
        <p:nvGrpSpPr>
          <p:cNvPr id="136" name="sdgroup:P1"/>
          <p:cNvGrpSpPr/>
          <p:nvPr/>
        </p:nvGrpSpPr>
        <p:grpSpPr>
          <a:xfrm>
            <a:off x="6464807" y="4233672"/>
            <a:ext cx="2578608" cy="1947672"/>
            <a:chOff x="6464807" y="4233672"/>
            <a:chExt cx="2578608" cy="1947672"/>
          </a:xfrm>
        </p:grpSpPr>
        <p:cxnSp>
          <p:nvCxnSpPr>
            <p:cNvPr id="14" name="sdguide:h:P1"/>
            <p:cNvCxnSpPr/>
            <p:nvPr/>
          </p:nvCxnSpPr>
          <p:spPr>
            <a:xfrm>
              <a:off x="7406640" y="4370832"/>
              <a:ext cx="117957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5" name="sdguide:v:Q1"/>
            <p:cNvCxnSpPr/>
            <p:nvPr/>
          </p:nvCxnSpPr>
          <p:spPr>
            <a:xfrm>
              <a:off x="8586215" y="4370832"/>
              <a:ext cx="0" cy="148132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sdylab:P1"/>
            <p:cNvSpPr txBox="1"/>
            <p:nvPr/>
          </p:nvSpPr>
          <p:spPr>
            <a:xfrm>
              <a:off x="6464807" y="4233672"/>
              <a:ext cx="868680" cy="274320"/>
            </a:xfrm>
            <a:prstGeom prst="rect">
              <a:avLst/>
            </a:prstGeom>
            <a:noFill/>
          </p:spPr>
          <p:txBody>
            <a:bodyPr wrap="square" lIns="0" tIns="0" rIns="0" bIns="0">
              <a:spAutoFit/>
            </a:bodyPr>
            <a:lstStyle/>
            <a:p>
              <a:pPr algn="r"/>
              <a:r>
                <a:rPr sz="1600" b="0" i="1" u="none">
                  <a:solidFill>
                    <a:srgbClr val="0B2B4E"/>
                  </a:solidFill>
                  <a:latin typeface="Calibri"/>
                </a:rPr>
                <a:t>P</a:t>
              </a:r>
              <a:r>
                <a:rPr sz="1600" b="0" i="1" u="none" baseline="-25000">
                  <a:solidFill>
                    <a:srgbClr val="0B2B4E"/>
                  </a:solidFill>
                  <a:latin typeface="Calibri"/>
                </a:rPr>
                <a:t>1</a:t>
              </a:r>
            </a:p>
          </p:txBody>
        </p:sp>
        <p:sp>
          <p:nvSpPr>
            <p:cNvPr id="29" name="sdxlab:Q1"/>
            <p:cNvSpPr txBox="1"/>
            <p:nvPr/>
          </p:nvSpPr>
          <p:spPr>
            <a:xfrm>
              <a:off x="8129015"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1</a:t>
              </a:r>
            </a:p>
          </p:txBody>
        </p:sp>
      </p:grpSp>
      <p:cxnSp>
        <p:nvCxnSpPr>
          <p:cNvPr id="16" name="Connector 15"/>
          <p:cNvCxnSpPr/>
          <p:nvPr/>
        </p:nvCxnSpPr>
        <p:spPr>
          <a:xfrm flipV="1">
            <a:off x="7799831" y="2704338"/>
            <a:ext cx="2555749" cy="2407158"/>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434218" y="2409901"/>
            <a:ext cx="822960"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grpSp>
        <p:nvGrpSpPr>
          <p:cNvPr id="134" name="sdgroup:i"/>
          <p:cNvGrpSpPr/>
          <p:nvPr/>
        </p:nvGrpSpPr>
        <p:grpSpPr>
          <a:xfrm>
            <a:off x="8586215" y="3815334"/>
            <a:ext cx="589789" cy="555498"/>
            <a:chOff x="8586215" y="3815334"/>
            <a:chExt cx="589789" cy="555498"/>
          </a:xfrm>
        </p:grpSpPr>
        <p:cxnSp>
          <p:nvCxnSpPr>
            <p:cNvPr id="18" name="sdarrow:i"/>
            <p:cNvCxnSpPr/>
            <p:nvPr/>
          </p:nvCxnSpPr>
          <p:spPr>
            <a:xfrm flipV="1">
              <a:off x="8586215" y="3815334"/>
              <a:ext cx="589789" cy="555498"/>
            </a:xfrm>
            <a:prstGeom prst="line">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9" name="sdlabel:i"/>
            <p:cNvSpPr txBox="1"/>
            <p:nvPr/>
          </p:nvSpPr>
          <p:spPr>
            <a:xfrm>
              <a:off x="8606347" y="3945653"/>
              <a:ext cx="548640" cy="274320"/>
            </a:xfrm>
            <a:prstGeom prst="rect">
              <a:avLst/>
            </a:prstGeom>
            <a:noFill/>
          </p:spPr>
          <p:txBody>
            <a:bodyPr wrap="square" lIns="0" tIns="0" rIns="0" bIns="0">
              <a:spAutoFit/>
            </a:bodyPr>
            <a:lstStyle/>
            <a:p>
              <a:pPr algn="l"/>
              <a:r>
                <a:rPr sz="1800" b="1" i="1" u="none">
                  <a:solidFill>
                    <a:srgbClr val="C00000"/>
                  </a:solidFill>
                  <a:latin typeface="Calibri"/>
                </a:rPr>
                <a:t>i)</a:t>
              </a:r>
            </a:p>
          </p:txBody>
        </p:sp>
      </p:grpSp>
      <p:grpSp>
        <p:nvGrpSpPr>
          <p:cNvPr id="137" name="sdgroup:Sp"/>
          <p:cNvGrpSpPr/>
          <p:nvPr/>
        </p:nvGrpSpPr>
        <p:grpSpPr>
          <a:xfrm>
            <a:off x="8389619" y="2521000"/>
            <a:ext cx="3535985" cy="3660344"/>
            <a:chOff x="8389619" y="2521000"/>
            <a:chExt cx="3535985" cy="3660344"/>
          </a:xfrm>
        </p:grpSpPr>
        <p:cxnSp>
          <p:nvCxnSpPr>
            <p:cNvPr id="20" name="sdcurve:Sp"/>
            <p:cNvCxnSpPr/>
            <p:nvPr/>
          </p:nvCxnSpPr>
          <p:spPr>
            <a:xfrm flipV="1">
              <a:off x="8389619" y="2852470"/>
              <a:ext cx="2791664" cy="2629358"/>
            </a:xfrm>
            <a:prstGeom prst="line">
              <a:avLst/>
            </a:prstGeom>
            <a:ln w="34925">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21" name="sdlabel:Sp"/>
            <p:cNvSpPr txBox="1"/>
            <p:nvPr/>
          </p:nvSpPr>
          <p:spPr>
            <a:xfrm>
              <a:off x="11102644" y="2521000"/>
              <a:ext cx="822960" cy="292608"/>
            </a:xfrm>
            <a:prstGeom prst="rect">
              <a:avLst/>
            </a:prstGeom>
            <a:noFill/>
          </p:spPr>
          <p:txBody>
            <a:bodyPr wrap="square" lIns="0" tIns="0" rIns="0" bIns="0">
              <a:spAutoFit/>
            </a:bodyPr>
            <a:lstStyle/>
            <a:p>
              <a:pPr algn="l"/>
              <a:r>
                <a:rPr sz="2000" b="1" i="1" u="none">
                  <a:solidFill>
                    <a:srgbClr val="007A33"/>
                  </a:solidFill>
                  <a:latin typeface="Calibri"/>
                </a:rPr>
                <a:t>S’</a:t>
              </a:r>
            </a:p>
          </p:txBody>
        </p:sp>
        <p:cxnSp>
          <p:nvCxnSpPr>
            <p:cNvPr id="22" name="sdguide:v:Q3"/>
            <p:cNvCxnSpPr/>
            <p:nvPr/>
          </p:nvCxnSpPr>
          <p:spPr>
            <a:xfrm>
              <a:off x="10158984" y="3815334"/>
              <a:ext cx="0" cy="203682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3" name="sdguide:h:Q3"/>
            <p:cNvCxnSpPr/>
            <p:nvPr/>
          </p:nvCxnSpPr>
          <p:spPr>
            <a:xfrm>
              <a:off x="9176004" y="3815334"/>
              <a:ext cx="98298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sdarrow:ii"/>
            <p:cNvCxnSpPr/>
            <p:nvPr/>
          </p:nvCxnSpPr>
          <p:spPr>
            <a:xfrm>
              <a:off x="9681648" y="3599985"/>
              <a:ext cx="471831" cy="0"/>
            </a:xfrm>
            <a:prstGeom prst="line">
              <a:avLst/>
            </a:prstGeom>
            <a:ln w="25400">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sp>
          <p:nvSpPr>
            <p:cNvPr id="25" name="sdlabel:ii"/>
            <p:cNvSpPr txBox="1"/>
            <p:nvPr/>
          </p:nvSpPr>
          <p:spPr>
            <a:xfrm>
              <a:off x="9838925" y="3303720"/>
              <a:ext cx="640080" cy="274320"/>
            </a:xfrm>
            <a:prstGeom prst="rect">
              <a:avLst/>
            </a:prstGeom>
            <a:noFill/>
          </p:spPr>
          <p:txBody>
            <a:bodyPr wrap="square" lIns="0" tIns="0" rIns="0" bIns="0">
              <a:spAutoFit/>
            </a:bodyPr>
            <a:lstStyle/>
            <a:p>
              <a:pPr algn="l"/>
              <a:r>
                <a:rPr sz="1800" b="1" i="1" u="none">
                  <a:solidFill>
                    <a:srgbClr val="007A33"/>
                  </a:solidFill>
                  <a:latin typeface="Calibri"/>
                </a:rPr>
                <a:t>ii)</a:t>
              </a:r>
            </a:p>
          </p:txBody>
        </p:sp>
        <p:sp>
          <p:nvSpPr>
            <p:cNvPr id="30" name="sdxlab:Q3"/>
            <p:cNvSpPr txBox="1"/>
            <p:nvPr/>
          </p:nvSpPr>
          <p:spPr>
            <a:xfrm>
              <a:off x="9701784" y="5907024"/>
              <a:ext cx="914400" cy="274320"/>
            </a:xfrm>
            <a:prstGeom prst="rect">
              <a:avLst/>
            </a:prstGeom>
            <a:noFill/>
          </p:spPr>
          <p:txBody>
            <a:bodyPr wrap="square" lIns="0" tIns="0" rIns="0" bIns="0">
              <a:spAutoFit/>
            </a:bodyPr>
            <a:lstStyle/>
            <a:p>
              <a:pPr algn="ctr"/>
              <a:r>
                <a:rPr sz="1600" b="0" i="1" u="none">
                  <a:solidFill>
                    <a:srgbClr val="0B2B4E"/>
                  </a:solidFill>
                  <a:latin typeface="Calibri"/>
                </a:rPr>
                <a:t>Q</a:t>
              </a:r>
              <a:r>
                <a:rPr sz="1600" b="0" i="1" u="none" baseline="-25000">
                  <a:solidFill>
                    <a:srgbClr val="0B2B4E"/>
                  </a:solidFill>
                  <a:latin typeface="Calibri"/>
                </a:rPr>
                <a:t>3</a:t>
              </a: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A60025ED-E43E-5422-B56E-66247596E0AB}"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4"/>
                                        </p:tgtEl>
                                        <p:attrNameLst>
                                          <p:attrName>style.visibility</p:attrName>
                                        </p:attrNameLst>
                                      </p:cBhvr>
                                      <p:to>
                                        <p:strVal val="visible"/>
                                      </p:to>
                                    </p:set>
                                    <p:animEffect transition="in" filter="fade">
                                      <p:cBhvr>
                                        <p:cTn id="13" dur="500"/>
                                        <p:tgtEl>
                                          <p:spTgt spid="134"/>
                                        </p:tgtEl>
                                      </p:cBhvr>
                                    </p:animEffect>
                                  </p:childTnLst>
                                </p:cTn>
                              </p:par>
                              <p:par>
                                <p:cTn id="14" presetID="10" presetClass="entr" presetSubtype="0" fill="hold" nodeType="withEffect">
                                  <p:stCondLst>
                                    <p:cond delay="0"/>
                                  </p:stCondLst>
                                  <p:childTnLst>
                                    <p:set>
                                      <p:cBhvr>
                                        <p:cTn id="15" dur="1" fill="hold">
                                          <p:stCondLst>
                                            <p:cond delay="0"/>
                                          </p:stCondLst>
                                        </p:cTn>
                                        <p:tgtEl>
                                          <p:spTgt spid="135"/>
                                        </p:tgtEl>
                                        <p:attrNameLst>
                                          <p:attrName>style.visibility</p:attrName>
                                        </p:attrNameLst>
                                      </p:cBhvr>
                                      <p:to>
                                        <p:strVal val="visible"/>
                                      </p:to>
                                    </p:set>
                                    <p:animEffect transition="in" filter="fade">
                                      <p:cBhvr>
                                        <p:cTn id="16" dur="500"/>
                                        <p:tgtEl>
                                          <p:spTgt spid="1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500"/>
                                        <p:tgtEl>
                                          <p:spTgt spid="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500"/>
                                        <p:tgtEl>
                                          <p:spTgt spid="7">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37"/>
                                        </p:tgtEl>
                                        <p:attrNameLst>
                                          <p:attrName>style.visibility</p:attrName>
                                        </p:attrNameLst>
                                      </p:cBhvr>
                                      <p:to>
                                        <p:strVal val="visible"/>
                                      </p:to>
                                    </p:set>
                                    <p:animEffect transition="in" filter="fade">
                                      <p:cBhvr>
                                        <p:cTn id="27"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1647</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10</cp:revision>
  <dcterms:created xsi:type="dcterms:W3CDTF">2013-01-27T09:14:16Z</dcterms:created>
  <dcterms:modified xsi:type="dcterms:W3CDTF">2026-08-24T16:06:50Z</dcterms:modified>
  <cp:category/>
</cp:coreProperties>
</file>