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340" r:id="rId2"/>
    <p:sldId id="341" r:id="rId3"/>
    <p:sldId id="342" r:id="rId4"/>
    <p:sldId id="343" r:id="rId5"/>
    <p:sldId id="344" r:id="rId6"/>
    <p:sldId id="345" r:id="rId7"/>
    <p:sldId id="346"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239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Video 4 brings the two sides together: market equilibrium, and what happens when either curve moves.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Equilibrium is the topic here: where demand meets supply, what makes the market get there, and what happens when one of the curves shifts.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where they intersect is called market equilibrium, the price at which the quantity supplied equals the quantity demanded.</a:t>
            </a:r>
          </a:p>
          <a:p>
            <a:r>
              <a:t>To see why market equilibrium is stable, let’s go through what happens when the price deviates from the equilibrium condition:</a:t>
            </a:r>
          </a:p>
          <a:p>
            <a:r>
              <a:t>Suppose the price is higher than P_0; What happens at this price? Producers will start entering the market, wanting to sell at this high price, but they won’t all be able to find willing buyers. Then the quantity supplied will be greater than the quantity demanded. The excess quantity supplied is known as surplus. To eliminate the surplus, producers need to attract more buyers and to do so, they have to lower their prices. As price falls, quantity demanded increases, and the quantity supplied falls until the market reaches equilibrium.</a:t>
            </a:r>
          </a:p>
          <a:p>
            <a:r>
              <a:t>Suppose the price is lower than P_0; then the quantity demanded will exceed the quantity supplied and shortage will develop; To eliminate this shortage, buyers who cannot find the good available for sale will bid up the price and enterprising producers will be more than willing to raise their prices. As price rises, quantity demanded falls, quantity supplied rises, until we reach equilibrium.</a:t>
            </a:r>
          </a:p>
          <a:p>
            <a:r>
              <a:t>How does the market reach equilibrium in practice? Adam Smith’s invisible hand.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terms you will need. The equilibrium, or market-clearing, price is the one at which quantity supplied equals quantity demanded. The market mechanism is the tendency for price to move until that happens. Above that price there is excess supply, below it excess demand, which is a shortage. Keep the words straight and the diagrams become much easier.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Shift out of demand implies that at any given price, consumers will want to buy more.</a:t>
            </a:r>
          </a:p>
          <a:p>
            <a:r>
              <a:t>If the price stayed the same, then a shortage would develop; price needs to rise in order to equilibrate the market.</a:t>
            </a:r>
          </a:p>
          <a:p>
            <a:r>
              <a:t>As price rises, quantity demanded falls and quantity supplied increases until we arrive at the new higher equilibrium price and quantity.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Shift out of supply implies that at any given price, producers are willing to sell a larger quantity.</a:t>
            </a:r>
          </a:p>
          <a:p>
            <a:r>
              <a:t>If the price stayed in its original position then there would be excess supply; price needs to fall to equilibrate the market.</a:t>
            </a:r>
          </a:p>
          <a:p>
            <a:r>
              <a:t>As the price falls, quantity demanded rises and quantity supplied declines.</a:t>
            </a:r>
          </a:p>
          <a:p>
            <a:r>
              <a:t>Price falls until the quantity supplied and quantity demanded are equal.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shifts simultaneously!</a:t>
            </a:r>
          </a:p>
          <a:p>
            <a:r>
              <a:t>When both curves shift, the prediction for either price or quantity will be ambiguous. It will depend on the magnitude of the shift in supply and demand. In the example on this slide, we observe that the prediction for price is ambiguous. It can either increase or decrease depending on how large the shifts in supply and demand are (above a small increase is depicted; as an exercise at home, see if you can shift the curves outward and generate a decrease in the equilibrium price). The prediction for quantity, however, is clear. It increases due to the shift out of both supply and demand.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1874519"/>
            <a:ext cx="10545775" cy="1005840"/>
          </a:xfrm>
          <a:prstGeom prst="rect">
            <a:avLst/>
          </a:prstGeom>
          <a:noFill/>
        </p:spPr>
        <p:txBody>
          <a:bodyPr wrap="square" lIns="0" tIns="0" rIns="0" bIns="0">
            <a:spAutoFit/>
          </a:bodyPr>
          <a:lstStyle/>
          <a:p>
            <a:pPr algn="ctr"/>
            <a:r>
              <a:rPr sz="5400" b="1" i="0" u="none">
                <a:solidFill>
                  <a:srgbClr val="0B2B4E"/>
                </a:solidFill>
                <a:latin typeface="Calibri"/>
              </a:rPr>
              <a:t>Market Equilibrium</a:t>
            </a:r>
          </a:p>
        </p:txBody>
      </p:sp>
      <p:sp>
        <p:nvSpPr>
          <p:cNvPr id="3" name="TextBox 2"/>
          <p:cNvSpPr txBox="1"/>
          <p:nvPr/>
        </p:nvSpPr>
        <p:spPr>
          <a:xfrm>
            <a:off x="0" y="315468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1 – Video 4</a:t>
            </a:r>
          </a:p>
        </p:txBody>
      </p:sp>
      <p:sp>
        <p:nvSpPr>
          <p:cNvPr id="4" name="Rectangle 3"/>
          <p:cNvSpPr/>
          <p:nvPr/>
        </p:nvSpPr>
        <p:spPr>
          <a:xfrm>
            <a:off x="4267047" y="409651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434840"/>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5029200"/>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4 · Market Equilibrium</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1</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1</a:t>
            </a:r>
          </a:p>
        </p:txBody>
      </p:sp>
      <p:sp>
        <p:nvSpPr>
          <p:cNvPr id="8" name="TextBox 7"/>
          <p:cNvSpPr txBox="1"/>
          <p:nvPr/>
        </p:nvSpPr>
        <p:spPr>
          <a:xfrm>
            <a:off x="1874519" y="1495044"/>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Markets</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2</a:t>
            </a:r>
          </a:p>
        </p:txBody>
      </p:sp>
      <p:sp>
        <p:nvSpPr>
          <p:cNvPr id="10" name="TextBox 9"/>
          <p:cNvSpPr txBox="1"/>
          <p:nvPr/>
        </p:nvSpPr>
        <p:spPr>
          <a:xfrm>
            <a:off x="1874519" y="2327148"/>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Demand and supply</a:t>
            </a:r>
          </a:p>
        </p:txBody>
      </p:sp>
      <p:sp>
        <p:nvSpPr>
          <p:cNvPr id="11" name="Rounded Rectangle 10"/>
          <p:cNvSpPr/>
          <p:nvPr/>
        </p:nvSpPr>
        <p:spPr>
          <a:xfrm>
            <a:off x="822960" y="3104388"/>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13" name="TextBox 12"/>
          <p:cNvSpPr txBox="1"/>
          <p:nvPr/>
        </p:nvSpPr>
        <p:spPr>
          <a:xfrm>
            <a:off x="1874519" y="3159252"/>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Equilibrium</a:t>
            </a:r>
          </a:p>
          <a:p>
            <a:pPr algn="l">
              <a:spcBef>
                <a:spcPts val="0"/>
              </a:spcBef>
              <a:buNone/>
            </a:pPr>
            <a:r>
              <a:rPr sz="2200">
                <a:solidFill>
                  <a:srgbClr val="555B66"/>
                </a:solidFill>
                <a:latin typeface="Calibri"/>
              </a:rPr>
              <a:t>Video 4: where demand meets supply, and what moves it</a:t>
            </a:r>
          </a:p>
        </p:txBody>
      </p:sp>
      <p:sp>
        <p:nvSpPr>
          <p:cNvPr id="14" name="Oval 13"/>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4</a:t>
            </a:r>
          </a:p>
        </p:txBody>
      </p:sp>
      <p:sp>
        <p:nvSpPr>
          <p:cNvPr id="15" name="TextBox 14"/>
          <p:cNvSpPr txBox="1"/>
          <p:nvPr/>
        </p:nvSpPr>
        <p:spPr>
          <a:xfrm>
            <a:off x="1874519" y="3991356"/>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Economic costs include opportunity costs</a:t>
            </a:r>
          </a:p>
        </p:txBody>
      </p:sp>
      <p:sp>
        <p:nvSpPr>
          <p:cNvPr id="16" name="Oval 15"/>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5</a:t>
            </a:r>
          </a:p>
        </p:txBody>
      </p:sp>
      <p:sp>
        <p:nvSpPr>
          <p:cNvPr id="17" name="TextBox 16"/>
          <p:cNvSpPr txBox="1"/>
          <p:nvPr/>
        </p:nvSpPr>
        <p:spPr>
          <a:xfrm>
            <a:off x="1874519" y="4823460"/>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Ignore sunk costs</a:t>
            </a: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6</a:t>
            </a:r>
          </a:p>
        </p:txBody>
      </p:sp>
      <p:sp>
        <p:nvSpPr>
          <p:cNvPr id="19" name="TextBox 18"/>
          <p:cNvSpPr txBox="1"/>
          <p:nvPr/>
        </p:nvSpPr>
        <p:spPr>
          <a:xfrm>
            <a:off x="1874519" y="5655564"/>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Use cost-benefit and marginal analysis</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23" name="TextBox 22"/>
          <p:cNvSpPr txBox="1"/>
          <p:nvPr/>
        </p:nvSpPr>
        <p:spPr>
          <a:xfrm>
            <a:off x="11475720" y="6583680"/>
            <a:ext cx="502920" cy="292608"/>
          </a:xfrm>
          <a:prstGeom prst="rect">
            <a:avLst/>
          </a:prstGeom>
          <a:noFill/>
        </p:spPr>
        <p:txBody>
          <a:bodyPr wrap="none" lIns="0" tIns="0" rIns="0" bIns="0">
            <a:spAutoFit/>
          </a:bodyPr>
          <a:lstStyle/>
          <a:p>
            <a:pPr algn="r"/>
            <a:fld id="{189B3304-CDE3-5386-93BE-6E7B3B0EFE8D}"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4 · Market Equilibrium</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Market Mechanism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035040" cy="4892040"/>
          </a:xfrm>
          <a:prstGeom prst="rect">
            <a:avLst/>
          </a:prstGeom>
          <a:noFill/>
        </p:spPr>
        <p:txBody>
          <a:bodyPr wrap="square" lIns="0" tIns="0" rIns="0" bIns="0" anchor="ctr">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i="1">
                <a:solidFill>
                  <a:srgbClr val="C00000"/>
                </a:solidFill>
                <a:latin typeface="Calibri"/>
              </a:rPr>
              <a:t>Market equilibrium:</a:t>
            </a:r>
            <a:r>
              <a:rPr>
                <a:latin typeface="Calibri"/>
              </a:rPr>
              <a:t> where supply and demand intersect, at price </a:t>
            </a:r>
            <a:r>
              <a:rPr i="1">
                <a:latin typeface="Calibri"/>
              </a:rPr>
              <a:t>P</a:t>
            </a:r>
            <a:r>
              <a:rPr i="1" baseline="-25000">
                <a:latin typeface="Calibri"/>
              </a:rPr>
              <a:t>0</a:t>
            </a:r>
            <a:r>
              <a:rPr>
                <a:latin typeface="Calibri"/>
              </a:rPr>
              <a:t> and quantity </a:t>
            </a:r>
            <a:r>
              <a:rPr i="1">
                <a:latin typeface="Calibri"/>
              </a:rPr>
              <a:t>Q</a:t>
            </a:r>
            <a:r>
              <a:rPr i="1" baseline="-25000">
                <a:latin typeface="Calibri"/>
              </a:rPr>
              <a:t>0</a:t>
            </a:r>
          </a:p>
          <a:p>
            <a:pPr algn="l"/>
            <a:r>
              <a:rPr>
                <a:latin typeface="Calibri"/>
              </a:rPr>
              <a:t>At a higher price </a:t>
            </a:r>
            <a:r>
              <a:rPr i="1">
                <a:latin typeface="Calibri"/>
              </a:rPr>
              <a:t>P</a:t>
            </a:r>
            <a:r>
              <a:rPr i="1" baseline="-25000">
                <a:latin typeface="Calibri"/>
              </a:rPr>
              <a:t>1</a:t>
            </a:r>
            <a:r>
              <a:rPr>
                <a:latin typeface="Calibri"/>
              </a:rPr>
              <a:t>, there is </a:t>
            </a:r>
            <a:r>
              <a:rPr i="1">
                <a:solidFill>
                  <a:srgbClr val="0070C0"/>
                </a:solidFill>
                <a:latin typeface="Calibri"/>
              </a:rPr>
              <a:t>excess supply</a:t>
            </a:r>
            <a:r>
              <a:rPr>
                <a:latin typeface="Calibri"/>
              </a:rPr>
              <a:t>, so the price falls</a:t>
            </a:r>
          </a:p>
          <a:p>
            <a:pPr algn="l"/>
            <a:r>
              <a:rPr>
                <a:latin typeface="Calibri"/>
              </a:rPr>
              <a:t>At a lower price </a:t>
            </a:r>
            <a:r>
              <a:rPr i="1">
                <a:latin typeface="Calibri"/>
              </a:rPr>
              <a:t>P</a:t>
            </a:r>
            <a:r>
              <a:rPr i="1" baseline="-25000">
                <a:latin typeface="Calibri"/>
              </a:rPr>
              <a:t>2</a:t>
            </a:r>
            <a:r>
              <a:rPr>
                <a:latin typeface="Calibri"/>
              </a:rPr>
              <a:t>, there is </a:t>
            </a:r>
            <a:r>
              <a:rPr i="1">
                <a:solidFill>
                  <a:srgbClr val="E09F3E"/>
                </a:solidFill>
                <a:latin typeface="Calibri"/>
              </a:rPr>
              <a:t>excess demand</a:t>
            </a:r>
            <a:r>
              <a:rPr>
                <a:latin typeface="Calibri"/>
              </a:rPr>
              <a:t>, so the price is bid up</a:t>
            </a:r>
          </a:p>
        </p:txBody>
      </p:sp>
      <p:cxnSp>
        <p:nvCxnSpPr>
          <p:cNvPr id="8" name="Connector 7"/>
          <p:cNvCxnSpPr/>
          <p:nvPr/>
        </p:nvCxnSpPr>
        <p:spPr>
          <a:xfrm flipV="1">
            <a:off x="7406640" y="1984248"/>
            <a:ext cx="0" cy="38679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06640" y="5852160"/>
            <a:ext cx="40965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20840" y="1581912"/>
            <a:ext cx="1828800" cy="292608"/>
          </a:xfrm>
          <a:prstGeom prst="rect">
            <a:avLst/>
          </a:prstGeom>
          <a:noFill/>
        </p:spPr>
        <p:txBody>
          <a:bodyPr wrap="square" lIns="0" tIns="0" rIns="0" bIns="0">
            <a:spAutoFit/>
          </a:bodyPr>
          <a:lstStyle/>
          <a:p>
            <a:pPr algn="l"/>
            <a:r>
              <a:rPr sz="1600" b="1" i="1" u="none">
                <a:solidFill>
                  <a:srgbClr val="0B2B4E"/>
                </a:solidFill>
                <a:latin typeface="Calibri"/>
              </a:rPr>
              <a:t>Price ($)</a:t>
            </a:r>
          </a:p>
        </p:txBody>
      </p:sp>
      <p:sp>
        <p:nvSpPr>
          <p:cNvPr id="11" name="TextBox 10"/>
          <p:cNvSpPr txBox="1"/>
          <p:nvPr/>
        </p:nvSpPr>
        <p:spPr>
          <a:xfrm>
            <a:off x="10972799" y="5943600"/>
            <a:ext cx="1645920" cy="292608"/>
          </a:xfrm>
          <a:prstGeom prst="rect">
            <a:avLst/>
          </a:prstGeom>
          <a:noFill/>
        </p:spPr>
        <p:txBody>
          <a:bodyPr wrap="square" lIns="0" tIns="0" rIns="0" bIns="0">
            <a:spAutoFit/>
          </a:bodyPr>
          <a:lstStyle/>
          <a:p>
            <a:pPr algn="l"/>
            <a:r>
              <a:rPr sz="1600" b="1" i="1" u="none">
                <a:solidFill>
                  <a:srgbClr val="0B2B4E"/>
                </a:solidFill>
                <a:latin typeface="Calibri"/>
              </a:rPr>
              <a:t>Quantity</a:t>
            </a:r>
          </a:p>
        </p:txBody>
      </p:sp>
      <p:cxnSp>
        <p:nvCxnSpPr>
          <p:cNvPr id="12" name="Connector 11"/>
          <p:cNvCxnSpPr/>
          <p:nvPr/>
        </p:nvCxnSpPr>
        <p:spPr>
          <a:xfrm>
            <a:off x="7406640" y="4185666"/>
            <a:ext cx="1769364"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76004" y="4185666"/>
            <a:ext cx="0" cy="166649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06640" y="3445002"/>
            <a:ext cx="98297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06640" y="4926330"/>
            <a:ext cx="98297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799831" y="2889504"/>
            <a:ext cx="2752345" cy="2592324"/>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571835" y="5205907"/>
            <a:ext cx="822960" cy="292608"/>
          </a:xfrm>
          <a:prstGeom prst="rect">
            <a:avLst/>
          </a:prstGeom>
          <a:noFill/>
        </p:spPr>
        <p:txBody>
          <a:bodyPr wrap="square" lIns="0" tIns="0" rIns="0" bIns="0">
            <a:spAutoFit/>
          </a:bodyPr>
          <a:lstStyle/>
          <a:p>
            <a:pPr algn="l"/>
            <a:r>
              <a:rPr sz="2000" b="1" i="1" u="none">
                <a:solidFill>
                  <a:srgbClr val="0B2B4E"/>
                </a:solidFill>
                <a:latin typeface="Calibri"/>
              </a:rPr>
              <a:t>D</a:t>
            </a:r>
          </a:p>
        </p:txBody>
      </p:sp>
      <p:cxnSp>
        <p:nvCxnSpPr>
          <p:cNvPr id="18" name="Connector 17"/>
          <p:cNvCxnSpPr/>
          <p:nvPr/>
        </p:nvCxnSpPr>
        <p:spPr>
          <a:xfrm flipV="1">
            <a:off x="7996427" y="2704338"/>
            <a:ext cx="2752345" cy="2592324"/>
          </a:xfrm>
          <a:prstGeom prst="line">
            <a:avLst/>
          </a:prstGeom>
          <a:ln w="34925">
            <a:solidFill>
              <a:srgbClr val="95B3D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768431" y="2409901"/>
            <a:ext cx="822960" cy="292608"/>
          </a:xfrm>
          <a:prstGeom prst="rect">
            <a:avLst/>
          </a:prstGeom>
          <a:noFill/>
        </p:spPr>
        <p:txBody>
          <a:bodyPr wrap="square" lIns="0" tIns="0" rIns="0" bIns="0">
            <a:spAutoFit/>
          </a:bodyPr>
          <a:lstStyle/>
          <a:p>
            <a:pPr algn="l"/>
            <a:r>
              <a:rPr sz="2000" b="1" i="1" u="none">
                <a:solidFill>
                  <a:srgbClr val="0B2B4E"/>
                </a:solidFill>
                <a:latin typeface="Calibri"/>
              </a:rPr>
              <a:t>S</a:t>
            </a:r>
          </a:p>
        </p:txBody>
      </p:sp>
      <p:cxnSp>
        <p:nvCxnSpPr>
          <p:cNvPr id="20" name="Connector 19"/>
          <p:cNvCxnSpPr/>
          <p:nvPr/>
        </p:nvCxnSpPr>
        <p:spPr>
          <a:xfrm>
            <a:off x="8389619" y="3445002"/>
            <a:ext cx="1572769" cy="0"/>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546896" y="3111703"/>
            <a:ext cx="2011680" cy="274320"/>
          </a:xfrm>
          <a:prstGeom prst="rect">
            <a:avLst/>
          </a:prstGeom>
          <a:noFill/>
        </p:spPr>
        <p:txBody>
          <a:bodyPr wrap="square" lIns="0" tIns="0" rIns="0" bIns="0">
            <a:spAutoFit/>
          </a:bodyPr>
          <a:lstStyle/>
          <a:p>
            <a:pPr algn="l"/>
            <a:r>
              <a:rPr sz="1500" b="1" i="0" u="none">
                <a:solidFill>
                  <a:srgbClr val="0070C0"/>
                </a:solidFill>
                <a:latin typeface="Calibri"/>
              </a:rPr>
              <a:t>Excess supply</a:t>
            </a:r>
          </a:p>
        </p:txBody>
      </p:sp>
      <p:cxnSp>
        <p:nvCxnSpPr>
          <p:cNvPr id="22" name="Connector 21"/>
          <p:cNvCxnSpPr/>
          <p:nvPr/>
        </p:nvCxnSpPr>
        <p:spPr>
          <a:xfrm>
            <a:off x="8389619" y="4926330"/>
            <a:ext cx="1572769" cy="0"/>
          </a:xfrm>
          <a:prstGeom prst="line">
            <a:avLst/>
          </a:prstGeom>
          <a:ln w="25400">
            <a:solidFill>
              <a:srgbClr val="E09F3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586215" y="5037429"/>
            <a:ext cx="2194560" cy="274320"/>
          </a:xfrm>
          <a:prstGeom prst="rect">
            <a:avLst/>
          </a:prstGeom>
          <a:noFill/>
        </p:spPr>
        <p:txBody>
          <a:bodyPr wrap="square" lIns="0" tIns="0" rIns="0" bIns="0">
            <a:spAutoFit/>
          </a:bodyPr>
          <a:lstStyle/>
          <a:p>
            <a:pPr algn="l"/>
            <a:r>
              <a:rPr sz="1500" b="1" i="0" u="none">
                <a:solidFill>
                  <a:srgbClr val="E09F3E"/>
                </a:solidFill>
                <a:latin typeface="Calibri"/>
              </a:rPr>
              <a:t>Excess demand</a:t>
            </a:r>
          </a:p>
        </p:txBody>
      </p:sp>
      <p:sp>
        <p:nvSpPr>
          <p:cNvPr id="24" name="TextBox 23"/>
          <p:cNvSpPr txBox="1"/>
          <p:nvPr/>
        </p:nvSpPr>
        <p:spPr>
          <a:xfrm>
            <a:off x="6464807" y="3307842"/>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1</a:t>
            </a:r>
          </a:p>
        </p:txBody>
      </p:sp>
      <p:sp>
        <p:nvSpPr>
          <p:cNvPr id="25" name="TextBox 24"/>
          <p:cNvSpPr txBox="1"/>
          <p:nvPr/>
        </p:nvSpPr>
        <p:spPr>
          <a:xfrm>
            <a:off x="6464807" y="4048506"/>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0</a:t>
            </a:r>
          </a:p>
        </p:txBody>
      </p:sp>
      <p:sp>
        <p:nvSpPr>
          <p:cNvPr id="26" name="TextBox 25"/>
          <p:cNvSpPr txBox="1"/>
          <p:nvPr/>
        </p:nvSpPr>
        <p:spPr>
          <a:xfrm>
            <a:off x="6464807" y="4789170"/>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2</a:t>
            </a:r>
          </a:p>
        </p:txBody>
      </p:sp>
      <p:sp>
        <p:nvSpPr>
          <p:cNvPr id="27" name="TextBox 26"/>
          <p:cNvSpPr txBox="1"/>
          <p:nvPr/>
        </p:nvSpPr>
        <p:spPr>
          <a:xfrm>
            <a:off x="8718804"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0</a:t>
            </a: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EBC46955-A002-5DA8-B6D4-80773DB8CA62}"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xEl>
                                              <p:pRg st="1" end="1"/>
                                            </p:txEl>
                                          </p:spTgt>
                                        </p:tgtEl>
                                        <p:attrNameLst>
                                          <p:attrName>style.visibility</p:attrName>
                                        </p:attrNameLst>
                                      </p:cBhvr>
                                      <p:to>
                                        <p:strVal val="visible"/>
                                      </p:to>
                                    </p:set>
                                    <p:animEffect transition="in" filter="fade">
                                      <p:cBhvr>
                                        <p:cTn id="36" dur="500"/>
                                        <p:tgtEl>
                                          <p:spTgt spid="7">
                                            <p:txEl>
                                              <p:pRg st="1" end="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
                                            <p:txEl>
                                              <p:pRg st="2" end="2"/>
                                            </p:txEl>
                                          </p:spTgt>
                                        </p:tgtEl>
                                        <p:attrNameLst>
                                          <p:attrName>style.visibility</p:attrName>
                                        </p:attrNameLst>
                                      </p:cBhvr>
                                      <p:to>
                                        <p:strVal val="visible"/>
                                      </p:to>
                                    </p:set>
                                    <p:animEffect transition="in" filter="fade">
                                      <p:cBhvr>
                                        <p:cTn id="53" dur="500"/>
                                        <p:tgtEl>
                                          <p:spTgt spid="7">
                                            <p:txEl>
                                              <p:pRg st="2" end="2"/>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par>
                                <p:cTn id="57" presetID="10"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4 · Market Equilibrium</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Summary of Terminology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11687697" cy="4892040"/>
          </a:xfrm>
          <a:prstGeom prst="rect">
            <a:avLst/>
          </a:prstGeom>
          <a:noFill/>
        </p:spPr>
        <p:txBody>
          <a:bodyPr wrap="square" lIns="0" tIns="0" rIns="0" bIns="0" anchor="ctr">
            <a:sp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b="1">
                <a:latin typeface="Calibri"/>
              </a:rPr>
              <a:t>Equilibrium (or market clearing) price:</a:t>
            </a:r>
          </a:p>
          <a:p>
            <a:pPr lvl="1" algn="l"/>
            <a:r>
              <a:rPr>
                <a:latin typeface="Calibri"/>
              </a:rPr>
              <a:t>Price that equates the quantity supplied to the quantity demanded</a:t>
            </a:r>
          </a:p>
          <a:p>
            <a:pPr algn="l"/>
            <a:r>
              <a:rPr b="1">
                <a:latin typeface="Calibri"/>
              </a:rPr>
              <a:t>Market mechanism:</a:t>
            </a:r>
          </a:p>
          <a:p>
            <a:pPr lvl="1" algn="l"/>
            <a:r>
              <a:rPr>
                <a:latin typeface="Calibri"/>
              </a:rPr>
              <a:t>Tendency in a free market for price to change until the market clears</a:t>
            </a:r>
          </a:p>
          <a:p>
            <a:pPr algn="l"/>
            <a:r>
              <a:rPr b="1">
                <a:latin typeface="Calibri"/>
              </a:rPr>
              <a:t>Excess Supply:</a:t>
            </a:r>
          </a:p>
          <a:p>
            <a:pPr lvl="1" algn="l"/>
            <a:r>
              <a:rPr>
                <a:latin typeface="Calibri"/>
              </a:rPr>
              <a:t>Situation in which the quantity supplied exceeds the quantity demanded</a:t>
            </a:r>
          </a:p>
          <a:p>
            <a:pPr algn="l"/>
            <a:r>
              <a:rPr b="1">
                <a:latin typeface="Calibri"/>
              </a:rPr>
              <a:t>Excess Demand (shortage):</a:t>
            </a:r>
          </a:p>
          <a:p>
            <a:pPr lvl="1" algn="l"/>
            <a:r>
              <a:rPr>
                <a:latin typeface="Calibri"/>
              </a:rPr>
              <a:t>Situation in which the quantity demanded exceeds the quantity supplied</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9D3E3D20-3DC9-5483-AA90-4FD580D513B5}"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animEffect transition="in" filter="fade">
                                      <p:cBhvr>
                                        <p:cTn id="15" dur="500"/>
                                        <p:tgtEl>
                                          <p:spTgt spid="7">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5" end="5"/>
                                            </p:txEl>
                                          </p:spTgt>
                                        </p:tgtEl>
                                        <p:attrNameLst>
                                          <p:attrName>style.visibility</p:attrName>
                                        </p:attrNameLst>
                                      </p:cBhvr>
                                      <p:to>
                                        <p:strVal val="visible"/>
                                      </p:to>
                                    </p:set>
                                    <p:animEffect transition="in" filter="fade">
                                      <p:cBhvr>
                                        <p:cTn id="18" dur="500"/>
                                        <p:tgtEl>
                                          <p:spTgt spid="7">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animEffect transition="in" filter="fade">
                                      <p:cBhvr>
                                        <p:cTn id="23" dur="500"/>
                                        <p:tgtEl>
                                          <p:spTgt spid="7">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xEl>
                                              <p:pRg st="7" end="7"/>
                                            </p:txEl>
                                          </p:spTgt>
                                        </p:tgtEl>
                                        <p:attrNameLst>
                                          <p:attrName>style.visibility</p:attrName>
                                        </p:attrNameLst>
                                      </p:cBhvr>
                                      <p:to>
                                        <p:strVal val="visible"/>
                                      </p:to>
                                    </p:set>
                                    <p:animEffect transition="in" filter="fade">
                                      <p:cBhvr>
                                        <p:cTn id="26"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4 · Market Equilibrium</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Changes in Market Equilibrium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5852160" cy="4892040"/>
          </a:xfrm>
          <a:prstGeom prst="rect">
            <a:avLst/>
          </a:prstGeom>
          <a:noFill/>
        </p:spPr>
        <p:txBody>
          <a:bodyPr wrap="square" lIns="0" tIns="0" rIns="0" bIns="0" anchor="ctr">
            <a:sp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buNone/>
            </a:pPr>
            <a:r>
              <a:rPr sz="2400" dirty="0">
                <a:solidFill>
                  <a:srgbClr val="0B2B4E"/>
                </a:solidFill>
                <a:latin typeface="Calibri"/>
              </a:rPr>
              <a:t>When the demand curve shifts to the right, the market clears at a higher price </a:t>
            </a:r>
            <a:r>
              <a:rPr sz="2400" i="1" dirty="0">
                <a:solidFill>
                  <a:srgbClr val="0B2B4E"/>
                </a:solidFill>
                <a:latin typeface="Calibri"/>
              </a:rPr>
              <a:t>P</a:t>
            </a:r>
            <a:r>
              <a:rPr sz="2400" i="1" baseline="-25000" dirty="0">
                <a:solidFill>
                  <a:srgbClr val="0B2B4E"/>
                </a:solidFill>
                <a:latin typeface="Calibri"/>
              </a:rPr>
              <a:t>1</a:t>
            </a:r>
            <a:r>
              <a:rPr sz="2400" dirty="0">
                <a:solidFill>
                  <a:srgbClr val="0B2B4E"/>
                </a:solidFill>
                <a:latin typeface="Calibri"/>
              </a:rPr>
              <a:t> and a larger quantity </a:t>
            </a:r>
            <a:r>
              <a:rPr sz="2400" i="1" dirty="0">
                <a:solidFill>
                  <a:srgbClr val="0B2B4E"/>
                </a:solidFill>
                <a:latin typeface="Calibri"/>
              </a:rPr>
              <a:t>Q</a:t>
            </a:r>
            <a:r>
              <a:rPr sz="2400" i="1" baseline="-25000" dirty="0">
                <a:solidFill>
                  <a:srgbClr val="0B2B4E"/>
                </a:solidFill>
                <a:latin typeface="Calibri"/>
              </a:rPr>
              <a:t>1</a:t>
            </a:r>
          </a:p>
        </p:txBody>
      </p:sp>
      <p:sp>
        <p:nvSpPr>
          <p:cNvPr id="8" name="TextBox 7"/>
          <p:cNvSpPr txBox="1"/>
          <p:nvPr/>
        </p:nvSpPr>
        <p:spPr>
          <a:xfrm>
            <a:off x="6675120" y="1481328"/>
            <a:ext cx="4846320" cy="384048"/>
          </a:xfrm>
          <a:prstGeom prst="rect">
            <a:avLst/>
          </a:prstGeom>
          <a:noFill/>
        </p:spPr>
        <p:txBody>
          <a:bodyPr wrap="none">
            <a:spAutoFit/>
          </a:bodyPr>
          <a:lstStyle/>
          <a:p>
            <a:pPr algn="ctr"/>
            <a:r>
              <a:rPr sz="2000" b="1" u="none">
                <a:solidFill>
                  <a:srgbClr val="0B2B4E"/>
                </a:solidFill>
                <a:latin typeface="Calibri"/>
              </a:rPr>
              <a:t>SHIFT IN DEMAND</a:t>
            </a:r>
          </a:p>
        </p:txBody>
      </p:sp>
      <p:cxnSp>
        <p:nvCxnSpPr>
          <p:cNvPr id="9" name="Connector 8"/>
          <p:cNvCxnSpPr/>
          <p:nvPr/>
        </p:nvCxnSpPr>
        <p:spPr>
          <a:xfrm flipV="1">
            <a:off x="7406640" y="1984248"/>
            <a:ext cx="0" cy="38679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406640" y="5852160"/>
            <a:ext cx="40965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720840" y="1581912"/>
            <a:ext cx="1828800" cy="292608"/>
          </a:xfrm>
          <a:prstGeom prst="rect">
            <a:avLst/>
          </a:prstGeom>
          <a:noFill/>
        </p:spPr>
        <p:txBody>
          <a:bodyPr wrap="square" lIns="0" tIns="0" rIns="0" bIns="0">
            <a:spAutoFit/>
          </a:bodyPr>
          <a:lstStyle/>
          <a:p>
            <a:pPr algn="l"/>
            <a:r>
              <a:rPr sz="1600" b="1" i="1" u="none">
                <a:solidFill>
                  <a:srgbClr val="0B2B4E"/>
                </a:solidFill>
                <a:latin typeface="Calibri"/>
              </a:rPr>
              <a:t>Price ($)</a:t>
            </a:r>
          </a:p>
        </p:txBody>
      </p:sp>
      <p:sp>
        <p:nvSpPr>
          <p:cNvPr id="12" name="TextBox 11"/>
          <p:cNvSpPr txBox="1"/>
          <p:nvPr/>
        </p:nvSpPr>
        <p:spPr>
          <a:xfrm>
            <a:off x="10972799" y="5943600"/>
            <a:ext cx="1645920" cy="292608"/>
          </a:xfrm>
          <a:prstGeom prst="rect">
            <a:avLst/>
          </a:prstGeom>
          <a:noFill/>
        </p:spPr>
        <p:txBody>
          <a:bodyPr wrap="square" lIns="0" tIns="0" rIns="0" bIns="0">
            <a:spAutoFit/>
          </a:bodyPr>
          <a:lstStyle/>
          <a:p>
            <a:pPr algn="l"/>
            <a:r>
              <a:rPr sz="1600" b="1" i="1" u="none">
                <a:solidFill>
                  <a:srgbClr val="0B2B4E"/>
                </a:solidFill>
                <a:latin typeface="Calibri"/>
              </a:rPr>
              <a:t>Quantity</a:t>
            </a:r>
          </a:p>
        </p:txBody>
      </p:sp>
      <p:cxnSp>
        <p:nvCxnSpPr>
          <p:cNvPr id="13" name="Connector 12"/>
          <p:cNvCxnSpPr/>
          <p:nvPr/>
        </p:nvCxnSpPr>
        <p:spPr>
          <a:xfrm>
            <a:off x="7406640" y="4463415"/>
            <a:ext cx="147446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81109" y="4463415"/>
            <a:ext cx="0" cy="1388745"/>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734299" y="3383280"/>
            <a:ext cx="2293621" cy="2160270"/>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60686" y="5273802"/>
            <a:ext cx="822960" cy="292608"/>
          </a:xfrm>
          <a:prstGeom prst="rect">
            <a:avLst/>
          </a:prstGeom>
          <a:noFill/>
        </p:spPr>
        <p:txBody>
          <a:bodyPr wrap="square" lIns="0" tIns="0" rIns="0" bIns="0">
            <a:spAutoFit/>
          </a:bodyPr>
          <a:lstStyle/>
          <a:p>
            <a:pPr algn="l"/>
            <a:r>
              <a:rPr sz="2000" b="1" i="1" u="none">
                <a:solidFill>
                  <a:srgbClr val="E09F3E"/>
                </a:solidFill>
                <a:latin typeface="Calibri"/>
              </a:rPr>
              <a:t>D</a:t>
            </a:r>
          </a:p>
        </p:txBody>
      </p:sp>
      <p:cxnSp>
        <p:nvCxnSpPr>
          <p:cNvPr id="19" name="Connector 18"/>
          <p:cNvCxnSpPr/>
          <p:nvPr/>
        </p:nvCxnSpPr>
        <p:spPr>
          <a:xfrm flipV="1">
            <a:off x="7898129" y="3074670"/>
            <a:ext cx="2457451" cy="2314575"/>
          </a:xfrm>
          <a:prstGeom prst="line">
            <a:avLst/>
          </a:prstGeom>
          <a:ln w="34925">
            <a:solidFill>
              <a:srgbClr val="95B3D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388345" y="2804922"/>
            <a:ext cx="822960" cy="292608"/>
          </a:xfrm>
          <a:prstGeom prst="rect">
            <a:avLst/>
          </a:prstGeom>
          <a:noFill/>
        </p:spPr>
        <p:txBody>
          <a:bodyPr wrap="square" lIns="0" tIns="0" rIns="0" bIns="0">
            <a:spAutoFit/>
          </a:bodyPr>
          <a:lstStyle/>
          <a:p>
            <a:pPr algn="l"/>
            <a:r>
              <a:rPr sz="2000" b="1" i="1" u="none">
                <a:solidFill>
                  <a:srgbClr val="0B2B4E"/>
                </a:solidFill>
                <a:latin typeface="Calibri"/>
              </a:rPr>
              <a:t>S</a:t>
            </a:r>
          </a:p>
        </p:txBody>
      </p:sp>
      <p:sp>
        <p:nvSpPr>
          <p:cNvPr id="23" name="TextBox 22"/>
          <p:cNvSpPr txBox="1"/>
          <p:nvPr/>
        </p:nvSpPr>
        <p:spPr>
          <a:xfrm>
            <a:off x="6464807" y="4326255"/>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0</a:t>
            </a:r>
          </a:p>
        </p:txBody>
      </p:sp>
      <p:sp>
        <p:nvSpPr>
          <p:cNvPr id="25" name="TextBox 24"/>
          <p:cNvSpPr txBox="1"/>
          <p:nvPr/>
        </p:nvSpPr>
        <p:spPr>
          <a:xfrm>
            <a:off x="8423909"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0</a:t>
            </a:r>
          </a:p>
        </p:txBody>
      </p:sp>
      <p:grpSp>
        <p:nvGrpSpPr>
          <p:cNvPr id="33" name="Group 32">
            <a:extLst>
              <a:ext uri="{FF2B5EF4-FFF2-40B4-BE49-F238E27FC236}">
                <a16:creationId xmlns:a16="http://schemas.microsoft.com/office/drawing/2014/main" id="{A698194B-FFB2-66A7-C68C-000E37405107}"/>
              </a:ext>
            </a:extLst>
          </p:cNvPr>
          <p:cNvGrpSpPr/>
          <p:nvPr/>
        </p:nvGrpSpPr>
        <p:grpSpPr>
          <a:xfrm>
            <a:off x="6464807" y="3863340"/>
            <a:ext cx="3364993" cy="2318004"/>
            <a:chOff x="6464807" y="3863340"/>
            <a:chExt cx="3364993" cy="2318004"/>
          </a:xfrm>
        </p:grpSpPr>
        <p:cxnSp>
          <p:nvCxnSpPr>
            <p:cNvPr id="15" name="Connector 14"/>
            <p:cNvCxnSpPr/>
            <p:nvPr/>
          </p:nvCxnSpPr>
          <p:spPr>
            <a:xfrm>
              <a:off x="7406640" y="4000500"/>
              <a:ext cx="196596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372600" y="4000500"/>
              <a:ext cx="0" cy="185166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64807" y="3863340"/>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1</a:t>
              </a:r>
            </a:p>
          </p:txBody>
        </p:sp>
        <p:sp>
          <p:nvSpPr>
            <p:cNvPr id="26" name="TextBox 25"/>
            <p:cNvSpPr txBox="1"/>
            <p:nvPr/>
          </p:nvSpPr>
          <p:spPr>
            <a:xfrm>
              <a:off x="8915400"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1</a:t>
              </a:r>
            </a:p>
          </p:txBody>
        </p:sp>
      </p:grpSp>
      <p:grpSp>
        <p:nvGrpSpPr>
          <p:cNvPr id="35" name="Group 34">
            <a:extLst>
              <a:ext uri="{FF2B5EF4-FFF2-40B4-BE49-F238E27FC236}">
                <a16:creationId xmlns:a16="http://schemas.microsoft.com/office/drawing/2014/main" id="{EE0DF285-0F83-7FFC-5A47-10E80E744C06}"/>
              </a:ext>
            </a:extLst>
          </p:cNvPr>
          <p:cNvGrpSpPr/>
          <p:nvPr/>
        </p:nvGrpSpPr>
        <p:grpSpPr>
          <a:xfrm>
            <a:off x="8520684" y="3198114"/>
            <a:ext cx="3214878" cy="2221992"/>
            <a:chOff x="8520684" y="3198114"/>
            <a:chExt cx="3214878" cy="2221992"/>
          </a:xfrm>
        </p:grpSpPr>
        <p:sp>
          <p:nvSpPr>
            <p:cNvPr id="22" name="TextBox 21"/>
            <p:cNvSpPr txBox="1"/>
            <p:nvPr/>
          </p:nvSpPr>
          <p:spPr>
            <a:xfrm>
              <a:off x="10912602" y="5119497"/>
              <a:ext cx="822960" cy="292608"/>
            </a:xfrm>
            <a:prstGeom prst="rect">
              <a:avLst/>
            </a:prstGeom>
            <a:noFill/>
          </p:spPr>
          <p:txBody>
            <a:bodyPr wrap="square" lIns="0" tIns="0" rIns="0" bIns="0">
              <a:spAutoFit/>
            </a:bodyPr>
            <a:lstStyle/>
            <a:p>
              <a:pPr algn="l"/>
              <a:r>
                <a:rPr sz="2000" b="1" i="1" u="none" dirty="0">
                  <a:solidFill>
                    <a:srgbClr val="007A33"/>
                  </a:solidFill>
                  <a:latin typeface="Calibri"/>
                </a:rPr>
                <a:t>D’</a:t>
              </a:r>
            </a:p>
          </p:txBody>
        </p:sp>
        <p:grpSp>
          <p:nvGrpSpPr>
            <p:cNvPr id="34" name="Group 33">
              <a:extLst>
                <a:ext uri="{FF2B5EF4-FFF2-40B4-BE49-F238E27FC236}">
                  <a16:creationId xmlns:a16="http://schemas.microsoft.com/office/drawing/2014/main" id="{541A2BA0-CE1C-7F80-2ADE-92A53AE4CDF8}"/>
                </a:ext>
              </a:extLst>
            </p:cNvPr>
            <p:cNvGrpSpPr/>
            <p:nvPr/>
          </p:nvGrpSpPr>
          <p:grpSpPr>
            <a:xfrm>
              <a:off x="8520684" y="3198114"/>
              <a:ext cx="2616708" cy="2221992"/>
              <a:chOff x="8520684" y="3198114"/>
              <a:chExt cx="2616708" cy="2221992"/>
            </a:xfrm>
          </p:grpSpPr>
          <p:cxnSp>
            <p:nvCxnSpPr>
              <p:cNvPr id="21" name="Connector 20"/>
              <p:cNvCxnSpPr/>
              <p:nvPr/>
            </p:nvCxnSpPr>
            <p:spPr>
              <a:xfrm>
                <a:off x="8520684" y="3198114"/>
                <a:ext cx="2359152" cy="2221992"/>
              </a:xfrm>
              <a:prstGeom prst="line">
                <a:avLst/>
              </a:prstGeom>
              <a:ln w="34925">
                <a:solidFill>
                  <a:srgbClr val="007A33"/>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9208767" y="4309110"/>
                <a:ext cx="458725" cy="406337"/>
              </a:xfrm>
              <a:prstGeom prst="line">
                <a:avLst/>
              </a:prstGeom>
              <a:ln w="25400">
                <a:solidFill>
                  <a:srgbClr val="007A33"/>
                </a:solidFill>
                <a:tailEnd type="triangle" w="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765792" y="4802886"/>
                <a:ext cx="1371600" cy="548640"/>
              </a:xfrm>
              <a:prstGeom prst="rect">
                <a:avLst/>
              </a:prstGeom>
              <a:noFill/>
            </p:spPr>
            <p:txBody>
              <a:bodyPr wrap="square" lIns="0" tIns="0" rIns="0" bIns="0">
                <a:spAutoFit/>
              </a:bodyPr>
              <a:lstStyle/>
              <a:p>
                <a:pPr algn="l"/>
                <a:r>
                  <a:rPr sz="1300" b="1" i="0" u="none">
                    <a:solidFill>
                      <a:srgbClr val="007A33"/>
                    </a:solidFill>
                    <a:latin typeface="Calibri"/>
                  </a:rPr>
                  <a:t>Shift in
demand</a:t>
                </a:r>
              </a:p>
            </p:txBody>
          </p:sp>
        </p:grpSp>
      </p:gr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D0F75885-460E-5C4B-B276-65C6A0E048D9}"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4 · Market Equilibrium</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Changes in Market Equilibrium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5852160" cy="4892040"/>
          </a:xfrm>
          <a:prstGeom prst="rect">
            <a:avLst/>
          </a:prstGeom>
          <a:noFill/>
        </p:spPr>
        <p:txBody>
          <a:bodyPr wrap="square" lIns="0" tIns="0" rIns="0" bIns="0" anchor="ctr">
            <a:sp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buNone/>
            </a:pPr>
            <a:r>
              <a:rPr sz="2400" dirty="0">
                <a:solidFill>
                  <a:srgbClr val="0B2B4E"/>
                </a:solidFill>
                <a:latin typeface="Calibri"/>
              </a:rPr>
              <a:t>When the supply curve shifts to the right, the market clears at a lower price </a:t>
            </a:r>
            <a:r>
              <a:rPr sz="2400" i="1" dirty="0">
                <a:solidFill>
                  <a:srgbClr val="0B2B4E"/>
                </a:solidFill>
                <a:latin typeface="Calibri"/>
              </a:rPr>
              <a:t>P</a:t>
            </a:r>
            <a:r>
              <a:rPr sz="2400" i="1" baseline="-25000" dirty="0">
                <a:solidFill>
                  <a:srgbClr val="0B2B4E"/>
                </a:solidFill>
                <a:latin typeface="Calibri"/>
              </a:rPr>
              <a:t>1</a:t>
            </a:r>
            <a:r>
              <a:rPr sz="2400" dirty="0">
                <a:solidFill>
                  <a:srgbClr val="0B2B4E"/>
                </a:solidFill>
                <a:latin typeface="Calibri"/>
              </a:rPr>
              <a:t> and a larger quantity </a:t>
            </a:r>
            <a:r>
              <a:rPr sz="2400" i="1" dirty="0">
                <a:solidFill>
                  <a:srgbClr val="0B2B4E"/>
                </a:solidFill>
                <a:latin typeface="Calibri"/>
              </a:rPr>
              <a:t>Q</a:t>
            </a:r>
            <a:r>
              <a:rPr sz="2400" i="1" baseline="-25000" dirty="0">
                <a:solidFill>
                  <a:srgbClr val="0B2B4E"/>
                </a:solidFill>
                <a:latin typeface="Calibri"/>
              </a:rPr>
              <a:t>1</a:t>
            </a:r>
          </a:p>
        </p:txBody>
      </p:sp>
      <p:sp>
        <p:nvSpPr>
          <p:cNvPr id="8" name="TextBox 7"/>
          <p:cNvSpPr txBox="1"/>
          <p:nvPr/>
        </p:nvSpPr>
        <p:spPr>
          <a:xfrm>
            <a:off x="6675120" y="1481328"/>
            <a:ext cx="4846320" cy="384048"/>
          </a:xfrm>
          <a:prstGeom prst="rect">
            <a:avLst/>
          </a:prstGeom>
          <a:noFill/>
        </p:spPr>
        <p:txBody>
          <a:bodyPr wrap="none">
            <a:spAutoFit/>
          </a:bodyPr>
          <a:lstStyle/>
          <a:p>
            <a:pPr algn="ctr"/>
            <a:r>
              <a:rPr sz="2000" b="1" u="none">
                <a:solidFill>
                  <a:srgbClr val="0B2B4E"/>
                </a:solidFill>
                <a:latin typeface="Calibri"/>
              </a:rPr>
              <a:t>SHIFT IN SUPPLY</a:t>
            </a:r>
          </a:p>
        </p:txBody>
      </p:sp>
      <p:cxnSp>
        <p:nvCxnSpPr>
          <p:cNvPr id="9" name="Connector 8"/>
          <p:cNvCxnSpPr/>
          <p:nvPr/>
        </p:nvCxnSpPr>
        <p:spPr>
          <a:xfrm flipV="1">
            <a:off x="7406640" y="1984248"/>
            <a:ext cx="0" cy="38679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406640" y="5852160"/>
            <a:ext cx="40965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720840" y="1581912"/>
            <a:ext cx="1828800" cy="292608"/>
          </a:xfrm>
          <a:prstGeom prst="rect">
            <a:avLst/>
          </a:prstGeom>
          <a:noFill/>
        </p:spPr>
        <p:txBody>
          <a:bodyPr wrap="square" lIns="0" tIns="0" rIns="0" bIns="0">
            <a:spAutoFit/>
          </a:bodyPr>
          <a:lstStyle/>
          <a:p>
            <a:pPr algn="l"/>
            <a:r>
              <a:rPr sz="1600" b="1" i="1" u="none">
                <a:solidFill>
                  <a:srgbClr val="0B2B4E"/>
                </a:solidFill>
                <a:latin typeface="Calibri"/>
              </a:rPr>
              <a:t>Price ($)</a:t>
            </a:r>
          </a:p>
        </p:txBody>
      </p:sp>
      <p:sp>
        <p:nvSpPr>
          <p:cNvPr id="12" name="TextBox 11"/>
          <p:cNvSpPr txBox="1"/>
          <p:nvPr/>
        </p:nvSpPr>
        <p:spPr>
          <a:xfrm>
            <a:off x="10972799" y="5943600"/>
            <a:ext cx="1645920" cy="292608"/>
          </a:xfrm>
          <a:prstGeom prst="rect">
            <a:avLst/>
          </a:prstGeom>
          <a:noFill/>
        </p:spPr>
        <p:txBody>
          <a:bodyPr wrap="square" lIns="0" tIns="0" rIns="0" bIns="0">
            <a:spAutoFit/>
          </a:bodyPr>
          <a:lstStyle/>
          <a:p>
            <a:pPr algn="l"/>
            <a:r>
              <a:rPr sz="1600" b="1" i="1" u="none">
                <a:solidFill>
                  <a:srgbClr val="0B2B4E"/>
                </a:solidFill>
                <a:latin typeface="Calibri"/>
              </a:rPr>
              <a:t>Quantity</a:t>
            </a:r>
          </a:p>
        </p:txBody>
      </p:sp>
      <p:cxnSp>
        <p:nvCxnSpPr>
          <p:cNvPr id="13" name="Connector 12"/>
          <p:cNvCxnSpPr/>
          <p:nvPr/>
        </p:nvCxnSpPr>
        <p:spPr>
          <a:xfrm>
            <a:off x="7406640" y="4463415"/>
            <a:ext cx="147446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81109" y="4463415"/>
            <a:ext cx="0" cy="1388745"/>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734299" y="3383280"/>
            <a:ext cx="2293621" cy="2160270"/>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60686" y="5273802"/>
            <a:ext cx="822960" cy="292608"/>
          </a:xfrm>
          <a:prstGeom prst="rect">
            <a:avLst/>
          </a:prstGeom>
          <a:noFill/>
        </p:spPr>
        <p:txBody>
          <a:bodyPr wrap="square" lIns="0" tIns="0" rIns="0" bIns="0">
            <a:spAutoFit/>
          </a:bodyPr>
          <a:lstStyle/>
          <a:p>
            <a:pPr algn="l"/>
            <a:r>
              <a:rPr sz="2000" b="1" i="1" u="none">
                <a:solidFill>
                  <a:srgbClr val="E09F3E"/>
                </a:solidFill>
                <a:latin typeface="Calibri"/>
              </a:rPr>
              <a:t>D</a:t>
            </a:r>
          </a:p>
        </p:txBody>
      </p:sp>
      <p:cxnSp>
        <p:nvCxnSpPr>
          <p:cNvPr id="19" name="Connector 18"/>
          <p:cNvCxnSpPr/>
          <p:nvPr/>
        </p:nvCxnSpPr>
        <p:spPr>
          <a:xfrm flipV="1">
            <a:off x="7898129" y="3074670"/>
            <a:ext cx="2457451" cy="2314575"/>
          </a:xfrm>
          <a:prstGeom prst="line">
            <a:avLst/>
          </a:prstGeom>
          <a:ln w="34925">
            <a:solidFill>
              <a:srgbClr val="95B3D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388345" y="2804922"/>
            <a:ext cx="822960" cy="292608"/>
          </a:xfrm>
          <a:prstGeom prst="rect">
            <a:avLst/>
          </a:prstGeom>
          <a:noFill/>
        </p:spPr>
        <p:txBody>
          <a:bodyPr wrap="square" lIns="0" tIns="0" rIns="0" bIns="0">
            <a:spAutoFit/>
          </a:bodyPr>
          <a:lstStyle/>
          <a:p>
            <a:pPr algn="l"/>
            <a:r>
              <a:rPr sz="2000" b="1" i="1" u="none">
                <a:solidFill>
                  <a:srgbClr val="0B2B4E"/>
                </a:solidFill>
                <a:latin typeface="Calibri"/>
              </a:rPr>
              <a:t>S</a:t>
            </a:r>
          </a:p>
        </p:txBody>
      </p:sp>
      <p:sp>
        <p:nvSpPr>
          <p:cNvPr id="23" name="TextBox 22"/>
          <p:cNvSpPr txBox="1"/>
          <p:nvPr/>
        </p:nvSpPr>
        <p:spPr>
          <a:xfrm>
            <a:off x="6464807" y="4326255"/>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0</a:t>
            </a:r>
          </a:p>
        </p:txBody>
      </p:sp>
      <p:sp>
        <p:nvSpPr>
          <p:cNvPr id="25" name="TextBox 24"/>
          <p:cNvSpPr txBox="1"/>
          <p:nvPr/>
        </p:nvSpPr>
        <p:spPr>
          <a:xfrm>
            <a:off x="8423909"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0</a:t>
            </a:r>
          </a:p>
        </p:txBody>
      </p:sp>
      <p:grpSp>
        <p:nvGrpSpPr>
          <p:cNvPr id="34" name="Group 33">
            <a:extLst>
              <a:ext uri="{FF2B5EF4-FFF2-40B4-BE49-F238E27FC236}">
                <a16:creationId xmlns:a16="http://schemas.microsoft.com/office/drawing/2014/main" id="{2CC7653C-1FB5-CA6D-64AF-E80B4DC99C96}"/>
              </a:ext>
            </a:extLst>
          </p:cNvPr>
          <p:cNvGrpSpPr/>
          <p:nvPr/>
        </p:nvGrpSpPr>
        <p:grpSpPr>
          <a:xfrm>
            <a:off x="6464807" y="4712017"/>
            <a:ext cx="3283078" cy="1469327"/>
            <a:chOff x="6464807" y="4712017"/>
            <a:chExt cx="3283078" cy="1469327"/>
          </a:xfrm>
        </p:grpSpPr>
        <p:cxnSp>
          <p:nvCxnSpPr>
            <p:cNvPr id="15" name="Connector 14"/>
            <p:cNvCxnSpPr/>
            <p:nvPr/>
          </p:nvCxnSpPr>
          <p:spPr>
            <a:xfrm>
              <a:off x="7406640" y="4849177"/>
              <a:ext cx="1884045"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290685" y="4849177"/>
              <a:ext cx="0" cy="1002983"/>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64807" y="4712017"/>
              <a:ext cx="868680" cy="274320"/>
            </a:xfrm>
            <a:prstGeom prst="rect">
              <a:avLst/>
            </a:prstGeom>
            <a:noFill/>
          </p:spPr>
          <p:txBody>
            <a:bodyPr wrap="square" lIns="0" tIns="0" rIns="0" bIns="0">
              <a:spAutoFit/>
            </a:bodyPr>
            <a:lstStyle/>
            <a:p>
              <a:pPr algn="r"/>
              <a:r>
                <a:rPr sz="1600" b="0" i="1" u="none" dirty="0">
                  <a:solidFill>
                    <a:srgbClr val="0B2B4E"/>
                  </a:solidFill>
                  <a:latin typeface="Calibri"/>
                </a:rPr>
                <a:t>P</a:t>
              </a:r>
              <a:r>
                <a:rPr sz="1600" b="0" i="1" u="none" baseline="-25000" dirty="0">
                  <a:solidFill>
                    <a:srgbClr val="0B2B4E"/>
                  </a:solidFill>
                  <a:latin typeface="Calibri"/>
                </a:rPr>
                <a:t>1</a:t>
              </a:r>
            </a:p>
          </p:txBody>
        </p:sp>
        <p:sp>
          <p:nvSpPr>
            <p:cNvPr id="26" name="TextBox 25"/>
            <p:cNvSpPr txBox="1"/>
            <p:nvPr/>
          </p:nvSpPr>
          <p:spPr>
            <a:xfrm>
              <a:off x="8833485"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1</a:t>
              </a:r>
            </a:p>
          </p:txBody>
        </p:sp>
      </p:grpSp>
      <p:grpSp>
        <p:nvGrpSpPr>
          <p:cNvPr id="33" name="Group 32">
            <a:extLst>
              <a:ext uri="{FF2B5EF4-FFF2-40B4-BE49-F238E27FC236}">
                <a16:creationId xmlns:a16="http://schemas.microsoft.com/office/drawing/2014/main" id="{B84AD8D9-9FF6-4E6D-14A5-C853CB947FC8}"/>
              </a:ext>
            </a:extLst>
          </p:cNvPr>
          <p:cNvGrpSpPr/>
          <p:nvPr/>
        </p:nvGrpSpPr>
        <p:grpSpPr>
          <a:xfrm>
            <a:off x="8520684" y="3020949"/>
            <a:ext cx="3149345" cy="2553462"/>
            <a:chOff x="8520684" y="3020949"/>
            <a:chExt cx="3149345" cy="2553462"/>
          </a:xfrm>
        </p:grpSpPr>
        <p:cxnSp>
          <p:nvCxnSpPr>
            <p:cNvPr id="21" name="Connector 20"/>
            <p:cNvCxnSpPr/>
            <p:nvPr/>
          </p:nvCxnSpPr>
          <p:spPr>
            <a:xfrm flipV="1">
              <a:off x="8520684" y="3259836"/>
              <a:ext cx="2457450" cy="2314575"/>
            </a:xfrm>
            <a:prstGeom prst="line">
              <a:avLst/>
            </a:prstGeom>
            <a:ln w="34925">
              <a:solidFill>
                <a:srgbClr val="0070C0"/>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847069" y="3020949"/>
              <a:ext cx="822960" cy="292608"/>
            </a:xfrm>
            <a:prstGeom prst="rect">
              <a:avLst/>
            </a:prstGeom>
            <a:noFill/>
          </p:spPr>
          <p:txBody>
            <a:bodyPr wrap="square" lIns="0" tIns="0" rIns="0" bIns="0">
              <a:spAutoFit/>
            </a:bodyPr>
            <a:lstStyle/>
            <a:p>
              <a:pPr algn="l"/>
              <a:r>
                <a:rPr sz="2000" b="1" i="1" u="none">
                  <a:solidFill>
                    <a:srgbClr val="0070C0"/>
                  </a:solidFill>
                  <a:latin typeface="Calibri"/>
                </a:rPr>
                <a:t>S’</a:t>
              </a:r>
            </a:p>
          </p:txBody>
        </p:sp>
        <p:cxnSp>
          <p:nvCxnSpPr>
            <p:cNvPr id="27" name="Connector 26"/>
            <p:cNvCxnSpPr/>
            <p:nvPr/>
          </p:nvCxnSpPr>
          <p:spPr>
            <a:xfrm>
              <a:off x="9634727" y="3729609"/>
              <a:ext cx="409575" cy="370332"/>
            </a:xfrm>
            <a:prstGeom prst="line">
              <a:avLst/>
            </a:prstGeom>
            <a:ln w="2540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861803" y="3551301"/>
              <a:ext cx="1280160" cy="548640"/>
            </a:xfrm>
            <a:prstGeom prst="rect">
              <a:avLst/>
            </a:prstGeom>
            <a:noFill/>
          </p:spPr>
          <p:txBody>
            <a:bodyPr wrap="square" lIns="0" tIns="0" rIns="0" bIns="0">
              <a:spAutoFit/>
            </a:bodyPr>
            <a:lstStyle/>
            <a:p>
              <a:pPr algn="l"/>
              <a:r>
                <a:rPr sz="1300" b="1" i="0" u="none">
                  <a:solidFill>
                    <a:srgbClr val="0070C0"/>
                  </a:solidFill>
                  <a:latin typeface="Calibri"/>
                </a:rPr>
                <a:t>Shift in
supply</a:t>
              </a:r>
            </a:p>
          </p:txBody>
        </p:sp>
      </p:gr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A2ADB6C1-50E7-5338-8389-6273BB9D5E18}"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4 · Market Equilibrium</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Changes in Market Equilibrium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2159868"/>
            <a:ext cx="5852160" cy="2446824"/>
          </a:xfrm>
          <a:prstGeom prst="rect">
            <a:avLst/>
          </a:prstGeom>
          <a:noFill/>
        </p:spPr>
        <p:txBody>
          <a:bodyPr wrap="square" lIns="0" tIns="0" rIns="0" bIns="0" anchor="ctr">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buNone/>
            </a:pPr>
            <a:r>
              <a:rPr sz="2400" dirty="0">
                <a:solidFill>
                  <a:srgbClr val="0B2B4E"/>
                </a:solidFill>
                <a:latin typeface="Calibri"/>
              </a:rPr>
              <a:t>In this case, shifts in both curves lead to a slightly higher price </a:t>
            </a:r>
            <a:r>
              <a:rPr sz="2400" i="1" dirty="0">
                <a:solidFill>
                  <a:srgbClr val="0B2B4E"/>
                </a:solidFill>
                <a:latin typeface="Calibri"/>
              </a:rPr>
              <a:t>P</a:t>
            </a:r>
            <a:r>
              <a:rPr sz="2400" i="1" baseline="-25000" dirty="0">
                <a:solidFill>
                  <a:srgbClr val="0B2B4E"/>
                </a:solidFill>
                <a:latin typeface="Calibri"/>
              </a:rPr>
              <a:t>1</a:t>
            </a:r>
            <a:r>
              <a:rPr sz="2400" dirty="0">
                <a:solidFill>
                  <a:srgbClr val="0B2B4E"/>
                </a:solidFill>
                <a:latin typeface="Calibri"/>
              </a:rPr>
              <a:t> and a much larger quantity </a:t>
            </a:r>
            <a:r>
              <a:rPr sz="2400" i="1" dirty="0">
                <a:solidFill>
                  <a:srgbClr val="0B2B4E"/>
                </a:solidFill>
                <a:latin typeface="Calibri"/>
              </a:rPr>
              <a:t>Q</a:t>
            </a:r>
            <a:r>
              <a:rPr sz="2400" i="1" baseline="-25000" dirty="0">
                <a:solidFill>
                  <a:srgbClr val="0B2B4E"/>
                </a:solidFill>
                <a:latin typeface="Calibri"/>
              </a:rPr>
              <a:t>1</a:t>
            </a:r>
          </a:p>
          <a:p>
            <a:pPr algn="l">
              <a:spcBef>
                <a:spcPts val="1800"/>
              </a:spcBef>
              <a:buNone/>
            </a:pPr>
            <a:r>
              <a:rPr sz="2400" dirty="0">
                <a:solidFill>
                  <a:srgbClr val="0B2B4E"/>
                </a:solidFill>
                <a:latin typeface="Calibri"/>
              </a:rPr>
              <a:t>Note: An even larger shift in </a:t>
            </a:r>
            <a:r>
              <a:rPr sz="2400" i="1" dirty="0">
                <a:solidFill>
                  <a:srgbClr val="0B2B4E"/>
                </a:solidFill>
                <a:latin typeface="Calibri"/>
              </a:rPr>
              <a:t>S</a:t>
            </a:r>
            <a:r>
              <a:rPr sz="2400" dirty="0">
                <a:solidFill>
                  <a:srgbClr val="0B2B4E"/>
                </a:solidFill>
                <a:latin typeface="Calibri"/>
              </a:rPr>
              <a:t> will lead to a lower price. But quantity unambiguously increases.</a:t>
            </a:r>
          </a:p>
        </p:txBody>
      </p:sp>
      <p:sp>
        <p:nvSpPr>
          <p:cNvPr id="8" name="TextBox 7"/>
          <p:cNvSpPr txBox="1"/>
          <p:nvPr/>
        </p:nvSpPr>
        <p:spPr>
          <a:xfrm>
            <a:off x="6675120" y="1481328"/>
            <a:ext cx="4846320" cy="384048"/>
          </a:xfrm>
          <a:prstGeom prst="rect">
            <a:avLst/>
          </a:prstGeom>
          <a:noFill/>
        </p:spPr>
        <p:txBody>
          <a:bodyPr wrap="none">
            <a:spAutoFit/>
          </a:bodyPr>
          <a:lstStyle/>
          <a:p>
            <a:pPr algn="ctr"/>
            <a:r>
              <a:rPr sz="2000" b="1" u="none">
                <a:solidFill>
                  <a:srgbClr val="0B2B4E"/>
                </a:solidFill>
                <a:latin typeface="Calibri"/>
              </a:rPr>
              <a:t>SHIFT IN SUPPLY </a:t>
            </a:r>
            <a:r>
              <a:rPr sz="2000" b="1" u="sng">
                <a:solidFill>
                  <a:srgbClr val="0B2B4E"/>
                </a:solidFill>
                <a:latin typeface="Calibri"/>
              </a:rPr>
              <a:t>AND</a:t>
            </a:r>
            <a:r>
              <a:rPr sz="2000" b="1" u="none">
                <a:solidFill>
                  <a:srgbClr val="0B2B4E"/>
                </a:solidFill>
                <a:latin typeface="Calibri"/>
              </a:rPr>
              <a:t> DEMAND</a:t>
            </a:r>
          </a:p>
        </p:txBody>
      </p:sp>
      <p:cxnSp>
        <p:nvCxnSpPr>
          <p:cNvPr id="9" name="Connector 8"/>
          <p:cNvCxnSpPr/>
          <p:nvPr/>
        </p:nvCxnSpPr>
        <p:spPr>
          <a:xfrm flipV="1">
            <a:off x="7406640" y="1984248"/>
            <a:ext cx="0" cy="38679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406640" y="5852160"/>
            <a:ext cx="40965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675120" y="1847088"/>
            <a:ext cx="1828800" cy="292608"/>
          </a:xfrm>
          <a:prstGeom prst="rect">
            <a:avLst/>
          </a:prstGeom>
          <a:noFill/>
        </p:spPr>
        <p:txBody>
          <a:bodyPr wrap="square" lIns="0" tIns="0" rIns="0" bIns="0">
            <a:spAutoFit/>
          </a:bodyPr>
          <a:lstStyle/>
          <a:p>
            <a:pPr algn="l"/>
            <a:r>
              <a:rPr sz="1600" b="1" i="1" u="none" dirty="0">
                <a:solidFill>
                  <a:srgbClr val="0B2B4E"/>
                </a:solidFill>
                <a:latin typeface="Calibri"/>
              </a:rPr>
              <a:t>Price ($)</a:t>
            </a:r>
          </a:p>
        </p:txBody>
      </p:sp>
      <p:sp>
        <p:nvSpPr>
          <p:cNvPr id="12" name="TextBox 11"/>
          <p:cNvSpPr txBox="1"/>
          <p:nvPr/>
        </p:nvSpPr>
        <p:spPr>
          <a:xfrm>
            <a:off x="10972799" y="5943600"/>
            <a:ext cx="1645920" cy="292608"/>
          </a:xfrm>
          <a:prstGeom prst="rect">
            <a:avLst/>
          </a:prstGeom>
          <a:noFill/>
        </p:spPr>
        <p:txBody>
          <a:bodyPr wrap="square" lIns="0" tIns="0" rIns="0" bIns="0">
            <a:spAutoFit/>
          </a:bodyPr>
          <a:lstStyle/>
          <a:p>
            <a:pPr algn="l"/>
            <a:r>
              <a:rPr sz="1600" b="1" i="1" u="none">
                <a:solidFill>
                  <a:srgbClr val="0B2B4E"/>
                </a:solidFill>
                <a:latin typeface="Calibri"/>
              </a:rPr>
              <a:t>Quantity</a:t>
            </a:r>
          </a:p>
        </p:txBody>
      </p:sp>
      <p:cxnSp>
        <p:nvCxnSpPr>
          <p:cNvPr id="13" name="Connector 12"/>
          <p:cNvCxnSpPr/>
          <p:nvPr/>
        </p:nvCxnSpPr>
        <p:spPr>
          <a:xfrm>
            <a:off x="7406640" y="4463415"/>
            <a:ext cx="147446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81109" y="4463415"/>
            <a:ext cx="0" cy="1388745"/>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734299" y="3383280"/>
            <a:ext cx="2293621" cy="2160270"/>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60686" y="5273802"/>
            <a:ext cx="822960" cy="292608"/>
          </a:xfrm>
          <a:prstGeom prst="rect">
            <a:avLst/>
          </a:prstGeom>
          <a:noFill/>
        </p:spPr>
        <p:txBody>
          <a:bodyPr wrap="square" lIns="0" tIns="0" rIns="0" bIns="0">
            <a:spAutoFit/>
          </a:bodyPr>
          <a:lstStyle/>
          <a:p>
            <a:pPr algn="l"/>
            <a:r>
              <a:rPr sz="2000" b="1" i="1" u="none">
                <a:solidFill>
                  <a:srgbClr val="E09F3E"/>
                </a:solidFill>
                <a:latin typeface="Calibri"/>
              </a:rPr>
              <a:t>D</a:t>
            </a:r>
          </a:p>
        </p:txBody>
      </p:sp>
      <p:cxnSp>
        <p:nvCxnSpPr>
          <p:cNvPr id="19" name="Connector 18"/>
          <p:cNvCxnSpPr/>
          <p:nvPr/>
        </p:nvCxnSpPr>
        <p:spPr>
          <a:xfrm flipV="1">
            <a:off x="7898129" y="3074670"/>
            <a:ext cx="2457451" cy="2314575"/>
          </a:xfrm>
          <a:prstGeom prst="line">
            <a:avLst/>
          </a:prstGeom>
          <a:ln w="34925">
            <a:solidFill>
              <a:srgbClr val="95B3D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388345" y="2804922"/>
            <a:ext cx="822960" cy="292608"/>
          </a:xfrm>
          <a:prstGeom prst="rect">
            <a:avLst/>
          </a:prstGeom>
          <a:noFill/>
        </p:spPr>
        <p:txBody>
          <a:bodyPr wrap="square" lIns="0" tIns="0" rIns="0" bIns="0">
            <a:spAutoFit/>
          </a:bodyPr>
          <a:lstStyle/>
          <a:p>
            <a:pPr algn="l"/>
            <a:r>
              <a:rPr sz="2000" b="1" i="1" u="none">
                <a:solidFill>
                  <a:srgbClr val="0B2B4E"/>
                </a:solidFill>
                <a:latin typeface="Calibri"/>
              </a:rPr>
              <a:t>S</a:t>
            </a:r>
          </a:p>
        </p:txBody>
      </p:sp>
      <p:grpSp>
        <p:nvGrpSpPr>
          <p:cNvPr id="35" name="Group 34">
            <a:extLst>
              <a:ext uri="{FF2B5EF4-FFF2-40B4-BE49-F238E27FC236}">
                <a16:creationId xmlns:a16="http://schemas.microsoft.com/office/drawing/2014/main" id="{69DE990D-2049-3F80-CD52-F2E5D6FAEC93}"/>
              </a:ext>
            </a:extLst>
          </p:cNvPr>
          <p:cNvGrpSpPr/>
          <p:nvPr/>
        </p:nvGrpSpPr>
        <p:grpSpPr>
          <a:xfrm>
            <a:off x="8520684" y="3020949"/>
            <a:ext cx="3214878" cy="2553462"/>
            <a:chOff x="8520684" y="3020949"/>
            <a:chExt cx="3214878" cy="2553462"/>
          </a:xfrm>
        </p:grpSpPr>
        <p:cxnSp>
          <p:nvCxnSpPr>
            <p:cNvPr id="21" name="Connector 20"/>
            <p:cNvCxnSpPr/>
            <p:nvPr/>
          </p:nvCxnSpPr>
          <p:spPr>
            <a:xfrm>
              <a:off x="8520684" y="3198114"/>
              <a:ext cx="2359152" cy="2221992"/>
            </a:xfrm>
            <a:prstGeom prst="line">
              <a:avLst/>
            </a:prstGeom>
            <a:ln w="34925">
              <a:solidFill>
                <a:srgbClr val="007A33"/>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912602" y="5119497"/>
              <a:ext cx="822960" cy="292608"/>
            </a:xfrm>
            <a:prstGeom prst="rect">
              <a:avLst/>
            </a:prstGeom>
            <a:noFill/>
          </p:spPr>
          <p:txBody>
            <a:bodyPr wrap="square" lIns="0" tIns="0" rIns="0" bIns="0">
              <a:spAutoFit/>
            </a:bodyPr>
            <a:lstStyle/>
            <a:p>
              <a:pPr algn="l"/>
              <a:r>
                <a:rPr sz="2000" b="1" i="1" u="none">
                  <a:solidFill>
                    <a:srgbClr val="007A33"/>
                  </a:solidFill>
                  <a:latin typeface="Calibri"/>
                </a:rPr>
                <a:t>D’</a:t>
              </a:r>
            </a:p>
          </p:txBody>
        </p:sp>
        <p:cxnSp>
          <p:nvCxnSpPr>
            <p:cNvPr id="23" name="Connector 22"/>
            <p:cNvCxnSpPr/>
            <p:nvPr/>
          </p:nvCxnSpPr>
          <p:spPr>
            <a:xfrm flipV="1">
              <a:off x="8520684" y="3259836"/>
              <a:ext cx="2457450" cy="2314575"/>
            </a:xfrm>
            <a:prstGeom prst="line">
              <a:avLst/>
            </a:prstGeom>
            <a:ln w="34925">
              <a:solidFill>
                <a:srgbClr val="0070C0"/>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847069" y="3020949"/>
              <a:ext cx="822960" cy="292608"/>
            </a:xfrm>
            <a:prstGeom prst="rect">
              <a:avLst/>
            </a:prstGeom>
            <a:noFill/>
          </p:spPr>
          <p:txBody>
            <a:bodyPr wrap="square" lIns="0" tIns="0" rIns="0" bIns="0">
              <a:spAutoFit/>
            </a:bodyPr>
            <a:lstStyle/>
            <a:p>
              <a:pPr algn="l"/>
              <a:r>
                <a:rPr sz="2000" b="1" i="1" u="none">
                  <a:solidFill>
                    <a:srgbClr val="0070C0"/>
                  </a:solidFill>
                  <a:latin typeface="Calibri"/>
                </a:rPr>
                <a:t>S’</a:t>
              </a:r>
            </a:p>
          </p:txBody>
        </p:sp>
      </p:grpSp>
      <p:sp>
        <p:nvSpPr>
          <p:cNvPr id="25" name="TextBox 24"/>
          <p:cNvSpPr txBox="1"/>
          <p:nvPr/>
        </p:nvSpPr>
        <p:spPr>
          <a:xfrm>
            <a:off x="6464807" y="4495990"/>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0</a:t>
            </a:r>
          </a:p>
        </p:txBody>
      </p:sp>
      <p:sp>
        <p:nvSpPr>
          <p:cNvPr id="27" name="TextBox 26"/>
          <p:cNvSpPr txBox="1"/>
          <p:nvPr/>
        </p:nvSpPr>
        <p:spPr>
          <a:xfrm>
            <a:off x="8423909" y="5907024"/>
            <a:ext cx="914400" cy="274320"/>
          </a:xfrm>
          <a:prstGeom prst="rect">
            <a:avLst/>
          </a:prstGeom>
          <a:noFill/>
        </p:spPr>
        <p:txBody>
          <a:bodyPr wrap="square" lIns="0" tIns="0" rIns="0" bIns="0">
            <a:spAutoFit/>
          </a:bodyPr>
          <a:lstStyle/>
          <a:p>
            <a:pPr algn="ctr"/>
            <a:r>
              <a:rPr sz="1600" b="0" i="1" u="none" dirty="0">
                <a:solidFill>
                  <a:srgbClr val="0B2B4E"/>
                </a:solidFill>
                <a:latin typeface="Calibri"/>
              </a:rPr>
              <a:t>Q</a:t>
            </a:r>
            <a:r>
              <a:rPr sz="1600" b="0" i="1" u="none" baseline="-25000" dirty="0">
                <a:solidFill>
                  <a:srgbClr val="0B2B4E"/>
                </a:solidFill>
                <a:latin typeface="Calibri"/>
              </a:rPr>
              <a:t>0</a:t>
            </a:r>
          </a:p>
        </p:txBody>
      </p:sp>
      <p:grpSp>
        <p:nvGrpSpPr>
          <p:cNvPr id="36" name="Group 35">
            <a:extLst>
              <a:ext uri="{FF2B5EF4-FFF2-40B4-BE49-F238E27FC236}">
                <a16:creationId xmlns:a16="http://schemas.microsoft.com/office/drawing/2014/main" id="{B15086C8-5569-17F0-7289-D206BAA28D5F}"/>
              </a:ext>
            </a:extLst>
          </p:cNvPr>
          <p:cNvGrpSpPr/>
          <p:nvPr/>
        </p:nvGrpSpPr>
        <p:grpSpPr>
          <a:xfrm>
            <a:off x="6464807" y="4156519"/>
            <a:ext cx="3774568" cy="2024825"/>
            <a:chOff x="6464807" y="4156519"/>
            <a:chExt cx="3774568" cy="2024825"/>
          </a:xfrm>
        </p:grpSpPr>
        <p:cxnSp>
          <p:nvCxnSpPr>
            <p:cNvPr id="15" name="Connector 14"/>
            <p:cNvCxnSpPr/>
            <p:nvPr/>
          </p:nvCxnSpPr>
          <p:spPr>
            <a:xfrm>
              <a:off x="7406640" y="4386262"/>
              <a:ext cx="2375535"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782175" y="4386262"/>
              <a:ext cx="0" cy="1465898"/>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64807" y="4156519"/>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1</a:t>
              </a:r>
            </a:p>
          </p:txBody>
        </p:sp>
        <p:sp>
          <p:nvSpPr>
            <p:cNvPr id="28" name="TextBox 27"/>
            <p:cNvSpPr txBox="1"/>
            <p:nvPr/>
          </p:nvSpPr>
          <p:spPr>
            <a:xfrm>
              <a:off x="9324975"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1</a:t>
              </a:r>
            </a:p>
          </p:txBody>
        </p:sp>
      </p:grpSp>
      <p:sp>
        <p:nvSpPr>
          <p:cNvPr id="29" name="Rounded Rectangle 28"/>
          <p:cNvSpPr/>
          <p:nvPr/>
        </p:nvSpPr>
        <p:spPr>
          <a:xfrm>
            <a:off x="434879" y="5806440"/>
            <a:ext cx="228600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600" b="1">
                <a:solidFill>
                  <a:srgbClr val="E09F3E"/>
                </a:solidFill>
                <a:latin typeface="Calibri"/>
              </a:rPr>
              <a:t>➜  </a:t>
            </a:r>
            <a:r>
              <a:rPr sz="1600" b="1">
                <a:solidFill>
                  <a:srgbClr val="0B2B4E"/>
                </a:solidFill>
                <a:latin typeface="Calibri"/>
              </a:rPr>
              <a:t>Problem Set 1</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BB114F74-4707-5ABC-A309-223687E85D1E}"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1065</Words>
  <Application>Microsoft Office PowerPoint</Application>
  <PresentationFormat>Widescreen</PresentationFormat>
  <Paragraphs>117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8</cp:revision>
  <dcterms:created xsi:type="dcterms:W3CDTF">2013-01-27T09:14:16Z</dcterms:created>
  <dcterms:modified xsi:type="dcterms:W3CDTF">2026-08-24T16:13:41Z</dcterms:modified>
  <cp:category/>
</cp:coreProperties>
</file>