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95" r:id="rId2"/>
    <p:sldId id="296" r:id="rId3"/>
    <p:sldId id="297" r:id="rId4"/>
    <p:sldId id="298" r:id="rId5"/>
    <p:sldId id="299" r:id="rId6"/>
    <p:sldId id="300" r:id="rId7"/>
    <p:sldId id="301" r:id="rId8"/>
    <p:sldId id="302" r:id="rId9"/>
    <p:sldId id="303"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24A93-ABCD-4C63-96F0-29849A91DE01}"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F47B3-DFFB-4987-AFFF-51E8AEAFC762}" type="slidenum">
              <a:rPr lang="en-US" smtClean="0"/>
              <a:t>‹#›</a:t>
            </a:fld>
            <a:endParaRPr lang="en-US"/>
          </a:p>
        </p:txBody>
      </p:sp>
    </p:spTree>
    <p:extLst>
      <p:ext uri="{BB962C8B-B14F-4D97-AF65-F5344CB8AC3E}">
        <p14:creationId xmlns:p14="http://schemas.microsoft.com/office/powerpoint/2010/main" val="17417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assumptions for Bertrand with differentiated goods: differentiated products, an own demand function for each firm, and prices chosen simultaneously. Why do we need simultaneity? It means neither firm can observe the rival's price before setting its own, and neither can commit to moving first — so the equilibrium is a pair of mutual best responses rather than a leader-follower outcome. It also answers the natural question about the price war: the second mover cannot simply wait and undercut at the last moment, because in this setting there is no last mover. In Part 2 we deliberately break exactly this assumption — commitment is what changes when one player CAN move first.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two-step logic as in the Cournot case, but now in prices. Step 1: fix Boeing's price at PB=200 and substitute it into Airbus' demand, giving the inverse demand PA = 300 − 0.5·QA. Step 2: maximize profit as usual (MR = MC with MC = 200): the optimal quantity is 100 and the optimal price response is PA = 250. Note the difference to Cournot: price responds POSITIVELY to price increases by the other firm.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two-step logic as in the Cournot case, but now in prices. Step 1: fix Boeing's price at PB=400 and substitute it into Airbus' demand, giving the inverse demand PA = 400 − 0.5·QA. Step 2: maximize profit as usual (MR = MC with MC = 200): the optimal quantity is 200 and the optimal price response is PA = 300. Note the difference to Cournot: price responds POSITIVELY to price increases by the other firm.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 responds POSITIVELY to price increases by the other firm. Note that this is the opposite of Cournot, where Firm A wants to produce less if firm B produces more. The two reaction functions — Airbus' PA = 200 + 0.25·PB and Boeing's mirror image — intersect at the equilibrium PA = PB = 267. Starting from PA = 150, the contemplated responses move both firms toward the equilibrium.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8.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35684"/>
            <a:ext cx="12191695" cy="1538935"/>
          </a:xfrm>
          <a:prstGeom prst="rect">
            <a:avLst/>
          </a:prstGeom>
          <a:noFill/>
        </p:spPr>
        <p:txBody>
          <a:bodyPr wrap="square" lIns="0" tIns="0" rIns="0" bIns="0">
            <a:spAutoFit/>
          </a:bodyPr>
          <a:lstStyle/>
          <a:p>
            <a:pPr algn="ctr"/>
            <a:r>
              <a:rPr sz="5000" b="1" i="0" u="none">
                <a:solidFill>
                  <a:srgbClr val="0B2B4E"/>
                </a:solidFill>
                <a:latin typeface="Calibri"/>
              </a:rPr>
              <a:t>Bertrand Competition with
Differentiated Goods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7  ·  Video 5</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82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41065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401146"/>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Oligopoly and Game Theory</a:t>
            </a:r>
          </a:p>
        </p:txBody>
      </p:sp>
      <p:sp>
        <p:nvSpPr>
          <p:cNvPr id="10" name="Oval 9"/>
          <p:cNvSpPr/>
          <p:nvPr/>
        </p:nvSpPr>
        <p:spPr>
          <a:xfrm>
            <a:off x="1051560" y="1950152"/>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07816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068658"/>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Collusion and Cartels</a:t>
            </a:r>
          </a:p>
        </p:txBody>
      </p:sp>
      <p:sp>
        <p:nvSpPr>
          <p:cNvPr id="13" name="Oval 12"/>
          <p:cNvSpPr/>
          <p:nvPr/>
        </p:nvSpPr>
        <p:spPr>
          <a:xfrm>
            <a:off x="1051560" y="26176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Rounded Rectangle 13"/>
          <p:cNvSpPr/>
          <p:nvPr/>
        </p:nvSpPr>
        <p:spPr>
          <a:xfrm>
            <a:off x="10332720" y="274568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1874519" y="2736170"/>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Cournot Competition</a:t>
            </a:r>
          </a:p>
        </p:txBody>
      </p:sp>
      <p:sp>
        <p:nvSpPr>
          <p:cNvPr id="16" name="Oval 15"/>
          <p:cNvSpPr/>
          <p:nvPr/>
        </p:nvSpPr>
        <p:spPr>
          <a:xfrm>
            <a:off x="1051560" y="328517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Rounded Rectangle 16"/>
          <p:cNvSpPr/>
          <p:nvPr/>
        </p:nvSpPr>
        <p:spPr>
          <a:xfrm>
            <a:off x="10332720" y="34131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1874519" y="3403682"/>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Bertrand Competition</a:t>
            </a:r>
          </a:p>
        </p:txBody>
      </p:sp>
      <p:sp>
        <p:nvSpPr>
          <p:cNvPr id="19" name="Rounded Rectangle 18"/>
          <p:cNvSpPr/>
          <p:nvPr/>
        </p:nvSpPr>
        <p:spPr>
          <a:xfrm>
            <a:off x="822960" y="3888680"/>
            <a:ext cx="11109960" cy="7269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51560" y="3952688"/>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21" name="Rounded Rectangle 20"/>
          <p:cNvSpPr/>
          <p:nvPr/>
        </p:nvSpPr>
        <p:spPr>
          <a:xfrm>
            <a:off x="10332720" y="408070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2" name="TextBox 21"/>
          <p:cNvSpPr txBox="1"/>
          <p:nvPr/>
        </p:nvSpPr>
        <p:spPr>
          <a:xfrm>
            <a:off x="1874519" y="3934400"/>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Bertrand Competition with Differentiated Goods</a:t>
            </a:r>
          </a:p>
          <a:p>
            <a:pPr algn="l">
              <a:spcBef>
                <a:spcPts val="0"/>
              </a:spcBef>
              <a:buNone/>
            </a:pPr>
            <a:r>
              <a:rPr sz="2000" dirty="0">
                <a:solidFill>
                  <a:srgbClr val="555B66"/>
                </a:solidFill>
                <a:latin typeface="Calibri"/>
              </a:rPr>
              <a:t>How differentiation softens price competition</a:t>
            </a:r>
          </a:p>
        </p:txBody>
      </p:sp>
      <p:sp>
        <p:nvSpPr>
          <p:cNvPr id="23" name="Oval 22"/>
          <p:cNvSpPr/>
          <p:nvPr/>
        </p:nvSpPr>
        <p:spPr>
          <a:xfrm>
            <a:off x="1051560" y="4711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Rounded Rectangle 23"/>
          <p:cNvSpPr/>
          <p:nvPr/>
        </p:nvSpPr>
        <p:spPr>
          <a:xfrm>
            <a:off x="10332720" y="4741163"/>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4693352"/>
            <a:ext cx="8293609" cy="424807"/>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Game Theory</a:t>
            </a:r>
          </a:p>
        </p:txBody>
      </p:sp>
      <p:sp>
        <p:nvSpPr>
          <p:cNvPr id="26" name="Oval 25"/>
          <p:cNvSpPr/>
          <p:nvPr/>
        </p:nvSpPr>
        <p:spPr>
          <a:xfrm>
            <a:off x="1481328" y="5218743"/>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6a</a:t>
            </a:r>
          </a:p>
        </p:txBody>
      </p:sp>
      <p:sp>
        <p:nvSpPr>
          <p:cNvPr id="27" name="Rounded Rectangle 26"/>
          <p:cNvSpPr/>
          <p:nvPr/>
        </p:nvSpPr>
        <p:spPr>
          <a:xfrm>
            <a:off x="10707625" y="5310183"/>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2084831" y="5300673"/>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Strategic Thinking: Key Concepts</a:t>
            </a:r>
          </a:p>
        </p:txBody>
      </p:sp>
      <p:sp>
        <p:nvSpPr>
          <p:cNvPr id="29" name="Oval 28"/>
          <p:cNvSpPr/>
          <p:nvPr/>
        </p:nvSpPr>
        <p:spPr>
          <a:xfrm>
            <a:off x="1481328" y="5886255"/>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6b</a:t>
            </a:r>
          </a:p>
        </p:txBody>
      </p:sp>
      <p:sp>
        <p:nvSpPr>
          <p:cNvPr id="30" name="Rounded Rectangle 29"/>
          <p:cNvSpPr/>
          <p:nvPr/>
        </p:nvSpPr>
        <p:spPr>
          <a:xfrm>
            <a:off x="10707625" y="5977695"/>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A9BC6C3E-F103-5696-AB79-FDFC4595D1A3}" type="slidenum">
              <a:rPr lang="en-US" sz="1200" dirty="0">
                <a:solidFill>
                  <a:srgbClr val="555B66"/>
                </a:solidFill>
                <a:latin typeface="Calibri"/>
              </a:rPr>
              <a:t>2</a:t>
            </a:fld>
            <a:endParaRPr lang="en-US" sz="1200" dirty="0">
              <a:solidFill>
                <a:srgbClr val="555B66"/>
              </a:solidFill>
              <a:latin typeface="Calibri"/>
            </a:endParaRPr>
          </a:p>
        </p:txBody>
      </p:sp>
      <p:sp>
        <p:nvSpPr>
          <p:cNvPr id="31" name="TextBox 30"/>
          <p:cNvSpPr txBox="1"/>
          <p:nvPr/>
        </p:nvSpPr>
        <p:spPr>
          <a:xfrm>
            <a:off x="2084831" y="5968185"/>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Prisoner’s Dilemma, Game of Chicken…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Bertrand Competition with Differentiated Products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282696"/>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So far: We assumed that all firms produce </a:t>
            </a:r>
            <a:r>
              <a:rPr u="sng">
                <a:latin typeface="Calibri"/>
              </a:rPr>
              <a:t>identical products</a:t>
            </a:r>
          </a:p>
          <a:p>
            <a:pPr algn="l"/>
            <a:r>
              <a:rPr>
                <a:latin typeface="Calibri"/>
              </a:rPr>
              <a:t>More common situation: </a:t>
            </a:r>
            <a:r>
              <a:rPr u="sng">
                <a:latin typeface="Calibri"/>
              </a:rPr>
              <a:t>Differentiated</a:t>
            </a:r>
            <a:r>
              <a:rPr>
                <a:latin typeface="Calibri"/>
              </a:rPr>
              <a:t> products</a:t>
            </a:r>
          </a:p>
          <a:p>
            <a:pPr lvl="1" algn="l"/>
            <a:r>
              <a:rPr>
                <a:latin typeface="Calibri"/>
              </a:rPr>
              <a:t>Pepsi and Coke</a:t>
            </a:r>
          </a:p>
          <a:p>
            <a:pPr lvl="1" algn="l"/>
            <a:r>
              <a:rPr>
                <a:latin typeface="Calibri"/>
              </a:rPr>
              <a:t>Airbus A320 vs. Boeing 737 (medium-range)</a:t>
            </a:r>
          </a:p>
          <a:p>
            <a:pPr lvl="1" algn="l"/>
            <a:r>
              <a:rPr>
                <a:latin typeface="Calibri"/>
              </a:rPr>
              <a:t>Airbus A350 vs. Boeing 787 (long-range)</a:t>
            </a:r>
          </a:p>
          <a:p>
            <a:pPr algn="l"/>
            <a:r>
              <a:rPr>
                <a:latin typeface="Calibri"/>
              </a:rPr>
              <a:t>Setting now:</a:t>
            </a:r>
          </a:p>
          <a:p>
            <a:pPr lvl="1" algn="l"/>
            <a:r>
              <a:rPr>
                <a:latin typeface="Calibri"/>
              </a:rPr>
              <a:t>2 firms producing </a:t>
            </a:r>
            <a:r>
              <a:rPr u="sng">
                <a:latin typeface="Calibri"/>
              </a:rPr>
              <a:t>differentiated</a:t>
            </a:r>
            <a:r>
              <a:rPr>
                <a:latin typeface="Calibri"/>
              </a:rPr>
              <a:t> products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2F0AEDB8-CD06-55B4-B1FB-8261E86F8336}"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a:solidFill>
                  <a:srgbClr val="0B2B4E"/>
                </a:solidFill>
                <a:latin typeface="Calibri"/>
              </a:rPr>
              <a:t>Bertrand Competition (with </a:t>
            </a:r>
            <a:r>
              <a:rPr sz="3200" b="1">
                <a:solidFill>
                  <a:srgbClr val="C00000"/>
                </a:solidFill>
                <a:latin typeface="Calibri"/>
              </a:rPr>
              <a:t>Differentiated</a:t>
            </a:r>
            <a:r>
              <a:rPr sz="3200" b="1">
                <a:solidFill>
                  <a:srgbClr val="0B2B4E"/>
                </a:solidFill>
                <a:latin typeface="Calibri"/>
              </a:rPr>
              <a:t>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4855" y="1561795"/>
            <a:ext cx="6193688" cy="3347984"/>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1715" y="1919950"/>
            <a:ext cx="5959876" cy="2631490"/>
          </a:xfrm>
          <a:prstGeom prst="rect">
            <a:avLst/>
          </a:prstGeom>
          <a:noFill/>
        </p:spPr>
        <p:txBody>
          <a:bodyPr wrap="square" lIns="45720" tIns="0" rIns="45720" bIns="0" anchor="ctr">
            <a:spAutoFit/>
          </a:bodyPr>
          <a:lstStyle/>
          <a:p>
            <a:pPr algn="l"/>
            <a:r>
              <a:rPr sz="2600" b="1" i="0" u="none" dirty="0">
                <a:solidFill>
                  <a:srgbClr val="0B2B4E"/>
                </a:solidFill>
                <a:latin typeface="Calibri"/>
              </a:rPr>
              <a:t>Assumptions:</a:t>
            </a:r>
          </a:p>
          <a:p>
            <a:pPr marL="245110" indent="-245110" algn="l">
              <a:spcBef>
                <a:spcPts val="1000"/>
              </a:spcBef>
            </a:pPr>
            <a:r>
              <a:rPr sz="2400" b="0" i="0" u="none" dirty="0">
                <a:solidFill>
                  <a:srgbClr val="0B2B4E"/>
                </a:solidFill>
                <a:latin typeface="Calibri"/>
              </a:rPr>
              <a:t>▪  Firms do not sell identical products. They sell </a:t>
            </a:r>
            <a:r>
              <a:rPr sz="2400" b="0" i="0" u="none" dirty="0">
                <a:solidFill>
                  <a:srgbClr val="C00000"/>
                </a:solidFill>
                <a:latin typeface="Calibri"/>
              </a:rPr>
              <a:t>differentiated</a:t>
            </a:r>
            <a:r>
              <a:rPr sz="2400" b="0" i="0" u="none" dirty="0">
                <a:solidFill>
                  <a:srgbClr val="0B2B4E"/>
                </a:solidFill>
                <a:latin typeface="Calibri"/>
              </a:rPr>
              <a:t> products</a:t>
            </a:r>
          </a:p>
          <a:p>
            <a:pPr marL="245110" indent="-245110" algn="l">
              <a:spcBef>
                <a:spcPts val="1000"/>
              </a:spcBef>
            </a:pPr>
            <a:r>
              <a:rPr sz="2400" b="0" i="0" u="none" dirty="0">
                <a:solidFill>
                  <a:srgbClr val="0B2B4E"/>
                </a:solidFill>
                <a:latin typeface="Calibri"/>
              </a:rPr>
              <a:t>▪  Each firm faces its own demand function</a:t>
            </a:r>
          </a:p>
          <a:p>
            <a:pPr marL="245110" indent="-245110" algn="l">
              <a:spcBef>
                <a:spcPts val="1000"/>
              </a:spcBef>
            </a:pPr>
            <a:r>
              <a:rPr sz="2400" b="0" i="0" u="none" dirty="0">
                <a:solidFill>
                  <a:srgbClr val="0B2B4E"/>
                </a:solidFill>
                <a:latin typeface="Calibri"/>
              </a:rPr>
              <a:t>▪  Each firm chooses its </a:t>
            </a:r>
            <a:r>
              <a:rPr sz="2400" b="0" i="0" u="none" dirty="0">
                <a:solidFill>
                  <a:srgbClr val="C00000"/>
                </a:solidFill>
                <a:latin typeface="Calibri"/>
              </a:rPr>
              <a:t>price</a:t>
            </a:r>
            <a:r>
              <a:rPr sz="2400" b="0" i="0" u="none" dirty="0">
                <a:solidFill>
                  <a:srgbClr val="0B2B4E"/>
                </a:solidFill>
                <a:latin typeface="Calibri"/>
              </a:rPr>
              <a:t>, responding to the price of the other firm</a:t>
            </a:r>
          </a:p>
        </p:txBody>
      </p:sp>
      <p:pic>
        <p:nvPicPr>
          <p:cNvPr id="9" name="Picture 8" descr="bertrand_differentiated_products.png"/>
          <p:cNvPicPr>
            <a:picLocks noChangeAspect="1"/>
          </p:cNvPicPr>
          <p:nvPr/>
        </p:nvPicPr>
        <p:blipFill>
          <a:blip r:embed="rId3"/>
          <a:stretch>
            <a:fillRect/>
          </a:stretch>
        </p:blipFill>
        <p:spPr>
          <a:xfrm>
            <a:off x="7392924" y="1351026"/>
            <a:ext cx="3741450" cy="5010912"/>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6C97A614-7507-5736-87E3-9F0EC5285CBC}"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Oligopoly with Differentiated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554480"/>
            <a:ext cx="7589520" cy="137160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Oligopoly on long-range aircraft:</a:t>
            </a:r>
          </a:p>
          <a:p>
            <a:pPr lvl="1" algn="l"/>
            <a:r>
              <a:rPr>
                <a:latin typeface="Calibri"/>
              </a:rPr>
              <a:t>Airbus A350 </a:t>
            </a:r>
            <a:r>
              <a:rPr b="1">
                <a:solidFill>
                  <a:srgbClr val="0070C0"/>
                </a:solidFill>
                <a:latin typeface="Calibri"/>
              </a:rPr>
              <a:t>(Firm A)</a:t>
            </a:r>
          </a:p>
          <a:p>
            <a:pPr lvl="1" algn="l"/>
            <a:r>
              <a:rPr>
                <a:latin typeface="Calibri"/>
              </a:rPr>
              <a:t>Boeing 787 </a:t>
            </a:r>
            <a:r>
              <a:rPr b="1">
                <a:solidFill>
                  <a:srgbClr val="007A33"/>
                </a:solidFill>
                <a:latin typeface="Calibri"/>
              </a:rPr>
              <a:t>(Firm B)</a:t>
            </a:r>
          </a:p>
        </p:txBody>
      </p:sp>
      <p:pic>
        <p:nvPicPr>
          <p:cNvPr id="8" name="Picture 7" descr="image35.png"/>
          <p:cNvPicPr>
            <a:picLocks noChangeAspect="1"/>
          </p:cNvPicPr>
          <p:nvPr/>
        </p:nvPicPr>
        <p:blipFill>
          <a:blip r:embed="rId2"/>
          <a:stretch>
            <a:fillRect/>
          </a:stretch>
        </p:blipFill>
        <p:spPr>
          <a:xfrm>
            <a:off x="7927848" y="1339596"/>
            <a:ext cx="3730752" cy="1438191"/>
          </a:xfrm>
          <a:prstGeom prst="roundRect">
            <a:avLst>
              <a:gd name="adj" fmla="val 8000"/>
            </a:avLst>
          </a:prstGeom>
          <a:effectLst>
            <a:outerShdw blurRad="50800" dist="38100" dir="2700000" algn="tl" rotWithShape="0">
              <a:srgbClr val="000000">
                <a:alpha val="50000"/>
              </a:srgbClr>
            </a:outerShdw>
          </a:effectLst>
        </p:spPr>
      </p:pic>
      <p:pic>
        <p:nvPicPr>
          <p:cNvPr id="9" name="Picture 8" descr="image36.png"/>
          <p:cNvPicPr>
            <a:picLocks noChangeAspect="1"/>
          </p:cNvPicPr>
          <p:nvPr/>
        </p:nvPicPr>
        <p:blipFill>
          <a:blip r:embed="rId3"/>
          <a:stretch>
            <a:fillRect/>
          </a:stretch>
        </p:blipFill>
        <p:spPr>
          <a:xfrm>
            <a:off x="7048195" y="3063240"/>
            <a:ext cx="4610404" cy="131224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251999" y="3246120"/>
            <a:ext cx="4572000" cy="411480"/>
          </a:xfrm>
          <a:prstGeom prst="rect">
            <a:avLst/>
          </a:prstGeom>
          <a:noFill/>
        </p:spPr>
        <p:txBody>
          <a:bodyPr wrap="square" lIns="0" tIns="0" rIns="0" bIns="0">
            <a:spAutoFit/>
          </a:bodyPr>
          <a:lstStyle/>
          <a:p>
            <a:pPr algn="l"/>
            <a:r>
              <a:rPr sz="2600" b="0" i="0" u="none">
                <a:solidFill>
                  <a:srgbClr val="0B2B4E"/>
                </a:solidFill>
                <a:latin typeface="Calibri"/>
              </a:rPr>
              <a:t>Interdependent demand:</a:t>
            </a:r>
          </a:p>
        </p:txBody>
      </p:sp>
      <mc:AlternateContent xmlns:mc="http://schemas.openxmlformats.org/markup-compatibility/2006" xmlns:a14="http://schemas.microsoft.com/office/drawing/2010/main">
        <mc:Choice Requires="a14">
          <p:sp>
            <p:nvSpPr>
              <p:cNvPr id="11" name="TextBox 10"/>
              <p:cNvSpPr txBox="1"/>
              <p:nvPr/>
            </p:nvSpPr>
            <p:spPr>
              <a:xfrm>
                <a:off x="1554480" y="3703320"/>
                <a:ext cx="4023360" cy="45720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1">
                              <a:solidFill>
                                <a:srgbClr val="0070C0"/>
                              </a:solidFill>
                              <a:latin typeface="Cambria Math"/>
                              <a:ea typeface="Cambria Math"/>
                            </a:rPr>
                          </m:ctrlPr>
                        </m:sSubPr>
                        <m:e>
                          <m:r>
                            <a:rPr lang="en-US" sz="2400" b="0" i="1">
                              <a:solidFill>
                                <a:srgbClr val="0070C0"/>
                              </a:solidFill>
                              <a:latin typeface="Cambria Math"/>
                              <a:ea typeface="Cambria Math"/>
                            </a:rPr>
                            <m:t>𝑄</m:t>
                          </m:r>
                        </m:e>
                        <m:sub>
                          <m:r>
                            <m:rPr>
                              <m:sty m:val="p"/>
                            </m:rPr>
                            <a:rPr lang="en-US" sz="2400" b="0" i="0">
                              <a:solidFill>
                                <a:srgbClr val="0070C0"/>
                              </a:solidFill>
                              <a:latin typeface="Cambria Math"/>
                            </a:rPr>
                            <m:t>A</m:t>
                          </m:r>
                        </m:sub>
                      </m:sSub>
                      <m:r>
                        <a:rPr lang="en-US" sz="2400" b="0" i="0">
                          <a:solidFill>
                            <a:srgbClr val="0B2B4E"/>
                          </a:solidFill>
                          <a:latin typeface="Cambria Math"/>
                        </a:rPr>
                        <m:t> = 400 − 2</m:t>
                      </m:r>
                      <m:sSub>
                        <m:sSubPr>
                          <m:ctrlPr>
                            <a:rPr lang="en-US" sz="2400" b="0" i="1">
                              <a:solidFill>
                                <a:srgbClr val="0070C0"/>
                              </a:solidFill>
                              <a:latin typeface="Cambria Math"/>
                              <a:ea typeface="Cambria Math"/>
                            </a:rPr>
                          </m:ctrlPr>
                        </m:sSubPr>
                        <m:e>
                          <m:r>
                            <a:rPr lang="en-US" sz="2400" b="0" i="1">
                              <a:solidFill>
                                <a:srgbClr val="0070C0"/>
                              </a:solidFill>
                              <a:latin typeface="Cambria Math"/>
                              <a:ea typeface="Cambria Math"/>
                            </a:rPr>
                            <m:t>𝑃</m:t>
                          </m:r>
                        </m:e>
                        <m:sub>
                          <m:r>
                            <m:rPr>
                              <m:sty m:val="p"/>
                            </m:rPr>
                            <a:rPr lang="en-US" sz="2400" b="0" i="0">
                              <a:solidFill>
                                <a:srgbClr val="0070C0"/>
                              </a:solidFill>
                              <a:latin typeface="Cambria Math"/>
                            </a:rPr>
                            <m:t>A</m:t>
                          </m:r>
                        </m:sub>
                      </m:sSub>
                      <m:r>
                        <a:rPr lang="en-US" sz="2400" b="0" i="0">
                          <a:solidFill>
                            <a:srgbClr val="0B2B4E"/>
                          </a:solidFill>
                          <a:latin typeface="Cambria Math"/>
                        </a:rPr>
                        <m:t> + </m:t>
                      </m:r>
                      <m:sSub>
                        <m:sSubPr>
                          <m:ctrlPr>
                            <a:rPr lang="en-US" sz="2400" b="0" i="1">
                              <a:solidFill>
                                <a:srgbClr val="007A33"/>
                              </a:solidFill>
                              <a:latin typeface="Cambria Math"/>
                              <a:ea typeface="Cambria Math"/>
                            </a:rPr>
                          </m:ctrlPr>
                        </m:sSubPr>
                        <m:e>
                          <m:r>
                            <a:rPr lang="en-US" sz="2400" b="0" i="1">
                              <a:solidFill>
                                <a:srgbClr val="007A33"/>
                              </a:solidFill>
                              <a:latin typeface="Cambria Math"/>
                              <a:ea typeface="Cambria Math"/>
                            </a:rPr>
                            <m:t>𝑃</m:t>
                          </m:r>
                        </m:e>
                        <m:sub>
                          <m:r>
                            <m:rPr>
                              <m:sty m:val="p"/>
                            </m:rPr>
                            <a:rPr lang="en-US" sz="2400" b="0" i="0">
                              <a:solidFill>
                                <a:srgbClr val="007A33"/>
                              </a:solidFill>
                              <a:latin typeface="Cambria Math"/>
                            </a:rPr>
                            <m:t>B</m:t>
                          </m:r>
                        </m:sub>
                      </m:sSub>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554480" y="3703320"/>
                <a:ext cx="4023360" cy="457200"/>
              </a:xfrm>
              <a:prstGeom prst="rect">
                <a:avLst/>
              </a:prstGeom>
              <a:blipFill>
                <a:blip r:embed="rId4"/>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554480" y="4206240"/>
                <a:ext cx="4023360" cy="45720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1">
                              <a:solidFill>
                                <a:srgbClr val="007A33"/>
                              </a:solidFill>
                              <a:latin typeface="Cambria Math"/>
                              <a:ea typeface="Cambria Math"/>
                            </a:rPr>
                          </m:ctrlPr>
                        </m:sSubPr>
                        <m:e>
                          <m:r>
                            <a:rPr lang="en-US" sz="2400" b="0" i="1">
                              <a:solidFill>
                                <a:srgbClr val="007A33"/>
                              </a:solidFill>
                              <a:latin typeface="Cambria Math"/>
                              <a:ea typeface="Cambria Math"/>
                            </a:rPr>
                            <m:t>𝑄</m:t>
                          </m:r>
                        </m:e>
                        <m:sub>
                          <m:r>
                            <m:rPr>
                              <m:sty m:val="p"/>
                            </m:rPr>
                            <a:rPr lang="en-US" sz="2400" b="0" i="0">
                              <a:solidFill>
                                <a:srgbClr val="007A33"/>
                              </a:solidFill>
                              <a:latin typeface="Cambria Math"/>
                            </a:rPr>
                            <m:t>B</m:t>
                          </m:r>
                        </m:sub>
                      </m:sSub>
                      <m:r>
                        <a:rPr lang="en-US" sz="2400" b="0" i="0">
                          <a:solidFill>
                            <a:srgbClr val="0B2B4E"/>
                          </a:solidFill>
                          <a:latin typeface="Cambria Math"/>
                        </a:rPr>
                        <m:t> = 400 − 2</m:t>
                      </m:r>
                      <m:sSub>
                        <m:sSubPr>
                          <m:ctrlPr>
                            <a:rPr lang="en-US" sz="2400" b="0" i="1">
                              <a:solidFill>
                                <a:srgbClr val="007A33"/>
                              </a:solidFill>
                              <a:latin typeface="Cambria Math"/>
                              <a:ea typeface="Cambria Math"/>
                            </a:rPr>
                          </m:ctrlPr>
                        </m:sSubPr>
                        <m:e>
                          <m:r>
                            <a:rPr lang="en-US" sz="2400" b="0" i="1">
                              <a:solidFill>
                                <a:srgbClr val="007A33"/>
                              </a:solidFill>
                              <a:latin typeface="Cambria Math"/>
                              <a:ea typeface="Cambria Math"/>
                            </a:rPr>
                            <m:t>𝑃</m:t>
                          </m:r>
                        </m:e>
                        <m:sub>
                          <m:r>
                            <m:rPr>
                              <m:sty m:val="p"/>
                            </m:rPr>
                            <a:rPr lang="en-US" sz="2400" b="0" i="0">
                              <a:solidFill>
                                <a:srgbClr val="007A33"/>
                              </a:solidFill>
                              <a:latin typeface="Cambria Math"/>
                            </a:rPr>
                            <m:t>B</m:t>
                          </m:r>
                        </m:sub>
                      </m:sSub>
                      <m:r>
                        <a:rPr lang="en-US" sz="2400" b="0" i="0">
                          <a:solidFill>
                            <a:srgbClr val="0B2B4E"/>
                          </a:solidFill>
                          <a:latin typeface="Cambria Math"/>
                        </a:rPr>
                        <m:t> + </m:t>
                      </m:r>
                      <m:sSub>
                        <m:sSubPr>
                          <m:ctrlPr>
                            <a:rPr lang="en-US" sz="2400" b="0" i="1">
                              <a:solidFill>
                                <a:srgbClr val="0070C0"/>
                              </a:solidFill>
                              <a:latin typeface="Cambria Math"/>
                              <a:ea typeface="Cambria Math"/>
                            </a:rPr>
                          </m:ctrlPr>
                        </m:sSubPr>
                        <m:e>
                          <m:r>
                            <a:rPr lang="en-US" sz="2400" b="0" i="1">
                              <a:solidFill>
                                <a:srgbClr val="0070C0"/>
                              </a:solidFill>
                              <a:latin typeface="Cambria Math"/>
                              <a:ea typeface="Cambria Math"/>
                            </a:rPr>
                            <m:t>𝑃</m:t>
                          </m:r>
                        </m:e>
                        <m:sub>
                          <m:r>
                            <m:rPr>
                              <m:sty m:val="p"/>
                            </m:rPr>
                            <a:rPr lang="en-US" sz="2400" b="0" i="0">
                              <a:solidFill>
                                <a:srgbClr val="0070C0"/>
                              </a:solidFill>
                              <a:latin typeface="Cambria Math"/>
                            </a:rPr>
                            <m:t>A</m:t>
                          </m:r>
                        </m:sub>
                      </m:sSub>
                    </m:oMath>
                  </m:oMathPara>
                </a14:m>
                <a:endParaRPr lang="en-US" sz="2400"/>
              </a:p>
            </p:txBody>
          </p:sp>
        </mc:Choice>
        <mc:Fallback xmlns="">
          <p:sp>
            <p:nvSpPr>
              <p:cNvPr id="12" name="TextBox 11"/>
              <p:cNvSpPr txBox="1">
                <a:spLocks noRot="1" noChangeAspect="1" noMove="1" noResize="1" noEditPoints="1" noAdjustHandles="1" noChangeArrowheads="1" noChangeShapeType="1" noTextEdit="1"/>
              </p:cNvSpPr>
              <p:nvPr/>
            </p:nvSpPr>
            <p:spPr>
              <a:xfrm>
                <a:off x="1554480" y="4206240"/>
                <a:ext cx="4023360" cy="457200"/>
              </a:xfrm>
              <a:prstGeom prst="rect">
                <a:avLst/>
              </a:prstGeom>
              <a:blipFill>
                <a:blip r:embed="rId5"/>
                <a:stretch>
                  <a:fillRect b="-16000"/>
                </a:stretch>
              </a:blipFill>
            </p:spPr>
            <p:txBody>
              <a:bodyPr/>
              <a:lstStyle/>
              <a:p>
                <a:r>
                  <a:rPr lang="en-US">
                    <a:noFill/>
                  </a:rPr>
                  <a:t> </a:t>
                </a:r>
              </a:p>
            </p:txBody>
          </p:sp>
        </mc:Fallback>
      </mc:AlternateContent>
      <p:sp>
        <p:nvSpPr>
          <p:cNvPr id="13" name="Oval 12"/>
          <p:cNvSpPr/>
          <p:nvPr/>
        </p:nvSpPr>
        <p:spPr>
          <a:xfrm>
            <a:off x="4373575" y="4169663"/>
            <a:ext cx="957376" cy="566928"/>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20740" y="4087368"/>
            <a:ext cx="1554480" cy="320040"/>
          </a:xfrm>
          <a:prstGeom prst="rect">
            <a:avLst/>
          </a:prstGeom>
          <a:noFill/>
        </p:spPr>
        <p:txBody>
          <a:bodyPr wrap="square" lIns="0" tIns="0" rIns="0" bIns="0">
            <a:spAutoFit/>
          </a:bodyPr>
          <a:lstStyle/>
          <a:p>
            <a:pPr algn="l"/>
            <a:r>
              <a:rPr sz="1600" b="1" i="1" u="none">
                <a:solidFill>
                  <a:srgbClr val="E09F3E"/>
                </a:solidFill>
                <a:latin typeface="Calibri"/>
              </a:rPr>
              <a:t>substitutes</a:t>
            </a:r>
          </a:p>
        </p:txBody>
      </p:sp>
      <p:cxnSp>
        <p:nvCxnSpPr>
          <p:cNvPr id="15" name="Connector 14"/>
          <p:cNvCxnSpPr/>
          <p:nvPr/>
        </p:nvCxnSpPr>
        <p:spPr>
          <a:xfrm flipH="1">
            <a:off x="5294376" y="4261104"/>
            <a:ext cx="566928" cy="114300"/>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grpSp>
        <p:nvGrpSpPr>
          <p:cNvPr id="126" name="sdpair:box:126"/>
          <p:cNvGrpSpPr/>
          <p:nvPr/>
        </p:nvGrpSpPr>
        <p:grpSpPr>
          <a:xfrm>
            <a:off x="6327648" y="4754880"/>
            <a:ext cx="3904487" cy="685800"/>
            <a:chOff x="6327648" y="4754880"/>
            <a:chExt cx="3904487" cy="685800"/>
          </a:xfrm>
        </p:grpSpPr>
        <p:sp>
          <p:nvSpPr>
            <p:cNvPr id="16" name="Rounded Rectangle 15"/>
            <p:cNvSpPr/>
            <p:nvPr/>
          </p:nvSpPr>
          <p:spPr>
            <a:xfrm>
              <a:off x="6327648" y="4754880"/>
              <a:ext cx="3904487" cy="685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4864608"/>
              <a:ext cx="3538727" cy="466344"/>
            </a:xfrm>
            <a:prstGeom prst="rect">
              <a:avLst/>
            </a:prstGeom>
            <a:noFill/>
          </p:spPr>
          <p:txBody>
            <a:bodyPr wrap="square" lIns="45720" tIns="0" rIns="45720" bIns="0" anchor="ctr">
              <a:spAutoFit/>
            </a:bodyPr>
            <a:lstStyle/>
            <a:p>
              <a:pPr algn="l"/>
              <a:r>
                <a:rPr sz="1800" b="1" i="0" u="none">
                  <a:solidFill>
                    <a:srgbClr val="0B2B4E"/>
                  </a:solidFill>
                  <a:latin typeface="Calibri"/>
                </a:rPr>
                <a:t>Note:  </a:t>
              </a:r>
              <a:r>
                <a:rPr sz="1800" b="0" i="0" u="none">
                  <a:solidFill>
                    <a:srgbClr val="0B2B4E"/>
                  </a:solidFill>
                  <a:latin typeface="Calibri"/>
                </a:rPr>
                <a:t>Now we have 2 demand functions! (Differentiated products)</a:t>
              </a:r>
            </a:p>
          </p:txBody>
        </p:sp>
      </p:grpSp>
      <p:sp>
        <p:nvSpPr>
          <p:cNvPr id="18" name="TextBox 17"/>
          <p:cNvSpPr txBox="1"/>
          <p:nvPr/>
        </p:nvSpPr>
        <p:spPr>
          <a:xfrm>
            <a:off x="251999" y="5074920"/>
            <a:ext cx="5943600" cy="411480"/>
          </a:xfrm>
          <a:prstGeom prst="rect">
            <a:avLst/>
          </a:prstGeom>
          <a:noFill/>
        </p:spPr>
        <p:txBody>
          <a:bodyPr wrap="square" lIns="0" tIns="0" rIns="0" bIns="0">
            <a:spAutoFit/>
          </a:bodyPr>
          <a:lstStyle/>
          <a:p>
            <a:pPr algn="l"/>
            <a:r>
              <a:rPr sz="2600" b="0" i="0" u="none">
                <a:solidFill>
                  <a:srgbClr val="0B2B4E"/>
                </a:solidFill>
                <a:latin typeface="Calibri"/>
              </a:rPr>
              <a:t>Same marginal cost (all in $Million):</a:t>
            </a:r>
          </a:p>
        </p:txBody>
      </p:sp>
      <mc:AlternateContent xmlns:mc="http://schemas.openxmlformats.org/markup-compatibility/2006" xmlns:a14="http://schemas.microsoft.com/office/drawing/2010/main">
        <mc:Choice Requires="a14">
          <p:sp>
            <p:nvSpPr>
              <p:cNvPr id="19" name="TextBox 18"/>
              <p:cNvSpPr txBox="1"/>
              <p:nvPr/>
            </p:nvSpPr>
            <p:spPr>
              <a:xfrm>
                <a:off x="1554480" y="5532120"/>
                <a:ext cx="3840480" cy="457200"/>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0">
                              <a:solidFill>
                                <a:srgbClr val="0070C0"/>
                              </a:solidFill>
                              <a:latin typeface="Cambria Math"/>
                            </a:rPr>
                          </m:ctrlPr>
                        </m:sSubPr>
                        <m:e>
                          <m:r>
                            <m:rPr>
                              <m:sty m:val="p"/>
                            </m:rPr>
                            <a:rPr lang="en-US" sz="2400" b="0" i="0">
                              <a:solidFill>
                                <a:srgbClr val="0070C0"/>
                              </a:solidFill>
                              <a:latin typeface="Cambria Math"/>
                            </a:rPr>
                            <m:t>MC</m:t>
                          </m:r>
                        </m:e>
                        <m:sub>
                          <m:r>
                            <m:rPr>
                              <m:sty m:val="p"/>
                            </m:rPr>
                            <a:rPr lang="en-US" sz="2400" b="0" i="0">
                              <a:solidFill>
                                <a:srgbClr val="0070C0"/>
                              </a:solidFill>
                              <a:latin typeface="Cambria Math"/>
                            </a:rPr>
                            <m:t>A</m:t>
                          </m:r>
                        </m:sub>
                      </m:sSub>
                      <m:r>
                        <a:rPr lang="en-US" sz="2400" b="0" i="0">
                          <a:solidFill>
                            <a:srgbClr val="0B2B4E"/>
                          </a:solidFill>
                          <a:latin typeface="Cambria Math"/>
                        </a:rPr>
                        <m:t> = </m:t>
                      </m:r>
                      <m:sSub>
                        <m:sSubPr>
                          <m:ctrlPr>
                            <a:rPr lang="en-US" sz="2400" b="0" i="0">
                              <a:solidFill>
                                <a:srgbClr val="007A33"/>
                              </a:solidFill>
                              <a:latin typeface="Cambria Math"/>
                            </a:rPr>
                          </m:ctrlPr>
                        </m:sSubPr>
                        <m:e>
                          <m:r>
                            <m:rPr>
                              <m:sty m:val="p"/>
                            </m:rPr>
                            <a:rPr lang="en-US" sz="2400" b="0" i="0">
                              <a:solidFill>
                                <a:srgbClr val="007A33"/>
                              </a:solidFill>
                              <a:latin typeface="Cambria Math"/>
                            </a:rPr>
                            <m:t>MC</m:t>
                          </m:r>
                        </m:e>
                        <m:sub>
                          <m:r>
                            <m:rPr>
                              <m:sty m:val="p"/>
                            </m:rPr>
                            <a:rPr lang="en-US" sz="2400" b="0" i="0">
                              <a:solidFill>
                                <a:srgbClr val="007A33"/>
                              </a:solidFill>
                              <a:latin typeface="Cambria Math"/>
                            </a:rPr>
                            <m:t>B</m:t>
                          </m:r>
                        </m:sub>
                      </m:sSub>
                      <m:r>
                        <a:rPr lang="en-US" sz="2400" b="0" i="0">
                          <a:solidFill>
                            <a:srgbClr val="0B2B4E"/>
                          </a:solidFill>
                          <a:latin typeface="Cambria Math"/>
                        </a:rPr>
                        <m:t> = 200</m:t>
                      </m:r>
                    </m:oMath>
                  </m:oMathPara>
                </a14:m>
                <a:endParaRPr lang="en-US" sz="2400"/>
              </a:p>
            </p:txBody>
          </p:sp>
        </mc:Choice>
        <mc:Fallback xmlns="">
          <p:sp>
            <p:nvSpPr>
              <p:cNvPr id="19" name="TextBox 18"/>
              <p:cNvSpPr txBox="1">
                <a:spLocks noRot="1" noChangeAspect="1" noMove="1" noResize="1" noEditPoints="1" noAdjustHandles="1" noChangeArrowheads="1" noChangeShapeType="1" noTextEdit="1"/>
              </p:cNvSpPr>
              <p:nvPr/>
            </p:nvSpPr>
            <p:spPr>
              <a:xfrm>
                <a:off x="1554480" y="5532120"/>
                <a:ext cx="3840480" cy="457200"/>
              </a:xfrm>
              <a:prstGeom prst="rect">
                <a:avLst/>
              </a:prstGeom>
              <a:blipFill>
                <a:blip r:embed="rId6"/>
                <a:stretch>
                  <a:fillRect b="-5333"/>
                </a:stretch>
              </a:blipFill>
            </p:spPr>
            <p:txBody>
              <a:bodyPr/>
              <a:lstStyle/>
              <a:p>
                <a:r>
                  <a:rPr lang="en-US">
                    <a:noFill/>
                  </a:rPr>
                  <a:t> </a:t>
                </a:r>
              </a:p>
            </p:txBody>
          </p:sp>
        </mc:Fallback>
      </mc:AlternateContent>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70FF98FA-5485-5875-B564-2222EE6DFB70}" type="slidenum">
              <a:rPr lang="en-US" sz="1200" dirty="0">
                <a:solidFill>
                  <a:srgbClr val="555B66"/>
                </a:solidFill>
                <a:latin typeface="Calibri"/>
              </a:rPr>
              <a:t>5</a:t>
            </a:fld>
            <a:endParaRPr lang="en-US" sz="1200" dirty="0">
              <a:solidFill>
                <a:srgbClr val="555B66"/>
              </a:solidFill>
              <a:latin typeface="Calibri"/>
            </a:endParaRPr>
          </a:p>
        </p:txBody>
      </p:sp>
      <p:grpSp>
        <p:nvGrpSpPr>
          <p:cNvPr id="26" name="PracticeVideoBox"/>
          <p:cNvGrpSpPr/>
          <p:nvPr/>
        </p:nvGrpSpPr>
        <p:grpSpPr>
          <a:xfrm>
            <a:off x="6327648" y="5943600"/>
            <a:ext cx="5349240" cy="804672"/>
            <a:chOff x="6327648" y="5943600"/>
            <a:chExt cx="5349240" cy="804672"/>
          </a:xfrm>
        </p:grpSpPr>
        <p:sp>
          <p:nvSpPr>
            <p:cNvPr id="24" name="Rounded Rectangle 23"/>
            <p:cNvSpPr/>
            <p:nvPr/>
          </p:nvSpPr>
          <p:spPr>
            <a:xfrm>
              <a:off x="6327648" y="5943600"/>
              <a:ext cx="5349240" cy="80467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1600" b="1" u="sng" dirty="0">
                  <a:solidFill>
                    <a:srgbClr val="0B2B4E"/>
                  </a:solidFill>
                  <a:latin typeface="Calibri"/>
                </a:rPr>
                <a:t>Optional</a:t>
              </a:r>
              <a:r>
                <a:rPr sz="1600" b="1" dirty="0">
                  <a:solidFill>
                    <a:srgbClr val="0B2B4E"/>
                  </a:solidFill>
                  <a:latin typeface="Calibri"/>
                </a:rPr>
                <a:t> Advanced Practice Video: “Bertrand Competition with Differentiated Goods – Math”</a:t>
              </a:r>
            </a:p>
          </p:txBody>
        </p:sp>
        <p:sp>
          <p:nvSpPr>
            <p:cNvPr id="25" name="Action Button: Movie 24"/>
            <p:cNvSpPr/>
            <p:nvPr/>
          </p:nvSpPr>
          <p:spPr>
            <a:xfrm>
              <a:off x="6455664" y="6208776"/>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6"/>
                                        </p:tgtEl>
                                        <p:attrNameLst>
                                          <p:attrName>style.visibility</p:attrName>
                                        </p:attrNameLst>
                                      </p:cBhvr>
                                      <p:to>
                                        <p:strVal val="visible"/>
                                      </p:to>
                                    </p:set>
                                    <p:animEffect transition="in" filter="fade">
                                      <p:cBhvr>
                                        <p:cTn id="29" dur="500"/>
                                        <p:tgtEl>
                                          <p:spTgt spid="1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Reaction Function: Airbus' Reaction to Boeing's Price (I)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3858768" y="1527047"/>
            <a:ext cx="0" cy="42793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3858768" y="5806440"/>
            <a:ext cx="59253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3652265" y="1387601"/>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0" name="sdaxistitle:x"/>
          <p:cNvSpPr txBox="1"/>
          <p:nvPr/>
        </p:nvSpPr>
        <p:spPr>
          <a:xfrm>
            <a:off x="9707879" y="5852159"/>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grpSp>
        <p:nvGrpSpPr>
          <p:cNvPr id="32" name="MRGroup 32"/>
          <p:cNvGrpSpPr/>
          <p:nvPr/>
        </p:nvGrpSpPr>
        <p:grpSpPr>
          <a:xfrm>
            <a:off x="3858768" y="3122874"/>
            <a:ext cx="2528316" cy="3012749"/>
            <a:chOff x="2194560" y="3122874"/>
            <a:chExt cx="2528316" cy="3012749"/>
          </a:xfrm>
        </p:grpSpPr>
        <p:cxnSp>
          <p:nvCxnSpPr>
            <p:cNvPr id="12" name="Connector 11"/>
            <p:cNvCxnSpPr/>
            <p:nvPr/>
          </p:nvCxnSpPr>
          <p:spPr>
            <a:xfrm>
              <a:off x="2194560" y="3122874"/>
              <a:ext cx="1963881" cy="2683566"/>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54196" y="5303520"/>
                  <a:ext cx="868680" cy="329184"/>
                </a:xfrm>
                <a:prstGeom prst="rect">
                  <a:avLst/>
                </a:prstGeom>
                <a:noFill/>
              </p:spPr>
              <p:txBody>
                <a:bodyPr wrap="square" anchor="ctr">
                  <a:spAutoFit/>
                </a:bodyPr>
                <a:lstStyle/>
                <a:p>
                  <a:pPr algn="ctr">
                    <a:defRPr sz="1600" b="0" i="1">
                      <a:solidFill>
                        <a:srgbClr val="0070C0"/>
                      </a:solidFill>
                      <a:latin typeface="Cambria Math"/>
                    </a:defRPr>
                  </a:pPr>
                  <a14:m>
                    <m:oMathPara xmlns:m="http://schemas.openxmlformats.org/officeDocument/2006/math">
                      <m:oMath>
                        <m:sSub>
                          <m:sSubPr>
                            <m:ctrlPr>
                              <a:rPr lang="en-US" sz="1600" b="0" i="0">
                                <a:solidFill>
                                  <a:srgbClr val="0070C0"/>
                                </a:solidFill>
                                <a:latin typeface="Cambria Math"/>
                              </a:rPr>
                            </m:ctrlPr>
                          </m:sSubPr>
                          <m:e>
                            <m:r>
                              <m:rPr>
                                <m:sty m:val="p"/>
                              </m:rPr>
                              <a:rPr lang="en-US" sz="1600" b="0" i="0">
                                <a:solidFill>
                                  <a:srgbClr val="0070C0"/>
                                </a:solidFill>
                                <a:latin typeface="Cambria Math"/>
                              </a:rPr>
                              <m:t>MR</m:t>
                            </m:r>
                          </m:e>
                          <m:sub>
                            <m:r>
                              <m:rPr>
                                <m:sty m:val="p"/>
                              </m:rPr>
                              <a:rPr lang="en-US" sz="1600" b="0" i="0">
                                <a:solidFill>
                                  <a:srgbClr val="0070C0"/>
                                </a:solidFill>
                                <a:latin typeface="Cambria Math"/>
                              </a:rPr>
                              <m:t>A</m:t>
                            </m:r>
                          </m:sub>
                        </m:sSub>
                      </m:oMath>
                    </m:oMathPara>
                  </a14:m>
                  <a:endParaRPr lang="en-US" sz="1600"/>
                </a:p>
              </p:txBody>
            </p:sp>
          </mc:Choice>
          <mc:Fallback xmlns="">
            <p:sp>
              <p:nvSpPr>
                <p:cNvPr id="13" name="TextBox 12"/>
                <p:cNvSpPr txBox="1">
                  <a:spLocks noRot="1" noChangeAspect="1" noMove="1" noResize="1" noEditPoints="1" noAdjustHandles="1" noChangeArrowheads="1" noChangeShapeType="1" noTextEdit="1"/>
                </p:cNvSpPr>
                <p:nvPr/>
              </p:nvSpPr>
              <p:spPr>
                <a:xfrm>
                  <a:off x="3854196" y="5303520"/>
                  <a:ext cx="868680" cy="329184"/>
                </a:xfrm>
                <a:prstGeom prst="rect">
                  <a:avLst/>
                </a:prstGeom>
                <a:blipFill>
                  <a:blip r:embed="rId3"/>
                  <a:stretch>
                    <a:fillRect/>
                  </a:stretch>
                </a:blipFill>
              </p:spPr>
              <p:txBody>
                <a:bodyPr/>
                <a:lstStyle/>
                <a:p>
                  <a:r>
                    <a:rPr lang="en-US">
                      <a:noFill/>
                    </a:rPr>
                    <a:t> </a:t>
                  </a:r>
                </a:p>
              </p:txBody>
            </p:sp>
          </mc:Fallback>
        </mc:AlternateContent>
        <p:sp>
          <p:nvSpPr>
            <p:cNvPr id="30" name="TextBox 29"/>
            <p:cNvSpPr txBox="1"/>
            <p:nvPr/>
          </p:nvSpPr>
          <p:spPr>
            <a:xfrm>
              <a:off x="3964703" y="5861303"/>
              <a:ext cx="387477" cy="274320"/>
            </a:xfrm>
            <a:prstGeom prst="rect">
              <a:avLst/>
            </a:prstGeom>
            <a:noFill/>
          </p:spPr>
          <p:txBody>
            <a:bodyPr wrap="none" lIns="0" tIns="0" rIns="0" bIns="0">
              <a:spAutoFit/>
            </a:bodyPr>
            <a:lstStyle/>
            <a:p>
              <a:pPr algn="ctr"/>
              <a:r>
                <a:rPr sz="1600" b="0" i="0" u="none" dirty="0">
                  <a:solidFill>
                    <a:srgbClr val="0B2B4E"/>
                  </a:solidFill>
                  <a:latin typeface="Calibri"/>
                </a:rPr>
                <a:t>300</a:t>
              </a:r>
            </a:p>
          </p:txBody>
        </p:sp>
      </p:grpSp>
      <mc:AlternateContent xmlns:mc="http://schemas.openxmlformats.org/markup-compatibility/2006" xmlns:a14="http://schemas.microsoft.com/office/drawing/2010/main">
        <mc:Choice Requires="a14">
          <p:sp>
            <p:nvSpPr>
              <p:cNvPr id="14" name="TextBox 13"/>
              <p:cNvSpPr txBox="1"/>
              <p:nvPr/>
            </p:nvSpPr>
            <p:spPr>
              <a:xfrm>
                <a:off x="4237329" y="2617012"/>
                <a:ext cx="2834640" cy="892552"/>
              </a:xfrm>
              <a:prstGeom prst="rect">
                <a:avLst/>
              </a:prstGeom>
              <a:noFill/>
            </p:spPr>
            <p:txBody>
              <a:bodyPr wrap="square" lIns="45720" tIns="0" rIns="45720" bIns="0">
                <a:spAutoFit/>
              </a:bodyPr>
              <a:lstStyle/>
              <a:p>
                <a:r>
                  <a:rPr lang="en-US" sz="1600" b="1" i="1" dirty="0">
                    <a:solidFill>
                      <a:srgbClr val="0070C0"/>
                    </a:solidFill>
                    <a:latin typeface="Calibri"/>
                  </a:rPr>
                  <a:t>Airbus (inverse) Demand:</a:t>
                </a:r>
                <a:endParaRPr lang="en-US" dirty="0"/>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r>
                        <a:rPr lang="en-US" sz="1400" b="0" i="0">
                          <a:solidFill>
                            <a:srgbClr val="0070C0"/>
                          </a:solidFill>
                          <a:latin typeface="Cambria Math"/>
                        </a:rPr>
                        <m:t> = 200 − 0.5·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A33"/>
                          </a:solidFill>
                          <a:latin typeface="Cambria Math"/>
                        </a:rPr>
                        <m:t> + 0.5·</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oMath>
                  </m:oMathPara>
                </a14:m>
                <a:endParaRPr lang="en-US" dirty="0"/>
              </a:p>
              <a:p>
                <a:pPr/>
                <a14:m>
                  <m:oMathPara xmlns:m="http://schemas.openxmlformats.org/officeDocument/2006/math">
                    <m:oMath>
                      <m:r>
                        <a:rPr lang="en-US" sz="1400" b="0" i="0">
                          <a:solidFill>
                            <a:srgbClr val="0070C0"/>
                          </a:solidFill>
                          <a:latin typeface="Cambria Math"/>
                        </a:rPr>
                        <m:t>    = 200 − 0.5·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0C0"/>
                          </a:solidFill>
                          <a:latin typeface="Cambria Math"/>
                        </a:rPr>
                        <m:t> + </m:t>
                      </m:r>
                      <m:r>
                        <a:rPr lang="en-US" sz="1400" b="0" i="0">
                          <a:solidFill>
                            <a:srgbClr val="007A33"/>
                          </a:solidFill>
                          <a:latin typeface="Cambria Math"/>
                        </a:rPr>
                        <m:t>100</m:t>
                      </m:r>
                    </m:oMath>
                  </m:oMathPara>
                </a14:m>
                <a:endParaRPr lang="en-US" dirty="0"/>
              </a:p>
              <a:p>
                <a:pPr/>
                <a14:m>
                  <m:oMathPara xmlns:m="http://schemas.openxmlformats.org/officeDocument/2006/math">
                    <m:oMath>
                      <m:r>
                        <a:rPr lang="en-US" sz="1400" b="0" i="0">
                          <a:solidFill>
                            <a:srgbClr val="0070C0"/>
                          </a:solidFill>
                          <a:latin typeface="Cambria Math"/>
                        </a:rPr>
                        <m:t>    = 300 − 0.5·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4237329" y="2617012"/>
                <a:ext cx="2834640" cy="892552"/>
              </a:xfrm>
              <a:prstGeom prst="rect">
                <a:avLst/>
              </a:prstGeom>
              <a:blipFill>
                <a:blip r:embed="rId4"/>
                <a:stretch>
                  <a:fillRect l="-2796" t="-6803" b="-6122"/>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62990F42-1C2F-A293-9EAF-AAA0581EF58E}"/>
              </a:ext>
            </a:extLst>
          </p:cNvPr>
          <p:cNvGrpSpPr/>
          <p:nvPr/>
        </p:nvGrpSpPr>
        <p:grpSpPr>
          <a:xfrm>
            <a:off x="6693408" y="2395728"/>
            <a:ext cx="3625596" cy="1408176"/>
            <a:chOff x="6693408" y="2395728"/>
            <a:chExt cx="3625596" cy="1408176"/>
          </a:xfrm>
        </p:grpSpPr>
        <p:sp>
          <p:nvSpPr>
            <p:cNvPr id="15" name="Oval 14"/>
            <p:cNvSpPr/>
            <p:nvPr/>
          </p:nvSpPr>
          <p:spPr>
            <a:xfrm>
              <a:off x="6693408" y="2795320"/>
              <a:ext cx="237744" cy="365760"/>
            </a:xfrm>
            <a:prstGeom prst="ellipse">
              <a:avLst/>
            </a:prstGeom>
            <a:noFill/>
            <a:ln w="25400">
              <a:solidFill>
                <a:srgbClr val="007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99732" y="2395728"/>
              <a:ext cx="822960" cy="320040"/>
            </a:xfrm>
            <a:prstGeom prst="rect">
              <a:avLst/>
            </a:prstGeom>
            <a:noFill/>
          </p:spPr>
          <p:txBody>
            <a:bodyPr wrap="square" lIns="0" tIns="0" rIns="0" bIns="0">
              <a:spAutoFit/>
            </a:bodyPr>
            <a:lstStyle/>
            <a:p>
              <a:pPr algn="l"/>
              <a:r>
                <a:rPr sz="1600" b="0" i="1" u="none">
                  <a:solidFill>
                    <a:srgbClr val="007A33"/>
                  </a:solidFill>
                  <a:latin typeface="Calibri"/>
                </a:rPr>
                <a:t>200</a:t>
              </a:r>
            </a:p>
          </p:txBody>
        </p:sp>
        <p:cxnSp>
          <p:nvCxnSpPr>
            <p:cNvPr id="17" name="Connector 16"/>
            <p:cNvCxnSpPr/>
            <p:nvPr/>
          </p:nvCxnSpPr>
          <p:spPr>
            <a:xfrm flipH="1">
              <a:off x="6862572" y="2606954"/>
              <a:ext cx="137160" cy="192024"/>
            </a:xfrm>
            <a:prstGeom prst="line">
              <a:avLst/>
            </a:prstGeom>
            <a:ln w="25400">
              <a:solidFill>
                <a:srgbClr val="007A33"/>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7210044" y="3072384"/>
                  <a:ext cx="3108960" cy="731520"/>
                </a:xfrm>
                <a:prstGeom prst="rect">
                  <a:avLst/>
                </a:prstGeom>
                <a:noFill/>
              </p:spPr>
              <p:txBody>
                <a:bodyPr wrap="square" lIns="45720" tIns="0" rIns="45720" bIns="0">
                  <a:spAutoFit/>
                </a:bodyPr>
                <a:lstStyle/>
                <a:p>
                  <a:r>
                    <a:rPr lang="en-US" sz="1700" b="1">
                      <a:solidFill>
                        <a:srgbClr val="007A33"/>
                      </a:solidFill>
                      <a:latin typeface="Calibri"/>
                    </a:rPr>
                    <a:t>A higher price </a:t>
                  </a:r>
                  <a14:m>
                    <m:oMath xmlns:m="http://schemas.openxmlformats.org/officeDocument/2006/math">
                      <m:sSub>
                        <m:sSubPr>
                          <m:ctrlPr>
                            <a:rPr lang="en-US" sz="1700" b="0" i="1">
                              <a:solidFill>
                                <a:srgbClr val="007A33"/>
                              </a:solidFill>
                              <a:latin typeface="Cambria Math"/>
                              <a:ea typeface="Cambria Math"/>
                            </a:rPr>
                          </m:ctrlPr>
                        </m:sSubPr>
                        <m:e>
                          <m:r>
                            <a:rPr lang="en-US" sz="1700" b="0" i="1">
                              <a:solidFill>
                                <a:srgbClr val="007A33"/>
                              </a:solidFill>
                              <a:latin typeface="Cambria Math"/>
                              <a:ea typeface="Cambria Math"/>
                            </a:rPr>
                            <m:t>𝑃</m:t>
                          </m:r>
                        </m:e>
                        <m:sub>
                          <m:r>
                            <m:rPr>
                              <m:sty m:val="p"/>
                            </m:rPr>
                            <a:rPr lang="en-US" sz="1700" b="0" i="0">
                              <a:solidFill>
                                <a:srgbClr val="007A33"/>
                              </a:solidFill>
                              <a:latin typeface="Cambria Math"/>
                            </a:rPr>
                            <m:t>B</m:t>
                          </m:r>
                        </m:sub>
                      </m:sSub>
                    </m:oMath>
                  </a14:m>
                  <a:r>
                    <a:rPr lang="en-US" sz="1700" b="1">
                      <a:solidFill>
                        <a:srgbClr val="007A33"/>
                      </a:solidFill>
                      <a:latin typeface="Calibri"/>
                    </a:rPr>
                    <a:t> increases demand for Airbus</a:t>
                  </a:r>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7210044" y="3072384"/>
                  <a:ext cx="3108960" cy="731520"/>
                </a:xfrm>
                <a:prstGeom prst="rect">
                  <a:avLst/>
                </a:prstGeom>
                <a:blipFill>
                  <a:blip r:embed="rId5"/>
                  <a:stretch>
                    <a:fillRect l="-2745" t="-9167"/>
                  </a:stretch>
                </a:blipFill>
              </p:spPr>
              <p:txBody>
                <a:bodyPr/>
                <a:lstStyle/>
                <a:p>
                  <a:r>
                    <a:rPr lang="en-US">
                      <a:noFill/>
                    </a:rPr>
                    <a:t> </a:t>
                  </a:r>
                </a:p>
              </p:txBody>
            </p:sp>
          </mc:Fallback>
        </mc:AlternateContent>
        <p:cxnSp>
          <p:nvCxnSpPr>
            <p:cNvPr id="19" name="Connector 18"/>
            <p:cNvCxnSpPr/>
            <p:nvPr/>
          </p:nvCxnSpPr>
          <p:spPr>
            <a:xfrm flipH="1" flipV="1">
              <a:off x="6922008" y="3070555"/>
              <a:ext cx="288950" cy="143561"/>
            </a:xfrm>
            <a:prstGeom prst="line">
              <a:avLst/>
            </a:prstGeom>
            <a:ln w="25400">
              <a:solidFill>
                <a:srgbClr val="007A33"/>
              </a:solidFill>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97D5DD81-23E7-5F50-8998-C79DB1F866B4}"/>
              </a:ext>
            </a:extLst>
          </p:cNvPr>
          <p:cNvGrpSpPr/>
          <p:nvPr/>
        </p:nvGrpSpPr>
        <p:grpSpPr>
          <a:xfrm>
            <a:off x="3361562" y="3889380"/>
            <a:ext cx="6117337" cy="443046"/>
            <a:chOff x="3361562" y="3889380"/>
            <a:chExt cx="6117337" cy="443046"/>
          </a:xfrm>
        </p:grpSpPr>
        <p:grpSp>
          <p:nvGrpSpPr>
            <p:cNvPr id="44" name="Group 43">
              <a:extLst>
                <a:ext uri="{FF2B5EF4-FFF2-40B4-BE49-F238E27FC236}">
                  <a16:creationId xmlns:a16="http://schemas.microsoft.com/office/drawing/2014/main" id="{4EBAB7B9-273E-2219-679B-2485C94E0D6C}"/>
                </a:ext>
              </a:extLst>
            </p:cNvPr>
            <p:cNvGrpSpPr/>
            <p:nvPr/>
          </p:nvGrpSpPr>
          <p:grpSpPr>
            <a:xfrm>
              <a:off x="3858768" y="4017396"/>
              <a:ext cx="5620131" cy="315030"/>
              <a:chOff x="3858768" y="4017396"/>
              <a:chExt cx="5620131" cy="315030"/>
            </a:xfrm>
          </p:grpSpPr>
          <p:cxnSp>
            <p:nvCxnSpPr>
              <p:cNvPr id="20" name="Connector 19"/>
              <p:cNvCxnSpPr/>
              <p:nvPr/>
            </p:nvCxnSpPr>
            <p:spPr>
              <a:xfrm>
                <a:off x="3858768" y="4017396"/>
                <a:ext cx="5564331"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119997" y="4086453"/>
                <a:ext cx="358902" cy="245973"/>
              </a:xfrm>
              <a:prstGeom prst="rect">
                <a:avLst/>
              </a:prstGeom>
              <a:noFill/>
            </p:spPr>
            <p:txBody>
              <a:bodyPr wrap="square" lIns="0" tIns="0" rIns="0" bIns="0">
                <a:spAutoFit/>
              </a:bodyPr>
              <a:lstStyle/>
              <a:p>
                <a:pPr algn="ctr"/>
                <a:r>
                  <a:rPr sz="1600" b="1" i="1" u="none">
                    <a:solidFill>
                      <a:srgbClr val="0B2B4E"/>
                    </a:solidFill>
                    <a:latin typeface="Calibri"/>
                  </a:rPr>
                  <a:t>MC</a:t>
                </a:r>
              </a:p>
            </p:txBody>
          </p:sp>
        </p:grpSp>
        <p:sp>
          <p:nvSpPr>
            <p:cNvPr id="28" name="TextBox 27"/>
            <p:cNvSpPr txBox="1"/>
            <p:nvPr/>
          </p:nvSpPr>
          <p:spPr>
            <a:xfrm>
              <a:off x="3361562" y="3889380"/>
              <a:ext cx="387477" cy="274320"/>
            </a:xfrm>
            <a:prstGeom prst="rect">
              <a:avLst/>
            </a:prstGeom>
            <a:noFill/>
          </p:spPr>
          <p:txBody>
            <a:bodyPr wrap="none" lIns="0" tIns="0" rIns="0" bIns="0">
              <a:spAutoFit/>
            </a:bodyPr>
            <a:lstStyle/>
            <a:p>
              <a:pPr algn="r"/>
              <a:r>
                <a:rPr sz="1600" b="0" i="0" u="none" dirty="0">
                  <a:solidFill>
                    <a:srgbClr val="0B2B4E"/>
                  </a:solidFill>
                  <a:latin typeface="Calibri"/>
                </a:rPr>
                <a:t>200</a:t>
              </a:r>
            </a:p>
          </p:txBody>
        </p:sp>
      </p:grpSp>
      <p:grpSp>
        <p:nvGrpSpPr>
          <p:cNvPr id="43" name="Group 42">
            <a:extLst>
              <a:ext uri="{FF2B5EF4-FFF2-40B4-BE49-F238E27FC236}">
                <a16:creationId xmlns:a16="http://schemas.microsoft.com/office/drawing/2014/main" id="{294DF55C-1112-BE34-71AE-D5982073899B}"/>
              </a:ext>
            </a:extLst>
          </p:cNvPr>
          <p:cNvGrpSpPr/>
          <p:nvPr/>
        </p:nvGrpSpPr>
        <p:grpSpPr>
          <a:xfrm>
            <a:off x="3361562" y="3442119"/>
            <a:ext cx="1345572" cy="2693504"/>
            <a:chOff x="3361562" y="3442119"/>
            <a:chExt cx="1345572" cy="2693504"/>
          </a:xfrm>
        </p:grpSpPr>
        <p:cxnSp>
          <p:nvCxnSpPr>
            <p:cNvPr id="22" name="Connector 21"/>
            <p:cNvCxnSpPr/>
            <p:nvPr/>
          </p:nvCxnSpPr>
          <p:spPr>
            <a:xfrm flipV="1">
              <a:off x="4513395" y="3570135"/>
              <a:ext cx="0" cy="2236305"/>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858768" y="3570135"/>
              <a:ext cx="654627" cy="0"/>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463103" y="3519843"/>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61562" y="3442119"/>
              <a:ext cx="387477" cy="274320"/>
            </a:xfrm>
            <a:prstGeom prst="rect">
              <a:avLst/>
            </a:prstGeom>
            <a:noFill/>
          </p:spPr>
          <p:txBody>
            <a:bodyPr wrap="none" lIns="0" tIns="0" rIns="0" bIns="0">
              <a:spAutoFit/>
            </a:bodyPr>
            <a:lstStyle/>
            <a:p>
              <a:pPr algn="r"/>
              <a:r>
                <a:rPr sz="1600" b="1" i="0" u="none">
                  <a:solidFill>
                    <a:srgbClr val="0B2B4E"/>
                  </a:solidFill>
                  <a:latin typeface="Calibri"/>
                </a:rPr>
                <a:t>250</a:t>
              </a:r>
            </a:p>
          </p:txBody>
        </p:sp>
        <p:sp>
          <p:nvSpPr>
            <p:cNvPr id="29" name="TextBox 28"/>
            <p:cNvSpPr txBox="1"/>
            <p:nvPr/>
          </p:nvSpPr>
          <p:spPr>
            <a:xfrm>
              <a:off x="4319657" y="5861303"/>
              <a:ext cx="387477" cy="274320"/>
            </a:xfrm>
            <a:prstGeom prst="rect">
              <a:avLst/>
            </a:prstGeom>
            <a:noFill/>
          </p:spPr>
          <p:txBody>
            <a:bodyPr wrap="none" lIns="0" tIns="0" rIns="0" bIns="0">
              <a:spAutoFit/>
            </a:bodyPr>
            <a:lstStyle/>
            <a:p>
              <a:pPr algn="ctr"/>
              <a:r>
                <a:rPr sz="1600" b="1" i="0" u="none">
                  <a:solidFill>
                    <a:srgbClr val="0B2B4E"/>
                  </a:solidFill>
                  <a:latin typeface="Calibri"/>
                </a:rPr>
                <a:t>100</a:t>
              </a:r>
            </a:p>
          </p:txBody>
        </p:sp>
      </p:grpSp>
      <p:grpSp>
        <p:nvGrpSpPr>
          <p:cNvPr id="42" name="Group 41">
            <a:extLst>
              <a:ext uri="{FF2B5EF4-FFF2-40B4-BE49-F238E27FC236}">
                <a16:creationId xmlns:a16="http://schemas.microsoft.com/office/drawing/2014/main" id="{F59672A2-0A09-E3D8-BFAF-0CDCCB5061C5}"/>
              </a:ext>
            </a:extLst>
          </p:cNvPr>
          <p:cNvGrpSpPr/>
          <p:nvPr/>
        </p:nvGrpSpPr>
        <p:grpSpPr>
          <a:xfrm>
            <a:off x="3361562" y="2994858"/>
            <a:ext cx="4618708" cy="3140765"/>
            <a:chOff x="3361562" y="2994858"/>
            <a:chExt cx="4618708" cy="3140765"/>
          </a:xfrm>
        </p:grpSpPr>
        <p:cxnSp>
          <p:nvCxnSpPr>
            <p:cNvPr id="11" name="Connector 10"/>
            <p:cNvCxnSpPr/>
            <p:nvPr/>
          </p:nvCxnSpPr>
          <p:spPr>
            <a:xfrm>
              <a:off x="3858768" y="3122874"/>
              <a:ext cx="3927763" cy="2683566"/>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361562" y="2994858"/>
              <a:ext cx="387477" cy="274320"/>
            </a:xfrm>
            <a:prstGeom prst="rect">
              <a:avLst/>
            </a:prstGeom>
            <a:noFill/>
          </p:spPr>
          <p:txBody>
            <a:bodyPr wrap="none" lIns="0" tIns="0" rIns="0" bIns="0">
              <a:spAutoFit/>
            </a:bodyPr>
            <a:lstStyle/>
            <a:p>
              <a:pPr algn="r"/>
              <a:r>
                <a:rPr sz="1600" b="0" i="0" u="none" dirty="0">
                  <a:solidFill>
                    <a:srgbClr val="0B2B4E"/>
                  </a:solidFill>
                  <a:latin typeface="Calibri"/>
                </a:rPr>
                <a:t>300</a:t>
              </a:r>
            </a:p>
          </p:txBody>
        </p:sp>
        <p:sp>
          <p:nvSpPr>
            <p:cNvPr id="31" name="TextBox 30"/>
            <p:cNvSpPr txBox="1"/>
            <p:nvPr/>
          </p:nvSpPr>
          <p:spPr>
            <a:xfrm>
              <a:off x="7592793" y="5861303"/>
              <a:ext cx="387477" cy="274320"/>
            </a:xfrm>
            <a:prstGeom prst="rect">
              <a:avLst/>
            </a:prstGeom>
            <a:noFill/>
          </p:spPr>
          <p:txBody>
            <a:bodyPr wrap="none" lIns="0" tIns="0" rIns="0" bIns="0">
              <a:spAutoFit/>
            </a:bodyPr>
            <a:lstStyle/>
            <a:p>
              <a:pPr algn="ctr"/>
              <a:r>
                <a:rPr sz="1600" b="0" i="0" u="none">
                  <a:solidFill>
                    <a:srgbClr val="0B2B4E"/>
                  </a:solidFill>
                  <a:latin typeface="Calibri"/>
                </a:rPr>
                <a:t>600</a:t>
              </a:r>
            </a:p>
          </p:txBody>
        </p:sp>
      </p:grpSp>
      <p:sp>
        <p:nvSpPr>
          <p:cNvPr id="33" name="Rectangle 32"/>
          <p:cNvSpPr/>
          <p:nvPr/>
        </p:nvSpPr>
        <p:spPr>
          <a:xfrm>
            <a:off x="8823960" y="1572768"/>
            <a:ext cx="3017520" cy="822960"/>
          </a:xfrm>
          <a:prstGeom prst="rect">
            <a:avLst/>
          </a:prstGeom>
          <a:solidFill>
            <a:srgbClr val="FFFFFF"/>
          </a:solidFill>
          <a:ln w="254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i="0">
                <a:solidFill>
                  <a:srgbClr val="0070C0"/>
                </a:solidFill>
                <a:latin typeface="Calibri"/>
              </a:rPr>
              <a:t>Airbus assumes that Boeing charges </a:t>
            </a:r>
            <a:r>
              <a:rPr sz="1800" b="1" i="1">
                <a:solidFill>
                  <a:srgbClr val="007A33"/>
                </a:solidFill>
                <a:latin typeface="Calibri"/>
              </a:rPr>
              <a:t>P</a:t>
            </a:r>
            <a:r>
              <a:rPr sz="1800" b="1" i="1" baseline="-25000">
                <a:solidFill>
                  <a:srgbClr val="007A33"/>
                </a:solidFill>
                <a:latin typeface="Calibri"/>
              </a:rPr>
              <a:t>B</a:t>
            </a:r>
            <a:r>
              <a:rPr sz="1800" b="1" i="1">
                <a:solidFill>
                  <a:srgbClr val="007A33"/>
                </a:solidFill>
                <a:latin typeface="Calibri"/>
              </a:rPr>
              <a:t> = 200</a:t>
            </a:r>
          </a:p>
        </p:txBody>
      </p:sp>
      <p:sp>
        <p:nvSpPr>
          <p:cNvPr id="34" name="Rectangle 33"/>
          <p:cNvSpPr/>
          <p:nvPr/>
        </p:nvSpPr>
        <p:spPr>
          <a:xfrm>
            <a:off x="8993124" y="4673976"/>
            <a:ext cx="3017520" cy="868680"/>
          </a:xfrm>
          <a:prstGeom prst="rect">
            <a:avLst/>
          </a:prstGeom>
          <a:solidFill>
            <a:srgbClr val="FFFFFF"/>
          </a:solidFill>
          <a:ln w="254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070C0"/>
                </a:solidFill>
                <a:latin typeface="Calibri"/>
              </a:rPr>
              <a:t>→ Airbus' optimal price response is </a:t>
            </a:r>
            <a:r>
              <a:rPr sz="1800" b="1" i="1">
                <a:solidFill>
                  <a:srgbClr val="0070C0"/>
                </a:solidFill>
                <a:latin typeface="Calibri"/>
              </a:rPr>
              <a:t>P</a:t>
            </a:r>
            <a:r>
              <a:rPr sz="1800" b="1" i="1" baseline="-25000">
                <a:solidFill>
                  <a:srgbClr val="0070C0"/>
                </a:solidFill>
                <a:latin typeface="Calibri"/>
              </a:rPr>
              <a:t>A</a:t>
            </a:r>
            <a:r>
              <a:rPr sz="1800" b="1" i="0">
                <a:solidFill>
                  <a:srgbClr val="0070C0"/>
                </a:solidFill>
                <a:latin typeface="Calibri"/>
              </a:rPr>
              <a:t> = 250</a:t>
            </a:r>
          </a:p>
        </p:txBody>
      </p:sp>
      <p:sp>
        <p:nvSpPr>
          <p:cNvPr id="35" name="Rectangle 3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8" name="TextBox 37"/>
          <p:cNvSpPr txBox="1"/>
          <p:nvPr/>
        </p:nvSpPr>
        <p:spPr>
          <a:xfrm>
            <a:off x="11475720" y="6583680"/>
            <a:ext cx="502920" cy="292608"/>
          </a:xfrm>
          <a:prstGeom prst="rect">
            <a:avLst/>
          </a:prstGeom>
          <a:noFill/>
        </p:spPr>
        <p:txBody>
          <a:bodyPr wrap="none" lIns="0" tIns="0" rIns="0" bIns="0">
            <a:spAutoFit/>
          </a:bodyPr>
          <a:lstStyle/>
          <a:p>
            <a:pPr algn="r"/>
            <a:fld id="{6B33B752-A3F5-5060-B64C-BB97663B4C86}" type="slidenum">
              <a:rPr lang="en-US" sz="1200" dirty="0">
                <a:solidFill>
                  <a:srgbClr val="555B66"/>
                </a:solidFill>
                <a:latin typeface="Calibri"/>
              </a:rPr>
              <a:t>6</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4B2FFCE-EE9D-1255-434C-A042001098E0}"/>
                  </a:ext>
                </a:extLst>
              </p:cNvPr>
              <p:cNvSpPr txBox="1"/>
              <p:nvPr/>
            </p:nvSpPr>
            <p:spPr>
              <a:xfrm>
                <a:off x="391599" y="1421666"/>
                <a:ext cx="2834640" cy="1138773"/>
              </a:xfrm>
              <a:prstGeom prst="rect">
                <a:avLst/>
              </a:prstGeom>
              <a:noFill/>
            </p:spPr>
            <p:txBody>
              <a:bodyPr wrap="square" lIns="45720" tIns="0" rIns="45720" bIns="0">
                <a:spAutoFit/>
              </a:bodyPr>
              <a:lstStyle/>
              <a:p>
                <a:r>
                  <a:rPr lang="en-US" sz="1600" b="1" i="1" dirty="0">
                    <a:solidFill>
                      <a:srgbClr val="0070C0"/>
                    </a:solidFill>
                    <a:latin typeface="Calibri"/>
                  </a:rPr>
                  <a:t>Note: Airbus Demand:</a:t>
                </a:r>
                <a:endParaRPr lang="en-US" dirty="0"/>
              </a:p>
              <a:p>
                <a:r>
                  <a:rPr lang="en-US" sz="1400" i="1" dirty="0">
                    <a:solidFill>
                      <a:srgbClr val="0070C0"/>
                    </a:solidFill>
                    <a:latin typeface="Cambria Math" panose="02040503050406030204" pitchFamily="18" charset="0"/>
                    <a:ea typeface="Cambria Math"/>
                  </a:rPr>
                  <a:t> </a:t>
                </a:r>
                <a14:m>
                  <m:oMath xmlns:m="http://schemas.openxmlformats.org/officeDocument/2006/math">
                    <m:sSub>
                      <m:sSubPr>
                        <m:ctrlPr>
                          <a:rPr lang="en-US" sz="1400" b="0" i="1" smtClean="0">
                            <a:solidFill>
                              <a:srgbClr val="0070C0"/>
                            </a:solidFill>
                            <a:latin typeface="Cambria Math" panose="02040503050406030204" pitchFamily="18" charset="0"/>
                            <a:ea typeface="Cambria Math"/>
                          </a:rPr>
                        </m:ctrlPr>
                      </m:sSubPr>
                      <m:e>
                        <m:r>
                          <a:rPr lang="en-US" sz="1400" b="0" i="1" smtClean="0">
                            <a:solidFill>
                              <a:srgbClr val="0070C0"/>
                            </a:solidFill>
                            <a:latin typeface="Cambria Math" panose="02040503050406030204" pitchFamily="18" charset="0"/>
                            <a:ea typeface="Cambria Math"/>
                          </a:rPr>
                          <m:t>  </m:t>
                        </m:r>
                        <m:r>
                          <a:rPr lang="en-US" sz="1400" i="1">
                            <a:solidFill>
                              <a:srgbClr val="0070C0"/>
                            </a:solidFill>
                            <a:latin typeface="Cambria Math"/>
                            <a:ea typeface="Cambria Math"/>
                          </a:rPr>
                          <m:t>𝑄</m:t>
                        </m:r>
                      </m:e>
                      <m:sub>
                        <m:r>
                          <m:rPr>
                            <m:sty m:val="p"/>
                          </m:rPr>
                          <a:rPr lang="en-US" sz="1400">
                            <a:solidFill>
                              <a:srgbClr val="0070C0"/>
                            </a:solidFill>
                            <a:latin typeface="Cambria Math"/>
                          </a:rPr>
                          <m:t>A</m:t>
                        </m:r>
                      </m:sub>
                    </m:sSub>
                    <m:r>
                      <a:rPr lang="en-US" sz="1400">
                        <a:solidFill>
                          <a:srgbClr val="0B2B4E"/>
                        </a:solidFill>
                        <a:latin typeface="Cambria Math"/>
                      </a:rPr>
                      <m:t> = 400 − 2</m:t>
                    </m:r>
                    <m:sSub>
                      <m:sSubPr>
                        <m:ctrlPr>
                          <a:rPr lang="en-US" sz="1400" i="1">
                            <a:solidFill>
                              <a:srgbClr val="0070C0"/>
                            </a:solidFill>
                            <a:latin typeface="Cambria Math"/>
                            <a:ea typeface="Cambria Math"/>
                          </a:rPr>
                        </m:ctrlPr>
                      </m:sSubPr>
                      <m:e>
                        <m:r>
                          <a:rPr lang="en-US" sz="1400" i="1">
                            <a:solidFill>
                              <a:srgbClr val="0070C0"/>
                            </a:solidFill>
                            <a:latin typeface="Cambria Math"/>
                            <a:ea typeface="Cambria Math"/>
                          </a:rPr>
                          <m:t>𝑃</m:t>
                        </m:r>
                      </m:e>
                      <m:sub>
                        <m:r>
                          <m:rPr>
                            <m:sty m:val="p"/>
                          </m:rPr>
                          <a:rPr lang="en-US" sz="1400">
                            <a:solidFill>
                              <a:srgbClr val="0070C0"/>
                            </a:solidFill>
                            <a:latin typeface="Cambria Math"/>
                          </a:rPr>
                          <m:t>A</m:t>
                        </m:r>
                      </m:sub>
                    </m:sSub>
                    <m:r>
                      <a:rPr lang="en-US" sz="1400">
                        <a:solidFill>
                          <a:srgbClr val="0B2B4E"/>
                        </a:solidFill>
                        <a:latin typeface="Cambria Math"/>
                      </a:rPr>
                      <m:t> + </m:t>
                    </m:r>
                    <m:sSub>
                      <m:sSubPr>
                        <m:ctrlPr>
                          <a:rPr lang="en-US" sz="1400" i="1">
                            <a:solidFill>
                              <a:srgbClr val="007A33"/>
                            </a:solidFill>
                            <a:latin typeface="Cambria Math"/>
                            <a:ea typeface="Cambria Math"/>
                          </a:rPr>
                        </m:ctrlPr>
                      </m:sSubPr>
                      <m:e>
                        <m:r>
                          <a:rPr lang="en-US" sz="1400" i="1">
                            <a:solidFill>
                              <a:srgbClr val="007A33"/>
                            </a:solidFill>
                            <a:latin typeface="Cambria Math"/>
                            <a:ea typeface="Cambria Math"/>
                          </a:rPr>
                          <m:t>𝑃</m:t>
                        </m:r>
                      </m:e>
                      <m:sub>
                        <m:r>
                          <m:rPr>
                            <m:sty m:val="p"/>
                          </m:rPr>
                          <a:rPr lang="en-US" sz="1400">
                            <a:solidFill>
                              <a:srgbClr val="007A33"/>
                            </a:solidFill>
                            <a:latin typeface="Cambria Math"/>
                          </a:rPr>
                          <m:t>B</m:t>
                        </m:r>
                      </m:sub>
                    </m:sSub>
                  </m:oMath>
                </a14:m>
                <a:endParaRPr lang="en-US" sz="1400" b="0" i="1" dirty="0">
                  <a:solidFill>
                    <a:srgbClr val="0070C0"/>
                  </a:solidFill>
                  <a:latin typeface="Cambria Math" panose="02040503050406030204" pitchFamily="18" charset="0"/>
                  <a:ea typeface="Cambria Math"/>
                </a:endParaRPr>
              </a:p>
              <a:p>
                <a:endParaRPr lang="en-US" sz="1400" i="1" dirty="0">
                  <a:solidFill>
                    <a:srgbClr val="0070C0"/>
                  </a:solidFill>
                  <a:latin typeface="Cambria Math" panose="02040503050406030204" pitchFamily="18" charset="0"/>
                  <a:ea typeface="Cambria Math"/>
                </a:endParaRPr>
              </a:p>
              <a:p>
                <a:r>
                  <a:rPr lang="en-US" sz="1400" b="1" i="1" dirty="0">
                    <a:solidFill>
                      <a:srgbClr val="0070C0"/>
                    </a:solidFill>
                  </a:rPr>
                  <a:t>Derive inverse Airbus Demand:</a:t>
                </a:r>
                <a:endParaRPr lang="en-US" sz="1400" dirty="0"/>
              </a:p>
              <a:p>
                <a:r>
                  <a:rPr lang="en-US" sz="1400" b="0" dirty="0">
                    <a:solidFill>
                      <a:srgbClr val="0070C0"/>
                    </a:solidFill>
                    <a:ea typeface="Cambria Math"/>
                    <a:sym typeface="Wingdings" panose="05000000000000000000" pitchFamily="2" charset="2"/>
                  </a:rPr>
                  <a:t> </a:t>
                </a:r>
                <a14:m>
                  <m:oMath xmlns:m="http://schemas.openxmlformats.org/officeDocument/2006/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r>
                      <a:rPr lang="en-US" sz="1400" b="0" i="0">
                        <a:solidFill>
                          <a:srgbClr val="0070C0"/>
                        </a:solidFill>
                        <a:latin typeface="Cambria Math"/>
                      </a:rPr>
                      <m:t> = 200 − 0.5·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A33"/>
                        </a:solidFill>
                        <a:latin typeface="Cambria Math"/>
                      </a:rPr>
                      <m:t> + 0.5·</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oMath>
                </a14:m>
                <a:endParaRPr lang="en-US" dirty="0"/>
              </a:p>
            </p:txBody>
          </p:sp>
        </mc:Choice>
        <mc:Fallback xmlns="">
          <p:sp>
            <p:nvSpPr>
              <p:cNvPr id="40" name="TextBox 39">
                <a:extLst>
                  <a:ext uri="{FF2B5EF4-FFF2-40B4-BE49-F238E27FC236}">
                    <a16:creationId xmlns:a16="http://schemas.microsoft.com/office/drawing/2014/main" id="{A4B2FFCE-EE9D-1255-434C-A042001098E0}"/>
                  </a:ext>
                </a:extLst>
              </p:cNvPr>
              <p:cNvSpPr txBox="1">
                <a:spLocks noRot="1" noChangeAspect="1" noMove="1" noResize="1" noEditPoints="1" noAdjustHandles="1" noChangeArrowheads="1" noChangeShapeType="1" noTextEdit="1"/>
              </p:cNvSpPr>
              <p:nvPr/>
            </p:nvSpPr>
            <p:spPr>
              <a:xfrm>
                <a:off x="391599" y="1421666"/>
                <a:ext cx="2834640" cy="1138773"/>
              </a:xfrm>
              <a:prstGeom prst="rect">
                <a:avLst/>
              </a:prstGeom>
              <a:blipFill>
                <a:blip r:embed="rId6"/>
                <a:stretch>
                  <a:fillRect l="-2796" t="-5348" b="-5882"/>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3" grpId="0" animBg="1"/>
      <p:bldP spid="34" grpId="0" animBg="1"/>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Reaction Function: Airbus' Reaction to Boeing's Price (II)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2194560" y="1527047"/>
            <a:ext cx="0" cy="42793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2194560" y="5806440"/>
            <a:ext cx="59253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1988057" y="1387601"/>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0" name="sdaxistitle:x"/>
          <p:cNvSpPr txBox="1"/>
          <p:nvPr/>
        </p:nvSpPr>
        <p:spPr>
          <a:xfrm>
            <a:off x="8043671" y="5852159"/>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cxnSp>
        <p:nvCxnSpPr>
          <p:cNvPr id="11" name="Connector 10"/>
          <p:cNvCxnSpPr/>
          <p:nvPr/>
        </p:nvCxnSpPr>
        <p:spPr>
          <a:xfrm>
            <a:off x="2194560" y="3122874"/>
            <a:ext cx="3927763" cy="2683566"/>
          </a:xfrm>
          <a:prstGeom prst="line">
            <a:avLst/>
          </a:prstGeom>
          <a:ln w="25400">
            <a:solidFill>
              <a:srgbClr val="555B66"/>
            </a:solidFill>
            <a:prstDash val="sysDot"/>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7589520" y="5422392"/>
                <a:ext cx="3063240" cy="310896"/>
              </a:xfrm>
              <a:prstGeom prst="rect">
                <a:avLst/>
              </a:prstGeom>
              <a:noFill/>
            </p:spPr>
            <p:txBody>
              <a:bodyPr wrap="none" lIns="45720" tIns="0" rIns="45720" bIns="0">
                <a:spAutoFit/>
              </a:bodyPr>
              <a:lstStyle/>
              <a:p>
                <a:r>
                  <a:rPr lang="en-US" sz="1600" b="1">
                    <a:solidFill>
                      <a:srgbClr val="555B66"/>
                    </a:solidFill>
                    <a:latin typeface="Calibri"/>
                  </a:rPr>
                  <a:t>Previous demand at </a:t>
                </a:r>
                <a14:m>
                  <m:oMath xmlns:m="http://schemas.openxmlformats.org/officeDocument/2006/math">
                    <m:sSub>
                      <m:sSubPr>
                        <m:ctrlPr>
                          <a:rPr lang="en-US" sz="1600" b="0" i="1">
                            <a:solidFill>
                              <a:srgbClr val="007A33"/>
                            </a:solidFill>
                            <a:latin typeface="Cambria Math"/>
                            <a:ea typeface="Cambria Math"/>
                          </a:rPr>
                        </m:ctrlPr>
                      </m:sSubPr>
                      <m:e>
                        <m:r>
                          <a:rPr lang="en-US" sz="1600" b="0" i="1">
                            <a:solidFill>
                              <a:srgbClr val="007A33"/>
                            </a:solidFill>
                            <a:latin typeface="Cambria Math"/>
                            <a:ea typeface="Cambria Math"/>
                          </a:rPr>
                          <m:t>𝑃</m:t>
                        </m:r>
                      </m:e>
                      <m:sub>
                        <m:r>
                          <m:rPr>
                            <m:sty m:val="p"/>
                          </m:rPr>
                          <a:rPr lang="en-US" sz="1600" b="0" i="0">
                            <a:solidFill>
                              <a:srgbClr val="007A33"/>
                            </a:solidFill>
                            <a:latin typeface="Cambria Math"/>
                          </a:rPr>
                          <m:t>B</m:t>
                        </m:r>
                      </m:sub>
                    </m:sSub>
                    <m:r>
                      <a:rPr lang="en-US" sz="1600" b="0" i="0">
                        <a:solidFill>
                          <a:srgbClr val="007A33"/>
                        </a:solidFill>
                        <a:latin typeface="Cambria Math"/>
                      </a:rPr>
                      <m:t> = 200</m:t>
                    </m:r>
                  </m:oMath>
                </a14:m>
                <a:endParaRPr lang="en-US"/>
              </a:p>
            </p:txBody>
          </p:sp>
        </mc:Choice>
        <mc:Fallback xmlns="">
          <p:sp>
            <p:nvSpPr>
              <p:cNvPr id="12" name="TextBox 11"/>
              <p:cNvSpPr txBox="1">
                <a:spLocks noRot="1" noChangeAspect="1" noMove="1" noResize="1" noEditPoints="1" noAdjustHandles="1" noChangeArrowheads="1" noChangeShapeType="1" noTextEdit="1"/>
              </p:cNvSpPr>
              <p:nvPr/>
            </p:nvSpPr>
            <p:spPr>
              <a:xfrm>
                <a:off x="7589520" y="5422392"/>
                <a:ext cx="3063240" cy="310896"/>
              </a:xfrm>
              <a:prstGeom prst="rect">
                <a:avLst/>
              </a:prstGeom>
              <a:blipFill>
                <a:blip r:embed="rId3"/>
                <a:stretch>
                  <a:fillRect l="-2584" t="-13725" b="-25490"/>
                </a:stretch>
              </a:blipFill>
            </p:spPr>
            <p:txBody>
              <a:bodyPr/>
              <a:lstStyle/>
              <a:p>
                <a:r>
                  <a:rPr lang="en-US">
                    <a:noFill/>
                  </a:rPr>
                  <a:t> </a:t>
                </a:r>
              </a:p>
            </p:txBody>
          </p:sp>
        </mc:Fallback>
      </mc:AlternateContent>
      <p:cxnSp>
        <p:nvCxnSpPr>
          <p:cNvPr id="13" name="Connector 12"/>
          <p:cNvCxnSpPr/>
          <p:nvPr/>
        </p:nvCxnSpPr>
        <p:spPr>
          <a:xfrm flipH="1">
            <a:off x="5861304" y="5602033"/>
            <a:ext cx="1691644" cy="26099"/>
          </a:xfrm>
          <a:prstGeom prst="line">
            <a:avLst/>
          </a:prstGeom>
          <a:ln w="25400">
            <a:solidFill>
              <a:srgbClr val="555B66"/>
            </a:solidFill>
            <a:prstDash val="sysDot"/>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748832" y="5016398"/>
            <a:ext cx="443484" cy="523951"/>
          </a:xfrm>
          <a:prstGeom prst="line">
            <a:avLst/>
          </a:prstGeom>
          <a:ln w="34925">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228353"/>
            <a:ext cx="5237018" cy="3578087"/>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2228353"/>
            <a:ext cx="2618509" cy="3578087"/>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4339742" y="5102352"/>
                <a:ext cx="868680" cy="329184"/>
              </a:xfrm>
              <a:prstGeom prst="rect">
                <a:avLst/>
              </a:prstGeom>
              <a:noFill/>
            </p:spPr>
            <p:txBody>
              <a:bodyPr wrap="square" anchor="ctr">
                <a:spAutoFit/>
              </a:bodyPr>
              <a:lstStyle/>
              <a:p>
                <a:pPr algn="ctr">
                  <a:defRPr sz="1600" b="0" i="1">
                    <a:solidFill>
                      <a:srgbClr val="0070C0"/>
                    </a:solidFill>
                    <a:latin typeface="Cambria Math"/>
                  </a:defRPr>
                </a:pPr>
                <a14:m>
                  <m:oMathPara xmlns:m="http://schemas.openxmlformats.org/officeDocument/2006/math">
                    <m:oMath>
                      <m:sSub>
                        <m:sSubPr>
                          <m:ctrlPr>
                            <a:rPr lang="en-US" sz="1600" b="0" i="0">
                              <a:solidFill>
                                <a:srgbClr val="0070C0"/>
                              </a:solidFill>
                              <a:latin typeface="Cambria Math"/>
                            </a:rPr>
                          </m:ctrlPr>
                        </m:sSubPr>
                        <m:e>
                          <m:r>
                            <m:rPr>
                              <m:sty m:val="p"/>
                            </m:rPr>
                            <a:rPr lang="en-US" sz="1600" b="0" i="0">
                              <a:solidFill>
                                <a:srgbClr val="0070C0"/>
                              </a:solidFill>
                              <a:latin typeface="Cambria Math"/>
                            </a:rPr>
                            <m:t>MR</m:t>
                          </m:r>
                        </m:e>
                        <m:sub>
                          <m:r>
                            <m:rPr>
                              <m:sty m:val="p"/>
                            </m:rPr>
                            <a:rPr lang="en-US" sz="1600" b="0" i="0">
                              <a:solidFill>
                                <a:srgbClr val="0070C0"/>
                              </a:solidFill>
                              <a:latin typeface="Cambria Math"/>
                            </a:rPr>
                            <m:t>A</m:t>
                          </m:r>
                        </m:sub>
                      </m:sSub>
                    </m:oMath>
                  </m:oMathPara>
                </a14:m>
                <a:endParaRPr lang="en-US" sz="1600"/>
              </a:p>
            </p:txBody>
          </p:sp>
        </mc:Choice>
        <mc:Fallback xmlns="">
          <p:sp>
            <p:nvSpPr>
              <p:cNvPr id="17" name="TextBox 16"/>
              <p:cNvSpPr txBox="1">
                <a:spLocks noRot="1" noChangeAspect="1" noMove="1" noResize="1" noEditPoints="1" noAdjustHandles="1" noChangeArrowheads="1" noChangeShapeType="1" noTextEdit="1"/>
              </p:cNvSpPr>
              <p:nvPr/>
            </p:nvSpPr>
            <p:spPr>
              <a:xfrm>
                <a:off x="4339742" y="5102352"/>
                <a:ext cx="868680" cy="3291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738628" y="1995220"/>
                <a:ext cx="2834640" cy="1051560"/>
              </a:xfrm>
              <a:prstGeom prst="rect">
                <a:avLst/>
              </a:prstGeom>
              <a:noFill/>
            </p:spPr>
            <p:txBody>
              <a:bodyPr wrap="square" lIns="45720" tIns="0" rIns="45720" bIns="0">
                <a:spAutoFit/>
              </a:bodyPr>
              <a:lstStyle/>
              <a:p>
                <a:r>
                  <a:rPr lang="en-US" sz="1600" b="1" i="1">
                    <a:solidFill>
                      <a:srgbClr val="0070C0"/>
                    </a:solidFill>
                    <a:latin typeface="Calibri"/>
                  </a:rPr>
                  <a:t>Airbus Demand:</a:t>
                </a:r>
                <a:endParaRPr lang="en-US"/>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r>
                        <a:rPr lang="en-US" sz="1400" b="0" i="0">
                          <a:solidFill>
                            <a:srgbClr val="0070C0"/>
                          </a:solidFill>
                          <a:latin typeface="Cambria Math"/>
                        </a:rPr>
                        <m:t> = 200 − 0.5·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A33"/>
                          </a:solidFill>
                          <a:latin typeface="Cambria Math"/>
                        </a:rPr>
                        <m:t> + 0.5·</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oMath>
                  </m:oMathPara>
                </a14:m>
                <a:endParaRPr lang="en-US"/>
              </a:p>
              <a:p>
                <a:pPr/>
                <a14:m>
                  <m:oMathPara xmlns:m="http://schemas.openxmlformats.org/officeDocument/2006/math">
                    <m:oMath>
                      <m:r>
                        <a:rPr lang="en-US" sz="1400" b="0" i="0">
                          <a:solidFill>
                            <a:srgbClr val="0070C0"/>
                          </a:solidFill>
                          <a:latin typeface="Cambria Math"/>
                        </a:rPr>
                        <m:t>    = 400 − 0.5·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oMath>
                  </m:oMathPara>
                </a14:m>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2738628" y="1995220"/>
                <a:ext cx="2834640" cy="1051560"/>
              </a:xfrm>
              <a:prstGeom prst="rect">
                <a:avLst/>
              </a:prstGeom>
              <a:blipFill>
                <a:blip r:embed="rId5"/>
                <a:stretch>
                  <a:fillRect l="-2796" t="-5780"/>
                </a:stretch>
              </a:blipFill>
            </p:spPr>
            <p:txBody>
              <a:bodyPr/>
              <a:lstStyle/>
              <a:p>
                <a:r>
                  <a:rPr lang="en-US">
                    <a:noFill/>
                  </a:rPr>
                  <a:t> </a:t>
                </a:r>
              </a:p>
            </p:txBody>
          </p:sp>
        </mc:Fallback>
      </mc:AlternateContent>
      <p:grpSp>
        <p:nvGrpSpPr>
          <p:cNvPr id="21" name="CircleTag 21"/>
          <p:cNvGrpSpPr/>
          <p:nvPr/>
        </p:nvGrpSpPr>
        <p:grpSpPr>
          <a:xfrm>
            <a:off x="5181904" y="1786737"/>
            <a:ext cx="1314908" cy="779983"/>
            <a:chOff x="5181904" y="1786737"/>
            <a:chExt cx="1314908" cy="779983"/>
          </a:xfrm>
        </p:grpSpPr>
        <p:sp>
          <p:nvSpPr>
            <p:cNvPr id="19" name="Oval 18"/>
            <p:cNvSpPr/>
            <p:nvPr/>
          </p:nvSpPr>
          <p:spPr>
            <a:xfrm>
              <a:off x="5181904" y="2182672"/>
              <a:ext cx="307238" cy="384048"/>
            </a:xfrm>
            <a:prstGeom prst="ellipse">
              <a:avLst/>
            </a:prstGeom>
            <a:noFill/>
            <a:ln w="25400">
              <a:solidFill>
                <a:srgbClr val="007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73852" y="1786737"/>
              <a:ext cx="822960" cy="320040"/>
            </a:xfrm>
            <a:prstGeom prst="rect">
              <a:avLst/>
            </a:prstGeom>
            <a:noFill/>
          </p:spPr>
          <p:txBody>
            <a:bodyPr wrap="square" lIns="0" tIns="0" rIns="0" bIns="0">
              <a:spAutoFit/>
            </a:bodyPr>
            <a:lstStyle/>
            <a:p>
              <a:pPr algn="l"/>
              <a:r>
                <a:rPr sz="1600" b="0" i="1" u="none">
                  <a:solidFill>
                    <a:srgbClr val="007A33"/>
                  </a:solidFill>
                  <a:latin typeface="Calibri"/>
                </a:rPr>
                <a:t>400</a:t>
              </a:r>
            </a:p>
          </p:txBody>
        </p:sp>
      </p:grpSp>
      <p:cxnSp>
        <p:nvCxnSpPr>
          <p:cNvPr id="22" name="Connector 21"/>
          <p:cNvCxnSpPr/>
          <p:nvPr/>
        </p:nvCxnSpPr>
        <p:spPr>
          <a:xfrm flipH="1">
            <a:off x="5445252" y="2015337"/>
            <a:ext cx="182880" cy="192024"/>
          </a:xfrm>
          <a:prstGeom prst="line">
            <a:avLst/>
          </a:prstGeom>
          <a:ln w="25400">
            <a:solidFill>
              <a:srgbClr val="007A33"/>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7127748" y="4398264"/>
                <a:ext cx="3108960" cy="731520"/>
              </a:xfrm>
              <a:prstGeom prst="rect">
                <a:avLst/>
              </a:prstGeom>
              <a:noFill/>
            </p:spPr>
            <p:txBody>
              <a:bodyPr wrap="square" lIns="45720" tIns="0" rIns="45720" bIns="0">
                <a:spAutoFit/>
              </a:bodyPr>
              <a:lstStyle/>
              <a:p>
                <a:r>
                  <a:rPr lang="en-US" sz="1700" b="1">
                    <a:solidFill>
                      <a:srgbClr val="0070C0"/>
                    </a:solidFill>
                    <a:latin typeface="Calibri"/>
                  </a:rPr>
                  <a:t>Higher demand for Airbus because </a:t>
                </a:r>
                <a14:m>
                  <m:oMath xmlns:m="http://schemas.openxmlformats.org/officeDocument/2006/math">
                    <m:sSub>
                      <m:sSubPr>
                        <m:ctrlPr>
                          <a:rPr lang="en-US" sz="1700" b="0" i="1">
                            <a:solidFill>
                              <a:srgbClr val="007A33"/>
                            </a:solidFill>
                            <a:latin typeface="Cambria Math"/>
                            <a:ea typeface="Cambria Math"/>
                          </a:rPr>
                        </m:ctrlPr>
                      </m:sSubPr>
                      <m:e>
                        <m:r>
                          <a:rPr lang="en-US" sz="1700" b="0" i="1">
                            <a:solidFill>
                              <a:srgbClr val="007A33"/>
                            </a:solidFill>
                            <a:latin typeface="Cambria Math"/>
                            <a:ea typeface="Cambria Math"/>
                          </a:rPr>
                          <m:t>𝑃</m:t>
                        </m:r>
                      </m:e>
                      <m:sub>
                        <m:r>
                          <m:rPr>
                            <m:sty m:val="p"/>
                          </m:rPr>
                          <a:rPr lang="en-US" sz="1700" b="0" i="0">
                            <a:solidFill>
                              <a:srgbClr val="007A33"/>
                            </a:solidFill>
                            <a:latin typeface="Cambria Math"/>
                          </a:rPr>
                          <m:t>B</m:t>
                        </m:r>
                      </m:sub>
                    </m:sSub>
                  </m:oMath>
                </a14:m>
                <a:r>
                  <a:rPr lang="en-US" sz="1700" b="1">
                    <a:solidFill>
                      <a:srgbClr val="0070C0"/>
                    </a:solidFill>
                    <a:latin typeface="Calibri"/>
                  </a:rPr>
                  <a:t> has increased</a:t>
                </a:r>
                <a:endParaRPr lang="en-US"/>
              </a:p>
            </p:txBody>
          </p:sp>
        </mc:Choice>
        <mc:Fallback xmlns="">
          <p:sp>
            <p:nvSpPr>
              <p:cNvPr id="23" name="TextBox 22"/>
              <p:cNvSpPr txBox="1">
                <a:spLocks noRot="1" noChangeAspect="1" noMove="1" noResize="1" noEditPoints="1" noAdjustHandles="1" noChangeArrowheads="1" noChangeShapeType="1" noTextEdit="1"/>
              </p:cNvSpPr>
              <p:nvPr/>
            </p:nvSpPr>
            <p:spPr>
              <a:xfrm>
                <a:off x="7127748" y="4398264"/>
                <a:ext cx="3108960" cy="731520"/>
              </a:xfrm>
              <a:prstGeom prst="rect">
                <a:avLst/>
              </a:prstGeom>
              <a:blipFill>
                <a:blip r:embed="rId6"/>
                <a:stretch>
                  <a:fillRect l="-2745" t="-9167"/>
                </a:stretch>
              </a:blipFill>
            </p:spPr>
            <p:txBody>
              <a:bodyPr/>
              <a:lstStyle/>
              <a:p>
                <a:r>
                  <a:rPr lang="en-US">
                    <a:noFill/>
                  </a:rPr>
                  <a:t> </a:t>
                </a:r>
              </a:p>
            </p:txBody>
          </p:sp>
        </mc:Fallback>
      </mc:AlternateContent>
      <p:cxnSp>
        <p:nvCxnSpPr>
          <p:cNvPr id="24" name="Connector 23"/>
          <p:cNvCxnSpPr/>
          <p:nvPr/>
        </p:nvCxnSpPr>
        <p:spPr>
          <a:xfrm flipH="1">
            <a:off x="6461150" y="4676241"/>
            <a:ext cx="597103" cy="408737"/>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94560" y="4017396"/>
            <a:ext cx="5564331"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52715" y="3687775"/>
            <a:ext cx="358902" cy="245973"/>
          </a:xfrm>
          <a:prstGeom prst="rect">
            <a:avLst/>
          </a:prstGeom>
          <a:noFill/>
        </p:spPr>
        <p:txBody>
          <a:bodyPr wrap="square" lIns="0" tIns="0" rIns="0" bIns="0">
            <a:spAutoFit/>
          </a:bodyPr>
          <a:lstStyle/>
          <a:p>
            <a:pPr algn="ctr"/>
            <a:r>
              <a:rPr sz="1600" b="1" i="1" u="none">
                <a:solidFill>
                  <a:srgbClr val="0B2B4E"/>
                </a:solidFill>
                <a:latin typeface="Calibri"/>
              </a:rPr>
              <a:t>MC</a:t>
            </a:r>
          </a:p>
        </p:txBody>
      </p:sp>
      <p:cxnSp>
        <p:nvCxnSpPr>
          <p:cNvPr id="27" name="Connector 26"/>
          <p:cNvCxnSpPr/>
          <p:nvPr/>
        </p:nvCxnSpPr>
        <p:spPr>
          <a:xfrm flipV="1">
            <a:off x="3503814" y="3122874"/>
            <a:ext cx="0" cy="2683566"/>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194560" y="3122874"/>
            <a:ext cx="1309254" cy="0"/>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3453522" y="3072582"/>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97354" y="2100337"/>
            <a:ext cx="387477" cy="274320"/>
          </a:xfrm>
          <a:prstGeom prst="rect">
            <a:avLst/>
          </a:prstGeom>
          <a:noFill/>
        </p:spPr>
        <p:txBody>
          <a:bodyPr wrap="none" lIns="0" tIns="0" rIns="0" bIns="0">
            <a:spAutoFit/>
          </a:bodyPr>
          <a:lstStyle/>
          <a:p>
            <a:pPr algn="r"/>
            <a:r>
              <a:rPr sz="1600" b="0" i="0" u="none">
                <a:solidFill>
                  <a:srgbClr val="0B2B4E"/>
                </a:solidFill>
                <a:latin typeface="Calibri"/>
              </a:rPr>
              <a:t>400</a:t>
            </a:r>
          </a:p>
        </p:txBody>
      </p:sp>
      <p:sp>
        <p:nvSpPr>
          <p:cNvPr id="32" name="TextBox 31"/>
          <p:cNvSpPr txBox="1"/>
          <p:nvPr/>
        </p:nvSpPr>
        <p:spPr>
          <a:xfrm>
            <a:off x="1697354" y="2994858"/>
            <a:ext cx="387477" cy="274320"/>
          </a:xfrm>
          <a:prstGeom prst="rect">
            <a:avLst/>
          </a:prstGeom>
          <a:noFill/>
        </p:spPr>
        <p:txBody>
          <a:bodyPr wrap="none" lIns="0" tIns="0" rIns="0" bIns="0">
            <a:spAutoFit/>
          </a:bodyPr>
          <a:lstStyle/>
          <a:p>
            <a:pPr algn="r"/>
            <a:r>
              <a:rPr sz="1600" b="1" i="0" u="none">
                <a:solidFill>
                  <a:srgbClr val="0B2B4E"/>
                </a:solidFill>
                <a:latin typeface="Calibri"/>
              </a:rPr>
              <a:t>300</a:t>
            </a:r>
          </a:p>
        </p:txBody>
      </p:sp>
      <p:sp>
        <p:nvSpPr>
          <p:cNvPr id="33" name="TextBox 32"/>
          <p:cNvSpPr txBox="1"/>
          <p:nvPr/>
        </p:nvSpPr>
        <p:spPr>
          <a:xfrm>
            <a:off x="1697354" y="3889380"/>
            <a:ext cx="387477" cy="274320"/>
          </a:xfrm>
          <a:prstGeom prst="rect">
            <a:avLst/>
          </a:prstGeom>
          <a:noFill/>
        </p:spPr>
        <p:txBody>
          <a:bodyPr wrap="none" lIns="0" tIns="0" rIns="0" bIns="0">
            <a:spAutoFit/>
          </a:bodyPr>
          <a:lstStyle/>
          <a:p>
            <a:pPr algn="r"/>
            <a:r>
              <a:rPr sz="1600" b="0" i="0" u="none">
                <a:solidFill>
                  <a:srgbClr val="0B2B4E"/>
                </a:solidFill>
                <a:latin typeface="Calibri"/>
              </a:rPr>
              <a:t>200</a:t>
            </a:r>
          </a:p>
        </p:txBody>
      </p:sp>
      <p:sp>
        <p:nvSpPr>
          <p:cNvPr id="34" name="TextBox 33"/>
          <p:cNvSpPr txBox="1"/>
          <p:nvPr/>
        </p:nvSpPr>
        <p:spPr>
          <a:xfrm>
            <a:off x="3310076" y="5861303"/>
            <a:ext cx="387477" cy="274320"/>
          </a:xfrm>
          <a:prstGeom prst="rect">
            <a:avLst/>
          </a:prstGeom>
          <a:noFill/>
        </p:spPr>
        <p:txBody>
          <a:bodyPr wrap="none" lIns="0" tIns="0" rIns="0" bIns="0">
            <a:spAutoFit/>
          </a:bodyPr>
          <a:lstStyle/>
          <a:p>
            <a:pPr algn="ctr"/>
            <a:r>
              <a:rPr sz="1600" b="1" i="0" u="none">
                <a:solidFill>
                  <a:srgbClr val="0B2B4E"/>
                </a:solidFill>
                <a:latin typeface="Calibri"/>
              </a:rPr>
              <a:t>200</a:t>
            </a:r>
          </a:p>
        </p:txBody>
      </p:sp>
      <p:sp>
        <p:nvSpPr>
          <p:cNvPr id="35" name="TextBox 34"/>
          <p:cNvSpPr txBox="1"/>
          <p:nvPr/>
        </p:nvSpPr>
        <p:spPr>
          <a:xfrm>
            <a:off x="4619331" y="5861303"/>
            <a:ext cx="387477" cy="274320"/>
          </a:xfrm>
          <a:prstGeom prst="rect">
            <a:avLst/>
          </a:prstGeom>
          <a:noFill/>
        </p:spPr>
        <p:txBody>
          <a:bodyPr wrap="none" lIns="0" tIns="0" rIns="0" bIns="0">
            <a:spAutoFit/>
          </a:bodyPr>
          <a:lstStyle/>
          <a:p>
            <a:pPr algn="ctr"/>
            <a:r>
              <a:rPr sz="1600" b="0" i="0" u="none">
                <a:solidFill>
                  <a:srgbClr val="0B2B4E"/>
                </a:solidFill>
                <a:latin typeface="Calibri"/>
              </a:rPr>
              <a:t>400</a:t>
            </a:r>
          </a:p>
        </p:txBody>
      </p:sp>
      <p:sp>
        <p:nvSpPr>
          <p:cNvPr id="36" name="TextBox 35"/>
          <p:cNvSpPr txBox="1"/>
          <p:nvPr/>
        </p:nvSpPr>
        <p:spPr>
          <a:xfrm>
            <a:off x="7237840" y="5861303"/>
            <a:ext cx="387477" cy="274320"/>
          </a:xfrm>
          <a:prstGeom prst="rect">
            <a:avLst/>
          </a:prstGeom>
          <a:noFill/>
        </p:spPr>
        <p:txBody>
          <a:bodyPr wrap="none" lIns="0" tIns="0" rIns="0" bIns="0">
            <a:spAutoFit/>
          </a:bodyPr>
          <a:lstStyle/>
          <a:p>
            <a:pPr algn="ctr"/>
            <a:r>
              <a:rPr sz="1600" b="0" i="0" u="none">
                <a:solidFill>
                  <a:srgbClr val="0B2B4E"/>
                </a:solidFill>
                <a:latin typeface="Calibri"/>
              </a:rPr>
              <a:t>800</a:t>
            </a:r>
          </a:p>
        </p:txBody>
      </p:sp>
      <p:sp>
        <p:nvSpPr>
          <p:cNvPr id="37" name="Rectangle 36"/>
          <p:cNvSpPr/>
          <p:nvPr/>
        </p:nvSpPr>
        <p:spPr>
          <a:xfrm>
            <a:off x="8823960" y="1572768"/>
            <a:ext cx="3017520" cy="822960"/>
          </a:xfrm>
          <a:prstGeom prst="rect">
            <a:avLst/>
          </a:prstGeom>
          <a:solidFill>
            <a:srgbClr val="FFFFFF"/>
          </a:solidFill>
          <a:ln w="254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800" b="0" i="0" dirty="0">
                <a:solidFill>
                  <a:srgbClr val="0070C0"/>
                </a:solidFill>
                <a:latin typeface="Calibri"/>
              </a:rPr>
              <a:t>Now </a:t>
            </a:r>
            <a:r>
              <a:rPr sz="1800" b="0" i="0" dirty="0">
                <a:solidFill>
                  <a:srgbClr val="0070C0"/>
                </a:solidFill>
                <a:latin typeface="Calibri"/>
              </a:rPr>
              <a:t>Airbus assumes that Boeing charges </a:t>
            </a:r>
            <a:r>
              <a:rPr sz="1800" b="1" i="1" dirty="0">
                <a:solidFill>
                  <a:srgbClr val="007A33"/>
                </a:solidFill>
                <a:latin typeface="Calibri"/>
              </a:rPr>
              <a:t>P</a:t>
            </a:r>
            <a:r>
              <a:rPr sz="1800" b="1" i="1" baseline="-25000" dirty="0">
                <a:solidFill>
                  <a:srgbClr val="007A33"/>
                </a:solidFill>
                <a:latin typeface="Calibri"/>
              </a:rPr>
              <a:t>B</a:t>
            </a:r>
            <a:r>
              <a:rPr sz="1800" b="1" i="1" dirty="0">
                <a:solidFill>
                  <a:srgbClr val="007A33"/>
                </a:solidFill>
                <a:latin typeface="Calibri"/>
              </a:rPr>
              <a:t> = 400</a:t>
            </a:r>
          </a:p>
        </p:txBody>
      </p:sp>
      <p:sp>
        <p:nvSpPr>
          <p:cNvPr id="38" name="Rectangle 37"/>
          <p:cNvSpPr/>
          <p:nvPr/>
        </p:nvSpPr>
        <p:spPr>
          <a:xfrm>
            <a:off x="8823960" y="2578608"/>
            <a:ext cx="3017520" cy="868680"/>
          </a:xfrm>
          <a:prstGeom prst="rect">
            <a:avLst/>
          </a:prstGeom>
          <a:solidFill>
            <a:srgbClr val="FFFFFF"/>
          </a:solidFill>
          <a:ln w="254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070C0"/>
                </a:solidFill>
                <a:latin typeface="Calibri"/>
              </a:rPr>
              <a:t>→ Airbus' optimal price response is </a:t>
            </a:r>
            <a:r>
              <a:rPr sz="1800" b="1" i="1">
                <a:solidFill>
                  <a:srgbClr val="0070C0"/>
                </a:solidFill>
                <a:latin typeface="Calibri"/>
              </a:rPr>
              <a:t>P</a:t>
            </a:r>
            <a:r>
              <a:rPr sz="1800" b="1" i="1" baseline="-25000">
                <a:solidFill>
                  <a:srgbClr val="0070C0"/>
                </a:solidFill>
                <a:latin typeface="Calibri"/>
              </a:rPr>
              <a:t>A</a:t>
            </a:r>
            <a:r>
              <a:rPr sz="1800" b="1" i="0">
                <a:solidFill>
                  <a:srgbClr val="0070C0"/>
                </a:solidFill>
                <a:latin typeface="Calibri"/>
              </a:rPr>
              <a:t> = 300</a:t>
            </a:r>
          </a:p>
        </p:txBody>
      </p:sp>
      <p:sp>
        <p:nvSpPr>
          <p:cNvPr id="39" name="Rectangle 3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2" name="TextBox 41"/>
          <p:cNvSpPr txBox="1"/>
          <p:nvPr/>
        </p:nvSpPr>
        <p:spPr>
          <a:xfrm>
            <a:off x="11475720" y="6583680"/>
            <a:ext cx="502920" cy="292608"/>
          </a:xfrm>
          <a:prstGeom prst="rect">
            <a:avLst/>
          </a:prstGeom>
          <a:noFill/>
        </p:spPr>
        <p:txBody>
          <a:bodyPr wrap="none" lIns="0" tIns="0" rIns="0" bIns="0">
            <a:spAutoFit/>
          </a:bodyPr>
          <a:lstStyle/>
          <a:p>
            <a:pPr algn="r"/>
            <a:fld id="{908A2817-22D3-575A-91D6-6A6F3F892761}"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10" presetClass="entr" presetSubtype="0"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dirty="0">
                <a:solidFill>
                  <a:srgbClr val="0B2B4E"/>
                </a:solidFill>
                <a:latin typeface="Calibri"/>
              </a:rPr>
              <a:t>Equilibrium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2514600" y="1435608"/>
            <a:ext cx="0" cy="450799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2514600" y="5943600"/>
            <a:ext cx="60167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rot="16200000">
                <a:off x="491947" y="3187598"/>
                <a:ext cx="2743200" cy="292608"/>
              </a:xfrm>
              <a:prstGeom prst="rect">
                <a:avLst/>
              </a:prstGeom>
              <a:noFill/>
            </p:spPr>
            <p:txBody>
              <a:bodyPr wrap="square" lIns="45720" tIns="0" rIns="45720" bIns="0">
                <a:spAutoFit/>
              </a:bodyPr>
              <a:lstStyle/>
              <a:p>
                <a:r>
                  <a:rPr lang="en-US" sz="1600" b="1" i="1">
                    <a:solidFill>
                      <a:srgbClr val="0070C0"/>
                    </a:solidFill>
                    <a:latin typeface="Calibri"/>
                  </a:rPr>
                  <a:t>Airbus' Price (</a:t>
                </a:r>
                <a14:m>
                  <m:oMath xmlns:m="http://schemas.openxmlformats.org/officeDocument/2006/math">
                    <m:sSub>
                      <m:sSubPr>
                        <m:ctrlPr>
                          <a:rPr lang="en-US" sz="1600" b="0" i="1">
                            <a:solidFill>
                              <a:srgbClr val="0070C0"/>
                            </a:solidFill>
                            <a:latin typeface="Cambria Math"/>
                            <a:ea typeface="Cambria Math"/>
                          </a:rPr>
                        </m:ctrlPr>
                      </m:sSubPr>
                      <m:e>
                        <m:r>
                          <a:rPr lang="en-US" sz="1600" b="0" i="1">
                            <a:solidFill>
                              <a:srgbClr val="0070C0"/>
                            </a:solidFill>
                            <a:latin typeface="Cambria Math"/>
                            <a:ea typeface="Cambria Math"/>
                          </a:rPr>
                          <m:t>𝑃</m:t>
                        </m:r>
                      </m:e>
                      <m:sub>
                        <m:r>
                          <m:rPr>
                            <m:sty m:val="p"/>
                          </m:rPr>
                          <a:rPr lang="en-US" sz="1600" b="0" i="0">
                            <a:solidFill>
                              <a:srgbClr val="0070C0"/>
                            </a:solidFill>
                            <a:latin typeface="Cambria Math"/>
                          </a:rPr>
                          <m:t>A</m:t>
                        </m:r>
                      </m:sub>
                    </m:sSub>
                  </m:oMath>
                </a14:m>
                <a:r>
                  <a:rPr lang="en-US" sz="1600" b="1" i="1">
                    <a:solidFill>
                      <a:srgbClr val="0070C0"/>
                    </a:solidFill>
                    <a:latin typeface="Calibri"/>
                  </a:rPr>
                  <a:t>)</a:t>
                </a:r>
                <a:endParaRPr lang="en-US"/>
              </a:p>
            </p:txBody>
          </p:sp>
        </mc:Choice>
        <mc:Fallback xmlns="">
          <p:sp>
            <p:nvSpPr>
              <p:cNvPr id="9" name="TextBox 8"/>
              <p:cNvSpPr txBox="1">
                <a:spLocks noRot="1" noChangeAspect="1" noMove="1" noResize="1" noEditPoints="1" noAdjustHandles="1" noChangeArrowheads="1" noChangeShapeType="1" noTextEdit="1"/>
              </p:cNvSpPr>
              <p:nvPr/>
            </p:nvSpPr>
            <p:spPr>
              <a:xfrm rot="16200000">
                <a:off x="491947" y="3187598"/>
                <a:ext cx="2743200" cy="292608"/>
              </a:xfrm>
              <a:prstGeom prst="rect">
                <a:avLst/>
              </a:prstGeom>
              <a:blipFill>
                <a:blip r:embed="rId3"/>
                <a:stretch>
                  <a:fillRect l="-14583" r="-33333" b="-2889"/>
                </a:stretch>
              </a:blipFill>
            </p:spPr>
            <p:txBody>
              <a:bodyPr/>
              <a:lstStyle/>
              <a:p>
                <a:r>
                  <a:rPr lang="en-US">
                    <a:noFill/>
                  </a:rPr>
                  <a:t> </a:t>
                </a:r>
              </a:p>
            </p:txBody>
          </p:sp>
        </mc:Fallback>
      </mc:AlternateContent>
      <p:grpSp>
        <p:nvGrpSpPr>
          <p:cNvPr id="14" name="ReactionA 14"/>
          <p:cNvGrpSpPr/>
          <p:nvPr/>
        </p:nvGrpSpPr>
        <p:grpSpPr>
          <a:xfrm>
            <a:off x="2017394" y="1881835"/>
            <a:ext cx="8827390" cy="1726126"/>
            <a:chOff x="2017394" y="1881835"/>
            <a:chExt cx="8827390" cy="1726126"/>
          </a:xfrm>
        </p:grpSpPr>
        <p:cxnSp>
          <p:nvCxnSpPr>
            <p:cNvPr id="11" name="Connector 10"/>
            <p:cNvCxnSpPr/>
            <p:nvPr/>
          </p:nvCxnSpPr>
          <p:spPr>
            <a:xfrm flipV="1">
              <a:off x="2514600" y="2065564"/>
              <a:ext cx="5603131" cy="1396093"/>
            </a:xfrm>
            <a:prstGeom prst="line">
              <a:avLst/>
            </a:prstGeom>
            <a:ln w="31750">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193024" y="1881835"/>
                  <a:ext cx="2651760" cy="731520"/>
                </a:xfrm>
                <a:prstGeom prst="rect">
                  <a:avLst/>
                </a:prstGeom>
                <a:noFill/>
              </p:spPr>
              <p:txBody>
                <a:bodyPr wrap="square" lIns="45720" tIns="0" rIns="45720" bIns="0">
                  <a:spAutoFit/>
                </a:bodyPr>
                <a:lstStyle/>
                <a:p>
                  <a:r>
                    <a:rPr lang="en-US" sz="1600" b="1">
                      <a:solidFill>
                        <a:srgbClr val="0070C0"/>
                      </a:solidFill>
                      <a:latin typeface="Calibri"/>
                    </a:rPr>
                    <a:t>Airbus' reaction function</a:t>
                  </a:r>
                  <a:endParaRPr lang="en-US"/>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r>
                          <a:rPr lang="en-US" sz="1400" b="0" i="0">
                            <a:solidFill>
                              <a:srgbClr val="0070C0"/>
                            </a:solidFill>
                            <a:latin typeface="Cambria Math"/>
                          </a:rPr>
                          <m:t> = 200 + 0.25·</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oMath>
                    </m:oMathPara>
                  </a14:m>
                  <a:endParaRPr lang="en-US"/>
                </a:p>
              </p:txBody>
            </p:sp>
          </mc:Choice>
          <mc:Fallback xmlns="">
            <p:sp>
              <p:nvSpPr>
                <p:cNvPr id="12" name="TextBox 11"/>
                <p:cNvSpPr txBox="1">
                  <a:spLocks noRot="1" noChangeAspect="1" noMove="1" noResize="1" noEditPoints="1" noAdjustHandles="1" noChangeArrowheads="1" noChangeShapeType="1" noTextEdit="1"/>
                </p:cNvSpPr>
                <p:nvPr/>
              </p:nvSpPr>
              <p:spPr>
                <a:xfrm>
                  <a:off x="8193024" y="1881835"/>
                  <a:ext cx="2651760" cy="731520"/>
                </a:xfrm>
                <a:prstGeom prst="rect">
                  <a:avLst/>
                </a:prstGeom>
                <a:blipFill>
                  <a:blip r:embed="rId4"/>
                  <a:stretch>
                    <a:fillRect l="-2989" t="-9167"/>
                  </a:stretch>
                </a:blipFill>
              </p:spPr>
              <p:txBody>
                <a:bodyPr/>
                <a:lstStyle/>
                <a:p>
                  <a:r>
                    <a:rPr lang="en-US">
                      <a:noFill/>
                    </a:rPr>
                    <a:t> </a:t>
                  </a:r>
                </a:p>
              </p:txBody>
            </p:sp>
          </mc:Fallback>
        </mc:AlternateContent>
        <p:sp>
          <p:nvSpPr>
            <p:cNvPr id="13" name="TextBox 12"/>
            <p:cNvSpPr txBox="1"/>
            <p:nvPr/>
          </p:nvSpPr>
          <p:spPr>
            <a:xfrm>
              <a:off x="2017394" y="3333641"/>
              <a:ext cx="387477" cy="274320"/>
            </a:xfrm>
            <a:prstGeom prst="rect">
              <a:avLst/>
            </a:prstGeom>
            <a:noFill/>
          </p:spPr>
          <p:txBody>
            <a:bodyPr wrap="none" lIns="0" tIns="0" rIns="0" bIns="0">
              <a:spAutoFit/>
            </a:bodyPr>
            <a:lstStyle/>
            <a:p>
              <a:pPr algn="r"/>
              <a:r>
                <a:rPr sz="1600" b="0" i="0" u="none">
                  <a:solidFill>
                    <a:srgbClr val="0070C0"/>
                  </a:solidFill>
                  <a:latin typeface="Calibri"/>
                </a:rPr>
                <a:t>200</a:t>
              </a:r>
            </a:p>
          </p:txBody>
        </p:sp>
      </p:grpSp>
      <p:grpSp>
        <p:nvGrpSpPr>
          <p:cNvPr id="17" name="ReactionB 17"/>
          <p:cNvGrpSpPr/>
          <p:nvPr/>
        </p:nvGrpSpPr>
        <p:grpSpPr>
          <a:xfrm>
            <a:off x="5004880" y="1289304"/>
            <a:ext cx="3380168" cy="4654296"/>
            <a:chOff x="5004880" y="1289304"/>
            <a:chExt cx="3380168" cy="4654296"/>
          </a:xfrm>
        </p:grpSpPr>
        <p:cxnSp>
          <p:nvCxnSpPr>
            <p:cNvPr id="15" name="Connector 14"/>
            <p:cNvCxnSpPr/>
            <p:nvPr/>
          </p:nvCxnSpPr>
          <p:spPr>
            <a:xfrm flipV="1">
              <a:off x="5004880" y="1600200"/>
              <a:ext cx="1089498" cy="4343400"/>
            </a:xfrm>
            <a:prstGeom prst="line">
              <a:avLst/>
            </a:prstGeom>
            <a:ln w="31750">
              <a:solidFill>
                <a:srgbClr val="007A33"/>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5733288" y="1289304"/>
                  <a:ext cx="2651760" cy="731520"/>
                </a:xfrm>
                <a:prstGeom prst="rect">
                  <a:avLst/>
                </a:prstGeom>
                <a:noFill/>
              </p:spPr>
              <p:txBody>
                <a:bodyPr wrap="square" lIns="45720" tIns="0" rIns="45720" bIns="0">
                  <a:spAutoFit/>
                </a:bodyPr>
                <a:lstStyle/>
                <a:p>
                  <a:r>
                    <a:rPr lang="en-US" sz="1600" b="1">
                      <a:solidFill>
                        <a:srgbClr val="007A33"/>
                      </a:solidFill>
                      <a:latin typeface="Calibri"/>
                    </a:rPr>
                    <a:t>Boeing's reaction function</a:t>
                  </a:r>
                  <a:endParaRPr lang="en-US"/>
                </a:p>
                <a:p>
                  <a:pPr/>
                  <a14:m>
                    <m:oMathPara xmlns:m="http://schemas.openxmlformats.org/officeDocument/2006/math">
                      <m:oMath>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r>
                          <a:rPr lang="en-US" sz="1400" b="0" i="0">
                            <a:solidFill>
                              <a:srgbClr val="007A33"/>
                            </a:solidFill>
                            <a:latin typeface="Cambria Math"/>
                          </a:rPr>
                          <m:t> = 200 + 0.25·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oMath>
                    </m:oMathPara>
                  </a14:m>
                  <a:endParaRPr lang="en-US"/>
                </a:p>
              </p:txBody>
            </p:sp>
          </mc:Choice>
          <mc:Fallback xmlns="">
            <p:sp>
              <p:nvSpPr>
                <p:cNvPr id="16" name="TextBox 15"/>
                <p:cNvSpPr txBox="1">
                  <a:spLocks noRot="1" noChangeAspect="1" noMove="1" noResize="1" noEditPoints="1" noAdjustHandles="1" noChangeArrowheads="1" noChangeShapeType="1" noTextEdit="1"/>
                </p:cNvSpPr>
                <p:nvPr/>
              </p:nvSpPr>
              <p:spPr>
                <a:xfrm>
                  <a:off x="5733288" y="1289304"/>
                  <a:ext cx="2651760" cy="731520"/>
                </a:xfrm>
                <a:prstGeom prst="rect">
                  <a:avLst/>
                </a:prstGeom>
                <a:blipFill>
                  <a:blip r:embed="rId5"/>
                  <a:stretch>
                    <a:fillRect l="-2989" t="-9167"/>
                  </a:stretch>
                </a:blipFill>
              </p:spPr>
              <p:txBody>
                <a:bodyPr/>
                <a:lstStyle/>
                <a:p>
                  <a:r>
                    <a:rPr lang="en-US">
                      <a:noFill/>
                    </a:rPr>
                    <a:t> </a:t>
                  </a:r>
                </a:p>
              </p:txBody>
            </p:sp>
          </mc:Fallback>
        </mc:AlternateContent>
      </p:grpSp>
      <p:grpSp>
        <p:nvGrpSpPr>
          <p:cNvPr id="21" name="Starting 21"/>
          <p:cNvGrpSpPr/>
          <p:nvPr/>
        </p:nvGrpSpPr>
        <p:grpSpPr>
          <a:xfrm>
            <a:off x="2017394" y="3954126"/>
            <a:ext cx="9246185" cy="1532274"/>
            <a:chOff x="2017394" y="3954126"/>
            <a:chExt cx="9246185" cy="1532274"/>
          </a:xfrm>
        </p:grpSpPr>
        <p:sp>
          <p:nvSpPr>
            <p:cNvPr id="18" name="TextBox 17"/>
            <p:cNvSpPr txBox="1"/>
            <p:nvPr/>
          </p:nvSpPr>
          <p:spPr>
            <a:xfrm>
              <a:off x="2017394" y="3954126"/>
              <a:ext cx="387477" cy="274320"/>
            </a:xfrm>
            <a:prstGeom prst="rect">
              <a:avLst/>
            </a:prstGeom>
            <a:noFill/>
          </p:spPr>
          <p:txBody>
            <a:bodyPr wrap="none" lIns="0" tIns="0" rIns="0" bIns="0">
              <a:spAutoFit/>
            </a:bodyPr>
            <a:lstStyle/>
            <a:p>
              <a:pPr algn="r"/>
              <a:r>
                <a:rPr sz="1600" b="0" i="0" u="none">
                  <a:solidFill>
                    <a:srgbClr val="0070C0"/>
                  </a:solidFill>
                  <a:latin typeface="Calibri"/>
                </a:rPr>
                <a:t>150</a:t>
              </a:r>
            </a:p>
          </p:txBody>
        </p:sp>
        <p:cxnSp>
          <p:nvCxnSpPr>
            <p:cNvPr id="19" name="Connector 18"/>
            <p:cNvCxnSpPr/>
            <p:nvPr/>
          </p:nvCxnSpPr>
          <p:spPr>
            <a:xfrm>
              <a:off x="2514600" y="4082142"/>
              <a:ext cx="2957208" cy="0"/>
            </a:xfrm>
            <a:prstGeom prst="line">
              <a:avLst/>
            </a:prstGeom>
            <a:ln w="19050">
              <a:solidFill>
                <a:srgbClr val="007A33"/>
              </a:solidFill>
              <a:prstDash val="sysDot"/>
              <a:tailEnd type="triangle" w="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971739" y="4572000"/>
              <a:ext cx="3291840" cy="914400"/>
            </a:xfrm>
            <a:prstGeom prst="rect">
              <a:avLst/>
            </a:prstGeom>
            <a:solidFill>
              <a:srgbClr val="FFFFFF"/>
            </a:solidFill>
            <a:ln w="25400">
              <a:solidFill>
                <a:srgbClr val="555B66"/>
              </a:solidFill>
              <a:prstDash val="sysDo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i="1" dirty="0">
                  <a:solidFill>
                    <a:srgbClr val="555B66"/>
                  </a:solidFill>
                  <a:latin typeface="Calibri"/>
                </a:rPr>
                <a:t>Starting point: </a:t>
              </a:r>
              <a:r>
                <a:rPr lang="en-US" sz="1800" i="1" dirty="0">
                  <a:solidFill>
                    <a:srgbClr val="555B66"/>
                  </a:solidFill>
                  <a:latin typeface="Calibri"/>
                </a:rPr>
                <a:t>Boeing responds to </a:t>
              </a:r>
              <a:r>
                <a:rPr sz="1800" i="1" dirty="0">
                  <a:solidFill>
                    <a:srgbClr val="555B66"/>
                  </a:solidFill>
                  <a:latin typeface="Calibri"/>
                </a:rPr>
                <a:t>Airbus charging </a:t>
              </a:r>
              <a:r>
                <a:rPr sz="1800" i="1" dirty="0">
                  <a:solidFill>
                    <a:srgbClr val="0070C0"/>
                  </a:solidFill>
                  <a:latin typeface="Calibri"/>
                </a:rPr>
                <a:t>P</a:t>
              </a:r>
              <a:r>
                <a:rPr sz="1800" i="1" baseline="-25000" dirty="0">
                  <a:solidFill>
                    <a:srgbClr val="0070C0"/>
                  </a:solidFill>
                  <a:latin typeface="Calibri"/>
                </a:rPr>
                <a:t>A</a:t>
              </a:r>
              <a:r>
                <a:rPr sz="1800" i="1" dirty="0">
                  <a:solidFill>
                    <a:srgbClr val="0070C0"/>
                  </a:solidFill>
                  <a:latin typeface="Calibri"/>
                </a:rPr>
                <a:t> = 150</a:t>
              </a:r>
            </a:p>
          </p:txBody>
        </p:sp>
      </p:grpSp>
      <p:grpSp>
        <p:nvGrpSpPr>
          <p:cNvPr id="29" name="ReactionPoint 29"/>
          <p:cNvGrpSpPr/>
          <p:nvPr/>
        </p:nvGrpSpPr>
        <p:grpSpPr>
          <a:xfrm>
            <a:off x="2017394" y="1592525"/>
            <a:ext cx="3181225" cy="4680259"/>
            <a:chOff x="2017394" y="1592525"/>
            <a:chExt cx="3181225" cy="4680259"/>
          </a:xfrm>
        </p:grpSpPr>
        <p:cxnSp>
          <p:nvCxnSpPr>
            <p:cNvPr id="22" name="Connector 21"/>
            <p:cNvCxnSpPr/>
            <p:nvPr/>
          </p:nvCxnSpPr>
          <p:spPr>
            <a:xfrm>
              <a:off x="2514600" y="2841171"/>
              <a:ext cx="2490280" cy="0"/>
            </a:xfrm>
            <a:prstGeom prst="line">
              <a:avLst/>
            </a:prstGeom>
            <a:ln w="19050">
              <a:solidFill>
                <a:srgbClr val="0070C0"/>
              </a:solidFill>
              <a:prstDash val="sysDot"/>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04880" y="2841171"/>
              <a:ext cx="0" cy="3102429"/>
            </a:xfrm>
            <a:prstGeom prst="line">
              <a:avLst/>
            </a:prstGeom>
            <a:ln w="19050">
              <a:solidFill>
                <a:srgbClr val="007A33"/>
              </a:solidFill>
              <a:prstDash val="sysDot"/>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945444" y="2781735"/>
              <a:ext cx="118872" cy="118872"/>
            </a:xfrm>
            <a:prstGeom prst="ellipse">
              <a:avLst/>
            </a:prstGeom>
            <a:solidFill>
              <a:srgbClr val="0070C0"/>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17394" y="2713155"/>
              <a:ext cx="387477" cy="274320"/>
            </a:xfrm>
            <a:prstGeom prst="rect">
              <a:avLst/>
            </a:prstGeom>
            <a:noFill/>
          </p:spPr>
          <p:txBody>
            <a:bodyPr wrap="none" lIns="0" tIns="0" rIns="0" bIns="0">
              <a:spAutoFit/>
            </a:bodyPr>
            <a:lstStyle/>
            <a:p>
              <a:pPr algn="r"/>
              <a:r>
                <a:rPr sz="1600" b="0" i="0" u="none">
                  <a:solidFill>
                    <a:srgbClr val="0070C0"/>
                  </a:solidFill>
                  <a:latin typeface="Calibri"/>
                </a:rPr>
                <a:t>250</a:t>
              </a:r>
            </a:p>
          </p:txBody>
        </p:sp>
        <p:sp>
          <p:nvSpPr>
            <p:cNvPr id="26" name="TextBox 25"/>
            <p:cNvSpPr txBox="1"/>
            <p:nvPr/>
          </p:nvSpPr>
          <p:spPr>
            <a:xfrm>
              <a:off x="4811142" y="5998464"/>
              <a:ext cx="387477" cy="274320"/>
            </a:xfrm>
            <a:prstGeom prst="rect">
              <a:avLst/>
            </a:prstGeom>
            <a:noFill/>
          </p:spPr>
          <p:txBody>
            <a:bodyPr wrap="none" lIns="0" tIns="0" rIns="0" bIns="0">
              <a:spAutoFit/>
            </a:bodyPr>
            <a:lstStyle/>
            <a:p>
              <a:pPr algn="ctr"/>
              <a:r>
                <a:rPr sz="1600" b="0" i="0" u="none">
                  <a:solidFill>
                    <a:srgbClr val="007A33"/>
                  </a:solidFill>
                  <a:latin typeface="Calibri"/>
                </a:rPr>
                <a:t>200</a:t>
              </a:r>
            </a:p>
          </p:txBody>
        </p:sp>
        <p:sp>
          <p:nvSpPr>
            <p:cNvPr id="27" name="TextBox 26"/>
            <p:cNvSpPr txBox="1"/>
            <p:nvPr/>
          </p:nvSpPr>
          <p:spPr>
            <a:xfrm>
              <a:off x="3634642" y="1592525"/>
              <a:ext cx="1511427" cy="274320"/>
            </a:xfrm>
            <a:prstGeom prst="rect">
              <a:avLst/>
            </a:prstGeom>
            <a:noFill/>
          </p:spPr>
          <p:txBody>
            <a:bodyPr wrap="square" lIns="0" tIns="0" rIns="0" bIns="0">
              <a:spAutoFit/>
            </a:bodyPr>
            <a:lstStyle/>
            <a:p>
              <a:pPr algn="l"/>
              <a:r>
                <a:rPr sz="1600" b="1" i="1" u="none" dirty="0">
                  <a:solidFill>
                    <a:srgbClr val="0070C0"/>
                  </a:solidFill>
                  <a:latin typeface="Calibri"/>
                </a:rPr>
                <a:t>Reaction point (I)</a:t>
              </a:r>
            </a:p>
          </p:txBody>
        </p:sp>
        <p:cxnSp>
          <p:nvCxnSpPr>
            <p:cNvPr id="28" name="Connector 27"/>
            <p:cNvCxnSpPr>
              <a:cxnSpLocks/>
            </p:cNvCxnSpPr>
            <p:nvPr/>
          </p:nvCxnSpPr>
          <p:spPr>
            <a:xfrm>
              <a:off x="4433381" y="1880561"/>
              <a:ext cx="502920" cy="878804"/>
            </a:xfrm>
            <a:prstGeom prst="line">
              <a:avLst/>
            </a:prstGeom>
            <a:ln w="25400">
              <a:solidFill>
                <a:srgbClr val="0070C0"/>
              </a:solidFill>
              <a:prstDash val="sysDash"/>
              <a:headEnd type="none"/>
              <a:tailEnd type="triangle" w="lg" len="med"/>
            </a:ln>
          </p:spPr>
          <p:style>
            <a:lnRef idx="2">
              <a:schemeClr val="accent1"/>
            </a:lnRef>
            <a:fillRef idx="0">
              <a:schemeClr val="accent1"/>
            </a:fillRef>
            <a:effectRef idx="1">
              <a:schemeClr val="accent1"/>
            </a:effectRef>
            <a:fontRef idx="minor">
              <a:schemeClr val="tx1"/>
            </a:fontRef>
          </p:style>
        </p:cxnSp>
      </p:grpSp>
      <p:grpSp>
        <p:nvGrpSpPr>
          <p:cNvPr id="37" name="ReactionPoint 37"/>
          <p:cNvGrpSpPr/>
          <p:nvPr/>
        </p:nvGrpSpPr>
        <p:grpSpPr>
          <a:xfrm>
            <a:off x="2017394" y="2092669"/>
            <a:ext cx="7522922" cy="4180115"/>
            <a:chOff x="2017394" y="2092669"/>
            <a:chExt cx="7522922" cy="4180115"/>
          </a:xfrm>
        </p:grpSpPr>
        <p:cxnSp>
          <p:nvCxnSpPr>
            <p:cNvPr id="30" name="Connector 29"/>
            <p:cNvCxnSpPr/>
            <p:nvPr/>
          </p:nvCxnSpPr>
          <p:spPr>
            <a:xfrm>
              <a:off x="2514600" y="2220685"/>
              <a:ext cx="4980561" cy="0"/>
            </a:xfrm>
            <a:prstGeom prst="line">
              <a:avLst/>
            </a:prstGeom>
            <a:ln w="19050">
              <a:solidFill>
                <a:srgbClr val="0070C0"/>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5161" y="2220685"/>
              <a:ext cx="0" cy="3722915"/>
            </a:xfrm>
            <a:prstGeom prst="line">
              <a:avLst/>
            </a:prstGeom>
            <a:ln w="19050">
              <a:solidFill>
                <a:srgbClr val="007A33"/>
              </a:solidFill>
              <a:prstDash val="sysDot"/>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435725" y="2161249"/>
              <a:ext cx="118872" cy="118872"/>
            </a:xfrm>
            <a:prstGeom prst="ellipse">
              <a:avLst/>
            </a:prstGeom>
            <a:solidFill>
              <a:srgbClr val="0070C0"/>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17394" y="2092669"/>
              <a:ext cx="387477" cy="274320"/>
            </a:xfrm>
            <a:prstGeom prst="rect">
              <a:avLst/>
            </a:prstGeom>
            <a:noFill/>
          </p:spPr>
          <p:txBody>
            <a:bodyPr wrap="none" lIns="0" tIns="0" rIns="0" bIns="0">
              <a:spAutoFit/>
            </a:bodyPr>
            <a:lstStyle/>
            <a:p>
              <a:pPr algn="r"/>
              <a:r>
                <a:rPr sz="1600" b="0" i="0" u="none">
                  <a:solidFill>
                    <a:srgbClr val="0070C0"/>
                  </a:solidFill>
                  <a:latin typeface="Calibri"/>
                </a:rPr>
                <a:t>300</a:t>
              </a:r>
            </a:p>
          </p:txBody>
        </p:sp>
        <p:sp>
          <p:nvSpPr>
            <p:cNvPr id="34" name="TextBox 33"/>
            <p:cNvSpPr txBox="1"/>
            <p:nvPr/>
          </p:nvSpPr>
          <p:spPr>
            <a:xfrm>
              <a:off x="7301423" y="5998464"/>
              <a:ext cx="387477" cy="274320"/>
            </a:xfrm>
            <a:prstGeom prst="rect">
              <a:avLst/>
            </a:prstGeom>
            <a:noFill/>
          </p:spPr>
          <p:txBody>
            <a:bodyPr wrap="none" lIns="0" tIns="0" rIns="0" bIns="0">
              <a:spAutoFit/>
            </a:bodyPr>
            <a:lstStyle/>
            <a:p>
              <a:pPr algn="ctr"/>
              <a:r>
                <a:rPr sz="1600" b="0" i="0" u="none">
                  <a:solidFill>
                    <a:srgbClr val="007A33"/>
                  </a:solidFill>
                  <a:latin typeface="Calibri"/>
                </a:rPr>
                <a:t>400</a:t>
              </a:r>
            </a:p>
          </p:txBody>
        </p:sp>
        <p:sp>
          <p:nvSpPr>
            <p:cNvPr id="35" name="TextBox 34"/>
            <p:cNvSpPr txBox="1"/>
            <p:nvPr/>
          </p:nvSpPr>
          <p:spPr>
            <a:xfrm>
              <a:off x="7971739" y="3038551"/>
              <a:ext cx="1568577" cy="274320"/>
            </a:xfrm>
            <a:prstGeom prst="rect">
              <a:avLst/>
            </a:prstGeom>
            <a:noFill/>
          </p:spPr>
          <p:txBody>
            <a:bodyPr wrap="square" lIns="0" tIns="0" rIns="0" bIns="0">
              <a:spAutoFit/>
            </a:bodyPr>
            <a:lstStyle/>
            <a:p>
              <a:pPr algn="l"/>
              <a:r>
                <a:rPr sz="1600" b="1" i="1" u="none">
                  <a:solidFill>
                    <a:srgbClr val="0070C0"/>
                  </a:solidFill>
                  <a:latin typeface="Calibri"/>
                </a:rPr>
                <a:t>Reaction point (II)</a:t>
              </a:r>
            </a:p>
          </p:txBody>
        </p:sp>
        <p:cxnSp>
          <p:nvCxnSpPr>
            <p:cNvPr id="36" name="Connector 35"/>
            <p:cNvCxnSpPr/>
            <p:nvPr/>
          </p:nvCxnSpPr>
          <p:spPr>
            <a:xfrm flipH="1" flipV="1">
              <a:off x="7534656" y="2275941"/>
              <a:ext cx="345643" cy="828447"/>
            </a:xfrm>
            <a:prstGeom prst="line">
              <a:avLst/>
            </a:prstGeom>
            <a:ln w="25400">
              <a:solidFill>
                <a:srgbClr val="0070C0"/>
              </a:solidFill>
              <a:prstDash val="sysDash"/>
              <a:tailEnd type="triangle" w="lg" len="med"/>
            </a:ln>
          </p:spPr>
          <p:style>
            <a:lnRef idx="2">
              <a:schemeClr val="accent1"/>
            </a:lnRef>
            <a:fillRef idx="0">
              <a:schemeClr val="accent1"/>
            </a:fillRef>
            <a:effectRef idx="1">
              <a:schemeClr val="accent1"/>
            </a:effectRef>
            <a:fontRef idx="minor">
              <a:schemeClr val="tx1"/>
            </a:fontRef>
          </p:style>
        </p:cxnSp>
      </p:grpSp>
      <p:cxnSp>
        <p:nvCxnSpPr>
          <p:cNvPr id="38" name="Connector 37"/>
          <p:cNvCxnSpPr/>
          <p:nvPr/>
        </p:nvCxnSpPr>
        <p:spPr>
          <a:xfrm flipV="1">
            <a:off x="5447995" y="2743200"/>
            <a:ext cx="0" cy="1338681"/>
          </a:xfrm>
          <a:prstGeom prst="line">
            <a:avLst/>
          </a:prstGeom>
          <a:ln w="19050">
            <a:solidFill>
              <a:srgbClr val="0070C0"/>
            </a:solidFill>
            <a:prstDash val="sysDot"/>
            <a:tailEnd type="triangle" w="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49824" y="2781604"/>
            <a:ext cx="320040" cy="0"/>
          </a:xfrm>
          <a:prstGeom prst="line">
            <a:avLst/>
          </a:prstGeom>
          <a:ln w="19050">
            <a:solidFill>
              <a:srgbClr val="007A33"/>
            </a:solidFill>
            <a:prstDash val="sysDot"/>
            <a:tailEnd type="triangle" w="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760720" y="2643530"/>
            <a:ext cx="0" cy="142646"/>
          </a:xfrm>
          <a:prstGeom prst="line">
            <a:avLst/>
          </a:prstGeom>
          <a:ln w="19050">
            <a:solidFill>
              <a:srgbClr val="0070C0"/>
            </a:solidFill>
            <a:prstDash val="sysDot"/>
            <a:tailEnd type="triangle" w="med"/>
          </a:ln>
        </p:spPr>
        <p:style>
          <a:lnRef idx="2">
            <a:schemeClr val="accent1"/>
          </a:lnRef>
          <a:fillRef idx="0">
            <a:schemeClr val="accent1"/>
          </a:fillRef>
          <a:effectRef idx="1">
            <a:schemeClr val="accent1"/>
          </a:effectRef>
          <a:fontRef idx="minor">
            <a:schemeClr val="tx1"/>
          </a:fontRef>
        </p:style>
      </p:cxnSp>
      <p:grpSp>
        <p:nvGrpSpPr>
          <p:cNvPr id="45" name="TwoSixtySeven 45"/>
          <p:cNvGrpSpPr/>
          <p:nvPr/>
        </p:nvGrpSpPr>
        <p:grpSpPr>
          <a:xfrm>
            <a:off x="2017394" y="2502190"/>
            <a:ext cx="4015469" cy="3770594"/>
            <a:chOff x="2017394" y="2502190"/>
            <a:chExt cx="4015469" cy="3770594"/>
          </a:xfrm>
        </p:grpSpPr>
        <p:cxnSp>
          <p:nvCxnSpPr>
            <p:cNvPr id="41" name="Connector 40"/>
            <p:cNvCxnSpPr/>
            <p:nvPr/>
          </p:nvCxnSpPr>
          <p:spPr>
            <a:xfrm>
              <a:off x="2514600" y="2630206"/>
              <a:ext cx="3324524" cy="0"/>
            </a:xfrm>
            <a:prstGeom prst="line">
              <a:avLst/>
            </a:prstGeom>
            <a:ln w="22225">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39124" y="2630206"/>
              <a:ext cx="0" cy="3313394"/>
            </a:xfrm>
            <a:prstGeom prst="line">
              <a:avLst/>
            </a:prstGeom>
            <a:ln w="22225">
              <a:solidFill>
                <a:srgbClr val="007A33"/>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017394" y="2502190"/>
              <a:ext cx="387477" cy="274320"/>
            </a:xfrm>
            <a:prstGeom prst="rect">
              <a:avLst/>
            </a:prstGeom>
            <a:noFill/>
          </p:spPr>
          <p:txBody>
            <a:bodyPr wrap="none" lIns="0" tIns="0" rIns="0" bIns="0">
              <a:spAutoFit/>
            </a:bodyPr>
            <a:lstStyle/>
            <a:p>
              <a:pPr algn="r"/>
              <a:r>
                <a:rPr sz="1600" b="1" i="0" u="none">
                  <a:solidFill>
                    <a:srgbClr val="0070C0"/>
                  </a:solidFill>
                  <a:latin typeface="Calibri"/>
                </a:rPr>
                <a:t>267</a:t>
              </a:r>
            </a:p>
          </p:txBody>
        </p:sp>
        <p:sp>
          <p:nvSpPr>
            <p:cNvPr id="44" name="TextBox 43"/>
            <p:cNvSpPr txBox="1"/>
            <p:nvPr/>
          </p:nvSpPr>
          <p:spPr>
            <a:xfrm>
              <a:off x="5645386" y="5998464"/>
              <a:ext cx="387477" cy="274320"/>
            </a:xfrm>
            <a:prstGeom prst="rect">
              <a:avLst/>
            </a:prstGeom>
            <a:noFill/>
          </p:spPr>
          <p:txBody>
            <a:bodyPr wrap="none" lIns="0" tIns="0" rIns="0" bIns="0">
              <a:spAutoFit/>
            </a:bodyPr>
            <a:lstStyle/>
            <a:p>
              <a:pPr algn="ctr"/>
              <a:r>
                <a:rPr sz="1600" b="1" i="0" u="none">
                  <a:solidFill>
                    <a:srgbClr val="007A33"/>
                  </a:solidFill>
                  <a:latin typeface="Calibri"/>
                </a:rPr>
                <a:t>267</a:t>
              </a:r>
            </a:p>
          </p:txBody>
        </p:sp>
      </p:grpSp>
      <p:grpSp>
        <p:nvGrpSpPr>
          <p:cNvPr id="50" name="Equilibrium 50"/>
          <p:cNvGrpSpPr/>
          <p:nvPr/>
        </p:nvGrpSpPr>
        <p:grpSpPr>
          <a:xfrm>
            <a:off x="5770544" y="2561626"/>
            <a:ext cx="1626952" cy="1416014"/>
            <a:chOff x="5770544" y="2561626"/>
            <a:chExt cx="1626952" cy="1416014"/>
          </a:xfrm>
        </p:grpSpPr>
        <p:sp>
          <p:nvSpPr>
            <p:cNvPr id="46" name="Oval 45"/>
            <p:cNvSpPr/>
            <p:nvPr/>
          </p:nvSpPr>
          <p:spPr>
            <a:xfrm>
              <a:off x="5770544" y="2561626"/>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46"/>
            <p:cNvCxnSpPr/>
            <p:nvPr/>
          </p:nvCxnSpPr>
          <p:spPr>
            <a:xfrm flipH="1" flipV="1">
              <a:off x="5916168" y="2724912"/>
              <a:ext cx="438912" cy="566928"/>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916168" y="3310128"/>
              <a:ext cx="1481328" cy="667512"/>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49" name="TextBox 48"/>
                <p:cNvSpPr txBox="1"/>
                <p:nvPr/>
              </p:nvSpPr>
              <p:spPr>
                <a:xfrm>
                  <a:off x="5943600" y="3328416"/>
                  <a:ext cx="1426464" cy="630936"/>
                </a:xfrm>
                <a:prstGeom prst="rect">
                  <a:avLst/>
                </a:prstGeom>
                <a:noFill/>
              </p:spPr>
              <p:txBody>
                <a:bodyPr wrap="square" lIns="45720" tIns="0" rIns="45720" bIns="0">
                  <a:spAutoFit/>
                </a:bodyPr>
                <a:lstStyle/>
                <a:p>
                  <a:r>
                    <a:rPr lang="en-US" sz="1800" b="1">
                      <a:solidFill>
                        <a:srgbClr val="0B2B4E"/>
                      </a:solidFill>
                      <a:latin typeface="Calibri"/>
                    </a:rPr>
                    <a:t>Equilibrium</a:t>
                  </a:r>
                  <a:endParaRPr lang="en-US"/>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𝑃</m:t>
                            </m:r>
                          </m:e>
                          <m:sub>
                            <m:r>
                              <m:rPr>
                                <m:sty m:val="p"/>
                              </m:rPr>
                              <a:rPr lang="en-US" sz="1400" b="0" i="0">
                                <a:solidFill>
                                  <a:srgbClr val="0070C0"/>
                                </a:solidFill>
                                <a:latin typeface="Cambria Math"/>
                              </a:rPr>
                              <m:t>A</m:t>
                            </m:r>
                          </m:sub>
                        </m:sSub>
                        <m:r>
                          <a:rPr lang="en-US" sz="1400" b="0" i="0">
                            <a:solidFill>
                              <a:srgbClr val="0B2B4E"/>
                            </a:solidFill>
                            <a:latin typeface="Cambria Math"/>
                          </a:rPr>
                          <m:t> = </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𝑃</m:t>
                            </m:r>
                          </m:e>
                          <m:sub>
                            <m:r>
                              <m:rPr>
                                <m:sty m:val="p"/>
                              </m:rPr>
                              <a:rPr lang="en-US" sz="1400" b="0" i="0">
                                <a:solidFill>
                                  <a:srgbClr val="007A33"/>
                                </a:solidFill>
                                <a:latin typeface="Cambria Math"/>
                              </a:rPr>
                              <m:t>B</m:t>
                            </m:r>
                          </m:sub>
                        </m:sSub>
                        <m:r>
                          <a:rPr lang="en-US" sz="1400" b="0" i="0">
                            <a:solidFill>
                              <a:srgbClr val="0B2B4E"/>
                            </a:solidFill>
                            <a:latin typeface="Cambria Math"/>
                          </a:rPr>
                          <m:t> = 267</m:t>
                        </m:r>
                      </m:oMath>
                    </m:oMathPara>
                  </a14:m>
                  <a:endParaRPr lang="en-US"/>
                </a:p>
              </p:txBody>
            </p:sp>
          </mc:Choice>
          <mc:Fallback xmlns="">
            <p:sp>
              <p:nvSpPr>
                <p:cNvPr id="49" name="TextBox 48"/>
                <p:cNvSpPr txBox="1">
                  <a:spLocks noRot="1" noChangeAspect="1" noMove="1" noResize="1" noEditPoints="1" noAdjustHandles="1" noChangeArrowheads="1" noChangeShapeType="1" noTextEdit="1"/>
                </p:cNvSpPr>
                <p:nvPr/>
              </p:nvSpPr>
              <p:spPr>
                <a:xfrm>
                  <a:off x="5943600" y="3328416"/>
                  <a:ext cx="1426464" cy="630936"/>
                </a:xfrm>
                <a:prstGeom prst="rect">
                  <a:avLst/>
                </a:prstGeom>
                <a:blipFill>
                  <a:blip r:embed="rId6"/>
                  <a:stretch>
                    <a:fillRect l="-6838" t="-12500"/>
                  </a:stretch>
                </a:blipFill>
              </p:spPr>
              <p:txBody>
                <a:bodyPr/>
                <a:lstStyle/>
                <a:p>
                  <a:r>
                    <a:rPr lang="en-US">
                      <a:noFill/>
                    </a:rPr>
                    <a:t> </a:t>
                  </a:r>
                </a:p>
              </p:txBody>
            </p:sp>
          </mc:Fallback>
        </mc:AlternateContent>
      </p:grpSp>
      <p:sp>
        <p:nvSpPr>
          <p:cNvPr id="51" name="Rectangle 5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54" name="TextBox 53"/>
          <p:cNvSpPr txBox="1"/>
          <p:nvPr/>
        </p:nvSpPr>
        <p:spPr>
          <a:xfrm>
            <a:off x="11475720" y="6583680"/>
            <a:ext cx="502920" cy="292608"/>
          </a:xfrm>
          <a:prstGeom prst="rect">
            <a:avLst/>
          </a:prstGeom>
          <a:noFill/>
        </p:spPr>
        <p:txBody>
          <a:bodyPr wrap="none" lIns="0" tIns="0" rIns="0" bIns="0">
            <a:spAutoFit/>
          </a:bodyPr>
          <a:lstStyle/>
          <a:p>
            <a:pPr algn="r"/>
            <a:fld id="{D12D4074-B0BE-5BCD-BDD5-101436439726}" type="slidenum">
              <a:rPr lang="en-US" sz="1200" dirty="0">
                <a:solidFill>
                  <a:srgbClr val="555B66"/>
                </a:solidFill>
                <a:latin typeface="Calibri"/>
              </a:rPr>
              <a:t>8</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10" name="TextBox 9"/>
              <p:cNvSpPr txBox="1"/>
              <p:nvPr/>
            </p:nvSpPr>
            <p:spPr>
              <a:xfrm>
                <a:off x="4572000" y="6263640"/>
                <a:ext cx="2743200" cy="320040"/>
              </a:xfrm>
              <a:prstGeom prst="rect">
                <a:avLst/>
              </a:prstGeom>
              <a:noFill/>
            </p:spPr>
            <p:txBody>
              <a:bodyPr wrap="square" lIns="45720" tIns="0" rIns="45720" bIns="0">
                <a:spAutoFit/>
              </a:bodyPr>
              <a:lstStyle/>
              <a:p>
                <a:r>
                  <a:rPr lang="en-US" sz="1600" b="1" i="1">
                    <a:solidFill>
                      <a:srgbClr val="007A33"/>
                    </a:solidFill>
                    <a:latin typeface="Calibri"/>
                  </a:rPr>
                  <a:t>Boeing's Price (</a:t>
                </a:r>
                <a14:m>
                  <m:oMath xmlns:m="http://schemas.openxmlformats.org/officeDocument/2006/math">
                    <m:sSub>
                      <m:sSubPr>
                        <m:ctrlPr>
                          <a:rPr lang="en-US" sz="1600" b="0" i="1">
                            <a:solidFill>
                              <a:srgbClr val="007A33"/>
                            </a:solidFill>
                            <a:latin typeface="Cambria Math"/>
                            <a:ea typeface="Cambria Math"/>
                          </a:rPr>
                        </m:ctrlPr>
                      </m:sSubPr>
                      <m:e>
                        <m:r>
                          <a:rPr lang="en-US" sz="1600" b="0" i="1">
                            <a:solidFill>
                              <a:srgbClr val="007A33"/>
                            </a:solidFill>
                            <a:latin typeface="Cambria Math"/>
                            <a:ea typeface="Cambria Math"/>
                          </a:rPr>
                          <m:t>𝑃</m:t>
                        </m:r>
                      </m:e>
                      <m:sub>
                        <m:r>
                          <m:rPr>
                            <m:sty m:val="p"/>
                          </m:rPr>
                          <a:rPr lang="en-US" sz="1600" b="0" i="0">
                            <a:solidFill>
                              <a:srgbClr val="007A33"/>
                            </a:solidFill>
                            <a:latin typeface="Cambria Math"/>
                          </a:rPr>
                          <m:t>B</m:t>
                        </m:r>
                      </m:sub>
                    </m:sSub>
                  </m:oMath>
                </a14:m>
                <a:r>
                  <a:rPr lang="en-US" sz="1600" b="1" i="1">
                    <a:solidFill>
                      <a:srgbClr val="007A33"/>
                    </a:solidFill>
                    <a:latin typeface="Calibri"/>
                  </a:rPr>
                  <a:t>)</a:t>
                </a:r>
                <a:endParaRPr lang="en-US"/>
              </a:p>
            </p:txBody>
          </p:sp>
        </mc:Choice>
        <mc:Fallback xmlns="">
          <p:sp>
            <p:nvSpPr>
              <p:cNvPr id="10" name="TextBox 9"/>
              <p:cNvSpPr txBox="1">
                <a:spLocks noRot="1" noChangeAspect="1" noMove="1" noResize="1" noEditPoints="1" noAdjustHandles="1" noChangeArrowheads="1" noChangeShapeType="1" noTextEdit="1"/>
              </p:cNvSpPr>
              <p:nvPr/>
            </p:nvSpPr>
            <p:spPr>
              <a:xfrm>
                <a:off x="4572000" y="6263640"/>
                <a:ext cx="2743200" cy="320040"/>
              </a:xfrm>
              <a:prstGeom prst="rect">
                <a:avLst/>
              </a:prstGeom>
              <a:blipFill>
                <a:blip r:embed="rId7"/>
                <a:stretch>
                  <a:fillRect l="-2889" t="-13462" b="-2307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Play This Game on the Class Website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920240"/>
            <a:ext cx="11247120" cy="292608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Under Module 7</a:t>
            </a:r>
          </a:p>
          <a:p>
            <a:pPr algn="l"/>
            <a:r>
              <a:rPr>
                <a:latin typeface="Calibri"/>
              </a:rPr>
              <a:t>You can choose Boeing's price and observe Airbus's reaction (price)</a:t>
            </a:r>
          </a:p>
          <a:p>
            <a:pPr lvl="1" algn="l"/>
            <a:r>
              <a:rPr>
                <a:latin typeface="Calibri"/>
              </a:rPr>
              <a:t>You also see the profits of both companies</a:t>
            </a:r>
          </a:p>
          <a:p>
            <a:pPr algn="l"/>
            <a:r>
              <a:rPr>
                <a:latin typeface="Calibri"/>
              </a:rPr>
              <a:t>You can also change the demand functions (make payoffs asymmetric)</a:t>
            </a:r>
          </a:p>
        </p:txBody>
      </p:sp>
      <p:sp>
        <p:nvSpPr>
          <p:cNvPr id="8" name="Rounded Rectangle 7"/>
          <p:cNvSpPr/>
          <p:nvPr/>
        </p:nvSpPr>
        <p:spPr>
          <a:xfrm>
            <a:off x="3355848" y="4700016"/>
            <a:ext cx="5486400" cy="777240"/>
          </a:xfrm>
          <a:prstGeom prst="roundRect">
            <a:avLst>
              <a:gd name="adj" fmla="val 20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Class Website  →  Module 7</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C4CAA8AC-7182-521F-AE52-DDDE5792E462}"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5 · Bertrand Competition with Differentiated Goods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Take-Aways: Oligopoly with Differentiated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354765"/>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The two firms produce differentiated products, so each has its own demand curve</a:t>
            </a:r>
          </a:p>
          <a:p>
            <a:pPr algn="l"/>
            <a:r>
              <a:rPr dirty="0">
                <a:latin typeface="Calibri"/>
              </a:rPr>
              <a:t>However, each firm's demand curve is affected by the other firm's price</a:t>
            </a:r>
          </a:p>
          <a:p>
            <a:pPr algn="l"/>
            <a:r>
              <a:rPr dirty="0">
                <a:latin typeface="Calibri"/>
              </a:rPr>
              <a:t>When the competitor raises its price, the optimal response is for the other firm to </a:t>
            </a:r>
            <a:r>
              <a:rPr u="sng" dirty="0">
                <a:latin typeface="Calibri"/>
              </a:rPr>
              <a:t>also raise</a:t>
            </a:r>
            <a:r>
              <a:rPr dirty="0">
                <a:latin typeface="Calibri"/>
              </a:rPr>
              <a:t> its price</a:t>
            </a:r>
          </a:p>
          <a:p>
            <a:pPr algn="l"/>
            <a:r>
              <a:rPr dirty="0">
                <a:latin typeface="Calibri"/>
              </a:rPr>
              <a:t>In equilibrium, neither firm has an incentive to deviate</a:t>
            </a:r>
          </a:p>
          <a:p>
            <a:pPr algn="l"/>
            <a:r>
              <a:rPr dirty="0">
                <a:latin typeface="Calibri"/>
              </a:rPr>
              <a:t>If MC are different, the optimal prices will be different for the two firms</a:t>
            </a:r>
          </a:p>
          <a:p>
            <a:pPr algn="l"/>
            <a:r>
              <a:rPr dirty="0">
                <a:latin typeface="Calibri"/>
              </a:rPr>
              <a:t>Note: </a:t>
            </a:r>
            <a:r>
              <a:rPr>
                <a:latin typeface="Calibri"/>
              </a:rPr>
              <a:t>Math </a:t>
            </a:r>
            <a:r>
              <a:rPr lang="en-US">
                <a:latin typeface="Calibri"/>
              </a:rPr>
              <a:t>for</a:t>
            </a:r>
            <a:r>
              <a:rPr>
                <a:latin typeface="Calibri"/>
              </a:rPr>
              <a:t> </a:t>
            </a:r>
            <a:r>
              <a:rPr dirty="0">
                <a:latin typeface="Calibri"/>
              </a:rPr>
              <a:t>this problem is </a:t>
            </a:r>
            <a:r>
              <a:rPr u="sng" dirty="0">
                <a:latin typeface="Calibri"/>
              </a:rPr>
              <a:t>optional</a:t>
            </a:r>
            <a:r>
              <a:rPr dirty="0">
                <a:latin typeface="Calibri"/>
              </a:rPr>
              <a:t> (not </a:t>
            </a:r>
            <a:r>
              <a:rPr lang="en-US" dirty="0">
                <a:latin typeface="Calibri"/>
              </a:rPr>
              <a:t>required for </a:t>
            </a:r>
            <a:r>
              <a:rPr dirty="0">
                <a:latin typeface="Calibri"/>
              </a:rPr>
              <a:t>final exam)</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BC887B02-DCDE-5D19-BED1-4C9A3C71FD32}" type="slidenum">
              <a:rPr lang="en-US" sz="1200" dirty="0">
                <a:solidFill>
                  <a:srgbClr val="555B66"/>
                </a:solidFill>
                <a:latin typeface="Calibri"/>
              </a:rPr>
              <a:t>10</a:t>
            </a:fld>
            <a:endParaRPr lang="en-US" sz="1200" dirty="0">
              <a:solidFill>
                <a:srgbClr val="555B66"/>
              </a:solidFill>
              <a:latin typeface="Calibri"/>
            </a:endParaRPr>
          </a:p>
        </p:txBody>
      </p:sp>
      <p:grpSp>
        <p:nvGrpSpPr>
          <p:cNvPr id="14" name="PracticeVideoBox"/>
          <p:cNvGrpSpPr/>
          <p:nvPr/>
        </p:nvGrpSpPr>
        <p:grpSpPr>
          <a:xfrm>
            <a:off x="6327648" y="5943600"/>
            <a:ext cx="5349240" cy="804672"/>
            <a:chOff x="6327648" y="5943600"/>
            <a:chExt cx="5349240" cy="804672"/>
          </a:xfrm>
        </p:grpSpPr>
        <p:sp>
          <p:nvSpPr>
            <p:cNvPr id="12" name="Rounded Rectangle 11"/>
            <p:cNvSpPr/>
            <p:nvPr/>
          </p:nvSpPr>
          <p:spPr>
            <a:xfrm>
              <a:off x="6327648" y="5943600"/>
              <a:ext cx="5349240" cy="80467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1600" b="1">
                  <a:solidFill>
                    <a:srgbClr val="0B2B4E"/>
                  </a:solidFill>
                  <a:latin typeface="Calibri"/>
                </a:rPr>
                <a:t>Optional Advanced Practice Video: “Bertrand Competition with Differentiated Goods – Math”</a:t>
              </a:r>
            </a:p>
          </p:txBody>
        </p:sp>
        <p:sp>
          <p:nvSpPr>
            <p:cNvPr id="13" name="Action Button: Movie 12"/>
            <p:cNvSpPr/>
            <p:nvPr/>
          </p:nvSpPr>
          <p:spPr>
            <a:xfrm>
              <a:off x="6455664" y="6208776"/>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par>
                                <p:cTn id="28" presetID="1"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1255</Words>
  <Application>Microsoft Office PowerPoint</Application>
  <PresentationFormat>Widescreen</PresentationFormat>
  <Paragraphs>163</Paragraphs>
  <Slides>10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13</cp:revision>
  <dcterms:created xsi:type="dcterms:W3CDTF">2013-01-27T09:14:16Z</dcterms:created>
  <dcterms:modified xsi:type="dcterms:W3CDTF">2026-09-28T22:51:53Z</dcterms:modified>
  <cp:category/>
</cp:coreProperties>
</file>