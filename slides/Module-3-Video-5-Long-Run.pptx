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46" r:id="rId2"/>
    <p:sldId id="286" r:id="rId3"/>
    <p:sldId id="287" r:id="rId4"/>
    <p:sldId id="288" r:id="rId5"/>
    <p:sldId id="289" r:id="rId6"/>
    <p:sldId id="290" r:id="rId7"/>
    <p:sldId id="291" r:id="rId8"/>
    <p:sldId id="338" r:id="rId9"/>
    <p:sldId id="293" r:id="rId10"/>
    <p:sldId id="29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318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now switch gears, from the short run to the long run. In the short run capital was stuck, and labor was our only lever. In the long run nothing is fixed. We get to choose both capital and labor from scratch. That opens a new question. What is the right mix of capital and labor to use? That is what the next several slides work out.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concrete setting for the long-run problem. Rivian is building a brand-new plant in Stanton Springs, Georgia. Because it is a clean sheet, both inputs are flexible. Rivian gets to choose the plant size, the machinery, and the workforce all at once. So the question is no longer how many workers to add to a fixed factory. It is what is the best mix of robots and workers to build cars. Over the next few slides we use marginal analysis to reach a simple rule for that optimal combination.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decision rule for the long run, and it has a name, the bang-for-the-buck rule. The idea is to spend each additional dollar on whichever input gives you the most extra output per dollar. Written out, it says the marginal product of capital divided by the price of capital should equal the marginal product of labor divided by the wage. In words, the extra output per dollar spent on robots should match the extra output per dollar spent on workers. The terms are on the slide. MPK and MPL are the marginal products of capital and labor, p-sub-k is the price of a robot, and w is the wage. Three conditions come with the rule. Both inputs have to be flexible, we hold the output quantity fixed, and we take the input prices as given. Notice that this is really the same marginal logic as the short-run hiring rule, just generalized to the choice between two inputs.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recipe for actually using the rule, the kind of thing worth having ready for an exam. Compare the two ratios, output per dollar on labor versus output per dollar on capital. If the labor ratio is higher, you are getting more output per dollar from workers, so shift toward labor, more workers and fewer robots. If the capital ratio is higher, shift the other way, toward more robots. Here is the nice part, the adjustment is self-correcting. As you add labor, diminishing returns pull the marginal product of labor down. As you pull back on capital, the marginal product of capital rises. So the two ratios move toward each other. You keep adjusting until they are equal, and that balance point is the optimal input mix.</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put the rule to work. Rivian is building that Georgia plant and asks for your advice on the mix of robots and workers. Here is what you know. Their current plan is 300 robots and 2,000 workers. A suitable worker costs about 1,200 dollars a week, and one robot costs about 20,000 dollars a week once you spread out its cost. The question for you is whether that 300-robot, 2,000-worker plan is actually the best mix. Take a moment with it before we work through the numbers.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we need the ingredients for the rule, the marginal products of each input at the current plan. Read the production table at 300 robots and 2,000 workers, and output is 534 cars. For the marginal product of labor, step up to the next level of workers, 2,500, holding robots at 300. Output goes from 534 to 571, so that is 37 more cars over 500 extra workers, a marginal product of about 0.07 cars per worker. For the marginal product of capital, step up to the next level of robots, 400, holding workers at 2,000. Output goes from 534 to 617, so that is 83 more cars over 100 extra robots, a marginal product of about 0.83 cars per robot. So one more robot adds a lot more output than one more worker. But before you conclude anything, remember the rule compares output per dollar, not output per unit, and robots are far more expensive. We settle it on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
Poll Title: Do not modify the notes in this section to avoid tampering with the Poll Everywhere activity.
More info at polleverywhere.com/support
Is Rivian's input mix (L=2,000 and K=300) optimal?
https://www.polleverywhere.com/multiple_choice_polls/8O7ck3GbsDMnNFVZRfI6q?state=opened&amp;flow=Default&amp;onscreen=persist</a:t>
            </a:r>
          </a:p>
        </p:txBody>
      </p:sp>
      <p:sp>
        <p:nvSpPr>
          <p:cNvPr id="4" name="TextBox 3">
            <a:extLst>
              <a:ext uri="{FF2B5EF4-FFF2-40B4-BE49-F238E27FC236}">
                <a16:creationId xmlns:a16="http://schemas.microsoft.com/office/drawing/2014/main" id="{7EA2A733-973F-BCE3-2930-931F5AF8EEBD}"/>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849350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divide each marginal product by its price to get bang for the buck, the output per dollar. For robots, 0.83 cars divided by 20,000 dollars is about 0.000042 cars per dollar. For workers, 0.07 cars divided by 1,200 dollars is about 0.000058 cars per dollar. Line those up and the workers win. A dollar spent on labor buys roughly 1.4 times as much extra output as a dollar spent on robots. So the current plan is not optimal. Even though each robot produces more cars, robots are so much more expensive that they are the worse deal at the margin. The advice to Rivian is to hire more workers and use fewer robots, and to keep shifting until the two bang-for-the-buck ratios meet.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more thing the rule tells us, what happens when prices change. Suppose the government puts a heavy tax on robots. Robots just became more expensive per unit of output, so the mix shifts toward labor. Now suppose instead the unions win a big wage increase. Labor just became more expensive, so the mix shifts the other way, toward more automation. The general lesson is simple. When an input gets more expensive, you lean away from it and toward whatever is now the better deal. This is playing out right now inside AI labs deciding between spending on GPUs and spending on engineers, as the relative prices of those two keep shifting.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405 Slides Layou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Long Run: The Optimal Input Mix</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3  ·  Video 5</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3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3</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39674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46352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Introduction to Module 3</a:t>
            </a:r>
          </a:p>
        </p:txBody>
      </p:sp>
      <p:sp>
        <p:nvSpPr>
          <p:cNvPr id="9" name="Rounded Rectangle 8"/>
          <p:cNvSpPr/>
          <p:nvPr/>
        </p:nvSpPr>
        <p:spPr>
          <a:xfrm>
            <a:off x="10332720" y="154305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1</a:t>
            </a:r>
          </a:p>
        </p:txBody>
      </p:sp>
      <p:sp>
        <p:nvSpPr>
          <p:cNvPr id="10" name="Oval 9"/>
          <p:cNvSpPr/>
          <p:nvPr/>
        </p:nvSpPr>
        <p:spPr>
          <a:xfrm>
            <a:off x="1051560" y="211455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1" name="TextBox 10"/>
          <p:cNvSpPr txBox="1"/>
          <p:nvPr/>
        </p:nvSpPr>
        <p:spPr>
          <a:xfrm>
            <a:off x="1874519" y="218132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Production Function</a:t>
            </a:r>
          </a:p>
        </p:txBody>
      </p:sp>
      <p:sp>
        <p:nvSpPr>
          <p:cNvPr id="12" name="Rounded Rectangle 11"/>
          <p:cNvSpPr/>
          <p:nvPr/>
        </p:nvSpPr>
        <p:spPr>
          <a:xfrm>
            <a:off x="10332720" y="226085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2</a:t>
            </a:r>
          </a:p>
        </p:txBody>
      </p:sp>
      <p:sp>
        <p:nvSpPr>
          <p:cNvPr id="13" name="Oval 12"/>
          <p:cNvSpPr/>
          <p:nvPr/>
        </p:nvSpPr>
        <p:spPr>
          <a:xfrm>
            <a:off x="1051560" y="283235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4" name="TextBox 13"/>
          <p:cNvSpPr txBox="1"/>
          <p:nvPr/>
        </p:nvSpPr>
        <p:spPr>
          <a:xfrm>
            <a:off x="1874519" y="2899130"/>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Short Run: Hiring Decisions</a:t>
            </a:r>
          </a:p>
        </p:txBody>
      </p:sp>
      <p:sp>
        <p:nvSpPr>
          <p:cNvPr id="15" name="Rounded Rectangle 14"/>
          <p:cNvSpPr/>
          <p:nvPr/>
        </p:nvSpPr>
        <p:spPr>
          <a:xfrm>
            <a:off x="10332720" y="297865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3</a:t>
            </a:r>
          </a:p>
        </p:txBody>
      </p:sp>
      <p:sp>
        <p:nvSpPr>
          <p:cNvPr id="16" name="Oval 15"/>
          <p:cNvSpPr/>
          <p:nvPr/>
        </p:nvSpPr>
        <p:spPr>
          <a:xfrm>
            <a:off x="1051560" y="355015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17" name="TextBox 16"/>
          <p:cNvSpPr txBox="1"/>
          <p:nvPr/>
        </p:nvSpPr>
        <p:spPr>
          <a:xfrm>
            <a:off x="1874519" y="361693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Wage Searchers</a:t>
            </a:r>
          </a:p>
        </p:txBody>
      </p:sp>
      <p:sp>
        <p:nvSpPr>
          <p:cNvPr id="18" name="Rounded Rectangle 17"/>
          <p:cNvSpPr/>
          <p:nvPr/>
        </p:nvSpPr>
        <p:spPr>
          <a:xfrm>
            <a:off x="10332720" y="369646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4</a:t>
            </a:r>
          </a:p>
        </p:txBody>
      </p:sp>
      <p:sp>
        <p:nvSpPr>
          <p:cNvPr id="19" name="Rounded Rectangle 18"/>
          <p:cNvSpPr/>
          <p:nvPr/>
        </p:nvSpPr>
        <p:spPr>
          <a:xfrm>
            <a:off x="822960" y="4194810"/>
            <a:ext cx="11109960" cy="745236"/>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51560" y="426796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5</a:t>
            </a:r>
          </a:p>
        </p:txBody>
      </p:sp>
      <p:sp>
        <p:nvSpPr>
          <p:cNvPr id="21" name="TextBox 20"/>
          <p:cNvSpPr txBox="1"/>
          <p:nvPr/>
        </p:nvSpPr>
        <p:spPr>
          <a:xfrm>
            <a:off x="1874519" y="4249674"/>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Long Run: The Optimal Input Mix</a:t>
            </a:r>
          </a:p>
          <a:p>
            <a:pPr algn="l">
              <a:spcBef>
                <a:spcPts val="0"/>
              </a:spcBef>
              <a:buNone/>
            </a:pPr>
            <a:r>
              <a:rPr sz="2200">
                <a:solidFill>
                  <a:srgbClr val="555B66"/>
                </a:solidFill>
                <a:latin typeface="Calibri"/>
              </a:rPr>
              <a:t>Choosing between capital and labor when both can be adjusted</a:t>
            </a:r>
          </a:p>
        </p:txBody>
      </p:sp>
      <p:sp>
        <p:nvSpPr>
          <p:cNvPr id="22" name="Rounded Rectangle 21"/>
          <p:cNvSpPr/>
          <p:nvPr/>
        </p:nvSpPr>
        <p:spPr>
          <a:xfrm>
            <a:off x="10332720" y="4414266"/>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0B2B4E"/>
                </a:solidFill>
                <a:latin typeface="Calibri"/>
              </a:rPr>
              <a:t>Video 5</a:t>
            </a:r>
          </a:p>
        </p:txBody>
      </p:sp>
      <p:sp>
        <p:nvSpPr>
          <p:cNvPr id="23" name="Oval 22"/>
          <p:cNvSpPr/>
          <p:nvPr/>
        </p:nvSpPr>
        <p:spPr>
          <a:xfrm>
            <a:off x="1051560" y="498576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6</a:t>
            </a:r>
          </a:p>
        </p:txBody>
      </p:sp>
      <p:sp>
        <p:nvSpPr>
          <p:cNvPr id="24" name="TextBox 23"/>
          <p:cNvSpPr txBox="1"/>
          <p:nvPr/>
        </p:nvSpPr>
        <p:spPr>
          <a:xfrm>
            <a:off x="1874519" y="5052542"/>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Cost Concepts</a:t>
            </a:r>
          </a:p>
        </p:txBody>
      </p:sp>
      <p:sp>
        <p:nvSpPr>
          <p:cNvPr id="25" name="Rounded Rectangle 24"/>
          <p:cNvSpPr/>
          <p:nvPr/>
        </p:nvSpPr>
        <p:spPr>
          <a:xfrm>
            <a:off x="10332720" y="513207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6</a:t>
            </a:r>
          </a:p>
        </p:txBody>
      </p:sp>
      <p:sp>
        <p:nvSpPr>
          <p:cNvPr id="26" name="Oval 25"/>
          <p:cNvSpPr/>
          <p:nvPr/>
        </p:nvSpPr>
        <p:spPr>
          <a:xfrm>
            <a:off x="1051560" y="570357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7</a:t>
            </a:r>
          </a:p>
        </p:txBody>
      </p:sp>
      <p:sp>
        <p:nvSpPr>
          <p:cNvPr id="27" name="TextBox 26"/>
          <p:cNvSpPr txBox="1"/>
          <p:nvPr/>
        </p:nvSpPr>
        <p:spPr>
          <a:xfrm>
            <a:off x="1874519" y="5770346"/>
            <a:ext cx="10058400" cy="653796"/>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Economies of Scale and Scope</a:t>
            </a:r>
          </a:p>
        </p:txBody>
      </p:sp>
      <p:sp>
        <p:nvSpPr>
          <p:cNvPr id="28" name="Rounded Rectangle 27"/>
          <p:cNvSpPr/>
          <p:nvPr/>
        </p:nvSpPr>
        <p:spPr>
          <a:xfrm>
            <a:off x="10332720" y="5849874"/>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Video 7</a:t>
            </a:r>
          </a:p>
        </p:txBody>
      </p:sp>
      <p:sp>
        <p:nvSpPr>
          <p:cNvPr id="29" name="Rectangle 2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3  ·  Production and Costs</a:t>
            </a:r>
          </a:p>
        </p:txBody>
      </p:sp>
      <p:sp>
        <p:nvSpPr>
          <p:cNvPr id="32" name="TextBox 31"/>
          <p:cNvSpPr txBox="1"/>
          <p:nvPr/>
        </p:nvSpPr>
        <p:spPr>
          <a:xfrm>
            <a:off x="11475720" y="6583680"/>
            <a:ext cx="502920" cy="292608"/>
          </a:xfrm>
          <a:prstGeom prst="rect">
            <a:avLst/>
          </a:prstGeom>
          <a:noFill/>
        </p:spPr>
        <p:txBody>
          <a:bodyPr wrap="none" lIns="0" tIns="0" rIns="0" bIns="0">
            <a:spAutoFit/>
          </a:bodyPr>
          <a:lstStyle/>
          <a:p>
            <a:pPr algn="r"/>
            <a:fld id="{EDF708DD-CB73-56E8-9FB3-32D439A6BCE9}"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Long Run:  Rivian Builds a New Georgia Plant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6217920" cy="420624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Context: Rivian builds its new Georgia plant</a:t>
            </a:r>
          </a:p>
          <a:p>
            <a:pPr algn="l"/>
            <a:r>
              <a:rPr dirty="0">
                <a:latin typeface="Calibri"/>
              </a:rPr>
              <a:t>Both capital and labor are flexible inputs</a:t>
            </a:r>
          </a:p>
          <a:p>
            <a:pPr algn="l"/>
            <a:r>
              <a:rPr dirty="0">
                <a:latin typeface="Calibri"/>
              </a:rPr>
              <a:t>What is the optimal input mix?</a:t>
            </a:r>
          </a:p>
          <a:p>
            <a:pPr lvl="1" algn="l"/>
            <a:r>
              <a:rPr dirty="0">
                <a:latin typeface="Calibri"/>
              </a:rPr>
              <a:t>E.g., robots (K) and workers (L)</a:t>
            </a:r>
          </a:p>
          <a:p>
            <a:pPr algn="l"/>
            <a:r>
              <a:rPr dirty="0">
                <a:latin typeface="Calibri"/>
              </a:rPr>
              <a:t>We will:</a:t>
            </a:r>
          </a:p>
          <a:p>
            <a:pPr lvl="1" algn="l"/>
            <a:r>
              <a:rPr dirty="0">
                <a:latin typeface="Calibri"/>
              </a:rPr>
              <a:t>Use marginal analysis</a:t>
            </a:r>
          </a:p>
          <a:p>
            <a:pPr lvl="1" algn="l"/>
            <a:r>
              <a:rPr dirty="0">
                <a:latin typeface="Calibri"/>
              </a:rPr>
              <a:t>Learn a simple rule for the optimal combination of inputs</a:t>
            </a:r>
          </a:p>
        </p:txBody>
      </p:sp>
      <p:pic>
        <p:nvPicPr>
          <p:cNvPr id="8" name="Picture 7" descr="_rivian_georgia.jpg"/>
          <p:cNvPicPr>
            <a:picLocks noChangeAspect="1"/>
          </p:cNvPicPr>
          <p:nvPr/>
        </p:nvPicPr>
        <p:blipFill>
          <a:blip r:embed="rId3"/>
          <a:stretch>
            <a:fillRect/>
          </a:stretch>
        </p:blipFill>
        <p:spPr>
          <a:xfrm>
            <a:off x="6614769" y="1480413"/>
            <a:ext cx="5326380" cy="2995574"/>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7471562" y="4561941"/>
            <a:ext cx="4021531" cy="182880"/>
          </a:xfrm>
          <a:prstGeom prst="rect">
            <a:avLst/>
          </a:prstGeom>
          <a:noFill/>
        </p:spPr>
        <p:txBody>
          <a:bodyPr wrap="square" lIns="0" tIns="0" rIns="0" bIns="0">
            <a:spAutoFit/>
          </a:bodyPr>
          <a:lstStyle/>
          <a:p>
            <a:pPr algn="ctr"/>
            <a:r>
              <a:rPr sz="1050" b="0" i="1" dirty="0">
                <a:solidFill>
                  <a:srgbClr val="555B66"/>
                </a:solidFill>
                <a:latin typeface="Calibri"/>
              </a:rPr>
              <a:t>Brian Cassella  |  Tribune News Service  |  Getty Images</a:t>
            </a:r>
          </a:p>
        </p:txBody>
      </p:sp>
      <p:sp>
        <p:nvSpPr>
          <p:cNvPr id="10" name="Rounded Rectangle 9"/>
          <p:cNvSpPr/>
          <p:nvPr/>
        </p:nvSpPr>
        <p:spPr>
          <a:xfrm>
            <a:off x="3432657" y="5598871"/>
            <a:ext cx="5326380" cy="454456"/>
          </a:xfrm>
          <a:prstGeom prst="roundRect">
            <a:avLst>
              <a:gd name="adj" fmla="val 2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Long run  ⇒  pick the optimal K-and-L mix</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40CF1039-B8B0-41B4-96CF-F1DA5ECAD1BF}" type="slidenum">
              <a:rPr sz="1200" b="0" i="0">
                <a:solidFill>
                  <a:srgbClr val="555B66"/>
                </a:solidFill>
                <a:latin typeface="Calibri"/>
              </a:rPr>
              <a:t>3</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7">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Optimal Combination of Inputs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12164"/>
            <a:ext cx="11687697" cy="5029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3200" b="0">
                <a:solidFill>
                  <a:srgbClr val="0B2B4E"/>
                </a:solidFill>
                <a:latin typeface="Calibri"/>
              </a:defRPr>
            </a:lvl1pPr>
            <a:lvl2pPr marL="685800" indent="-228600">
              <a:spcBef>
                <a:spcPts val="300"/>
              </a:spcBef>
              <a:buClr>
                <a:srgbClr val="555B66"/>
              </a:buClr>
              <a:buFont typeface="Calibri"/>
              <a:buChar char="–"/>
              <a:defRPr sz="2800" b="0">
                <a:solidFill>
                  <a:srgbClr val="555B66"/>
                </a:solidFill>
                <a:latin typeface="Calibri"/>
              </a:defRPr>
            </a:lvl2pPr>
          </a:lstStyle>
          <a:p>
            <a:pPr algn="l"/>
            <a:r>
              <a:rPr>
                <a:latin typeface="Calibri"/>
              </a:rPr>
              <a:t>Optimal Input Mix:  How much K and how much L?</a:t>
            </a:r>
          </a:p>
        </p:txBody>
      </p:sp>
      <p:sp>
        <p:nvSpPr>
          <p:cNvPr id="8" name="TextBox 7"/>
          <p:cNvSpPr txBox="1"/>
          <p:nvPr/>
        </p:nvSpPr>
        <p:spPr>
          <a:xfrm>
            <a:off x="251999" y="2071116"/>
            <a:ext cx="11687697" cy="457200"/>
          </a:xfrm>
          <a:prstGeom prst="rect">
            <a:avLst/>
          </a:prstGeom>
          <a:noFill/>
        </p:spPr>
        <p:txBody>
          <a:bodyPr wrap="square" lIns="0" tIns="0" rIns="0" bIns="0">
            <a:spAutoFit/>
          </a:bodyPr>
          <a:lstStyle/>
          <a:p>
            <a:pPr algn="ctr"/>
            <a:r>
              <a:rPr sz="2800" b="0" i="0">
                <a:solidFill>
                  <a:srgbClr val="555B66"/>
                </a:solidFill>
                <a:latin typeface="Calibri"/>
              </a:rPr>
              <a:t>Decision rule for the long run:</a:t>
            </a:r>
          </a:p>
        </p:txBody>
      </p:sp>
      <mc:AlternateContent xmlns:mc="http://schemas.openxmlformats.org/markup-compatibility/2006" xmlns:a14="http://schemas.microsoft.com/office/drawing/2010/main">
        <mc:Choice Requires="a14">
          <p:sp>
            <p:nvSpPr>
              <p:cNvPr id="9" name="TextBox 8"/>
              <p:cNvSpPr txBox="1"/>
              <p:nvPr/>
            </p:nvSpPr>
            <p:spPr>
              <a:xfrm>
                <a:off x="2286000" y="2702052"/>
                <a:ext cx="7589520" cy="1371600"/>
              </a:xfrm>
              <a:prstGeom prst="rect">
                <a:avLst/>
              </a:prstGeom>
              <a:noFill/>
            </p:spPr>
            <p:txBody>
              <a:bodyPr wrap="square" anchor="ctr">
                <a:spAutoFit/>
              </a:bodyPr>
              <a:lstStyle/>
              <a:p>
                <a:pPr algn="ctr">
                  <a:defRPr sz="4400" b="0" i="1">
                    <a:solidFill>
                      <a:srgbClr val="0B2B4E"/>
                    </a:solidFill>
                    <a:latin typeface="Cambria Math"/>
                  </a:defRPr>
                </a:pPr>
                <a14:m>
                  <m:oMathPara xmlns:m="http://schemas.openxmlformats.org/officeDocument/2006/math">
                    <m:oMath>
                      <m:f>
                        <m:fPr>
                          <m:ctrlPr>
                            <a:rPr lang="en-US" sz="4400" b="0" i="1">
                              <a:latin typeface="Cambria Math" panose="02040503050406030204" pitchFamily="18" charset="0"/>
                              <a:ea typeface="Cambria Math"/>
                            </a:rPr>
                          </m:ctrlPr>
                        </m:fPr>
                        <m:num>
                          <m:sSub>
                            <m:sSubPr>
                              <m:ctrlPr>
                                <a:rPr lang="en-US" sz="4400" b="0" i="1">
                                  <a:latin typeface="Cambria Math"/>
                                  <a:ea typeface="Cambria Math"/>
                                </a:rPr>
                              </m:ctrlPr>
                            </m:sSubPr>
                            <m:e>
                              <m:r>
                                <a:rPr lang="en-US" sz="4400" b="0" i="1">
                                  <a:latin typeface="Cambria Math"/>
                                  <a:ea typeface="Cambria Math"/>
                                </a:rPr>
                                <m:t>𝑀𝑃</m:t>
                              </m:r>
                            </m:e>
                            <m:sub>
                              <m:r>
                                <a:rPr lang="en-US" sz="4400" b="0" i="1">
                                  <a:latin typeface="Cambria Math"/>
                                  <a:ea typeface="Cambria Math"/>
                                </a:rPr>
                                <m:t>𝐾</m:t>
                              </m:r>
                            </m:sub>
                          </m:sSub>
                        </m:num>
                        <m:den>
                          <m:sSub>
                            <m:sSubPr>
                              <m:ctrlPr>
                                <a:rPr lang="en-US" sz="4400" b="0" i="1">
                                  <a:latin typeface="Cambria Math"/>
                                  <a:ea typeface="Cambria Math"/>
                                </a:rPr>
                              </m:ctrlPr>
                            </m:sSubPr>
                            <m:e>
                              <m:r>
                                <a:rPr lang="en-US" sz="4400" b="0" i="1">
                                  <a:latin typeface="Cambria Math"/>
                                  <a:ea typeface="Cambria Math"/>
                                </a:rPr>
                                <m:t>𝑝</m:t>
                              </m:r>
                            </m:e>
                            <m:sub>
                              <m:r>
                                <a:rPr lang="en-US" sz="4400" b="0" i="1">
                                  <a:latin typeface="Cambria Math"/>
                                  <a:ea typeface="Cambria Math"/>
                                </a:rPr>
                                <m:t>𝐾</m:t>
                              </m:r>
                            </m:sub>
                          </m:sSub>
                        </m:den>
                      </m:f>
                      <m:r>
                        <a:rPr lang="en-US" sz="4400" b="0" i="0">
                          <a:latin typeface="Cambria Math"/>
                        </a:rPr>
                        <m:t> = </m:t>
                      </m:r>
                      <m:f>
                        <m:fPr>
                          <m:ctrlPr>
                            <a:rPr lang="en-US" sz="4400" b="0" i="1">
                              <a:latin typeface="Cambria Math" panose="02040503050406030204" pitchFamily="18" charset="0"/>
                              <a:ea typeface="Cambria Math"/>
                            </a:rPr>
                          </m:ctrlPr>
                        </m:fPr>
                        <m:num>
                          <m:sSub>
                            <m:sSubPr>
                              <m:ctrlPr>
                                <a:rPr lang="en-US" sz="4400" b="0" i="1">
                                  <a:latin typeface="Cambria Math"/>
                                  <a:ea typeface="Cambria Math"/>
                                </a:rPr>
                              </m:ctrlPr>
                            </m:sSubPr>
                            <m:e>
                              <m:r>
                                <a:rPr lang="en-US" sz="4400" b="0" i="1">
                                  <a:latin typeface="Cambria Math"/>
                                  <a:ea typeface="Cambria Math"/>
                                </a:rPr>
                                <m:t>𝑀𝑃</m:t>
                              </m:r>
                            </m:e>
                            <m:sub>
                              <m:r>
                                <a:rPr lang="en-US" sz="4400" b="0" i="1">
                                  <a:latin typeface="Cambria Math"/>
                                  <a:ea typeface="Cambria Math"/>
                                </a:rPr>
                                <m:t>𝐿</m:t>
                              </m:r>
                            </m:sub>
                          </m:sSub>
                        </m:num>
                        <m:den>
                          <m:r>
                            <a:rPr lang="en-US" sz="4400" b="0" i="1">
                              <a:latin typeface="Cambria Math"/>
                              <a:ea typeface="Cambria Math"/>
                            </a:rPr>
                            <m:t>𝑤</m:t>
                          </m:r>
                        </m:den>
                      </m:f>
                    </m:oMath>
                  </m:oMathPara>
                </a14:m>
                <a:endParaRPr lang="en-US" sz="4400"/>
              </a:p>
            </p:txBody>
          </p:sp>
        </mc:Choice>
        <mc:Fallback xmlns="">
          <p:sp>
            <p:nvSpPr>
              <p:cNvPr id="9" name="TextBox 8"/>
              <p:cNvSpPr txBox="1">
                <a:spLocks noRot="1" noChangeAspect="1" noMove="1" noResize="1" noEditPoints="1" noAdjustHandles="1" noChangeArrowheads="1" noChangeShapeType="1" noTextEdit="1"/>
              </p:cNvSpPr>
              <p:nvPr/>
            </p:nvSpPr>
            <p:spPr>
              <a:xfrm>
                <a:off x="2286000" y="2702052"/>
                <a:ext cx="7589520" cy="1371600"/>
              </a:xfrm>
              <a:prstGeom prst="rect">
                <a:avLst/>
              </a:prstGeom>
              <a:blipFill>
                <a:blip r:embed="rId3"/>
                <a:stretch>
                  <a:fillRect b="-444"/>
                </a:stretch>
              </a:blipFill>
            </p:spPr>
            <p:txBody>
              <a:bodyPr/>
              <a:lstStyle/>
              <a:p>
                <a:r>
                  <a:rPr lang="en-US">
                    <a:noFill/>
                  </a:rPr>
                  <a:t> </a:t>
                </a:r>
              </a:p>
            </p:txBody>
          </p:sp>
        </mc:Fallback>
      </mc:AlternateContent>
      <p:sp>
        <p:nvSpPr>
          <p:cNvPr id="10" name="Rounded Rectangle 9"/>
          <p:cNvSpPr/>
          <p:nvPr/>
        </p:nvSpPr>
        <p:spPr>
          <a:xfrm>
            <a:off x="3995013" y="4351629"/>
            <a:ext cx="4378147" cy="565099"/>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latin typeface="Calibri"/>
              </a:rPr>
              <a:t>Bang for the Buck Rule</a:t>
            </a:r>
          </a:p>
        </p:txBody>
      </p:sp>
      <p:grpSp>
        <p:nvGrpSpPr>
          <p:cNvPr id="30" name="Group 30"/>
          <p:cNvGrpSpPr/>
          <p:nvPr/>
        </p:nvGrpSpPr>
        <p:grpSpPr>
          <a:xfrm>
            <a:off x="8631936" y="2856585"/>
            <a:ext cx="3262579" cy="1179576"/>
            <a:chOff x="8631936" y="2856585"/>
            <a:chExt cx="3262579" cy="1179576"/>
          </a:xfrm>
        </p:grpSpPr>
        <p:sp>
          <p:nvSpPr>
            <p:cNvPr id="11" name="Rounded Rectangle 10"/>
            <p:cNvSpPr/>
            <p:nvPr/>
          </p:nvSpPr>
          <p:spPr>
            <a:xfrm>
              <a:off x="8631936" y="2856585"/>
              <a:ext cx="3262579" cy="1179576"/>
            </a:xfrm>
            <a:prstGeom prst="roundRect">
              <a:avLst>
                <a:gd name="adj" fmla="val 10000"/>
              </a:avLst>
            </a:prstGeom>
            <a:solidFill>
              <a:srgbClr val="FFFFFF"/>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05088" y="2879445"/>
              <a:ext cx="3116275" cy="1133856"/>
            </a:xfrm>
            <a:prstGeom prst="rect">
              <a:avLst/>
            </a:prstGeom>
            <a:noFill/>
          </p:spPr>
          <p:txBody>
            <a:bodyPr wrap="square" lIns="45720" tIns="0" rIns="45720" bIns="0" anchor="ctr">
              <a:spAutoFit/>
            </a:bodyPr>
            <a:lstStyle/>
            <a:p>
              <a:pPr algn="l"/>
              <a:r>
                <a:rPr sz="1800" b="1" i="0">
                  <a:solidFill>
                    <a:srgbClr val="0B2B4E"/>
                  </a:solidFill>
                  <a:latin typeface="Calibri"/>
                </a:rPr>
                <a:t>MP</a:t>
              </a:r>
              <a:r>
                <a:rPr sz="1800" b="1" i="0" baseline="-25000">
                  <a:solidFill>
                    <a:srgbClr val="0B2B4E"/>
                  </a:solidFill>
                  <a:latin typeface="Calibri"/>
                </a:rPr>
                <a:t>K</a:t>
              </a:r>
              <a:r>
                <a:rPr sz="1600" b="0" i="0">
                  <a:solidFill>
                    <a:srgbClr val="0B2B4E"/>
                  </a:solidFill>
                  <a:latin typeface="Calibri"/>
                </a:rPr>
                <a:t>  :  Marginal Product of Capital</a:t>
              </a:r>
            </a:p>
            <a:p>
              <a:pPr algn="l"/>
              <a:r>
                <a:rPr sz="1800" b="1" i="0">
                  <a:solidFill>
                    <a:srgbClr val="0B2B4E"/>
                  </a:solidFill>
                  <a:latin typeface="Calibri"/>
                </a:rPr>
                <a:t>MP</a:t>
              </a:r>
              <a:r>
                <a:rPr sz="1800" b="1" i="0" baseline="-25000">
                  <a:solidFill>
                    <a:srgbClr val="0B2B4E"/>
                  </a:solidFill>
                  <a:latin typeface="Calibri"/>
                </a:rPr>
                <a:t>L</a:t>
              </a:r>
              <a:r>
                <a:rPr sz="1600" b="0" i="0">
                  <a:solidFill>
                    <a:srgbClr val="0B2B4E"/>
                  </a:solidFill>
                  <a:latin typeface="Calibri"/>
                </a:rPr>
                <a:t>  :  Marginal Product of Labor</a:t>
              </a:r>
            </a:p>
            <a:p>
              <a:pPr algn="l"/>
              <a:r>
                <a:rPr sz="1800" b="1" i="1">
                  <a:solidFill>
                    <a:srgbClr val="0B2B4E"/>
                  </a:solidFill>
                  <a:latin typeface="Calibri"/>
                </a:rPr>
                <a:t>p</a:t>
              </a:r>
              <a:r>
                <a:rPr sz="1800" b="1" i="0">
                  <a:solidFill>
                    <a:srgbClr val="0B2B4E"/>
                  </a:solidFill>
                  <a:latin typeface="Calibri"/>
                </a:rPr>
                <a:t>ₖ</a:t>
              </a:r>
              <a:r>
                <a:rPr sz="1600" b="0" i="0">
                  <a:solidFill>
                    <a:srgbClr val="0B2B4E"/>
                  </a:solidFill>
                  <a:latin typeface="Calibri"/>
                </a:rPr>
                <a:t>  :  Price of Capital</a:t>
              </a:r>
            </a:p>
            <a:p>
              <a:pPr algn="l"/>
              <a:r>
                <a:rPr sz="1800" b="1" i="1">
                  <a:solidFill>
                    <a:srgbClr val="0B2B4E"/>
                  </a:solidFill>
                  <a:latin typeface="Calibri"/>
                </a:rPr>
                <a:t>w</a:t>
              </a:r>
              <a:r>
                <a:rPr sz="1600" b="0" i="0">
                  <a:solidFill>
                    <a:srgbClr val="0B2B4E"/>
                  </a:solidFill>
                  <a:latin typeface="Calibri"/>
                </a:rPr>
                <a:t>  :  Wage</a:t>
              </a:r>
            </a:p>
          </p:txBody>
        </p:sp>
      </p:grpSp>
      <p:sp>
        <p:nvSpPr>
          <p:cNvPr id="13" name="TextBox 12"/>
          <p:cNvSpPr txBox="1"/>
          <p:nvPr/>
        </p:nvSpPr>
        <p:spPr>
          <a:xfrm>
            <a:off x="213055" y="5298948"/>
            <a:ext cx="5882335" cy="1092708"/>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lvl="1" algn="l"/>
            <a:r>
              <a:rPr>
                <a:latin typeface="Calibri"/>
              </a:rPr>
              <a:t>Holds when both L and K are flexible</a:t>
            </a:r>
          </a:p>
          <a:p>
            <a:pPr lvl="1" algn="l"/>
            <a:r>
              <a:rPr>
                <a:latin typeface="Calibri"/>
              </a:rPr>
              <a:t>Refers to a given output quantity Q</a:t>
            </a:r>
          </a:p>
          <a:p>
            <a:pPr lvl="1" algn="l"/>
            <a:r>
              <a:rPr>
                <a:latin typeface="Calibri"/>
              </a:rPr>
              <a:t>Assumes input prices w and pₖ are constant</a:t>
            </a:r>
          </a:p>
        </p:txBody>
      </p:sp>
      <p:sp>
        <p:nvSpPr>
          <p:cNvPr id="14" name="Reference Box"/>
          <p:cNvSpPr/>
          <p:nvPr/>
        </p:nvSpPr>
        <p:spPr>
          <a:xfrm>
            <a:off x="8429752" y="5971032"/>
            <a:ext cx="3612896"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Teaching Note:  Bang-for-the-Buck Rule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ABF30482-AC19-4798-9FFF-742C86891E23}" type="slidenum">
              <a:rPr sz="1200" b="0" i="0">
                <a:solidFill>
                  <a:srgbClr val="555B66"/>
                </a:solidFill>
                <a:latin typeface="Calibri"/>
              </a:rPr>
              <a:t>4</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Applying the 'Bang for the Buck' Rule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188720"/>
            <a:ext cx="11687697" cy="411480"/>
          </a:xfrm>
          <a:prstGeom prst="rect">
            <a:avLst/>
          </a:prstGeom>
          <a:noFill/>
        </p:spPr>
        <p:txBody>
          <a:bodyPr wrap="square" lIns="0" tIns="0" rIns="0" bIns="0">
            <a:spAutoFit/>
          </a:bodyPr>
          <a:lstStyle/>
          <a:p>
            <a:pPr algn="l"/>
            <a:r>
              <a:rPr sz="2000" b="0" i="1">
                <a:solidFill>
                  <a:srgbClr val="555B66"/>
                </a:solidFill>
                <a:latin typeface="Calibri"/>
              </a:rPr>
              <a:t>('recipe' for exams)</a:t>
            </a:r>
          </a:p>
        </p:txBody>
      </p:sp>
      <mc:AlternateContent xmlns:mc="http://schemas.openxmlformats.org/markup-compatibility/2006">
        <mc:Choice xmlns:a14="http://schemas.microsoft.com/office/drawing/2010/main" Requires="a14">
          <p:sp>
            <p:nvSpPr>
              <p:cNvPr id="8" name="TextBox 7"/>
              <p:cNvSpPr txBox="1"/>
              <p:nvPr/>
            </p:nvSpPr>
            <p:spPr>
              <a:xfrm>
                <a:off x="251999" y="1783080"/>
                <a:ext cx="11687697" cy="4243278"/>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marL="0" indent="0" algn="l">
                  <a:buNone/>
                </a:pPr>
                <a:r>
                  <a:rPr sz="2800" dirty="0">
                    <a:solidFill>
                      <a:srgbClr val="0B2B4E"/>
                    </a:solidFill>
                    <a:latin typeface="Calibri"/>
                  </a:rPr>
                  <a:t>How to adjust L and K in order to produce a given quantity at lower cost</a:t>
                </a:r>
              </a:p>
              <a:p>
                <a:pPr algn="l">
                  <a:spcBef>
                    <a:spcPts val="1800"/>
                  </a:spcBef>
                </a:pPr>
                <a:r>
                  <a:rPr dirty="0">
                    <a:latin typeface="Calibri"/>
                  </a:rPr>
                  <a:t>If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oMath>
                </a14:m>
                <a:r>
                  <a:rPr dirty="0">
                    <a:latin typeface="Calibri"/>
                  </a:rPr>
                  <a:t> &gt;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r>
                  <a:rPr dirty="0">
                    <a:latin typeface="Calibri"/>
                  </a:rPr>
                  <a:t>   →    use more </a:t>
                </a:r>
                <a:r>
                  <a:rPr i="1" dirty="0">
                    <a:latin typeface="Calibri"/>
                  </a:rPr>
                  <a:t>L</a:t>
                </a:r>
                <a:r>
                  <a:rPr dirty="0">
                    <a:latin typeface="Calibri"/>
                  </a:rPr>
                  <a:t> and less </a:t>
                </a:r>
                <a:r>
                  <a:rPr i="1" dirty="0">
                    <a:latin typeface="Calibri"/>
                  </a:rPr>
                  <a:t>K</a:t>
                </a:r>
              </a:p>
              <a:p>
                <a:pPr lvl="1" algn="l"/>
                <a:r>
                  <a:rPr dirty="0">
                    <a:latin typeface="Calibri"/>
                  </a:rPr>
                  <a:t>Decreasing marginal returns imply:</a:t>
                </a:r>
              </a:p>
              <a:p>
                <a:pPr marL="1028700" lvl="2" indent="-228600" algn="l">
                  <a:spcBef>
                    <a:spcPts val="300"/>
                  </a:spcBef>
                  <a:buClr>
                    <a:srgbClr val="555B66"/>
                  </a:buClr>
                  <a:buFont typeface="Calibri"/>
                  <a:buChar char="–"/>
                </a:pPr>
                <a:r>
                  <a:rPr sz="2200" dirty="0">
                    <a:solidFill>
                      <a:srgbClr val="555B66"/>
                    </a:solidFill>
                    <a:latin typeface="Calibri"/>
                  </a:rPr>
                  <a:t>Due to increased </a:t>
                </a:r>
                <a:r>
                  <a:rPr sz="2200" i="1" dirty="0">
                    <a:solidFill>
                      <a:srgbClr val="555B66"/>
                    </a:solidFill>
                    <a:latin typeface="Calibri"/>
                  </a:rPr>
                  <a:t>L</a:t>
                </a:r>
                <a:r>
                  <a:rPr sz="2200" dirty="0">
                    <a:solidFill>
                      <a:srgbClr val="555B66"/>
                    </a:solidFill>
                    <a:latin typeface="Calibri"/>
                  </a:rPr>
                  <a:t>,  </a:t>
                </a:r>
                <a14:m>
                  <m:oMath xmlns:m="http://schemas.openxmlformats.org/officeDocument/2006/math">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𝐿</m:t>
                        </m:r>
                      </m:sub>
                    </m:sSub>
                  </m:oMath>
                </a14:m>
                <a:r>
                  <a:rPr sz="2200" dirty="0">
                    <a:solidFill>
                      <a:srgbClr val="555B66"/>
                    </a:solidFill>
                    <a:latin typeface="Calibri"/>
                  </a:rPr>
                  <a:t>   will fall as </a:t>
                </a:r>
                <a:r>
                  <a:rPr sz="2200" i="1" dirty="0">
                    <a:solidFill>
                      <a:srgbClr val="555B66"/>
                    </a:solidFill>
                    <a:latin typeface="Calibri"/>
                  </a:rPr>
                  <a:t>L</a:t>
                </a:r>
                <a:r>
                  <a:rPr sz="2200" dirty="0">
                    <a:solidFill>
                      <a:srgbClr val="555B66"/>
                    </a:solidFill>
                    <a:latin typeface="Calibri"/>
                  </a:rPr>
                  <a:t> increases</a:t>
                </a:r>
              </a:p>
              <a:p>
                <a:pPr marL="1028700" lvl="2" indent="-228600" algn="l">
                  <a:spcBef>
                    <a:spcPts val="300"/>
                  </a:spcBef>
                  <a:buClr>
                    <a:srgbClr val="555B66"/>
                  </a:buClr>
                  <a:buFont typeface="Calibri"/>
                  <a:buChar char="–"/>
                </a:pPr>
                <a:r>
                  <a:rPr sz="2200" dirty="0">
                    <a:solidFill>
                      <a:srgbClr val="555B66"/>
                    </a:solidFill>
                    <a:latin typeface="Calibri"/>
                  </a:rPr>
                  <a:t>Due to reduced </a:t>
                </a:r>
                <a:r>
                  <a:rPr sz="2200" i="1" dirty="0">
                    <a:solidFill>
                      <a:srgbClr val="555B66"/>
                    </a:solidFill>
                    <a:latin typeface="Calibri"/>
                  </a:rPr>
                  <a:t>K</a:t>
                </a:r>
                <a:r>
                  <a:rPr sz="2200" dirty="0">
                    <a:solidFill>
                      <a:srgbClr val="555B66"/>
                    </a:solidFill>
                    <a:latin typeface="Calibri"/>
                  </a:rPr>
                  <a:t>,  </a:t>
                </a:r>
                <a14:m>
                  <m:oMath xmlns:m="http://schemas.openxmlformats.org/officeDocument/2006/math">
                    <m:sSub>
                      <m:sSubPr>
                        <m:ctrlPr>
                          <a:rPr lang="en-US" sz="2200" b="0" i="1">
                            <a:latin typeface="Cambria Math"/>
                            <a:ea typeface="Cambria Math"/>
                          </a:rPr>
                        </m:ctrlPr>
                      </m:sSubPr>
                      <m:e>
                        <m:r>
                          <a:rPr lang="en-US" sz="2200" b="0" i="1">
                            <a:latin typeface="Cambria Math"/>
                            <a:ea typeface="Cambria Math"/>
                          </a:rPr>
                          <m:t>𝑀𝑃</m:t>
                        </m:r>
                      </m:e>
                      <m:sub>
                        <m:r>
                          <a:rPr lang="en-US" sz="2200" b="0" i="1">
                            <a:latin typeface="Cambria Math"/>
                            <a:ea typeface="Cambria Math"/>
                          </a:rPr>
                          <m:t>𝐾</m:t>
                        </m:r>
                      </m:sub>
                    </m:sSub>
                  </m:oMath>
                </a14:m>
                <a:r>
                  <a:rPr sz="2200" dirty="0">
                    <a:solidFill>
                      <a:srgbClr val="555B66"/>
                    </a:solidFill>
                    <a:latin typeface="Calibri"/>
                  </a:rPr>
                  <a:t>   will rise as </a:t>
                </a:r>
                <a:r>
                  <a:rPr lang="en-US" sz="2200" i="1" dirty="0">
                    <a:solidFill>
                      <a:srgbClr val="555B66"/>
                    </a:solidFill>
                    <a:latin typeface="Calibri"/>
                  </a:rPr>
                  <a:t>K</a:t>
                </a:r>
                <a:r>
                  <a:rPr sz="2200" dirty="0">
                    <a:solidFill>
                      <a:srgbClr val="555B66"/>
                    </a:solidFill>
                    <a:latin typeface="Calibri"/>
                  </a:rPr>
                  <a:t> </a:t>
                </a:r>
                <a:r>
                  <a:rPr lang="en-US" sz="2200" dirty="0">
                    <a:solidFill>
                      <a:srgbClr val="555B66"/>
                    </a:solidFill>
                    <a:latin typeface="Calibri"/>
                  </a:rPr>
                  <a:t>de</a:t>
                </a:r>
                <a:r>
                  <a:rPr sz="2200" dirty="0">
                    <a:solidFill>
                      <a:srgbClr val="555B66"/>
                    </a:solidFill>
                    <a:latin typeface="Calibri"/>
                  </a:rPr>
                  <a:t>creases</a:t>
                </a:r>
              </a:p>
              <a:p>
                <a:pPr algn="l">
                  <a:spcBef>
                    <a:spcPts val="1800"/>
                  </a:spcBef>
                </a:pPr>
                <a:r>
                  <a:rPr dirty="0">
                    <a:latin typeface="Calibri"/>
                  </a:rPr>
                  <a:t>If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oMath>
                </a14:m>
                <a:r>
                  <a:rPr dirty="0">
                    <a:latin typeface="Calibri"/>
                  </a:rPr>
                  <a:t> &lt;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r>
                  <a:rPr dirty="0">
                    <a:latin typeface="Calibri"/>
                  </a:rPr>
                  <a:t>   →    use less </a:t>
                </a:r>
                <a:r>
                  <a:rPr i="1" dirty="0">
                    <a:latin typeface="Calibri"/>
                  </a:rPr>
                  <a:t>L</a:t>
                </a:r>
                <a:r>
                  <a:rPr dirty="0">
                    <a:latin typeface="Calibri"/>
                  </a:rPr>
                  <a:t> and more </a:t>
                </a:r>
                <a:r>
                  <a:rPr i="1" dirty="0">
                    <a:latin typeface="Calibri"/>
                  </a:rPr>
                  <a:t>K</a:t>
                </a:r>
              </a:p>
              <a:p>
                <a:pPr algn="l">
                  <a:spcBef>
                    <a:spcPts val="1800"/>
                  </a:spcBef>
                </a:pPr>
                <a:r>
                  <a:rPr dirty="0">
                    <a:latin typeface="Calibri"/>
                  </a:rPr>
                  <a:t>…continue to adjust until    </a:t>
                </a:r>
                <a14:m>
                  <m:oMath xmlns:m="http://schemas.openxmlformats.org/officeDocument/2006/math">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𝐿</m:t>
                            </m:r>
                          </m:sub>
                        </m:sSub>
                      </m:num>
                      <m:den>
                        <m:r>
                          <a:rPr lang="en-US" sz="2800" b="0" i="1">
                            <a:latin typeface="Cambria Math"/>
                            <a:ea typeface="Cambria Math"/>
                          </a:rPr>
                          <m:t>𝑤</m:t>
                        </m:r>
                      </m:den>
                    </m:f>
                    <m:r>
                      <a:rPr lang="en-US" sz="2800" b="0" i="0">
                        <a:latin typeface="Cambria Math"/>
                      </a:rPr>
                      <m:t>  =  </m:t>
                    </m:r>
                    <m:f>
                      <m:fPr>
                        <m:ctrlPr>
                          <a:rPr lang="en-US" sz="2800" b="0" i="1">
                            <a:latin typeface="Cambria Math" panose="02040503050406030204" pitchFamily="18" charset="0"/>
                            <a:ea typeface="Cambria Math"/>
                          </a:rPr>
                        </m:ctrlPr>
                      </m:fPr>
                      <m:num>
                        <m:sSub>
                          <m:sSubPr>
                            <m:ctrlPr>
                              <a:rPr lang="en-US" sz="2800" b="0" i="1">
                                <a:latin typeface="Cambria Math"/>
                                <a:ea typeface="Cambria Math"/>
                              </a:rPr>
                            </m:ctrlPr>
                          </m:sSubPr>
                          <m:e>
                            <m:r>
                              <a:rPr lang="en-US" sz="2800" b="0" i="1">
                                <a:latin typeface="Cambria Math"/>
                                <a:ea typeface="Cambria Math"/>
                              </a:rPr>
                              <m:t>𝑀𝑃</m:t>
                            </m:r>
                          </m:e>
                          <m:sub>
                            <m:r>
                              <a:rPr lang="en-US" sz="2800" b="0" i="1">
                                <a:latin typeface="Cambria Math"/>
                                <a:ea typeface="Cambria Math"/>
                              </a:rPr>
                              <m:t>𝐾</m:t>
                            </m:r>
                          </m:sub>
                        </m:sSub>
                      </m:num>
                      <m:den>
                        <m:sSub>
                          <m:sSubPr>
                            <m:ctrlPr>
                              <a:rPr lang="en-US" sz="2800" b="0" i="1">
                                <a:latin typeface="Cambria Math"/>
                                <a:ea typeface="Cambria Math"/>
                              </a:rPr>
                            </m:ctrlPr>
                          </m:sSubPr>
                          <m:e>
                            <m:r>
                              <a:rPr lang="en-US" sz="2800" b="0" i="1">
                                <a:latin typeface="Cambria Math"/>
                                <a:ea typeface="Cambria Math"/>
                              </a:rPr>
                              <m:t>𝑝</m:t>
                            </m:r>
                          </m:e>
                          <m:sub>
                            <m:r>
                              <a:rPr lang="en-US" sz="2800" b="0" i="1">
                                <a:latin typeface="Cambria Math"/>
                                <a:ea typeface="Cambria Math"/>
                              </a:rPr>
                              <m:t>𝐾</m:t>
                            </m:r>
                          </m:sub>
                        </m:sSub>
                      </m:den>
                    </m:f>
                  </m:oMath>
                </a14:m>
                <a:endParaRPr dirty="0">
                  <a:latin typeface="Calibri"/>
                </a:endParaRPr>
              </a:p>
            </p:txBody>
          </p:sp>
        </mc:Choice>
        <mc:Fallback>
          <p:sp>
            <p:nvSpPr>
              <p:cNvPr id="8" name="TextBox 7"/>
              <p:cNvSpPr txBox="1">
                <a:spLocks noRot="1" noChangeAspect="1" noMove="1" noResize="1" noEditPoints="1" noAdjustHandles="1" noChangeArrowheads="1" noChangeShapeType="1" noTextEdit="1"/>
              </p:cNvSpPr>
              <p:nvPr/>
            </p:nvSpPr>
            <p:spPr>
              <a:xfrm>
                <a:off x="251999" y="1783080"/>
                <a:ext cx="11687697" cy="4243278"/>
              </a:xfrm>
              <a:prstGeom prst="rect">
                <a:avLst/>
              </a:prstGeom>
              <a:blipFill>
                <a:blip r:embed="rId3"/>
                <a:stretch>
                  <a:fillRect l="-1877" t="-2443" b="-862"/>
                </a:stretch>
              </a:blipFill>
            </p:spPr>
            <p:txBody>
              <a:bodyPr/>
              <a:lstStyle/>
              <a:p>
                <a:r>
                  <a:rPr lang="en-US">
                    <a:noFill/>
                  </a:rPr>
                  <a:t> </a:t>
                </a:r>
              </a:p>
            </p:txBody>
          </p:sp>
        </mc:Fallback>
      </mc:AlternateContent>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2" name="TextBox 11"/>
          <p:cNvSpPr txBox="1"/>
          <p:nvPr/>
        </p:nvSpPr>
        <p:spPr>
          <a:xfrm>
            <a:off x="11430000" y="6583680"/>
            <a:ext cx="548640" cy="292608"/>
          </a:xfrm>
          <a:prstGeom prst="rect">
            <a:avLst/>
          </a:prstGeom>
          <a:noFill/>
        </p:spPr>
        <p:txBody>
          <a:bodyPr wrap="square" lIns="0" tIns="0" rIns="0" bIns="0">
            <a:spAutoFit/>
          </a:bodyPr>
          <a:lstStyle/>
          <a:p>
            <a:pPr algn="r"/>
            <a:fld id="{F2CEAF5C-EBDF-477D-A6DF-FA3467609279}" type="slidenum">
              <a:rPr sz="1200" b="0" i="0">
                <a:solidFill>
                  <a:srgbClr val="555B66"/>
                </a:solidFill>
                <a:latin typeface="Calibri"/>
              </a:rPr>
              <a:t>5</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Example:  Rivian's New Georgia Plant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7315200" cy="4023360"/>
          </a:xfrm>
          <a:prstGeom prst="rect">
            <a:avLst/>
          </a:prstGeom>
          <a:noFill/>
        </p:spPr>
        <p:txBody>
          <a:bodyPr wrap="square" lIns="0" tIns="0" rIns="0" bIns="0">
            <a:spAutoFit/>
          </a:bodyPr>
          <a:lstStyle>
            <a:lvl1pPr marL="342900" indent="-342900">
              <a:spcBef>
                <a:spcPts val="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Rivian is building a new plant in Stanton Springs, Georgia</a:t>
            </a:r>
          </a:p>
          <a:p>
            <a:pPr algn="l"/>
            <a:r>
              <a:rPr dirty="0">
                <a:latin typeface="Calibri"/>
              </a:rPr>
              <a:t>They ask for your advice on the optimal mix of robots and workers</a:t>
            </a:r>
          </a:p>
          <a:p>
            <a:pPr algn="l"/>
            <a:r>
              <a:rPr dirty="0">
                <a:latin typeface="Calibri"/>
              </a:rPr>
              <a:t>You know:</a:t>
            </a:r>
          </a:p>
          <a:p>
            <a:pPr lvl="1" algn="l"/>
            <a:r>
              <a:rPr dirty="0">
                <a:latin typeface="Calibri"/>
              </a:rPr>
              <a:t>Current plan:  300 robots and 2,000 workers</a:t>
            </a:r>
          </a:p>
          <a:p>
            <a:pPr lvl="1" algn="l"/>
            <a:r>
              <a:rPr dirty="0">
                <a:latin typeface="Calibri"/>
              </a:rPr>
              <a:t>Weekly wage for suitable workers:  w = $1,200</a:t>
            </a:r>
          </a:p>
          <a:p>
            <a:pPr lvl="1" algn="l"/>
            <a:r>
              <a:rPr dirty="0">
                <a:latin typeface="Calibri"/>
              </a:rPr>
              <a:t>Cost of one robot (per week):  pₖ = $20,000</a:t>
            </a:r>
          </a:p>
          <a:p>
            <a:pPr algn="l"/>
            <a:r>
              <a:rPr dirty="0">
                <a:latin typeface="Calibri"/>
              </a:rPr>
              <a:t>Is Rivian's 300 robots / 2,000 workers plan optimal?</a:t>
            </a:r>
          </a:p>
        </p:txBody>
      </p:sp>
      <p:pic>
        <p:nvPicPr>
          <p:cNvPr id="8" name="Picture 7" descr="_rivian_georgia_plan.png"/>
          <p:cNvPicPr>
            <a:picLocks noChangeAspect="1"/>
          </p:cNvPicPr>
          <p:nvPr/>
        </p:nvPicPr>
        <p:blipFill>
          <a:blip r:embed="rId3"/>
          <a:stretch>
            <a:fillRect/>
          </a:stretch>
        </p:blipFill>
        <p:spPr>
          <a:xfrm>
            <a:off x="7361834" y="1284732"/>
            <a:ext cx="4742992" cy="3163824"/>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9245284" y="5715000"/>
            <a:ext cx="2694412"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49445" y="5715000"/>
            <a:ext cx="1886089" cy="658368"/>
          </a:xfrm>
          <a:prstGeom prst="rect">
            <a:avLst/>
          </a:prstGeom>
          <a:noFill/>
        </p:spPr>
        <p:txBody>
          <a:bodyPr wrap="none" lIns="45720" tIns="18288" rIns="45720" bIns="18288" anchor="ctr">
            <a:spAutoFit/>
          </a:bodyPr>
          <a:lstStyle/>
          <a:p>
            <a:pPr algn="ctr"/>
            <a:r>
              <a:rPr sz="2800" b="1" dirty="0">
                <a:solidFill>
                  <a:srgbClr val="0B2B4E"/>
                </a:solidFill>
                <a:latin typeface="Calibri"/>
              </a:rPr>
              <a:t>Poll Break</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14" name="TextBox 13"/>
          <p:cNvSpPr txBox="1"/>
          <p:nvPr/>
        </p:nvSpPr>
        <p:spPr>
          <a:xfrm>
            <a:off x="11430000" y="6583680"/>
            <a:ext cx="548640" cy="292608"/>
          </a:xfrm>
          <a:prstGeom prst="rect">
            <a:avLst/>
          </a:prstGeom>
          <a:noFill/>
        </p:spPr>
        <p:txBody>
          <a:bodyPr wrap="square" lIns="0" tIns="0" rIns="0" bIns="0">
            <a:spAutoFit/>
          </a:bodyPr>
          <a:lstStyle/>
          <a:p>
            <a:pPr algn="r"/>
            <a:fld id="{A8D09CD3-C099-41A9-B430-04A88A07FE7B}" type="slidenum">
              <a:rPr sz="1200" b="0" i="0">
                <a:solidFill>
                  <a:srgbClr val="555B66"/>
                </a:solidFill>
                <a:latin typeface="Calibri"/>
              </a:rPr>
              <a:t>6</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Is Rivian's Current Plan Optimal?  (Production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8229600" cy="2993127"/>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The production function at Rivian's new plant:</a:t>
            </a:r>
          </a:p>
          <a:p>
            <a:pPr algn="l"/>
            <a:r>
              <a:rPr dirty="0">
                <a:solidFill>
                  <a:srgbClr val="0070C0"/>
                </a:solidFill>
                <a:latin typeface="Calibri"/>
              </a:rPr>
              <a:t>Current mix:  300 robots, 2,000 workers</a:t>
            </a:r>
          </a:p>
          <a:p>
            <a:pPr algn="l"/>
            <a:r>
              <a:rPr dirty="0">
                <a:latin typeface="Calibri"/>
              </a:rPr>
              <a:t>Let's derive the “ingredients” for the bang-for-the-buck rule</a:t>
            </a:r>
          </a:p>
          <a:p>
            <a:pPr lvl="1" algn="l"/>
            <a:r>
              <a:rPr dirty="0">
                <a:latin typeface="Calibri"/>
              </a:rPr>
              <a:t>Convention:  use the next-higher input level (Δ goes forward)</a:t>
            </a:r>
          </a:p>
          <a:p>
            <a:pPr lvl="1" algn="l"/>
            <a:r>
              <a:rPr dirty="0">
                <a:solidFill>
                  <a:srgbClr val="1B5E20"/>
                </a:solidFill>
                <a:latin typeface="Calibri"/>
              </a:rPr>
              <a:t>Labor:   MP</a:t>
            </a:r>
            <a:r>
              <a:rPr lang="en-US" baseline="-25000" dirty="0">
                <a:solidFill>
                  <a:srgbClr val="1B5E20"/>
                </a:solidFill>
                <a:latin typeface="Calibri"/>
              </a:rPr>
              <a:t>L</a:t>
            </a:r>
            <a:r>
              <a:rPr dirty="0">
                <a:solidFill>
                  <a:srgbClr val="1B5E20"/>
                </a:solidFill>
                <a:latin typeface="Calibri"/>
              </a:rPr>
              <a:t>  =  ΔQ / ΔL  =  (571 − 534) / (2,500 − 2,000)  =  0.07</a:t>
            </a:r>
          </a:p>
          <a:p>
            <a:pPr lvl="1" algn="l"/>
            <a:r>
              <a:rPr dirty="0">
                <a:solidFill>
                  <a:srgbClr val="C00000"/>
                </a:solidFill>
                <a:latin typeface="Calibri"/>
              </a:rPr>
              <a:t>Robots:  MP</a:t>
            </a:r>
            <a:r>
              <a:rPr lang="en-US" baseline="-25000" dirty="0">
                <a:solidFill>
                  <a:srgbClr val="C00000"/>
                </a:solidFill>
                <a:latin typeface="Calibri"/>
              </a:rPr>
              <a:t>K</a:t>
            </a:r>
            <a:r>
              <a:rPr dirty="0">
                <a:solidFill>
                  <a:srgbClr val="C00000"/>
                </a:solidFill>
                <a:latin typeface="Calibri"/>
              </a:rPr>
              <a:t>  =  ΔQ / ΔK  =  (617 − 534) / (400 − 300)  =  0.83</a:t>
            </a:r>
          </a:p>
          <a:p>
            <a:pPr algn="l"/>
            <a:r>
              <a:rPr dirty="0">
                <a:latin typeface="Calibri"/>
              </a:rPr>
              <a:t>Now:  Check if Rivian's proposed choice is optimal  (</a:t>
            </a:r>
            <a:r>
              <a:rPr dirty="0" err="1">
                <a:latin typeface="Calibri"/>
              </a:rPr>
              <a:t>PollEV</a:t>
            </a:r>
            <a:r>
              <a:rPr dirty="0">
                <a:latin typeface="Calibri"/>
              </a:rPr>
              <a:t>)</a:t>
            </a:r>
          </a:p>
        </p:txBody>
      </p:sp>
      <p:sp>
        <p:nvSpPr>
          <p:cNvPr id="8" name="Rectangle 7"/>
          <p:cNvSpPr/>
          <p:nvPr/>
        </p:nvSpPr>
        <p:spPr>
          <a:xfrm>
            <a:off x="8732520" y="2103120"/>
            <a:ext cx="2670048" cy="338328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extLst>
              <p:ext uri="{D42A27DB-BD31-4B8C-83A1-F6EECF244321}">
                <p14:modId xmlns:p14="http://schemas.microsoft.com/office/powerpoint/2010/main" val="2305968397"/>
              </p:ext>
            </p:extLst>
          </p:nvPr>
        </p:nvGraphicFramePr>
        <p:xfrm>
          <a:off x="8742567" y="2103120"/>
          <a:ext cx="2670048" cy="3415636"/>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260252">
                <a:tc>
                  <a:txBody>
                    <a:bodyPr/>
                    <a:lstStyle/>
                    <a:p>
                      <a:pPr algn="ctr"/>
                      <a:endParaRPr dirty="0"/>
                    </a:p>
                  </a:txBody>
                  <a:tcPr marL="54864" marR="54864" marT="9144" marB="9144">
                    <a:solidFill>
                      <a:srgbClr val="0B2B4E"/>
                    </a:solidFill>
                  </a:tcPr>
                </a:tc>
                <a:tc>
                  <a:txBody>
                    <a:bodyPr/>
                    <a:lstStyle/>
                    <a:p>
                      <a:pPr algn="ctr"/>
                      <a:r>
                        <a:rPr sz="1100" b="1" dirty="0">
                          <a:solidFill>
                            <a:srgbClr val="FFFFFF"/>
                          </a:solidFill>
                          <a:latin typeface="Calibri"/>
                        </a:rPr>
                        <a:t>100</a:t>
                      </a:r>
                    </a:p>
                  </a:txBody>
                  <a:tcPr marL="54864" marR="54864" marT="9144" marB="9144">
                    <a:solidFill>
                      <a:srgbClr val="0B2B4E"/>
                    </a:solidFill>
                  </a:tcPr>
                </a:tc>
                <a:tc>
                  <a:txBody>
                    <a:bodyPr/>
                    <a:lstStyle/>
                    <a:p>
                      <a:pPr algn="ctr"/>
                      <a:r>
                        <a:rPr sz="1100" b="1">
                          <a:solidFill>
                            <a:srgbClr val="FFFFFF"/>
                          </a:solidFill>
                          <a:latin typeface="Calibri"/>
                        </a:rPr>
                        <a:t>200</a:t>
                      </a:r>
                    </a:p>
                  </a:txBody>
                  <a:tcPr marL="54864" marR="54864" marT="9144" marB="9144">
                    <a:solidFill>
                      <a:srgbClr val="0B2B4E"/>
                    </a:solidFill>
                  </a:tcPr>
                </a:tc>
                <a:tc>
                  <a:txBody>
                    <a:bodyPr/>
                    <a:lstStyle/>
                    <a:p>
                      <a:pPr algn="ctr"/>
                      <a:r>
                        <a:rPr sz="1100" b="1">
                          <a:solidFill>
                            <a:srgbClr val="FFFFFF"/>
                          </a:solidFill>
                          <a:latin typeface="Calibri"/>
                        </a:rPr>
                        <a:t>300</a:t>
                      </a:r>
                    </a:p>
                  </a:txBody>
                  <a:tcPr marL="54864" marR="54864" marT="9144" marB="9144">
                    <a:solidFill>
                      <a:srgbClr val="0B2B4E"/>
                    </a:solidFill>
                  </a:tcPr>
                </a:tc>
                <a:tc>
                  <a:txBody>
                    <a:bodyPr/>
                    <a:lstStyle/>
                    <a:p>
                      <a:pPr algn="ctr"/>
                      <a:r>
                        <a:rPr sz="1100" b="1">
                          <a:solidFill>
                            <a:srgbClr val="FFFFFF"/>
                          </a:solidFill>
                          <a:latin typeface="Calibri"/>
                        </a:rPr>
                        <a:t>400</a:t>
                      </a:r>
                    </a:p>
                  </a:txBody>
                  <a:tcPr marL="54864" marR="54864" marT="9144" marB="9144">
                    <a:solidFill>
                      <a:srgbClr val="0B2B4E"/>
                    </a:solidFill>
                  </a:tcPr>
                </a:tc>
                <a:extLst>
                  <a:ext uri="{0D108BD9-81ED-4DB2-BD59-A6C34878D82A}">
                    <a16:rowId xmlns:a16="http://schemas.microsoft.com/office/drawing/2014/main" val="10000"/>
                  </a:ext>
                </a:extLst>
              </a:tr>
              <a:tr h="260252">
                <a:tc>
                  <a:txBody>
                    <a:bodyPr/>
                    <a:lstStyle/>
                    <a:p>
                      <a:pPr algn="ctr"/>
                      <a:r>
                        <a:rPr sz="1100" b="1">
                          <a:solidFill>
                            <a:srgbClr val="FFFFFF"/>
                          </a:solidFill>
                          <a:latin typeface="Calibri"/>
                        </a:rPr>
                        <a:t>0</a:t>
                      </a:r>
                    </a:p>
                  </a:txBody>
                  <a:tcPr marL="54864" marR="54864" marT="9144" marB="9144">
                    <a:solidFill>
                      <a:srgbClr val="0B2B4E"/>
                    </a:solidFill>
                  </a:tcPr>
                </a:tc>
                <a:tc>
                  <a:txBody>
                    <a:bodyPr/>
                    <a:lstStyle/>
                    <a:p>
                      <a:pPr algn="ctr"/>
                      <a:r>
                        <a:rPr sz="1100" dirty="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tc>
                  <a:txBody>
                    <a:bodyPr/>
                    <a:lstStyle/>
                    <a:p>
                      <a:pPr algn="ctr"/>
                      <a:r>
                        <a:rPr sz="1100">
                          <a:solidFill>
                            <a:srgbClr val="0B2B4E"/>
                          </a:solidFill>
                          <a:latin typeface="Calibri"/>
                        </a:rPr>
                        <a:t>0</a:t>
                      </a:r>
                    </a:p>
                  </a:txBody>
                  <a:tcPr marL="54864" marR="54864" marT="9144" marB="9144">
                    <a:solidFill>
                      <a:srgbClr val="FFFFFF"/>
                    </a:solidFill>
                  </a:tcPr>
                </a:tc>
                <a:extLst>
                  <a:ext uri="{0D108BD9-81ED-4DB2-BD59-A6C34878D82A}">
                    <a16:rowId xmlns:a16="http://schemas.microsoft.com/office/drawing/2014/main" val="10001"/>
                  </a:ext>
                </a:extLst>
              </a:tr>
              <a:tr h="260252">
                <a:tc>
                  <a:txBody>
                    <a:bodyPr/>
                    <a:lstStyle/>
                    <a:p>
                      <a:pPr algn="ctr"/>
                      <a:r>
                        <a:rPr sz="1100" b="1">
                          <a:solidFill>
                            <a:srgbClr val="FFFFFF"/>
                          </a:solidFill>
                          <a:latin typeface="Calibri"/>
                        </a:rPr>
                        <a:t>250</a:t>
                      </a:r>
                    </a:p>
                  </a:txBody>
                  <a:tcPr marL="54864" marR="54864" marT="9144" marB="9144">
                    <a:solidFill>
                      <a:srgbClr val="0B2B4E"/>
                    </a:solidFill>
                  </a:tcPr>
                </a:tc>
                <a:tc>
                  <a:txBody>
                    <a:bodyPr/>
                    <a:lstStyle/>
                    <a:p>
                      <a:pPr algn="ctr"/>
                      <a:r>
                        <a:rPr sz="1100">
                          <a:solidFill>
                            <a:srgbClr val="0B2B4E"/>
                          </a:solidFill>
                          <a:latin typeface="Calibri"/>
                        </a:rPr>
                        <a:t>165</a:t>
                      </a:r>
                    </a:p>
                  </a:txBody>
                  <a:tcPr marL="54864" marR="54864" marT="9144" marB="9144">
                    <a:solidFill>
                      <a:srgbClr val="FFFFFF"/>
                    </a:solidFill>
                  </a:tcPr>
                </a:tc>
                <a:tc>
                  <a:txBody>
                    <a:bodyPr/>
                    <a:lstStyle/>
                    <a:p>
                      <a:pPr algn="ctr"/>
                      <a:r>
                        <a:rPr sz="1100">
                          <a:solidFill>
                            <a:srgbClr val="0B2B4E"/>
                          </a:solidFill>
                          <a:latin typeface="Calibri"/>
                        </a:rPr>
                        <a:t>234</a:t>
                      </a:r>
                    </a:p>
                  </a:txBody>
                  <a:tcPr marL="54864" marR="54864" marT="9144" marB="9144">
                    <a:solidFill>
                      <a:srgbClr val="FFFFFF"/>
                    </a:solidFill>
                  </a:tcPr>
                </a:tc>
                <a:tc>
                  <a:txBody>
                    <a:bodyPr/>
                    <a:lstStyle/>
                    <a:p>
                      <a:pPr algn="ctr"/>
                      <a:r>
                        <a:rPr sz="1100">
                          <a:solidFill>
                            <a:srgbClr val="0B2B4E"/>
                          </a:solidFill>
                          <a:latin typeface="Calibri"/>
                        </a:rPr>
                        <a:t>286</a:t>
                      </a:r>
                    </a:p>
                  </a:txBody>
                  <a:tcPr marL="54864" marR="54864" marT="9144" marB="9144">
                    <a:solidFill>
                      <a:srgbClr val="FFFFFF"/>
                    </a:solidFill>
                  </a:tcPr>
                </a:tc>
                <a:tc>
                  <a:txBody>
                    <a:bodyPr/>
                    <a:lstStyle/>
                    <a:p>
                      <a:pPr algn="ctr"/>
                      <a:r>
                        <a:rPr sz="1100">
                          <a:solidFill>
                            <a:srgbClr val="0B2B4E"/>
                          </a:solidFill>
                          <a:latin typeface="Calibri"/>
                        </a:rPr>
                        <a:t>331</a:t>
                      </a:r>
                    </a:p>
                  </a:txBody>
                  <a:tcPr marL="54864" marR="54864" marT="9144" marB="9144">
                    <a:solidFill>
                      <a:srgbClr val="FFFFFF"/>
                    </a:solidFill>
                  </a:tcPr>
                </a:tc>
                <a:extLst>
                  <a:ext uri="{0D108BD9-81ED-4DB2-BD59-A6C34878D82A}">
                    <a16:rowId xmlns:a16="http://schemas.microsoft.com/office/drawing/2014/main" val="10002"/>
                  </a:ext>
                </a:extLst>
              </a:tr>
              <a:tr h="260252">
                <a:tc>
                  <a:txBody>
                    <a:bodyPr/>
                    <a:lstStyle/>
                    <a:p>
                      <a:pPr algn="ctr"/>
                      <a:r>
                        <a:rPr sz="1100" b="1">
                          <a:solidFill>
                            <a:srgbClr val="FFFFFF"/>
                          </a:solidFill>
                          <a:latin typeface="Calibri"/>
                        </a:rPr>
                        <a:t>500</a:t>
                      </a:r>
                    </a:p>
                  </a:txBody>
                  <a:tcPr marL="54864" marR="54864" marT="9144" marB="9144">
                    <a:solidFill>
                      <a:srgbClr val="0B2B4E"/>
                    </a:solidFill>
                  </a:tcPr>
                </a:tc>
                <a:tc>
                  <a:txBody>
                    <a:bodyPr/>
                    <a:lstStyle/>
                    <a:p>
                      <a:pPr algn="ctr"/>
                      <a:r>
                        <a:rPr sz="1100">
                          <a:solidFill>
                            <a:srgbClr val="0B2B4E"/>
                          </a:solidFill>
                          <a:latin typeface="Calibri"/>
                        </a:rPr>
                        <a:t>204</a:t>
                      </a:r>
                    </a:p>
                  </a:txBody>
                  <a:tcPr marL="54864" marR="54864" marT="9144" marB="9144">
                    <a:solidFill>
                      <a:srgbClr val="FFFFFF"/>
                    </a:solidFill>
                  </a:tcPr>
                </a:tc>
                <a:tc>
                  <a:txBody>
                    <a:bodyPr/>
                    <a:lstStyle/>
                    <a:p>
                      <a:pPr algn="ctr"/>
                      <a:r>
                        <a:rPr sz="1100">
                          <a:solidFill>
                            <a:srgbClr val="0B2B4E"/>
                          </a:solidFill>
                          <a:latin typeface="Calibri"/>
                        </a:rPr>
                        <a:t>288</a:t>
                      </a:r>
                    </a:p>
                  </a:txBody>
                  <a:tcPr marL="54864" marR="54864" marT="9144" marB="9144">
                    <a:solidFill>
                      <a:srgbClr val="FFFFFF"/>
                    </a:solidFill>
                  </a:tcPr>
                </a:tc>
                <a:tc>
                  <a:txBody>
                    <a:bodyPr/>
                    <a:lstStyle/>
                    <a:p>
                      <a:pPr algn="ctr"/>
                      <a:r>
                        <a:rPr sz="1100">
                          <a:solidFill>
                            <a:srgbClr val="0B2B4E"/>
                          </a:solidFill>
                          <a:latin typeface="Calibri"/>
                        </a:rPr>
                        <a:t>353</a:t>
                      </a:r>
                    </a:p>
                  </a:txBody>
                  <a:tcPr marL="54864" marR="54864" marT="9144" marB="9144">
                    <a:solidFill>
                      <a:srgbClr val="FFFFFF"/>
                    </a:solidFill>
                  </a:tcPr>
                </a:tc>
                <a:tc>
                  <a:txBody>
                    <a:bodyPr/>
                    <a:lstStyle/>
                    <a:p>
                      <a:pPr algn="ctr"/>
                      <a:r>
                        <a:rPr sz="1100" dirty="0">
                          <a:solidFill>
                            <a:srgbClr val="0B2B4E"/>
                          </a:solidFill>
                          <a:latin typeface="Calibri"/>
                        </a:rPr>
                        <a:t>407</a:t>
                      </a:r>
                    </a:p>
                  </a:txBody>
                  <a:tcPr marL="54864" marR="54864" marT="9144" marB="9144">
                    <a:solidFill>
                      <a:srgbClr val="FFFFFF"/>
                    </a:solidFill>
                  </a:tcPr>
                </a:tc>
                <a:extLst>
                  <a:ext uri="{0D108BD9-81ED-4DB2-BD59-A6C34878D82A}">
                    <a16:rowId xmlns:a16="http://schemas.microsoft.com/office/drawing/2014/main" val="10003"/>
                  </a:ext>
                </a:extLst>
              </a:tr>
              <a:tr h="260252">
                <a:tc>
                  <a:txBody>
                    <a:bodyPr/>
                    <a:lstStyle/>
                    <a:p>
                      <a:pPr algn="ctr"/>
                      <a:r>
                        <a:rPr sz="1100" b="1">
                          <a:solidFill>
                            <a:srgbClr val="FFFFFF"/>
                          </a:solidFill>
                          <a:latin typeface="Calibri"/>
                        </a:rPr>
                        <a:t>1,000</a:t>
                      </a:r>
                    </a:p>
                  </a:txBody>
                  <a:tcPr marL="54864" marR="54864" marT="9144" marB="9144">
                    <a:solidFill>
                      <a:srgbClr val="0B2B4E"/>
                    </a:solidFill>
                  </a:tcPr>
                </a:tc>
                <a:tc>
                  <a:txBody>
                    <a:bodyPr/>
                    <a:lstStyle/>
                    <a:p>
                      <a:pPr algn="ctr"/>
                      <a:r>
                        <a:rPr sz="1100">
                          <a:solidFill>
                            <a:srgbClr val="0B2B4E"/>
                          </a:solidFill>
                          <a:latin typeface="Calibri"/>
                        </a:rPr>
                        <a:t>251</a:t>
                      </a:r>
                    </a:p>
                  </a:txBody>
                  <a:tcPr marL="54864" marR="54864" marT="9144" marB="9144">
                    <a:solidFill>
                      <a:srgbClr val="FFFFFF"/>
                    </a:solidFill>
                  </a:tcPr>
                </a:tc>
                <a:tc>
                  <a:txBody>
                    <a:bodyPr/>
                    <a:lstStyle/>
                    <a:p>
                      <a:pPr algn="ctr"/>
                      <a:r>
                        <a:rPr sz="1100">
                          <a:solidFill>
                            <a:srgbClr val="0B2B4E"/>
                          </a:solidFill>
                          <a:latin typeface="Calibri"/>
                        </a:rPr>
                        <a:t>354</a:t>
                      </a:r>
                    </a:p>
                  </a:txBody>
                  <a:tcPr marL="54864" marR="54864" marT="9144" marB="9144">
                    <a:solidFill>
                      <a:srgbClr val="FFFFFF"/>
                    </a:solidFill>
                  </a:tcPr>
                </a:tc>
                <a:tc>
                  <a:txBody>
                    <a:bodyPr/>
                    <a:lstStyle/>
                    <a:p>
                      <a:pPr algn="ctr"/>
                      <a:r>
                        <a:rPr sz="1100">
                          <a:solidFill>
                            <a:srgbClr val="0B2B4E"/>
                          </a:solidFill>
                          <a:latin typeface="Calibri"/>
                        </a:rPr>
                        <a:t>434</a:t>
                      </a:r>
                    </a:p>
                  </a:txBody>
                  <a:tcPr marL="54864" marR="54864" marT="9144" marB="9144">
                    <a:solidFill>
                      <a:srgbClr val="FFFFFF"/>
                    </a:solidFill>
                  </a:tcPr>
                </a:tc>
                <a:tc>
                  <a:txBody>
                    <a:bodyPr/>
                    <a:lstStyle/>
                    <a:p>
                      <a:pPr algn="ctr"/>
                      <a:r>
                        <a:rPr sz="1100">
                          <a:solidFill>
                            <a:srgbClr val="0B2B4E"/>
                          </a:solidFill>
                          <a:latin typeface="Calibri"/>
                        </a:rPr>
                        <a:t>501</a:t>
                      </a:r>
                    </a:p>
                  </a:txBody>
                  <a:tcPr marL="54864" marR="54864" marT="9144" marB="9144">
                    <a:solidFill>
                      <a:srgbClr val="FFFFFF"/>
                    </a:solidFill>
                  </a:tcPr>
                </a:tc>
                <a:extLst>
                  <a:ext uri="{0D108BD9-81ED-4DB2-BD59-A6C34878D82A}">
                    <a16:rowId xmlns:a16="http://schemas.microsoft.com/office/drawing/2014/main" val="10004"/>
                  </a:ext>
                </a:extLst>
              </a:tr>
              <a:tr h="260252">
                <a:tc>
                  <a:txBody>
                    <a:bodyPr/>
                    <a:lstStyle/>
                    <a:p>
                      <a:pPr algn="ctr"/>
                      <a:r>
                        <a:rPr sz="1100" b="1">
                          <a:solidFill>
                            <a:srgbClr val="FFFFFF"/>
                          </a:solidFill>
                          <a:latin typeface="Calibri"/>
                        </a:rPr>
                        <a:t>1,500</a:t>
                      </a:r>
                    </a:p>
                  </a:txBody>
                  <a:tcPr marL="54864" marR="54864" marT="9144" marB="9144">
                    <a:solidFill>
                      <a:srgbClr val="0B2B4E"/>
                    </a:solidFill>
                  </a:tcPr>
                </a:tc>
                <a:tc>
                  <a:txBody>
                    <a:bodyPr/>
                    <a:lstStyle/>
                    <a:p>
                      <a:pPr algn="ctr"/>
                      <a:r>
                        <a:rPr sz="1100">
                          <a:solidFill>
                            <a:srgbClr val="0B2B4E"/>
                          </a:solidFill>
                          <a:latin typeface="Calibri"/>
                        </a:rPr>
                        <a:t>283</a:t>
                      </a:r>
                    </a:p>
                  </a:txBody>
                  <a:tcPr marL="54864" marR="54864" marT="9144" marB="9144">
                    <a:solidFill>
                      <a:srgbClr val="FFFFFF"/>
                    </a:solidFill>
                  </a:tcPr>
                </a:tc>
                <a:tc>
                  <a:txBody>
                    <a:bodyPr/>
                    <a:lstStyle/>
                    <a:p>
                      <a:pPr algn="ctr"/>
                      <a:r>
                        <a:rPr sz="1100">
                          <a:solidFill>
                            <a:srgbClr val="0B2B4E"/>
                          </a:solidFill>
                          <a:latin typeface="Calibri"/>
                        </a:rPr>
                        <a:t>400</a:t>
                      </a:r>
                    </a:p>
                  </a:txBody>
                  <a:tcPr marL="54864" marR="54864" marT="9144" marB="9144">
                    <a:solidFill>
                      <a:srgbClr val="FFFFFF"/>
                    </a:solidFill>
                  </a:tcPr>
                </a:tc>
                <a:tc>
                  <a:txBody>
                    <a:bodyPr/>
                    <a:lstStyle/>
                    <a:p>
                      <a:pPr algn="ctr"/>
                      <a:r>
                        <a:rPr sz="1100">
                          <a:solidFill>
                            <a:srgbClr val="0B2B4E"/>
                          </a:solidFill>
                          <a:latin typeface="Calibri"/>
                        </a:rPr>
                        <a:t>490</a:t>
                      </a:r>
                    </a:p>
                  </a:txBody>
                  <a:tcPr marL="54864" marR="54864" marT="9144" marB="9144">
                    <a:solidFill>
                      <a:srgbClr val="FFFFFF"/>
                    </a:solidFill>
                  </a:tcPr>
                </a:tc>
                <a:tc>
                  <a:txBody>
                    <a:bodyPr/>
                    <a:lstStyle/>
                    <a:p>
                      <a:pPr algn="ctr"/>
                      <a:r>
                        <a:rPr sz="1100">
                          <a:solidFill>
                            <a:srgbClr val="0B2B4E"/>
                          </a:solidFill>
                          <a:latin typeface="Calibri"/>
                        </a:rPr>
                        <a:t>566</a:t>
                      </a:r>
                    </a:p>
                  </a:txBody>
                  <a:tcPr marL="54864" marR="54864" marT="9144" marB="9144">
                    <a:solidFill>
                      <a:srgbClr val="FFFFFF"/>
                    </a:solidFill>
                  </a:tcPr>
                </a:tc>
                <a:extLst>
                  <a:ext uri="{0D108BD9-81ED-4DB2-BD59-A6C34878D82A}">
                    <a16:rowId xmlns:a16="http://schemas.microsoft.com/office/drawing/2014/main" val="10005"/>
                  </a:ext>
                </a:extLst>
              </a:tr>
              <a:tr h="260252">
                <a:tc>
                  <a:txBody>
                    <a:bodyPr/>
                    <a:lstStyle/>
                    <a:p>
                      <a:pPr algn="ctr"/>
                      <a:r>
                        <a:rPr sz="1100" b="1">
                          <a:solidFill>
                            <a:srgbClr val="FFFFFF"/>
                          </a:solidFill>
                          <a:latin typeface="Calibri"/>
                        </a:rPr>
                        <a:t>2,000</a:t>
                      </a:r>
                    </a:p>
                  </a:txBody>
                  <a:tcPr marL="54864" marR="54864" marT="9144" marB="9144">
                    <a:solidFill>
                      <a:srgbClr val="0B2B4E"/>
                    </a:solidFill>
                  </a:tcPr>
                </a:tc>
                <a:tc>
                  <a:txBody>
                    <a:bodyPr/>
                    <a:lstStyle/>
                    <a:p>
                      <a:pPr algn="ctr"/>
                      <a:r>
                        <a:rPr sz="1100">
                          <a:solidFill>
                            <a:srgbClr val="0B2B4E"/>
                          </a:solidFill>
                          <a:latin typeface="Calibri"/>
                        </a:rPr>
                        <a:t>309</a:t>
                      </a:r>
                    </a:p>
                  </a:txBody>
                  <a:tcPr marL="54864" marR="54864" marT="9144" marB="9144">
                    <a:solidFill>
                      <a:srgbClr val="FFFFFF"/>
                    </a:solidFill>
                  </a:tcPr>
                </a:tc>
                <a:tc>
                  <a:txBody>
                    <a:bodyPr/>
                    <a:lstStyle/>
                    <a:p>
                      <a:pPr algn="ctr"/>
                      <a:r>
                        <a:rPr sz="1100">
                          <a:solidFill>
                            <a:srgbClr val="0B2B4E"/>
                          </a:solidFill>
                          <a:latin typeface="Calibri"/>
                        </a:rPr>
                        <a:t>436</a:t>
                      </a:r>
                    </a:p>
                  </a:txBody>
                  <a:tcPr marL="54864" marR="54864" marT="9144" marB="9144">
                    <a:solidFill>
                      <a:srgbClr val="FFFFFF"/>
                    </a:solidFill>
                  </a:tcPr>
                </a:tc>
                <a:tc>
                  <a:txBody>
                    <a:bodyPr/>
                    <a:lstStyle/>
                    <a:p>
                      <a:pPr algn="ctr"/>
                      <a:r>
                        <a:rPr sz="1100">
                          <a:solidFill>
                            <a:srgbClr val="0B2B4E"/>
                          </a:solidFill>
                          <a:latin typeface="Calibri"/>
                        </a:rPr>
                        <a:t>534</a:t>
                      </a:r>
                    </a:p>
                  </a:txBody>
                  <a:tcPr marL="54864" marR="54864" marT="9144" marB="9144">
                    <a:solidFill>
                      <a:srgbClr val="FFFFFF"/>
                    </a:solidFill>
                  </a:tcPr>
                </a:tc>
                <a:tc>
                  <a:txBody>
                    <a:bodyPr/>
                    <a:lstStyle/>
                    <a:p>
                      <a:pPr algn="ctr"/>
                      <a:r>
                        <a:rPr sz="1100">
                          <a:solidFill>
                            <a:srgbClr val="0B2B4E"/>
                          </a:solidFill>
                          <a:latin typeface="Calibri"/>
                        </a:rPr>
                        <a:t>617</a:t>
                      </a:r>
                    </a:p>
                  </a:txBody>
                  <a:tcPr marL="54864" marR="54864" marT="9144" marB="9144">
                    <a:solidFill>
                      <a:srgbClr val="FFFFFF"/>
                    </a:solidFill>
                  </a:tcPr>
                </a:tc>
                <a:extLst>
                  <a:ext uri="{0D108BD9-81ED-4DB2-BD59-A6C34878D82A}">
                    <a16:rowId xmlns:a16="http://schemas.microsoft.com/office/drawing/2014/main" val="10006"/>
                  </a:ext>
                </a:extLst>
              </a:tr>
              <a:tr h="260252">
                <a:tc>
                  <a:txBody>
                    <a:bodyPr/>
                    <a:lstStyle/>
                    <a:p>
                      <a:pPr algn="ctr"/>
                      <a:r>
                        <a:rPr sz="1100" b="1">
                          <a:solidFill>
                            <a:srgbClr val="FFFFFF"/>
                          </a:solidFill>
                          <a:latin typeface="Calibri"/>
                        </a:rPr>
                        <a:t>2,500</a:t>
                      </a:r>
                    </a:p>
                  </a:txBody>
                  <a:tcPr marL="54864" marR="54864" marT="9144" marB="9144">
                    <a:solidFill>
                      <a:srgbClr val="0B2B4E"/>
                    </a:solidFill>
                  </a:tcPr>
                </a:tc>
                <a:tc>
                  <a:txBody>
                    <a:bodyPr/>
                    <a:lstStyle/>
                    <a:p>
                      <a:pPr algn="ctr"/>
                      <a:r>
                        <a:rPr sz="1100">
                          <a:solidFill>
                            <a:srgbClr val="0B2B4E"/>
                          </a:solidFill>
                          <a:latin typeface="Calibri"/>
                        </a:rPr>
                        <a:t>330</a:t>
                      </a:r>
                    </a:p>
                  </a:txBody>
                  <a:tcPr marL="54864" marR="54864" marT="9144" marB="9144">
                    <a:solidFill>
                      <a:srgbClr val="FFFFFF"/>
                    </a:solidFill>
                  </a:tcPr>
                </a:tc>
                <a:tc>
                  <a:txBody>
                    <a:bodyPr/>
                    <a:lstStyle/>
                    <a:p>
                      <a:pPr algn="ctr"/>
                      <a:r>
                        <a:rPr sz="1100">
                          <a:solidFill>
                            <a:srgbClr val="0B2B4E"/>
                          </a:solidFill>
                          <a:latin typeface="Calibri"/>
                        </a:rPr>
                        <a:t>467</a:t>
                      </a:r>
                    </a:p>
                  </a:txBody>
                  <a:tcPr marL="54864" marR="54864" marT="9144" marB="9144">
                    <a:solidFill>
                      <a:srgbClr val="FFFFFF"/>
                    </a:solidFill>
                  </a:tcPr>
                </a:tc>
                <a:tc>
                  <a:txBody>
                    <a:bodyPr/>
                    <a:lstStyle/>
                    <a:p>
                      <a:pPr algn="ctr"/>
                      <a:r>
                        <a:rPr sz="1100">
                          <a:solidFill>
                            <a:srgbClr val="0B2B4E"/>
                          </a:solidFill>
                          <a:latin typeface="Calibri"/>
                        </a:rPr>
                        <a:t>571</a:t>
                      </a:r>
                    </a:p>
                  </a:txBody>
                  <a:tcPr marL="54864" marR="54864" marT="9144" marB="9144">
                    <a:solidFill>
                      <a:srgbClr val="FFFFFF"/>
                    </a:solidFill>
                  </a:tcPr>
                </a:tc>
                <a:tc>
                  <a:txBody>
                    <a:bodyPr/>
                    <a:lstStyle/>
                    <a:p>
                      <a:pPr algn="ctr"/>
                      <a:r>
                        <a:rPr sz="1100">
                          <a:solidFill>
                            <a:srgbClr val="0B2B4E"/>
                          </a:solidFill>
                          <a:latin typeface="Calibri"/>
                        </a:rPr>
                        <a:t>660</a:t>
                      </a:r>
                    </a:p>
                  </a:txBody>
                  <a:tcPr marL="54864" marR="54864" marT="9144" marB="9144">
                    <a:solidFill>
                      <a:srgbClr val="FFFFFF"/>
                    </a:solidFill>
                  </a:tcPr>
                </a:tc>
                <a:extLst>
                  <a:ext uri="{0D108BD9-81ED-4DB2-BD59-A6C34878D82A}">
                    <a16:rowId xmlns:a16="http://schemas.microsoft.com/office/drawing/2014/main" val="10007"/>
                  </a:ext>
                </a:extLst>
              </a:tr>
              <a:tr h="260252">
                <a:tc>
                  <a:txBody>
                    <a:bodyPr/>
                    <a:lstStyle/>
                    <a:p>
                      <a:pPr algn="ctr"/>
                      <a:r>
                        <a:rPr sz="1100" b="1">
                          <a:solidFill>
                            <a:srgbClr val="FFFFFF"/>
                          </a:solidFill>
                          <a:latin typeface="Calibri"/>
                        </a:rPr>
                        <a:t>3,000</a:t>
                      </a:r>
                    </a:p>
                  </a:txBody>
                  <a:tcPr marL="54864" marR="54864" marT="9144" marB="9144">
                    <a:solidFill>
                      <a:srgbClr val="0B2B4E"/>
                    </a:solidFill>
                  </a:tcPr>
                </a:tc>
                <a:tc>
                  <a:txBody>
                    <a:bodyPr/>
                    <a:lstStyle/>
                    <a:p>
                      <a:pPr algn="ctr"/>
                      <a:r>
                        <a:rPr sz="1100">
                          <a:solidFill>
                            <a:srgbClr val="0B2B4E"/>
                          </a:solidFill>
                          <a:latin typeface="Calibri"/>
                        </a:rPr>
                        <a:t>348</a:t>
                      </a:r>
                    </a:p>
                  </a:txBody>
                  <a:tcPr marL="54864" marR="54864" marT="9144" marB="9144">
                    <a:solidFill>
                      <a:srgbClr val="FFFFFF"/>
                    </a:solidFill>
                  </a:tcPr>
                </a:tc>
                <a:tc>
                  <a:txBody>
                    <a:bodyPr/>
                    <a:lstStyle/>
                    <a:p>
                      <a:pPr algn="ctr"/>
                      <a:r>
                        <a:rPr sz="1100">
                          <a:solidFill>
                            <a:srgbClr val="0B2B4E"/>
                          </a:solidFill>
                          <a:latin typeface="Calibri"/>
                        </a:rPr>
                        <a:t>493</a:t>
                      </a:r>
                    </a:p>
                  </a:txBody>
                  <a:tcPr marL="54864" marR="54864" marT="9144" marB="9144">
                    <a:solidFill>
                      <a:srgbClr val="FFFFFF"/>
                    </a:solidFill>
                  </a:tcPr>
                </a:tc>
                <a:tc>
                  <a:txBody>
                    <a:bodyPr/>
                    <a:lstStyle/>
                    <a:p>
                      <a:pPr algn="ctr"/>
                      <a:r>
                        <a:rPr sz="1100">
                          <a:solidFill>
                            <a:srgbClr val="0B2B4E"/>
                          </a:solidFill>
                          <a:latin typeface="Calibri"/>
                        </a:rPr>
                        <a:t>604</a:t>
                      </a:r>
                    </a:p>
                  </a:txBody>
                  <a:tcPr marL="54864" marR="54864" marT="9144" marB="9144">
                    <a:solidFill>
                      <a:srgbClr val="FFFFFF"/>
                    </a:solidFill>
                  </a:tcPr>
                </a:tc>
                <a:tc>
                  <a:txBody>
                    <a:bodyPr/>
                    <a:lstStyle/>
                    <a:p>
                      <a:pPr algn="ctr"/>
                      <a:r>
                        <a:rPr sz="1100">
                          <a:solidFill>
                            <a:srgbClr val="0B2B4E"/>
                          </a:solidFill>
                          <a:latin typeface="Calibri"/>
                        </a:rPr>
                        <a:t>697</a:t>
                      </a:r>
                    </a:p>
                  </a:txBody>
                  <a:tcPr marL="54864" marR="54864" marT="9144" marB="9144">
                    <a:solidFill>
                      <a:srgbClr val="FFFFFF"/>
                    </a:solidFill>
                  </a:tcPr>
                </a:tc>
                <a:extLst>
                  <a:ext uri="{0D108BD9-81ED-4DB2-BD59-A6C34878D82A}">
                    <a16:rowId xmlns:a16="http://schemas.microsoft.com/office/drawing/2014/main" val="10008"/>
                  </a:ext>
                </a:extLst>
              </a:tr>
              <a:tr h="260252">
                <a:tc>
                  <a:txBody>
                    <a:bodyPr/>
                    <a:lstStyle/>
                    <a:p>
                      <a:pPr algn="ctr"/>
                      <a:r>
                        <a:rPr sz="1100" b="1">
                          <a:solidFill>
                            <a:srgbClr val="FFFFFF"/>
                          </a:solidFill>
                          <a:latin typeface="Calibri"/>
                        </a:rPr>
                        <a:t>3,500</a:t>
                      </a:r>
                    </a:p>
                  </a:txBody>
                  <a:tcPr marL="54864" marR="54864" marT="9144" marB="9144">
                    <a:solidFill>
                      <a:srgbClr val="0B2B4E"/>
                    </a:solidFill>
                  </a:tcPr>
                </a:tc>
                <a:tc>
                  <a:txBody>
                    <a:bodyPr/>
                    <a:lstStyle/>
                    <a:p>
                      <a:pPr algn="ctr"/>
                      <a:r>
                        <a:rPr sz="1100">
                          <a:solidFill>
                            <a:srgbClr val="0B2B4E"/>
                          </a:solidFill>
                          <a:latin typeface="Calibri"/>
                        </a:rPr>
                        <a:t>365</a:t>
                      </a:r>
                    </a:p>
                  </a:txBody>
                  <a:tcPr marL="54864" marR="54864" marT="9144" marB="9144">
                    <a:solidFill>
                      <a:srgbClr val="FFFFFF"/>
                    </a:solidFill>
                  </a:tcPr>
                </a:tc>
                <a:tc>
                  <a:txBody>
                    <a:bodyPr/>
                    <a:lstStyle/>
                    <a:p>
                      <a:pPr algn="ctr"/>
                      <a:r>
                        <a:rPr sz="1100">
                          <a:solidFill>
                            <a:srgbClr val="0B2B4E"/>
                          </a:solidFill>
                          <a:latin typeface="Calibri"/>
                        </a:rPr>
                        <a:t>516</a:t>
                      </a:r>
                    </a:p>
                  </a:txBody>
                  <a:tcPr marL="54864" marR="54864" marT="9144" marB="9144">
                    <a:solidFill>
                      <a:srgbClr val="FFFFFF"/>
                    </a:solidFill>
                  </a:tcPr>
                </a:tc>
                <a:tc>
                  <a:txBody>
                    <a:bodyPr/>
                    <a:lstStyle/>
                    <a:p>
                      <a:pPr algn="ctr"/>
                      <a:r>
                        <a:rPr sz="1100">
                          <a:solidFill>
                            <a:srgbClr val="0B2B4E"/>
                          </a:solidFill>
                          <a:latin typeface="Calibri"/>
                        </a:rPr>
                        <a:t>632</a:t>
                      </a:r>
                    </a:p>
                  </a:txBody>
                  <a:tcPr marL="54864" marR="54864" marT="9144" marB="9144">
                    <a:solidFill>
                      <a:srgbClr val="FFFFFF"/>
                    </a:solidFill>
                  </a:tcPr>
                </a:tc>
                <a:tc>
                  <a:txBody>
                    <a:bodyPr/>
                    <a:lstStyle/>
                    <a:p>
                      <a:pPr algn="ctr"/>
                      <a:r>
                        <a:rPr sz="1100">
                          <a:solidFill>
                            <a:srgbClr val="0B2B4E"/>
                          </a:solidFill>
                          <a:latin typeface="Calibri"/>
                        </a:rPr>
                        <a:t>730</a:t>
                      </a:r>
                    </a:p>
                  </a:txBody>
                  <a:tcPr marL="54864" marR="54864" marT="9144" marB="9144">
                    <a:solidFill>
                      <a:srgbClr val="FFFFFF"/>
                    </a:solidFill>
                  </a:tcPr>
                </a:tc>
                <a:extLst>
                  <a:ext uri="{0D108BD9-81ED-4DB2-BD59-A6C34878D82A}">
                    <a16:rowId xmlns:a16="http://schemas.microsoft.com/office/drawing/2014/main" val="10009"/>
                  </a:ext>
                </a:extLst>
              </a:tr>
              <a:tr h="260252">
                <a:tc>
                  <a:txBody>
                    <a:bodyPr/>
                    <a:lstStyle/>
                    <a:p>
                      <a:pPr algn="ctr"/>
                      <a:r>
                        <a:rPr sz="1100" b="1">
                          <a:solidFill>
                            <a:srgbClr val="FFFFFF"/>
                          </a:solidFill>
                          <a:latin typeface="Calibri"/>
                        </a:rPr>
                        <a:t>4,000</a:t>
                      </a:r>
                    </a:p>
                  </a:txBody>
                  <a:tcPr marL="54864" marR="54864" marT="9144" marB="9144">
                    <a:solidFill>
                      <a:srgbClr val="0B2B4E"/>
                    </a:solidFill>
                  </a:tcPr>
                </a:tc>
                <a:tc>
                  <a:txBody>
                    <a:bodyPr/>
                    <a:lstStyle/>
                    <a:p>
                      <a:pPr algn="ctr"/>
                      <a:r>
                        <a:rPr sz="1100">
                          <a:solidFill>
                            <a:srgbClr val="0B2B4E"/>
                          </a:solidFill>
                          <a:latin typeface="Calibri"/>
                        </a:rPr>
                        <a:t>380</a:t>
                      </a:r>
                    </a:p>
                  </a:txBody>
                  <a:tcPr marL="54864" marR="54864" marT="9144" marB="9144">
                    <a:solidFill>
                      <a:srgbClr val="FFFFFF"/>
                    </a:solidFill>
                  </a:tcPr>
                </a:tc>
                <a:tc>
                  <a:txBody>
                    <a:bodyPr/>
                    <a:lstStyle/>
                    <a:p>
                      <a:pPr algn="ctr"/>
                      <a:r>
                        <a:rPr sz="1100">
                          <a:solidFill>
                            <a:srgbClr val="0B2B4E"/>
                          </a:solidFill>
                          <a:latin typeface="Calibri"/>
                        </a:rPr>
                        <a:t>537</a:t>
                      </a:r>
                    </a:p>
                  </a:txBody>
                  <a:tcPr marL="54864" marR="54864" marT="9144" marB="9144">
                    <a:solidFill>
                      <a:srgbClr val="FFFFFF"/>
                    </a:solidFill>
                  </a:tcPr>
                </a:tc>
                <a:tc>
                  <a:txBody>
                    <a:bodyPr/>
                    <a:lstStyle/>
                    <a:p>
                      <a:pPr algn="ctr"/>
                      <a:r>
                        <a:rPr sz="1100">
                          <a:solidFill>
                            <a:srgbClr val="0B2B4E"/>
                          </a:solidFill>
                          <a:latin typeface="Calibri"/>
                        </a:rPr>
                        <a:t>658</a:t>
                      </a:r>
                    </a:p>
                  </a:txBody>
                  <a:tcPr marL="54864" marR="54864" marT="9144" marB="9144">
                    <a:solidFill>
                      <a:srgbClr val="FFFFFF"/>
                    </a:solidFill>
                  </a:tcPr>
                </a:tc>
                <a:tc>
                  <a:txBody>
                    <a:bodyPr/>
                    <a:lstStyle/>
                    <a:p>
                      <a:pPr algn="ctr"/>
                      <a:r>
                        <a:rPr sz="1100">
                          <a:solidFill>
                            <a:srgbClr val="0B2B4E"/>
                          </a:solidFill>
                          <a:latin typeface="Calibri"/>
                        </a:rPr>
                        <a:t>760</a:t>
                      </a:r>
                    </a:p>
                  </a:txBody>
                  <a:tcPr marL="54864" marR="54864" marT="9144" marB="9144">
                    <a:solidFill>
                      <a:srgbClr val="FFFFFF"/>
                    </a:solidFill>
                  </a:tcPr>
                </a:tc>
                <a:extLst>
                  <a:ext uri="{0D108BD9-81ED-4DB2-BD59-A6C34878D82A}">
                    <a16:rowId xmlns:a16="http://schemas.microsoft.com/office/drawing/2014/main" val="10010"/>
                  </a:ext>
                </a:extLst>
              </a:tr>
              <a:tr h="260252">
                <a:tc>
                  <a:txBody>
                    <a:bodyPr/>
                    <a:lstStyle/>
                    <a:p>
                      <a:pPr algn="ctr"/>
                      <a:r>
                        <a:rPr sz="1100" b="1">
                          <a:solidFill>
                            <a:srgbClr val="FFFFFF"/>
                          </a:solidFill>
                          <a:latin typeface="Calibri"/>
                        </a:rPr>
                        <a:t>4,500</a:t>
                      </a:r>
                    </a:p>
                  </a:txBody>
                  <a:tcPr marL="54864" marR="54864" marT="9144" marB="9144">
                    <a:solidFill>
                      <a:srgbClr val="0B2B4E"/>
                    </a:solidFill>
                  </a:tcPr>
                </a:tc>
                <a:tc>
                  <a:txBody>
                    <a:bodyPr/>
                    <a:lstStyle/>
                    <a:p>
                      <a:pPr algn="ctr"/>
                      <a:r>
                        <a:rPr sz="1100">
                          <a:solidFill>
                            <a:srgbClr val="0B2B4E"/>
                          </a:solidFill>
                          <a:latin typeface="Calibri"/>
                        </a:rPr>
                        <a:t>394</a:t>
                      </a:r>
                    </a:p>
                  </a:txBody>
                  <a:tcPr marL="54864" marR="54864" marT="9144" marB="9144">
                    <a:solidFill>
                      <a:srgbClr val="FFFFFF"/>
                    </a:solidFill>
                  </a:tcPr>
                </a:tc>
                <a:tc>
                  <a:txBody>
                    <a:bodyPr/>
                    <a:lstStyle/>
                    <a:p>
                      <a:pPr algn="ctr"/>
                      <a:r>
                        <a:rPr sz="1100">
                          <a:solidFill>
                            <a:srgbClr val="0B2B4E"/>
                          </a:solidFill>
                          <a:latin typeface="Calibri"/>
                        </a:rPr>
                        <a:t>557</a:t>
                      </a:r>
                    </a:p>
                  </a:txBody>
                  <a:tcPr marL="54864" marR="54864" marT="9144" marB="9144">
                    <a:solidFill>
                      <a:srgbClr val="FFFFFF"/>
                    </a:solidFill>
                  </a:tcPr>
                </a:tc>
                <a:tc>
                  <a:txBody>
                    <a:bodyPr/>
                    <a:lstStyle/>
                    <a:p>
                      <a:pPr algn="ctr"/>
                      <a:r>
                        <a:rPr sz="1100">
                          <a:solidFill>
                            <a:srgbClr val="0B2B4E"/>
                          </a:solidFill>
                          <a:latin typeface="Calibri"/>
                        </a:rPr>
                        <a:t>682</a:t>
                      </a:r>
                    </a:p>
                  </a:txBody>
                  <a:tcPr marL="54864" marR="54864" marT="9144" marB="9144">
                    <a:solidFill>
                      <a:srgbClr val="FFFFFF"/>
                    </a:solidFill>
                  </a:tcPr>
                </a:tc>
                <a:tc>
                  <a:txBody>
                    <a:bodyPr/>
                    <a:lstStyle/>
                    <a:p>
                      <a:pPr algn="ctr"/>
                      <a:r>
                        <a:rPr sz="1100">
                          <a:solidFill>
                            <a:srgbClr val="0B2B4E"/>
                          </a:solidFill>
                          <a:latin typeface="Calibri"/>
                        </a:rPr>
                        <a:t>787</a:t>
                      </a:r>
                    </a:p>
                  </a:txBody>
                  <a:tcPr marL="54864" marR="54864" marT="9144" marB="9144">
                    <a:solidFill>
                      <a:srgbClr val="FFFFFF"/>
                    </a:solidFill>
                  </a:tcPr>
                </a:tc>
                <a:extLst>
                  <a:ext uri="{0D108BD9-81ED-4DB2-BD59-A6C34878D82A}">
                    <a16:rowId xmlns:a16="http://schemas.microsoft.com/office/drawing/2014/main" val="10011"/>
                  </a:ext>
                </a:extLst>
              </a:tr>
              <a:tr h="260256">
                <a:tc>
                  <a:txBody>
                    <a:bodyPr/>
                    <a:lstStyle/>
                    <a:p>
                      <a:pPr algn="ctr"/>
                      <a:r>
                        <a:rPr sz="1100" b="1" dirty="0">
                          <a:solidFill>
                            <a:srgbClr val="FFFFFF"/>
                          </a:solidFill>
                          <a:latin typeface="Calibri"/>
                        </a:rPr>
                        <a:t>5,000</a:t>
                      </a:r>
                    </a:p>
                  </a:txBody>
                  <a:tcPr marL="54864" marR="54864" marT="9144" marB="9144">
                    <a:solidFill>
                      <a:srgbClr val="0B2B4E"/>
                    </a:solidFill>
                  </a:tcPr>
                </a:tc>
                <a:tc>
                  <a:txBody>
                    <a:bodyPr/>
                    <a:lstStyle/>
                    <a:p>
                      <a:pPr algn="ctr"/>
                      <a:r>
                        <a:rPr sz="1100">
                          <a:solidFill>
                            <a:srgbClr val="0B2B4E"/>
                          </a:solidFill>
                          <a:latin typeface="Calibri"/>
                        </a:rPr>
                        <a:t>406</a:t>
                      </a:r>
                    </a:p>
                  </a:txBody>
                  <a:tcPr marL="54864" marR="54864" marT="9144" marB="9144">
                    <a:solidFill>
                      <a:srgbClr val="FFFFFF"/>
                    </a:solidFill>
                  </a:tcPr>
                </a:tc>
                <a:tc>
                  <a:txBody>
                    <a:bodyPr/>
                    <a:lstStyle/>
                    <a:p>
                      <a:pPr algn="ctr"/>
                      <a:r>
                        <a:rPr sz="1100">
                          <a:solidFill>
                            <a:srgbClr val="0B2B4E"/>
                          </a:solidFill>
                          <a:latin typeface="Calibri"/>
                        </a:rPr>
                        <a:t>574</a:t>
                      </a:r>
                    </a:p>
                  </a:txBody>
                  <a:tcPr marL="54864" marR="54864" marT="9144" marB="9144">
                    <a:solidFill>
                      <a:srgbClr val="FFFFFF"/>
                    </a:solidFill>
                  </a:tcPr>
                </a:tc>
                <a:tc>
                  <a:txBody>
                    <a:bodyPr/>
                    <a:lstStyle/>
                    <a:p>
                      <a:pPr algn="ctr"/>
                      <a:r>
                        <a:rPr sz="1100">
                          <a:solidFill>
                            <a:srgbClr val="0B2B4E"/>
                          </a:solidFill>
                          <a:latin typeface="Calibri"/>
                        </a:rPr>
                        <a:t>703</a:t>
                      </a:r>
                    </a:p>
                  </a:txBody>
                  <a:tcPr marL="54864" marR="54864" marT="9144" marB="9144">
                    <a:solidFill>
                      <a:srgbClr val="FFFFFF"/>
                    </a:solidFill>
                  </a:tcPr>
                </a:tc>
                <a:tc>
                  <a:txBody>
                    <a:bodyPr/>
                    <a:lstStyle/>
                    <a:p>
                      <a:pPr algn="ctr"/>
                      <a:r>
                        <a:rPr sz="1100" dirty="0">
                          <a:solidFill>
                            <a:srgbClr val="0B2B4E"/>
                          </a:solidFill>
                          <a:latin typeface="Calibri"/>
                        </a:rPr>
                        <a:t>812</a:t>
                      </a:r>
                    </a:p>
                  </a:txBody>
                  <a:tcPr marL="54864" marR="54864" marT="9144" marB="9144">
                    <a:solidFill>
                      <a:srgbClr val="FFFFFF"/>
                    </a:solidFill>
                  </a:tcPr>
                </a:tc>
                <a:extLst>
                  <a:ext uri="{0D108BD9-81ED-4DB2-BD59-A6C34878D82A}">
                    <a16:rowId xmlns:a16="http://schemas.microsoft.com/office/drawing/2014/main" val="10012"/>
                  </a:ext>
                </a:extLst>
              </a:tr>
            </a:tbl>
          </a:graphicData>
        </a:graphic>
      </p:graphicFrame>
      <p:sp>
        <p:nvSpPr>
          <p:cNvPr id="10" name="TextBox 9"/>
          <p:cNvSpPr txBox="1"/>
          <p:nvPr/>
        </p:nvSpPr>
        <p:spPr>
          <a:xfrm>
            <a:off x="8732520" y="5559552"/>
            <a:ext cx="2670048" cy="169277"/>
          </a:xfrm>
          <a:prstGeom prst="rect">
            <a:avLst/>
          </a:prstGeom>
          <a:noFill/>
        </p:spPr>
        <p:txBody>
          <a:bodyPr wrap="square" lIns="0" tIns="0" rIns="0" bIns="0">
            <a:spAutoFit/>
          </a:bodyPr>
          <a:lstStyle/>
          <a:p>
            <a:pPr algn="ctr"/>
            <a:r>
              <a:rPr lang="en-US" sz="1100" b="0" i="1" dirty="0">
                <a:solidFill>
                  <a:srgbClr val="555B66"/>
                </a:solidFill>
                <a:latin typeface="Calibri"/>
              </a:rPr>
              <a:t>Rivian’s </a:t>
            </a:r>
            <a:r>
              <a:rPr sz="1100" b="0" i="1" dirty="0">
                <a:solidFill>
                  <a:srgbClr val="555B66"/>
                </a:solidFill>
                <a:latin typeface="Calibri"/>
              </a:rPr>
              <a:t>Production-function table</a:t>
            </a:r>
          </a:p>
        </p:txBody>
      </p:sp>
      <p:sp>
        <p:nvSpPr>
          <p:cNvPr id="11" name="TextBox 10"/>
          <p:cNvSpPr txBox="1"/>
          <p:nvPr/>
        </p:nvSpPr>
        <p:spPr>
          <a:xfrm>
            <a:off x="9390888" y="1874520"/>
            <a:ext cx="2011680" cy="228600"/>
          </a:xfrm>
          <a:prstGeom prst="rect">
            <a:avLst/>
          </a:prstGeom>
          <a:noFill/>
        </p:spPr>
        <p:txBody>
          <a:bodyPr wrap="square" lIns="0" tIns="0" rIns="0" bIns="0">
            <a:spAutoFit/>
          </a:bodyPr>
          <a:lstStyle/>
          <a:p>
            <a:pPr algn="ctr"/>
            <a:r>
              <a:rPr sz="1400" b="0" i="1">
                <a:solidFill>
                  <a:srgbClr val="0B2B4E"/>
                </a:solidFill>
                <a:latin typeface="Calibri"/>
              </a:rPr>
              <a:t>K  (robots)</a:t>
            </a:r>
          </a:p>
        </p:txBody>
      </p:sp>
      <p:sp>
        <p:nvSpPr>
          <p:cNvPr id="12" name="TextBox 11"/>
          <p:cNvSpPr txBox="1"/>
          <p:nvPr/>
        </p:nvSpPr>
        <p:spPr>
          <a:xfrm rot="16200000">
            <a:off x="7973568" y="3671316"/>
            <a:ext cx="996696" cy="245973"/>
          </a:xfrm>
          <a:prstGeom prst="rect">
            <a:avLst/>
          </a:prstGeom>
          <a:noFill/>
        </p:spPr>
        <p:txBody>
          <a:bodyPr wrap="square" lIns="0" tIns="0" rIns="0" bIns="0">
            <a:spAutoFit/>
          </a:bodyPr>
          <a:lstStyle/>
          <a:p>
            <a:pPr algn="ctr"/>
            <a:r>
              <a:rPr sz="1400" b="0" i="1" dirty="0">
                <a:solidFill>
                  <a:srgbClr val="0B2B4E"/>
                </a:solidFill>
                <a:latin typeface="Calibri"/>
              </a:rPr>
              <a:t>L  (workers)</a:t>
            </a:r>
          </a:p>
        </p:txBody>
      </p:sp>
      <p:sp>
        <p:nvSpPr>
          <p:cNvPr id="13" name="Oval 12"/>
          <p:cNvSpPr/>
          <p:nvPr/>
        </p:nvSpPr>
        <p:spPr>
          <a:xfrm>
            <a:off x="10396728" y="3543300"/>
            <a:ext cx="502920" cy="502920"/>
          </a:xfrm>
          <a:prstGeom prst="ellipse">
            <a:avLst/>
          </a:prstGeom>
          <a:noFill/>
          <a:ln w="2222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69296" y="3637201"/>
            <a:ext cx="557784" cy="575368"/>
          </a:xfrm>
          <a:prstGeom prst="roundRect">
            <a:avLst>
              <a:gd name="adj" fmla="val 18000"/>
            </a:avLst>
          </a:prstGeom>
          <a:noFill/>
          <a:ln w="22225">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0369296" y="3637201"/>
            <a:ext cx="1060704" cy="315116"/>
          </a:xfrm>
          <a:prstGeom prst="roundRect">
            <a:avLst>
              <a:gd name="adj" fmla="val 35000"/>
            </a:avLst>
          </a:prstGeom>
          <a:no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1" name="TextBox 20"/>
          <p:cNvSpPr txBox="1"/>
          <p:nvPr/>
        </p:nvSpPr>
        <p:spPr>
          <a:xfrm>
            <a:off x="11430000" y="6583680"/>
            <a:ext cx="548640" cy="292608"/>
          </a:xfrm>
          <a:prstGeom prst="rect">
            <a:avLst/>
          </a:prstGeom>
          <a:noFill/>
        </p:spPr>
        <p:txBody>
          <a:bodyPr wrap="square" lIns="0" tIns="0" rIns="0" bIns="0">
            <a:spAutoFit/>
          </a:bodyPr>
          <a:lstStyle/>
          <a:p>
            <a:pPr algn="r"/>
            <a:fld id="{915E499E-3095-4AAE-92C7-7FF5C622BC0C}" type="slidenum">
              <a:rPr sz="1200" b="0" i="0">
                <a:solidFill>
                  <a:srgbClr val="555B66"/>
                </a:solidFill>
                <a:latin typeface="Calibri"/>
              </a:rPr>
              <a:t>7</a:t>
            </a:fld>
            <a:endParaRPr sz="1200" b="0" i="0">
              <a:solidFill>
                <a:srgbClr val="555B66"/>
              </a:solidFill>
              <a:latin typeface="Calibri"/>
            </a:endParaRPr>
          </a:p>
        </p:txBody>
      </p:sp>
      <p:grpSp>
        <p:nvGrpSpPr>
          <p:cNvPr id="24" name="Group 23">
            <a:extLst>
              <a:ext uri="{FF2B5EF4-FFF2-40B4-BE49-F238E27FC236}">
                <a16:creationId xmlns:a16="http://schemas.microsoft.com/office/drawing/2014/main" id="{377B9AFB-4D34-BC2A-0C56-6FD835819486}"/>
              </a:ext>
            </a:extLst>
          </p:cNvPr>
          <p:cNvGrpSpPr/>
          <p:nvPr/>
        </p:nvGrpSpPr>
        <p:grpSpPr>
          <a:xfrm>
            <a:off x="9576078" y="5924574"/>
            <a:ext cx="2363617" cy="467820"/>
            <a:chOff x="9576078" y="5924574"/>
            <a:chExt cx="2363617" cy="467820"/>
          </a:xfrm>
        </p:grpSpPr>
        <p:sp>
          <p:nvSpPr>
            <p:cNvPr id="22" name="Rectangle 8">
              <a:extLst>
                <a:ext uri="{FF2B5EF4-FFF2-40B4-BE49-F238E27FC236}">
                  <a16:creationId xmlns:a16="http://schemas.microsoft.com/office/drawing/2014/main" id="{D44E5176-4A05-B932-1603-B7CBD3C378DC}"/>
                </a:ext>
              </a:extLst>
            </p:cNvPr>
            <p:cNvSpPr/>
            <p:nvPr/>
          </p:nvSpPr>
          <p:spPr>
            <a:xfrm>
              <a:off x="9576078" y="5943600"/>
              <a:ext cx="2363617" cy="4297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6CF6EC05-A33D-539E-91CD-4EDB19A7D4F5}"/>
                </a:ext>
              </a:extLst>
            </p:cNvPr>
            <p:cNvSpPr txBox="1"/>
            <p:nvPr/>
          </p:nvSpPr>
          <p:spPr>
            <a:xfrm>
              <a:off x="9881002" y="5924574"/>
              <a:ext cx="1654532" cy="467820"/>
            </a:xfrm>
            <a:prstGeom prst="rect">
              <a:avLst/>
            </a:prstGeom>
            <a:noFill/>
          </p:spPr>
          <p:txBody>
            <a:bodyPr wrap="square" lIns="45720" tIns="18288" rIns="45720" bIns="18288" anchor="ctr">
              <a:spAutoFit/>
            </a:bodyPr>
            <a:lstStyle/>
            <a:p>
              <a:pPr algn="ctr"/>
              <a:r>
                <a:rPr sz="2800" b="1" dirty="0">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4"/>
                                        </p:tgtEl>
                                      </p:cBhvr>
                                    </p:animEffect>
                                    <p:set>
                                      <p:cBhvr>
                                        <p:cTn id="22" dur="1" fill="hold">
                                          <p:stCondLst>
                                            <p:cond delay="499"/>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15"/>
                                        </p:tgtEl>
                                      </p:cBhvr>
                                    </p:animEffect>
                                    <p:set>
                                      <p:cBhvr>
                                        <p:cTn id="33" dur="1" fill="hold">
                                          <p:stCondLst>
                                            <p:cond delay="499"/>
                                          </p:stCondLst>
                                        </p:cTn>
                                        <p:tgtEl>
                                          <p:spTgt spid="15"/>
                                        </p:tgtEl>
                                        <p:attrNameLst>
                                          <p:attrName>style.visibility</p:attrName>
                                        </p:attrNameLst>
                                      </p:cBhvr>
                                      <p:to>
                                        <p:strVal val="hidden"/>
                                      </p:to>
                                    </p:set>
                                  </p:childTnLst>
                                </p:cTn>
                              </p:par>
                              <p:par>
                                <p:cTn id="34" presetID="1" presetClass="entr" presetSubtype="0" fill="hold" nodeType="withEffect">
                                  <p:stCondLst>
                                    <p:cond delay="0"/>
                                  </p:stCondLst>
                                  <p:childTnLst>
                                    <p:set>
                                      <p:cBhvr>
                                        <p:cTn id="35"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P spid="15" grpId="0" animBg="1"/>
      <p:bldP spid="1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7F5F9B-D0DE-E3A5-BBA8-75532B0E5ACE}"/>
              </a:ext>
            </a:extLst>
          </p:cNvPr>
          <p:cNvPicPr>
            <a:picLocks/>
          </p:cNvPicPr>
          <p:nvPr>
            <p:custDataLst>
              <p:tags r:id="rId1"/>
            </p:custDataLst>
          </p:nvPr>
        </p:nvPicPr>
        <p:blipFill>
          <a:blip r:embed="rId4"/>
          <a:stretch>
            <a:fillRect/>
          </a:stretch>
        </p:blipFill>
        <p:spPr>
          <a:xfrm>
            <a:off x="190500" y="190500"/>
            <a:ext cx="11811000" cy="6477000"/>
          </a:xfrm>
          <a:prstGeom prst="rect">
            <a:avLst/>
          </a:prstGeom>
        </p:spPr>
      </p:pic>
      <p:grpSp>
        <p:nvGrpSpPr>
          <p:cNvPr id="4" name="Group 3">
            <a:extLst>
              <a:ext uri="{FF2B5EF4-FFF2-40B4-BE49-F238E27FC236}">
                <a16:creationId xmlns:a16="http://schemas.microsoft.com/office/drawing/2014/main" id="{8182DBE2-7B54-5528-6ABD-E8A9D4551DE4}"/>
              </a:ext>
            </a:extLst>
          </p:cNvPr>
          <p:cNvGrpSpPr/>
          <p:nvPr/>
        </p:nvGrpSpPr>
        <p:grpSpPr>
          <a:xfrm>
            <a:off x="10366225" y="5673852"/>
            <a:ext cx="1362456" cy="466344"/>
            <a:chOff x="10577240" y="5907024"/>
            <a:chExt cx="1362456" cy="466344"/>
          </a:xfrm>
        </p:grpSpPr>
        <p:sp>
          <p:nvSpPr>
            <p:cNvPr id="5" name="Rounded Rectangle 12">
              <a:extLst>
                <a:ext uri="{FF2B5EF4-FFF2-40B4-BE49-F238E27FC236}">
                  <a16:creationId xmlns:a16="http://schemas.microsoft.com/office/drawing/2014/main" id="{9EE2B2A5-74C8-EF73-6C0E-759CECAE4078}"/>
                </a:ext>
              </a:extLst>
            </p:cNvPr>
            <p:cNvSpPr/>
            <p:nvPr/>
          </p:nvSpPr>
          <p:spPr>
            <a:xfrm>
              <a:off x="10577240" y="5907024"/>
              <a:ext cx="1362456" cy="466344"/>
            </a:xfrm>
            <a:prstGeom prst="roundRect">
              <a:avLst>
                <a:gd name="adj" fmla="val 5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B27A30E-1189-CBC9-2E3D-4844E743E78E}"/>
                </a:ext>
              </a:extLst>
            </p:cNvPr>
            <p:cNvSpPr txBox="1"/>
            <p:nvPr/>
          </p:nvSpPr>
          <p:spPr>
            <a:xfrm>
              <a:off x="10577240" y="5907024"/>
              <a:ext cx="1362456" cy="466344"/>
            </a:xfrm>
            <a:prstGeom prst="rect">
              <a:avLst/>
            </a:prstGeom>
            <a:noFill/>
          </p:spPr>
          <p:txBody>
            <a:bodyPr wrap="square" lIns="0" tIns="0" rIns="0" bIns="0" anchor="ctr">
              <a:spAutoFit/>
            </a:bodyPr>
            <a:lstStyle/>
            <a:p>
              <a:pPr algn="ctr"/>
              <a:r>
                <a:rPr sz="1600" b="1" i="0">
                  <a:solidFill>
                    <a:srgbClr val="0B2B4E"/>
                  </a:solidFill>
                  <a:latin typeface="Calibri"/>
                </a:rPr>
                <a:t>POLL</a:t>
              </a:r>
            </a:p>
          </p:txBody>
        </p:sp>
      </p:grpSp>
    </p:spTree>
    <p:extLst>
      <p:ext uri="{BB962C8B-B14F-4D97-AF65-F5344CB8AC3E}">
        <p14:creationId xmlns:p14="http://schemas.microsoft.com/office/powerpoint/2010/main" val="57012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Solution:  The Optimal Input Mix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6647" y="1828800"/>
            <a:ext cx="27432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809847" y="1828800"/>
            <a:ext cx="22860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MP</a:t>
            </a:r>
          </a:p>
        </p:txBody>
      </p:sp>
      <p:sp>
        <p:nvSpPr>
          <p:cNvPr id="9" name="Rectangle 8"/>
          <p:cNvSpPr/>
          <p:nvPr/>
        </p:nvSpPr>
        <p:spPr>
          <a:xfrm>
            <a:off x="6095847" y="1828800"/>
            <a:ext cx="22860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Price</a:t>
            </a:r>
          </a:p>
        </p:txBody>
      </p:sp>
      <p:sp>
        <p:nvSpPr>
          <p:cNvPr id="10" name="Rectangle 9"/>
          <p:cNvSpPr/>
          <p:nvPr/>
        </p:nvSpPr>
        <p:spPr>
          <a:xfrm>
            <a:off x="8381847" y="1828800"/>
            <a:ext cx="2743200" cy="640080"/>
          </a:xfrm>
          <a:prstGeom prst="rect">
            <a:avLst/>
          </a:prstGeom>
          <a:solidFill>
            <a:srgbClr val="0B2B4E"/>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Calibri"/>
              </a:rPr>
              <a:t>MP per $</a:t>
            </a:r>
          </a:p>
        </p:txBody>
      </p:sp>
      <p:sp>
        <p:nvSpPr>
          <p:cNvPr id="11" name="Rectangle 10"/>
          <p:cNvSpPr/>
          <p:nvPr/>
        </p:nvSpPr>
        <p:spPr>
          <a:xfrm>
            <a:off x="1066647" y="2468880"/>
            <a:ext cx="2743200" cy="640080"/>
          </a:xfrm>
          <a:prstGeom prst="rect">
            <a:avLst/>
          </a:prstGeom>
          <a:solidFill>
            <a:srgbClr val="FDF6E6"/>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Robots  (K)</a:t>
            </a:r>
          </a:p>
        </p:txBody>
      </p:sp>
      <p:sp>
        <p:nvSpPr>
          <p:cNvPr id="12" name="Rectangle 11"/>
          <p:cNvSpPr/>
          <p:nvPr/>
        </p:nvSpPr>
        <p:spPr>
          <a:xfrm>
            <a:off x="3809847" y="2468880"/>
            <a:ext cx="2286000" cy="640080"/>
          </a:xfrm>
          <a:prstGeom prst="rect">
            <a:avLst/>
          </a:prstGeom>
          <a:solidFill>
            <a:srgbClr val="FDF6E6"/>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 0.83 cars</a:t>
            </a:r>
          </a:p>
        </p:txBody>
      </p:sp>
      <p:sp>
        <p:nvSpPr>
          <p:cNvPr id="13" name="Rectangle 12"/>
          <p:cNvSpPr/>
          <p:nvPr/>
        </p:nvSpPr>
        <p:spPr>
          <a:xfrm>
            <a:off x="6095847" y="2468880"/>
            <a:ext cx="2286000" cy="640080"/>
          </a:xfrm>
          <a:prstGeom prst="rect">
            <a:avLst/>
          </a:prstGeom>
          <a:solidFill>
            <a:srgbClr val="FDF6E6"/>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$20,000</a:t>
            </a:r>
          </a:p>
        </p:txBody>
      </p:sp>
      <p:sp>
        <p:nvSpPr>
          <p:cNvPr id="14" name="Rectangle 13"/>
          <p:cNvSpPr/>
          <p:nvPr/>
        </p:nvSpPr>
        <p:spPr>
          <a:xfrm>
            <a:off x="8381847" y="2468880"/>
            <a:ext cx="2743200" cy="640080"/>
          </a:xfrm>
          <a:prstGeom prst="rect">
            <a:avLst/>
          </a:prstGeom>
          <a:solidFill>
            <a:srgbClr val="FDF6E6"/>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0.000042 cars / $</a:t>
            </a:r>
          </a:p>
        </p:txBody>
      </p:sp>
      <p:sp>
        <p:nvSpPr>
          <p:cNvPr id="15" name="Rectangle 14"/>
          <p:cNvSpPr/>
          <p:nvPr/>
        </p:nvSpPr>
        <p:spPr>
          <a:xfrm>
            <a:off x="1066647" y="3108960"/>
            <a:ext cx="27432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B2B4E"/>
                </a:solidFill>
                <a:latin typeface="Calibri"/>
              </a:rPr>
              <a:t>Workers (L)</a:t>
            </a:r>
          </a:p>
        </p:txBody>
      </p:sp>
      <p:sp>
        <p:nvSpPr>
          <p:cNvPr id="16" name="Rectangle 15"/>
          <p:cNvSpPr/>
          <p:nvPr/>
        </p:nvSpPr>
        <p:spPr>
          <a:xfrm>
            <a:off x="3809847" y="3108960"/>
            <a:ext cx="22860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 0.07 cars</a:t>
            </a:r>
          </a:p>
        </p:txBody>
      </p:sp>
      <p:sp>
        <p:nvSpPr>
          <p:cNvPr id="17" name="Rectangle 16"/>
          <p:cNvSpPr/>
          <p:nvPr/>
        </p:nvSpPr>
        <p:spPr>
          <a:xfrm>
            <a:off x="6095847" y="3108960"/>
            <a:ext cx="22860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$1,200</a:t>
            </a:r>
          </a:p>
        </p:txBody>
      </p:sp>
      <p:sp>
        <p:nvSpPr>
          <p:cNvPr id="18" name="Rectangle 17"/>
          <p:cNvSpPr/>
          <p:nvPr/>
        </p:nvSpPr>
        <p:spPr>
          <a:xfrm>
            <a:off x="8381847" y="3108960"/>
            <a:ext cx="2743200" cy="640080"/>
          </a:xfrm>
          <a:prstGeom prst="rect">
            <a:avLst/>
          </a:prstGeom>
          <a:solidFill>
            <a:srgbClr val="FFFFFF"/>
          </a:solidFill>
          <a:ln w="6350">
            <a:solidFill>
              <a:srgbClr val="C8CD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0">
                <a:solidFill>
                  <a:srgbClr val="0B2B4E"/>
                </a:solidFill>
                <a:latin typeface="Calibri"/>
              </a:rPr>
              <a:t>0.000058 cars / $</a:t>
            </a:r>
          </a:p>
        </p:txBody>
      </p:sp>
      <mc:AlternateContent xmlns:mc="http://schemas.openxmlformats.org/markup-compatibility/2006" xmlns:a14="http://schemas.microsoft.com/office/drawing/2010/main">
        <mc:Choice Requires="a14">
          <p:sp>
            <p:nvSpPr>
              <p:cNvPr id="19" name="TextBox 18"/>
              <p:cNvSpPr txBox="1"/>
              <p:nvPr/>
            </p:nvSpPr>
            <p:spPr>
              <a:xfrm>
                <a:off x="4837176" y="3995928"/>
                <a:ext cx="2514600" cy="1097280"/>
              </a:xfrm>
              <a:prstGeom prst="rect">
                <a:avLst/>
              </a:prstGeom>
              <a:solidFill>
                <a:srgbClr val="FDF6E6"/>
              </a:solidFill>
              <a:ln w="9525">
                <a:solidFill>
                  <a:srgbClr val="0B2B4E"/>
                </a:solidFill>
              </a:ln>
            </p:spPr>
            <p:txBody>
              <a:bodyPr wrap="square" anchor="ctr">
                <a:spAutoFit/>
              </a:bodyPr>
              <a:lstStyle/>
              <a:p>
                <a:pPr algn="ctr">
                  <a:defRPr sz="3200" b="0" i="1">
                    <a:solidFill>
                      <a:srgbClr val="0B2B4E"/>
                    </a:solidFill>
                    <a:latin typeface="Cambria Math"/>
                  </a:defRPr>
                </a:pPr>
                <a14:m>
                  <m:oMathPara xmlns:m="http://schemas.openxmlformats.org/officeDocument/2006/math">
                    <m:oMath>
                      <m:f>
                        <m:fPr>
                          <m:ctrlPr>
                            <a:rPr lang="en-US" sz="3200" b="0" i="1">
                              <a:latin typeface="Cambria Math" panose="02040503050406030204" pitchFamily="18" charset="0"/>
                              <a:ea typeface="Cambria Math"/>
                            </a:rPr>
                          </m:ctrlPr>
                        </m:fPr>
                        <m:num>
                          <m:sSub>
                            <m:sSubPr>
                              <m:ctrlPr>
                                <a:rPr lang="en-US" sz="3200" b="0" i="1">
                                  <a:latin typeface="Cambria Math"/>
                                  <a:ea typeface="Cambria Math"/>
                                </a:rPr>
                              </m:ctrlPr>
                            </m:sSubPr>
                            <m:e>
                              <m:r>
                                <a:rPr lang="en-US" sz="3200" b="0" i="1">
                                  <a:latin typeface="Cambria Math"/>
                                  <a:ea typeface="Cambria Math"/>
                                </a:rPr>
                                <m:t>𝑀𝑃</m:t>
                              </m:r>
                            </m:e>
                            <m:sub>
                              <m:r>
                                <a:rPr lang="en-US" sz="3200" b="0" i="1">
                                  <a:latin typeface="Cambria Math"/>
                                  <a:ea typeface="Cambria Math"/>
                                </a:rPr>
                                <m:t>𝐿</m:t>
                              </m:r>
                            </m:sub>
                          </m:sSub>
                        </m:num>
                        <m:den>
                          <m:r>
                            <a:rPr lang="en-US" sz="3200" b="0" i="1">
                              <a:latin typeface="Cambria Math"/>
                              <a:ea typeface="Cambria Math"/>
                            </a:rPr>
                            <m:t>𝑤</m:t>
                          </m:r>
                        </m:den>
                      </m:f>
                      <m:r>
                        <a:rPr lang="en-US" sz="3200" b="0" i="0">
                          <a:latin typeface="Cambria Math"/>
                        </a:rPr>
                        <m:t> &gt; </m:t>
                      </m:r>
                      <m:f>
                        <m:fPr>
                          <m:ctrlPr>
                            <a:rPr lang="en-US" sz="3200" b="0" i="1">
                              <a:latin typeface="Cambria Math" panose="02040503050406030204" pitchFamily="18" charset="0"/>
                              <a:ea typeface="Cambria Math"/>
                            </a:rPr>
                          </m:ctrlPr>
                        </m:fPr>
                        <m:num>
                          <m:sSub>
                            <m:sSubPr>
                              <m:ctrlPr>
                                <a:rPr lang="en-US" sz="3200" b="0" i="1">
                                  <a:latin typeface="Cambria Math"/>
                                  <a:ea typeface="Cambria Math"/>
                                </a:rPr>
                              </m:ctrlPr>
                            </m:sSubPr>
                            <m:e>
                              <m:r>
                                <a:rPr lang="en-US" sz="3200" b="0" i="1">
                                  <a:latin typeface="Cambria Math"/>
                                  <a:ea typeface="Cambria Math"/>
                                </a:rPr>
                                <m:t>𝑀𝑃</m:t>
                              </m:r>
                            </m:e>
                            <m:sub>
                              <m:r>
                                <a:rPr lang="en-US" sz="3200" b="0" i="1">
                                  <a:latin typeface="Cambria Math"/>
                                  <a:ea typeface="Cambria Math"/>
                                </a:rPr>
                                <m:t>𝐾</m:t>
                              </m:r>
                            </m:sub>
                          </m:sSub>
                        </m:num>
                        <m:den>
                          <m:sSub>
                            <m:sSubPr>
                              <m:ctrlPr>
                                <a:rPr lang="en-US" sz="3200" b="0" i="1">
                                  <a:latin typeface="Cambria Math"/>
                                  <a:ea typeface="Cambria Math"/>
                                </a:rPr>
                              </m:ctrlPr>
                            </m:sSubPr>
                            <m:e>
                              <m:r>
                                <a:rPr lang="en-US" sz="3200" b="0" i="1">
                                  <a:latin typeface="Cambria Math"/>
                                  <a:ea typeface="Cambria Math"/>
                                </a:rPr>
                                <m:t>𝑝</m:t>
                              </m:r>
                            </m:e>
                            <m:sub>
                              <m:r>
                                <a:rPr lang="en-US" sz="3200" b="0" i="1">
                                  <a:latin typeface="Cambria Math"/>
                                  <a:ea typeface="Cambria Math"/>
                                </a:rPr>
                                <m:t>𝐾</m:t>
                              </m:r>
                            </m:sub>
                          </m:sSub>
                        </m:den>
                      </m:f>
                    </m:oMath>
                  </m:oMathPara>
                </a14:m>
                <a:endParaRPr lang="en-US" sz="3200"/>
              </a:p>
            </p:txBody>
          </p:sp>
        </mc:Choice>
        <mc:Fallback xmlns="">
          <p:sp>
            <p:nvSpPr>
              <p:cNvPr id="19" name="TextBox 18"/>
              <p:cNvSpPr txBox="1">
                <a:spLocks noRot="1" noChangeAspect="1" noMove="1" noResize="1" noEditPoints="1" noAdjustHandles="1" noChangeArrowheads="1" noChangeShapeType="1" noTextEdit="1"/>
              </p:cNvSpPr>
              <p:nvPr/>
            </p:nvSpPr>
            <p:spPr>
              <a:xfrm>
                <a:off x="4837176" y="3995928"/>
                <a:ext cx="2514600" cy="1097280"/>
              </a:xfrm>
              <a:prstGeom prst="rect">
                <a:avLst/>
              </a:prstGeom>
              <a:blipFill>
                <a:blip r:embed="rId3"/>
                <a:stretch>
                  <a:fillRect/>
                </a:stretch>
              </a:blipFill>
              <a:ln w="9525">
                <a:solidFill>
                  <a:srgbClr val="0B2B4E"/>
                </a:solidFill>
              </a:ln>
            </p:spPr>
            <p:txBody>
              <a:bodyPr/>
              <a:lstStyle/>
              <a:p>
                <a:r>
                  <a:rPr lang="en-US">
                    <a:noFill/>
                  </a:rPr>
                  <a:t> </a:t>
                </a:r>
              </a:p>
            </p:txBody>
          </p:sp>
        </mc:Fallback>
      </mc:AlternateContent>
      <p:sp>
        <p:nvSpPr>
          <p:cNvPr id="20" name="TextBox 19"/>
          <p:cNvSpPr txBox="1"/>
          <p:nvPr/>
        </p:nvSpPr>
        <p:spPr>
          <a:xfrm>
            <a:off x="3694176" y="4251960"/>
            <a:ext cx="950976" cy="493776"/>
          </a:xfrm>
          <a:prstGeom prst="rect">
            <a:avLst/>
          </a:prstGeom>
          <a:noFill/>
        </p:spPr>
        <p:txBody>
          <a:bodyPr wrap="square" lIns="0" tIns="0" rIns="0" bIns="0">
            <a:spAutoFit/>
          </a:bodyPr>
          <a:lstStyle/>
          <a:p>
            <a:pPr algn="ctr"/>
            <a:r>
              <a:rPr sz="3200" b="1" i="0">
                <a:solidFill>
                  <a:srgbClr val="0B2B4E"/>
                </a:solidFill>
                <a:latin typeface="Calibri"/>
              </a:rPr>
              <a:t>Thus:</a:t>
            </a:r>
          </a:p>
        </p:txBody>
      </p:sp>
      <p:sp>
        <p:nvSpPr>
          <p:cNvPr id="21" name="TextBox 20"/>
          <p:cNvSpPr txBox="1"/>
          <p:nvPr/>
        </p:nvSpPr>
        <p:spPr>
          <a:xfrm>
            <a:off x="402336" y="5504688"/>
            <a:ext cx="11686032" cy="307777"/>
          </a:xfrm>
          <a:prstGeom prst="rect">
            <a:avLst/>
          </a:prstGeom>
          <a:noFill/>
        </p:spPr>
        <p:txBody>
          <a:bodyPr wrap="square" lIns="0" tIns="0" rIns="0" bIns="0">
            <a:spAutoFit/>
          </a:bodyPr>
          <a:lstStyle/>
          <a:p>
            <a:pPr algn="ctr"/>
            <a:r>
              <a:rPr sz="2000" b="1" i="0" dirty="0">
                <a:solidFill>
                  <a:srgbClr val="0B2B4E"/>
                </a:solidFill>
                <a:latin typeface="Calibri"/>
              </a:rPr>
              <a:t>→  Rivian should hire more workers, fewer robots</a:t>
            </a:r>
            <a:r>
              <a:rPr lang="en-US" sz="2000" b="1" i="0" dirty="0">
                <a:solidFill>
                  <a:srgbClr val="0B2B4E"/>
                </a:solidFill>
                <a:latin typeface="Calibri"/>
              </a:rPr>
              <a:t> in order to produce the same number of cars</a:t>
            </a:r>
            <a:endParaRPr sz="2000" b="1" i="0" dirty="0">
              <a:solidFill>
                <a:srgbClr val="0B2B4E"/>
              </a:solidFill>
              <a:latin typeface="Calibri"/>
            </a:endParaRPr>
          </a:p>
        </p:txBody>
      </p:sp>
      <p:sp>
        <p:nvSpPr>
          <p:cNvPr id="22" name="Rectangle 2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5" name="TextBox 24"/>
          <p:cNvSpPr txBox="1"/>
          <p:nvPr/>
        </p:nvSpPr>
        <p:spPr>
          <a:xfrm>
            <a:off x="11430000" y="6583680"/>
            <a:ext cx="548640" cy="292608"/>
          </a:xfrm>
          <a:prstGeom prst="rect">
            <a:avLst/>
          </a:prstGeom>
          <a:noFill/>
        </p:spPr>
        <p:txBody>
          <a:bodyPr wrap="square" lIns="0" tIns="0" rIns="0" bIns="0">
            <a:spAutoFit/>
          </a:bodyPr>
          <a:lstStyle/>
          <a:p>
            <a:pPr algn="r"/>
            <a:fld id="{78BAA357-FE3C-418F-8B47-898D0A6EB349}" type="slidenum">
              <a:rPr sz="1200" b="0" i="0">
                <a:solidFill>
                  <a:srgbClr val="555B66"/>
                </a:solidFill>
                <a:latin typeface="Calibri"/>
              </a:rPr>
              <a:t>9</a:t>
            </a:fld>
            <a:endParaRPr sz="1200" b="0" i="0">
              <a:solidFill>
                <a:srgbClr val="555B66"/>
              </a:solidFill>
              <a:latin typeface="Calibri"/>
            </a:endParaRPr>
          </a:p>
        </p:txBody>
      </p:sp>
      <p:grpSp>
        <p:nvGrpSpPr>
          <p:cNvPr id="26" name="Group 25">
            <a:extLst>
              <a:ext uri="{FF2B5EF4-FFF2-40B4-BE49-F238E27FC236}">
                <a16:creationId xmlns:a16="http://schemas.microsoft.com/office/drawing/2014/main" id="{42B37FBE-4090-C622-E0C9-A1DAE74C814C}"/>
              </a:ext>
            </a:extLst>
          </p:cNvPr>
          <p:cNvGrpSpPr/>
          <p:nvPr/>
        </p:nvGrpSpPr>
        <p:grpSpPr>
          <a:xfrm>
            <a:off x="9576078" y="5924574"/>
            <a:ext cx="2363617" cy="467820"/>
            <a:chOff x="9576078" y="5924574"/>
            <a:chExt cx="2363617" cy="467820"/>
          </a:xfrm>
        </p:grpSpPr>
        <p:sp>
          <p:nvSpPr>
            <p:cNvPr id="27" name="Rectangle 8">
              <a:extLst>
                <a:ext uri="{FF2B5EF4-FFF2-40B4-BE49-F238E27FC236}">
                  <a16:creationId xmlns:a16="http://schemas.microsoft.com/office/drawing/2014/main" id="{C3131477-2E7B-576B-1E62-EB92118035A7}"/>
                </a:ext>
              </a:extLst>
            </p:cNvPr>
            <p:cNvSpPr/>
            <p:nvPr/>
          </p:nvSpPr>
          <p:spPr>
            <a:xfrm>
              <a:off x="9576078" y="5943600"/>
              <a:ext cx="2363617" cy="4297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1756E810-8937-7FF8-C824-6A7F85B5C51F}"/>
                </a:ext>
              </a:extLst>
            </p:cNvPr>
            <p:cNvSpPr txBox="1"/>
            <p:nvPr/>
          </p:nvSpPr>
          <p:spPr>
            <a:xfrm>
              <a:off x="9881002" y="5924574"/>
              <a:ext cx="1654532" cy="467820"/>
            </a:xfrm>
            <a:prstGeom prst="rect">
              <a:avLst/>
            </a:prstGeom>
            <a:noFill/>
          </p:spPr>
          <p:txBody>
            <a:bodyPr wrap="square" lIns="45720" tIns="18288" rIns="45720" bIns="18288" anchor="ctr">
              <a:spAutoFit/>
            </a:bodyPr>
            <a:lstStyle/>
            <a:p>
              <a:pPr algn="ctr"/>
              <a:r>
                <a:rPr sz="2800" b="1" dirty="0">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a:solidFill>
                  <a:srgbClr val="FFFFFF"/>
                </a:solidFill>
                <a:latin typeface="Calibri"/>
              </a:rPr>
              <a:t>Module 3 · Long Run: The Optimal Input Mix</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a:solidFill>
                  <a:srgbClr val="0B2B4E"/>
                </a:solidFill>
                <a:latin typeface="Calibri"/>
              </a:rPr>
              <a:t>When Prices Change, the Input Mix Shifts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737360"/>
            <a:ext cx="11687697" cy="502920"/>
          </a:xfrm>
          <a:prstGeom prst="rect">
            <a:avLst/>
          </a:prstGeom>
          <a:noFill/>
        </p:spPr>
        <p:txBody>
          <a:bodyPr wrap="square" lIns="0" tIns="0" rIns="0" bIns="0">
            <a:spAutoFit/>
          </a:bodyPr>
          <a:lstStyle/>
          <a:p>
            <a:pPr algn="ctr"/>
            <a:r>
              <a:rPr sz="2400" b="0" i="1">
                <a:solidFill>
                  <a:srgbClr val="555B66"/>
                </a:solidFill>
                <a:latin typeface="Calibri"/>
              </a:rPr>
              <a:t>What's the effect on the optimal input mix if…</a:t>
            </a:r>
          </a:p>
        </p:txBody>
      </p:sp>
      <p:sp>
        <p:nvSpPr>
          <p:cNvPr id="8" name="Rectangle 7"/>
          <p:cNvSpPr/>
          <p:nvPr/>
        </p:nvSpPr>
        <p:spPr>
          <a:xfrm>
            <a:off x="426567" y="24688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The government introduces a high tax on robots</a:t>
            </a:r>
          </a:p>
        </p:txBody>
      </p:sp>
      <p:sp>
        <p:nvSpPr>
          <p:cNvPr id="9" name="Rectangle 8"/>
          <p:cNvSpPr/>
          <p:nvPr/>
        </p:nvSpPr>
        <p:spPr>
          <a:xfrm>
            <a:off x="426567" y="3154680"/>
            <a:ext cx="5486400" cy="2423160"/>
          </a:xfrm>
          <a:prstGeom prst="rect">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1984248" y="3657600"/>
                <a:ext cx="2743200" cy="850392"/>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1">
                              <a:latin typeface="Cambria Math"/>
                              <a:ea typeface="Cambria Math"/>
                            </a:rPr>
                          </m:ctrlPr>
                        </m:sSubPr>
                        <m:e>
                          <m:r>
                            <a:rPr lang="en-US" sz="2400" b="0" i="1">
                              <a:latin typeface="Cambria Math"/>
                              <a:ea typeface="Cambria Math"/>
                            </a:rPr>
                            <m:t>𝑝</m:t>
                          </m:r>
                        </m:e>
                        <m:sub>
                          <m:r>
                            <a:rPr lang="en-US" sz="2400" b="0" i="1">
                              <a:latin typeface="Cambria Math"/>
                              <a:ea typeface="Cambria Math"/>
                            </a:rPr>
                            <m:t>𝐾</m:t>
                          </m:r>
                        </m:sub>
                      </m:sSub>
                      <m:r>
                        <a:rPr lang="en-US" sz="2400" b="0" i="0">
                          <a:latin typeface="Cambria Math"/>
                        </a:rPr>
                        <m:t>↑   ⇒ </m:t>
                      </m:r>
                      <m:f>
                        <m:fPr>
                          <m:ctrlPr>
                            <a:rPr lang="en-US" sz="2400" b="0" i="1">
                              <a:latin typeface="Cambria Math" panose="02040503050406030204" pitchFamily="18" charset="0"/>
                              <a:ea typeface="Cambria Math"/>
                            </a:rPr>
                          </m:ctrlPr>
                        </m:fPr>
                        <m:num>
                          <m:sSub>
                            <m:sSubPr>
                              <m:ctrlPr>
                                <a:rPr lang="en-US" sz="2400" b="0" i="1">
                                  <a:latin typeface="Cambria Math"/>
                                  <a:ea typeface="Cambria Math"/>
                                </a:rPr>
                              </m:ctrlPr>
                            </m:sSubPr>
                            <m:e>
                              <m:r>
                                <a:rPr lang="en-US" sz="2400" b="0" i="1">
                                  <a:latin typeface="Cambria Math"/>
                                  <a:ea typeface="Cambria Math"/>
                                </a:rPr>
                                <m:t>𝑀𝑃</m:t>
                              </m:r>
                            </m:e>
                            <m:sub>
                              <m:r>
                                <a:rPr lang="en-US" sz="2400" b="0" i="1">
                                  <a:latin typeface="Cambria Math"/>
                                  <a:ea typeface="Cambria Math"/>
                                </a:rPr>
                                <m:t>𝐾</m:t>
                              </m:r>
                            </m:sub>
                          </m:sSub>
                        </m:num>
                        <m:den>
                          <m:sSub>
                            <m:sSubPr>
                              <m:ctrlPr>
                                <a:rPr lang="en-US" sz="2400" b="0" i="1">
                                  <a:latin typeface="Cambria Math"/>
                                  <a:ea typeface="Cambria Math"/>
                                </a:rPr>
                              </m:ctrlPr>
                            </m:sSubPr>
                            <m:e>
                              <m:r>
                                <a:rPr lang="en-US" sz="2400" b="0" i="1">
                                  <a:latin typeface="Cambria Math"/>
                                  <a:ea typeface="Cambria Math"/>
                                </a:rPr>
                                <m:t>𝑝</m:t>
                              </m:r>
                            </m:e>
                            <m:sub>
                              <m:r>
                                <a:rPr lang="en-US" sz="2400" b="0" i="1">
                                  <a:latin typeface="Cambria Math"/>
                                  <a:ea typeface="Cambria Math"/>
                                </a:rPr>
                                <m:t>𝐾</m:t>
                              </m:r>
                            </m:sub>
                          </m:sSub>
                        </m:den>
                      </m:f>
                      <m:r>
                        <a:rPr lang="en-US" sz="2400" b="0" i="0">
                          <a:latin typeface="Cambria Math"/>
                        </a:rPr>
                        <m:t> ↓</m:t>
                      </m:r>
                    </m:oMath>
                  </m:oMathPara>
                </a14:m>
                <a:endParaRPr lang="en-US" sz="2400"/>
              </a:p>
            </p:txBody>
          </p:sp>
        </mc:Choice>
        <mc:Fallback xmlns="">
          <p:sp>
            <p:nvSpPr>
              <p:cNvPr id="10" name="TextBox 9"/>
              <p:cNvSpPr txBox="1">
                <a:spLocks noRot="1" noChangeAspect="1" noMove="1" noResize="1" noEditPoints="1" noAdjustHandles="1" noChangeArrowheads="1" noChangeShapeType="1" noTextEdit="1"/>
              </p:cNvSpPr>
              <p:nvPr/>
            </p:nvSpPr>
            <p:spPr>
              <a:xfrm>
                <a:off x="1984248" y="3657600"/>
                <a:ext cx="2743200" cy="850392"/>
              </a:xfrm>
              <a:prstGeom prst="rect">
                <a:avLst/>
              </a:prstGeom>
              <a:blipFill>
                <a:blip r:embed="rId3"/>
                <a:stretch>
                  <a:fillRect/>
                </a:stretch>
              </a:blipFill>
            </p:spPr>
            <p:txBody>
              <a:bodyPr/>
              <a:lstStyle/>
              <a:p>
                <a:r>
                  <a:rPr lang="en-US">
                    <a:noFill/>
                  </a:rPr>
                  <a:t> </a:t>
                </a:r>
              </a:p>
            </p:txBody>
          </p:sp>
        </mc:Fallback>
      </mc:AlternateContent>
      <p:sp>
        <p:nvSpPr>
          <p:cNvPr id="11" name="TextBox 10"/>
          <p:cNvSpPr txBox="1"/>
          <p:nvPr/>
        </p:nvSpPr>
        <p:spPr>
          <a:xfrm>
            <a:off x="426567" y="4800600"/>
            <a:ext cx="5486400" cy="457200"/>
          </a:xfrm>
          <a:prstGeom prst="rect">
            <a:avLst/>
          </a:prstGeom>
          <a:noFill/>
        </p:spPr>
        <p:txBody>
          <a:bodyPr wrap="square" lIns="0" tIns="0" rIns="0" bIns="0">
            <a:spAutoFit/>
          </a:bodyPr>
          <a:lstStyle/>
          <a:p>
            <a:pPr algn="ctr"/>
            <a:r>
              <a:rPr sz="2000" b="0" i="0">
                <a:solidFill>
                  <a:srgbClr val="0B2B4E"/>
                </a:solidFill>
                <a:latin typeface="Calibri"/>
              </a:rPr>
              <a:t>→  shift toward more labor</a:t>
            </a:r>
          </a:p>
        </p:txBody>
      </p:sp>
      <p:sp>
        <p:nvSpPr>
          <p:cNvPr id="12" name="Rectangle 11"/>
          <p:cNvSpPr/>
          <p:nvPr/>
        </p:nvSpPr>
        <p:spPr>
          <a:xfrm>
            <a:off x="6278727" y="2468880"/>
            <a:ext cx="5486400" cy="64008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Calibri"/>
              </a:rPr>
              <a:t>Labor unions demand significantly higher wages</a:t>
            </a:r>
          </a:p>
        </p:txBody>
      </p:sp>
      <p:sp>
        <p:nvSpPr>
          <p:cNvPr id="13" name="Rectangle 12"/>
          <p:cNvSpPr/>
          <p:nvPr/>
        </p:nvSpPr>
        <p:spPr>
          <a:xfrm>
            <a:off x="6278727" y="3154680"/>
            <a:ext cx="5486400" cy="2423160"/>
          </a:xfrm>
          <a:prstGeom prst="rect">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14" name="TextBox 13"/>
              <p:cNvSpPr txBox="1"/>
              <p:nvPr/>
            </p:nvSpPr>
            <p:spPr>
              <a:xfrm>
                <a:off x="7982712" y="3794760"/>
                <a:ext cx="2331720" cy="786384"/>
              </a:xfrm>
              <a:prstGeom prst="rect">
                <a:avLst/>
              </a:prstGeom>
              <a:noFill/>
            </p:spPr>
            <p:txBody>
              <a:bodyPr wrap="square" anchor="ctr">
                <a:spAutoFit/>
              </a:bodyPr>
              <a:lstStyle/>
              <a:p>
                <a:pPr algn="ctr">
                  <a:defRPr sz="2400" b="0" i="1">
                    <a:solidFill>
                      <a:srgbClr val="0B2B4E"/>
                    </a:solidFill>
                    <a:latin typeface="Cambria Math"/>
                  </a:defRPr>
                </a:pPr>
                <a14:m>
                  <m:oMathPara xmlns:m="http://schemas.openxmlformats.org/officeDocument/2006/math">
                    <m:oMath>
                      <m:r>
                        <a:rPr lang="en-US" sz="2400" b="0" i="1">
                          <a:latin typeface="Cambria Math"/>
                          <a:ea typeface="Cambria Math"/>
                        </a:rPr>
                        <m:t>𝑤</m:t>
                      </m:r>
                      <m:r>
                        <a:rPr lang="en-US" sz="2400" b="0" i="0">
                          <a:latin typeface="Cambria Math"/>
                        </a:rPr>
                        <m:t>↑  ⇒ </m:t>
                      </m:r>
                      <m:f>
                        <m:fPr>
                          <m:ctrlPr>
                            <a:rPr lang="en-US" sz="2400" b="0" i="1">
                              <a:latin typeface="Cambria Math" panose="02040503050406030204" pitchFamily="18" charset="0"/>
                              <a:ea typeface="Cambria Math"/>
                            </a:rPr>
                          </m:ctrlPr>
                        </m:fPr>
                        <m:num>
                          <m:sSub>
                            <m:sSubPr>
                              <m:ctrlPr>
                                <a:rPr lang="en-US" sz="2400" b="0" i="1">
                                  <a:latin typeface="Cambria Math"/>
                                  <a:ea typeface="Cambria Math"/>
                                </a:rPr>
                              </m:ctrlPr>
                            </m:sSubPr>
                            <m:e>
                              <m:r>
                                <a:rPr lang="en-US" sz="2400" b="0" i="1">
                                  <a:latin typeface="Cambria Math"/>
                                  <a:ea typeface="Cambria Math"/>
                                </a:rPr>
                                <m:t>𝑀𝑃</m:t>
                              </m:r>
                            </m:e>
                            <m:sub>
                              <m:r>
                                <a:rPr lang="en-US" sz="2400" b="0" i="1">
                                  <a:latin typeface="Cambria Math"/>
                                  <a:ea typeface="Cambria Math"/>
                                </a:rPr>
                                <m:t>𝐿</m:t>
                              </m:r>
                            </m:sub>
                          </m:sSub>
                        </m:num>
                        <m:den>
                          <m:r>
                            <a:rPr lang="en-US" sz="2400" b="0" i="1">
                              <a:latin typeface="Cambria Math"/>
                              <a:ea typeface="Cambria Math"/>
                            </a:rPr>
                            <m:t>𝑤</m:t>
                          </m:r>
                        </m:den>
                      </m:f>
                      <m:r>
                        <a:rPr lang="en-US" sz="2400" b="0" i="0">
                          <a:latin typeface="Cambria Math"/>
                        </a:rPr>
                        <m:t>↓</m:t>
                      </m:r>
                    </m:oMath>
                  </m:oMathPara>
                </a14:m>
                <a:endParaRPr lang="en-US" sz="2400"/>
              </a:p>
            </p:txBody>
          </p:sp>
        </mc:Choice>
        <mc:Fallback xmlns="">
          <p:sp>
            <p:nvSpPr>
              <p:cNvPr id="14" name="TextBox 13"/>
              <p:cNvSpPr txBox="1">
                <a:spLocks noRot="1" noChangeAspect="1" noMove="1" noResize="1" noEditPoints="1" noAdjustHandles="1" noChangeArrowheads="1" noChangeShapeType="1" noTextEdit="1"/>
              </p:cNvSpPr>
              <p:nvPr/>
            </p:nvSpPr>
            <p:spPr>
              <a:xfrm>
                <a:off x="7982712" y="3794760"/>
                <a:ext cx="2331720" cy="786384"/>
              </a:xfrm>
              <a:prstGeom prst="rect">
                <a:avLst/>
              </a:prstGeom>
              <a:blipFill>
                <a:blip r:embed="rId4"/>
                <a:stretch>
                  <a:fillRect/>
                </a:stretch>
              </a:blipFill>
            </p:spPr>
            <p:txBody>
              <a:bodyPr/>
              <a:lstStyle/>
              <a:p>
                <a:r>
                  <a:rPr lang="en-US">
                    <a:noFill/>
                  </a:rPr>
                  <a:t> </a:t>
                </a:r>
              </a:p>
            </p:txBody>
          </p:sp>
        </mc:Fallback>
      </mc:AlternateContent>
      <p:sp>
        <p:nvSpPr>
          <p:cNvPr id="15" name="TextBox 14"/>
          <p:cNvSpPr txBox="1"/>
          <p:nvPr/>
        </p:nvSpPr>
        <p:spPr>
          <a:xfrm>
            <a:off x="6278727" y="4800600"/>
            <a:ext cx="5486400" cy="457200"/>
          </a:xfrm>
          <a:prstGeom prst="rect">
            <a:avLst/>
          </a:prstGeom>
          <a:noFill/>
        </p:spPr>
        <p:txBody>
          <a:bodyPr wrap="square" lIns="0" tIns="0" rIns="0" bIns="0">
            <a:spAutoFit/>
          </a:bodyPr>
          <a:lstStyle/>
          <a:p>
            <a:pPr algn="ctr"/>
            <a:r>
              <a:rPr sz="2000" b="0" i="0">
                <a:solidFill>
                  <a:srgbClr val="0B2B4E"/>
                </a:solidFill>
                <a:latin typeface="Calibri"/>
              </a:rPr>
              <a:t>→  shift toward more automation</a:t>
            </a:r>
          </a:p>
        </p:txBody>
      </p:sp>
      <p:sp>
        <p:nvSpPr>
          <p:cNvPr id="16" name="Rounded Rectangle 15"/>
          <p:cNvSpPr/>
          <p:nvPr/>
        </p:nvSpPr>
        <p:spPr>
          <a:xfrm>
            <a:off x="609447" y="5833872"/>
            <a:ext cx="10972800" cy="502920"/>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0B2B4E"/>
                </a:solidFill>
                <a:latin typeface="Calibri"/>
              </a:rPr>
              <a:t>When input prices change, the optimal mix shifts toward the input that has become</a:t>
            </a:r>
            <a:r>
              <a:rPr lang="en-US" sz="1800" b="1" dirty="0">
                <a:solidFill>
                  <a:srgbClr val="0B2B4E"/>
                </a:solidFill>
                <a:latin typeface="Calibri"/>
              </a:rPr>
              <a:t> relatively</a:t>
            </a:r>
            <a:r>
              <a:rPr sz="1800" b="1" dirty="0">
                <a:solidFill>
                  <a:srgbClr val="0B2B4E"/>
                </a:solidFill>
                <a:latin typeface="Calibri"/>
              </a:rPr>
              <a:t> cheaper</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1999" y="6583680"/>
            <a:ext cx="10058400" cy="292608"/>
          </a:xfrm>
          <a:prstGeom prst="rect">
            <a:avLst/>
          </a:prstGeom>
          <a:noFill/>
        </p:spPr>
        <p:txBody>
          <a:bodyPr wrap="square" lIns="0" tIns="0" rIns="0" bIns="0">
            <a:spAutoFit/>
          </a:bodyPr>
          <a:lstStyle/>
          <a:p>
            <a:pPr algn="l"/>
            <a:r>
              <a:rPr sz="1200" b="0" i="0">
                <a:solidFill>
                  <a:srgbClr val="555B66"/>
                </a:solidFill>
                <a:latin typeface="Calibri"/>
              </a:rPr>
              <a:t>Management 405  ·  Module 3  ·  Production and Costs</a:t>
            </a:r>
          </a:p>
        </p:txBody>
      </p:sp>
      <p:sp>
        <p:nvSpPr>
          <p:cNvPr id="20" name="TextBox 19"/>
          <p:cNvSpPr txBox="1"/>
          <p:nvPr/>
        </p:nvSpPr>
        <p:spPr>
          <a:xfrm>
            <a:off x="11430000" y="6583680"/>
            <a:ext cx="548640" cy="292608"/>
          </a:xfrm>
          <a:prstGeom prst="rect">
            <a:avLst/>
          </a:prstGeom>
          <a:noFill/>
        </p:spPr>
        <p:txBody>
          <a:bodyPr wrap="square" lIns="0" tIns="0" rIns="0" bIns="0">
            <a:spAutoFit/>
          </a:bodyPr>
          <a:lstStyle/>
          <a:p>
            <a:pPr algn="r"/>
            <a:fld id="{31AFBA84-87DF-4D8E-8802-2D2379BDCF2D}" type="slidenum">
              <a:rPr sz="1200" b="0" i="0">
                <a:solidFill>
                  <a:srgbClr val="555B66"/>
                </a:solidFill>
                <a:latin typeface="Calibri"/>
              </a:rPr>
              <a:t>10</a:t>
            </a:fld>
            <a:endParaRPr sz="1200" b="0" i="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7283a784-2fd7-4bfb-8228-9d72b6fa9d8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228</TotalTime>
  <Words>2000</Words>
  <Application>Microsoft Office PowerPoint</Application>
  <PresentationFormat>Widescreen</PresentationFormat>
  <Paragraphs>203</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52</cp:revision>
  <dcterms:created xsi:type="dcterms:W3CDTF">2013-01-27T09:14:16Z</dcterms:created>
  <dcterms:modified xsi:type="dcterms:W3CDTF">2026-08-27T21:54:38Z</dcterms:modified>
  <cp:category/>
</cp:coreProperties>
</file>