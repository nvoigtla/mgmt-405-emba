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21" r:id="rId2"/>
    <p:sldId id="322" r:id="rId3"/>
    <p:sldId id="323" r:id="rId4"/>
    <p:sldId id="324" r:id="rId5"/>
    <p:sldId id="325" r:id="rId6"/>
    <p:sldId id="326" r:id="rId7"/>
    <p:sldId id="358" r:id="rId8"/>
    <p:sldId id="328" r:id="rId9"/>
    <p:sldId id="329" r:id="rId10"/>
    <p:sldId id="33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case where serving an extra unit actually costs something.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marginal cost is positive, the pure flat fee breaks down, because the customer consumes until the value of the last unit is zero and you pay for all of it. The fix is two prices. Set the usage fee at marginal cost, which makes the customer stop at the right quantity, and then take the whole remaining consumer surplus as the flat fee.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the two-part tariff is one decision made twice. The usage fee is set by efficiency: put it at marginal cost and the customer self-regulates. The flat fee is set by extraction: take the triangle that is left. Video game consoles and their games, Zipcar's membership and its hourly rate, Amazon Prime and the purchases, are all this structure.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it is with numbers. Demand is P equals 1.50 minus 0.01Q and marginal cost is fifty cents a mile, so the member drives a hundred miles. Charge fifty cents a mile and the flat fee can be fifty dollars, which is the triangle above marginal cost. Ask the class the question on the right before you answer it: a flat fee with no usage charge would have members driving far past the point where the miles are worth anything.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exercise. Demand for the average customer is P equals 40 minus 8Q, where Q is visits per year, and each visit costs the zoo eight dollars. Give them a minute on the poll before working it through.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pricing strategy for the Zoo?
https://www.polleverywhere.com/multiple_choice_polls/hmpajEICOBWnni2rKMoIs?state=opened&amp;flow=Default&amp;onscreen=persist</a:t>
            </a:r>
          </a:p>
        </p:txBody>
      </p:sp>
      <p:sp>
        <p:nvSpPr>
          <p:cNvPr id="4" name="Slide Number Placeholder 3"/>
          <p:cNvSpPr>
            <a:spLocks noGrp="1"/>
          </p:cNvSpPr>
          <p:nvPr>
            <p:ph type="sldNum" sz="quarter" idx="5"/>
          </p:nvPr>
        </p:nvSpPr>
        <p:spPr/>
        <p:txBody>
          <a:bodyPr/>
          <a:lstStyle/>
          <a:p>
            <a:fld id="{1E0BAC09-9370-4EA9-BE24-094450873490}" type="slidenum">
              <a:rPr lang="en-US" smtClean="0"/>
              <a:t>7</a:t>
            </a:fld>
            <a:endParaRPr lang="en-US"/>
          </a:p>
        </p:txBody>
      </p:sp>
      <p:sp>
        <p:nvSpPr>
          <p:cNvPr id="5" name="TextBox 4">
            <a:extLst>
              <a:ext uri="{FF2B5EF4-FFF2-40B4-BE49-F238E27FC236}">
                <a16:creationId xmlns:a16="http://schemas.microsoft.com/office/drawing/2014/main" id="{B35B1E7A-4867-AD85-7E85-4BBF83302B2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18859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answer. Set the per-visit charge at marginal cost, eight dollars, and the customer comes four times. The surplus left above that line is thirty-two times four over two, which is sixty-four dollars, and that is the membership. The per-visit charge brings in thirty-two dollars, exactly the variable cost of the four visits, so the zoo keeps the sixty-four.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it with one simple price. Marginal revenue is 40 minus 16Q, and setting that equal to the eight dollar marginal cost gives two visits at twenty-four dollars, so thirty-two dollars per customer. The two-part tariff doubled that, and it did so by serving the customer more, not less.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compare it with a pure flat fee. Charge a hundred dollars for unlimited entry and the customer comes all five times, because each visit is now free to her. Those five visits cost the zoo forty dollars, so it keeps sixty. The last visit is the problem: she values it at nothing and it still costs eight dollars to serve. The usage fee in the two-part tariff is what stops that over-use, and it is worth four dollars here.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Two-Part Tariffs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7</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7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6" name="Oval 15"/>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7" name="Rounded Rectangle 16"/>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19" name="Oval 18"/>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0" name="Rounded Rectangle 19"/>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1" name="TextBox 20"/>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2" name="Oval 21"/>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4</a:t>
            </a:r>
          </a:p>
        </p:txBody>
      </p:sp>
      <p:sp>
        <p:nvSpPr>
          <p:cNvPr id="23" name="Rounded Rectangle 22"/>
          <p:cNvSpPr/>
          <p:nvPr/>
        </p:nvSpPr>
        <p:spPr>
          <a:xfrm>
            <a:off x="10332720" y="397993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6–8</a:t>
            </a:r>
          </a:p>
        </p:txBody>
      </p:sp>
      <p:sp>
        <p:nvSpPr>
          <p:cNvPr id="24" name="TextBox 23"/>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Advanced Pricing Strategies</a:t>
            </a:r>
          </a:p>
        </p:txBody>
      </p:sp>
      <p:sp>
        <p:nvSpPr>
          <p:cNvPr id="25" name="Oval 24"/>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6" name="Rounded Rectangle 25"/>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7" name="TextBox 26"/>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8" name="Rounded Rectangle 27"/>
          <p:cNvSpPr/>
          <p:nvPr/>
        </p:nvSpPr>
        <p:spPr>
          <a:xfrm>
            <a:off x="1252728" y="4846344"/>
            <a:ext cx="10680192"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4b</a:t>
            </a:r>
          </a:p>
        </p:txBody>
      </p:sp>
      <p:sp>
        <p:nvSpPr>
          <p:cNvPr id="30" name="Rounded Rectangle 29"/>
          <p:cNvSpPr/>
          <p:nvPr/>
        </p:nvSpPr>
        <p:spPr>
          <a:xfrm>
            <a:off x="10707625" y="496978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7</a:t>
            </a:r>
          </a:p>
        </p:txBody>
      </p:sp>
      <p:sp>
        <p:nvSpPr>
          <p:cNvPr id="31" name="TextBox 30"/>
          <p:cNvSpPr txBox="1"/>
          <p:nvPr/>
        </p:nvSpPr>
        <p:spPr>
          <a:xfrm>
            <a:off x="2084831" y="4892064"/>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Two-Part Tariff</a:t>
            </a:r>
          </a:p>
          <a:p>
            <a:pPr algn="l">
              <a:spcBef>
                <a:spcPts val="0"/>
              </a:spcBef>
              <a:buNone/>
            </a:pPr>
            <a:r>
              <a:rPr sz="1600">
                <a:solidFill>
                  <a:srgbClr val="555B66"/>
                </a:solidFill>
                <a:latin typeface="Calibri"/>
              </a:rPr>
              <a:t>A flat fee plus a usage fee set at marginal cost</a:t>
            </a: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4" name="TextBox 33"/>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A8010BAA-C654-50BB-8399-63D01C1D2EDA}"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7 · Two-Part Tariff</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Two-Part Tariff (Now MC &gt; 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96012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960120" y="5989320"/>
            <a:ext cx="51937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680466" y="1211579"/>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sdaxistitle:x"/>
          <p:cNvSpPr txBox="1"/>
          <p:nvPr/>
        </p:nvSpPr>
        <p:spPr>
          <a:xfrm>
            <a:off x="6041136" y="6035040"/>
            <a:ext cx="225551" cy="265176"/>
          </a:xfrm>
          <a:prstGeom prst="rect">
            <a:avLst/>
          </a:prstGeom>
          <a:noFill/>
        </p:spPr>
        <p:txBody>
          <a:bodyPr wrap="square" lIns="0" tIns="0" rIns="0" bIns="0">
            <a:spAutoFit/>
          </a:bodyPr>
          <a:lstStyle/>
          <a:p>
            <a:pPr algn="l"/>
            <a:r>
              <a:rPr sz="1800" b="1" i="1" u="none" dirty="0">
                <a:solidFill>
                  <a:srgbClr val="0B2B4E"/>
                </a:solidFill>
                <a:latin typeface="Calibri"/>
              </a:rPr>
              <a:t>Q</a:t>
            </a:r>
          </a:p>
        </p:txBody>
      </p:sp>
      <p:grpSp>
        <p:nvGrpSpPr>
          <p:cNvPr id="131" name="sdpair:sdreglab:640f2986"/>
          <p:cNvGrpSpPr/>
          <p:nvPr/>
        </p:nvGrpSpPr>
        <p:grpSpPr>
          <a:xfrm>
            <a:off x="960120" y="2255519"/>
            <a:ext cx="2514600" cy="2333626"/>
            <a:chOff x="960120" y="2255519"/>
            <a:chExt cx="2514600" cy="2333626"/>
          </a:xfrm>
        </p:grpSpPr>
        <p:sp>
          <p:nvSpPr>
            <p:cNvPr id="11" name="sdregion:640f2986"/>
            <p:cNvSpPr/>
            <p:nvPr/>
          </p:nvSpPr>
          <p:spPr>
            <a:xfrm>
              <a:off x="960120" y="2255519"/>
              <a:ext cx="2514600" cy="2333626"/>
            </a:xfrm>
            <a:custGeom>
              <a:avLst/>
              <a:gdLst/>
              <a:ahLst/>
              <a:cxnLst/>
              <a:rect l="0" t="0" r="r" b="b"/>
              <a:pathLst>
                <a:path w="2514600" h="2333626">
                  <a:moveTo>
                    <a:pt x="0" y="0"/>
                  </a:moveTo>
                  <a:lnTo>
                    <a:pt x="0" y="2333626"/>
                  </a:lnTo>
                  <a:lnTo>
                    <a:pt x="2514600" y="2333626"/>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dreglab:640f2986"/>
            <p:cNvSpPr txBox="1"/>
            <p:nvPr/>
          </p:nvSpPr>
          <p:spPr>
            <a:xfrm>
              <a:off x="1439608" y="3793807"/>
              <a:ext cx="348615" cy="377190"/>
            </a:xfrm>
            <a:prstGeom prst="rect">
              <a:avLst/>
            </a:prstGeom>
            <a:noFill/>
          </p:spPr>
          <p:txBody>
            <a:bodyPr wrap="square" lIns="0" tIns="0" rIns="0" bIns="0">
              <a:spAutoFit/>
            </a:bodyPr>
            <a:lstStyle/>
            <a:p>
              <a:pPr algn="ctr"/>
              <a:r>
                <a:rPr sz="2200" b="1" i="0" u="none">
                  <a:solidFill>
                    <a:srgbClr val="0B2B4E"/>
                  </a:solidFill>
                  <a:latin typeface="Calibri"/>
                </a:rPr>
                <a:t>F*</a:t>
              </a:r>
            </a:p>
          </p:txBody>
        </p:sp>
      </p:grpSp>
      <p:grpSp>
        <p:nvGrpSpPr>
          <p:cNvPr id="40" name="Group 39">
            <a:extLst>
              <a:ext uri="{FF2B5EF4-FFF2-40B4-BE49-F238E27FC236}">
                <a16:creationId xmlns:a16="http://schemas.microsoft.com/office/drawing/2014/main" id="{9F3320DA-4D4E-84B8-D913-CE1DBA999FCA}"/>
              </a:ext>
            </a:extLst>
          </p:cNvPr>
          <p:cNvGrpSpPr/>
          <p:nvPr/>
        </p:nvGrpSpPr>
        <p:grpSpPr>
          <a:xfrm>
            <a:off x="960120" y="4589145"/>
            <a:ext cx="2514600" cy="1400175"/>
            <a:chOff x="960120" y="4589145"/>
            <a:chExt cx="2514600" cy="1400175"/>
          </a:xfrm>
        </p:grpSpPr>
        <p:sp>
          <p:nvSpPr>
            <p:cNvPr id="12" name="sdregion:cbb69489"/>
            <p:cNvSpPr/>
            <p:nvPr/>
          </p:nvSpPr>
          <p:spPr>
            <a:xfrm>
              <a:off x="960120" y="4589145"/>
              <a:ext cx="2514600" cy="1400175"/>
            </a:xfrm>
            <a:custGeom>
              <a:avLst/>
              <a:gdLst/>
              <a:ahLst/>
              <a:cxnLst/>
              <a:rect l="0" t="0" r="r" b="b"/>
              <a:pathLst>
                <a:path w="2514600" h="1400175">
                  <a:moveTo>
                    <a:pt x="0" y="0"/>
                  </a:moveTo>
                  <a:lnTo>
                    <a:pt x="0" y="1400175"/>
                  </a:lnTo>
                  <a:lnTo>
                    <a:pt x="2514600" y="1400175"/>
                  </a:lnTo>
                  <a:lnTo>
                    <a:pt x="2514600" y="0"/>
                  </a:lnTo>
                  <a:close/>
                </a:path>
              </a:pathLst>
            </a:custGeom>
            <a:solidFill>
              <a:srgbClr val="0B2B4E">
                <a:alpha val="16000"/>
              </a:srgb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dreglab:cbb69489"/>
            <p:cNvSpPr txBox="1"/>
            <p:nvPr/>
          </p:nvSpPr>
          <p:spPr>
            <a:xfrm>
              <a:off x="1028699" y="5143499"/>
              <a:ext cx="2377440" cy="291465"/>
            </a:xfrm>
            <a:prstGeom prst="rect">
              <a:avLst/>
            </a:prstGeom>
            <a:noFill/>
          </p:spPr>
          <p:txBody>
            <a:bodyPr wrap="square" lIns="0" tIns="0" rIns="0" bIns="0">
              <a:spAutoFit/>
            </a:bodyPr>
            <a:lstStyle/>
            <a:p>
              <a:pPr algn="ctr"/>
              <a:r>
                <a:rPr sz="1700" b="1" i="0" u="none" dirty="0">
                  <a:solidFill>
                    <a:srgbClr val="0B2B4E"/>
                  </a:solidFill>
                  <a:latin typeface="Calibri"/>
                </a:rPr>
                <a:t>Revenues from usage fee</a:t>
              </a:r>
            </a:p>
          </p:txBody>
        </p:sp>
      </p:grpSp>
      <p:cxnSp>
        <p:nvCxnSpPr>
          <p:cNvPr id="13" name="Connector 12"/>
          <p:cNvCxnSpPr/>
          <p:nvPr/>
        </p:nvCxnSpPr>
        <p:spPr>
          <a:xfrm>
            <a:off x="960120" y="2255519"/>
            <a:ext cx="4023360" cy="3733801"/>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BB13F5D3-30AF-D0A7-C545-4486249362E6}"/>
              </a:ext>
            </a:extLst>
          </p:cNvPr>
          <p:cNvGrpSpPr/>
          <p:nvPr/>
        </p:nvGrpSpPr>
        <p:grpSpPr>
          <a:xfrm>
            <a:off x="960120" y="4269613"/>
            <a:ext cx="4778279" cy="319532"/>
            <a:chOff x="960120" y="4269613"/>
            <a:chExt cx="4778279" cy="319532"/>
          </a:xfrm>
        </p:grpSpPr>
        <p:cxnSp>
          <p:nvCxnSpPr>
            <p:cNvPr id="14" name="Connector 13"/>
            <p:cNvCxnSpPr/>
            <p:nvPr/>
          </p:nvCxnSpPr>
          <p:spPr>
            <a:xfrm>
              <a:off x="960120" y="4589145"/>
              <a:ext cx="4425696"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22347" y="4269613"/>
              <a:ext cx="416052" cy="292608"/>
            </a:xfrm>
            <a:prstGeom prst="rect">
              <a:avLst/>
            </a:prstGeom>
            <a:noFill/>
          </p:spPr>
          <p:txBody>
            <a:bodyPr wrap="square" lIns="0" tIns="0" rIns="0" bIns="0">
              <a:spAutoFit/>
            </a:bodyPr>
            <a:lstStyle/>
            <a:p>
              <a:pPr algn="l"/>
              <a:r>
                <a:rPr sz="1900" b="1" i="1" u="none" dirty="0">
                  <a:solidFill>
                    <a:srgbClr val="0B2B4E"/>
                  </a:solidFill>
                  <a:latin typeface="Calibri"/>
                </a:rPr>
                <a:t>MC</a:t>
              </a:r>
            </a:p>
          </p:txBody>
        </p:sp>
      </p:grpSp>
      <p:sp>
        <p:nvSpPr>
          <p:cNvPr id="16" name="TextBox 15"/>
          <p:cNvSpPr txBox="1"/>
          <p:nvPr/>
        </p:nvSpPr>
        <p:spPr>
          <a:xfrm>
            <a:off x="4832032" y="5523357"/>
            <a:ext cx="235077" cy="292608"/>
          </a:xfrm>
          <a:prstGeom prst="rect">
            <a:avLst/>
          </a:prstGeom>
          <a:noFill/>
        </p:spPr>
        <p:txBody>
          <a:bodyPr wrap="square" lIns="0" tIns="0" rIns="0" bIns="0">
            <a:spAutoFit/>
          </a:bodyPr>
          <a:lstStyle/>
          <a:p>
            <a:pPr algn="l"/>
            <a:r>
              <a:rPr sz="2000" b="1" i="1" u="none" dirty="0">
                <a:solidFill>
                  <a:srgbClr val="A2162A"/>
                </a:solidFill>
                <a:latin typeface="Calibri"/>
              </a:rPr>
              <a:t>D</a:t>
            </a:r>
          </a:p>
        </p:txBody>
      </p:sp>
      <p:sp>
        <p:nvSpPr>
          <p:cNvPr id="19" name="TextBox 18"/>
          <p:cNvSpPr txBox="1"/>
          <p:nvPr/>
        </p:nvSpPr>
        <p:spPr>
          <a:xfrm>
            <a:off x="585216" y="4451985"/>
            <a:ext cx="301752" cy="274320"/>
          </a:xfrm>
          <a:prstGeom prst="rect">
            <a:avLst/>
          </a:prstGeom>
          <a:noFill/>
        </p:spPr>
        <p:txBody>
          <a:bodyPr wrap="square" lIns="0" tIns="0" rIns="0" bIns="0">
            <a:spAutoFit/>
          </a:bodyPr>
          <a:lstStyle/>
          <a:p>
            <a:pPr algn="r"/>
            <a:r>
              <a:rPr sz="1800" b="0" i="1" u="none" dirty="0">
                <a:solidFill>
                  <a:srgbClr val="0B2B4E"/>
                </a:solidFill>
                <a:latin typeface="Calibri"/>
              </a:rPr>
              <a:t>P*</a:t>
            </a:r>
          </a:p>
        </p:txBody>
      </p:sp>
      <p:grpSp>
        <p:nvGrpSpPr>
          <p:cNvPr id="36" name="Group 35">
            <a:extLst>
              <a:ext uri="{FF2B5EF4-FFF2-40B4-BE49-F238E27FC236}">
                <a16:creationId xmlns:a16="http://schemas.microsoft.com/office/drawing/2014/main" id="{87A386C5-DD01-7AF9-6910-BB2D12D5852D}"/>
              </a:ext>
            </a:extLst>
          </p:cNvPr>
          <p:cNvGrpSpPr/>
          <p:nvPr/>
        </p:nvGrpSpPr>
        <p:grpSpPr>
          <a:xfrm>
            <a:off x="7269480" y="2137156"/>
            <a:ext cx="4480560" cy="736600"/>
            <a:chOff x="7269480" y="2137156"/>
            <a:chExt cx="4480560" cy="736600"/>
          </a:xfrm>
        </p:grpSpPr>
        <p:sp>
          <p:nvSpPr>
            <p:cNvPr id="22" name="Right Triangle 21"/>
            <p:cNvSpPr/>
            <p:nvPr/>
          </p:nvSpPr>
          <p:spPr>
            <a:xfrm>
              <a:off x="7269480" y="2395728"/>
              <a:ext cx="219456" cy="219456"/>
            </a:xfrm>
            <a:prstGeom prst="rtTriangle">
              <a:avLst/>
            </a:prstGeom>
            <a:solidFill>
              <a:srgbClr val="E09F3E">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71816" y="2137156"/>
              <a:ext cx="4078224" cy="736600"/>
            </a:xfrm>
            <a:prstGeom prst="rect">
              <a:avLst/>
            </a:prstGeom>
            <a:noFill/>
          </p:spPr>
          <p:txBody>
            <a:bodyPr wrap="square" lIns="0" tIns="0" rIns="0" bIns="0">
              <a:spAutoFit/>
            </a:bodyPr>
            <a:lstStyle/>
            <a:p>
              <a:pPr algn="l"/>
              <a:r>
                <a:rPr sz="2200" b="0" i="0" u="none">
                  <a:solidFill>
                    <a:srgbClr val="0B2B4E"/>
                  </a:solidFill>
                  <a:latin typeface="Calibri"/>
                </a:rPr>
                <a:t>Flat fee F* = the entire consumer surplus</a:t>
              </a:r>
            </a:p>
          </p:txBody>
        </p:sp>
      </p:grpSp>
      <p:grpSp>
        <p:nvGrpSpPr>
          <p:cNvPr id="33" name="Group 32">
            <a:extLst>
              <a:ext uri="{FF2B5EF4-FFF2-40B4-BE49-F238E27FC236}">
                <a16:creationId xmlns:a16="http://schemas.microsoft.com/office/drawing/2014/main" id="{21488876-C425-9BEE-699E-B20AA074E8F1}"/>
              </a:ext>
            </a:extLst>
          </p:cNvPr>
          <p:cNvGrpSpPr/>
          <p:nvPr/>
        </p:nvGrpSpPr>
        <p:grpSpPr>
          <a:xfrm>
            <a:off x="7269480" y="3135630"/>
            <a:ext cx="4480560" cy="395732"/>
            <a:chOff x="7269480" y="3135630"/>
            <a:chExt cx="4480560" cy="395732"/>
          </a:xfrm>
        </p:grpSpPr>
        <p:sp>
          <p:nvSpPr>
            <p:cNvPr id="24" name="Rectangle 23"/>
            <p:cNvSpPr/>
            <p:nvPr/>
          </p:nvSpPr>
          <p:spPr>
            <a:xfrm>
              <a:off x="7269480" y="3308350"/>
              <a:ext cx="219456" cy="50292"/>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71816" y="3135630"/>
              <a:ext cx="4078224" cy="395732"/>
            </a:xfrm>
            <a:prstGeom prst="rect">
              <a:avLst/>
            </a:prstGeom>
            <a:noFill/>
          </p:spPr>
          <p:txBody>
            <a:bodyPr wrap="square" lIns="0" tIns="0" rIns="0" bIns="0">
              <a:spAutoFit/>
            </a:bodyPr>
            <a:lstStyle/>
            <a:p>
              <a:pPr algn="l"/>
              <a:r>
                <a:rPr sz="2200" b="0" i="0" u="none">
                  <a:solidFill>
                    <a:srgbClr val="0B2B4E"/>
                  </a:solidFill>
                  <a:latin typeface="Calibri"/>
                </a:rPr>
                <a:t>Usage fee P* = marginal cost</a:t>
              </a:r>
            </a:p>
          </p:txBody>
        </p:sp>
      </p:grpSp>
      <p:grpSp>
        <p:nvGrpSpPr>
          <p:cNvPr id="35" name="Group 34">
            <a:extLst>
              <a:ext uri="{FF2B5EF4-FFF2-40B4-BE49-F238E27FC236}">
                <a16:creationId xmlns:a16="http://schemas.microsoft.com/office/drawing/2014/main" id="{1C6E054E-09DE-59D5-FB47-7B41EBEFC749}"/>
              </a:ext>
            </a:extLst>
          </p:cNvPr>
          <p:cNvGrpSpPr/>
          <p:nvPr/>
        </p:nvGrpSpPr>
        <p:grpSpPr>
          <a:xfrm>
            <a:off x="7269480" y="3702557"/>
            <a:ext cx="4480560" cy="395732"/>
            <a:chOff x="7269480" y="3702557"/>
            <a:chExt cx="4480560" cy="395732"/>
          </a:xfrm>
        </p:grpSpPr>
        <p:sp>
          <p:nvSpPr>
            <p:cNvPr id="26" name="Rectangle 25"/>
            <p:cNvSpPr/>
            <p:nvPr/>
          </p:nvSpPr>
          <p:spPr>
            <a:xfrm>
              <a:off x="7269480" y="3790695"/>
              <a:ext cx="219456" cy="219456"/>
            </a:xfrm>
            <a:prstGeom prst="rect">
              <a:avLst/>
            </a:prstGeom>
            <a:solidFill>
              <a:srgbClr val="0B2B4E">
                <a:alpha val="1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71816" y="3702557"/>
              <a:ext cx="4078224" cy="395732"/>
            </a:xfrm>
            <a:prstGeom prst="rect">
              <a:avLst/>
            </a:prstGeom>
            <a:noFill/>
          </p:spPr>
          <p:txBody>
            <a:bodyPr wrap="square" lIns="0" tIns="0" rIns="0" bIns="0">
              <a:spAutoFit/>
            </a:bodyPr>
            <a:lstStyle/>
            <a:p>
              <a:pPr algn="l"/>
              <a:r>
                <a:rPr sz="2200" b="0" i="0" u="none" dirty="0">
                  <a:solidFill>
                    <a:srgbClr val="0B2B4E"/>
                  </a:solidFill>
                  <a:latin typeface="Calibri"/>
                </a:rPr>
                <a:t>Revenue from usage fee</a:t>
              </a:r>
            </a:p>
          </p:txBody>
        </p:sp>
      </p:gr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693E6277-CDA5-5C83-80DB-FFFD2EA37ECF}" type="slidenum">
              <a:rPr lang="en-US" sz="1200" dirty="0">
                <a:solidFill>
                  <a:srgbClr val="555B66"/>
                </a:solidFill>
                <a:latin typeface="Calibri"/>
              </a:rPr>
              <a:t>3</a:t>
            </a:fld>
            <a:endParaRPr lang="en-US" sz="1200" dirty="0">
              <a:solidFill>
                <a:srgbClr val="555B66"/>
              </a:solidFill>
              <a:latin typeface="Calibri"/>
            </a:endParaRPr>
          </a:p>
        </p:txBody>
      </p:sp>
      <p:grpSp>
        <p:nvGrpSpPr>
          <p:cNvPr id="39" name="Group 38">
            <a:extLst>
              <a:ext uri="{FF2B5EF4-FFF2-40B4-BE49-F238E27FC236}">
                <a16:creationId xmlns:a16="http://schemas.microsoft.com/office/drawing/2014/main" id="{AF2F4844-A8C2-A5FB-9FB3-DA9ADDDD794F}"/>
              </a:ext>
            </a:extLst>
          </p:cNvPr>
          <p:cNvGrpSpPr/>
          <p:nvPr/>
        </p:nvGrpSpPr>
        <p:grpSpPr>
          <a:xfrm>
            <a:off x="960120" y="4589145"/>
            <a:ext cx="3054096" cy="1732417"/>
            <a:chOff x="960120" y="4589145"/>
            <a:chExt cx="3054096" cy="1732417"/>
          </a:xfrm>
        </p:grpSpPr>
        <p:grpSp>
          <p:nvGrpSpPr>
            <p:cNvPr id="34" name="Group 33">
              <a:extLst>
                <a:ext uri="{FF2B5EF4-FFF2-40B4-BE49-F238E27FC236}">
                  <a16:creationId xmlns:a16="http://schemas.microsoft.com/office/drawing/2014/main" id="{BD499E2E-ECC0-AD55-4CEC-9C1BE203CA81}"/>
                </a:ext>
              </a:extLst>
            </p:cNvPr>
            <p:cNvGrpSpPr/>
            <p:nvPr/>
          </p:nvGrpSpPr>
          <p:grpSpPr>
            <a:xfrm>
              <a:off x="960120" y="4589145"/>
              <a:ext cx="2514600" cy="1400175"/>
              <a:chOff x="960120" y="4589145"/>
              <a:chExt cx="2514600" cy="1400175"/>
            </a:xfrm>
          </p:grpSpPr>
          <p:cxnSp>
            <p:nvCxnSpPr>
              <p:cNvPr id="20" name="Connector 19"/>
              <p:cNvCxnSpPr/>
              <p:nvPr/>
            </p:nvCxnSpPr>
            <p:spPr>
              <a:xfrm>
                <a:off x="960120" y="4589145"/>
                <a:ext cx="25146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474720" y="4589145"/>
                <a:ext cx="0" cy="1400175"/>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grpSp>
        <p:sp>
          <p:nvSpPr>
            <p:cNvPr id="38" name="sdaxistitle:x">
              <a:extLst>
                <a:ext uri="{FF2B5EF4-FFF2-40B4-BE49-F238E27FC236}">
                  <a16:creationId xmlns:a16="http://schemas.microsoft.com/office/drawing/2014/main" id="{816EC3B8-ADFB-9271-2CC6-220F5C35400E}"/>
                </a:ext>
              </a:extLst>
            </p:cNvPr>
            <p:cNvSpPr txBox="1"/>
            <p:nvPr/>
          </p:nvSpPr>
          <p:spPr>
            <a:xfrm>
              <a:off x="3360418" y="6044563"/>
              <a:ext cx="653798" cy="276999"/>
            </a:xfrm>
            <a:prstGeom prst="rect">
              <a:avLst/>
            </a:prstGeom>
            <a:noFill/>
          </p:spPr>
          <p:txBody>
            <a:bodyPr wrap="square" lIns="0" tIns="0" rIns="0" bIns="0">
              <a:spAutoFit/>
            </a:bodyPr>
            <a:lstStyle/>
            <a:p>
              <a:pPr algn="l"/>
              <a:r>
                <a:rPr sz="1800" b="1" i="1" u="none" dirty="0" err="1">
                  <a:solidFill>
                    <a:srgbClr val="0B2B4E"/>
                  </a:solidFill>
                  <a:latin typeface="Calibri"/>
                </a:rPr>
                <a:t>Q</a:t>
              </a:r>
              <a:r>
                <a:rPr lang="en-US" sz="1800" b="1" i="1" u="none" baseline="-25000" dirty="0" err="1">
                  <a:solidFill>
                    <a:srgbClr val="0B2B4E"/>
                  </a:solidFill>
                  <a:latin typeface="Calibri"/>
                </a:rPr>
                <a:t>usage</a:t>
              </a:r>
              <a:endParaRPr sz="1800" b="1" i="1" u="none" baseline="-25000" dirty="0">
                <a:solidFill>
                  <a:srgbClr val="0B2B4E"/>
                </a:solidFill>
                <a:latin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7 · Two-Part Tariff</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Two-Part Tariff: </a:t>
            </a:r>
            <a:r>
              <a:rPr lang="en-US" sz="3200" b="1" i="0" u="none" dirty="0">
                <a:solidFill>
                  <a:srgbClr val="0B2B4E"/>
                </a:solidFill>
                <a:latin typeface="Calibri"/>
              </a:rPr>
              <a:t>Overview</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83080"/>
            <a:ext cx="5623560" cy="4114800"/>
          </a:xfrm>
          <a:prstGeom prst="rect">
            <a:avLst/>
          </a:prstGeom>
          <a:noFill/>
        </p:spPr>
        <p:txBody>
          <a:bodyPr wrap="square" lIns="0" tIns="0" rIns="0" bIns="0">
            <a:noAutofit/>
          </a:bodyPr>
          <a:lstStyle>
            <a:lvl1pPr marL="342900" indent="-342900">
              <a:spcBef>
                <a:spcPts val="15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Pricing decision is setting the flat fee (</a:t>
            </a:r>
            <a:r>
              <a:rPr i="1" dirty="0">
                <a:latin typeface="Calibri"/>
              </a:rPr>
              <a:t>F</a:t>
            </a:r>
            <a:r>
              <a:rPr dirty="0">
                <a:latin typeface="Calibri"/>
              </a:rPr>
              <a:t>) and the per-unit usage fee (</a:t>
            </a:r>
            <a:r>
              <a:rPr i="1" dirty="0">
                <a:latin typeface="Calibri"/>
              </a:rPr>
              <a:t>P</a:t>
            </a:r>
            <a:r>
              <a:rPr dirty="0">
                <a:latin typeface="Calibri"/>
              </a:rPr>
              <a:t>)</a:t>
            </a:r>
          </a:p>
          <a:p>
            <a:pPr lvl="1" algn="l"/>
            <a:r>
              <a:rPr dirty="0">
                <a:latin typeface="Calibri"/>
              </a:rPr>
              <a:t>Zipcar: annual membership (fixed fee), hourly rental fee (per-unit price)</a:t>
            </a:r>
          </a:p>
          <a:p>
            <a:pPr lvl="1" algn="l"/>
            <a:r>
              <a:rPr dirty="0">
                <a:latin typeface="Calibri"/>
              </a:rPr>
              <a:t>Amazon Prime: yearly charge (fixed fee), any purchase (per-unit price)</a:t>
            </a:r>
          </a:p>
          <a:p>
            <a:pPr algn="l"/>
            <a:r>
              <a:rPr dirty="0">
                <a:latin typeface="Calibri"/>
              </a:rPr>
              <a:t>Set the usage fee  </a:t>
            </a:r>
            <a:r>
              <a:rPr i="1" dirty="0">
                <a:latin typeface="Calibri"/>
              </a:rPr>
              <a:t>P*</a:t>
            </a:r>
            <a:r>
              <a:rPr dirty="0">
                <a:latin typeface="Calibri"/>
              </a:rPr>
              <a:t> = MC</a:t>
            </a:r>
          </a:p>
          <a:p>
            <a:pPr lvl="1" algn="l"/>
            <a:r>
              <a:rPr dirty="0">
                <a:latin typeface="Calibri"/>
              </a:rPr>
              <a:t>Avoids excessive use</a:t>
            </a:r>
          </a:p>
          <a:p>
            <a:pPr algn="l"/>
            <a:r>
              <a:rPr dirty="0">
                <a:latin typeface="Calibri"/>
              </a:rPr>
              <a:t>Set the flat fee  </a:t>
            </a:r>
            <a:r>
              <a:rPr i="1" dirty="0">
                <a:latin typeface="Calibri"/>
              </a:rPr>
              <a:t>F*</a:t>
            </a:r>
            <a:r>
              <a:rPr dirty="0">
                <a:latin typeface="Calibri"/>
              </a:rPr>
              <a:t> = entire consumer surplus</a:t>
            </a:r>
          </a:p>
        </p:txBody>
      </p:sp>
      <p:pic>
        <p:nvPicPr>
          <p:cNvPr id="8" name="Picture 7" descr="NV_s68_twopart.png"/>
          <p:cNvPicPr>
            <a:picLocks noChangeAspect="1"/>
          </p:cNvPicPr>
          <p:nvPr/>
        </p:nvPicPr>
        <p:blipFill>
          <a:blip r:embed="rId3"/>
          <a:stretch>
            <a:fillRect/>
          </a:stretch>
        </p:blipFill>
        <p:spPr>
          <a:xfrm>
            <a:off x="6848856" y="2688336"/>
            <a:ext cx="4736592" cy="2271887"/>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859291FE-DB9D-5F65-9427-6E3356439D96}"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dirty="0">
                <a:solidFill>
                  <a:srgbClr val="FFFFFF"/>
                </a:solidFill>
                <a:latin typeface="Calibri"/>
              </a:rPr>
              <a:t>Module 6 · Video 7 · Two-Part Tariff</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Two-Part Tariff: </a:t>
            </a:r>
            <a:r>
              <a:rPr lang="en-US" sz="3200" b="1" i="0" u="none" dirty="0">
                <a:solidFill>
                  <a:srgbClr val="0B2B4E"/>
                </a:solidFill>
                <a:latin typeface="Calibri"/>
              </a:rPr>
              <a:t>Car Sharing</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05156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051560" y="5989320"/>
            <a:ext cx="5285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781431" y="1211579"/>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sdaxistitle:x"/>
          <p:cNvSpPr txBox="1"/>
          <p:nvPr/>
        </p:nvSpPr>
        <p:spPr>
          <a:xfrm>
            <a:off x="5500116" y="6035040"/>
            <a:ext cx="1673352" cy="265176"/>
          </a:xfrm>
          <a:prstGeom prst="rect">
            <a:avLst/>
          </a:prstGeom>
          <a:noFill/>
        </p:spPr>
        <p:txBody>
          <a:bodyPr wrap="square" lIns="0" tIns="0" rIns="0" bIns="0">
            <a:spAutoFit/>
          </a:bodyPr>
          <a:lstStyle/>
          <a:p>
            <a:pPr algn="l"/>
            <a:r>
              <a:rPr sz="1700" b="1" i="1" u="none">
                <a:solidFill>
                  <a:srgbClr val="0B2B4E"/>
                </a:solidFill>
                <a:latin typeface="Calibri"/>
              </a:rPr>
              <a:t>Q (miles per year)</a:t>
            </a:r>
          </a:p>
        </p:txBody>
      </p:sp>
      <p:grpSp>
        <p:nvGrpSpPr>
          <p:cNvPr id="139" name="sdpair:sdreglab:4579f27d"/>
          <p:cNvGrpSpPr/>
          <p:nvPr/>
        </p:nvGrpSpPr>
        <p:grpSpPr>
          <a:xfrm>
            <a:off x="1051560" y="2356433"/>
            <a:ext cx="2926079" cy="2421924"/>
            <a:chOff x="1051560" y="2356433"/>
            <a:chExt cx="2926079" cy="2421924"/>
          </a:xfrm>
        </p:grpSpPr>
        <p:sp>
          <p:nvSpPr>
            <p:cNvPr id="11" name="sdregion:4579f27d"/>
            <p:cNvSpPr/>
            <p:nvPr/>
          </p:nvSpPr>
          <p:spPr>
            <a:xfrm>
              <a:off x="1051560" y="2356433"/>
              <a:ext cx="2926079" cy="2421924"/>
            </a:xfrm>
            <a:custGeom>
              <a:avLst/>
              <a:gdLst/>
              <a:ahLst/>
              <a:cxnLst/>
              <a:rect l="0" t="0" r="r" b="b"/>
              <a:pathLst>
                <a:path w="2926079" h="2421924">
                  <a:moveTo>
                    <a:pt x="0" y="0"/>
                  </a:moveTo>
                  <a:lnTo>
                    <a:pt x="0" y="2421924"/>
                  </a:lnTo>
                  <a:lnTo>
                    <a:pt x="2926079" y="2421924"/>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dreglab:4579f27d"/>
            <p:cNvSpPr txBox="1"/>
            <p:nvPr/>
          </p:nvSpPr>
          <p:spPr>
            <a:xfrm>
              <a:off x="1199882" y="3898151"/>
              <a:ext cx="1224915" cy="274320"/>
            </a:xfrm>
            <a:prstGeom prst="rect">
              <a:avLst/>
            </a:prstGeom>
            <a:noFill/>
          </p:spPr>
          <p:txBody>
            <a:bodyPr wrap="square" lIns="0" tIns="0" rIns="0" bIns="0">
              <a:spAutoFit/>
            </a:bodyPr>
            <a:lstStyle/>
            <a:p>
              <a:pPr algn="ctr"/>
              <a:r>
                <a:rPr sz="1600" b="1" i="0" u="none">
                  <a:solidFill>
                    <a:srgbClr val="0B2B4E"/>
                  </a:solidFill>
                  <a:latin typeface="Calibri"/>
                </a:rPr>
                <a:t>Flat fee = $50</a:t>
              </a:r>
            </a:p>
          </p:txBody>
        </p:sp>
      </p:grpSp>
      <p:grpSp>
        <p:nvGrpSpPr>
          <p:cNvPr id="140" name="sdpair:sdreglab:0272205c"/>
          <p:cNvGrpSpPr/>
          <p:nvPr/>
        </p:nvGrpSpPr>
        <p:grpSpPr>
          <a:xfrm>
            <a:off x="1051560" y="4778357"/>
            <a:ext cx="2926079" cy="1210963"/>
            <a:chOff x="1051560" y="4778357"/>
            <a:chExt cx="2926079" cy="1210963"/>
          </a:xfrm>
        </p:grpSpPr>
        <p:sp>
          <p:nvSpPr>
            <p:cNvPr id="12" name="sdregion:0272205c"/>
            <p:cNvSpPr/>
            <p:nvPr/>
          </p:nvSpPr>
          <p:spPr>
            <a:xfrm>
              <a:off x="1051560" y="4778357"/>
              <a:ext cx="2926079" cy="1210963"/>
            </a:xfrm>
            <a:custGeom>
              <a:avLst/>
              <a:gdLst/>
              <a:ahLst/>
              <a:cxnLst/>
              <a:rect l="0" t="0" r="r" b="b"/>
              <a:pathLst>
                <a:path w="2926079" h="1210963">
                  <a:moveTo>
                    <a:pt x="0" y="0"/>
                  </a:moveTo>
                  <a:lnTo>
                    <a:pt x="0" y="1210963"/>
                  </a:lnTo>
                  <a:lnTo>
                    <a:pt x="2926079" y="1210963"/>
                  </a:lnTo>
                  <a:lnTo>
                    <a:pt x="2926079" y="0"/>
                  </a:lnTo>
                  <a:close/>
                </a:path>
              </a:pathLst>
            </a:custGeom>
            <a:solidFill>
              <a:srgbClr val="0B2B4E">
                <a:alpha val="16000"/>
              </a:srgb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dreglab:0272205c"/>
            <p:cNvSpPr txBox="1"/>
            <p:nvPr/>
          </p:nvSpPr>
          <p:spPr>
            <a:xfrm>
              <a:off x="1135380" y="5246678"/>
              <a:ext cx="2758440" cy="274320"/>
            </a:xfrm>
            <a:prstGeom prst="rect">
              <a:avLst/>
            </a:prstGeom>
            <a:noFill/>
          </p:spPr>
          <p:txBody>
            <a:bodyPr wrap="square" lIns="0" tIns="0" rIns="0" bIns="0">
              <a:spAutoFit/>
            </a:bodyPr>
            <a:lstStyle/>
            <a:p>
              <a:pPr algn="ctr"/>
              <a:r>
                <a:rPr sz="1600" b="1" i="0" u="none">
                  <a:solidFill>
                    <a:srgbClr val="0B2B4E"/>
                  </a:solidFill>
                  <a:latin typeface="Calibri"/>
                </a:rPr>
                <a:t>Revenues from Usage Fee = $50</a:t>
              </a:r>
            </a:p>
          </p:txBody>
        </p:sp>
      </p:grpSp>
      <p:cxnSp>
        <p:nvCxnSpPr>
          <p:cNvPr id="13" name="Connector 12"/>
          <p:cNvCxnSpPr/>
          <p:nvPr/>
        </p:nvCxnSpPr>
        <p:spPr>
          <a:xfrm>
            <a:off x="1051560" y="2356433"/>
            <a:ext cx="4389119" cy="3632887"/>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560" y="4778357"/>
            <a:ext cx="4828032"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82158" y="4365642"/>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sp>
        <p:nvSpPr>
          <p:cNvPr id="16" name="TextBox 15"/>
          <p:cNvSpPr txBox="1"/>
          <p:nvPr/>
        </p:nvSpPr>
        <p:spPr>
          <a:xfrm>
            <a:off x="5148072" y="5358631"/>
            <a:ext cx="225551" cy="292608"/>
          </a:xfrm>
          <a:prstGeom prst="rect">
            <a:avLst/>
          </a:prstGeom>
          <a:noFill/>
        </p:spPr>
        <p:txBody>
          <a:bodyPr wrap="square" lIns="0" tIns="0" rIns="0" bIns="0">
            <a:spAutoFit/>
          </a:bodyPr>
          <a:lstStyle/>
          <a:p>
            <a:pPr algn="l"/>
            <a:r>
              <a:rPr sz="1900" b="1" i="1" u="none">
                <a:solidFill>
                  <a:srgbClr val="A2162A"/>
                </a:solidFill>
                <a:latin typeface="Calibri"/>
              </a:rPr>
              <a:t>D</a:t>
            </a:r>
          </a:p>
        </p:txBody>
      </p:sp>
      <mc:AlternateContent xmlns:mc="http://schemas.openxmlformats.org/markup-compatibility/2006" xmlns:a14="http://schemas.microsoft.com/office/drawing/2010/main">
        <mc:Choice Requires="a14">
          <p:sp>
            <p:nvSpPr>
              <p:cNvPr id="17" name="TextBox 16"/>
              <p:cNvSpPr txBox="1"/>
              <p:nvPr/>
            </p:nvSpPr>
            <p:spPr>
              <a:xfrm>
                <a:off x="1371600" y="1984248"/>
                <a:ext cx="2468880" cy="411480"/>
              </a:xfrm>
              <a:prstGeom prst="rect">
                <a:avLst/>
              </a:prstGeom>
              <a:noFill/>
            </p:spPr>
            <p:txBody>
              <a:bodyPr wrap="square" anchor="ctr">
                <a:spAutoFit/>
              </a:bodyPr>
              <a:lstStyle/>
              <a:p>
                <a:pPr algn="ctr">
                  <a:defRPr sz="2100" b="0" i="1">
                    <a:solidFill>
                      <a:srgbClr val="A2162A"/>
                    </a:solidFill>
                    <a:latin typeface="Cambria Math"/>
                  </a:defRPr>
                </a:pPr>
                <a14:m>
                  <m:oMathPara xmlns:m="http://schemas.openxmlformats.org/officeDocument/2006/math">
                    <m:oMath>
                      <m:r>
                        <a:rPr lang="en-US" sz="2100" b="0" i="1">
                          <a:solidFill>
                            <a:srgbClr val="A2162A"/>
                          </a:solidFill>
                          <a:latin typeface="Cambria Math"/>
                          <a:ea typeface="Cambria Math"/>
                        </a:rPr>
                        <m:t>𝑃</m:t>
                      </m:r>
                      <m:r>
                        <a:rPr lang="en-US" sz="2100" b="0" i="0">
                          <a:solidFill>
                            <a:srgbClr val="A2162A"/>
                          </a:solidFill>
                          <a:latin typeface="Cambria Math"/>
                        </a:rPr>
                        <m:t> = 1.5 − 0.01</m:t>
                      </m:r>
                      <m:r>
                        <a:rPr lang="en-US" sz="2100" b="0" i="1">
                          <a:solidFill>
                            <a:srgbClr val="A2162A"/>
                          </a:solidFill>
                          <a:latin typeface="Cambria Math"/>
                          <a:ea typeface="Cambria Math"/>
                        </a:rPr>
                        <m:t>𝑄</m:t>
                      </m:r>
                    </m:oMath>
                  </m:oMathPara>
                </a14:m>
                <a:endParaRPr lang="en-US" sz="2100"/>
              </a:p>
            </p:txBody>
          </p:sp>
        </mc:Choice>
        <mc:Fallback xmlns="">
          <p:sp>
            <p:nvSpPr>
              <p:cNvPr id="17" name="TextBox 16"/>
              <p:cNvSpPr txBox="1">
                <a:spLocks noRot="1" noChangeAspect="1" noMove="1" noResize="1" noEditPoints="1" noAdjustHandles="1" noChangeArrowheads="1" noChangeShapeType="1" noTextEdit="1"/>
              </p:cNvSpPr>
              <p:nvPr/>
            </p:nvSpPr>
            <p:spPr>
              <a:xfrm>
                <a:off x="1371600" y="1984248"/>
                <a:ext cx="2468880" cy="411480"/>
              </a:xfrm>
              <a:prstGeom prst="rect">
                <a:avLst/>
              </a:prstGeom>
              <a:blipFill>
                <a:blip r:embed="rId3"/>
                <a:stretch>
                  <a:fillRect b="-17910"/>
                </a:stretch>
              </a:blipFill>
            </p:spPr>
            <p:txBody>
              <a:bodyPr/>
              <a:lstStyle/>
              <a:p>
                <a:r>
                  <a:rPr lang="en-US">
                    <a:noFill/>
                  </a:rPr>
                  <a:t> </a:t>
                </a:r>
              </a:p>
            </p:txBody>
          </p:sp>
        </mc:Fallback>
      </mc:AlternateContent>
      <p:sp>
        <p:nvSpPr>
          <p:cNvPr id="18" name="TextBox 17"/>
          <p:cNvSpPr txBox="1"/>
          <p:nvPr/>
        </p:nvSpPr>
        <p:spPr>
          <a:xfrm>
            <a:off x="381381" y="2219273"/>
            <a:ext cx="597026" cy="274320"/>
          </a:xfrm>
          <a:prstGeom prst="rect">
            <a:avLst/>
          </a:prstGeom>
          <a:noFill/>
        </p:spPr>
        <p:txBody>
          <a:bodyPr wrap="square" lIns="0" tIns="0" rIns="0" bIns="0">
            <a:spAutoFit/>
          </a:bodyPr>
          <a:lstStyle/>
          <a:p>
            <a:pPr algn="r"/>
            <a:r>
              <a:rPr sz="1800" b="0" i="1" u="none">
                <a:solidFill>
                  <a:srgbClr val="0B2B4E"/>
                </a:solidFill>
                <a:latin typeface="Calibri"/>
              </a:rPr>
              <a:t>$1.50</a:t>
            </a:r>
          </a:p>
        </p:txBody>
      </p:sp>
      <p:sp>
        <p:nvSpPr>
          <p:cNvPr id="19" name="TextBox 18"/>
          <p:cNvSpPr txBox="1"/>
          <p:nvPr/>
        </p:nvSpPr>
        <p:spPr>
          <a:xfrm>
            <a:off x="381381" y="4641197"/>
            <a:ext cx="597026" cy="274320"/>
          </a:xfrm>
          <a:prstGeom prst="rect">
            <a:avLst/>
          </a:prstGeom>
          <a:noFill/>
        </p:spPr>
        <p:txBody>
          <a:bodyPr wrap="square" lIns="0" tIns="0" rIns="0" bIns="0">
            <a:spAutoFit/>
          </a:bodyPr>
          <a:lstStyle/>
          <a:p>
            <a:pPr algn="r"/>
            <a:r>
              <a:rPr sz="1800" b="0" i="1" u="none">
                <a:solidFill>
                  <a:srgbClr val="0B2B4E"/>
                </a:solidFill>
                <a:latin typeface="Calibri"/>
              </a:rPr>
              <a:t>$0.50</a:t>
            </a:r>
          </a:p>
        </p:txBody>
      </p:sp>
      <p:sp>
        <p:nvSpPr>
          <p:cNvPr id="20" name="TextBox 19"/>
          <p:cNvSpPr txBox="1"/>
          <p:nvPr/>
        </p:nvSpPr>
        <p:spPr>
          <a:xfrm>
            <a:off x="3764851" y="6044183"/>
            <a:ext cx="425577" cy="274320"/>
          </a:xfrm>
          <a:prstGeom prst="rect">
            <a:avLst/>
          </a:prstGeom>
          <a:noFill/>
        </p:spPr>
        <p:txBody>
          <a:bodyPr wrap="square" lIns="0" tIns="0" rIns="0" bIns="0">
            <a:spAutoFit/>
          </a:bodyPr>
          <a:lstStyle/>
          <a:p>
            <a:pPr algn="ctr"/>
            <a:r>
              <a:rPr sz="1800" b="0" i="1" u="none">
                <a:solidFill>
                  <a:srgbClr val="0B2B4E"/>
                </a:solidFill>
                <a:latin typeface="Calibri"/>
              </a:rPr>
              <a:t>100</a:t>
            </a:r>
          </a:p>
        </p:txBody>
      </p:sp>
      <p:cxnSp>
        <p:nvCxnSpPr>
          <p:cNvPr id="21" name="Connector 20"/>
          <p:cNvCxnSpPr/>
          <p:nvPr/>
        </p:nvCxnSpPr>
        <p:spPr>
          <a:xfrm>
            <a:off x="1051560" y="4778357"/>
            <a:ext cx="29260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77639" y="4778357"/>
            <a:ext cx="0" cy="121096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168896" y="2020824"/>
            <a:ext cx="4279392" cy="365760"/>
          </a:xfrm>
          <a:prstGeom prst="rect">
            <a:avLst/>
          </a:prstGeom>
          <a:noFill/>
        </p:spPr>
        <p:txBody>
          <a:bodyPr wrap="square" lIns="0" tIns="0" rIns="0" bIns="0">
            <a:spAutoFit/>
          </a:bodyPr>
          <a:lstStyle/>
          <a:p>
            <a:pPr algn="l"/>
            <a:r>
              <a:rPr sz="2000" b="1" i="0" u="none">
                <a:solidFill>
                  <a:srgbClr val="0B2B4E"/>
                </a:solidFill>
                <a:latin typeface="Calibri"/>
              </a:rPr>
              <a:t>Two-part tariff:</a:t>
            </a:r>
          </a:p>
        </p:txBody>
      </p:sp>
      <p:sp>
        <p:nvSpPr>
          <p:cNvPr id="26" name="sdbullmark:0:zfee"/>
          <p:cNvSpPr/>
          <p:nvPr/>
        </p:nvSpPr>
        <p:spPr>
          <a:xfrm>
            <a:off x="7635240" y="2533827"/>
            <a:ext cx="210312" cy="210312"/>
          </a:xfrm>
          <a:prstGeom prst="rtTriangle">
            <a:avLst/>
          </a:prstGeom>
          <a:solidFill>
            <a:srgbClr val="E09F3E">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02168" y="2491790"/>
            <a:ext cx="3547872" cy="349250"/>
          </a:xfrm>
          <a:prstGeom prst="rect">
            <a:avLst/>
          </a:prstGeom>
          <a:noFill/>
        </p:spPr>
        <p:txBody>
          <a:bodyPr wrap="square" lIns="0" tIns="0" rIns="0" bIns="0">
            <a:spAutoFit/>
          </a:bodyPr>
          <a:lstStyle/>
          <a:p>
            <a:pPr algn="l"/>
            <a:r>
              <a:rPr sz="1900" b="0" i="0" u="none">
                <a:solidFill>
                  <a:srgbClr val="0B2B4E"/>
                </a:solidFill>
                <a:latin typeface="Calibri"/>
              </a:rPr>
              <a:t>Flat fee  F = $50</a:t>
            </a:r>
          </a:p>
        </p:txBody>
      </p:sp>
      <p:sp>
        <p:nvSpPr>
          <p:cNvPr id="28" name="sdbullmark:1:zline"/>
          <p:cNvSpPr/>
          <p:nvPr/>
        </p:nvSpPr>
        <p:spPr>
          <a:xfrm>
            <a:off x="7635240" y="3096051"/>
            <a:ext cx="260786" cy="58887"/>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02168" y="2978302"/>
            <a:ext cx="3547872" cy="349250"/>
          </a:xfrm>
          <a:prstGeom prst="rect">
            <a:avLst/>
          </a:prstGeom>
          <a:noFill/>
        </p:spPr>
        <p:txBody>
          <a:bodyPr wrap="square" lIns="0" tIns="0" rIns="0" bIns="0">
            <a:spAutoFit/>
          </a:bodyPr>
          <a:lstStyle/>
          <a:p>
            <a:pPr algn="l"/>
            <a:r>
              <a:rPr sz="1900" b="0" i="0" u="none">
                <a:solidFill>
                  <a:srgbClr val="0B2B4E"/>
                </a:solidFill>
                <a:latin typeface="Calibri"/>
              </a:rPr>
              <a:t>Usage fee  P = $0.50 / mile</a:t>
            </a:r>
          </a:p>
        </p:txBody>
      </p:sp>
      <p:sp>
        <p:nvSpPr>
          <p:cNvPr id="30" name="sdbullmark:2:zuse"/>
          <p:cNvSpPr/>
          <p:nvPr/>
        </p:nvSpPr>
        <p:spPr>
          <a:xfrm>
            <a:off x="7635240" y="3506851"/>
            <a:ext cx="210312" cy="210312"/>
          </a:xfrm>
          <a:prstGeom prst="rect">
            <a:avLst/>
          </a:prstGeom>
          <a:solidFill>
            <a:srgbClr val="0B2B4E">
              <a:alpha val="1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02168" y="3464814"/>
            <a:ext cx="3547872" cy="349250"/>
          </a:xfrm>
          <a:prstGeom prst="rect">
            <a:avLst/>
          </a:prstGeom>
          <a:noFill/>
        </p:spPr>
        <p:txBody>
          <a:bodyPr wrap="square" lIns="0" tIns="0" rIns="0" bIns="0">
            <a:spAutoFit/>
          </a:bodyPr>
          <a:lstStyle/>
          <a:p>
            <a:pPr algn="l"/>
            <a:r>
              <a:rPr sz="1900" b="0" i="0" u="none">
                <a:solidFill>
                  <a:srgbClr val="0B2B4E"/>
                </a:solidFill>
                <a:latin typeface="Calibri"/>
              </a:rPr>
              <a:t>Revenue from usage fee = $50</a:t>
            </a:r>
          </a:p>
        </p:txBody>
      </p:sp>
      <p:sp>
        <p:nvSpPr>
          <p:cNvPr id="32" name="sdbullmark:3:dot"/>
          <p:cNvSpPr/>
          <p:nvPr/>
        </p:nvSpPr>
        <p:spPr>
          <a:xfrm>
            <a:off x="7379208" y="4045432"/>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27848" y="3951325"/>
            <a:ext cx="3822192" cy="705612"/>
          </a:xfrm>
          <a:prstGeom prst="rect">
            <a:avLst/>
          </a:prstGeom>
          <a:noFill/>
        </p:spPr>
        <p:txBody>
          <a:bodyPr wrap="square" lIns="0" tIns="0" rIns="0" bIns="0">
            <a:spAutoFit/>
          </a:bodyPr>
          <a:lstStyle/>
          <a:p>
            <a:pPr algn="l"/>
            <a:r>
              <a:rPr sz="2100" b="0" i="0" u="none">
                <a:solidFill>
                  <a:srgbClr val="0B2B4E"/>
                </a:solidFill>
                <a:latin typeface="Calibri"/>
              </a:rPr>
              <a:t>Would a flat fee with no usage fee (P = 0) be a good idea?</a:t>
            </a:r>
          </a:p>
        </p:txBody>
      </p:sp>
      <p:sp>
        <p:nvSpPr>
          <p:cNvPr id="34" name="sdbullmark:4:rarr"/>
          <p:cNvSpPr txBox="1"/>
          <p:nvPr/>
        </p:nvSpPr>
        <p:spPr>
          <a:xfrm>
            <a:off x="7635240" y="4731080"/>
            <a:ext cx="457200" cy="420624"/>
          </a:xfrm>
          <a:prstGeom prst="rect">
            <a:avLst/>
          </a:prstGeom>
          <a:noFill/>
        </p:spPr>
        <p:txBody>
          <a:bodyPr wrap="square" lIns="0" tIns="0" rIns="0" bIns="0" anchor="ctr">
            <a:spAutoFit/>
          </a:bodyPr>
          <a:lstStyle/>
          <a:p>
            <a:pPr algn="l"/>
            <a:r>
              <a:rPr sz="2000" b="1" i="0" u="none">
                <a:solidFill>
                  <a:srgbClr val="0B2B4E"/>
                </a:solidFill>
                <a:latin typeface="Calibri"/>
              </a:rPr>
              <a:t>⇒</a:t>
            </a:r>
          </a:p>
        </p:txBody>
      </p:sp>
      <p:sp>
        <p:nvSpPr>
          <p:cNvPr id="35" name="TextBox 34"/>
          <p:cNvSpPr txBox="1"/>
          <p:nvPr/>
        </p:nvSpPr>
        <p:spPr>
          <a:xfrm>
            <a:off x="8202168" y="4794199"/>
            <a:ext cx="3547872" cy="349250"/>
          </a:xfrm>
          <a:prstGeom prst="rect">
            <a:avLst/>
          </a:prstGeom>
          <a:noFill/>
        </p:spPr>
        <p:txBody>
          <a:bodyPr wrap="square" lIns="0" tIns="0" rIns="0" bIns="0">
            <a:spAutoFit/>
          </a:bodyPr>
          <a:lstStyle/>
          <a:p>
            <a:pPr algn="l"/>
            <a:r>
              <a:rPr sz="1900" b="0" i="0" u="none">
                <a:solidFill>
                  <a:srgbClr val="0B2B4E"/>
                </a:solidFill>
                <a:latin typeface="Calibri"/>
              </a:rPr>
              <a:t>No — it would lead to excessive use</a:t>
            </a:r>
          </a:p>
        </p:txBody>
      </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9" name="TextBox 38"/>
          <p:cNvSpPr txBox="1"/>
          <p:nvPr/>
        </p:nvSpPr>
        <p:spPr>
          <a:xfrm>
            <a:off x="11475720" y="6583680"/>
            <a:ext cx="502920" cy="292608"/>
          </a:xfrm>
          <a:prstGeom prst="rect">
            <a:avLst/>
          </a:prstGeom>
          <a:noFill/>
        </p:spPr>
        <p:txBody>
          <a:bodyPr wrap="none" lIns="0" tIns="0" rIns="0" bIns="0">
            <a:spAutoFit/>
          </a:bodyPr>
          <a:lstStyle/>
          <a:p>
            <a:pPr algn="r"/>
            <a:fld id="{60EF2B8D-DFB0-5EE2-BA1B-BC0C48F01538}"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9"/>
                                        </p:tgtEl>
                                        <p:attrNameLst>
                                          <p:attrName>style.visibility</p:attrName>
                                        </p:attrNameLst>
                                      </p:cBhvr>
                                      <p:to>
                                        <p:strVal val="visible"/>
                                      </p:to>
                                    </p:set>
                                    <p:animEffect transition="in" filter="fade">
                                      <p:cBhvr>
                                        <p:cTn id="43" dur="500"/>
                                        <p:tgtEl>
                                          <p:spTgt spid="139"/>
                                        </p:tgtEl>
                                      </p:cBhvr>
                                    </p:animEffect>
                                  </p:childTnLst>
                                </p:cTn>
                              </p:par>
                              <p:par>
                                <p:cTn id="44" presetID="10" presetClass="entr" presetSubtype="0" fill="hold"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58" presetID="10" presetClass="entr" presetSubtype="0" fill="hold"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40"/>
                                        </p:tgtEl>
                                        <p:attrNameLst>
                                          <p:attrName>style.visibility</p:attrName>
                                        </p:attrNameLst>
                                      </p:cBhvr>
                                      <p:to>
                                        <p:strVal val="visible"/>
                                      </p:to>
                                    </p:set>
                                    <p:animEffect transition="in" filter="fade">
                                      <p:cBhvr>
                                        <p:cTn id="65" dur="500"/>
                                        <p:tgtEl>
                                          <p:spTgt spid="140"/>
                                        </p:tgtEl>
                                      </p:cBhvr>
                                    </p:animEffect>
                                  </p:childTnLst>
                                </p:cTn>
                              </p:par>
                              <p:par>
                                <p:cTn id="66" presetID="10" presetClass="entr" presetSubtype="0" fill="hold"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69" presetID="10" presetClass="entr" presetSubtype="0" fill="hold"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500"/>
                                        <p:tgtEl>
                                          <p:spTgt spid="33"/>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Module 6 · Video 7 · Two-Part Tariff</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Pricing at a Local Zoo</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10698480" cy="100584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Demand for the average customer is:</a:t>
            </a:r>
          </a:p>
        </p:txBody>
      </p:sp>
      <mc:AlternateContent xmlns:mc="http://schemas.openxmlformats.org/markup-compatibility/2006" xmlns:a14="http://schemas.microsoft.com/office/drawing/2010/main">
        <mc:Choice Requires="a14">
          <p:sp>
            <p:nvSpPr>
              <p:cNvPr id="8" name="TextBox 7"/>
              <p:cNvSpPr txBox="1"/>
              <p:nvPr/>
            </p:nvSpPr>
            <p:spPr>
              <a:xfrm>
                <a:off x="1280160" y="2423160"/>
                <a:ext cx="4572000" cy="640080"/>
              </a:xfrm>
              <a:prstGeom prst="rect">
                <a:avLst/>
              </a:prstGeom>
              <a:noFill/>
            </p:spPr>
            <p:txBody>
              <a:bodyPr wrap="square" anchor="ctr">
                <a:spAutoFit/>
              </a:bodyPr>
              <a:lstStyle/>
              <a:p>
                <a:pPr algn="ctr">
                  <a:defRPr sz="2800" b="0" i="1">
                    <a:solidFill>
                      <a:srgbClr val="0B2B4E"/>
                    </a:solidFill>
                    <a:latin typeface="Cambria Math"/>
                  </a:defRPr>
                </a:pPr>
                <a14:m>
                  <m:oMathPara xmlns:m="http://schemas.openxmlformats.org/officeDocument/2006/math">
                    <m:oMath>
                      <m:r>
                        <a:rPr lang="en-US" sz="2800" b="0" i="1">
                          <a:solidFill>
                            <a:srgbClr val="0B2B4E"/>
                          </a:solidFill>
                          <a:latin typeface="Cambria Math"/>
                          <a:ea typeface="Cambria Math"/>
                        </a:rPr>
                        <m:t>𝑃</m:t>
                      </m:r>
                      <m:r>
                        <a:rPr lang="en-US" sz="2800" b="0" i="0">
                          <a:solidFill>
                            <a:srgbClr val="0B2B4E"/>
                          </a:solidFill>
                          <a:latin typeface="Cambria Math"/>
                        </a:rPr>
                        <m:t> = 40 − 8</m:t>
                      </m:r>
                      <m:r>
                        <a:rPr lang="en-US" sz="2800" b="0" i="1">
                          <a:solidFill>
                            <a:srgbClr val="0B2B4E"/>
                          </a:solidFill>
                          <a:latin typeface="Cambria Math"/>
                          <a:ea typeface="Cambria Math"/>
                        </a:rPr>
                        <m:t>𝑄</m:t>
                      </m:r>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1280160" y="2423160"/>
                <a:ext cx="4572000" cy="640080"/>
              </a:xfrm>
              <a:prstGeom prst="rect">
                <a:avLst/>
              </a:prstGeom>
              <a:blipFill>
                <a:blip r:embed="rId3"/>
                <a:stretch>
                  <a:fillRect/>
                </a:stretch>
              </a:blipFill>
            </p:spPr>
            <p:txBody>
              <a:bodyPr/>
              <a:lstStyle/>
              <a:p>
                <a:r>
                  <a:rPr lang="en-US">
                    <a:noFill/>
                  </a:rPr>
                  <a:t> </a:t>
                </a:r>
              </a:p>
            </p:txBody>
          </p:sp>
        </mc:Fallback>
      </mc:AlternateContent>
      <p:pic>
        <p:nvPicPr>
          <p:cNvPr id="9" name="Picture 8" descr="NV_s54_zoo.jpg"/>
          <p:cNvPicPr>
            <a:picLocks noChangeAspect="1"/>
          </p:cNvPicPr>
          <p:nvPr/>
        </p:nvPicPr>
        <p:blipFill>
          <a:blip r:embed="rId4"/>
          <a:stretch>
            <a:fillRect/>
          </a:stretch>
        </p:blipFill>
        <p:spPr>
          <a:xfrm>
            <a:off x="6912864" y="1783080"/>
            <a:ext cx="4416552" cy="2942528"/>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31520" y="3291840"/>
            <a:ext cx="10698480" cy="219456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dirty="0">
                <a:latin typeface="Calibri"/>
              </a:rPr>
              <a:t>Q: visits per year</a:t>
            </a:r>
          </a:p>
          <a:p>
            <a:pPr algn="l"/>
            <a:r>
              <a:rPr dirty="0">
                <a:latin typeface="Calibri"/>
              </a:rPr>
              <a:t>Marginal cost per visit: MC = $8</a:t>
            </a:r>
          </a:p>
          <a:p>
            <a:pPr algn="l"/>
            <a:r>
              <a:rPr dirty="0">
                <a:latin typeface="Calibri"/>
              </a:rPr>
              <a:t>What is the optimal pricing strategy?</a:t>
            </a:r>
          </a:p>
        </p:txBody>
      </p:sp>
      <p:sp>
        <p:nvSpPr>
          <p:cNvPr id="9703" name="Rectangle 97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4" name="Rectangle 97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5" name="TextBox 970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9706" name="TextBox 9705"/>
          <p:cNvSpPr txBox="1"/>
          <p:nvPr/>
        </p:nvSpPr>
        <p:spPr>
          <a:xfrm>
            <a:off x="11475720" y="6583680"/>
            <a:ext cx="502920" cy="292608"/>
          </a:xfrm>
          <a:prstGeom prst="rect">
            <a:avLst/>
          </a:prstGeom>
          <a:noFill/>
        </p:spPr>
        <p:txBody>
          <a:bodyPr wrap="none" lIns="0" tIns="0" rIns="0" bIns="0">
            <a:spAutoFit/>
          </a:bodyPr>
          <a:lstStyle/>
          <a:p>
            <a:pPr algn="r"/>
            <a:fld id="{A4C6DCD1-CCBD-540B-BF60-3B7B5F405290}" type="slidenum">
              <a:rPr lang="en-US" sz="1200" dirty="0">
                <a:solidFill>
                  <a:srgbClr val="555B66"/>
                </a:solidFill>
                <a:latin typeface="Calibri"/>
              </a:rPr>
              <a:t>6</a:t>
            </a:fld>
            <a:endParaRPr lang="en-US" sz="1200" dirty="0">
              <a:solidFill>
                <a:srgbClr val="555B66"/>
              </a:solidFill>
              <a:latin typeface="Calibri"/>
            </a:endParaRPr>
          </a:p>
        </p:txBody>
      </p:sp>
      <p:grpSp>
        <p:nvGrpSpPr>
          <p:cNvPr id="9700" name="PollBreakBadge"/>
          <p:cNvGrpSpPr/>
          <p:nvPr/>
        </p:nvGrpSpPr>
        <p:grpSpPr>
          <a:xfrm>
            <a:off x="9361444" y="6190030"/>
            <a:ext cx="2697480" cy="487009"/>
            <a:chOff x="9361444" y="6190030"/>
            <a:chExt cx="2697480" cy="487009"/>
          </a:xfrm>
        </p:grpSpPr>
        <p:sp>
          <p:nvSpPr>
            <p:cNvPr id="970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70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12" name="Rounded Rectangle 32">
            <a:extLst>
              <a:ext uri="{FF2B5EF4-FFF2-40B4-BE49-F238E27FC236}">
                <a16:creationId xmlns:a16="http://schemas.microsoft.com/office/drawing/2014/main" id="{0E3CFAB0-DD14-1069-4324-40A17A67F8ED}"/>
              </a:ext>
            </a:extLst>
          </p:cNvPr>
          <p:cNvSpPr/>
          <p:nvPr/>
        </p:nvSpPr>
        <p:spPr>
          <a:xfrm>
            <a:off x="6835140" y="6146687"/>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600" b="1">
                <a:solidFill>
                  <a:srgbClr val="E09F3E"/>
                </a:solidFill>
                <a:latin typeface="Calibri"/>
              </a:rPr>
              <a:t>✎  </a:t>
            </a:r>
            <a:r>
              <a:rPr sz="1600" b="1">
                <a:solidFill>
                  <a:srgbClr val="0B2B4E"/>
                </a:solidFill>
                <a:latin typeface="Calibri"/>
              </a:rPr>
              <a:t>Problem Set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4A419F-5770-16C6-99C8-66EE185D2E4B}"/>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1460529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Module 6 · Video 7 · Two-Part Tariff</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Zoo Pricing –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14300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143000" y="5989320"/>
            <a:ext cx="49194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872871" y="1211579"/>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sdaxistitle:x"/>
          <p:cNvSpPr txBox="1"/>
          <p:nvPr/>
        </p:nvSpPr>
        <p:spPr>
          <a:xfrm>
            <a:off x="5230558" y="6035040"/>
            <a:ext cx="1663827" cy="265176"/>
          </a:xfrm>
          <a:prstGeom prst="rect">
            <a:avLst/>
          </a:prstGeom>
          <a:noFill/>
        </p:spPr>
        <p:txBody>
          <a:bodyPr wrap="square" lIns="0" tIns="0" rIns="0" bIns="0">
            <a:spAutoFit/>
          </a:bodyPr>
          <a:lstStyle/>
          <a:p>
            <a:pPr algn="l"/>
            <a:r>
              <a:rPr sz="1700" b="1" i="1" u="none">
                <a:solidFill>
                  <a:srgbClr val="0B2B4E"/>
                </a:solidFill>
                <a:latin typeface="Calibri"/>
              </a:rPr>
              <a:t>Q (visits per year)</a:t>
            </a:r>
          </a:p>
        </p:txBody>
      </p:sp>
      <p:grpSp>
        <p:nvGrpSpPr>
          <p:cNvPr id="140" name="sdpair:sdreglab:143cd373"/>
          <p:cNvGrpSpPr/>
          <p:nvPr/>
        </p:nvGrpSpPr>
        <p:grpSpPr>
          <a:xfrm>
            <a:off x="1143000" y="2093180"/>
            <a:ext cx="3067664" cy="3116912"/>
            <a:chOff x="1143000" y="2093180"/>
            <a:chExt cx="3067664" cy="3116912"/>
          </a:xfrm>
        </p:grpSpPr>
        <p:sp>
          <p:nvSpPr>
            <p:cNvPr id="11" name="sdregion:143cd373"/>
            <p:cNvSpPr/>
            <p:nvPr/>
          </p:nvSpPr>
          <p:spPr>
            <a:xfrm>
              <a:off x="1143000" y="2093180"/>
              <a:ext cx="3067664" cy="3116912"/>
            </a:xfrm>
            <a:custGeom>
              <a:avLst/>
              <a:gdLst/>
              <a:ahLst/>
              <a:cxnLst/>
              <a:rect l="0" t="0" r="r" b="b"/>
              <a:pathLst>
                <a:path w="3067664" h="3116912">
                  <a:moveTo>
                    <a:pt x="0" y="0"/>
                  </a:moveTo>
                  <a:lnTo>
                    <a:pt x="0" y="3116912"/>
                  </a:lnTo>
                  <a:lnTo>
                    <a:pt x="3067664" y="3116912"/>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dreglab:143cd373"/>
            <p:cNvSpPr txBox="1"/>
            <p:nvPr/>
          </p:nvSpPr>
          <p:spPr>
            <a:xfrm>
              <a:off x="1241537" y="4076285"/>
              <a:ext cx="1720215" cy="514350"/>
            </a:xfrm>
            <a:prstGeom prst="rect">
              <a:avLst/>
            </a:prstGeom>
            <a:noFill/>
          </p:spPr>
          <p:txBody>
            <a:bodyPr wrap="square" lIns="0" tIns="0" rIns="0" bIns="0">
              <a:spAutoFit/>
            </a:bodyPr>
            <a:lstStyle/>
            <a:p>
              <a:pPr algn="ctr"/>
              <a:r>
                <a:rPr sz="1500" b="1" i="0" u="none">
                  <a:solidFill>
                    <a:srgbClr val="0B2B4E"/>
                  </a:solidFill>
                  <a:latin typeface="Calibri"/>
                </a:rPr>
                <a:t>Flat fee
= $(40 − 8)·4/2 = $64</a:t>
              </a:r>
            </a:p>
          </p:txBody>
        </p:sp>
      </p:grpSp>
      <p:grpSp>
        <p:nvGrpSpPr>
          <p:cNvPr id="141" name="sdpair:sdreglab:aa897d2a"/>
          <p:cNvGrpSpPr/>
          <p:nvPr/>
        </p:nvGrpSpPr>
        <p:grpSpPr>
          <a:xfrm>
            <a:off x="1143000" y="5210092"/>
            <a:ext cx="3067664" cy="779228"/>
            <a:chOff x="1143000" y="5210092"/>
            <a:chExt cx="3067664" cy="779228"/>
          </a:xfrm>
        </p:grpSpPr>
        <p:sp>
          <p:nvSpPr>
            <p:cNvPr id="12" name="sdregion:aa897d2a"/>
            <p:cNvSpPr/>
            <p:nvPr/>
          </p:nvSpPr>
          <p:spPr>
            <a:xfrm>
              <a:off x="1143000" y="5210092"/>
              <a:ext cx="3067664" cy="779228"/>
            </a:xfrm>
            <a:custGeom>
              <a:avLst/>
              <a:gdLst/>
              <a:ahLst/>
              <a:cxnLst/>
              <a:rect l="0" t="0" r="r" b="b"/>
              <a:pathLst>
                <a:path w="3067664" h="779228">
                  <a:moveTo>
                    <a:pt x="0" y="0"/>
                  </a:moveTo>
                  <a:lnTo>
                    <a:pt x="0" y="779228"/>
                  </a:lnTo>
                  <a:lnTo>
                    <a:pt x="3067664" y="779228"/>
                  </a:lnTo>
                  <a:lnTo>
                    <a:pt x="3067664" y="0"/>
                  </a:lnTo>
                  <a:close/>
                </a:path>
              </a:pathLst>
            </a:custGeom>
            <a:solidFill>
              <a:srgbClr val="0B2B4E">
                <a:alpha val="16000"/>
              </a:srgb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dreglab:aa897d2a"/>
            <p:cNvSpPr txBox="1"/>
            <p:nvPr/>
          </p:nvSpPr>
          <p:spPr>
            <a:xfrm>
              <a:off x="1207124" y="5479691"/>
              <a:ext cx="2939415" cy="240030"/>
            </a:xfrm>
            <a:prstGeom prst="rect">
              <a:avLst/>
            </a:prstGeom>
            <a:noFill/>
          </p:spPr>
          <p:txBody>
            <a:bodyPr wrap="square" lIns="0" tIns="0" rIns="0" bIns="0">
              <a:spAutoFit/>
            </a:bodyPr>
            <a:lstStyle/>
            <a:p>
              <a:pPr algn="ctr"/>
              <a:r>
                <a:rPr sz="1400" b="1" i="0" u="none">
                  <a:solidFill>
                    <a:srgbClr val="0B2B4E"/>
                  </a:solidFill>
                  <a:latin typeface="Calibri"/>
                </a:rPr>
                <a:t>Revenues from usage fee = $8·4 = $32</a:t>
              </a:r>
            </a:p>
          </p:txBody>
        </p:sp>
      </p:grpSp>
      <p:cxnSp>
        <p:nvCxnSpPr>
          <p:cNvPr id="13" name="Connector 12"/>
          <p:cNvCxnSpPr/>
          <p:nvPr/>
        </p:nvCxnSpPr>
        <p:spPr>
          <a:xfrm>
            <a:off x="1143000" y="2093180"/>
            <a:ext cx="3834580" cy="3896140"/>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43000" y="5210092"/>
            <a:ext cx="4524805"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46001" y="4810539"/>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sp>
        <p:nvSpPr>
          <p:cNvPr id="16" name="TextBox 15"/>
          <p:cNvSpPr txBox="1"/>
          <p:nvPr/>
        </p:nvSpPr>
        <p:spPr>
          <a:xfrm>
            <a:off x="4712200" y="5374930"/>
            <a:ext cx="225551" cy="292608"/>
          </a:xfrm>
          <a:prstGeom prst="rect">
            <a:avLst/>
          </a:prstGeom>
          <a:noFill/>
        </p:spPr>
        <p:txBody>
          <a:bodyPr wrap="square" lIns="0" tIns="0" rIns="0" bIns="0">
            <a:spAutoFit/>
          </a:bodyPr>
          <a:lstStyle/>
          <a:p>
            <a:pPr algn="l"/>
            <a:r>
              <a:rPr sz="1900" b="1" i="1" u="none">
                <a:solidFill>
                  <a:srgbClr val="A2162A"/>
                </a:solidFill>
                <a:latin typeface="Calibri"/>
              </a:rPr>
              <a:t>D</a:t>
            </a:r>
          </a:p>
        </p:txBody>
      </p:sp>
      <p:sp>
        <p:nvSpPr>
          <p:cNvPr id="17" name="TextBox 16"/>
          <p:cNvSpPr txBox="1"/>
          <p:nvPr/>
        </p:nvSpPr>
        <p:spPr>
          <a:xfrm>
            <a:off x="644271" y="1956020"/>
            <a:ext cx="425577" cy="274320"/>
          </a:xfrm>
          <a:prstGeom prst="rect">
            <a:avLst/>
          </a:prstGeom>
          <a:noFill/>
        </p:spPr>
        <p:txBody>
          <a:bodyPr wrap="square" lIns="0" tIns="0" rIns="0" bIns="0">
            <a:spAutoFit/>
          </a:bodyPr>
          <a:lstStyle/>
          <a:p>
            <a:pPr algn="r"/>
            <a:r>
              <a:rPr sz="1800" b="0" i="1" u="none">
                <a:solidFill>
                  <a:srgbClr val="0B2B4E"/>
                </a:solidFill>
                <a:latin typeface="Calibri"/>
              </a:rPr>
              <a:t>$40</a:t>
            </a:r>
          </a:p>
        </p:txBody>
      </p:sp>
      <p:sp>
        <p:nvSpPr>
          <p:cNvPr id="18" name="TextBox 17"/>
          <p:cNvSpPr txBox="1"/>
          <p:nvPr/>
        </p:nvSpPr>
        <p:spPr>
          <a:xfrm>
            <a:off x="768096" y="5072932"/>
            <a:ext cx="301752" cy="274320"/>
          </a:xfrm>
          <a:prstGeom prst="rect">
            <a:avLst/>
          </a:prstGeom>
          <a:noFill/>
        </p:spPr>
        <p:txBody>
          <a:bodyPr wrap="square" lIns="0" tIns="0" rIns="0" bIns="0">
            <a:spAutoFit/>
          </a:bodyPr>
          <a:lstStyle/>
          <a:p>
            <a:pPr algn="r"/>
            <a:r>
              <a:rPr sz="1800" b="0" i="1" u="none">
                <a:solidFill>
                  <a:srgbClr val="0B2B4E"/>
                </a:solidFill>
                <a:latin typeface="Calibri"/>
              </a:rPr>
              <a:t>$8</a:t>
            </a:r>
          </a:p>
        </p:txBody>
      </p:sp>
      <p:sp>
        <p:nvSpPr>
          <p:cNvPr id="19" name="TextBox 18"/>
          <p:cNvSpPr txBox="1"/>
          <p:nvPr/>
        </p:nvSpPr>
        <p:spPr>
          <a:xfrm>
            <a:off x="4116938"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4</a:t>
            </a:r>
          </a:p>
        </p:txBody>
      </p:sp>
      <p:sp>
        <p:nvSpPr>
          <p:cNvPr id="20" name="TextBox 19"/>
          <p:cNvSpPr txBox="1"/>
          <p:nvPr/>
        </p:nvSpPr>
        <p:spPr>
          <a:xfrm>
            <a:off x="4883854"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5</a:t>
            </a:r>
          </a:p>
        </p:txBody>
      </p:sp>
      <p:cxnSp>
        <p:nvCxnSpPr>
          <p:cNvPr id="21" name="Connector 20"/>
          <p:cNvCxnSpPr/>
          <p:nvPr/>
        </p:nvCxnSpPr>
        <p:spPr>
          <a:xfrm>
            <a:off x="1143000" y="5210092"/>
            <a:ext cx="306766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10664" y="5210092"/>
            <a:ext cx="0" cy="77922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1481328" y="1755648"/>
                <a:ext cx="2926080" cy="704088"/>
              </a:xfrm>
              <a:prstGeom prst="rect">
                <a:avLst/>
              </a:prstGeom>
              <a:noFill/>
            </p:spPr>
            <p:txBody>
              <a:bodyPr wrap="square" anchor="ctr">
                <a:spAutoFit/>
              </a:bodyPr>
              <a:lstStyle/>
              <a:p>
                <a:pPr algn="ctr">
                  <a:defRPr sz="2000" b="0" i="1">
                    <a:solidFill>
                      <a:srgbClr val="A2162A"/>
                    </a:solidFill>
                    <a:latin typeface="Cambria Math"/>
                  </a:defRPr>
                </a:pPr>
                <a14:m>
                  <m:oMathPara xmlns:m="http://schemas.openxmlformats.org/officeDocument/2006/math">
                    <m:oMath>
                      <m:r>
                        <a:rPr lang="en-US" sz="2000" b="0" i="1" smtClean="0">
                          <a:solidFill>
                            <a:srgbClr val="A2162A"/>
                          </a:solidFill>
                          <a:latin typeface="Cambria Math"/>
                          <a:ea typeface="Cambria Math"/>
                        </a:rPr>
                        <m:t>𝑃</m:t>
                      </m:r>
                      <m:r>
                        <a:rPr lang="en-US" sz="2000" b="0" i="0">
                          <a:solidFill>
                            <a:srgbClr val="A2162A"/>
                          </a:solidFill>
                          <a:latin typeface="Cambria Math"/>
                        </a:rPr>
                        <m:t> = 40 − 8</m:t>
                      </m:r>
                      <m:r>
                        <a:rPr lang="en-US" sz="2000" b="0" i="1">
                          <a:solidFill>
                            <a:srgbClr val="A2162A"/>
                          </a:solidFill>
                          <a:latin typeface="Cambria Math"/>
                          <a:ea typeface="Cambria Math"/>
                        </a:rPr>
                        <m:t>𝑄</m:t>
                      </m:r>
                      <m:r>
                        <a:rPr lang="en-US" sz="2000" b="0" i="0">
                          <a:solidFill>
                            <a:srgbClr val="A2162A"/>
                          </a:solidFill>
                          <a:latin typeface="Cambria Math"/>
                        </a:rPr>
                        <m:t>   </m:t>
                      </m:r>
                    </m:oMath>
                  </m:oMathPara>
                </a14:m>
                <a:endParaRPr lang="en-US" sz="2000" b="0" i="0" dirty="0">
                  <a:solidFill>
                    <a:srgbClr val="A2162A"/>
                  </a:solidFill>
                  <a:latin typeface="Cambria Math"/>
                </a:endParaRPr>
              </a:p>
              <a:p>
                <a:pPr algn="ctr">
                  <a:defRPr sz="2000" b="0" i="1">
                    <a:solidFill>
                      <a:srgbClr val="A2162A"/>
                    </a:solidFill>
                    <a:latin typeface="Cambria Math"/>
                  </a:defRPr>
                </a:pPr>
                <a14:m>
                  <m:oMathPara xmlns:m="http://schemas.openxmlformats.org/officeDocument/2006/math">
                    <m:oMath>
                      <m:r>
                        <a:rPr lang="en-US" sz="2000" b="0" i="0">
                          <a:solidFill>
                            <a:srgbClr val="A2162A"/>
                          </a:solidFill>
                          <a:latin typeface="Cambria Math"/>
                        </a:rPr>
                        <m:t>⇒   </m:t>
                      </m:r>
                      <m:r>
                        <a:rPr lang="en-US" sz="2000" b="0" i="1">
                          <a:solidFill>
                            <a:srgbClr val="A2162A"/>
                          </a:solidFill>
                          <a:latin typeface="Cambria Math"/>
                          <a:ea typeface="Cambria Math"/>
                        </a:rPr>
                        <m:t>𝑄</m:t>
                      </m:r>
                      <m:r>
                        <a:rPr lang="en-US" sz="2000" b="0" i="0">
                          <a:solidFill>
                            <a:srgbClr val="A2162A"/>
                          </a:solidFill>
                          <a:latin typeface="Cambria Math"/>
                        </a:rPr>
                        <m:t> = 5 − 0.125</m:t>
                      </m:r>
                      <m:r>
                        <a:rPr lang="en-US" sz="2000" b="0" i="1">
                          <a:solidFill>
                            <a:srgbClr val="A2162A"/>
                          </a:solidFill>
                          <a:latin typeface="Cambria Math"/>
                          <a:ea typeface="Cambria Math"/>
                        </a:rPr>
                        <m:t>𝑃</m:t>
                      </m:r>
                    </m:oMath>
                  </m:oMathPara>
                </a14:m>
                <a:endParaRPr lang="en-US" sz="2000" dirty="0"/>
              </a:p>
            </p:txBody>
          </p:sp>
        </mc:Choice>
        <mc:Fallback xmlns="">
          <p:sp>
            <p:nvSpPr>
              <p:cNvPr id="25" name="TextBox 24"/>
              <p:cNvSpPr txBox="1">
                <a:spLocks noRot="1" noChangeAspect="1" noMove="1" noResize="1" noEditPoints="1" noAdjustHandles="1" noChangeArrowheads="1" noChangeShapeType="1" noTextEdit="1"/>
              </p:cNvSpPr>
              <p:nvPr/>
            </p:nvSpPr>
            <p:spPr>
              <a:xfrm>
                <a:off x="1481328" y="1755648"/>
                <a:ext cx="2926080" cy="704088"/>
              </a:xfrm>
              <a:prstGeom prst="rect">
                <a:avLst/>
              </a:prstGeom>
              <a:blipFill>
                <a:blip r:embed="rId3"/>
                <a:stretch>
                  <a:fillRect b="-6897"/>
                </a:stretch>
              </a:blipFill>
            </p:spPr>
            <p:txBody>
              <a:bodyPr/>
              <a:lstStyle/>
              <a:p>
                <a:r>
                  <a:rPr lang="en-US">
                    <a:noFill/>
                  </a:rPr>
                  <a:t> </a:t>
                </a:r>
              </a:p>
            </p:txBody>
          </p:sp>
        </mc:Fallback>
      </mc:AlternateContent>
      <p:sp>
        <p:nvSpPr>
          <p:cNvPr id="26" name="TextBox 25"/>
          <p:cNvSpPr txBox="1"/>
          <p:nvPr/>
        </p:nvSpPr>
        <p:spPr>
          <a:xfrm>
            <a:off x="6766560" y="2093976"/>
            <a:ext cx="4279392" cy="365760"/>
          </a:xfrm>
          <a:prstGeom prst="rect">
            <a:avLst/>
          </a:prstGeom>
          <a:noFill/>
        </p:spPr>
        <p:txBody>
          <a:bodyPr wrap="square" lIns="0" tIns="0" rIns="0" bIns="0">
            <a:spAutoFit/>
          </a:bodyPr>
          <a:lstStyle/>
          <a:p>
            <a:pPr algn="l"/>
            <a:r>
              <a:rPr sz="2000" b="1" i="0" u="none">
                <a:solidFill>
                  <a:srgbClr val="0B2B4E"/>
                </a:solidFill>
                <a:latin typeface="Calibri"/>
              </a:rPr>
              <a:t>Two-part tariff:</a:t>
            </a:r>
          </a:p>
        </p:txBody>
      </p:sp>
      <p:sp>
        <p:nvSpPr>
          <p:cNvPr id="27" name="sdbullmark:0:zfee"/>
          <p:cNvSpPr/>
          <p:nvPr/>
        </p:nvSpPr>
        <p:spPr>
          <a:xfrm>
            <a:off x="7178040" y="2700985"/>
            <a:ext cx="210312" cy="210312"/>
          </a:xfrm>
          <a:prstGeom prst="rtTriangle">
            <a:avLst/>
          </a:prstGeom>
          <a:solidFill>
            <a:srgbClr val="E09F3E">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44968" y="2658948"/>
            <a:ext cx="4005072" cy="349250"/>
          </a:xfrm>
          <a:prstGeom prst="rect">
            <a:avLst/>
          </a:prstGeom>
          <a:noFill/>
        </p:spPr>
        <p:txBody>
          <a:bodyPr wrap="square" lIns="0" tIns="0" rIns="0" bIns="0">
            <a:spAutoFit/>
          </a:bodyPr>
          <a:lstStyle/>
          <a:p>
            <a:pPr algn="l"/>
            <a:r>
              <a:rPr sz="1900" b="0" i="0" u="none">
                <a:solidFill>
                  <a:srgbClr val="0B2B4E"/>
                </a:solidFill>
                <a:latin typeface="Calibri"/>
              </a:rPr>
              <a:t>Flat fee  F = $64</a:t>
            </a:r>
          </a:p>
        </p:txBody>
      </p:sp>
      <p:sp>
        <p:nvSpPr>
          <p:cNvPr id="29" name="sdbullmark:1:zline"/>
          <p:cNvSpPr/>
          <p:nvPr/>
        </p:nvSpPr>
        <p:spPr>
          <a:xfrm>
            <a:off x="7178040" y="3195187"/>
            <a:ext cx="260786" cy="58887"/>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44968" y="3077438"/>
            <a:ext cx="4005072" cy="349250"/>
          </a:xfrm>
          <a:prstGeom prst="rect">
            <a:avLst/>
          </a:prstGeom>
          <a:noFill/>
        </p:spPr>
        <p:txBody>
          <a:bodyPr wrap="square" lIns="0" tIns="0" rIns="0" bIns="0">
            <a:spAutoFit/>
          </a:bodyPr>
          <a:lstStyle/>
          <a:p>
            <a:pPr algn="l"/>
            <a:r>
              <a:rPr sz="1900" b="0" i="0" u="none">
                <a:solidFill>
                  <a:srgbClr val="0B2B4E"/>
                </a:solidFill>
                <a:latin typeface="Calibri"/>
              </a:rPr>
              <a:t>Usage fee  P = $8/visit</a:t>
            </a:r>
          </a:p>
        </p:txBody>
      </p:sp>
      <p:sp>
        <p:nvSpPr>
          <p:cNvPr id="31" name="sdbullmark:2:zuse"/>
          <p:cNvSpPr/>
          <p:nvPr/>
        </p:nvSpPr>
        <p:spPr>
          <a:xfrm>
            <a:off x="7178040" y="3537966"/>
            <a:ext cx="210312" cy="210312"/>
          </a:xfrm>
          <a:prstGeom prst="rect">
            <a:avLst/>
          </a:prstGeom>
          <a:solidFill>
            <a:srgbClr val="0B2B4E">
              <a:alpha val="1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44968" y="3495929"/>
            <a:ext cx="4005072" cy="349250"/>
          </a:xfrm>
          <a:prstGeom prst="rect">
            <a:avLst/>
          </a:prstGeom>
          <a:noFill/>
        </p:spPr>
        <p:txBody>
          <a:bodyPr wrap="square" lIns="0" tIns="0" rIns="0" bIns="0">
            <a:spAutoFit/>
          </a:bodyPr>
          <a:lstStyle/>
          <a:p>
            <a:pPr algn="l"/>
            <a:r>
              <a:rPr sz="1900" b="0" i="0" u="none">
                <a:solidFill>
                  <a:srgbClr val="0B2B4E"/>
                </a:solidFill>
                <a:latin typeface="Calibri"/>
              </a:rPr>
              <a:t>Revenue from usage fee = $32</a:t>
            </a:r>
          </a:p>
        </p:txBody>
      </p:sp>
      <p:sp>
        <p:nvSpPr>
          <p:cNvPr id="33" name="sdbullmark:3:dot"/>
          <p:cNvSpPr/>
          <p:nvPr/>
        </p:nvSpPr>
        <p:spPr>
          <a:xfrm>
            <a:off x="6922008" y="4000779"/>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70648" y="3914419"/>
            <a:ext cx="4279392" cy="674623"/>
          </a:xfrm>
          <a:prstGeom prst="rect">
            <a:avLst/>
          </a:prstGeom>
          <a:noFill/>
        </p:spPr>
        <p:txBody>
          <a:bodyPr wrap="square" lIns="0" tIns="0" rIns="0" bIns="0">
            <a:spAutoFit/>
          </a:bodyPr>
          <a:lstStyle/>
          <a:p>
            <a:pPr algn="l"/>
            <a:r>
              <a:rPr sz="2000" b="0" i="0" u="none">
                <a:solidFill>
                  <a:srgbClr val="0B2B4E"/>
                </a:solidFill>
                <a:latin typeface="Calibri"/>
              </a:rPr>
              <a:t>Revenues from usage fee recover the variable costs of $32</a:t>
            </a:r>
          </a:p>
        </p:txBody>
      </p:sp>
      <p:sp>
        <p:nvSpPr>
          <p:cNvPr id="35" name="sdbullmark:4:dot"/>
          <p:cNvSpPr/>
          <p:nvPr/>
        </p:nvSpPr>
        <p:spPr>
          <a:xfrm>
            <a:off x="6922008" y="4744643"/>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70648" y="4658283"/>
            <a:ext cx="4279392" cy="615553"/>
          </a:xfrm>
          <a:prstGeom prst="rect">
            <a:avLst/>
          </a:prstGeom>
          <a:noFill/>
        </p:spPr>
        <p:txBody>
          <a:bodyPr wrap="square" lIns="0" tIns="0" rIns="0" bIns="0">
            <a:spAutoFit/>
          </a:bodyPr>
          <a:lstStyle/>
          <a:p>
            <a:pPr algn="l"/>
            <a:r>
              <a:rPr sz="2000" b="0" i="0" u="none" dirty="0">
                <a:solidFill>
                  <a:srgbClr val="0B2B4E"/>
                </a:solidFill>
                <a:latin typeface="Calibri"/>
              </a:rPr>
              <a:t>Profit: $64 per customer (</a:t>
            </a:r>
            <a:r>
              <a:rPr lang="en-US" sz="2000" b="0" i="0" u="none" dirty="0">
                <a:solidFill>
                  <a:srgbClr val="0B2B4E"/>
                </a:solidFill>
                <a:latin typeface="Calibri"/>
              </a:rPr>
              <a:t>before any </a:t>
            </a:r>
            <a:r>
              <a:rPr sz="2000" b="0" i="0" u="none" dirty="0">
                <a:solidFill>
                  <a:srgbClr val="0B2B4E"/>
                </a:solidFill>
                <a:latin typeface="Calibri"/>
              </a:rPr>
              <a:t>fixed cost)</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8BE8F451-805B-50E6-9893-1EE6C8D1B9CA}"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40"/>
                                        </p:tgtEl>
                                        <p:attrNameLst>
                                          <p:attrName>style.visibility</p:attrName>
                                        </p:attrNameLst>
                                      </p:cBhvr>
                                      <p:to>
                                        <p:strVal val="visible"/>
                                      </p:to>
                                    </p:set>
                                    <p:animEffect transition="in" filter="fade">
                                      <p:cBhvr>
                                        <p:cTn id="46" dur="500"/>
                                        <p:tgtEl>
                                          <p:spTgt spid="140"/>
                                        </p:tgtEl>
                                      </p:cBhvr>
                                    </p:animEffect>
                                  </p:childTnLst>
                                </p:cTn>
                              </p:par>
                              <p:par>
                                <p:cTn id="47" presetID="10"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41"/>
                                        </p:tgtEl>
                                        <p:attrNameLst>
                                          <p:attrName>style.visibility</p:attrName>
                                        </p:attrNameLst>
                                      </p:cBhvr>
                                      <p:to>
                                        <p:strVal val="visible"/>
                                      </p:to>
                                    </p:set>
                                    <p:animEffect transition="in" filter="fade">
                                      <p:cBhvr>
                                        <p:cTn id="68" dur="500"/>
                                        <p:tgtEl>
                                          <p:spTgt spid="141"/>
                                        </p:tgtEl>
                                      </p:cBhvr>
                                    </p:animEffect>
                                  </p:childTnLst>
                                </p:cTn>
                              </p:par>
                              <p:par>
                                <p:cTn id="69" presetID="10" presetClass="entr" presetSubtype="0" fill="hold"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par>
                                <p:cTn id="72" presetID="10" presetClass="entr" presetSubtype="0"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500"/>
                                        <p:tgtEl>
                                          <p:spTgt spid="34"/>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Module 6 · Video 7 · Two-Part Tariff</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Zoo Pricing – Comparison to Simple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14300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143000" y="5989320"/>
            <a:ext cx="49194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872871" y="1211579"/>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sdaxistitle:x"/>
          <p:cNvSpPr txBox="1"/>
          <p:nvPr/>
        </p:nvSpPr>
        <p:spPr>
          <a:xfrm>
            <a:off x="5230558" y="6035040"/>
            <a:ext cx="1663827" cy="265176"/>
          </a:xfrm>
          <a:prstGeom prst="rect">
            <a:avLst/>
          </a:prstGeom>
          <a:noFill/>
        </p:spPr>
        <p:txBody>
          <a:bodyPr wrap="square" lIns="0" tIns="0" rIns="0" bIns="0">
            <a:spAutoFit/>
          </a:bodyPr>
          <a:lstStyle/>
          <a:p>
            <a:pPr algn="l"/>
            <a:r>
              <a:rPr sz="1700" b="1" i="1" u="none">
                <a:solidFill>
                  <a:srgbClr val="0B2B4E"/>
                </a:solidFill>
                <a:latin typeface="Calibri"/>
              </a:rPr>
              <a:t>Q (visits per year)</a:t>
            </a:r>
          </a:p>
        </p:txBody>
      </p:sp>
      <p:sp>
        <p:nvSpPr>
          <p:cNvPr id="11" name="sdregion:16d55790"/>
          <p:cNvSpPr/>
          <p:nvPr/>
        </p:nvSpPr>
        <p:spPr>
          <a:xfrm>
            <a:off x="1143000" y="3651636"/>
            <a:ext cx="1533832" cy="1558456"/>
          </a:xfrm>
          <a:custGeom>
            <a:avLst/>
            <a:gdLst/>
            <a:ahLst/>
            <a:cxnLst/>
            <a:rect l="0" t="0" r="r" b="b"/>
            <a:pathLst>
              <a:path w="1533832" h="1558456">
                <a:moveTo>
                  <a:pt x="0" y="0"/>
                </a:moveTo>
                <a:lnTo>
                  <a:pt x="0" y="1558456"/>
                </a:lnTo>
                <a:lnTo>
                  <a:pt x="1533832" y="1558456"/>
                </a:lnTo>
                <a:lnTo>
                  <a:pt x="1533832"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9" name="sdpair:curve:MC"/>
          <p:cNvGrpSpPr/>
          <p:nvPr/>
        </p:nvGrpSpPr>
        <p:grpSpPr>
          <a:xfrm>
            <a:off x="1143000" y="4888461"/>
            <a:ext cx="4346865" cy="321631"/>
            <a:chOff x="1143000" y="4888461"/>
            <a:chExt cx="4346865" cy="321631"/>
          </a:xfrm>
        </p:grpSpPr>
        <p:cxnSp>
          <p:nvCxnSpPr>
            <p:cNvPr id="12" name="sdcurve:MC"/>
            <p:cNvCxnSpPr/>
            <p:nvPr/>
          </p:nvCxnSpPr>
          <p:spPr>
            <a:xfrm>
              <a:off x="1143000" y="5210092"/>
              <a:ext cx="3911272"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sdcurvelab:MC"/>
            <p:cNvSpPr txBox="1"/>
            <p:nvPr/>
          </p:nvSpPr>
          <p:spPr>
            <a:xfrm>
              <a:off x="5130963" y="4888461"/>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grpSp>
      <p:grpSp>
        <p:nvGrpSpPr>
          <p:cNvPr id="137" name="sdpair:curve:D"/>
          <p:cNvGrpSpPr/>
          <p:nvPr/>
        </p:nvGrpSpPr>
        <p:grpSpPr>
          <a:xfrm>
            <a:off x="1143000" y="2093180"/>
            <a:ext cx="3834580" cy="3896140"/>
            <a:chOff x="1143000" y="2093180"/>
            <a:chExt cx="3834580" cy="3896140"/>
          </a:xfrm>
        </p:grpSpPr>
        <p:cxnSp>
          <p:nvCxnSpPr>
            <p:cNvPr id="13" name="sdcurve:D"/>
            <p:cNvCxnSpPr/>
            <p:nvPr/>
          </p:nvCxnSpPr>
          <p:spPr>
            <a:xfrm>
              <a:off x="1143000" y="2093180"/>
              <a:ext cx="3834580" cy="3896140"/>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5" name="sdcurvelab:D"/>
            <p:cNvSpPr txBox="1"/>
            <p:nvPr/>
          </p:nvSpPr>
          <p:spPr>
            <a:xfrm>
              <a:off x="4712200" y="5374930"/>
              <a:ext cx="225551" cy="292608"/>
            </a:xfrm>
            <a:prstGeom prst="rect">
              <a:avLst/>
            </a:prstGeom>
            <a:noFill/>
          </p:spPr>
          <p:txBody>
            <a:bodyPr wrap="square" lIns="0" tIns="0" rIns="0" bIns="0">
              <a:spAutoFit/>
            </a:bodyPr>
            <a:lstStyle/>
            <a:p>
              <a:pPr algn="l"/>
              <a:r>
                <a:rPr sz="1900" b="1" i="1" u="none">
                  <a:solidFill>
                    <a:srgbClr val="A2162A"/>
                  </a:solidFill>
                  <a:latin typeface="Calibri"/>
                </a:rPr>
                <a:t>D</a:t>
              </a:r>
            </a:p>
          </p:txBody>
        </p:sp>
      </p:grpSp>
      <p:grpSp>
        <p:nvGrpSpPr>
          <p:cNvPr id="138" name="sdpair:curve:MR"/>
          <p:cNvGrpSpPr/>
          <p:nvPr/>
        </p:nvGrpSpPr>
        <p:grpSpPr>
          <a:xfrm>
            <a:off x="1143000" y="2093180"/>
            <a:ext cx="2415847" cy="3896140"/>
            <a:chOff x="1143000" y="2093180"/>
            <a:chExt cx="2415847" cy="3896140"/>
          </a:xfrm>
        </p:grpSpPr>
        <p:cxnSp>
          <p:nvCxnSpPr>
            <p:cNvPr id="14" name="sdcurve:MR"/>
            <p:cNvCxnSpPr/>
            <p:nvPr/>
          </p:nvCxnSpPr>
          <p:spPr>
            <a:xfrm>
              <a:off x="1143000" y="2093180"/>
              <a:ext cx="1917290" cy="3896140"/>
            </a:xfrm>
            <a:prstGeom prst="line">
              <a:avLst/>
            </a:prstGeom>
            <a:ln w="28575">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16" name="sdcurvelab:MR"/>
            <p:cNvSpPr txBox="1"/>
            <p:nvPr/>
          </p:nvSpPr>
          <p:spPr>
            <a:xfrm>
              <a:off x="3152320" y="5609247"/>
              <a:ext cx="406527" cy="292608"/>
            </a:xfrm>
            <a:prstGeom prst="rect">
              <a:avLst/>
            </a:prstGeom>
            <a:noFill/>
          </p:spPr>
          <p:txBody>
            <a:bodyPr wrap="square" lIns="0" tIns="0" rIns="0" bIns="0">
              <a:spAutoFit/>
            </a:bodyPr>
            <a:lstStyle/>
            <a:p>
              <a:pPr algn="l"/>
              <a:r>
                <a:rPr sz="1800" b="1" i="1" u="none">
                  <a:solidFill>
                    <a:srgbClr val="A2162A"/>
                  </a:solidFill>
                  <a:latin typeface="Calibri"/>
                </a:rPr>
                <a:t>MR</a:t>
              </a:r>
            </a:p>
          </p:txBody>
        </p:sp>
      </p:grpSp>
      <p:sp>
        <p:nvSpPr>
          <p:cNvPr id="18" name="TextBox 17"/>
          <p:cNvSpPr txBox="1"/>
          <p:nvPr/>
        </p:nvSpPr>
        <p:spPr>
          <a:xfrm>
            <a:off x="644271" y="1956020"/>
            <a:ext cx="425577" cy="274320"/>
          </a:xfrm>
          <a:prstGeom prst="rect">
            <a:avLst/>
          </a:prstGeom>
          <a:noFill/>
        </p:spPr>
        <p:txBody>
          <a:bodyPr wrap="square" lIns="0" tIns="0" rIns="0" bIns="0">
            <a:spAutoFit/>
          </a:bodyPr>
          <a:lstStyle/>
          <a:p>
            <a:pPr algn="r"/>
            <a:r>
              <a:rPr sz="1800" b="0" i="1" u="none">
                <a:solidFill>
                  <a:srgbClr val="0B2B4E"/>
                </a:solidFill>
                <a:latin typeface="Calibri"/>
              </a:rPr>
              <a:t>$40</a:t>
            </a:r>
          </a:p>
        </p:txBody>
      </p:sp>
      <p:sp>
        <p:nvSpPr>
          <p:cNvPr id="19" name="TextBox 18"/>
          <p:cNvSpPr txBox="1"/>
          <p:nvPr/>
        </p:nvSpPr>
        <p:spPr>
          <a:xfrm>
            <a:off x="653796" y="3514476"/>
            <a:ext cx="416052" cy="274320"/>
          </a:xfrm>
          <a:prstGeom prst="rect">
            <a:avLst/>
          </a:prstGeom>
          <a:noFill/>
        </p:spPr>
        <p:txBody>
          <a:bodyPr wrap="square" lIns="0" tIns="0" rIns="0" bIns="0">
            <a:spAutoFit/>
          </a:bodyPr>
          <a:lstStyle/>
          <a:p>
            <a:pPr algn="r"/>
            <a:r>
              <a:rPr sz="1800" b="0" i="1" u="none">
                <a:solidFill>
                  <a:srgbClr val="0B2B4E"/>
                </a:solidFill>
                <a:latin typeface="Calibri"/>
              </a:rPr>
              <a:t>$24</a:t>
            </a:r>
          </a:p>
        </p:txBody>
      </p:sp>
      <p:sp>
        <p:nvSpPr>
          <p:cNvPr id="20" name="TextBox 19"/>
          <p:cNvSpPr txBox="1"/>
          <p:nvPr/>
        </p:nvSpPr>
        <p:spPr>
          <a:xfrm>
            <a:off x="768096" y="5072932"/>
            <a:ext cx="301752" cy="274320"/>
          </a:xfrm>
          <a:prstGeom prst="rect">
            <a:avLst/>
          </a:prstGeom>
          <a:noFill/>
        </p:spPr>
        <p:txBody>
          <a:bodyPr wrap="square" lIns="0" tIns="0" rIns="0" bIns="0">
            <a:spAutoFit/>
          </a:bodyPr>
          <a:lstStyle/>
          <a:p>
            <a:pPr algn="r"/>
            <a:r>
              <a:rPr sz="1800" b="0" i="1" u="none">
                <a:solidFill>
                  <a:srgbClr val="0B2B4E"/>
                </a:solidFill>
                <a:latin typeface="Calibri"/>
              </a:rPr>
              <a:t>$8</a:t>
            </a:r>
          </a:p>
        </p:txBody>
      </p:sp>
      <p:sp>
        <p:nvSpPr>
          <p:cNvPr id="21" name="TextBox 20"/>
          <p:cNvSpPr txBox="1"/>
          <p:nvPr/>
        </p:nvSpPr>
        <p:spPr>
          <a:xfrm>
            <a:off x="2583106"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2</a:t>
            </a:r>
          </a:p>
        </p:txBody>
      </p:sp>
      <p:sp>
        <p:nvSpPr>
          <p:cNvPr id="22" name="TextBox 21"/>
          <p:cNvSpPr txBox="1"/>
          <p:nvPr/>
        </p:nvSpPr>
        <p:spPr>
          <a:xfrm>
            <a:off x="4883854"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5</a:t>
            </a:r>
          </a:p>
        </p:txBody>
      </p:sp>
      <p:cxnSp>
        <p:nvCxnSpPr>
          <p:cNvPr id="23" name="Connector 22"/>
          <p:cNvCxnSpPr/>
          <p:nvPr/>
        </p:nvCxnSpPr>
        <p:spPr>
          <a:xfrm>
            <a:off x="1143000" y="3651636"/>
            <a:ext cx="1533832"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6832" y="3651636"/>
            <a:ext cx="0" cy="233768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sdreglab:911ba09c"/>
          <p:cNvSpPr txBox="1"/>
          <p:nvPr/>
        </p:nvSpPr>
        <p:spPr>
          <a:xfrm>
            <a:off x="1400266" y="4293704"/>
            <a:ext cx="405765" cy="274320"/>
          </a:xfrm>
          <a:prstGeom prst="rect">
            <a:avLst/>
          </a:prstGeom>
          <a:noFill/>
        </p:spPr>
        <p:txBody>
          <a:bodyPr wrap="square" lIns="0" tIns="0" rIns="0" bIns="0">
            <a:spAutoFit/>
          </a:bodyPr>
          <a:lstStyle/>
          <a:p>
            <a:pPr algn="ctr"/>
            <a:r>
              <a:rPr sz="1600" b="1" i="0" u="none">
                <a:solidFill>
                  <a:srgbClr val="0B2B4E"/>
                </a:solidFill>
                <a:latin typeface="Calibri"/>
              </a:rPr>
              <a:t>$32</a:t>
            </a:r>
          </a:p>
        </p:txBody>
      </p:sp>
      <mc:AlternateContent xmlns:mc="http://schemas.openxmlformats.org/markup-compatibility/2006" xmlns:a14="http://schemas.microsoft.com/office/drawing/2010/main">
        <mc:Choice Requires="a14">
          <p:sp>
            <p:nvSpPr>
              <p:cNvPr id="26" name="TextBox 25"/>
              <p:cNvSpPr txBox="1"/>
              <p:nvPr/>
            </p:nvSpPr>
            <p:spPr>
              <a:xfrm>
                <a:off x="1380744" y="1737360"/>
                <a:ext cx="3246120" cy="704088"/>
              </a:xfrm>
              <a:prstGeom prst="rect">
                <a:avLst/>
              </a:prstGeom>
              <a:noFill/>
            </p:spPr>
            <p:txBody>
              <a:bodyPr wrap="square" anchor="ctr">
                <a:spAutoFit/>
              </a:bodyPr>
              <a:lstStyle/>
              <a:p>
                <a:pPr algn="ctr">
                  <a:defRPr sz="2000" b="0" i="1">
                    <a:solidFill>
                      <a:srgbClr val="A2162A"/>
                    </a:solidFill>
                    <a:latin typeface="Cambria Math"/>
                  </a:defRPr>
                </a:pPr>
                <a14:m>
                  <m:oMathPara xmlns:m="http://schemas.openxmlformats.org/officeDocument/2006/math">
                    <m:oMath>
                      <m:r>
                        <a:rPr lang="en-US" sz="2000" b="0" i="1" smtClean="0">
                          <a:solidFill>
                            <a:srgbClr val="A2162A"/>
                          </a:solidFill>
                          <a:latin typeface="Cambria Math"/>
                          <a:ea typeface="Cambria Math"/>
                        </a:rPr>
                        <m:t>𝑃</m:t>
                      </m:r>
                      <m:r>
                        <a:rPr lang="en-US" sz="2000" b="0" i="0">
                          <a:solidFill>
                            <a:srgbClr val="A2162A"/>
                          </a:solidFill>
                          <a:latin typeface="Cambria Math"/>
                        </a:rPr>
                        <m:t> = 40 − 8</m:t>
                      </m:r>
                      <m:r>
                        <a:rPr lang="en-US" sz="2000" b="0" i="1">
                          <a:solidFill>
                            <a:srgbClr val="A2162A"/>
                          </a:solidFill>
                          <a:latin typeface="Cambria Math"/>
                          <a:ea typeface="Cambria Math"/>
                        </a:rPr>
                        <m:t>𝑄</m:t>
                      </m:r>
                      <m:r>
                        <a:rPr lang="en-US" sz="2000" b="0" i="0">
                          <a:solidFill>
                            <a:srgbClr val="A2162A"/>
                          </a:solidFill>
                          <a:latin typeface="Cambria Math"/>
                        </a:rPr>
                        <m:t>   </m:t>
                      </m:r>
                    </m:oMath>
                  </m:oMathPara>
                </a14:m>
                <a:endParaRPr lang="en-US" sz="2000" b="0" i="0" dirty="0">
                  <a:solidFill>
                    <a:srgbClr val="A2162A"/>
                  </a:solidFill>
                  <a:latin typeface="Cambria Math"/>
                </a:endParaRPr>
              </a:p>
              <a:p>
                <a:pPr algn="ctr">
                  <a:defRPr sz="2000" b="0" i="1">
                    <a:solidFill>
                      <a:srgbClr val="A2162A"/>
                    </a:solidFill>
                    <a:latin typeface="Cambria Math"/>
                  </a:defRPr>
                </a:pPr>
                <a14:m>
                  <m:oMathPara xmlns:m="http://schemas.openxmlformats.org/officeDocument/2006/math">
                    <m:oMath>
                      <m:r>
                        <a:rPr lang="en-US" sz="2000" b="0" i="0">
                          <a:solidFill>
                            <a:srgbClr val="A2162A"/>
                          </a:solidFill>
                          <a:latin typeface="Cambria Math"/>
                        </a:rPr>
                        <m:t>⇒   </m:t>
                      </m:r>
                      <m:r>
                        <a:rPr lang="en-US" sz="2000" b="0" i="1">
                          <a:solidFill>
                            <a:srgbClr val="A2162A"/>
                          </a:solidFill>
                          <a:latin typeface="Cambria Math"/>
                          <a:ea typeface="Cambria Math"/>
                        </a:rPr>
                        <m:t>𝑀𝑅</m:t>
                      </m:r>
                      <m:r>
                        <a:rPr lang="en-US" sz="2000" b="0" i="0">
                          <a:solidFill>
                            <a:srgbClr val="A2162A"/>
                          </a:solidFill>
                          <a:latin typeface="Cambria Math"/>
                        </a:rPr>
                        <m:t> = 40 − 16</m:t>
                      </m:r>
                      <m:r>
                        <a:rPr lang="en-US" sz="2000" b="0" i="1">
                          <a:solidFill>
                            <a:srgbClr val="A2162A"/>
                          </a:solidFill>
                          <a:latin typeface="Cambria Math"/>
                          <a:ea typeface="Cambria Math"/>
                        </a:rPr>
                        <m:t>𝑄</m:t>
                      </m:r>
                    </m:oMath>
                  </m:oMathPara>
                </a14:m>
                <a:endParaRPr lang="en-US" sz="2000" dirty="0"/>
              </a:p>
            </p:txBody>
          </p:sp>
        </mc:Choice>
        <mc:Fallback xmlns="">
          <p:sp>
            <p:nvSpPr>
              <p:cNvPr id="26" name="TextBox 25"/>
              <p:cNvSpPr txBox="1">
                <a:spLocks noRot="1" noChangeAspect="1" noMove="1" noResize="1" noEditPoints="1" noAdjustHandles="1" noChangeArrowheads="1" noChangeShapeType="1" noTextEdit="1"/>
              </p:cNvSpPr>
              <p:nvPr/>
            </p:nvSpPr>
            <p:spPr>
              <a:xfrm>
                <a:off x="1380744" y="1737360"/>
                <a:ext cx="3246120" cy="704088"/>
              </a:xfrm>
              <a:prstGeom prst="rect">
                <a:avLst/>
              </a:prstGeom>
              <a:blipFill>
                <a:blip r:embed="rId3"/>
                <a:stretch>
                  <a:fillRect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803136" y="2843784"/>
                <a:ext cx="4846320" cy="548640"/>
              </a:xfrm>
              <a:prstGeom prst="rect">
                <a:avLst/>
              </a:prstGeom>
              <a:noFill/>
            </p:spPr>
            <p:txBody>
              <a:bodyPr wrap="square" anchor="ctr">
                <a:spAutoFit/>
              </a:bodyPr>
              <a:lstStyle/>
              <a:p>
                <a:pPr algn="ctr">
                  <a:defRPr sz="2000" b="0" i="1">
                    <a:solidFill>
                      <a:srgbClr val="0B2B4E"/>
                    </a:solidFill>
                    <a:latin typeface="Cambria Math"/>
                  </a:defRPr>
                </a:pPr>
                <a14:m>
                  <m:oMathPara xmlns:m="http://schemas.openxmlformats.org/officeDocument/2006/math">
                    <m:oMath>
                      <m:r>
                        <a:rPr lang="en-US" sz="2000" b="0" i="1">
                          <a:solidFill>
                            <a:srgbClr val="0B2B4E"/>
                          </a:solidFill>
                          <a:latin typeface="Cambria Math"/>
                          <a:ea typeface="Cambria Math"/>
                        </a:rPr>
                        <m:t>𝑀𝑅</m:t>
                      </m:r>
                      <m:r>
                        <a:rPr lang="en-US" sz="2000" b="0" i="0">
                          <a:solidFill>
                            <a:srgbClr val="0B2B4E"/>
                          </a:solidFill>
                          <a:latin typeface="Cambria Math"/>
                        </a:rPr>
                        <m:t> = </m:t>
                      </m:r>
                      <m:r>
                        <a:rPr lang="en-US" sz="2000" b="0" i="1">
                          <a:solidFill>
                            <a:srgbClr val="0B2B4E"/>
                          </a:solidFill>
                          <a:latin typeface="Cambria Math"/>
                          <a:ea typeface="Cambria Math"/>
                        </a:rPr>
                        <m:t>𝑀𝐶</m:t>
                      </m:r>
                      <m:r>
                        <a:rPr lang="en-US" sz="2000" b="0" i="0">
                          <a:solidFill>
                            <a:srgbClr val="0B2B4E"/>
                          </a:solidFill>
                          <a:latin typeface="Cambria Math"/>
                        </a:rPr>
                        <m:t> = 8  ⇒  </m:t>
                      </m:r>
                      <m:sSup>
                        <m:sSupPr>
                          <m:ctrlPr>
                            <a:rPr lang="en-US" sz="2000" b="0" i="1">
                              <a:solidFill>
                                <a:srgbClr val="0B2B4E"/>
                              </a:solidFill>
                              <a:latin typeface="Cambria Math"/>
                              <a:ea typeface="Cambria Math"/>
                            </a:rPr>
                          </m:ctrlPr>
                        </m:sSupPr>
                        <m:e>
                          <m:r>
                            <a:rPr lang="en-US" sz="2000" b="0" i="1">
                              <a:solidFill>
                                <a:srgbClr val="0B2B4E"/>
                              </a:solidFill>
                              <a:latin typeface="Cambria Math"/>
                              <a:ea typeface="Cambria Math"/>
                            </a:rPr>
                            <m:t>𝑄</m:t>
                          </m:r>
                        </m:e>
                        <m:sup>
                          <m:r>
                            <a:rPr lang="en-US" sz="2000" b="0" i="0">
                              <a:solidFill>
                                <a:srgbClr val="0B2B4E"/>
                              </a:solidFill>
                              <a:latin typeface="Cambria Math"/>
                            </a:rPr>
                            <m:t>∗</m:t>
                          </m:r>
                        </m:sup>
                      </m:sSup>
                      <m:r>
                        <a:rPr lang="en-US" sz="2000" b="0" i="0">
                          <a:solidFill>
                            <a:srgbClr val="0B2B4E"/>
                          </a:solidFill>
                          <a:latin typeface="Cambria Math"/>
                        </a:rPr>
                        <m:t> = 2;  </m:t>
                      </m:r>
                      <m:sSup>
                        <m:sSupPr>
                          <m:ctrlPr>
                            <a:rPr lang="en-US" sz="2000" b="0" i="1">
                              <a:solidFill>
                                <a:srgbClr val="0B2B4E"/>
                              </a:solidFill>
                              <a:latin typeface="Cambria Math"/>
                              <a:ea typeface="Cambria Math"/>
                            </a:rPr>
                          </m:ctrlPr>
                        </m:sSupPr>
                        <m:e>
                          <m:r>
                            <a:rPr lang="en-US" sz="2000" b="0" i="1">
                              <a:solidFill>
                                <a:srgbClr val="0B2B4E"/>
                              </a:solidFill>
                              <a:latin typeface="Cambria Math"/>
                              <a:ea typeface="Cambria Math"/>
                            </a:rPr>
                            <m:t>𝑃</m:t>
                          </m:r>
                        </m:e>
                        <m:sup>
                          <m:r>
                            <a:rPr lang="en-US" sz="2000" b="0" i="0">
                              <a:solidFill>
                                <a:srgbClr val="0B2B4E"/>
                              </a:solidFill>
                              <a:latin typeface="Cambria Math"/>
                            </a:rPr>
                            <m:t>∗</m:t>
                          </m:r>
                        </m:sup>
                      </m:sSup>
                      <m:r>
                        <a:rPr lang="en-US" sz="2000" b="0" i="0">
                          <a:solidFill>
                            <a:srgbClr val="0B2B4E"/>
                          </a:solidFill>
                          <a:latin typeface="Cambria Math"/>
                        </a:rPr>
                        <m:t> = 24</m:t>
                      </m:r>
                    </m:oMath>
                  </m:oMathPara>
                </a14:m>
                <a:endParaRPr lang="en-US" sz="2000" dirty="0"/>
              </a:p>
            </p:txBody>
          </p:sp>
        </mc:Choice>
        <mc:Fallback xmlns="">
          <p:sp>
            <p:nvSpPr>
              <p:cNvPr id="27" name="TextBox 26"/>
              <p:cNvSpPr txBox="1">
                <a:spLocks noRot="1" noChangeAspect="1" noMove="1" noResize="1" noEditPoints="1" noAdjustHandles="1" noChangeArrowheads="1" noChangeShapeType="1" noTextEdit="1"/>
              </p:cNvSpPr>
              <p:nvPr/>
            </p:nvSpPr>
            <p:spPr>
              <a:xfrm>
                <a:off x="6803136" y="2843784"/>
                <a:ext cx="4846320" cy="548640"/>
              </a:xfrm>
              <a:prstGeom prst="rect">
                <a:avLst/>
              </a:prstGeom>
              <a:blipFill>
                <a:blip r:embed="rId4"/>
                <a:stretch>
                  <a:fillRect/>
                </a:stretch>
              </a:blipFill>
            </p:spPr>
            <p:txBody>
              <a:bodyPr/>
              <a:lstStyle/>
              <a:p>
                <a:r>
                  <a:rPr lang="en-US">
                    <a:noFill/>
                  </a:rPr>
                  <a:t> </a:t>
                </a:r>
              </a:p>
            </p:txBody>
          </p:sp>
        </mc:Fallback>
      </mc:AlternateContent>
      <p:sp>
        <p:nvSpPr>
          <p:cNvPr id="28" name="TextBox 27"/>
          <p:cNvSpPr txBox="1"/>
          <p:nvPr/>
        </p:nvSpPr>
        <p:spPr>
          <a:xfrm>
            <a:off x="6766560" y="2350008"/>
            <a:ext cx="4279392" cy="365760"/>
          </a:xfrm>
          <a:prstGeom prst="rect">
            <a:avLst/>
          </a:prstGeom>
          <a:noFill/>
        </p:spPr>
        <p:txBody>
          <a:bodyPr wrap="square" lIns="0" tIns="0" rIns="0" bIns="0">
            <a:spAutoFit/>
          </a:bodyPr>
          <a:lstStyle/>
          <a:p>
            <a:pPr algn="l"/>
            <a:r>
              <a:rPr sz="2000" b="1" i="0" u="none" dirty="0">
                <a:solidFill>
                  <a:srgbClr val="0B2B4E"/>
                </a:solidFill>
                <a:latin typeface="Calibri"/>
              </a:rPr>
              <a:t>Simple Pricing:</a:t>
            </a:r>
          </a:p>
        </p:txBody>
      </p:sp>
      <p:sp>
        <p:nvSpPr>
          <p:cNvPr id="29" name="sdbullmark:0:zrev"/>
          <p:cNvSpPr/>
          <p:nvPr/>
        </p:nvSpPr>
        <p:spPr>
          <a:xfrm>
            <a:off x="6903720" y="3885057"/>
            <a:ext cx="210312" cy="210312"/>
          </a:xfrm>
          <a:prstGeom prst="rect">
            <a:avLst/>
          </a:prstGeom>
          <a:solidFill>
            <a:srgbClr val="E09F3E">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70648" y="3835273"/>
            <a:ext cx="4279392" cy="364743"/>
          </a:xfrm>
          <a:prstGeom prst="rect">
            <a:avLst/>
          </a:prstGeom>
          <a:noFill/>
        </p:spPr>
        <p:txBody>
          <a:bodyPr wrap="square" lIns="0" tIns="0" rIns="0" bIns="0">
            <a:spAutoFit/>
          </a:bodyPr>
          <a:lstStyle/>
          <a:p>
            <a:pPr algn="l"/>
            <a:r>
              <a:rPr sz="2000" b="0" i="0" u="none">
                <a:solidFill>
                  <a:srgbClr val="0B2B4E"/>
                </a:solidFill>
                <a:latin typeface="Calibri"/>
              </a:rPr>
              <a:t>Simple pricing profits:</a:t>
            </a:r>
          </a:p>
        </p:txBody>
      </p:sp>
      <p:sp>
        <p:nvSpPr>
          <p:cNvPr id="31" name="sdbullmark:1:dot"/>
          <p:cNvSpPr/>
          <p:nvPr/>
        </p:nvSpPr>
        <p:spPr>
          <a:xfrm>
            <a:off x="7196328" y="4597400"/>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44968" y="4518787"/>
            <a:ext cx="4005072" cy="584775"/>
          </a:xfrm>
          <a:prstGeom prst="rect">
            <a:avLst/>
          </a:prstGeom>
          <a:noFill/>
        </p:spPr>
        <p:txBody>
          <a:bodyPr wrap="square" lIns="0" tIns="0" rIns="0" bIns="0">
            <a:spAutoFit/>
          </a:bodyPr>
          <a:lstStyle/>
          <a:p>
            <a:pPr algn="l"/>
            <a:r>
              <a:rPr sz="1900" b="0" i="0" u="none" dirty="0">
                <a:solidFill>
                  <a:srgbClr val="0B2B4E"/>
                </a:solidFill>
                <a:latin typeface="Calibri"/>
              </a:rPr>
              <a:t>Profit: $32 per customer (</a:t>
            </a:r>
            <a:r>
              <a:rPr lang="en-US" sz="1900" b="0" i="0" u="none" dirty="0">
                <a:solidFill>
                  <a:srgbClr val="0B2B4E"/>
                </a:solidFill>
                <a:latin typeface="Calibri"/>
              </a:rPr>
              <a:t>before any </a:t>
            </a:r>
            <a:r>
              <a:rPr sz="1900" b="0" i="0" u="none" dirty="0">
                <a:solidFill>
                  <a:srgbClr val="0B2B4E"/>
                </a:solidFill>
                <a:latin typeface="Calibri"/>
              </a:rPr>
              <a:t>fixed cost)</a:t>
            </a:r>
          </a:p>
        </p:txBody>
      </p:sp>
      <p:sp>
        <p:nvSpPr>
          <p:cNvPr id="34" name="Rectangle 3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7" name="TextBox 36"/>
          <p:cNvSpPr txBox="1"/>
          <p:nvPr/>
        </p:nvSpPr>
        <p:spPr>
          <a:xfrm>
            <a:off x="11475720" y="6583680"/>
            <a:ext cx="502920" cy="292608"/>
          </a:xfrm>
          <a:prstGeom prst="rect">
            <a:avLst/>
          </a:prstGeom>
          <a:noFill/>
        </p:spPr>
        <p:txBody>
          <a:bodyPr wrap="none" lIns="0" tIns="0" rIns="0" bIns="0">
            <a:spAutoFit/>
          </a:bodyPr>
          <a:lstStyle/>
          <a:p>
            <a:pPr algn="r"/>
            <a:fld id="{E098812F-7B2C-5338-A27D-12F45D1836F7}"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137"/>
                                        </p:tgtEl>
                                        <p:attrNameLst>
                                          <p:attrName>style.visibility</p:attrName>
                                        </p:attrNameLst>
                                      </p:cBhvr>
                                      <p:to>
                                        <p:strVal val="visible"/>
                                      </p:to>
                                    </p:set>
                                    <p:animEffect transition="in" filter="fade">
                                      <p:cBhvr>
                                        <p:cTn id="10" dur="500"/>
                                        <p:tgtEl>
                                          <p:spTgt spid="137"/>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9"/>
                                        </p:tgtEl>
                                        <p:attrNameLst>
                                          <p:attrName>style.visibility</p:attrName>
                                        </p:attrNameLst>
                                      </p:cBhvr>
                                      <p:to>
                                        <p:strVal val="visible"/>
                                      </p:to>
                                    </p:set>
                                    <p:animEffect transition="in" filter="fade">
                                      <p:cBhvr>
                                        <p:cTn id="21" dur="500"/>
                                        <p:tgtEl>
                                          <p:spTgt spid="13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8"/>
                                        </p:tgtEl>
                                        <p:attrNameLst>
                                          <p:attrName>style.visibility</p:attrName>
                                        </p:attrNameLst>
                                      </p:cBhvr>
                                      <p:to>
                                        <p:strVal val="visible"/>
                                      </p:to>
                                    </p:set>
                                    <p:animEffect transition="in" filter="fade">
                                      <p:cBhvr>
                                        <p:cTn id="29" dur="500"/>
                                        <p:tgtEl>
                                          <p:spTgt spid="13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58" presetID="10" presetClass="entr" presetSubtype="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Module 6 · Video 7 · Two-Part Tariff</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Zoo Pricing – Comparison to Flat Fee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14300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143000" y="5989320"/>
            <a:ext cx="49194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872871" y="1211579"/>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sdaxistitle:x"/>
          <p:cNvSpPr txBox="1"/>
          <p:nvPr/>
        </p:nvSpPr>
        <p:spPr>
          <a:xfrm>
            <a:off x="5230558" y="6035040"/>
            <a:ext cx="1663827" cy="265176"/>
          </a:xfrm>
          <a:prstGeom prst="rect">
            <a:avLst/>
          </a:prstGeom>
          <a:noFill/>
        </p:spPr>
        <p:txBody>
          <a:bodyPr wrap="square" lIns="0" tIns="0" rIns="0" bIns="0">
            <a:spAutoFit/>
          </a:bodyPr>
          <a:lstStyle/>
          <a:p>
            <a:pPr algn="l"/>
            <a:r>
              <a:rPr sz="1700" b="1" i="1" u="none">
                <a:solidFill>
                  <a:srgbClr val="0B2B4E"/>
                </a:solidFill>
                <a:latin typeface="Calibri"/>
              </a:rPr>
              <a:t>Q (visits per year)</a:t>
            </a:r>
          </a:p>
        </p:txBody>
      </p:sp>
      <p:grpSp>
        <p:nvGrpSpPr>
          <p:cNvPr id="140" name="sdpair:sdreglab:b8225e29"/>
          <p:cNvGrpSpPr/>
          <p:nvPr/>
        </p:nvGrpSpPr>
        <p:grpSpPr>
          <a:xfrm>
            <a:off x="1143000" y="2093180"/>
            <a:ext cx="3834580" cy="3896140"/>
            <a:chOff x="1143000" y="2093180"/>
            <a:chExt cx="3834580" cy="3896140"/>
          </a:xfrm>
        </p:grpSpPr>
        <p:sp>
          <p:nvSpPr>
            <p:cNvPr id="11" name="sdregion:b8225e29"/>
            <p:cNvSpPr/>
            <p:nvPr/>
          </p:nvSpPr>
          <p:spPr>
            <a:xfrm>
              <a:off x="1143000" y="2093180"/>
              <a:ext cx="3834580" cy="3896140"/>
            </a:xfrm>
            <a:custGeom>
              <a:avLst/>
              <a:gdLst/>
              <a:ahLst/>
              <a:cxnLst/>
              <a:rect l="0" t="0" r="r" b="b"/>
              <a:pathLst>
                <a:path w="3834580" h="3896140">
                  <a:moveTo>
                    <a:pt x="0" y="0"/>
                  </a:moveTo>
                  <a:lnTo>
                    <a:pt x="0" y="3896140"/>
                  </a:lnTo>
                  <a:lnTo>
                    <a:pt x="3834580" y="389614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dreglab:b8225e29"/>
            <p:cNvSpPr txBox="1"/>
            <p:nvPr/>
          </p:nvSpPr>
          <p:spPr>
            <a:xfrm>
              <a:off x="1432282" y="4521614"/>
              <a:ext cx="1415415" cy="514350"/>
            </a:xfrm>
            <a:prstGeom prst="rect">
              <a:avLst/>
            </a:prstGeom>
            <a:noFill/>
          </p:spPr>
          <p:txBody>
            <a:bodyPr wrap="square" lIns="0" tIns="0" rIns="0" bIns="0">
              <a:spAutoFit/>
            </a:bodyPr>
            <a:lstStyle/>
            <a:p>
              <a:pPr algn="ctr"/>
              <a:r>
                <a:rPr sz="1500" b="1" i="0" u="none">
                  <a:solidFill>
                    <a:srgbClr val="0B2B4E"/>
                  </a:solidFill>
                  <a:latin typeface="Calibri"/>
                </a:rPr>
                <a:t>Flat fee
= $40·5/2 = $100</a:t>
              </a:r>
            </a:p>
          </p:txBody>
        </p:sp>
      </p:grpSp>
      <p:grpSp>
        <p:nvGrpSpPr>
          <p:cNvPr id="141" name="sdpair:sdreglab:1993bfee"/>
          <p:cNvGrpSpPr/>
          <p:nvPr/>
        </p:nvGrpSpPr>
        <p:grpSpPr>
          <a:xfrm>
            <a:off x="1143000" y="5210092"/>
            <a:ext cx="3834580" cy="779228"/>
            <a:chOff x="1143000" y="5210092"/>
            <a:chExt cx="3834580" cy="779228"/>
          </a:xfrm>
        </p:grpSpPr>
        <p:sp>
          <p:nvSpPr>
            <p:cNvPr id="12" name="sdregion:1993bfee"/>
            <p:cNvSpPr/>
            <p:nvPr/>
          </p:nvSpPr>
          <p:spPr>
            <a:xfrm>
              <a:off x="1143000" y="5210092"/>
              <a:ext cx="3834580" cy="779228"/>
            </a:xfrm>
            <a:custGeom>
              <a:avLst/>
              <a:gdLst/>
              <a:ahLst/>
              <a:cxnLst/>
              <a:rect l="0" t="0" r="r" b="b"/>
              <a:pathLst>
                <a:path w="3834580" h="779228">
                  <a:moveTo>
                    <a:pt x="0" y="0"/>
                  </a:moveTo>
                  <a:lnTo>
                    <a:pt x="0" y="779228"/>
                  </a:lnTo>
                  <a:lnTo>
                    <a:pt x="3834580" y="779228"/>
                  </a:lnTo>
                  <a:lnTo>
                    <a:pt x="3834580" y="0"/>
                  </a:lnTo>
                  <a:close/>
                </a:path>
              </a:pathLst>
            </a:custGeom>
            <a:solidFill>
              <a:srgbClr val="A2162A">
                <a:alpha val="16000"/>
              </a:srgbClr>
            </a:solidFill>
            <a:ln w="12700">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dreglab:1993bfee"/>
            <p:cNvSpPr txBox="1"/>
            <p:nvPr/>
          </p:nvSpPr>
          <p:spPr>
            <a:xfrm>
              <a:off x="2052545" y="5479691"/>
              <a:ext cx="2015490" cy="240030"/>
            </a:xfrm>
            <a:prstGeom prst="rect">
              <a:avLst/>
            </a:prstGeom>
            <a:noFill/>
          </p:spPr>
          <p:txBody>
            <a:bodyPr wrap="square" lIns="0" tIns="0" rIns="0" bIns="0">
              <a:spAutoFit/>
            </a:bodyPr>
            <a:lstStyle/>
            <a:p>
              <a:pPr algn="ctr"/>
              <a:r>
                <a:rPr sz="1400" b="1" i="0" u="none">
                  <a:solidFill>
                    <a:srgbClr val="0B2B4E"/>
                  </a:solidFill>
                  <a:latin typeface="Calibri"/>
                </a:rPr>
                <a:t>Variable cost = $8·5 = $40</a:t>
              </a:r>
            </a:p>
          </p:txBody>
        </p:sp>
      </p:grpSp>
      <p:grpSp>
        <p:nvGrpSpPr>
          <p:cNvPr id="43" name="Group 42">
            <a:extLst>
              <a:ext uri="{FF2B5EF4-FFF2-40B4-BE49-F238E27FC236}">
                <a16:creationId xmlns:a16="http://schemas.microsoft.com/office/drawing/2014/main" id="{4BD025B3-ED51-845E-A19C-68381D21CB40}"/>
              </a:ext>
            </a:extLst>
          </p:cNvPr>
          <p:cNvGrpSpPr/>
          <p:nvPr/>
        </p:nvGrpSpPr>
        <p:grpSpPr>
          <a:xfrm>
            <a:off x="768096" y="4928989"/>
            <a:ext cx="4905292" cy="418263"/>
            <a:chOff x="768096" y="4928989"/>
            <a:chExt cx="4905292" cy="418263"/>
          </a:xfrm>
        </p:grpSpPr>
        <p:cxnSp>
          <p:nvCxnSpPr>
            <p:cNvPr id="15" name="Connector 14"/>
            <p:cNvCxnSpPr/>
            <p:nvPr/>
          </p:nvCxnSpPr>
          <p:spPr>
            <a:xfrm>
              <a:off x="1143000" y="5210092"/>
              <a:ext cx="4524805"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66861" y="4928989"/>
              <a:ext cx="406527" cy="292608"/>
            </a:xfrm>
            <a:prstGeom prst="rect">
              <a:avLst/>
            </a:prstGeom>
            <a:noFill/>
          </p:spPr>
          <p:txBody>
            <a:bodyPr wrap="square" lIns="0" tIns="0" rIns="0" bIns="0">
              <a:spAutoFit/>
            </a:bodyPr>
            <a:lstStyle/>
            <a:p>
              <a:pPr algn="l"/>
              <a:r>
                <a:rPr sz="1800" b="1" i="1" u="none" dirty="0">
                  <a:solidFill>
                    <a:srgbClr val="0B2B4E"/>
                  </a:solidFill>
                  <a:latin typeface="Calibri"/>
                </a:rPr>
                <a:t>MC</a:t>
              </a:r>
            </a:p>
          </p:txBody>
        </p:sp>
        <p:sp>
          <p:nvSpPr>
            <p:cNvPr id="19" name="TextBox 18"/>
            <p:cNvSpPr txBox="1"/>
            <p:nvPr/>
          </p:nvSpPr>
          <p:spPr>
            <a:xfrm>
              <a:off x="768096" y="5072932"/>
              <a:ext cx="301752" cy="274320"/>
            </a:xfrm>
            <a:prstGeom prst="rect">
              <a:avLst/>
            </a:prstGeom>
            <a:noFill/>
          </p:spPr>
          <p:txBody>
            <a:bodyPr wrap="square" lIns="0" tIns="0" rIns="0" bIns="0">
              <a:spAutoFit/>
            </a:bodyPr>
            <a:lstStyle/>
            <a:p>
              <a:pPr algn="r"/>
              <a:r>
                <a:rPr sz="1800" b="0" i="1" u="none">
                  <a:solidFill>
                    <a:srgbClr val="0B2B4E"/>
                  </a:solidFill>
                  <a:latin typeface="Calibri"/>
                </a:rPr>
                <a:t>$8</a:t>
              </a:r>
            </a:p>
          </p:txBody>
        </p:sp>
      </p:grpSp>
      <p:grpSp>
        <p:nvGrpSpPr>
          <p:cNvPr id="42" name="Group 41">
            <a:extLst>
              <a:ext uri="{FF2B5EF4-FFF2-40B4-BE49-F238E27FC236}">
                <a16:creationId xmlns:a16="http://schemas.microsoft.com/office/drawing/2014/main" id="{D4636136-48BB-2C74-1BBE-5A8B5E91F02A}"/>
              </a:ext>
            </a:extLst>
          </p:cNvPr>
          <p:cNvGrpSpPr/>
          <p:nvPr/>
        </p:nvGrpSpPr>
        <p:grpSpPr>
          <a:xfrm>
            <a:off x="6766560" y="2093976"/>
            <a:ext cx="4983480" cy="955103"/>
            <a:chOff x="6766560" y="2093976"/>
            <a:chExt cx="4983480" cy="955103"/>
          </a:xfrm>
        </p:grpSpPr>
        <p:sp>
          <p:nvSpPr>
            <p:cNvPr id="24" name="TextBox 23"/>
            <p:cNvSpPr txBox="1"/>
            <p:nvPr/>
          </p:nvSpPr>
          <p:spPr>
            <a:xfrm>
              <a:off x="6766560" y="2093976"/>
              <a:ext cx="4279392" cy="365760"/>
            </a:xfrm>
            <a:prstGeom prst="rect">
              <a:avLst/>
            </a:prstGeom>
            <a:noFill/>
          </p:spPr>
          <p:txBody>
            <a:bodyPr wrap="square" lIns="0" tIns="0" rIns="0" bIns="0">
              <a:spAutoFit/>
            </a:bodyPr>
            <a:lstStyle/>
            <a:p>
              <a:pPr algn="l"/>
              <a:r>
                <a:rPr sz="2000" b="1" i="0" u="none" dirty="0">
                  <a:solidFill>
                    <a:srgbClr val="0B2B4E"/>
                  </a:solidFill>
                  <a:latin typeface="Calibri"/>
                </a:rPr>
                <a:t>Flat-Fee Pricing:</a:t>
              </a:r>
            </a:p>
          </p:txBody>
        </p:sp>
        <p:sp>
          <p:nvSpPr>
            <p:cNvPr id="25" name="sdbullmark:0:zfee"/>
            <p:cNvSpPr/>
            <p:nvPr/>
          </p:nvSpPr>
          <p:spPr>
            <a:xfrm>
              <a:off x="7178040" y="2741866"/>
              <a:ext cx="210312" cy="210312"/>
            </a:xfrm>
            <a:prstGeom prst="rtTriangle">
              <a:avLst/>
            </a:prstGeom>
            <a:solidFill>
              <a:srgbClr val="E09F3E">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44968" y="2699829"/>
              <a:ext cx="4005072" cy="349250"/>
            </a:xfrm>
            <a:prstGeom prst="rect">
              <a:avLst/>
            </a:prstGeom>
            <a:noFill/>
          </p:spPr>
          <p:txBody>
            <a:bodyPr wrap="square" lIns="0" tIns="0" rIns="0" bIns="0">
              <a:spAutoFit/>
            </a:bodyPr>
            <a:lstStyle/>
            <a:p>
              <a:pPr algn="l"/>
              <a:r>
                <a:rPr sz="1900" b="0" i="0" u="none">
                  <a:solidFill>
                    <a:srgbClr val="0B2B4E"/>
                  </a:solidFill>
                  <a:latin typeface="Calibri"/>
                </a:rPr>
                <a:t>Flat fee  F = $100</a:t>
              </a:r>
            </a:p>
          </p:txBody>
        </p:sp>
      </p:grpSp>
      <p:grpSp>
        <p:nvGrpSpPr>
          <p:cNvPr id="44" name="Group 43">
            <a:extLst>
              <a:ext uri="{FF2B5EF4-FFF2-40B4-BE49-F238E27FC236}">
                <a16:creationId xmlns:a16="http://schemas.microsoft.com/office/drawing/2014/main" id="{85E959C7-D917-BA6C-C7EE-682E1D1B2E09}"/>
              </a:ext>
            </a:extLst>
          </p:cNvPr>
          <p:cNvGrpSpPr/>
          <p:nvPr/>
        </p:nvGrpSpPr>
        <p:grpSpPr>
          <a:xfrm>
            <a:off x="7178040" y="3200082"/>
            <a:ext cx="4572000" cy="349250"/>
            <a:chOff x="7178040" y="3200082"/>
            <a:chExt cx="4572000" cy="349250"/>
          </a:xfrm>
        </p:grpSpPr>
        <p:sp>
          <p:nvSpPr>
            <p:cNvPr id="27" name="sdbullmark:1:zcost"/>
            <p:cNvSpPr/>
            <p:nvPr/>
          </p:nvSpPr>
          <p:spPr>
            <a:xfrm>
              <a:off x="7178040" y="3242119"/>
              <a:ext cx="210312" cy="210312"/>
            </a:xfrm>
            <a:prstGeom prst="rect">
              <a:avLst/>
            </a:prstGeom>
            <a:solidFill>
              <a:srgbClr val="A2162A">
                <a:alpha val="1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44968" y="3200082"/>
              <a:ext cx="4005072" cy="349250"/>
            </a:xfrm>
            <a:prstGeom prst="rect">
              <a:avLst/>
            </a:prstGeom>
            <a:noFill/>
          </p:spPr>
          <p:txBody>
            <a:bodyPr wrap="square" lIns="0" tIns="0" rIns="0" bIns="0">
              <a:spAutoFit/>
            </a:bodyPr>
            <a:lstStyle/>
            <a:p>
              <a:pPr algn="l"/>
              <a:r>
                <a:rPr sz="1900" b="0" i="0" u="none" dirty="0">
                  <a:solidFill>
                    <a:srgbClr val="0B2B4E"/>
                  </a:solidFill>
                  <a:latin typeface="Calibri"/>
                </a:rPr>
                <a:t>Costs due to visits: $40</a:t>
              </a:r>
            </a:p>
          </p:txBody>
        </p:sp>
      </p:grpSp>
      <p:grpSp>
        <p:nvGrpSpPr>
          <p:cNvPr id="46" name="Group 45">
            <a:extLst>
              <a:ext uri="{FF2B5EF4-FFF2-40B4-BE49-F238E27FC236}">
                <a16:creationId xmlns:a16="http://schemas.microsoft.com/office/drawing/2014/main" id="{12B7F318-82D6-E32A-F7DA-78A8ECE21F55}"/>
              </a:ext>
            </a:extLst>
          </p:cNvPr>
          <p:cNvGrpSpPr/>
          <p:nvPr/>
        </p:nvGrpSpPr>
        <p:grpSpPr>
          <a:xfrm>
            <a:off x="6922008" y="4439543"/>
            <a:ext cx="4828032" cy="615553"/>
            <a:chOff x="6922008" y="4439543"/>
            <a:chExt cx="4828032" cy="615553"/>
          </a:xfrm>
        </p:grpSpPr>
        <p:sp>
          <p:nvSpPr>
            <p:cNvPr id="30" name="TextBox 29"/>
            <p:cNvSpPr txBox="1"/>
            <p:nvPr/>
          </p:nvSpPr>
          <p:spPr>
            <a:xfrm>
              <a:off x="7470648" y="4439543"/>
              <a:ext cx="4279392" cy="615553"/>
            </a:xfrm>
            <a:prstGeom prst="rect">
              <a:avLst/>
            </a:prstGeom>
            <a:noFill/>
          </p:spPr>
          <p:txBody>
            <a:bodyPr wrap="square" lIns="0" tIns="0" rIns="0" bIns="0">
              <a:spAutoFit/>
            </a:bodyPr>
            <a:lstStyle/>
            <a:p>
              <a:pPr algn="l"/>
              <a:r>
                <a:rPr sz="2000" b="0" i="0" u="none" dirty="0">
                  <a:solidFill>
                    <a:srgbClr val="0B2B4E"/>
                  </a:solidFill>
                  <a:latin typeface="Calibri"/>
                </a:rPr>
                <a:t>Profit: $60 per customer (</a:t>
              </a:r>
              <a:r>
                <a:rPr lang="en-US" sz="2000" b="0" i="0" u="none" dirty="0">
                  <a:solidFill>
                    <a:srgbClr val="0B2B4E"/>
                  </a:solidFill>
                  <a:latin typeface="Calibri"/>
                </a:rPr>
                <a:t>before any </a:t>
              </a:r>
              <a:r>
                <a:rPr sz="2000" b="0" i="0" u="none" dirty="0">
                  <a:solidFill>
                    <a:srgbClr val="0B2B4E"/>
                  </a:solidFill>
                  <a:latin typeface="Calibri"/>
                </a:rPr>
                <a:t>fixed cost)</a:t>
              </a:r>
            </a:p>
          </p:txBody>
        </p:sp>
        <p:sp>
          <p:nvSpPr>
            <p:cNvPr id="31" name="sdbullmark:3:dot"/>
            <p:cNvSpPr/>
            <p:nvPr/>
          </p:nvSpPr>
          <p:spPr>
            <a:xfrm>
              <a:off x="6922008" y="4612322"/>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45" name="Group 44">
            <a:extLst>
              <a:ext uri="{FF2B5EF4-FFF2-40B4-BE49-F238E27FC236}">
                <a16:creationId xmlns:a16="http://schemas.microsoft.com/office/drawing/2014/main" id="{7CEB019E-296B-58FE-C61D-D8191C1ACB61}"/>
              </a:ext>
            </a:extLst>
          </p:cNvPr>
          <p:cNvGrpSpPr/>
          <p:nvPr/>
        </p:nvGrpSpPr>
        <p:grpSpPr>
          <a:xfrm>
            <a:off x="6922008" y="3657126"/>
            <a:ext cx="4828032" cy="674623"/>
            <a:chOff x="6922008" y="3657126"/>
            <a:chExt cx="4828032" cy="674623"/>
          </a:xfrm>
        </p:grpSpPr>
        <p:sp>
          <p:nvSpPr>
            <p:cNvPr id="29" name="sdbullmark:2:dot"/>
            <p:cNvSpPr/>
            <p:nvPr/>
          </p:nvSpPr>
          <p:spPr>
            <a:xfrm>
              <a:off x="6922008" y="3786695"/>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0648" y="3657126"/>
              <a:ext cx="4279392" cy="674623"/>
            </a:xfrm>
            <a:prstGeom prst="rect">
              <a:avLst/>
            </a:prstGeom>
            <a:noFill/>
          </p:spPr>
          <p:txBody>
            <a:bodyPr wrap="square" lIns="0" tIns="0" rIns="0" bIns="0">
              <a:spAutoFit/>
            </a:bodyPr>
            <a:lstStyle/>
            <a:p>
              <a:pPr algn="l"/>
              <a:r>
                <a:rPr sz="2000" b="0" i="0" u="none" dirty="0">
                  <a:solidFill>
                    <a:srgbClr val="0B2B4E"/>
                  </a:solidFill>
                  <a:latin typeface="Calibri"/>
                </a:rPr>
                <a:t>Overall 5 visits, since the price paid per visit is now zero</a:t>
              </a:r>
            </a:p>
          </p:txBody>
        </p:sp>
      </p:grpSp>
      <p:grpSp>
        <p:nvGrpSpPr>
          <p:cNvPr id="47" name="Group 46">
            <a:extLst>
              <a:ext uri="{FF2B5EF4-FFF2-40B4-BE49-F238E27FC236}">
                <a16:creationId xmlns:a16="http://schemas.microsoft.com/office/drawing/2014/main" id="{8A3E34B2-0A0F-648F-17BC-71B0CE6FB1A7}"/>
              </a:ext>
            </a:extLst>
          </p:cNvPr>
          <p:cNvGrpSpPr/>
          <p:nvPr/>
        </p:nvGrpSpPr>
        <p:grpSpPr>
          <a:xfrm>
            <a:off x="3931920" y="4133087"/>
            <a:ext cx="2331720" cy="1856233"/>
            <a:chOff x="3931920" y="4133087"/>
            <a:chExt cx="2331720" cy="1856233"/>
          </a:xfrm>
        </p:grpSpPr>
        <p:sp>
          <p:nvSpPr>
            <p:cNvPr id="13" name="sdregion:e1db6a20"/>
            <p:cNvSpPr/>
            <p:nvPr/>
          </p:nvSpPr>
          <p:spPr>
            <a:xfrm>
              <a:off x="4210664" y="5210092"/>
              <a:ext cx="766916" cy="779228"/>
            </a:xfrm>
            <a:custGeom>
              <a:avLst/>
              <a:gdLst/>
              <a:ahLst/>
              <a:cxnLst/>
              <a:rect l="0" t="0" r="r" b="b"/>
              <a:pathLst>
                <a:path w="766916" h="779228">
                  <a:moveTo>
                    <a:pt x="0" y="0"/>
                  </a:moveTo>
                  <a:lnTo>
                    <a:pt x="766916" y="0"/>
                  </a:lnTo>
                  <a:lnTo>
                    <a:pt x="766916" y="779228"/>
                  </a:lnTo>
                  <a:close/>
                </a:path>
              </a:pathLst>
            </a:custGeom>
            <a:solidFill>
              <a:srgbClr val="A2162A">
                <a:alpha val="42000"/>
              </a:srgbClr>
            </a:solidFill>
            <a:ln w="12700">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9" name="sdpair:arrow:139"/>
            <p:cNvGrpSpPr/>
            <p:nvPr/>
          </p:nvGrpSpPr>
          <p:grpSpPr>
            <a:xfrm>
              <a:off x="3931920" y="4133087"/>
              <a:ext cx="2331720" cy="1346604"/>
              <a:chOff x="3931920" y="4133087"/>
              <a:chExt cx="2331720" cy="1346604"/>
            </a:xfrm>
          </p:grpSpPr>
          <p:sp>
            <p:nvSpPr>
              <p:cNvPr id="33" name="TextBox 32"/>
              <p:cNvSpPr txBox="1"/>
              <p:nvPr/>
            </p:nvSpPr>
            <p:spPr>
              <a:xfrm>
                <a:off x="3931920" y="4133087"/>
                <a:ext cx="2331720" cy="566928"/>
              </a:xfrm>
              <a:prstGeom prst="rect">
                <a:avLst/>
              </a:prstGeom>
              <a:noFill/>
            </p:spPr>
            <p:txBody>
              <a:bodyPr wrap="square" lIns="0" tIns="0" rIns="0" bIns="0">
                <a:spAutoFit/>
              </a:bodyPr>
              <a:lstStyle/>
              <a:p>
                <a:pPr algn="ctr"/>
                <a:r>
                  <a:rPr sz="1400" b="1" i="1" u="none">
                    <a:solidFill>
                      <a:srgbClr val="A2162A"/>
                    </a:solidFill>
                    <a:latin typeface="Calibri"/>
                  </a:rPr>
                  <a:t>Excess variable cost not covered by the flat fee</a:t>
                </a:r>
              </a:p>
            </p:txBody>
          </p:sp>
          <p:cxnSp>
            <p:nvCxnSpPr>
              <p:cNvPr id="34" name="sdleader:35"/>
              <p:cNvCxnSpPr>
                <a:cxnSpLocks/>
              </p:cNvCxnSpPr>
              <p:nvPr/>
            </p:nvCxnSpPr>
            <p:spPr>
              <a:xfrm flipH="1">
                <a:off x="4721941" y="4752760"/>
                <a:ext cx="279602" cy="726931"/>
              </a:xfrm>
              <a:prstGeom prst="line">
                <a:avLst/>
              </a:prstGeom>
              <a:ln w="22225">
                <a:solidFill>
                  <a:srgbClr val="A2162A"/>
                </a:solidFill>
                <a:tailEnd type="triangle" w="med"/>
              </a:ln>
            </p:spPr>
            <p:style>
              <a:lnRef idx="2">
                <a:schemeClr val="accent1"/>
              </a:lnRef>
              <a:fillRef idx="0">
                <a:schemeClr val="accent1"/>
              </a:fillRef>
              <a:effectRef idx="1">
                <a:schemeClr val="accent1"/>
              </a:effectRef>
              <a:fontRef idx="minor">
                <a:schemeClr val="tx1"/>
              </a:fontRef>
            </p:style>
          </p:cxnSp>
        </p:grpSp>
      </p:grpSp>
      <p:sp>
        <p:nvSpPr>
          <p:cNvPr id="35" name="Rounded Rectangle 34"/>
          <p:cNvSpPr/>
          <p:nvPr/>
        </p:nvSpPr>
        <p:spPr>
          <a:xfrm>
            <a:off x="6903720" y="5440680"/>
            <a:ext cx="484632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dirty="0">
                <a:solidFill>
                  <a:srgbClr val="0B2B4E"/>
                </a:solidFill>
                <a:latin typeface="Calibri"/>
              </a:rPr>
              <a:t>Two-part tariff: $64   </a:t>
            </a:r>
            <a:r>
              <a:rPr lang="en-US" sz="1900" b="1" dirty="0">
                <a:solidFill>
                  <a:srgbClr val="0B2B4E"/>
                </a:solidFill>
                <a:latin typeface="Calibri"/>
              </a:rPr>
              <a:t>&gt;</a:t>
            </a:r>
            <a:r>
              <a:rPr sz="1900" b="1" dirty="0">
                <a:solidFill>
                  <a:srgbClr val="0B2B4E"/>
                </a:solidFill>
                <a:latin typeface="Calibri"/>
              </a:rPr>
              <a:t>   pure flat fee: $60</a:t>
            </a:r>
          </a:p>
        </p:txBody>
      </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9" name="TextBox 38"/>
          <p:cNvSpPr txBox="1"/>
          <p:nvPr/>
        </p:nvSpPr>
        <p:spPr>
          <a:xfrm>
            <a:off x="11475720" y="6583680"/>
            <a:ext cx="502920" cy="292608"/>
          </a:xfrm>
          <a:prstGeom prst="rect">
            <a:avLst/>
          </a:prstGeom>
          <a:noFill/>
        </p:spPr>
        <p:txBody>
          <a:bodyPr wrap="none" lIns="0" tIns="0" rIns="0" bIns="0">
            <a:spAutoFit/>
          </a:bodyPr>
          <a:lstStyle/>
          <a:p>
            <a:pPr algn="r"/>
            <a:fld id="{EC317E35-AC66-538C-932E-02B1EFBB37F1}" type="slidenum">
              <a:rPr lang="en-US" sz="1200" dirty="0">
                <a:solidFill>
                  <a:srgbClr val="555B66"/>
                </a:solidFill>
                <a:latin typeface="Calibri"/>
              </a:rPr>
              <a:t>10</a:t>
            </a:fld>
            <a:endParaRPr lang="en-US" sz="1200" dirty="0">
              <a:solidFill>
                <a:srgbClr val="555B66"/>
              </a:solidFill>
              <a:latin typeface="Calibri"/>
            </a:endParaRPr>
          </a:p>
        </p:txBody>
      </p:sp>
      <p:grpSp>
        <p:nvGrpSpPr>
          <p:cNvPr id="41" name="Group 40">
            <a:extLst>
              <a:ext uri="{FF2B5EF4-FFF2-40B4-BE49-F238E27FC236}">
                <a16:creationId xmlns:a16="http://schemas.microsoft.com/office/drawing/2014/main" id="{F3EBCCA8-538F-0D4B-5D99-E3131FCF0963}"/>
              </a:ext>
            </a:extLst>
          </p:cNvPr>
          <p:cNvGrpSpPr/>
          <p:nvPr/>
        </p:nvGrpSpPr>
        <p:grpSpPr>
          <a:xfrm>
            <a:off x="644271" y="1956020"/>
            <a:ext cx="4427035" cy="4362483"/>
            <a:chOff x="644271" y="1956020"/>
            <a:chExt cx="4427035" cy="4362483"/>
          </a:xfrm>
        </p:grpSpPr>
        <p:cxnSp>
          <p:nvCxnSpPr>
            <p:cNvPr id="14" name="Connector 13"/>
            <p:cNvCxnSpPr/>
            <p:nvPr/>
          </p:nvCxnSpPr>
          <p:spPr>
            <a:xfrm>
              <a:off x="1143000" y="2093180"/>
              <a:ext cx="3834580" cy="3896140"/>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26002" y="4814435"/>
              <a:ext cx="225551" cy="292608"/>
            </a:xfrm>
            <a:prstGeom prst="rect">
              <a:avLst/>
            </a:prstGeom>
            <a:noFill/>
          </p:spPr>
          <p:txBody>
            <a:bodyPr wrap="square" lIns="0" tIns="0" rIns="0" bIns="0">
              <a:spAutoFit/>
            </a:bodyPr>
            <a:lstStyle/>
            <a:p>
              <a:pPr algn="l"/>
              <a:r>
                <a:rPr sz="1900" b="1" i="1" u="none">
                  <a:solidFill>
                    <a:srgbClr val="A2162A"/>
                  </a:solidFill>
                  <a:latin typeface="Calibri"/>
                </a:rPr>
                <a:t>D</a:t>
              </a:r>
            </a:p>
          </p:txBody>
        </p:sp>
        <p:sp>
          <p:nvSpPr>
            <p:cNvPr id="18" name="TextBox 17"/>
            <p:cNvSpPr txBox="1"/>
            <p:nvPr/>
          </p:nvSpPr>
          <p:spPr>
            <a:xfrm>
              <a:off x="644271" y="1956020"/>
              <a:ext cx="425577" cy="274320"/>
            </a:xfrm>
            <a:prstGeom prst="rect">
              <a:avLst/>
            </a:prstGeom>
            <a:noFill/>
          </p:spPr>
          <p:txBody>
            <a:bodyPr wrap="square" lIns="0" tIns="0" rIns="0" bIns="0">
              <a:spAutoFit/>
            </a:bodyPr>
            <a:lstStyle/>
            <a:p>
              <a:pPr algn="r"/>
              <a:r>
                <a:rPr sz="1800" b="0" i="1" u="none">
                  <a:solidFill>
                    <a:srgbClr val="0B2B4E"/>
                  </a:solidFill>
                  <a:latin typeface="Calibri"/>
                </a:rPr>
                <a:t>$40</a:t>
              </a:r>
            </a:p>
          </p:txBody>
        </p:sp>
        <p:sp>
          <p:nvSpPr>
            <p:cNvPr id="20" name="TextBox 19"/>
            <p:cNvSpPr txBox="1"/>
            <p:nvPr/>
          </p:nvSpPr>
          <p:spPr>
            <a:xfrm>
              <a:off x="4883854"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5</a:t>
              </a:r>
            </a:p>
          </p:txBody>
        </p:sp>
        <mc:AlternateContent xmlns:mc="http://schemas.openxmlformats.org/markup-compatibility/2006" xmlns:a14="http://schemas.microsoft.com/office/drawing/2010/main">
          <mc:Choice Requires="a14">
            <p:sp>
              <p:nvSpPr>
                <p:cNvPr id="23" name="TextBox 22"/>
                <p:cNvSpPr txBox="1"/>
                <p:nvPr/>
              </p:nvSpPr>
              <p:spPr>
                <a:xfrm>
                  <a:off x="1399032" y="1965960"/>
                  <a:ext cx="2240280" cy="402336"/>
                </a:xfrm>
                <a:prstGeom prst="rect">
                  <a:avLst/>
                </a:prstGeom>
                <a:noFill/>
              </p:spPr>
              <p:txBody>
                <a:bodyPr wrap="square" anchor="ctr">
                  <a:spAutoFit/>
                </a:bodyPr>
                <a:lstStyle/>
                <a:p>
                  <a:pPr algn="ctr">
                    <a:defRPr sz="2000" b="0" i="1">
                      <a:solidFill>
                        <a:srgbClr val="A2162A"/>
                      </a:solidFill>
                      <a:latin typeface="Cambria Math"/>
                    </a:defRPr>
                  </a:pPr>
                  <a14:m>
                    <m:oMathPara xmlns:m="http://schemas.openxmlformats.org/officeDocument/2006/math">
                      <m:oMath>
                        <m:r>
                          <a:rPr lang="en-US" sz="2000" b="0" i="1">
                            <a:solidFill>
                              <a:srgbClr val="A2162A"/>
                            </a:solidFill>
                            <a:latin typeface="Cambria Math"/>
                            <a:ea typeface="Cambria Math"/>
                          </a:rPr>
                          <m:t>𝑃</m:t>
                        </m:r>
                        <m:r>
                          <a:rPr lang="en-US" sz="2000" b="0" i="0">
                            <a:solidFill>
                              <a:srgbClr val="A2162A"/>
                            </a:solidFill>
                            <a:latin typeface="Cambria Math"/>
                          </a:rPr>
                          <m:t> = 40 − 8</m:t>
                        </m:r>
                        <m:r>
                          <a:rPr lang="en-US" sz="2000" b="0" i="1">
                            <a:solidFill>
                              <a:srgbClr val="A2162A"/>
                            </a:solidFill>
                            <a:latin typeface="Cambria Math"/>
                            <a:ea typeface="Cambria Math"/>
                          </a:rPr>
                          <m:t>𝑄</m:t>
                        </m:r>
                      </m:oMath>
                    </m:oMathPara>
                  </a14:m>
                  <a:endParaRPr lang="en-US" sz="2000"/>
                </a:p>
              </p:txBody>
            </p:sp>
          </mc:Choice>
          <mc:Fallback xmlns="">
            <p:sp>
              <p:nvSpPr>
                <p:cNvPr id="23" name="TextBox 22"/>
                <p:cNvSpPr txBox="1">
                  <a:spLocks noRot="1" noChangeAspect="1" noMove="1" noResize="1" noEditPoints="1" noAdjustHandles="1" noChangeArrowheads="1" noChangeShapeType="1" noTextEdit="1"/>
                </p:cNvSpPr>
                <p:nvPr/>
              </p:nvSpPr>
              <p:spPr>
                <a:xfrm>
                  <a:off x="1399032" y="1965960"/>
                  <a:ext cx="2240280" cy="402336"/>
                </a:xfrm>
                <a:prstGeom prst="rect">
                  <a:avLst/>
                </a:prstGeom>
                <a:blipFill>
                  <a:blip r:embed="rId3"/>
                  <a:stretch>
                    <a:fillRect b="-10606"/>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7e524405-d522-4331-8862-58eadc1136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1366</Words>
  <Application>Microsoft Office PowerPoint</Application>
  <PresentationFormat>Widescreen</PresentationFormat>
  <Paragraphs>170</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26</cp:revision>
  <dcterms:created xsi:type="dcterms:W3CDTF">2013-01-27T09:14:16Z</dcterms:created>
  <dcterms:modified xsi:type="dcterms:W3CDTF">2026-09-28T15:20:39Z</dcterms:modified>
  <cp:category/>
</cp:coreProperties>
</file>