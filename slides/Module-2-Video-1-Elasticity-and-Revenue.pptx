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102" y="3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CE759D-A173-45ED-B48A-26B5D0853028}"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C3D31B-DD57-42B7-9C93-DCA493AC4DBB}" type="slidenum">
              <a:rPr lang="en-US" smtClean="0"/>
              <a:t>‹#›</a:t>
            </a:fld>
            <a:endParaRPr lang="en-US"/>
          </a:p>
        </p:txBody>
      </p:sp>
    </p:spTree>
    <p:extLst>
      <p:ext uri="{BB962C8B-B14F-4D97-AF65-F5344CB8AC3E}">
        <p14:creationId xmlns:p14="http://schemas.microsoft.com/office/powerpoint/2010/main" val="179189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dirty="0"/>
          </a:p>
          <a:p>
            <a:r>
              <a:rPr dirty="0"/>
              <a:t>When you lower your price and move down the demand curve, there are two effects on revenues: 1) a positive effect from more quantity sold and 2) a negative effect from a lower price per unit. Which area is bigger? It depends on the elasticity of demand.</a:t>
            </a:r>
          </a:p>
          <a:p>
            <a:r>
              <a:rPr dirty="0"/>
              <a:t> </a:t>
            </a:r>
          </a:p>
          <a:p>
            <a:r>
              <a:rPr dirty="0"/>
              <a:t>Case of elastic demand: TR=</a:t>
            </a:r>
            <a:r>
              <a:rPr dirty="0" err="1"/>
              <a:t>P×Q</a:t>
            </a:r>
            <a:r>
              <a:rPr dirty="0"/>
              <a:t>.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dirty="0"/>
              <a:t> </a:t>
            </a:r>
          </a:p>
          <a:p>
            <a:r>
              <a:rPr dirty="0"/>
              <a:t>Case of inelastic demand: TR=</a:t>
            </a:r>
            <a:r>
              <a:rPr dirty="0" err="1"/>
              <a:t>P×Q</a:t>
            </a:r>
            <a:r>
              <a:rPr dirty="0"/>
              <a:t>.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dirty="0"/>
              <a:t> </a:t>
            </a:r>
          </a:p>
          <a:p>
            <a:r>
              <a:rPr dirty="0"/>
              <a:t>Does that mean that profits are maximized when </a:t>
            </a:r>
            <a:r>
              <a:rPr dirty="0" err="1"/>
              <a:t>E_d</a:t>
            </a:r>
            <a:r>
              <a:rPr dirty="0"/>
              <a:t>=-1? No. When </a:t>
            </a:r>
            <a:r>
              <a:rPr dirty="0" err="1"/>
              <a:t>E_d</a:t>
            </a:r>
            <a:r>
              <a:rPr dirty="0"/>
              <a:t>=-1, revenues are maximized. Marginal revenue is zero. That is not the same as MR=MC. Only when MR=MC are profits maximized. Usually, this is when </a:t>
            </a:r>
            <a:r>
              <a:rPr dirty="0" err="1"/>
              <a:t>E_d</a:t>
            </a:r>
            <a:r>
              <a:rPr dirty="0"/>
              <a:t>&lt;-1, i.e. in the elastic zone of the demand curve, where MR is positive and allows you to cover marginal cost. You only want to stop at MR=0 (</a:t>
            </a:r>
            <a:r>
              <a:rPr dirty="0" err="1"/>
              <a:t>E_d</a:t>
            </a:r>
            <a:r>
              <a:rPr dirty="0"/>
              <a:t>=-1) if MC=0.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dirty="0"/>
          </a:p>
          <a:p>
            <a:r>
              <a:rPr dirty="0"/>
              <a:t>When you lower your price and move down the demand curve, there are two effects on revenues: 1) a positive effect from more quantity sold and 2) a negative effect from a lower price per unit. Which area is bigger? It depends on the elasticity of demand.</a:t>
            </a:r>
          </a:p>
          <a:p>
            <a:r>
              <a:rPr dirty="0"/>
              <a:t> </a:t>
            </a:r>
          </a:p>
          <a:p>
            <a:r>
              <a:rPr dirty="0"/>
              <a:t>Case of elastic demand: TR=</a:t>
            </a:r>
            <a:r>
              <a:rPr dirty="0" err="1"/>
              <a:t>P×Q</a:t>
            </a:r>
            <a:r>
              <a:rPr dirty="0"/>
              <a:t>.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dirty="0"/>
              <a:t> </a:t>
            </a:r>
          </a:p>
          <a:p>
            <a:r>
              <a:rPr dirty="0"/>
              <a:t>Case of inelastic demand: TR=</a:t>
            </a:r>
            <a:r>
              <a:rPr dirty="0" err="1"/>
              <a:t>P×Q</a:t>
            </a:r>
            <a:r>
              <a:rPr dirty="0"/>
              <a:t>.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dirty="0"/>
              <a:t> </a:t>
            </a:r>
          </a:p>
          <a:p>
            <a:r>
              <a:rPr dirty="0"/>
              <a:t>Does that mean that profits are maximized when </a:t>
            </a:r>
            <a:r>
              <a:rPr dirty="0" err="1"/>
              <a:t>E_d</a:t>
            </a:r>
            <a:r>
              <a:rPr dirty="0"/>
              <a:t>=-1? No. When </a:t>
            </a:r>
            <a:r>
              <a:rPr dirty="0" err="1"/>
              <a:t>E_d</a:t>
            </a:r>
            <a:r>
              <a:rPr dirty="0"/>
              <a:t>=-1, revenues are maximized. Marginal revenue is zero. That is not the same as MR=MC. Only when MR=MC are profits maximized. Usually, this is when </a:t>
            </a:r>
            <a:r>
              <a:rPr dirty="0" err="1"/>
              <a:t>E_d</a:t>
            </a:r>
            <a:r>
              <a:rPr dirty="0"/>
              <a:t>&lt;-1, i.e. in the elastic zone of the demand curve, where MR is positive and allows you to cover marginal cost. You only want to stop at MR=0 (</a:t>
            </a:r>
            <a:r>
              <a:rPr dirty="0" err="1"/>
              <a:t>E_d</a:t>
            </a:r>
            <a:r>
              <a:rPr dirty="0"/>
              <a:t>=-1) if MC=0.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can now explore the relationship between the elasticity of demand and total revenue. Total revenue is defined as ⟪𝑇𝑅⟫⟪=⟫⟪𝑃⟫⟪∙⟫⟪𝑄⟫. Starting at the leftmost portion of the graph, when ⟪𝑄⟫⟪=0⟫, we know that ⟪𝑇𝑅⟫⟪=0⟫. As the price falls, quantity rises. Note that these changes have opposing effects on total revenue. Since we are on the elastic portion of the demand curve, we know that a small decrease in price causes a large increase in quantity, and total revenue increases. This pattern will hold as price falls through the point of unit elasticity on the demand curve. At this point, total revenue reaches its maximum. After this point, we enter the inelastic portion of the demand curve. On the inelastic portion of the demand curve, we know that a small decrease in price causes an even smaller increase in quantity, and total revenue falls. Total revenue continues to fall until the demand curve intersects the x-axis, where ⟪𝑃⟫⟪=0⟫, and ⟪𝑇𝑅⟫⟪=0⟫.</a:t>
            </a:r>
          </a:p>
          <a:p>
            <a:endParaRPr dirty="0"/>
          </a:p>
          <a:p>
            <a:r>
              <a:rPr dirty="0"/>
              <a:t>When you lower your price and move down the demand curve, there are two effects on revenues: 1) a positive effect from more quantity sold and 2) a negative effect from a lower price per unit. Which area is bigger? It depends on the elasticity of demand.</a:t>
            </a:r>
            <a:endParaRPr lang="en-US" dirty="0"/>
          </a:p>
          <a:p>
            <a:endParaRPr lang="en-US" dirty="0"/>
          </a:p>
          <a:p>
            <a:r>
              <a:rPr lang="en-US" dirty="0"/>
              <a:t>This is a powerful idea! If you know whether your demand is elastic or inelastic, you can predict whether revenues will rise of fall when you reduce prices (or vice-versa when you raise prices)</a:t>
            </a:r>
            <a:endParaRPr dirty="0"/>
          </a:p>
          <a:p>
            <a:r>
              <a:rPr dirty="0"/>
              <a:t> </a:t>
            </a:r>
          </a:p>
          <a:p>
            <a:r>
              <a:rPr dirty="0"/>
              <a:t>Case of elastic demand: TR=P×Q. If P ↓ by 10% and Q ↑ by 20%, TR ↑. In the elastic zone of the demand curve (low Q, high P), the revenue curve rises. What can we say about the direction in which profits move here? It is ambiguous because of costs. Since quantity sold is rising, costs are also (weakly) rising. Profit can rise or fall, depending on how much costs increase.</a:t>
            </a:r>
          </a:p>
          <a:p>
            <a:r>
              <a:rPr dirty="0"/>
              <a:t> </a:t>
            </a:r>
          </a:p>
          <a:p>
            <a:r>
              <a:rPr dirty="0"/>
              <a:t>Case of inelastic demand: TR=P×Q. If P ↓ by 10% and Q ↑ by 5%, TR ↓. In the inelastic zone of the demand curve (high Q, low P), the revenue curve is downward sloping. The prescription is clear here. If you are on the inelastic part of the demand curve, raise the price. Revenues rise, you sell less, so costs go down. Since revenues rise and costs go down, you know profits must be going up. </a:t>
            </a:r>
          </a:p>
          <a:p>
            <a:r>
              <a:rPr dirty="0"/>
              <a:t> </a:t>
            </a:r>
          </a:p>
          <a:p>
            <a:r>
              <a:rPr dirty="0"/>
              <a:t>Does that mean that profits are maximized when </a:t>
            </a:r>
            <a:r>
              <a:rPr dirty="0" err="1"/>
              <a:t>E_d</a:t>
            </a:r>
            <a:r>
              <a:rPr dirty="0"/>
              <a:t>=-1? No. When </a:t>
            </a:r>
            <a:r>
              <a:rPr dirty="0" err="1"/>
              <a:t>E_d</a:t>
            </a:r>
            <a:r>
              <a:rPr dirty="0"/>
              <a:t>=-1, revenues are maximized. Marginal revenue is zero. That is not the same as MR=MC. Only when MR=MC are profits maximized. Usually, this is when </a:t>
            </a:r>
            <a:r>
              <a:rPr dirty="0" err="1"/>
              <a:t>E_d</a:t>
            </a:r>
            <a:r>
              <a:rPr dirty="0"/>
              <a:t>&lt;-1, i.e. in the elastic zone of the demand curve, where MR is positive and allows you to cover marginal cost. You only want to stop at MR=0 (</a:t>
            </a:r>
            <a:r>
              <a:rPr dirty="0" err="1"/>
              <a:t>E_d</a:t>
            </a:r>
            <a:r>
              <a:rPr dirty="0"/>
              <a:t>=-1) if MC=0.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current example, from early 2026: under a deal with the White House, Novo Nordisk cut the U.S. self-pay price of Ozempic and Wegovy from $499 to $349 a month. The company then guided 2026 sales revenues down by 5 to 13%. Ask yourself what a price cut that REDUCES revenue tells you about the elasticity of demand.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One step further: profit is revenue minus costs. The price cut reduced revenue, and because quantity sold rises, production costs rise too — so profits fall on both ends. The market agreed: when Novo Nordisk warned in February 2026 that lower U.S. prices would push 2026 sales and operating profit down 5 to 13%, its shares tumbled about 18%.</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live example from 2025: McDonald's and its U.S. franchisees agreed to cut combo-meal prices by about 15% relative to buying the items separately, and extended the value menu in 2026. Notable detail for the franchisee question: McDonald's set aside roughly $35 million to compensate operators hit by the lower prices — side payments to align incentives across locations with different demand elasticities.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www.pharmaceutical-technology.com/news/trump-hits-long-term-pledge-as-us-prices-of-weight-loss-drugs-slashe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pharmaceutical-technology.com/news/novo-nordisk-shares-tumble-18-after-2026-sales-dip-warning/"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923330"/>
          </a:xfrm>
          <a:prstGeom prst="rect">
            <a:avLst/>
          </a:prstGeom>
          <a:noFill/>
        </p:spPr>
        <p:txBody>
          <a:bodyPr wrap="square" lIns="0" tIns="0" rIns="0" bIns="0">
            <a:spAutoFit/>
          </a:bodyPr>
          <a:lstStyle/>
          <a:p>
            <a:pPr algn="ctr"/>
            <a:r>
              <a:rPr lang="en-US" sz="6000" b="1" i="0" u="none" dirty="0">
                <a:solidFill>
                  <a:srgbClr val="0B2B4E"/>
                </a:solidFill>
                <a:latin typeface="Calibri"/>
              </a:rPr>
              <a:t>Elasticity</a:t>
            </a:r>
            <a:r>
              <a:rPr sz="6000" b="1" i="0" u="none" dirty="0">
                <a:solidFill>
                  <a:srgbClr val="0B2B4E"/>
                </a:solidFill>
                <a:latin typeface="Calibri"/>
              </a:rPr>
              <a:t> and Revenue</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2  ·  Video 1</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dirty="0">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Outline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2</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51333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1</a:t>
            </a:r>
          </a:p>
        </p:txBody>
      </p:sp>
      <p:sp>
        <p:nvSpPr>
          <p:cNvPr id="8" name="TextBox 7"/>
          <p:cNvSpPr txBox="1"/>
          <p:nvPr/>
        </p:nvSpPr>
        <p:spPr>
          <a:xfrm>
            <a:off x="1874519" y="158010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The </a:t>
            </a:r>
            <a:r>
              <a:rPr lang="en-US" sz="2500" b="1" dirty="0">
                <a:solidFill>
                  <a:srgbClr val="BFBFBF"/>
                </a:solidFill>
                <a:latin typeface="Calibri"/>
              </a:rPr>
              <a:t>L</a:t>
            </a:r>
            <a:r>
              <a:rPr sz="2500" b="1" dirty="0">
                <a:solidFill>
                  <a:srgbClr val="BFBFBF"/>
                </a:solidFill>
                <a:latin typeface="Calibri"/>
              </a:rPr>
              <a:t>aw of </a:t>
            </a:r>
            <a:r>
              <a:rPr lang="en-US" sz="2500" b="1" dirty="0">
                <a:solidFill>
                  <a:srgbClr val="BFBFBF"/>
                </a:solidFill>
                <a:latin typeface="Calibri"/>
              </a:rPr>
              <a:t>D</a:t>
            </a:r>
            <a:r>
              <a:rPr sz="2500" b="1" dirty="0">
                <a:solidFill>
                  <a:srgbClr val="BFBFBF"/>
                </a:solidFill>
                <a:latin typeface="Calibri"/>
              </a:rPr>
              <a:t>emand</a:t>
            </a:r>
          </a:p>
        </p:txBody>
      </p:sp>
      <p:sp>
        <p:nvSpPr>
          <p:cNvPr id="9" name="Oval 8"/>
          <p:cNvSpPr/>
          <p:nvPr/>
        </p:nvSpPr>
        <p:spPr>
          <a:xfrm>
            <a:off x="1051560" y="2345436"/>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2</a:t>
            </a:r>
          </a:p>
        </p:txBody>
      </p:sp>
      <p:sp>
        <p:nvSpPr>
          <p:cNvPr id="10" name="TextBox 9"/>
          <p:cNvSpPr txBox="1"/>
          <p:nvPr/>
        </p:nvSpPr>
        <p:spPr>
          <a:xfrm>
            <a:off x="1874519" y="241221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a:solidFill>
                  <a:srgbClr val="BFBFBF"/>
                </a:solidFill>
                <a:latin typeface="Calibri"/>
              </a:rPr>
              <a:t>Elasticities</a:t>
            </a:r>
          </a:p>
        </p:txBody>
      </p:sp>
      <p:sp>
        <p:nvSpPr>
          <p:cNvPr id="11" name="Rounded Rectangle 10"/>
          <p:cNvSpPr/>
          <p:nvPr/>
        </p:nvSpPr>
        <p:spPr>
          <a:xfrm>
            <a:off x="822960" y="3104388"/>
            <a:ext cx="11109960"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051560" y="3177540"/>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0B2B4E"/>
                </a:solidFill>
                <a:latin typeface="Calibri"/>
              </a:rPr>
              <a:t>3</a:t>
            </a:r>
          </a:p>
        </p:txBody>
      </p:sp>
      <p:sp>
        <p:nvSpPr>
          <p:cNvPr id="13" name="TextBox 12"/>
          <p:cNvSpPr txBox="1"/>
          <p:nvPr/>
        </p:nvSpPr>
        <p:spPr>
          <a:xfrm>
            <a:off x="1874519" y="3159252"/>
            <a:ext cx="10058400" cy="731520"/>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0B2B4E"/>
                </a:solidFill>
                <a:latin typeface="Calibri"/>
              </a:rPr>
              <a:t>Demand and </a:t>
            </a:r>
            <a:r>
              <a:rPr lang="en-US" sz="2500" b="1" dirty="0">
                <a:solidFill>
                  <a:srgbClr val="0B2B4E"/>
                </a:solidFill>
                <a:latin typeface="Calibri"/>
              </a:rPr>
              <a:t>R</a:t>
            </a:r>
            <a:r>
              <a:rPr sz="2500" b="1" dirty="0">
                <a:solidFill>
                  <a:srgbClr val="0B2B4E"/>
                </a:solidFill>
                <a:latin typeface="Calibri"/>
              </a:rPr>
              <a:t>evenue</a:t>
            </a:r>
          </a:p>
          <a:p>
            <a:pPr algn="l">
              <a:spcBef>
                <a:spcPts val="0"/>
              </a:spcBef>
              <a:buNone/>
            </a:pPr>
            <a:r>
              <a:rPr sz="2200" dirty="0">
                <a:solidFill>
                  <a:srgbClr val="555B66"/>
                </a:solidFill>
                <a:latin typeface="Calibri"/>
              </a:rPr>
              <a:t>How the demand curve translates into total revenue</a:t>
            </a:r>
          </a:p>
        </p:txBody>
      </p:sp>
      <p:sp>
        <p:nvSpPr>
          <p:cNvPr id="14" name="Rounded Rectangle 13"/>
          <p:cNvSpPr/>
          <p:nvPr/>
        </p:nvSpPr>
        <p:spPr>
          <a:xfrm>
            <a:off x="1252728" y="3936492"/>
            <a:ext cx="10680192" cy="822960"/>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481328" y="4064508"/>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0B2B4E"/>
                </a:solidFill>
                <a:latin typeface="Calibri"/>
              </a:rPr>
              <a:t>3a</a:t>
            </a:r>
          </a:p>
        </p:txBody>
      </p:sp>
      <p:sp>
        <p:nvSpPr>
          <p:cNvPr id="16" name="TextBox 15"/>
          <p:cNvSpPr txBox="1"/>
          <p:nvPr/>
        </p:nvSpPr>
        <p:spPr>
          <a:xfrm>
            <a:off x="2084831" y="3991356"/>
            <a:ext cx="10058400" cy="677108"/>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0B2B4E"/>
                </a:solidFill>
                <a:latin typeface="Calibri"/>
              </a:rPr>
              <a:t>Elasticity and </a:t>
            </a:r>
            <a:r>
              <a:rPr lang="en-US" sz="2200" b="1" dirty="0">
                <a:solidFill>
                  <a:srgbClr val="0B2B4E"/>
                </a:solidFill>
                <a:latin typeface="Calibri"/>
              </a:rPr>
              <a:t>R</a:t>
            </a:r>
            <a:r>
              <a:rPr sz="2200" b="1" dirty="0">
                <a:solidFill>
                  <a:srgbClr val="0B2B4E"/>
                </a:solidFill>
                <a:latin typeface="Calibri"/>
              </a:rPr>
              <a:t>evenue</a:t>
            </a:r>
          </a:p>
          <a:p>
            <a:pPr algn="l">
              <a:spcBef>
                <a:spcPts val="0"/>
              </a:spcBef>
              <a:buNone/>
            </a:pPr>
            <a:r>
              <a:rPr sz="2200" dirty="0">
                <a:solidFill>
                  <a:srgbClr val="555B66"/>
                </a:solidFill>
                <a:latin typeface="Calibri"/>
              </a:rPr>
              <a:t>When a price increase raises revenue – and when it backfires</a:t>
            </a:r>
          </a:p>
        </p:txBody>
      </p:sp>
      <p:sp>
        <p:nvSpPr>
          <p:cNvPr id="17" name="Oval 16"/>
          <p:cNvSpPr/>
          <p:nvPr/>
        </p:nvSpPr>
        <p:spPr>
          <a:xfrm>
            <a:off x="1481328" y="4896612"/>
            <a:ext cx="420624" cy="42062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a:solidFill>
                  <a:srgbClr val="BFBFBF"/>
                </a:solidFill>
                <a:latin typeface="Calibri"/>
              </a:rPr>
              <a:t>3b</a:t>
            </a:r>
          </a:p>
        </p:txBody>
      </p:sp>
      <p:sp>
        <p:nvSpPr>
          <p:cNvPr id="18" name="TextBox 17"/>
          <p:cNvSpPr txBox="1"/>
          <p:nvPr/>
        </p:nvSpPr>
        <p:spPr>
          <a:xfrm>
            <a:off x="2084831" y="4908524"/>
            <a:ext cx="10058400" cy="338554"/>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dirty="0">
                <a:solidFill>
                  <a:srgbClr val="BFBFBF"/>
                </a:solidFill>
                <a:latin typeface="Calibri"/>
              </a:rPr>
              <a:t>Marginal </a:t>
            </a:r>
            <a:r>
              <a:rPr lang="en-US" sz="2200" b="1" dirty="0">
                <a:solidFill>
                  <a:srgbClr val="BFBFBF"/>
                </a:solidFill>
                <a:latin typeface="Calibri"/>
              </a:rPr>
              <a:t>R</a:t>
            </a:r>
            <a:r>
              <a:rPr sz="2200" b="1" dirty="0">
                <a:solidFill>
                  <a:srgbClr val="BFBFBF"/>
                </a:solidFill>
                <a:latin typeface="Calibri"/>
              </a:rPr>
              <a:t>evenue</a:t>
            </a:r>
          </a:p>
        </p:txBody>
      </p:sp>
      <p:sp>
        <p:nvSpPr>
          <p:cNvPr id="19" name="Oval 18"/>
          <p:cNvSpPr/>
          <p:nvPr/>
        </p:nvSpPr>
        <p:spPr>
          <a:xfrm>
            <a:off x="1051560" y="5673852"/>
            <a:ext cx="530352" cy="530352"/>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00" b="1">
                <a:solidFill>
                  <a:srgbClr val="BFBFBF"/>
                </a:solidFill>
                <a:latin typeface="Calibri"/>
              </a:rPr>
              <a:t>4</a:t>
            </a:r>
          </a:p>
        </p:txBody>
      </p:sp>
      <p:sp>
        <p:nvSpPr>
          <p:cNvPr id="20" name="TextBox 19"/>
          <p:cNvSpPr txBox="1"/>
          <p:nvPr/>
        </p:nvSpPr>
        <p:spPr>
          <a:xfrm>
            <a:off x="1874519" y="5740628"/>
            <a:ext cx="10058400" cy="384721"/>
          </a:xfrm>
          <a:prstGeom prst="rect">
            <a:avLst/>
          </a:prstGeom>
          <a:noFill/>
        </p:spPr>
        <p:txBody>
          <a:bodyPr wrap="square" lIns="0" tIns="0" rIns="0" bIns="0">
            <a:spAutoFit/>
          </a:bodyPr>
          <a:lstStyle>
            <a:lvl1pPr marL="342900" indent="-342900">
              <a:spcBef>
                <a:spcPts val="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100" b="0">
                <a:solidFill>
                  <a:srgbClr val="555B66"/>
                </a:solidFill>
                <a:latin typeface="Calibri"/>
              </a:defRPr>
            </a:lvl2pPr>
          </a:lstStyle>
          <a:p>
            <a:pPr algn="l">
              <a:buNone/>
            </a:pPr>
            <a:r>
              <a:rPr sz="2500" b="1" dirty="0">
                <a:solidFill>
                  <a:srgbClr val="BFBFBF"/>
                </a:solidFill>
                <a:latin typeface="Calibri"/>
              </a:rPr>
              <a:t>Demand </a:t>
            </a:r>
            <a:r>
              <a:rPr lang="en-US" sz="2500" b="1" dirty="0">
                <a:solidFill>
                  <a:srgbClr val="BFBFBF"/>
                </a:solidFill>
                <a:latin typeface="Calibri"/>
              </a:rPr>
              <a:t>E</a:t>
            </a:r>
            <a:r>
              <a:rPr sz="2500" b="1" dirty="0">
                <a:solidFill>
                  <a:srgbClr val="BFBFBF"/>
                </a:solidFill>
                <a:latin typeface="Calibri"/>
              </a:rPr>
              <a:t>stimation</a:t>
            </a:r>
          </a:p>
        </p:txBody>
      </p:sp>
      <p:sp>
        <p:nvSpPr>
          <p:cNvPr id="21" name="Rectangle 20"/>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4" name="TextBox 23"/>
          <p:cNvSpPr txBox="1"/>
          <p:nvPr/>
        </p:nvSpPr>
        <p:spPr>
          <a:xfrm>
            <a:off x="11475720" y="6583680"/>
            <a:ext cx="502920" cy="292608"/>
          </a:xfrm>
          <a:prstGeom prst="rect">
            <a:avLst/>
          </a:prstGeom>
          <a:noFill/>
        </p:spPr>
        <p:txBody>
          <a:bodyPr wrap="none" lIns="0" tIns="0" rIns="0" bIns="0">
            <a:spAutoFit/>
          </a:bodyPr>
          <a:lstStyle/>
          <a:p>
            <a:pPr algn="r"/>
            <a:fld id="{B87BF060-47E1-5372-A36E-4FBB75A5DA1F}" type="slidenum">
              <a:rPr lang="en-US" sz="1200" dirty="0">
                <a:solidFill>
                  <a:srgbClr val="555B66"/>
                </a:solidFill>
                <a:latin typeface="Calibri"/>
              </a:rPr>
              <a:t>2</a:t>
            </a:fld>
            <a:endParaRPr lang="en-US" sz="1200" dirty="0">
              <a:solidFill>
                <a:srgbClr val="555B66"/>
              </a:solidFill>
              <a:latin typeface="Calibri"/>
            </a:endParaRPr>
          </a:p>
        </p:txBody>
      </p:sp>
      <p:sp>
        <p:nvSpPr>
          <p:cNvPr id="25" name="Rounded Rectangle 24"/>
          <p:cNvSpPr/>
          <p:nvPr/>
        </p:nvSpPr>
        <p:spPr>
          <a:xfrm>
            <a:off x="7498079" y="5735116"/>
            <a:ext cx="4480560" cy="658368"/>
          </a:xfrm>
          <a:prstGeom prst="roundRect">
            <a:avLst>
              <a:gd name="adj" fmla="val 20000"/>
            </a:avLst>
          </a:prstGeom>
          <a:solidFill>
            <a:srgbClr val="FFFFFF"/>
          </a:solidFill>
          <a:ln w="15875">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B2B4E"/>
                </a:solidFill>
                <a:latin typeface="Calibri"/>
              </a:rPr>
              <a:t>▶  Teaching Note – Demand Elasticity and Total Revenue
On BL under “Module 2 Post-Work”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Plotting the (Inverse) Demand Curve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5870448"/>
            <a:ext cx="11064240" cy="353943"/>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300" b="0">
                <a:solidFill>
                  <a:srgbClr val="0B2B4E"/>
                </a:solidFill>
                <a:latin typeface="Calibri"/>
              </a:defRPr>
            </a:lvl1pPr>
            <a:lvl2pPr marL="685800" indent="-228600">
              <a:spcBef>
                <a:spcPts val="300"/>
              </a:spcBef>
              <a:buClr>
                <a:srgbClr val="555B66"/>
              </a:buClr>
              <a:buFont typeface="Calibri"/>
              <a:buChar char="–"/>
              <a:defRPr sz="1900" b="0">
                <a:solidFill>
                  <a:srgbClr val="555B66"/>
                </a:solidFill>
                <a:latin typeface="Calibri"/>
              </a:defRPr>
            </a:lvl2pPr>
          </a:lstStyle>
          <a:p>
            <a:pPr algn="l">
              <a:buNone/>
            </a:pPr>
            <a:r>
              <a:rPr sz="2300" i="1" dirty="0">
                <a:solidFill>
                  <a:srgbClr val="555B66"/>
                </a:solidFill>
                <a:latin typeface="Calibri"/>
              </a:rPr>
              <a:t>Note: this is the </a:t>
            </a:r>
            <a:r>
              <a:rPr lang="en-US" sz="2300" i="1" dirty="0">
                <a:solidFill>
                  <a:srgbClr val="555B66"/>
                </a:solidFill>
                <a:latin typeface="Calibri"/>
              </a:rPr>
              <a:t>(inverse) </a:t>
            </a:r>
            <a:r>
              <a:rPr sz="2300" i="1" dirty="0">
                <a:solidFill>
                  <a:srgbClr val="555B66"/>
                </a:solidFill>
                <a:latin typeface="Calibri"/>
              </a:rPr>
              <a:t>demand function</a:t>
            </a:r>
            <a:r>
              <a:rPr lang="en-US" sz="2300" i="1" dirty="0">
                <a:solidFill>
                  <a:srgbClr val="555B66"/>
                </a:solidFill>
                <a:latin typeface="Calibri"/>
              </a:rPr>
              <a:t> that</a:t>
            </a:r>
            <a:r>
              <a:rPr sz="2300" i="1" dirty="0">
                <a:solidFill>
                  <a:srgbClr val="555B66"/>
                </a:solidFill>
                <a:latin typeface="Calibri"/>
              </a:rPr>
              <a:t> a single </a:t>
            </a:r>
            <a:r>
              <a:rPr sz="2300" b="1" i="1" dirty="0">
                <a:solidFill>
                  <a:srgbClr val="0B2B4E"/>
                </a:solidFill>
                <a:latin typeface="Calibri"/>
              </a:rPr>
              <a:t>firm</a:t>
            </a:r>
            <a:r>
              <a:rPr sz="2300" i="1" dirty="0">
                <a:solidFill>
                  <a:srgbClr val="555B66"/>
                </a:solidFill>
                <a:latin typeface="Calibri"/>
              </a:rPr>
              <a:t> faces</a:t>
            </a:r>
          </a:p>
        </p:txBody>
      </p:sp>
      <p:cxnSp>
        <p:nvCxnSpPr>
          <p:cNvPr id="8" name="Connector 7"/>
          <p:cNvCxnSpPr/>
          <p:nvPr/>
        </p:nvCxnSpPr>
        <p:spPr>
          <a:xfrm flipV="1">
            <a:off x="1005840" y="1545336"/>
            <a:ext cx="0" cy="3803904"/>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05840" y="5349240"/>
            <a:ext cx="592531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4088" y="1344168"/>
            <a:ext cx="603504" cy="310896"/>
          </a:xfrm>
          <a:prstGeom prst="rect">
            <a:avLst/>
          </a:prstGeom>
          <a:noFill/>
        </p:spPr>
        <p:txBody>
          <a:bodyPr wrap="square" lIns="0" tIns="0" rIns="0" bIns="0">
            <a:spAutoFit/>
          </a:bodyPr>
          <a:lstStyle/>
          <a:p>
            <a:pPr algn="l"/>
            <a:r>
              <a:rPr sz="1900" b="1" i="1" u="none">
                <a:solidFill>
                  <a:srgbClr val="0B2B4E"/>
                </a:solidFill>
                <a:latin typeface="Calibri"/>
              </a:rPr>
              <a:t>P</a:t>
            </a:r>
          </a:p>
        </p:txBody>
      </p:sp>
      <p:sp>
        <p:nvSpPr>
          <p:cNvPr id="11" name="TextBox 10"/>
          <p:cNvSpPr txBox="1"/>
          <p:nvPr/>
        </p:nvSpPr>
        <p:spPr>
          <a:xfrm>
            <a:off x="6464808" y="5440680"/>
            <a:ext cx="603504" cy="292608"/>
          </a:xfrm>
          <a:prstGeom prst="rect">
            <a:avLst/>
          </a:prstGeom>
          <a:noFill/>
        </p:spPr>
        <p:txBody>
          <a:bodyPr wrap="square" lIns="0" tIns="0" rIns="0" bIns="0">
            <a:spAutoFit/>
          </a:bodyPr>
          <a:lstStyle/>
          <a:p>
            <a:pPr algn="l"/>
            <a:r>
              <a:rPr sz="1900" b="1" i="1" u="none">
                <a:solidFill>
                  <a:srgbClr val="0B2B4E"/>
                </a:solidFill>
                <a:latin typeface="Calibri"/>
              </a:rPr>
              <a:t>Q</a:t>
            </a:r>
          </a:p>
        </p:txBody>
      </p:sp>
      <p:grpSp>
        <p:nvGrpSpPr>
          <p:cNvPr id="22" name="Group 21">
            <a:extLst>
              <a:ext uri="{FF2B5EF4-FFF2-40B4-BE49-F238E27FC236}">
                <a16:creationId xmlns:a16="http://schemas.microsoft.com/office/drawing/2014/main" id="{7513C213-6E74-D37D-C110-2C0AFEAF4B97}"/>
              </a:ext>
            </a:extLst>
          </p:cNvPr>
          <p:cNvGrpSpPr/>
          <p:nvPr/>
        </p:nvGrpSpPr>
        <p:grpSpPr>
          <a:xfrm>
            <a:off x="27432" y="2264236"/>
            <a:ext cx="7315200" cy="3414188"/>
            <a:chOff x="27432" y="2767156"/>
            <a:chExt cx="7315200" cy="3414188"/>
          </a:xfrm>
        </p:grpSpPr>
        <p:cxnSp>
          <p:nvCxnSpPr>
            <p:cNvPr id="12" name="Connector 11"/>
            <p:cNvCxnSpPr/>
            <p:nvPr/>
          </p:nvCxnSpPr>
          <p:spPr>
            <a:xfrm>
              <a:off x="1005840" y="2895172"/>
              <a:ext cx="4744750" cy="2956988"/>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7432" y="2767156"/>
              <a:ext cx="868680" cy="274320"/>
            </a:xfrm>
            <a:prstGeom prst="rect">
              <a:avLst/>
            </a:prstGeom>
            <a:noFill/>
          </p:spPr>
          <p:txBody>
            <a:bodyPr wrap="square" lIns="0" tIns="0" rIns="0" bIns="0">
              <a:spAutoFit/>
            </a:bodyPr>
            <a:lstStyle/>
            <a:p>
              <a:pPr algn="r"/>
              <a:r>
                <a:rPr sz="1800" b="0" i="0" u="none" dirty="0">
                  <a:solidFill>
                    <a:srgbClr val="0B2B4E"/>
                  </a:solidFill>
                  <a:latin typeface="Calibri"/>
                </a:rPr>
                <a:t>$400</a:t>
              </a:r>
            </a:p>
          </p:txBody>
        </p:sp>
        <p:sp>
          <p:nvSpPr>
            <p:cNvPr id="14" name="TextBox 13"/>
            <p:cNvSpPr txBox="1"/>
            <p:nvPr/>
          </p:nvSpPr>
          <p:spPr>
            <a:xfrm>
              <a:off x="5293390" y="5907024"/>
              <a:ext cx="914400" cy="274320"/>
            </a:xfrm>
            <a:prstGeom prst="rect">
              <a:avLst/>
            </a:prstGeom>
            <a:noFill/>
          </p:spPr>
          <p:txBody>
            <a:bodyPr wrap="square" lIns="0" tIns="0" rIns="0" bIns="0">
              <a:spAutoFit/>
            </a:bodyPr>
            <a:lstStyle/>
            <a:p>
              <a:pPr algn="ctr"/>
              <a:r>
                <a:rPr sz="1800" b="0" i="0" u="none">
                  <a:solidFill>
                    <a:srgbClr val="0B2B4E"/>
                  </a:solidFill>
                  <a:latin typeface="Calibri"/>
                </a:rPr>
                <a:t>1600</a:t>
              </a:r>
            </a:p>
          </p:txBody>
        </p:sp>
        <p:sp>
          <p:nvSpPr>
            <p:cNvPr id="15" name="TextBox 14"/>
            <p:cNvSpPr txBox="1"/>
            <p:nvPr/>
          </p:nvSpPr>
          <p:spPr>
            <a:xfrm>
              <a:off x="5879592" y="5541264"/>
              <a:ext cx="1463040" cy="310896"/>
            </a:xfrm>
            <a:prstGeom prst="rect">
              <a:avLst/>
            </a:prstGeom>
            <a:noFill/>
          </p:spPr>
          <p:txBody>
            <a:bodyPr wrap="square" lIns="0" tIns="0" rIns="0" bIns="0">
              <a:spAutoFit/>
            </a:bodyPr>
            <a:lstStyle/>
            <a:p>
              <a:pPr algn="l"/>
              <a:r>
                <a:rPr sz="2000" b="1" i="0" u="none">
                  <a:solidFill>
                    <a:srgbClr val="0B2B4E"/>
                  </a:solidFill>
                  <a:latin typeface="Calibri"/>
                </a:rPr>
                <a:t>D</a:t>
              </a:r>
            </a:p>
          </p:txBody>
        </p:sp>
      </p:grpSp>
      <p:grpSp>
        <p:nvGrpSpPr>
          <p:cNvPr id="121" name="Group pair 121"/>
          <p:cNvGrpSpPr/>
          <p:nvPr/>
        </p:nvGrpSpPr>
        <p:grpSpPr>
          <a:xfrm>
            <a:off x="7498079" y="1783080"/>
            <a:ext cx="3657600" cy="2971800"/>
            <a:chOff x="7498079" y="1783080"/>
            <a:chExt cx="3657600" cy="2971800"/>
          </a:xfrm>
        </p:grpSpPr>
        <p:sp>
          <p:nvSpPr>
            <p:cNvPr id="16" name="Rounded Rectangle 15"/>
            <p:cNvSpPr/>
            <p:nvPr/>
          </p:nvSpPr>
          <p:spPr>
            <a:xfrm>
              <a:off x="7498079" y="1783080"/>
              <a:ext cx="3657600" cy="2971800"/>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59" y="2176372"/>
              <a:ext cx="3291840" cy="2185214"/>
            </a:xfrm>
            <a:prstGeom prst="rect">
              <a:avLst/>
            </a:prstGeom>
            <a:noFill/>
          </p:spPr>
          <p:txBody>
            <a:bodyPr wrap="square" lIns="45720" tIns="0" rIns="45720" bIns="0" anchor="ctr">
              <a:spAutoFit/>
            </a:bodyPr>
            <a:lstStyle/>
            <a:p>
              <a:pPr algn="ctr"/>
              <a:r>
                <a:rPr sz="1900" b="1" i="0" u="none" dirty="0">
                  <a:solidFill>
                    <a:srgbClr val="0B2B4E"/>
                  </a:solidFill>
                  <a:latin typeface="Calibri"/>
                </a:rPr>
                <a:t>Demand function</a:t>
              </a:r>
              <a:r>
                <a:rPr sz="2200" b="0" i="1" u="none" dirty="0">
                  <a:solidFill>
                    <a:srgbClr val="0B2B4E"/>
                  </a:solidFill>
                  <a:latin typeface="Calibri"/>
                </a:rPr>
                <a:t>
Q = 1,600 − 4P</a:t>
              </a:r>
              <a:r>
                <a:rPr sz="1200" b="0" i="0" u="none" dirty="0">
                  <a:solidFill>
                    <a:srgbClr val="0B2B4E"/>
                  </a:solidFill>
                  <a:latin typeface="Calibri"/>
                </a:rPr>
                <a:t>
</a:t>
              </a:r>
              <a:r>
                <a:rPr sz="1900" b="1" i="1" u="none" dirty="0">
                  <a:solidFill>
                    <a:srgbClr val="0B2B4E"/>
                  </a:solidFill>
                  <a:latin typeface="Calibri"/>
                </a:rPr>
                <a:t>
Rearrange for P: </a:t>
              </a:r>
              <a:r>
                <a:rPr sz="1900" b="1" i="0" u="none" dirty="0">
                  <a:solidFill>
                    <a:srgbClr val="0B2B4E"/>
                  </a:solidFill>
                  <a:latin typeface="Calibri"/>
                </a:rPr>
                <a:t>
Inverse demand function</a:t>
              </a:r>
              <a:r>
                <a:rPr sz="2200" b="1" i="1" u="none" dirty="0">
                  <a:solidFill>
                    <a:srgbClr val="0B2B4E"/>
                  </a:solidFill>
                  <a:latin typeface="Calibri"/>
                </a:rPr>
                <a:t>
P = 400 − Q/4</a:t>
              </a:r>
              <a:endParaRPr lang="de-DE" sz="2200" b="1" i="1" u="none" dirty="0">
                <a:solidFill>
                  <a:srgbClr val="0B2B4E"/>
                </a:solidFill>
                <a:latin typeface="Calibri"/>
              </a:endParaRPr>
            </a:p>
            <a:p>
              <a:pPr algn="ctr"/>
              <a:r>
                <a:rPr lang="en-US" sz="1400" u="none" dirty="0">
                  <a:solidFill>
                    <a:srgbClr val="0B2B4E"/>
                  </a:solidFill>
                  <a:latin typeface="Calibri"/>
                </a:rPr>
                <a:t>[this is what we plot]</a:t>
              </a:r>
              <a:endParaRPr sz="1400" u="none" dirty="0">
                <a:solidFill>
                  <a:srgbClr val="0B2B4E"/>
                </a:solidFill>
                <a:latin typeface="Calibri"/>
              </a:endParaRPr>
            </a:p>
          </p:txBody>
        </p:sp>
      </p:grpSp>
      <p:sp>
        <p:nvSpPr>
          <p:cNvPr id="18" name="Rectangle 1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21" name="TextBox 20"/>
          <p:cNvSpPr txBox="1"/>
          <p:nvPr/>
        </p:nvSpPr>
        <p:spPr>
          <a:xfrm>
            <a:off x="11475720" y="6583680"/>
            <a:ext cx="502920" cy="292608"/>
          </a:xfrm>
          <a:prstGeom prst="rect">
            <a:avLst/>
          </a:prstGeom>
          <a:noFill/>
        </p:spPr>
        <p:txBody>
          <a:bodyPr wrap="none" lIns="0" tIns="0" rIns="0" bIns="0">
            <a:spAutoFit/>
          </a:bodyPr>
          <a:lstStyle/>
          <a:p>
            <a:pPr algn="r"/>
            <a:fld id="{E483B8E3-9AB7-5D66-AC98-1C6603CE0F26}"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From Demand to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36" name="Group pair 136"/>
          <p:cNvGrpSpPr/>
          <p:nvPr/>
        </p:nvGrpSpPr>
        <p:grpSpPr>
          <a:xfrm>
            <a:off x="1024127" y="1252728"/>
            <a:ext cx="5541265" cy="2651760"/>
            <a:chOff x="1024127" y="1252728"/>
            <a:chExt cx="5541265" cy="2651760"/>
          </a:xfrm>
        </p:grpSpPr>
        <p:cxnSp>
          <p:nvCxnSpPr>
            <p:cNvPr id="8" name="Connector 7"/>
            <p:cNvCxnSpPr/>
            <p:nvPr/>
          </p:nvCxnSpPr>
          <p:spPr>
            <a:xfrm flipV="1">
              <a:off x="1325880" y="1453896"/>
              <a:ext cx="0" cy="206654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325880" y="352044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24127" y="1252728"/>
              <a:ext cx="603504" cy="310896"/>
            </a:xfrm>
            <a:prstGeom prst="rect">
              <a:avLst/>
            </a:prstGeom>
            <a:noFill/>
          </p:spPr>
          <p:txBody>
            <a:bodyPr wrap="square" lIns="0" tIns="0" rIns="0" bIns="0">
              <a:spAutoFit/>
            </a:bodyPr>
            <a:lstStyle/>
            <a:p>
              <a:pPr algn="l"/>
              <a:r>
                <a:rPr sz="1700" b="1" i="1" u="none">
                  <a:solidFill>
                    <a:srgbClr val="0B2B4E"/>
                  </a:solidFill>
                  <a:latin typeface="Calibri"/>
                </a:rPr>
                <a:t>P</a:t>
              </a:r>
            </a:p>
          </p:txBody>
        </p:sp>
        <p:sp>
          <p:nvSpPr>
            <p:cNvPr id="11" name="TextBox 10"/>
            <p:cNvSpPr txBox="1"/>
            <p:nvPr/>
          </p:nvSpPr>
          <p:spPr>
            <a:xfrm>
              <a:off x="5961888" y="361188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cxnSp>
        <p:nvCxnSpPr>
          <p:cNvPr id="12" name="Connector 11"/>
          <p:cNvCxnSpPr/>
          <p:nvPr/>
        </p:nvCxnSpPr>
        <p:spPr>
          <a:xfrm flipV="1">
            <a:off x="1325880" y="3785616"/>
            <a:ext cx="0" cy="2203704"/>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5989320"/>
            <a:ext cx="4782312"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24127" y="3584448"/>
            <a:ext cx="603504" cy="310896"/>
          </a:xfrm>
          <a:prstGeom prst="rect">
            <a:avLst/>
          </a:prstGeom>
          <a:noFill/>
        </p:spPr>
        <p:txBody>
          <a:bodyPr wrap="square" lIns="0" tIns="0" rIns="0" bIns="0">
            <a:spAutoFit/>
          </a:bodyPr>
          <a:lstStyle/>
          <a:p>
            <a:pPr algn="l"/>
            <a:r>
              <a:rPr sz="1700" b="1" i="1" u="none">
                <a:solidFill>
                  <a:srgbClr val="0B2B4E"/>
                </a:solidFill>
                <a:latin typeface="Calibri"/>
              </a:rPr>
              <a:t>TR</a:t>
            </a:r>
          </a:p>
        </p:txBody>
      </p:sp>
      <p:sp>
        <p:nvSpPr>
          <p:cNvPr id="15" name="TextBox 14"/>
          <p:cNvSpPr txBox="1"/>
          <p:nvPr/>
        </p:nvSpPr>
        <p:spPr>
          <a:xfrm>
            <a:off x="5961888" y="6080759"/>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5DE6D8C1-ABD5-207B-0DC4-AF71BB3EF4D1}"/>
              </a:ext>
            </a:extLst>
          </p:cNvPr>
          <p:cNvGrpSpPr/>
          <p:nvPr/>
        </p:nvGrpSpPr>
        <p:grpSpPr>
          <a:xfrm>
            <a:off x="1325880" y="2781100"/>
            <a:ext cx="1878177" cy="739340"/>
            <a:chOff x="1325880" y="2781100"/>
            <a:chExt cx="1878177" cy="739340"/>
          </a:xfrm>
        </p:grpSpPr>
        <p:sp>
          <p:nvSpPr>
            <p:cNvPr id="7" name="Rectangle 6"/>
            <p:cNvSpPr/>
            <p:nvPr/>
          </p:nvSpPr>
          <p:spPr>
            <a:xfrm>
              <a:off x="1325880" y="2781100"/>
              <a:ext cx="1878171" cy="739340"/>
            </a:xfrm>
            <a:prstGeom prst="rect">
              <a:avLst/>
            </a:prstGeom>
            <a:solidFill>
              <a:srgbClr val="F6E8C9"/>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25880" y="2995574"/>
              <a:ext cx="1878177" cy="310896"/>
            </a:xfrm>
            <a:prstGeom prst="rect">
              <a:avLst/>
            </a:prstGeom>
            <a:noFill/>
          </p:spPr>
          <p:txBody>
            <a:bodyPr wrap="square" lIns="0" tIns="0" rIns="0" bIns="0">
              <a:spAutoFit/>
            </a:bodyPr>
            <a:lstStyle/>
            <a:p>
              <a:pPr algn="ctr"/>
              <a:r>
                <a:rPr sz="1600" b="1" i="0" u="none" dirty="0">
                  <a:solidFill>
                    <a:srgbClr val="0B2B4E"/>
                  </a:solidFill>
                  <a:latin typeface="Calibri"/>
                </a:rPr>
                <a:t>Total revenue</a:t>
              </a:r>
            </a:p>
          </p:txBody>
        </p:sp>
      </p:grpSp>
      <p:grpSp>
        <p:nvGrpSpPr>
          <p:cNvPr id="138" name="Group pair 138"/>
          <p:cNvGrpSpPr/>
          <p:nvPr/>
        </p:nvGrpSpPr>
        <p:grpSpPr>
          <a:xfrm>
            <a:off x="347471" y="1913744"/>
            <a:ext cx="6122823" cy="1935880"/>
            <a:chOff x="347471" y="1913744"/>
            <a:chExt cx="6122823" cy="1935880"/>
          </a:xfrm>
        </p:grpSpPr>
        <p:grpSp>
          <p:nvGrpSpPr>
            <p:cNvPr id="137" name="Group pair 137"/>
            <p:cNvGrpSpPr/>
            <p:nvPr/>
          </p:nvGrpSpPr>
          <p:grpSpPr>
            <a:xfrm>
              <a:off x="1325880" y="2041760"/>
              <a:ext cx="5144414" cy="1478680"/>
              <a:chOff x="1325880" y="2041760"/>
              <a:chExt cx="5144414" cy="1478680"/>
            </a:xfrm>
          </p:grpSpPr>
          <p:cxnSp>
            <p:nvCxnSpPr>
              <p:cNvPr id="19" name="Connector 18"/>
              <p:cNvCxnSpPr/>
              <p:nvPr/>
            </p:nvCxnSpPr>
            <p:spPr>
              <a:xfrm>
                <a:off x="1325880" y="2041760"/>
                <a:ext cx="3756343" cy="1478680"/>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07254" y="3173882"/>
                <a:ext cx="1463040" cy="261518"/>
              </a:xfrm>
              <a:prstGeom prst="rect">
                <a:avLst/>
              </a:prstGeom>
              <a:noFill/>
            </p:spPr>
            <p:txBody>
              <a:bodyPr wrap="square" lIns="0" tIns="0" rIns="0" bIns="0">
                <a:spAutoFit/>
              </a:bodyPr>
              <a:lstStyle/>
              <a:p>
                <a:pPr algn="l"/>
                <a:r>
                  <a:rPr sz="1700" b="1" i="0" u="none">
                    <a:solidFill>
                      <a:srgbClr val="0B2B4E"/>
                    </a:solidFill>
                    <a:latin typeface="Calibri"/>
                  </a:rPr>
                  <a:t>D</a:t>
                </a:r>
              </a:p>
            </p:txBody>
          </p:sp>
        </p:grpSp>
        <p:sp>
          <p:nvSpPr>
            <p:cNvPr id="21" name="TextBox 20"/>
            <p:cNvSpPr txBox="1"/>
            <p:nvPr/>
          </p:nvSpPr>
          <p:spPr>
            <a:xfrm>
              <a:off x="347471" y="191374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$400</a:t>
              </a:r>
            </a:p>
          </p:txBody>
        </p:sp>
        <p:sp>
          <p:nvSpPr>
            <p:cNvPr id="22" name="TextBox 21"/>
            <p:cNvSpPr txBox="1"/>
            <p:nvPr/>
          </p:nvSpPr>
          <p:spPr>
            <a:xfrm>
              <a:off x="4625023"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1600</a:t>
              </a:r>
            </a:p>
          </p:txBody>
        </p:sp>
      </p:grpSp>
      <p:grpSp>
        <p:nvGrpSpPr>
          <p:cNvPr id="37" name="Group 36">
            <a:extLst>
              <a:ext uri="{FF2B5EF4-FFF2-40B4-BE49-F238E27FC236}">
                <a16:creationId xmlns:a16="http://schemas.microsoft.com/office/drawing/2014/main" id="{B0EE42F8-DE3D-EC4A-8B1B-799E90AF2506}"/>
              </a:ext>
            </a:extLst>
          </p:cNvPr>
          <p:cNvGrpSpPr/>
          <p:nvPr/>
        </p:nvGrpSpPr>
        <p:grpSpPr>
          <a:xfrm>
            <a:off x="347471" y="2653084"/>
            <a:ext cx="3313780" cy="1196540"/>
            <a:chOff x="347471" y="2653084"/>
            <a:chExt cx="3313780" cy="1196540"/>
          </a:xfrm>
        </p:grpSpPr>
        <p:sp>
          <p:nvSpPr>
            <p:cNvPr id="17" name="TextBox 16"/>
            <p:cNvSpPr txBox="1"/>
            <p:nvPr/>
          </p:nvSpPr>
          <p:spPr>
            <a:xfrm>
              <a:off x="347471" y="2653084"/>
              <a:ext cx="868680" cy="274320"/>
            </a:xfrm>
            <a:prstGeom prst="rect">
              <a:avLst/>
            </a:prstGeom>
            <a:noFill/>
          </p:spPr>
          <p:txBody>
            <a:bodyPr wrap="square" lIns="0" tIns="0" rIns="0" bIns="0">
              <a:spAutoFit/>
            </a:bodyPr>
            <a:lstStyle/>
            <a:p>
              <a:pPr algn="r"/>
              <a:r>
                <a:rPr sz="1500" b="0" i="0" u="none" dirty="0">
                  <a:solidFill>
                    <a:srgbClr val="0B2B4E"/>
                  </a:solidFill>
                  <a:latin typeface="Calibri"/>
                </a:rPr>
                <a:t>200</a:t>
              </a:r>
            </a:p>
          </p:txBody>
        </p:sp>
        <p:sp>
          <p:nvSpPr>
            <p:cNvPr id="18" name="TextBox 17"/>
            <p:cNvSpPr txBox="1"/>
            <p:nvPr/>
          </p:nvSpPr>
          <p:spPr>
            <a:xfrm>
              <a:off x="2746851" y="3575304"/>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3" name="Connector 22"/>
            <p:cNvCxnSpPr/>
            <p:nvPr/>
          </p:nvCxnSpPr>
          <p:spPr>
            <a:xfrm>
              <a:off x="1325880" y="2781100"/>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204051" y="2781100"/>
              <a:ext cx="0" cy="73934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0" name="Group 39">
            <a:extLst>
              <a:ext uri="{FF2B5EF4-FFF2-40B4-BE49-F238E27FC236}">
                <a16:creationId xmlns:a16="http://schemas.microsoft.com/office/drawing/2014/main" id="{36FEFCDC-C291-240C-55C6-0471EBD36762}"/>
              </a:ext>
            </a:extLst>
          </p:cNvPr>
          <p:cNvGrpSpPr/>
          <p:nvPr/>
        </p:nvGrpSpPr>
        <p:grpSpPr>
          <a:xfrm>
            <a:off x="1325880" y="3827669"/>
            <a:ext cx="4213543" cy="2490834"/>
            <a:chOff x="1325880" y="3827669"/>
            <a:chExt cx="4213543" cy="2490834"/>
          </a:xfrm>
        </p:grpSpPr>
        <p:sp>
          <p:nvSpPr>
            <p:cNvPr id="25" name="Rectangle 24"/>
            <p:cNvSpPr/>
            <p:nvPr/>
          </p:nvSpPr>
          <p:spPr>
            <a:xfrm>
              <a:off x="1325880" y="3827669"/>
              <a:ext cx="3756343" cy="2161651"/>
            </a:xfrm>
            <a:custGeom>
              <a:avLst/>
              <a:gdLst/>
              <a:ahLst/>
              <a:cxnLst/>
              <a:rect l="0" t="0" r="3756343" b="2161651"/>
              <a:pathLst>
                <a:path w="3756343" h="2161651">
                  <a:moveTo>
                    <a:pt x="0" y="2161651"/>
                  </a:moveTo>
                  <a:cubicBezTo>
                    <a:pt x="1252114" y="0"/>
                    <a:pt x="2504228" y="0"/>
                    <a:pt x="3756343" y="2161651"/>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4625023" y="6044183"/>
              <a:ext cx="914400" cy="274320"/>
            </a:xfrm>
            <a:prstGeom prst="rect">
              <a:avLst/>
            </a:prstGeom>
            <a:noFill/>
          </p:spPr>
          <p:txBody>
            <a:bodyPr wrap="square" lIns="0" tIns="0" rIns="0" bIns="0">
              <a:spAutoFit/>
            </a:bodyPr>
            <a:lstStyle/>
            <a:p>
              <a:pPr algn="ctr"/>
              <a:r>
                <a:rPr sz="1500" b="0" i="0" u="none" dirty="0">
                  <a:solidFill>
                    <a:srgbClr val="0B2B4E"/>
                  </a:solidFill>
                  <a:latin typeface="Calibri"/>
                </a:rPr>
                <a:t>1600</a:t>
              </a:r>
            </a:p>
          </p:txBody>
        </p:sp>
      </p:grpSp>
      <p:grpSp>
        <p:nvGrpSpPr>
          <p:cNvPr id="39" name="Group 38">
            <a:extLst>
              <a:ext uri="{FF2B5EF4-FFF2-40B4-BE49-F238E27FC236}">
                <a16:creationId xmlns:a16="http://schemas.microsoft.com/office/drawing/2014/main" id="{0C639F3B-2976-B6B5-03C1-847C68F1FFD0}"/>
              </a:ext>
            </a:extLst>
          </p:cNvPr>
          <p:cNvGrpSpPr/>
          <p:nvPr/>
        </p:nvGrpSpPr>
        <p:grpSpPr>
          <a:xfrm>
            <a:off x="347471" y="4240066"/>
            <a:ext cx="3313780" cy="2078437"/>
            <a:chOff x="347471" y="4240066"/>
            <a:chExt cx="3313780" cy="2078437"/>
          </a:xfrm>
        </p:grpSpPr>
        <p:sp>
          <p:nvSpPr>
            <p:cNvPr id="26" name="TextBox 25"/>
            <p:cNvSpPr txBox="1"/>
            <p:nvPr/>
          </p:nvSpPr>
          <p:spPr>
            <a:xfrm>
              <a:off x="347471" y="4240066"/>
              <a:ext cx="868680" cy="274320"/>
            </a:xfrm>
            <a:prstGeom prst="rect">
              <a:avLst/>
            </a:prstGeom>
            <a:noFill/>
          </p:spPr>
          <p:txBody>
            <a:bodyPr wrap="square" lIns="0" tIns="0" rIns="0" bIns="0">
              <a:spAutoFit/>
            </a:bodyPr>
            <a:lstStyle/>
            <a:p>
              <a:pPr algn="r"/>
              <a:r>
                <a:rPr sz="1500" b="0" i="0" u="none">
                  <a:solidFill>
                    <a:srgbClr val="0B2B4E"/>
                  </a:solidFill>
                  <a:latin typeface="Calibri"/>
                </a:rPr>
                <a:t>$160,000</a:t>
              </a:r>
            </a:p>
          </p:txBody>
        </p:sp>
        <p:sp>
          <p:nvSpPr>
            <p:cNvPr id="27" name="TextBox 26"/>
            <p:cNvSpPr txBox="1"/>
            <p:nvPr/>
          </p:nvSpPr>
          <p:spPr>
            <a:xfrm>
              <a:off x="2746851" y="6044183"/>
              <a:ext cx="914400" cy="274320"/>
            </a:xfrm>
            <a:prstGeom prst="rect">
              <a:avLst/>
            </a:prstGeom>
            <a:noFill/>
          </p:spPr>
          <p:txBody>
            <a:bodyPr wrap="square" lIns="0" tIns="0" rIns="0" bIns="0">
              <a:spAutoFit/>
            </a:bodyPr>
            <a:lstStyle/>
            <a:p>
              <a:pPr algn="ctr"/>
              <a:r>
                <a:rPr sz="1500" b="0" i="0" u="none">
                  <a:solidFill>
                    <a:srgbClr val="0B2B4E"/>
                  </a:solidFill>
                  <a:latin typeface="Calibri"/>
                </a:rPr>
                <a:t>800</a:t>
              </a:r>
            </a:p>
          </p:txBody>
        </p:sp>
        <p:cxnSp>
          <p:nvCxnSpPr>
            <p:cNvPr id="29" name="Connector 28"/>
            <p:cNvCxnSpPr/>
            <p:nvPr/>
          </p:nvCxnSpPr>
          <p:spPr>
            <a:xfrm>
              <a:off x="1325880" y="4368082"/>
              <a:ext cx="1878171" cy="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04051" y="4368082"/>
              <a:ext cx="0" cy="1621238"/>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sp>
        <p:nvSpPr>
          <p:cNvPr id="31" name="Rounded Rectangle 30"/>
          <p:cNvSpPr/>
          <p:nvPr/>
        </p:nvSpPr>
        <p:spPr>
          <a:xfrm>
            <a:off x="7244791" y="2446924"/>
            <a:ext cx="4599432" cy="2161651"/>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477963" y="2552090"/>
            <a:ext cx="4134002" cy="1954381"/>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b="1" dirty="0">
                <a:latin typeface="Calibri"/>
              </a:rPr>
              <a:t>Inverse demand:  </a:t>
            </a:r>
            <a:r>
              <a:rPr i="1" dirty="0">
                <a:latin typeface="Calibri"/>
              </a:rPr>
              <a:t>P = 400 − Q/4</a:t>
            </a:r>
          </a:p>
          <a:p>
            <a:pPr algn="l"/>
            <a:r>
              <a:rPr b="1" dirty="0">
                <a:latin typeface="Calibri"/>
              </a:rPr>
              <a:t>Total revenue:  </a:t>
            </a:r>
            <a:r>
              <a:rPr i="1" dirty="0">
                <a:latin typeface="Calibri"/>
              </a:rPr>
              <a:t>TR = P · Q</a:t>
            </a:r>
          </a:p>
          <a:p>
            <a:pPr lvl="1" algn="l">
              <a:spcBef>
                <a:spcPts val="200"/>
              </a:spcBef>
              <a:buNone/>
            </a:pPr>
            <a:r>
              <a:rPr sz="2000" dirty="0">
                <a:solidFill>
                  <a:srgbClr val="555B66"/>
                </a:solidFill>
                <a:latin typeface="Calibri"/>
              </a:rPr>
              <a:t>(illustrate for P=200)</a:t>
            </a:r>
          </a:p>
          <a:p>
            <a:pPr algn="l"/>
            <a:r>
              <a:rPr b="1" dirty="0">
                <a:latin typeface="Calibri"/>
              </a:rPr>
              <a:t>Plug in for P:  </a:t>
            </a:r>
            <a:r>
              <a:rPr i="1" dirty="0">
                <a:latin typeface="Calibri"/>
              </a:rPr>
              <a:t>TR = (400 − Q/4) · Q</a:t>
            </a:r>
          </a:p>
          <a:p>
            <a:pPr lvl="1" algn="l">
              <a:spcBef>
                <a:spcPts val="200"/>
              </a:spcBef>
              <a:buNone/>
            </a:pPr>
            <a:r>
              <a:rPr lang="en-US" sz="2000" b="1" i="1" dirty="0">
                <a:solidFill>
                  <a:srgbClr val="E09F3E"/>
                </a:solidFill>
                <a:latin typeface="Calibri"/>
              </a:rPr>
              <a:t>                        </a:t>
            </a:r>
            <a:r>
              <a:rPr sz="2000" b="1" i="1" dirty="0">
                <a:solidFill>
                  <a:srgbClr val="E09F3E"/>
                </a:solidFill>
                <a:latin typeface="Calibri"/>
              </a:rPr>
              <a:t>TR = 400Q − Q²/4</a:t>
            </a:r>
          </a:p>
        </p:txBody>
      </p:sp>
      <p:sp>
        <p:nvSpPr>
          <p:cNvPr id="33" name="Rectangle 3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6" name="TextBox 35"/>
          <p:cNvSpPr txBox="1"/>
          <p:nvPr/>
        </p:nvSpPr>
        <p:spPr>
          <a:xfrm>
            <a:off x="11475720" y="6583680"/>
            <a:ext cx="502920" cy="292608"/>
          </a:xfrm>
          <a:prstGeom prst="rect">
            <a:avLst/>
          </a:prstGeom>
          <a:noFill/>
        </p:spPr>
        <p:txBody>
          <a:bodyPr wrap="none" lIns="0" tIns="0" rIns="0" bIns="0">
            <a:spAutoFit/>
          </a:bodyPr>
          <a:lstStyle/>
          <a:p>
            <a:pPr algn="r"/>
            <a:fld id="{9F0D0457-7DD9-5B24-A8D9-45B32F967A96}"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V="1">
            <a:off x="1097280" y="1664208"/>
            <a:ext cx="0" cy="41879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7280" y="5852160"/>
            <a:ext cx="576072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56087" y="1389888"/>
            <a:ext cx="603504" cy="310896"/>
          </a:xfrm>
          <a:prstGeom prst="rect">
            <a:avLst/>
          </a:prstGeom>
          <a:noFill/>
        </p:spPr>
        <p:txBody>
          <a:bodyPr wrap="square" lIns="0" tIns="0" rIns="0" bIns="0">
            <a:spAutoFit/>
          </a:bodyPr>
          <a:lstStyle/>
          <a:p>
            <a:pPr algn="l"/>
            <a:r>
              <a:rPr sz="1900" b="1" i="1" u="none" dirty="0">
                <a:solidFill>
                  <a:srgbClr val="0B2B4E"/>
                </a:solidFill>
                <a:latin typeface="Calibri"/>
              </a:rPr>
              <a:t>P</a:t>
            </a:r>
          </a:p>
        </p:txBody>
      </p:sp>
      <p:sp>
        <p:nvSpPr>
          <p:cNvPr id="13" name="TextBox 12"/>
          <p:cNvSpPr txBox="1"/>
          <p:nvPr/>
        </p:nvSpPr>
        <p:spPr>
          <a:xfrm>
            <a:off x="6917436" y="5806440"/>
            <a:ext cx="603504" cy="292608"/>
          </a:xfrm>
          <a:prstGeom prst="rect">
            <a:avLst/>
          </a:prstGeom>
          <a:noFill/>
        </p:spPr>
        <p:txBody>
          <a:bodyPr wrap="square" lIns="0" tIns="0" rIns="0" bIns="0">
            <a:spAutoFit/>
          </a:bodyPr>
          <a:lstStyle/>
          <a:p>
            <a:pPr algn="l"/>
            <a:r>
              <a:rPr sz="1900" b="1" i="1" u="none" dirty="0">
                <a:solidFill>
                  <a:srgbClr val="0B2B4E"/>
                </a:solidFill>
                <a:latin typeface="Calibri"/>
              </a:rPr>
              <a:t>Q</a:t>
            </a:r>
          </a:p>
        </p:txBody>
      </p:sp>
      <p:cxnSp>
        <p:nvCxnSpPr>
          <p:cNvPr id="14" name="Connector 13"/>
          <p:cNvCxnSpPr/>
          <p:nvPr/>
        </p:nvCxnSpPr>
        <p:spPr>
          <a:xfrm>
            <a:off x="1097280" y="2231136"/>
            <a:ext cx="4937760" cy="362102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35827" y="5468112"/>
            <a:ext cx="320039" cy="310896"/>
          </a:xfrm>
          <a:prstGeom prst="rect">
            <a:avLst/>
          </a:prstGeom>
          <a:noFill/>
        </p:spPr>
        <p:txBody>
          <a:bodyPr wrap="square" lIns="0" tIns="0" rIns="0" bIns="0">
            <a:spAutoFit/>
          </a:bodyPr>
          <a:lstStyle/>
          <a:p>
            <a:pPr algn="l"/>
            <a:r>
              <a:rPr sz="2000" b="1" i="0" u="none" dirty="0">
                <a:solidFill>
                  <a:srgbClr val="0B2B4E"/>
                </a:solidFill>
                <a:latin typeface="Calibri"/>
              </a:rPr>
              <a:t>D</a:t>
            </a:r>
          </a:p>
        </p:txBody>
      </p:sp>
      <p:grpSp>
        <p:nvGrpSpPr>
          <p:cNvPr id="36" name="Group 35">
            <a:extLst>
              <a:ext uri="{FF2B5EF4-FFF2-40B4-BE49-F238E27FC236}">
                <a16:creationId xmlns:a16="http://schemas.microsoft.com/office/drawing/2014/main" id="{8106F35A-91BA-0030-28D7-DB5756CBB9DB}"/>
              </a:ext>
            </a:extLst>
          </p:cNvPr>
          <p:cNvGrpSpPr/>
          <p:nvPr/>
        </p:nvGrpSpPr>
        <p:grpSpPr>
          <a:xfrm>
            <a:off x="2743200" y="2843784"/>
            <a:ext cx="9070847" cy="3017518"/>
            <a:chOff x="2743200" y="2843784"/>
            <a:chExt cx="9070847" cy="3017518"/>
          </a:xfrm>
        </p:grpSpPr>
        <p:sp>
          <p:nvSpPr>
            <p:cNvPr id="9" name="Rectangle 8"/>
            <p:cNvSpPr/>
            <p:nvPr/>
          </p:nvSpPr>
          <p:spPr>
            <a:xfrm>
              <a:off x="2743200" y="3849622"/>
              <a:ext cx="548640" cy="2011680"/>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315200" y="2843784"/>
              <a:ext cx="502920" cy="384048"/>
            </a:xfrm>
            <a:prstGeom prst="rect">
              <a:avLst/>
            </a:prstGeom>
            <a:solidFill>
              <a:srgbClr val="6E8B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82127" y="2880360"/>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Increase in </a:t>
              </a:r>
              <a:r>
                <a:rPr sz="2000" i="1" dirty="0">
                  <a:solidFill>
                    <a:srgbClr val="0B2B4E"/>
                  </a:solidFill>
                  <a:latin typeface="Calibri"/>
                </a:rPr>
                <a:t>TR</a:t>
              </a:r>
              <a:r>
                <a:rPr sz="2000" dirty="0">
                  <a:solidFill>
                    <a:srgbClr val="0B2B4E"/>
                  </a:solidFill>
                  <a:latin typeface="Calibri"/>
                </a:rPr>
                <a:t> from higher volume</a:t>
              </a:r>
            </a:p>
          </p:txBody>
        </p:sp>
      </p:grpSp>
      <p:sp>
        <p:nvSpPr>
          <p:cNvPr id="27" name="Rounded Rectangle 26"/>
          <p:cNvSpPr/>
          <p:nvPr/>
        </p:nvSpPr>
        <p:spPr>
          <a:xfrm>
            <a:off x="7381271" y="3831336"/>
            <a:ext cx="3843528" cy="804671"/>
          </a:xfrm>
          <a:prstGeom prst="roundRect">
            <a:avLst>
              <a:gd name="adj" fmla="val 6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dirty="0">
                <a:solidFill>
                  <a:srgbClr val="0B2B4E"/>
                </a:solidFill>
                <a:latin typeface="Calibri"/>
              </a:rPr>
              <a:t>Which area is bigger?</a:t>
            </a:r>
            <a:endParaRPr lang="en-US" sz="2400" b="1" dirty="0">
              <a:solidFill>
                <a:srgbClr val="0B2B4E"/>
              </a:solidFill>
              <a:latin typeface="Calibri"/>
            </a:endParaRPr>
          </a:p>
          <a:p>
            <a:pPr algn="ctr"/>
            <a:r>
              <a:rPr lang="en-US" b="1" dirty="0">
                <a:solidFill>
                  <a:srgbClr val="0B2B4E"/>
                </a:solidFill>
                <a:latin typeface="Calibri"/>
                <a:sym typeface="Wingdings" panose="05000000000000000000" pitchFamily="2" charset="2"/>
              </a:rPr>
              <a:t> Determines the net effect on TR</a:t>
            </a:r>
            <a:endParaRPr b="1" dirty="0">
              <a:solidFill>
                <a:srgbClr val="0B2B4E"/>
              </a:solidFill>
              <a:latin typeface="Calibri"/>
            </a:endParaRPr>
          </a:p>
        </p:txBody>
      </p:sp>
      <p:sp>
        <p:nvSpPr>
          <p:cNvPr id="28" name="Rectangle 2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1" name="TextBox 30"/>
          <p:cNvSpPr txBox="1"/>
          <p:nvPr/>
        </p:nvSpPr>
        <p:spPr>
          <a:xfrm>
            <a:off x="11475720" y="6583680"/>
            <a:ext cx="502920" cy="292608"/>
          </a:xfrm>
          <a:prstGeom prst="rect">
            <a:avLst/>
          </a:prstGeom>
          <a:noFill/>
        </p:spPr>
        <p:txBody>
          <a:bodyPr wrap="none" lIns="0" tIns="0" rIns="0" bIns="0">
            <a:spAutoFit/>
          </a:bodyPr>
          <a:lstStyle/>
          <a:p>
            <a:pPr algn="r"/>
            <a:fld id="{DD0FF23F-2665-581F-B7D1-2CC5B078E18B}" type="slidenum">
              <a:rPr lang="en-US" sz="1200" dirty="0">
                <a:solidFill>
                  <a:srgbClr val="555B66"/>
                </a:solidFill>
                <a:latin typeface="Calibri"/>
              </a:rPr>
              <a:t>5</a:t>
            </a:fld>
            <a:endParaRPr lang="en-US" sz="1200" dirty="0">
              <a:solidFill>
                <a:srgbClr val="555B66"/>
              </a:solidFill>
              <a:latin typeface="Calibri"/>
            </a:endParaRPr>
          </a:p>
        </p:txBody>
      </p:sp>
      <p:grpSp>
        <p:nvGrpSpPr>
          <p:cNvPr id="49" name="Group 48">
            <a:extLst>
              <a:ext uri="{FF2B5EF4-FFF2-40B4-BE49-F238E27FC236}">
                <a16:creationId xmlns:a16="http://schemas.microsoft.com/office/drawing/2014/main" id="{81E06EF5-B127-570B-564A-2DFA4FBFA5C4}"/>
              </a:ext>
            </a:extLst>
          </p:cNvPr>
          <p:cNvGrpSpPr/>
          <p:nvPr/>
        </p:nvGrpSpPr>
        <p:grpSpPr>
          <a:xfrm>
            <a:off x="2743200" y="3849622"/>
            <a:ext cx="987552" cy="2441450"/>
            <a:chOff x="2743200" y="3849622"/>
            <a:chExt cx="987552" cy="2441450"/>
          </a:xfrm>
        </p:grpSpPr>
        <p:grpSp>
          <p:nvGrpSpPr>
            <p:cNvPr id="34" name="Group 33">
              <a:extLst>
                <a:ext uri="{FF2B5EF4-FFF2-40B4-BE49-F238E27FC236}">
                  <a16:creationId xmlns:a16="http://schemas.microsoft.com/office/drawing/2014/main" id="{5D6E0625-B760-081D-0032-0089D819C8EC}"/>
                </a:ext>
              </a:extLst>
            </p:cNvPr>
            <p:cNvGrpSpPr/>
            <p:nvPr/>
          </p:nvGrpSpPr>
          <p:grpSpPr>
            <a:xfrm>
              <a:off x="2743200" y="5907022"/>
              <a:ext cx="987552" cy="384050"/>
              <a:chOff x="2743200" y="5907022"/>
              <a:chExt cx="987552" cy="384050"/>
            </a:xfrm>
          </p:grpSpPr>
          <p:sp>
            <p:nvSpPr>
              <p:cNvPr id="18" name="TextBox 17"/>
              <p:cNvSpPr txBox="1"/>
              <p:nvPr/>
            </p:nvSpPr>
            <p:spPr>
              <a:xfrm>
                <a:off x="3182112" y="5907022"/>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1</a:t>
                </a:r>
              </a:p>
            </p:txBody>
          </p:sp>
          <p:cxnSp>
            <p:nvCxnSpPr>
              <p:cNvPr id="20" name="Connector 19"/>
              <p:cNvCxnSpPr/>
              <p:nvPr/>
            </p:nvCxnSpPr>
            <p:spPr>
              <a:xfrm>
                <a:off x="2743200" y="6291072"/>
                <a:ext cx="576072" cy="0"/>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37" name="Connector 29">
              <a:extLst>
                <a:ext uri="{FF2B5EF4-FFF2-40B4-BE49-F238E27FC236}">
                  <a16:creationId xmlns:a16="http://schemas.microsoft.com/office/drawing/2014/main" id="{223D6CB3-6686-55E4-3865-9838C86E452F}"/>
                </a:ext>
              </a:extLst>
            </p:cNvPr>
            <p:cNvCxnSpPr>
              <a:cxnSpLocks/>
            </p:cNvCxnSpPr>
            <p:nvPr/>
          </p:nvCxnSpPr>
          <p:spPr>
            <a:xfrm>
              <a:off x="3291840" y="3849622"/>
              <a:ext cx="0" cy="205740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45" name="Group 44">
            <a:extLst>
              <a:ext uri="{FF2B5EF4-FFF2-40B4-BE49-F238E27FC236}">
                <a16:creationId xmlns:a16="http://schemas.microsoft.com/office/drawing/2014/main" id="{21702318-517F-4553-8D85-31018736F005}"/>
              </a:ext>
            </a:extLst>
          </p:cNvPr>
          <p:cNvGrpSpPr/>
          <p:nvPr/>
        </p:nvGrpSpPr>
        <p:grpSpPr>
          <a:xfrm>
            <a:off x="681767" y="3246120"/>
            <a:ext cx="2504917" cy="2953513"/>
            <a:chOff x="681767" y="3246120"/>
            <a:chExt cx="2504917" cy="2953513"/>
          </a:xfrm>
        </p:grpSpPr>
        <p:grpSp>
          <p:nvGrpSpPr>
            <p:cNvPr id="32" name="Group 31">
              <a:extLst>
                <a:ext uri="{FF2B5EF4-FFF2-40B4-BE49-F238E27FC236}">
                  <a16:creationId xmlns:a16="http://schemas.microsoft.com/office/drawing/2014/main" id="{F5AE463E-A911-538B-551A-815203F776E3}"/>
                </a:ext>
              </a:extLst>
            </p:cNvPr>
            <p:cNvGrpSpPr/>
            <p:nvPr/>
          </p:nvGrpSpPr>
          <p:grpSpPr>
            <a:xfrm>
              <a:off x="681767" y="3246120"/>
              <a:ext cx="2504917" cy="2953513"/>
              <a:chOff x="681767" y="3246120"/>
              <a:chExt cx="2504917" cy="2953513"/>
            </a:xfrm>
          </p:grpSpPr>
          <p:sp>
            <p:nvSpPr>
              <p:cNvPr id="7" name="Rectangle 6"/>
              <p:cNvSpPr/>
              <p:nvPr/>
            </p:nvSpPr>
            <p:spPr>
              <a:xfrm>
                <a:off x="1097280" y="3461002"/>
                <a:ext cx="1645918" cy="2391158"/>
              </a:xfrm>
              <a:prstGeom prst="rect">
                <a:avLst/>
              </a:prstGeom>
              <a:solidFill>
                <a:srgbClr val="F6E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767" y="3246120"/>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0</a:t>
                </a:r>
              </a:p>
            </p:txBody>
          </p:sp>
          <p:sp>
            <p:nvSpPr>
              <p:cNvPr id="17" name="TextBox 16"/>
              <p:cNvSpPr txBox="1"/>
              <p:nvPr/>
            </p:nvSpPr>
            <p:spPr>
              <a:xfrm>
                <a:off x="2638044" y="5888737"/>
                <a:ext cx="548640" cy="310896"/>
              </a:xfrm>
              <a:prstGeom prst="rect">
                <a:avLst/>
              </a:prstGeom>
              <a:noFill/>
            </p:spPr>
            <p:txBody>
              <a:bodyPr wrap="square" lIns="0" tIns="0" rIns="0" bIns="0">
                <a:spAutoFit/>
              </a:bodyPr>
              <a:lstStyle/>
              <a:p>
                <a:pPr algn="l"/>
                <a:r>
                  <a:rPr sz="2000" b="1" i="0" u="none" dirty="0">
                    <a:solidFill>
                      <a:srgbClr val="0B2B4E"/>
                    </a:solidFill>
                    <a:latin typeface="Calibri"/>
                  </a:rPr>
                  <a:t>Q</a:t>
                </a:r>
                <a:r>
                  <a:rPr sz="2000" b="1" i="0" u="none" baseline="-25000" dirty="0">
                    <a:solidFill>
                      <a:srgbClr val="0B2B4E"/>
                    </a:solidFill>
                    <a:latin typeface="Calibri"/>
                  </a:rPr>
                  <a:t>0</a:t>
                </a:r>
              </a:p>
            </p:txBody>
          </p:sp>
          <p:sp>
            <p:nvSpPr>
              <p:cNvPr id="22" name="TextBox 21"/>
              <p:cNvSpPr txBox="1"/>
              <p:nvPr/>
            </p:nvSpPr>
            <p:spPr>
              <a:xfrm>
                <a:off x="1097280" y="4663440"/>
                <a:ext cx="1645920" cy="338554"/>
              </a:xfrm>
              <a:prstGeom prst="rect">
                <a:avLst/>
              </a:prstGeom>
              <a:noFill/>
            </p:spPr>
            <p:txBody>
              <a:bodyPr wrap="square" lIns="0" tIns="0" rIns="0" bIns="0">
                <a:spAutoFit/>
              </a:bodyPr>
              <a:lstStyle/>
              <a:p>
                <a:pPr algn="ctr"/>
                <a:r>
                  <a:rPr sz="2200" b="1" i="1" u="none" dirty="0">
                    <a:solidFill>
                      <a:srgbClr val="0B2B4E"/>
                    </a:solidFill>
                    <a:latin typeface="Calibri"/>
                  </a:rPr>
                  <a:t>TR</a:t>
                </a:r>
                <a:r>
                  <a:rPr lang="en-US" sz="2200" b="1" i="1" u="none" baseline="-25000" dirty="0">
                    <a:solidFill>
                      <a:srgbClr val="0B2B4E"/>
                    </a:solidFill>
                    <a:latin typeface="Calibri"/>
                  </a:rPr>
                  <a:t>0</a:t>
                </a:r>
                <a:endParaRPr sz="2200" b="1" i="1" u="none" baseline="-25000" dirty="0">
                  <a:solidFill>
                    <a:srgbClr val="0B2B4E"/>
                  </a:solidFill>
                  <a:latin typeface="Calibri"/>
                </a:endParaRPr>
              </a:p>
            </p:txBody>
          </p:sp>
        </p:grpSp>
        <p:grpSp>
          <p:nvGrpSpPr>
            <p:cNvPr id="44" name="Group 43">
              <a:extLst>
                <a:ext uri="{FF2B5EF4-FFF2-40B4-BE49-F238E27FC236}">
                  <a16:creationId xmlns:a16="http://schemas.microsoft.com/office/drawing/2014/main" id="{CF759CFC-9EA4-80BC-D061-19C030737316}"/>
                </a:ext>
              </a:extLst>
            </p:cNvPr>
            <p:cNvGrpSpPr/>
            <p:nvPr/>
          </p:nvGrpSpPr>
          <p:grpSpPr>
            <a:xfrm>
              <a:off x="1097278" y="3429000"/>
              <a:ext cx="1645922" cy="2423160"/>
              <a:chOff x="1097278" y="3429000"/>
              <a:chExt cx="1645922" cy="2423160"/>
            </a:xfrm>
          </p:grpSpPr>
          <p:cxnSp>
            <p:nvCxnSpPr>
              <p:cNvPr id="39" name="Connector 29">
                <a:extLst>
                  <a:ext uri="{FF2B5EF4-FFF2-40B4-BE49-F238E27FC236}">
                    <a16:creationId xmlns:a16="http://schemas.microsoft.com/office/drawing/2014/main" id="{09F7F403-90DC-FF62-3DB9-F320AD90C274}"/>
                  </a:ext>
                </a:extLst>
              </p:cNvPr>
              <p:cNvCxnSpPr>
                <a:cxnSpLocks/>
              </p:cNvCxnSpPr>
              <p:nvPr/>
            </p:nvCxnSpPr>
            <p:spPr>
              <a:xfrm>
                <a:off x="2743200" y="3429000"/>
                <a:ext cx="0" cy="2423160"/>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29">
                <a:extLst>
                  <a:ext uri="{FF2B5EF4-FFF2-40B4-BE49-F238E27FC236}">
                    <a16:creationId xmlns:a16="http://schemas.microsoft.com/office/drawing/2014/main" id="{9C9FBD4C-B686-3427-0FD8-17D286AA5032}"/>
                  </a:ext>
                </a:extLst>
              </p:cNvPr>
              <p:cNvCxnSpPr>
                <a:cxnSpLocks/>
              </p:cNvCxnSpPr>
              <p:nvPr/>
            </p:nvCxnSpPr>
            <p:spPr>
              <a:xfrm flipV="1">
                <a:off x="1097278" y="3447286"/>
                <a:ext cx="1645922" cy="13716"/>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grpSp>
        <p:nvGrpSpPr>
          <p:cNvPr id="48" name="Group 47">
            <a:extLst>
              <a:ext uri="{FF2B5EF4-FFF2-40B4-BE49-F238E27FC236}">
                <a16:creationId xmlns:a16="http://schemas.microsoft.com/office/drawing/2014/main" id="{C32A2D02-7F14-FF0E-209D-89EC94B5D5B3}"/>
              </a:ext>
            </a:extLst>
          </p:cNvPr>
          <p:cNvGrpSpPr/>
          <p:nvPr/>
        </p:nvGrpSpPr>
        <p:grpSpPr>
          <a:xfrm>
            <a:off x="539496" y="3408425"/>
            <a:ext cx="2702737" cy="580643"/>
            <a:chOff x="539496" y="3408425"/>
            <a:chExt cx="2702737" cy="580643"/>
          </a:xfrm>
        </p:grpSpPr>
        <p:grpSp>
          <p:nvGrpSpPr>
            <p:cNvPr id="33" name="Group 32">
              <a:extLst>
                <a:ext uri="{FF2B5EF4-FFF2-40B4-BE49-F238E27FC236}">
                  <a16:creationId xmlns:a16="http://schemas.microsoft.com/office/drawing/2014/main" id="{934D2FC0-6348-2524-9FA9-6C7E23EADDB0}"/>
                </a:ext>
              </a:extLst>
            </p:cNvPr>
            <p:cNvGrpSpPr/>
            <p:nvPr/>
          </p:nvGrpSpPr>
          <p:grpSpPr>
            <a:xfrm>
              <a:off x="539496" y="3408425"/>
              <a:ext cx="690911" cy="580643"/>
              <a:chOff x="539496" y="3408425"/>
              <a:chExt cx="690911" cy="580643"/>
            </a:xfrm>
          </p:grpSpPr>
          <p:sp>
            <p:nvSpPr>
              <p:cNvPr id="16" name="TextBox 15"/>
              <p:cNvSpPr txBox="1"/>
              <p:nvPr/>
            </p:nvSpPr>
            <p:spPr>
              <a:xfrm>
                <a:off x="681767" y="3678172"/>
                <a:ext cx="548640" cy="310896"/>
              </a:xfrm>
              <a:prstGeom prst="rect">
                <a:avLst/>
              </a:prstGeom>
              <a:noFill/>
            </p:spPr>
            <p:txBody>
              <a:bodyPr wrap="square" lIns="0" tIns="0" rIns="0" bIns="0">
                <a:spAutoFit/>
              </a:bodyPr>
              <a:lstStyle/>
              <a:p>
                <a:pPr algn="l"/>
                <a:r>
                  <a:rPr sz="2200" b="1" i="0" u="none" dirty="0">
                    <a:solidFill>
                      <a:srgbClr val="0B2B4E"/>
                    </a:solidFill>
                    <a:latin typeface="Calibri"/>
                  </a:rPr>
                  <a:t>P</a:t>
                </a:r>
                <a:r>
                  <a:rPr sz="2200" b="1" i="0" u="none" baseline="-25000" dirty="0">
                    <a:solidFill>
                      <a:srgbClr val="0B2B4E"/>
                    </a:solidFill>
                    <a:latin typeface="Calibri"/>
                  </a:rPr>
                  <a:t>1</a:t>
                </a:r>
              </a:p>
            </p:txBody>
          </p:sp>
          <p:cxnSp>
            <p:nvCxnSpPr>
              <p:cNvPr id="19" name="Connector 18"/>
              <p:cNvCxnSpPr/>
              <p:nvPr/>
            </p:nvCxnSpPr>
            <p:spPr>
              <a:xfrm>
                <a:off x="539496" y="3408425"/>
                <a:ext cx="0" cy="425195"/>
              </a:xfrm>
              <a:prstGeom prst="line">
                <a:avLst/>
              </a:prstGeom>
              <a:ln w="28575">
                <a:solidFill>
                  <a:srgbClr val="E09F3E"/>
                </a:solidFill>
                <a:tailEnd type="triangle" w="med"/>
              </a:ln>
            </p:spPr>
            <p:style>
              <a:lnRef idx="2">
                <a:schemeClr val="accent1"/>
              </a:lnRef>
              <a:fillRef idx="0">
                <a:schemeClr val="accent1"/>
              </a:fillRef>
              <a:effectRef idx="1">
                <a:schemeClr val="accent1"/>
              </a:effectRef>
              <a:fontRef idx="minor">
                <a:schemeClr val="tx1"/>
              </a:fontRef>
            </p:style>
          </p:cxnSp>
        </p:grpSp>
        <p:cxnSp>
          <p:nvCxnSpPr>
            <p:cNvPr id="46" name="Connector 29">
              <a:extLst>
                <a:ext uri="{FF2B5EF4-FFF2-40B4-BE49-F238E27FC236}">
                  <a16:creationId xmlns:a16="http://schemas.microsoft.com/office/drawing/2014/main" id="{3F1A6F3D-6907-928A-ECFF-56AD2300E0CA}"/>
                </a:ext>
              </a:extLst>
            </p:cNvPr>
            <p:cNvCxnSpPr>
              <a:cxnSpLocks/>
            </p:cNvCxnSpPr>
            <p:nvPr/>
          </p:nvCxnSpPr>
          <p:spPr>
            <a:xfrm flipV="1">
              <a:off x="1097276" y="3856480"/>
              <a:ext cx="2144957" cy="13714"/>
            </a:xfrm>
            <a:prstGeom prst="line">
              <a:avLst/>
            </a:prstGeom>
            <a:ln w="17780">
              <a:solidFill>
                <a:srgbClr val="555B66"/>
              </a:solidFill>
              <a:prstDash val="dash"/>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AFF92A75-7E8E-BF25-78C1-530110AA8C08}"/>
              </a:ext>
            </a:extLst>
          </p:cNvPr>
          <p:cNvGrpSpPr/>
          <p:nvPr/>
        </p:nvGrpSpPr>
        <p:grpSpPr>
          <a:xfrm>
            <a:off x="1097278" y="2194560"/>
            <a:ext cx="10716769" cy="1655062"/>
            <a:chOff x="1097278" y="2194560"/>
            <a:chExt cx="10716769" cy="1655062"/>
          </a:xfrm>
        </p:grpSpPr>
        <p:sp>
          <p:nvSpPr>
            <p:cNvPr id="8" name="Rectangle 7"/>
            <p:cNvSpPr/>
            <p:nvPr/>
          </p:nvSpPr>
          <p:spPr>
            <a:xfrm>
              <a:off x="1097278" y="3447286"/>
              <a:ext cx="1645920" cy="402336"/>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3" name="Rectangle 22"/>
            <p:cNvSpPr/>
            <p:nvPr/>
          </p:nvSpPr>
          <p:spPr>
            <a:xfrm>
              <a:off x="7315200" y="2194560"/>
              <a:ext cx="502920" cy="384048"/>
            </a:xfrm>
            <a:prstGeom prst="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82127" y="2231136"/>
              <a:ext cx="3931920" cy="54864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000" b="0">
                  <a:solidFill>
                    <a:srgbClr val="0B2B4E"/>
                  </a:solidFill>
                  <a:latin typeface="Calibri"/>
                </a:defRPr>
              </a:lvl1pPr>
              <a:lvl2pPr marL="685800" indent="-228600">
                <a:spcBef>
                  <a:spcPts val="300"/>
                </a:spcBef>
                <a:buClr>
                  <a:srgbClr val="555B66"/>
                </a:buClr>
                <a:buFont typeface="Calibri"/>
                <a:buChar char="–"/>
                <a:defRPr sz="1600" b="0">
                  <a:solidFill>
                    <a:srgbClr val="555B66"/>
                  </a:solidFill>
                  <a:latin typeface="Calibri"/>
                </a:defRPr>
              </a:lvl2pPr>
            </a:lstStyle>
            <a:p>
              <a:pPr algn="l">
                <a:buNone/>
              </a:pPr>
              <a:r>
                <a:rPr sz="2000" dirty="0">
                  <a:solidFill>
                    <a:srgbClr val="0B2B4E"/>
                  </a:solidFill>
                  <a:latin typeface="Calibri"/>
                </a:rPr>
                <a:t>Reduction in </a:t>
              </a:r>
              <a:r>
                <a:rPr sz="2000" i="1" dirty="0">
                  <a:solidFill>
                    <a:srgbClr val="0B2B4E"/>
                  </a:solidFill>
                  <a:latin typeface="Calibri"/>
                </a:rPr>
                <a:t>TR</a:t>
              </a:r>
              <a:r>
                <a:rPr sz="2000" dirty="0">
                  <a:solidFill>
                    <a:srgbClr val="0B2B4E"/>
                  </a:solidFill>
                  <a:latin typeface="Calibri"/>
                </a:rPr>
                <a:t> from a lower price</a:t>
              </a:r>
            </a:p>
          </p:txBody>
        </p:sp>
      </p:grpSp>
      <p:sp>
        <p:nvSpPr>
          <p:cNvPr id="50" name="Rounded Rectangle 6">
            <a:extLst>
              <a:ext uri="{FF2B5EF4-FFF2-40B4-BE49-F238E27FC236}">
                <a16:creationId xmlns:a16="http://schemas.microsoft.com/office/drawing/2014/main" id="{4D896386-77F3-9B9C-209C-39B9223B53FA}"/>
              </a:ext>
            </a:extLst>
          </p:cNvPr>
          <p:cNvSpPr/>
          <p:nvPr/>
        </p:nvSpPr>
        <p:spPr>
          <a:xfrm>
            <a:off x="7150608" y="5001993"/>
            <a:ext cx="4704588" cy="667285"/>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b="1" dirty="0">
                <a:solidFill>
                  <a:srgbClr val="FFFFFF"/>
                </a:solidFill>
                <a:latin typeface="Calibri"/>
              </a:rPr>
              <a:t>We will see next: Which area is bigger depends on the elasticity of demand and P</a:t>
            </a:r>
            <a:r>
              <a:rPr lang="en-US" b="1" baseline="-25000" dirty="0">
                <a:solidFill>
                  <a:srgbClr val="FFFFFF"/>
                </a:solidFill>
                <a:latin typeface="Calibri"/>
              </a:rPr>
              <a:t>0</a:t>
            </a:r>
            <a:endParaRPr b="1" baseline="-25000" dirty="0">
              <a:solidFill>
                <a:srgbClr val="FFFFFF"/>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flipV="1">
            <a:off x="2560320" y="1481328"/>
            <a:ext cx="0" cy="235915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560320" y="384048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377440" y="1298448"/>
            <a:ext cx="603504" cy="310896"/>
          </a:xfrm>
          <a:prstGeom prst="rect">
            <a:avLst/>
          </a:prstGeom>
          <a:noFill/>
        </p:spPr>
        <p:txBody>
          <a:bodyPr wrap="square" lIns="0" tIns="0" rIns="0" bIns="0">
            <a:spAutoFit/>
          </a:bodyPr>
          <a:lstStyle/>
          <a:p>
            <a:pPr algn="l"/>
            <a:r>
              <a:rPr sz="1700" b="1" i="1" u="none" dirty="0">
                <a:solidFill>
                  <a:srgbClr val="0B2B4E"/>
                </a:solidFill>
                <a:latin typeface="Calibri"/>
              </a:rPr>
              <a:t>P</a:t>
            </a:r>
          </a:p>
        </p:txBody>
      </p:sp>
      <p:sp>
        <p:nvSpPr>
          <p:cNvPr id="10" name="TextBox 9"/>
          <p:cNvSpPr txBox="1"/>
          <p:nvPr/>
        </p:nvSpPr>
        <p:spPr>
          <a:xfrm>
            <a:off x="8453675" y="3781044"/>
            <a:ext cx="603504" cy="292608"/>
          </a:xfrm>
          <a:prstGeom prst="rect">
            <a:avLst/>
          </a:prstGeom>
          <a:noFill/>
        </p:spPr>
        <p:txBody>
          <a:bodyPr wrap="square" lIns="0" tIns="0" rIns="0" bIns="0">
            <a:spAutoFit/>
          </a:bodyPr>
          <a:lstStyle/>
          <a:p>
            <a:pPr algn="l"/>
            <a:r>
              <a:rPr sz="1700" b="1" i="1" u="none" dirty="0">
                <a:solidFill>
                  <a:srgbClr val="0B2B4E"/>
                </a:solidFill>
                <a:latin typeface="Calibri"/>
              </a:rPr>
              <a:t>Q</a:t>
            </a:r>
          </a:p>
        </p:txBody>
      </p:sp>
      <p:grpSp>
        <p:nvGrpSpPr>
          <p:cNvPr id="35" name="Group 34">
            <a:extLst>
              <a:ext uri="{FF2B5EF4-FFF2-40B4-BE49-F238E27FC236}">
                <a16:creationId xmlns:a16="http://schemas.microsoft.com/office/drawing/2014/main" id="{5CCD0DB0-63DC-9A76-797F-8CFC01E4823D}"/>
              </a:ext>
            </a:extLst>
          </p:cNvPr>
          <p:cNvGrpSpPr/>
          <p:nvPr/>
        </p:nvGrpSpPr>
        <p:grpSpPr>
          <a:xfrm>
            <a:off x="2560320" y="1865376"/>
            <a:ext cx="6592824" cy="2011680"/>
            <a:chOff x="2560320" y="1865376"/>
            <a:chExt cx="6592824" cy="2011680"/>
          </a:xfrm>
        </p:grpSpPr>
        <p:cxnSp>
          <p:nvCxnSpPr>
            <p:cNvPr id="11" name="Connector 10"/>
            <p:cNvCxnSpPr/>
            <p:nvPr/>
          </p:nvCxnSpPr>
          <p:spPr>
            <a:xfrm>
              <a:off x="2560320" y="1865376"/>
              <a:ext cx="5020055" cy="1975104"/>
            </a:xfrm>
            <a:prstGeom prst="line">
              <a:avLst/>
            </a:prstGeom>
            <a:ln w="38100">
              <a:solidFill>
                <a:srgbClr val="0B2B4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690104" y="3566160"/>
              <a:ext cx="1463040" cy="310896"/>
            </a:xfrm>
            <a:prstGeom prst="rect">
              <a:avLst/>
            </a:prstGeom>
            <a:noFill/>
          </p:spPr>
          <p:txBody>
            <a:bodyPr wrap="square" lIns="0" tIns="0" rIns="0" bIns="0">
              <a:spAutoFit/>
            </a:bodyPr>
            <a:lstStyle/>
            <a:p>
              <a:pPr algn="l"/>
              <a:r>
                <a:rPr sz="1700" b="1" i="0" u="none" dirty="0">
                  <a:solidFill>
                    <a:srgbClr val="0B2B4E"/>
                  </a:solidFill>
                  <a:latin typeface="Calibri"/>
                </a:rPr>
                <a:t>D</a:t>
              </a:r>
            </a:p>
          </p:txBody>
        </p:sp>
      </p:grpSp>
      <p:grpSp>
        <p:nvGrpSpPr>
          <p:cNvPr id="36" name="Group 35">
            <a:extLst>
              <a:ext uri="{FF2B5EF4-FFF2-40B4-BE49-F238E27FC236}">
                <a16:creationId xmlns:a16="http://schemas.microsoft.com/office/drawing/2014/main" id="{E9681456-6729-9A08-6239-4E3AE6D2C14A}"/>
              </a:ext>
            </a:extLst>
          </p:cNvPr>
          <p:cNvGrpSpPr/>
          <p:nvPr/>
        </p:nvGrpSpPr>
        <p:grpSpPr>
          <a:xfrm>
            <a:off x="2530847" y="1682496"/>
            <a:ext cx="3732793" cy="654221"/>
            <a:chOff x="2530847" y="1682496"/>
            <a:chExt cx="3732793" cy="654221"/>
          </a:xfrm>
        </p:grpSpPr>
        <p:sp>
          <p:nvSpPr>
            <p:cNvPr id="14" name="Right Brace 13"/>
            <p:cNvSpPr/>
            <p:nvPr/>
          </p:nvSpPr>
          <p:spPr>
            <a:xfrm rot="17488607">
              <a:off x="3717590" y="854826"/>
              <a:ext cx="295148" cy="2668634"/>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20440" y="1682496"/>
              <a:ext cx="2743200" cy="310896"/>
            </a:xfrm>
            <a:prstGeom prst="rect">
              <a:avLst/>
            </a:prstGeom>
            <a:noFill/>
          </p:spPr>
          <p:txBody>
            <a:bodyPr wrap="square" lIns="0" tIns="0" rIns="0" bIns="0">
              <a:spAutoFit/>
            </a:bodyPr>
            <a:lstStyle/>
            <a:p>
              <a:pPr algn="l"/>
              <a:r>
                <a:rPr sz="1600" b="1" i="0" u="none">
                  <a:solidFill>
                    <a:srgbClr val="0070C0"/>
                  </a:solidFill>
                  <a:latin typeface="Calibri"/>
                </a:rPr>
                <a:t>E</a:t>
              </a:r>
              <a:r>
                <a:rPr sz="1600" b="1" i="0" u="none" baseline="-25000">
                  <a:solidFill>
                    <a:srgbClr val="0070C0"/>
                  </a:solidFill>
                  <a:latin typeface="Calibri"/>
                </a:rPr>
                <a:t>D</a:t>
              </a:r>
              <a:r>
                <a:rPr sz="1600" b="1" i="0" u="none">
                  <a:solidFill>
                    <a:srgbClr val="0070C0"/>
                  </a:solidFill>
                  <a:latin typeface="Calibri"/>
                </a:rPr>
                <a:t> &lt; −1   elastic</a:t>
              </a:r>
            </a:p>
          </p:txBody>
        </p:sp>
      </p:grpSp>
      <p:grpSp>
        <p:nvGrpSpPr>
          <p:cNvPr id="37" name="Group 36">
            <a:extLst>
              <a:ext uri="{FF2B5EF4-FFF2-40B4-BE49-F238E27FC236}">
                <a16:creationId xmlns:a16="http://schemas.microsoft.com/office/drawing/2014/main" id="{E78BCE45-7A64-2FD0-C13E-8978C3510E5F}"/>
              </a:ext>
            </a:extLst>
          </p:cNvPr>
          <p:cNvGrpSpPr/>
          <p:nvPr/>
        </p:nvGrpSpPr>
        <p:grpSpPr>
          <a:xfrm>
            <a:off x="5102174" y="2703880"/>
            <a:ext cx="4356379" cy="623404"/>
            <a:chOff x="5102174" y="2703880"/>
            <a:chExt cx="4356379" cy="623404"/>
          </a:xfrm>
        </p:grpSpPr>
        <p:sp>
          <p:nvSpPr>
            <p:cNvPr id="16" name="Right Brace 15"/>
            <p:cNvSpPr/>
            <p:nvPr/>
          </p:nvSpPr>
          <p:spPr>
            <a:xfrm rot="17488607">
              <a:off x="6257346" y="1879504"/>
              <a:ext cx="292608" cy="2602951"/>
            </a:xfrm>
            <a:prstGeom prst="rightBrace">
              <a:avLst/>
            </a:prstGeom>
            <a:noFill/>
            <a:ln w="254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66713" y="2703880"/>
              <a:ext cx="3291840" cy="310896"/>
            </a:xfrm>
            <a:prstGeom prst="rect">
              <a:avLst/>
            </a:prstGeom>
            <a:noFill/>
          </p:spPr>
          <p:txBody>
            <a:bodyPr wrap="square" lIns="0" tIns="0" rIns="0" bIns="0">
              <a:spAutoFit/>
            </a:bodyPr>
            <a:lstStyle/>
            <a:p>
              <a:pPr algn="l"/>
              <a:r>
                <a:rPr sz="1600" b="1" i="0" u="none">
                  <a:solidFill>
                    <a:srgbClr val="0070C0"/>
                  </a:solidFill>
                  <a:latin typeface="Calibri"/>
                </a:rPr>
                <a:t>−1 &lt; E</a:t>
              </a:r>
              <a:r>
                <a:rPr sz="1600" b="1" i="0" u="none" baseline="-25000">
                  <a:solidFill>
                    <a:srgbClr val="0070C0"/>
                  </a:solidFill>
                  <a:latin typeface="Calibri"/>
                </a:rPr>
                <a:t>D</a:t>
              </a:r>
              <a:r>
                <a:rPr sz="1600" b="1" i="0" u="none">
                  <a:solidFill>
                    <a:srgbClr val="0070C0"/>
                  </a:solidFill>
                  <a:latin typeface="Calibri"/>
                </a:rPr>
                <a:t> &lt; 0   inelastic</a:t>
              </a:r>
            </a:p>
          </p:txBody>
        </p:sp>
      </p:grpSp>
      <p:grpSp>
        <p:nvGrpSpPr>
          <p:cNvPr id="34" name="Group 33">
            <a:extLst>
              <a:ext uri="{FF2B5EF4-FFF2-40B4-BE49-F238E27FC236}">
                <a16:creationId xmlns:a16="http://schemas.microsoft.com/office/drawing/2014/main" id="{13A4ED95-5FC2-8821-99C3-A9EE74C92270}"/>
              </a:ext>
            </a:extLst>
          </p:cNvPr>
          <p:cNvGrpSpPr/>
          <p:nvPr/>
        </p:nvGrpSpPr>
        <p:grpSpPr>
          <a:xfrm>
            <a:off x="5070348" y="2217420"/>
            <a:ext cx="1696212" cy="1623060"/>
            <a:chOff x="5070348" y="2217420"/>
            <a:chExt cx="1696212" cy="1623060"/>
          </a:xfrm>
        </p:grpSpPr>
        <p:cxnSp>
          <p:nvCxnSpPr>
            <p:cNvPr id="12" name="Connector 11"/>
            <p:cNvCxnSpPr/>
            <p:nvPr/>
          </p:nvCxnSpPr>
          <p:spPr>
            <a:xfrm flipV="1">
              <a:off x="5070348" y="2852928"/>
              <a:ext cx="0" cy="98755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120640" y="2217420"/>
              <a:ext cx="1645920" cy="310896"/>
            </a:xfrm>
            <a:prstGeom prst="rect">
              <a:avLst/>
            </a:prstGeom>
            <a:noFill/>
          </p:spPr>
          <p:txBody>
            <a:bodyPr wrap="square" lIns="0" tIns="0" rIns="0" bIns="0">
              <a:spAutoFit/>
            </a:bodyPr>
            <a:lstStyle/>
            <a:p>
              <a:pPr algn="l"/>
              <a:r>
                <a:rPr sz="1600" b="1" i="0" u="none">
                  <a:solidFill>
                    <a:srgbClr val="C0504D"/>
                  </a:solidFill>
                  <a:latin typeface="Calibri"/>
                </a:rPr>
                <a:t>E</a:t>
              </a:r>
              <a:r>
                <a:rPr sz="1600" b="1" i="0" u="none" baseline="-25000">
                  <a:solidFill>
                    <a:srgbClr val="C0504D"/>
                  </a:solidFill>
                  <a:latin typeface="Calibri"/>
                </a:rPr>
                <a:t>D</a:t>
              </a:r>
              <a:r>
                <a:rPr sz="1600" b="1" i="0" u="none">
                  <a:solidFill>
                    <a:srgbClr val="C0504D"/>
                  </a:solidFill>
                  <a:latin typeface="Calibri"/>
                </a:rPr>
                <a:t> = −1</a:t>
              </a:r>
            </a:p>
          </p:txBody>
        </p:sp>
        <p:cxnSp>
          <p:nvCxnSpPr>
            <p:cNvPr id="19" name="Connector 18"/>
            <p:cNvCxnSpPr/>
            <p:nvPr/>
          </p:nvCxnSpPr>
          <p:spPr>
            <a:xfrm flipH="1">
              <a:off x="5097780" y="2592324"/>
              <a:ext cx="80467" cy="234086"/>
            </a:xfrm>
            <a:prstGeom prst="line">
              <a:avLst/>
            </a:prstGeom>
            <a:ln w="22225">
              <a:solidFill>
                <a:srgbClr val="C0504D"/>
              </a:solidFill>
            </a:ln>
          </p:spPr>
          <p:style>
            <a:lnRef idx="2">
              <a:schemeClr val="accent1"/>
            </a:lnRef>
            <a:fillRef idx="0">
              <a:schemeClr val="accent1"/>
            </a:fillRef>
            <a:effectRef idx="1">
              <a:schemeClr val="accent1"/>
            </a:effectRef>
            <a:fontRef idx="minor">
              <a:schemeClr val="tx1"/>
            </a:fontRef>
          </p:style>
        </p:cxnSp>
      </p:grpSp>
      <p:cxnSp>
        <p:nvCxnSpPr>
          <p:cNvPr id="20" name="Connector 19"/>
          <p:cNvCxnSpPr/>
          <p:nvPr/>
        </p:nvCxnSpPr>
        <p:spPr>
          <a:xfrm flipV="1">
            <a:off x="2560320" y="3950208"/>
            <a:ext cx="0" cy="2221992"/>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560320" y="6172200"/>
            <a:ext cx="5852160" cy="0"/>
          </a:xfrm>
          <a:prstGeom prst="line">
            <a:avLst/>
          </a:prstGeom>
          <a:ln w="3175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53675" y="6092190"/>
            <a:ext cx="603504" cy="292608"/>
          </a:xfrm>
          <a:prstGeom prst="rect">
            <a:avLst/>
          </a:prstGeom>
          <a:noFill/>
        </p:spPr>
        <p:txBody>
          <a:bodyPr wrap="square" lIns="0" tIns="0" rIns="0" bIns="0">
            <a:spAutoFit/>
          </a:bodyPr>
          <a:lstStyle/>
          <a:p>
            <a:pPr algn="l"/>
            <a:r>
              <a:rPr sz="1700" b="1" i="1" u="none">
                <a:solidFill>
                  <a:srgbClr val="0B2B4E"/>
                </a:solidFill>
                <a:latin typeface="Calibri"/>
              </a:rPr>
              <a:t>Q</a:t>
            </a:r>
          </a:p>
        </p:txBody>
      </p:sp>
      <p:grpSp>
        <p:nvGrpSpPr>
          <p:cNvPr id="38" name="Group 37">
            <a:extLst>
              <a:ext uri="{FF2B5EF4-FFF2-40B4-BE49-F238E27FC236}">
                <a16:creationId xmlns:a16="http://schemas.microsoft.com/office/drawing/2014/main" id="{E05F1A85-96BE-35E4-DC0F-E2497B43A983}"/>
              </a:ext>
            </a:extLst>
          </p:cNvPr>
          <p:cNvGrpSpPr/>
          <p:nvPr/>
        </p:nvGrpSpPr>
        <p:grpSpPr>
          <a:xfrm>
            <a:off x="2560320" y="3858158"/>
            <a:ext cx="5020055" cy="2314042"/>
            <a:chOff x="2560320" y="3858158"/>
            <a:chExt cx="5020055" cy="2314042"/>
          </a:xfrm>
        </p:grpSpPr>
        <p:sp>
          <p:nvSpPr>
            <p:cNvPr id="23" name="Rectangle 22"/>
            <p:cNvSpPr/>
            <p:nvPr/>
          </p:nvSpPr>
          <p:spPr>
            <a:xfrm>
              <a:off x="2560320" y="3858158"/>
              <a:ext cx="5020055" cy="2314042"/>
            </a:xfrm>
            <a:custGeom>
              <a:avLst/>
              <a:gdLst/>
              <a:ahLst/>
              <a:cxnLst/>
              <a:rect l="0" t="0" r="5020055" b="2314042"/>
              <a:pathLst>
                <a:path w="5020055" h="2314042">
                  <a:moveTo>
                    <a:pt x="0" y="2314042"/>
                  </a:moveTo>
                  <a:cubicBezTo>
                    <a:pt x="1673352" y="0"/>
                    <a:pt x="3346704" y="0"/>
                    <a:pt x="5020055" y="2314042"/>
                  </a:cubicBezTo>
                </a:path>
              </a:pathLst>
            </a:custGeom>
            <a:noFill/>
            <a:ln w="38100" cap="rnd">
              <a:solidFill>
                <a:srgbClr val="E09F3E"/>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5070348" y="4436668"/>
              <a:ext cx="0" cy="1735532"/>
            </a:xfrm>
            <a:prstGeom prst="line">
              <a:avLst/>
            </a:prstGeom>
            <a:ln w="17780">
              <a:solidFill>
                <a:srgbClr val="0B2B4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808476" y="4366260"/>
              <a:ext cx="1463040" cy="310896"/>
            </a:xfrm>
            <a:prstGeom prst="rect">
              <a:avLst/>
            </a:prstGeom>
            <a:noFill/>
          </p:spPr>
          <p:txBody>
            <a:bodyPr wrap="square" lIns="0" tIns="0" rIns="0" bIns="0">
              <a:spAutoFit/>
            </a:bodyPr>
            <a:lstStyle/>
            <a:p>
              <a:pPr algn="l"/>
              <a:r>
                <a:rPr sz="1800" b="1" i="0" u="none">
                  <a:solidFill>
                    <a:srgbClr val="E09F3E"/>
                  </a:solidFill>
                  <a:latin typeface="Calibri"/>
                </a:rPr>
                <a:t>TR</a:t>
              </a:r>
            </a:p>
          </p:txBody>
        </p:sp>
      </p:grpSp>
      <p:cxnSp>
        <p:nvCxnSpPr>
          <p:cNvPr id="26" name="Connector 25"/>
          <p:cNvCxnSpPr>
            <a:cxnSpLocks/>
          </p:cNvCxnSpPr>
          <p:nvPr/>
        </p:nvCxnSpPr>
        <p:spPr>
          <a:xfrm flipV="1">
            <a:off x="3520440" y="4777740"/>
            <a:ext cx="836676" cy="632764"/>
          </a:xfrm>
          <a:prstGeom prst="line">
            <a:avLst/>
          </a:prstGeom>
          <a:ln w="25400">
            <a:solidFill>
              <a:schemeClr val="accent3">
                <a:lumMod val="75000"/>
              </a:schemeClr>
            </a:solidFill>
            <a:tailEnd type="triangle" w="med"/>
          </a:ln>
        </p:spPr>
        <p:style>
          <a:lnRef idx="2">
            <a:schemeClr val="accent1"/>
          </a:lnRef>
          <a:fillRef idx="0">
            <a:schemeClr val="accent1"/>
          </a:fillRef>
          <a:effectRef idx="1">
            <a:schemeClr val="accent1"/>
          </a:effectRef>
          <a:fontRef idx="minor">
            <a:schemeClr val="tx1"/>
          </a:fontRef>
        </p:style>
      </p:cxnSp>
      <p:cxnSp>
        <p:nvCxnSpPr>
          <p:cNvPr id="27" name="Connector 26"/>
          <p:cNvCxnSpPr>
            <a:cxnSpLocks/>
          </p:cNvCxnSpPr>
          <p:nvPr/>
        </p:nvCxnSpPr>
        <p:spPr>
          <a:xfrm>
            <a:off x="5861304" y="4777740"/>
            <a:ext cx="862279" cy="632764"/>
          </a:xfrm>
          <a:prstGeom prst="line">
            <a:avLst/>
          </a:prstGeom>
          <a:ln w="25400">
            <a:solidFill>
              <a:srgbClr val="C00000"/>
            </a:solidFill>
            <a:tailEnd type="triangle" w="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204057" y="5582412"/>
            <a:ext cx="1687982"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chemeClr val="accent3">
                    <a:lumMod val="50000"/>
                  </a:schemeClr>
                </a:solidFill>
                <a:latin typeface="Calibri"/>
              </a:rPr>
              <a:t>rises</a:t>
            </a:r>
          </a:p>
        </p:txBody>
      </p:sp>
      <p:sp>
        <p:nvSpPr>
          <p:cNvPr id="29" name="TextBox 28"/>
          <p:cNvSpPr txBox="1"/>
          <p:nvPr/>
        </p:nvSpPr>
        <p:spPr>
          <a:xfrm>
            <a:off x="5296204" y="5576011"/>
            <a:ext cx="1700784" cy="430682"/>
          </a:xfrm>
          <a:prstGeom prst="rect">
            <a:avLst/>
          </a:prstGeom>
          <a:noFill/>
        </p:spPr>
        <p:txBody>
          <a:bodyPr wrap="square" lIns="0" tIns="0" rIns="0" bIns="0">
            <a:spAutoFit/>
          </a:bodyPr>
          <a:lstStyle>
            <a:lvl1pPr marL="342900" indent="-342900">
              <a:spcBef>
                <a:spcPts val="0"/>
              </a:spcBef>
              <a:buClr>
                <a:srgbClr val="0B2B4E"/>
              </a:buClr>
              <a:buFont typeface="Calibri"/>
              <a:buChar char="▪"/>
              <a:defRPr sz="1400" b="0">
                <a:solidFill>
                  <a:srgbClr val="0B2B4E"/>
                </a:solidFill>
                <a:latin typeface="Calibri"/>
              </a:defRPr>
            </a:lvl1pPr>
            <a:lvl2pPr marL="685800" indent="-228600">
              <a:spcBef>
                <a:spcPts val="300"/>
              </a:spcBef>
              <a:buClr>
                <a:srgbClr val="555B66"/>
              </a:buClr>
              <a:buFont typeface="Calibri"/>
              <a:buChar char="–"/>
              <a:defRPr sz="1000" b="0">
                <a:solidFill>
                  <a:srgbClr val="555B66"/>
                </a:solidFill>
                <a:latin typeface="Calibri"/>
              </a:defRPr>
            </a:lvl2pPr>
          </a:lstStyle>
          <a:p>
            <a:pPr algn="l">
              <a:buNone/>
            </a:pPr>
            <a:r>
              <a:rPr sz="1400" b="1" dirty="0">
                <a:solidFill>
                  <a:srgbClr val="0B2B4E"/>
                </a:solidFill>
                <a:latin typeface="Calibri"/>
              </a:rPr>
              <a:t>Inelastic region</a:t>
            </a:r>
            <a:r>
              <a:rPr sz="1400" dirty="0">
                <a:solidFill>
                  <a:srgbClr val="0B2B4E"/>
                </a:solidFill>
                <a:latin typeface="Calibri"/>
              </a:rPr>
              <a:t>:  P falls
→ Q rises → </a:t>
            </a:r>
            <a:r>
              <a:rPr sz="1400" b="1" dirty="0">
                <a:solidFill>
                  <a:srgbClr val="E09F3E"/>
                </a:solidFill>
                <a:latin typeface="Calibri"/>
              </a:rPr>
              <a:t>TR </a:t>
            </a:r>
            <a:r>
              <a:rPr sz="1400" b="1" u="sng" dirty="0">
                <a:solidFill>
                  <a:srgbClr val="C00000"/>
                </a:solidFill>
                <a:latin typeface="Calibri"/>
              </a:rPr>
              <a:t>falls</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30F67572-56A1-533B-9B3B-08B9F7B2B9A8}" type="slidenum">
              <a:rPr lang="en-US" sz="1200" dirty="0">
                <a:solidFill>
                  <a:srgbClr val="555B66"/>
                </a:solidFill>
                <a:latin typeface="Calibri"/>
              </a:rPr>
              <a:t>6</a:t>
            </a:fld>
            <a:endParaRPr lang="en-US" sz="1200" dirty="0">
              <a:solidFill>
                <a:srgbClr val="555B66"/>
              </a:solidFill>
              <a:latin typeface="Calibri"/>
            </a:endParaRPr>
          </a:p>
        </p:txBody>
      </p:sp>
      <p:sp>
        <p:nvSpPr>
          <p:cNvPr id="40" name="TextBox 39">
            <a:extLst>
              <a:ext uri="{FF2B5EF4-FFF2-40B4-BE49-F238E27FC236}">
                <a16:creationId xmlns:a16="http://schemas.microsoft.com/office/drawing/2014/main" id="{613DBD64-099C-730C-ED2D-7848E33A878F}"/>
              </a:ext>
            </a:extLst>
          </p:cNvPr>
          <p:cNvSpPr txBox="1"/>
          <p:nvPr/>
        </p:nvSpPr>
        <p:spPr>
          <a:xfrm>
            <a:off x="2267711" y="3822192"/>
            <a:ext cx="603504" cy="261610"/>
          </a:xfrm>
          <a:prstGeom prst="rect">
            <a:avLst/>
          </a:prstGeom>
          <a:noFill/>
        </p:spPr>
        <p:txBody>
          <a:bodyPr wrap="square" lIns="0" tIns="0" rIns="0" bIns="0">
            <a:spAutoFit/>
          </a:bodyPr>
          <a:lstStyle/>
          <a:p>
            <a:pPr algn="l"/>
            <a:r>
              <a:rPr lang="en-US" sz="1700" b="1" i="1" u="none" dirty="0">
                <a:solidFill>
                  <a:srgbClr val="0B2B4E"/>
                </a:solidFill>
                <a:latin typeface="Calibri"/>
              </a:rPr>
              <a:t>TR</a:t>
            </a:r>
            <a:endParaRPr sz="1700" b="1" i="1" u="none" dirty="0">
              <a:solidFill>
                <a:srgbClr val="0B2B4E"/>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Effect of a Price Change on Total Revenue: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389159" y="1600200"/>
                <a:ext cx="11338560" cy="789960"/>
              </a:xfrm>
              <a:prstGeom prst="rect">
                <a:avLst/>
              </a:prstGeom>
              <a:noFill/>
            </p:spPr>
            <p:txBody>
              <a:bodyPr wrap="square" lIns="45720" tIns="0" rIns="45720" bIns="0">
                <a:spAutoFit/>
              </a:bodyPr>
              <a:lstStyle/>
              <a:p>
                <a:r>
                  <a:rPr lang="en-US" sz="2400" dirty="0">
                    <a:solidFill>
                      <a:srgbClr val="0B2B4E"/>
                    </a:solidFill>
                    <a:latin typeface="Calibri"/>
                  </a:rPr>
                  <a:t>Total Revenues:   </a:t>
                </a:r>
                <a14:m>
                  <m:oMath xmlns:m="http://schemas.openxmlformats.org/officeDocument/2006/math">
                    <m:r>
                      <m:rPr>
                        <m:sty m:val="p"/>
                      </m:rPr>
                      <a:rPr lang="en-US" sz="2400" b="0" i="0">
                        <a:solidFill>
                          <a:srgbClr val="0B2B4E"/>
                        </a:solidFill>
                        <a:latin typeface="Cambria Math"/>
                      </a:rPr>
                      <m:t>TR</m:t>
                    </m:r>
                    <m:r>
                      <a:rPr lang="en-US" sz="2400" b="0" i="0">
                        <a:solidFill>
                          <a:srgbClr val="0B2B4E"/>
                        </a:solidFill>
                        <a:latin typeface="Cambria Math"/>
                      </a:rPr>
                      <m:t> = </m:t>
                    </m:r>
                    <m:r>
                      <a:rPr lang="en-US" sz="2400" b="0" i="1">
                        <a:solidFill>
                          <a:srgbClr val="0B2B4E"/>
                        </a:solidFill>
                        <a:latin typeface="Cambria Math"/>
                        <a:ea typeface="Cambria Math"/>
                      </a:rPr>
                      <m:t>𝑃</m:t>
                    </m:r>
                    <m:r>
                      <a:rPr lang="en-US" sz="2400" b="0" i="0">
                        <a:solidFill>
                          <a:srgbClr val="0B2B4E"/>
                        </a:solidFill>
                        <a:latin typeface="Cambria Math"/>
                      </a:rPr>
                      <m:t> ⋅ </m:t>
                    </m:r>
                    <m:r>
                      <a:rPr lang="en-US" sz="2400" b="0" i="1">
                        <a:solidFill>
                          <a:srgbClr val="0B2B4E"/>
                        </a:solidFill>
                        <a:latin typeface="Cambria Math"/>
                        <a:ea typeface="Cambria Math"/>
                      </a:rPr>
                      <m:t>𝑄</m:t>
                    </m:r>
                  </m:oMath>
                </a14:m>
                <a:endParaRPr lang="en-US" dirty="0"/>
              </a:p>
              <a:p>
                <a:pPr>
                  <a:spcBef>
                    <a:spcPts val="400"/>
                  </a:spcBef>
                </a:pPr>
                <a:r>
                  <a:rPr lang="en-US" sz="2400" b="1" dirty="0">
                    <a:solidFill>
                      <a:srgbClr val="0B2B4E"/>
                    </a:solidFill>
                    <a:latin typeface="Calibri"/>
                  </a:rPr>
                  <a:t>In % changes</a:t>
                </a:r>
                <a:r>
                  <a:rPr lang="en-US" sz="2400" dirty="0">
                    <a:solidFill>
                      <a:srgbClr val="0B2B4E"/>
                    </a:solidFill>
                    <a:latin typeface="Calibri"/>
                  </a:rPr>
                  <a:t>, this implies:   </a:t>
                </a:r>
                <a14:m>
                  <m:oMath xmlns:m="http://schemas.openxmlformats.org/officeDocument/2006/math">
                    <m:r>
                      <a:rPr lang="en-US" sz="2400" b="1" i="0">
                        <a:solidFill>
                          <a:srgbClr val="0B2B4E"/>
                        </a:solidFill>
                        <a:latin typeface="Cambria Math"/>
                      </a:rPr>
                      <m:t>%</m:t>
                    </m:r>
                    <m:r>
                      <a:rPr lang="en-US" sz="2400" b="1" i="0">
                        <a:solidFill>
                          <a:srgbClr val="0B2B4E"/>
                        </a:solidFill>
                        <a:latin typeface="Cambria Math"/>
                      </a:rPr>
                      <m:t>𝚫</m:t>
                    </m:r>
                    <m:r>
                      <a:rPr lang="en-US" sz="2400" b="1" i="0">
                        <a:solidFill>
                          <a:srgbClr val="0B2B4E"/>
                        </a:solidFill>
                        <a:latin typeface="Cambria Math"/>
                      </a:rPr>
                      <m:t>𝐓𝐑</m:t>
                    </m:r>
                    <m:r>
                      <a:rPr lang="en-US" sz="2400" b="1" i="0">
                        <a:solidFill>
                          <a:srgbClr val="0B2B4E"/>
                        </a:solidFill>
                        <a:latin typeface="Cambria Math"/>
                      </a:rPr>
                      <m:t> = %</m:t>
                    </m:r>
                    <m:r>
                      <a:rPr lang="en-US" sz="2400" b="1" i="0">
                        <a:solidFill>
                          <a:srgbClr val="0B2B4E"/>
                        </a:solidFill>
                        <a:latin typeface="Cambria Math"/>
                      </a:rPr>
                      <m:t>𝚫</m:t>
                    </m:r>
                    <m:r>
                      <a:rPr lang="en-US" sz="2400" b="1" i="1">
                        <a:solidFill>
                          <a:srgbClr val="0B2B4E"/>
                        </a:solidFill>
                        <a:latin typeface="Cambria Math"/>
                        <a:ea typeface="Cambria Math"/>
                      </a:rPr>
                      <m:t>𝑷</m:t>
                    </m:r>
                    <m:r>
                      <a:rPr lang="en-US" sz="2400" b="1" i="0">
                        <a:solidFill>
                          <a:srgbClr val="0B2B4E"/>
                        </a:solidFill>
                        <a:latin typeface="Cambria Math"/>
                      </a:rPr>
                      <m:t> + %</m:t>
                    </m:r>
                    <m:r>
                      <a:rPr lang="en-US" sz="2400" b="1" i="0">
                        <a:solidFill>
                          <a:srgbClr val="0B2B4E"/>
                        </a:solidFill>
                        <a:latin typeface="Cambria Math"/>
                      </a:rPr>
                      <m:t>𝚫</m:t>
                    </m:r>
                    <m:r>
                      <a:rPr lang="en-US" sz="2400" b="1" i="1">
                        <a:solidFill>
                          <a:srgbClr val="0B2B4E"/>
                        </a:solidFill>
                        <a:latin typeface="Cambria Math"/>
                        <a:ea typeface="Cambria Math"/>
                      </a:rPr>
                      <m:t>𝑸</m:t>
                    </m:r>
                  </m:oMath>
                </a14:m>
                <a:endParaRPr lang="en-US" b="1" dirty="0"/>
              </a:p>
            </p:txBody>
          </p:sp>
        </mc:Choice>
        <mc:Fallback xmlns="">
          <p:sp>
            <p:nvSpPr>
              <p:cNvPr id="7" name="TextBox 6"/>
              <p:cNvSpPr txBox="1">
                <a:spLocks noRot="1" noChangeAspect="1" noMove="1" noResize="1" noEditPoints="1" noAdjustHandles="1" noChangeArrowheads="1" noChangeShapeType="1" noTextEdit="1"/>
              </p:cNvSpPr>
              <p:nvPr/>
            </p:nvSpPr>
            <p:spPr>
              <a:xfrm>
                <a:off x="389159" y="1600200"/>
                <a:ext cx="11338560" cy="789960"/>
              </a:xfrm>
              <a:prstGeom prst="rect">
                <a:avLst/>
              </a:prstGeom>
              <a:blipFill>
                <a:blip r:embed="rId2"/>
                <a:stretch>
                  <a:fillRect l="-1237" t="-12403" b="-22481"/>
                </a:stretch>
              </a:blipFill>
            </p:spPr>
            <p:txBody>
              <a:bodyPr/>
              <a:lstStyle/>
              <a:p>
                <a:r>
                  <a:rPr lang="en-US">
                    <a:noFill/>
                  </a:rPr>
                  <a:t> </a:t>
                </a:r>
              </a:p>
            </p:txBody>
          </p:sp>
        </mc:Fallback>
      </mc:AlternateContent>
      <p:sp>
        <p:nvSpPr>
          <p:cNvPr id="8" name="TextBox 7"/>
          <p:cNvSpPr txBox="1"/>
          <p:nvPr/>
        </p:nvSpPr>
        <p:spPr>
          <a:xfrm>
            <a:off x="389159" y="2880360"/>
            <a:ext cx="11338560" cy="822960"/>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dirty="0">
                <a:latin typeface="Calibri"/>
              </a:rPr>
              <a:t>To assess the effect of a </a:t>
            </a:r>
            <a:r>
              <a:rPr b="1" dirty="0">
                <a:solidFill>
                  <a:srgbClr val="C00000"/>
                </a:solidFill>
                <a:latin typeface="Calibri"/>
              </a:rPr>
              <a:t>price decrease</a:t>
            </a:r>
            <a:r>
              <a:rPr dirty="0">
                <a:latin typeface="Calibri"/>
              </a:rPr>
              <a:t> on revenue, ask:</a:t>
            </a:r>
          </a:p>
          <a:p>
            <a:pPr marL="0" indent="0" algn="l">
              <a:spcBef>
                <a:spcPts val="0"/>
              </a:spcBef>
              <a:buNone/>
            </a:pPr>
            <a:r>
              <a:rPr sz="1800" i="1" dirty="0">
                <a:solidFill>
                  <a:srgbClr val="0B2B4E"/>
                </a:solidFill>
                <a:latin typeface="Calibri"/>
              </a:rPr>
              <a:t>        [note: if P decreases, Q must increase]</a:t>
            </a:r>
          </a:p>
        </p:txBody>
      </p:sp>
      <p:grpSp>
        <p:nvGrpSpPr>
          <p:cNvPr id="116" name="Group pair 116"/>
          <p:cNvGrpSpPr/>
          <p:nvPr/>
        </p:nvGrpSpPr>
        <p:grpSpPr>
          <a:xfrm>
            <a:off x="251999" y="3930091"/>
            <a:ext cx="5806815" cy="1126540"/>
            <a:chOff x="663854" y="3930091"/>
            <a:chExt cx="5394960" cy="1327708"/>
          </a:xfrm>
        </p:grpSpPr>
        <p:sp>
          <p:nvSpPr>
            <p:cNvPr id="9" name="Rounded Rectangle 8"/>
            <p:cNvSpPr/>
            <p:nvPr/>
          </p:nvSpPr>
          <p:spPr>
            <a:xfrm>
              <a:off x="663854" y="3930091"/>
              <a:ext cx="5394960" cy="1327708"/>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6734" y="4039819"/>
              <a:ext cx="5029200" cy="1108252"/>
            </a:xfrm>
            <a:prstGeom prst="rect">
              <a:avLst/>
            </a:prstGeom>
            <a:noFill/>
          </p:spPr>
          <p:txBody>
            <a:bodyPr wrap="square" lIns="45720" tIns="0" rIns="45720" bIns="0" anchor="ctr">
              <a:spAutoFit/>
            </a:bodyPr>
            <a:lstStyle/>
            <a:p>
              <a:pPr algn="l"/>
              <a:r>
                <a:rPr sz="1800" b="0" i="0" u="none" dirty="0">
                  <a:solidFill>
                    <a:srgbClr val="0B2B4E"/>
                  </a:solidFill>
                  <a:latin typeface="Calibri"/>
                </a:rPr>
                <a:t>Is the % reduction in </a:t>
              </a:r>
              <a:r>
                <a:rPr sz="1800" b="0" i="1" u="none" dirty="0">
                  <a:solidFill>
                    <a:srgbClr val="0B2B4E"/>
                  </a:solidFill>
                  <a:latin typeface="Calibri"/>
                </a:rPr>
                <a:t>P</a:t>
              </a:r>
              <a:r>
                <a:rPr sz="1800" b="0" i="0" u="none" dirty="0">
                  <a:solidFill>
                    <a:srgbClr val="0B2B4E"/>
                  </a:solidFill>
                  <a:latin typeface="Calibri"/>
                </a:rPr>
                <a:t> </a:t>
              </a:r>
              <a:r>
                <a:rPr sz="1800" b="1" i="0" u="sng" dirty="0">
                  <a:solidFill>
                    <a:srgbClr val="0B2B4E"/>
                  </a:solidFill>
                  <a:latin typeface="Calibri"/>
                </a:rPr>
                <a:t>smaller</a:t>
              </a:r>
              <a:r>
                <a:rPr sz="1800" b="0" i="0" u="none" dirty="0">
                  <a:solidFill>
                    <a:srgbClr val="0B2B4E"/>
                  </a:solidFill>
                  <a:latin typeface="Calibri"/>
                </a:rPr>
                <a:t> than the % increase in </a:t>
              </a:r>
              <a:r>
                <a:rPr sz="1800" b="0" i="1" u="none" dirty="0">
                  <a:solidFill>
                    <a:srgbClr val="0B2B4E"/>
                  </a:solidFill>
                  <a:latin typeface="Calibri"/>
                </a:rPr>
                <a:t>Q</a:t>
              </a:r>
              <a:r>
                <a:rPr sz="1800" b="0" i="0" u="none" dirty="0">
                  <a:solidFill>
                    <a:srgbClr val="0B2B4E"/>
                  </a:solidFill>
                  <a:latin typeface="Calibri"/>
                </a:rPr>
                <a:t>?
If yes: total revenue rises
→ Demand is </a:t>
              </a:r>
              <a:r>
                <a:rPr sz="1800" b="1" i="0" u="none" dirty="0">
                  <a:solidFill>
                    <a:srgbClr val="0070C0"/>
                  </a:solidFill>
                  <a:latin typeface="Calibri"/>
                </a:rPr>
                <a:t>elastic</a:t>
              </a:r>
            </a:p>
          </p:txBody>
        </p:sp>
      </p:grpSp>
      <p:grpSp>
        <p:nvGrpSpPr>
          <p:cNvPr id="117" name="Group pair 117"/>
          <p:cNvGrpSpPr/>
          <p:nvPr/>
        </p:nvGrpSpPr>
        <p:grpSpPr>
          <a:xfrm>
            <a:off x="6355080" y="3930091"/>
            <a:ext cx="5623560" cy="1126540"/>
            <a:chOff x="6355080" y="3930091"/>
            <a:chExt cx="5394960" cy="1327708"/>
          </a:xfrm>
        </p:grpSpPr>
        <p:sp>
          <p:nvSpPr>
            <p:cNvPr id="11" name="Rounded Rectangle 10"/>
            <p:cNvSpPr/>
            <p:nvPr/>
          </p:nvSpPr>
          <p:spPr>
            <a:xfrm>
              <a:off x="6355080" y="3930091"/>
              <a:ext cx="5394960" cy="1327708"/>
            </a:xfrm>
            <a:prstGeom prst="roundRect">
              <a:avLst>
                <a:gd name="adj" fmla="val 12000"/>
              </a:avLst>
            </a:prstGeom>
            <a:solidFill>
              <a:srgbClr val="FDF6E6"/>
            </a:solidFill>
            <a:ln w="12700">
              <a:solidFill>
                <a:srgbClr val="0B2B4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4039819"/>
              <a:ext cx="5029200" cy="1108252"/>
            </a:xfrm>
            <a:prstGeom prst="rect">
              <a:avLst/>
            </a:prstGeom>
            <a:noFill/>
          </p:spPr>
          <p:txBody>
            <a:bodyPr wrap="square" lIns="45720" tIns="0" rIns="45720" bIns="0" anchor="ctr">
              <a:spAutoFit/>
            </a:bodyPr>
            <a:lstStyle/>
            <a:p>
              <a:pPr algn="l"/>
              <a:r>
                <a:rPr sz="1800" b="0" i="0" u="none" dirty="0">
                  <a:solidFill>
                    <a:srgbClr val="0B2B4E"/>
                  </a:solidFill>
                  <a:latin typeface="Calibri"/>
                </a:rPr>
                <a:t>Is the % reduction in </a:t>
              </a:r>
              <a:r>
                <a:rPr sz="1800" b="0" i="1" u="none" dirty="0">
                  <a:solidFill>
                    <a:srgbClr val="0B2B4E"/>
                  </a:solidFill>
                  <a:latin typeface="Calibri"/>
                </a:rPr>
                <a:t>P</a:t>
              </a:r>
              <a:r>
                <a:rPr sz="1800" b="0" i="0" u="none" dirty="0">
                  <a:solidFill>
                    <a:srgbClr val="0B2B4E"/>
                  </a:solidFill>
                  <a:latin typeface="Calibri"/>
                </a:rPr>
                <a:t> </a:t>
              </a:r>
              <a:r>
                <a:rPr sz="1800" b="1" i="0" u="sng" dirty="0">
                  <a:solidFill>
                    <a:srgbClr val="0B2B4E"/>
                  </a:solidFill>
                  <a:latin typeface="Calibri"/>
                </a:rPr>
                <a:t>larger</a:t>
              </a:r>
              <a:r>
                <a:rPr sz="1800" b="0" i="0" u="none" dirty="0">
                  <a:solidFill>
                    <a:srgbClr val="0B2B4E"/>
                  </a:solidFill>
                  <a:latin typeface="Calibri"/>
                </a:rPr>
                <a:t> than the % increase in </a:t>
              </a:r>
              <a:r>
                <a:rPr sz="1800" b="0" i="1" u="none" dirty="0">
                  <a:solidFill>
                    <a:srgbClr val="0B2B4E"/>
                  </a:solidFill>
                  <a:latin typeface="Calibri"/>
                </a:rPr>
                <a:t>Q</a:t>
              </a:r>
              <a:r>
                <a:rPr sz="1800" b="0" i="0" u="none" dirty="0">
                  <a:solidFill>
                    <a:srgbClr val="0B2B4E"/>
                  </a:solidFill>
                  <a:latin typeface="Calibri"/>
                </a:rPr>
                <a:t>?
If yes: total revenue declines
→ Demand is </a:t>
              </a:r>
              <a:r>
                <a:rPr sz="1800" b="1" i="0" u="none" dirty="0">
                  <a:solidFill>
                    <a:srgbClr val="0070C0"/>
                  </a:solidFill>
                  <a:latin typeface="Calibri"/>
                </a:rPr>
                <a:t>inelastic</a:t>
              </a:r>
            </a:p>
          </p:txBody>
        </p:sp>
      </p:gr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FFEA4D40-B8B2-522C-98C7-92A233DE4E34}"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0"/>
                                  </p:stCondLst>
                                  <p:childTnLst>
                                    <p:set>
                                      <p:cBhvr>
                                        <p:cTn id="14" dur="1" fill="hold">
                                          <p:stCondLst>
                                            <p:cond delay="0"/>
                                          </p:stCondLst>
                                        </p:cTn>
                                        <p:tgtEl>
                                          <p:spTgt spid="116"/>
                                        </p:tgtEl>
                                        <p:attrNameLst>
                                          <p:attrName>style.visibility</p:attrName>
                                        </p:attrNameLst>
                                      </p:cBhvr>
                                      <p:to>
                                        <p:strVal val="visible"/>
                                      </p:to>
                                    </p:set>
                                    <p:animEffect transition="in" filter="fade">
                                      <p:cBhvr>
                                        <p:cTn id="15" dur="500"/>
                                        <p:tgtEl>
                                          <p:spTgt spid="1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fade">
                                      <p:cBhvr>
                                        <p:cTn id="20"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can a Price Cut and Revenues tell us about the Elasticity?</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828800"/>
            <a:ext cx="6309360" cy="4011355"/>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b="1" dirty="0">
                <a:latin typeface="Calibri"/>
              </a:rPr>
              <a:t>Novo Nordisk</a:t>
            </a:r>
            <a:r>
              <a:rPr dirty="0">
                <a:latin typeface="Calibri"/>
              </a:rPr>
              <a:t> lowered its U.S. price for Ozempic and </a:t>
            </a:r>
            <a:r>
              <a:rPr dirty="0" err="1">
                <a:latin typeface="Calibri"/>
              </a:rPr>
              <a:t>Wegovy</a:t>
            </a:r>
            <a:r>
              <a:rPr dirty="0">
                <a:latin typeface="Calibri"/>
              </a:rPr>
              <a:t> under a deal with the White House</a:t>
            </a:r>
          </a:p>
          <a:p>
            <a:pPr algn="l"/>
            <a:r>
              <a:rPr dirty="0">
                <a:latin typeface="Calibri"/>
              </a:rPr>
              <a:t>As a result, revenues are forecasted to fall 5–13%</a:t>
            </a:r>
          </a:p>
          <a:p>
            <a:pPr algn="l"/>
            <a:r>
              <a:rPr dirty="0">
                <a:latin typeface="Calibri"/>
              </a:rPr>
              <a:t>What does this imply about the </a:t>
            </a:r>
            <a:r>
              <a:rPr b="1" dirty="0">
                <a:solidFill>
                  <a:srgbClr val="0070C0"/>
                </a:solidFill>
                <a:latin typeface="Calibri"/>
              </a:rPr>
              <a:t>elasticity of demand</a:t>
            </a:r>
            <a:r>
              <a:rPr dirty="0">
                <a:latin typeface="Calibri"/>
              </a:rPr>
              <a:t>?</a:t>
            </a:r>
            <a:endParaRPr lang="en-US" dirty="0">
              <a:latin typeface="Calibri"/>
            </a:endParaRPr>
          </a:p>
          <a:p>
            <a:pPr lvl="1"/>
            <a:r>
              <a:rPr lang="en-US" dirty="0"/>
              <a:t>Elastic?</a:t>
            </a:r>
          </a:p>
          <a:p>
            <a:pPr lvl="1"/>
            <a:r>
              <a:rPr lang="en-US" dirty="0">
                <a:latin typeface="Calibri"/>
              </a:rPr>
              <a:t>Inelastic?</a:t>
            </a:r>
          </a:p>
          <a:p>
            <a:pPr lvl="1"/>
            <a:r>
              <a:rPr lang="en-US" dirty="0"/>
              <a:t>E</a:t>
            </a:r>
            <a:r>
              <a:rPr lang="en-US" baseline="-25000" dirty="0"/>
              <a:t>D</a:t>
            </a:r>
            <a:r>
              <a:rPr lang="en-US" dirty="0"/>
              <a:t>=-1 (unit elastic)?</a:t>
            </a:r>
          </a:p>
          <a:p>
            <a:pPr lvl="1"/>
            <a:r>
              <a:rPr lang="en-US" dirty="0">
                <a:latin typeface="Calibri"/>
              </a:rPr>
              <a:t>Need more information?</a:t>
            </a:r>
          </a:p>
        </p:txBody>
      </p:sp>
      <p:grpSp>
        <p:nvGrpSpPr>
          <p:cNvPr id="9702" name="Group pair 9702"/>
          <p:cNvGrpSpPr/>
          <p:nvPr/>
        </p:nvGrpSpPr>
        <p:grpSpPr>
          <a:xfrm>
            <a:off x="6995160" y="2103120"/>
            <a:ext cx="4251960" cy="3264408"/>
            <a:chOff x="6995160" y="2103120"/>
            <a:chExt cx="4251960" cy="3264408"/>
          </a:xfrm>
        </p:grpSpPr>
        <p:pic>
          <p:nvPicPr>
            <p:cNvPr id="8" name="Picture 7" descr="ct_ozempic_image1.png"/>
            <p:cNvPicPr>
              <a:picLocks noChangeAspect="1"/>
            </p:cNvPicPr>
            <p:nvPr/>
          </p:nvPicPr>
          <p:blipFill>
            <a:blip r:embed="rId3"/>
            <a:stretch>
              <a:fillRect/>
            </a:stretch>
          </p:blipFill>
          <p:spPr>
            <a:xfrm>
              <a:off x="6995160" y="2103120"/>
              <a:ext cx="4251960" cy="2880360"/>
            </a:xfrm>
            <a:prstGeom prst="roundRect">
              <a:avLst>
                <a:gd name="adj" fmla="val 8000"/>
              </a:avLst>
            </a:prstGeom>
            <a:effectLst>
              <a:outerShdw blurRad="50800" dist="38100" dir="2700000" algn="tl" rotWithShape="0">
                <a:srgbClr val="000000">
                  <a:alpha val="50000"/>
                </a:srgbClr>
              </a:outerShdw>
            </a:effectLst>
          </p:spPr>
        </p:pic>
        <p:sp>
          <p:nvSpPr>
            <p:cNvPr id="9" name="TextBox 8"/>
            <p:cNvSpPr txBox="1"/>
            <p:nvPr/>
          </p:nvSpPr>
          <p:spPr>
            <a:xfrm>
              <a:off x="6995160" y="5074920"/>
              <a:ext cx="4251960" cy="292608"/>
            </a:xfrm>
            <a:prstGeom prst="rect">
              <a:avLst/>
            </a:prstGeom>
            <a:noFill/>
          </p:spPr>
          <p:txBody>
            <a:bodyPr wrap="square" lIns="0" tIns="0" rIns="0" bIns="0">
              <a:spAutoFit/>
            </a:bodyPr>
            <a:lstStyle/>
            <a:p>
              <a:pPr algn="ctr"/>
              <a:r>
                <a:rPr sz="1200" b="0" i="1" u="sng">
                  <a:solidFill>
                    <a:srgbClr val="555B66"/>
                  </a:solidFill>
                  <a:latin typeface="Calibri"/>
                  <a:hlinkClick r:id="rId4">
                    <a:extLst>
                      <a:ext uri="{A12FA001-AC4F-418D-AE19-62706E023703}">
                        <ahyp:hlinkClr xmlns:ahyp="http://schemas.microsoft.com/office/drawing/2018/hyperlinkcolor" val="tx"/>
                      </a:ext>
                    </a:extLst>
                  </a:hlinkClick>
                </a:rPr>
                <a:t>Source: Pharmaceutical Technology</a:t>
              </a:r>
            </a:p>
          </p:txBody>
        </p:sp>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C7268266-B9CE-510E-8DAE-CCAC4EF4FAAA}" type="slidenum">
              <a:rPr lang="en-US" sz="1200" dirty="0">
                <a:solidFill>
                  <a:srgbClr val="555B66"/>
                </a:solidFill>
                <a:latin typeface="Calibri"/>
              </a:rPr>
              <a:t>8</a:t>
            </a:fld>
            <a:endParaRPr lang="en-US" sz="1200" dirty="0">
              <a:solidFill>
                <a:srgbClr val="555B66"/>
              </a:solidFill>
              <a:latin typeface="Calibri"/>
            </a:endParaRPr>
          </a:p>
        </p:txBody>
      </p:sp>
      <p:grpSp>
        <p:nvGrpSpPr>
          <p:cNvPr id="9600" name="Group 14">
            <a:extLst>
              <a:ext uri="{FF2B5EF4-FFF2-40B4-BE49-F238E27FC236}">
                <a16:creationId xmlns:a16="http://schemas.microsoft.com/office/drawing/2014/main" id="{C7881A0F-62FF-0536-16AD-55B1DC27DD3D}"/>
              </a:ext>
            </a:extLst>
          </p:cNvPr>
          <p:cNvGrpSpPr/>
          <p:nvPr/>
        </p:nvGrpSpPr>
        <p:grpSpPr>
          <a:xfrm>
            <a:off x="8641080" y="6190488"/>
            <a:ext cx="3298616" cy="539496"/>
            <a:chOff x="7550576" y="5715000"/>
            <a:chExt cx="4389120" cy="658368"/>
          </a:xfrm>
        </p:grpSpPr>
        <p:sp>
          <p:nvSpPr>
            <p:cNvPr id="9601" name="Rectangle 8"/>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02" name="TextBox 9"/>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fade">
                                      <p:cBhvr>
                                        <p:cTn id="15" dur="500"/>
                                        <p:tgtEl>
                                          <p:spTgt spid="7">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fade">
                                      <p:cBhvr>
                                        <p:cTn id="18" dur="500"/>
                                        <p:tgtEl>
                                          <p:spTgt spid="7">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animEffect transition="in" filter="fade">
                                      <p:cBhvr>
                                        <p:cTn id="21" dur="500"/>
                                        <p:tgtEl>
                                          <p:spTgt spid="7">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Solution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703320" y="1874519"/>
            <a:ext cx="5486400" cy="731520"/>
          </a:xfrm>
          <a:prstGeom prst="rect">
            <a:avLst/>
          </a:prstGeom>
          <a:noFill/>
        </p:spPr>
        <p:txBody>
          <a:bodyPr wrap="square" lIns="45720" tIns="0" rIns="45720" bIns="0">
            <a:spAutoFit/>
          </a:bodyPr>
          <a:lstStyle/>
          <a:p>
            <a:r>
              <a:rPr lang="en-US" sz="3400">
                <a:solidFill>
                  <a:srgbClr val="0B2B4E"/>
                </a:solidFill>
                <a:latin typeface="Calibri"/>
              </a:rPr>
              <a:t>Demand is  </a:t>
            </a:r>
            <a:r>
              <a:rPr lang="en-US" sz="3400" b="1">
                <a:solidFill>
                  <a:srgbClr val="0070C0"/>
                </a:solidFill>
                <a:latin typeface="Calibri"/>
              </a:rPr>
              <a:t>inelastic</a:t>
            </a:r>
            <a:endParaRPr lang="en-US"/>
          </a:p>
        </p:txBody>
      </p:sp>
      <p:sp>
        <p:nvSpPr>
          <p:cNvPr id="8" name="TextBox 7"/>
          <p:cNvSpPr txBox="1"/>
          <p:nvPr/>
        </p:nvSpPr>
        <p:spPr>
          <a:xfrm>
            <a:off x="1005840" y="3246120"/>
            <a:ext cx="10241280" cy="1754326"/>
          </a:xfrm>
          <a:prstGeom prst="rect">
            <a:avLst/>
          </a:prstGeom>
          <a:noFill/>
        </p:spPr>
        <p:txBody>
          <a:bodyPr wrap="square" lIns="0" tIns="0" rIns="0" bIns="0">
            <a:spAutoFit/>
          </a:bodyPr>
          <a:lstStyle>
            <a:lvl1pPr marL="342900" indent="-342900">
              <a:spcBef>
                <a:spcPts val="1800"/>
              </a:spcBef>
              <a:buClr>
                <a:srgbClr val="0B2B4E"/>
              </a:buClr>
              <a:buFont typeface="Calibri"/>
              <a:buChar char="▪"/>
              <a:defRPr sz="28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A price cut caused </a:t>
            </a:r>
            <a:r>
              <a:rPr lang="en-US" dirty="0">
                <a:latin typeface="Calibri"/>
              </a:rPr>
              <a:t>TR</a:t>
            </a:r>
            <a:r>
              <a:rPr dirty="0">
                <a:latin typeface="Calibri"/>
              </a:rPr>
              <a:t> to fall</a:t>
            </a:r>
          </a:p>
          <a:p>
            <a:pPr algn="l"/>
            <a:r>
              <a:rPr dirty="0">
                <a:latin typeface="Calibri"/>
              </a:rPr>
              <a:t>The quantity response was too small to offset the price cut</a:t>
            </a:r>
          </a:p>
          <a:p>
            <a:pPr algn="l"/>
            <a:r>
              <a:rPr b="1" dirty="0">
                <a:solidFill>
                  <a:srgbClr val="0070C0"/>
                </a:solidFill>
                <a:latin typeface="Calibri"/>
              </a:rPr>
              <a:t>Inelastic:  </a:t>
            </a:r>
            <a:r>
              <a:rPr i="1" dirty="0">
                <a:latin typeface="Calibri"/>
              </a:rPr>
              <a:t>|E</a:t>
            </a:r>
            <a:r>
              <a:rPr i="1" baseline="-25000" dirty="0">
                <a:latin typeface="Calibri"/>
              </a:rPr>
              <a:t>D</a:t>
            </a:r>
            <a:r>
              <a:rPr i="1" dirty="0">
                <a:latin typeface="Calibri"/>
              </a:rPr>
              <a:t>| &lt; 1</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08682F91-49E7-5EED-9DBC-C131636935DD}" type="slidenum">
              <a:rPr lang="en-US" sz="1200" dirty="0">
                <a:solidFill>
                  <a:srgbClr val="555B66"/>
                </a:solidFill>
                <a:latin typeface="Calibri"/>
              </a:rPr>
              <a:t>9</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About Profits?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246120" y="1645920"/>
            <a:ext cx="5715000" cy="868680"/>
          </a:xfrm>
          <a:prstGeom prst="roundRect">
            <a:avLst>
              <a:gd name="adj" fmla="val 12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1">
                <a:solidFill>
                  <a:srgbClr val="FFFFFF"/>
                </a:solidFill>
                <a:latin typeface="Calibri"/>
              </a:rPr>
              <a:t>Profit  =  Revenue  −  Costs</a:t>
            </a:r>
          </a:p>
        </p:txBody>
      </p:sp>
      <p:sp>
        <p:nvSpPr>
          <p:cNvPr id="8" name="TextBox 7"/>
          <p:cNvSpPr txBox="1"/>
          <p:nvPr/>
        </p:nvSpPr>
        <p:spPr>
          <a:xfrm>
            <a:off x="1371600" y="2880360"/>
            <a:ext cx="9418320" cy="2092881"/>
          </a:xfrm>
          <a:prstGeom prst="rect">
            <a:avLst/>
          </a:prstGeom>
          <a:noFill/>
        </p:spPr>
        <p:txBody>
          <a:bodyPr wrap="square" lIns="0" tIns="0" rIns="0" bIns="0">
            <a:spAutoFit/>
          </a:bodyPr>
          <a:lstStyle>
            <a:lvl1pPr marL="342900" indent="-342900">
              <a:spcBef>
                <a:spcPts val="16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000" b="0">
                <a:solidFill>
                  <a:srgbClr val="555B66"/>
                </a:solidFill>
                <a:latin typeface="Calibri"/>
              </a:defRPr>
            </a:lvl2pPr>
          </a:lstStyle>
          <a:p>
            <a:pPr algn="l"/>
            <a:r>
              <a:rPr lang="en-US" dirty="0">
                <a:latin typeface="Calibri"/>
              </a:rPr>
              <a:t>We know: </a:t>
            </a:r>
            <a:r>
              <a:rPr dirty="0">
                <a:latin typeface="Calibri"/>
              </a:rPr>
              <a:t>The price decrease caused </a:t>
            </a:r>
            <a:r>
              <a:rPr lang="en-US" dirty="0">
                <a:latin typeface="Calibri"/>
              </a:rPr>
              <a:t>TR </a:t>
            </a:r>
            <a:r>
              <a:rPr dirty="0">
                <a:latin typeface="Calibri"/>
              </a:rPr>
              <a:t>to decrease</a:t>
            </a:r>
          </a:p>
          <a:p>
            <a:pPr algn="l"/>
            <a:r>
              <a:rPr lang="en-US" dirty="0">
                <a:latin typeface="Calibri"/>
              </a:rPr>
              <a:t>A declining price also raises quantity produced/sold Q</a:t>
            </a:r>
            <a:r>
              <a:rPr dirty="0">
                <a:latin typeface="Calibri"/>
              </a:rPr>
              <a:t>  →  costs increase</a:t>
            </a:r>
          </a:p>
          <a:p>
            <a:pPr algn="l"/>
            <a:r>
              <a:rPr lang="en-US" dirty="0">
                <a:latin typeface="Calibri"/>
              </a:rPr>
              <a:t>Thus:</a:t>
            </a:r>
            <a:r>
              <a:rPr dirty="0">
                <a:latin typeface="Calibri"/>
              </a:rPr>
              <a:t> </a:t>
            </a:r>
            <a:r>
              <a:rPr lang="en-US" dirty="0">
                <a:latin typeface="Calibri"/>
              </a:rPr>
              <a:t>P</a:t>
            </a:r>
            <a:r>
              <a:rPr dirty="0">
                <a:latin typeface="Calibri"/>
              </a:rPr>
              <a:t>rofits fell</a:t>
            </a:r>
          </a:p>
          <a:p>
            <a:pPr algn="l"/>
            <a:r>
              <a:rPr dirty="0">
                <a:latin typeface="Calibri"/>
              </a:rPr>
              <a:t>Markets agreed:  </a:t>
            </a:r>
            <a:r>
              <a:rPr u="sng" dirty="0">
                <a:solidFill>
                  <a:srgbClr val="0070C0"/>
                </a:solidFill>
                <a:latin typeface="Calibri"/>
                <a:hlinkClick r:id="rId3">
                  <a:extLst>
                    <a:ext uri="{A12FA001-AC4F-418D-AE19-62706E023703}">
                      <ahyp:hlinkClr xmlns:ahyp="http://schemas.microsoft.com/office/drawing/2018/hyperlinkcolor" val="tx"/>
                    </a:ext>
                  </a:extLst>
                </a:hlinkClick>
              </a:rPr>
              <a:t>Novo Nordisk shares tumbled ~18%</a:t>
            </a: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dirty="0">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36B6251-3178-565F-97CD-AC46849C5395}" type="slidenum">
              <a:rPr lang="en-US" sz="1200" dirty="0">
                <a:solidFill>
                  <a:srgbClr val="555B66"/>
                </a:solidFill>
                <a:latin typeface="Calibri"/>
              </a:rPr>
              <a:t>10</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500"/>
                                        <p:tgtEl>
                                          <p:spTgt spid="8">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xEl>
                                              <p:pRg st="1" end="1"/>
                                            </p:txEl>
                                          </p:spTgt>
                                        </p:tgtEl>
                                        <p:attrNameLst>
                                          <p:attrName>style.visibility</p:attrName>
                                        </p:attrNameLst>
                                      </p:cBhvr>
                                      <p:to>
                                        <p:strVal val="visible"/>
                                      </p:to>
                                    </p:set>
                                    <p:animEffect transition="in" filter="fade">
                                      <p:cBhvr>
                                        <p:cTn id="16" dur="500"/>
                                        <p:tgtEl>
                                          <p:spTgt spid="8">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500"/>
                                        <p:tgtEl>
                                          <p:spTgt spid="8">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xEl>
                                              <p:pRg st="3" end="3"/>
                                            </p:txEl>
                                          </p:spTgt>
                                        </p:tgtEl>
                                        <p:attrNameLst>
                                          <p:attrName>style.visibility</p:attrName>
                                        </p:attrNameLst>
                                      </p:cBhvr>
                                      <p:to>
                                        <p:strVal val="visible"/>
                                      </p:to>
                                    </p:set>
                                    <p:animEffect transition="in" filter="fade">
                                      <p:cBhvr>
                                        <p:cTn id="26"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Summary: Effect of a Price Change on TR — It Depends on E</a:t>
            </a:r>
            <a:r>
              <a:rPr sz="3200" b="1" i="0" u="none" baseline="-25000">
                <a:solidFill>
                  <a:srgbClr val="0B2B4E"/>
                </a:solidFill>
                <a:latin typeface="Calibri"/>
              </a:rPr>
              <a:t>D</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89159" y="1554480"/>
            <a:ext cx="11338560" cy="914400"/>
          </a:xfrm>
          <a:prstGeom prst="rect">
            <a:avLst/>
          </a:prstGeom>
          <a:noFill/>
        </p:spPr>
        <p:txBody>
          <a:bodyPr wrap="square" lIns="0" tIns="0" rIns="0" bIns="0">
            <a:spAutoFit/>
          </a:bodyPr>
          <a:lstStyle>
            <a:lvl1pPr marL="342900" indent="-342900">
              <a:spcBef>
                <a:spcPts val="10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Is the percent reduction in price greater or smaller than the percent increase in quantity sold?</a:t>
            </a:r>
          </a:p>
          <a:p>
            <a:pPr algn="l"/>
            <a:r>
              <a:rPr dirty="0">
                <a:latin typeface="Calibri"/>
              </a:rPr>
              <a:t>More precisely: is demand elastic or inelastic?</a:t>
            </a:r>
          </a:p>
        </p:txBody>
      </p:sp>
      <p:grpSp>
        <p:nvGrpSpPr>
          <p:cNvPr id="113" name="Group pair 113"/>
          <p:cNvGrpSpPr/>
          <p:nvPr/>
        </p:nvGrpSpPr>
        <p:grpSpPr>
          <a:xfrm>
            <a:off x="640080" y="2651760"/>
            <a:ext cx="10881360" cy="3566160"/>
            <a:chOff x="640080" y="2651760"/>
            <a:chExt cx="10881360" cy="3566160"/>
          </a:xfrm>
        </p:grpSpPr>
        <p:sp>
          <p:nvSpPr>
            <p:cNvPr id="8" name="Rectangle 7"/>
            <p:cNvSpPr/>
            <p:nvPr/>
          </p:nvSpPr>
          <p:spPr>
            <a:xfrm>
              <a:off x="640080" y="2651760"/>
              <a:ext cx="10881360" cy="3566160"/>
            </a:xfrm>
            <a:prstGeom prst="rect">
              <a:avLst/>
            </a:prstGeom>
            <a:solidFill>
              <a:srgbClr val="FFFFFF"/>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extLst>
                <p:ext uri="{D42A27DB-BD31-4B8C-83A1-F6EECF244321}">
                  <p14:modId xmlns:p14="http://schemas.microsoft.com/office/powerpoint/2010/main" val="4179002274"/>
                </p:ext>
              </p:extLst>
            </p:nvPr>
          </p:nvGraphicFramePr>
          <p:xfrm>
            <a:off x="777240" y="2788920"/>
            <a:ext cx="10607040" cy="3291840"/>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658368">
                  <a:tc>
                    <a:txBody>
                      <a:bodyPr/>
                      <a:lstStyle/>
                      <a:p>
                        <a:pPr algn="ctr"/>
                        <a:r>
                          <a:rPr sz="1600" b="1">
                            <a:solidFill>
                              <a:srgbClr val="FFFFFF"/>
                            </a:solidFill>
                            <a:latin typeface="Calibri"/>
                          </a:rPr>
                          <a:t>% change in P</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Resulting % change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Demand is…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tc>
                    <a:txBody>
                      <a:bodyPr/>
                      <a:lstStyle/>
                      <a:p>
                        <a:pPr algn="ctr"/>
                        <a:r>
                          <a:rPr sz="1600" b="1">
                            <a:solidFill>
                              <a:srgbClr val="FFFFFF"/>
                            </a:solidFill>
                            <a:latin typeface="Calibri"/>
                          </a:rPr>
                          <a:t>Resulting change in revenue</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0B2B4E"/>
                      </a:solidFill>
                    </a:tcPr>
                  </a:tc>
                  <a:extLst>
                    <a:ext uri="{0D108BD9-81ED-4DB2-BD59-A6C34878D82A}">
                      <a16:rowId xmlns:a16="http://schemas.microsoft.com/office/drawing/2014/main" val="10000"/>
                    </a:ext>
                  </a:extLst>
                </a:tr>
                <a:tr h="658368">
                  <a:tc>
                    <a:txBody>
                      <a:bodyPr/>
                      <a:lstStyle/>
                      <a:p>
                        <a:pPr algn="l"/>
                        <a:r>
                          <a:rPr sz="1600" b="1">
                            <a:solidFill>
                              <a:srgbClr val="0B2B4E"/>
                            </a:solidFill>
                            <a:latin typeface="Calibri"/>
                          </a:rPr>
                          <a:t>If P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600" b="0" dirty="0">
                            <a:solidFill>
                              <a:srgbClr val="0B2B4E"/>
                            </a:solidFill>
                            <a:latin typeface="Calibri"/>
                          </a:rPr>
                          <a:t>Relatively large increase in </a:t>
                        </a:r>
                        <a:r>
                          <a:rPr sz="1600" b="0" dirty="0">
                            <a:solidFill>
                              <a:srgbClr val="0B2B4E"/>
                            </a:solidFill>
                            <a:latin typeface="Calibri"/>
                          </a:rPr>
                          <a:t>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Revenue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1"/>
                    </a:ext>
                  </a:extLst>
                </a:tr>
                <a:tr h="658368">
                  <a:tc>
                    <a:txBody>
                      <a:bodyPr/>
                      <a:lstStyle/>
                      <a:p>
                        <a:pPr algn="l"/>
                        <a:r>
                          <a:rPr sz="1600" b="1">
                            <a:solidFill>
                              <a:srgbClr val="0B2B4E"/>
                            </a:solidFill>
                            <a:latin typeface="Calibri"/>
                          </a:rPr>
                          <a:t>If P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600" b="0" dirty="0">
                            <a:solidFill>
                              <a:srgbClr val="0B2B4E"/>
                            </a:solidFill>
                            <a:latin typeface="+mn-lt"/>
                          </a:rPr>
                          <a:t>Relatively small increase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Inelastic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Revenue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2"/>
                    </a:ext>
                  </a:extLst>
                </a:tr>
                <a:tr h="658368">
                  <a:tc>
                    <a:txBody>
                      <a:bodyPr/>
                      <a:lstStyle/>
                      <a:p>
                        <a:pPr algn="l"/>
                        <a:r>
                          <a:rPr sz="1600" b="1">
                            <a:solidFill>
                              <a:srgbClr val="0B2B4E"/>
                            </a:solidFill>
                            <a:latin typeface="Calibri"/>
                          </a:rPr>
                          <a:t>If P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lang="en-US" sz="1600" b="0" dirty="0">
                            <a:solidFill>
                              <a:srgbClr val="0B2B4E"/>
                            </a:solidFill>
                            <a:latin typeface="+mn-lt"/>
                          </a:rPr>
                          <a:t>Relatively large decline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tc>
                    <a:txBody>
                      <a:bodyPr/>
                      <a:lstStyle/>
                      <a:p>
                        <a:pPr algn="ctr"/>
                        <a:r>
                          <a:rPr sz="1600" b="0">
                            <a:solidFill>
                              <a:srgbClr val="0B2B4E"/>
                            </a:solidFill>
                            <a:latin typeface="Calibri"/>
                          </a:rPr>
                          <a:t>Revenue decreases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FFFFF"/>
                      </a:solidFill>
                    </a:tcPr>
                  </a:tc>
                  <a:extLst>
                    <a:ext uri="{0D108BD9-81ED-4DB2-BD59-A6C34878D82A}">
                      <a16:rowId xmlns:a16="http://schemas.microsoft.com/office/drawing/2014/main" val="10003"/>
                    </a:ext>
                  </a:extLst>
                </a:tr>
                <a:tr h="658368">
                  <a:tc>
                    <a:txBody>
                      <a:bodyPr/>
                      <a:lstStyle/>
                      <a:p>
                        <a:pPr algn="l"/>
                        <a:r>
                          <a:rPr sz="1600" b="1">
                            <a:solidFill>
                              <a:srgbClr val="0B2B4E"/>
                            </a:solidFill>
                            <a:latin typeface="Calibri"/>
                          </a:rPr>
                          <a:t>If P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lang="en-US" sz="1600" b="0" dirty="0">
                            <a:solidFill>
                              <a:srgbClr val="0B2B4E"/>
                            </a:solidFill>
                            <a:latin typeface="+mn-lt"/>
                          </a:rPr>
                          <a:t>Relatively small decline in Q</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a:solidFill>
                              <a:srgbClr val="0B2B4E"/>
                            </a:solidFill>
                            <a:latin typeface="Calibri"/>
                          </a:rPr>
                          <a:t>Inelastic</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tc>
                    <a:txBody>
                      <a:bodyPr/>
                      <a:lstStyle/>
                      <a:p>
                        <a:pPr algn="ctr"/>
                        <a:r>
                          <a:rPr sz="1600" b="0" dirty="0">
                            <a:solidFill>
                              <a:srgbClr val="0B2B4E"/>
                            </a:solidFill>
                            <a:latin typeface="Calibri"/>
                          </a:rPr>
                          <a:t>Revenue increases</a:t>
                        </a:r>
                      </a:p>
                    </a:txBody>
                    <a:tcPr marT="36576" marB="36576" anchor="ctr">
                      <a:lnL w="9525" cap="flat">
                        <a:solidFill>
                          <a:srgbClr val="C8CDD3"/>
                        </a:solidFill>
                      </a:lnL>
                      <a:lnR w="9525" cap="flat">
                        <a:solidFill>
                          <a:srgbClr val="C8CDD3"/>
                        </a:solidFill>
                      </a:lnR>
                      <a:lnT w="9525" cap="flat">
                        <a:solidFill>
                          <a:srgbClr val="C8CDD3"/>
                        </a:solidFill>
                      </a:lnT>
                      <a:lnB w="9525" cap="flat">
                        <a:solidFill>
                          <a:srgbClr val="C8CDD3"/>
                        </a:solidFill>
                      </a:lnB>
                      <a:solidFill>
                        <a:srgbClr val="FDF6E6"/>
                      </a:solidFill>
                    </a:tcPr>
                  </a:tc>
                  <a:extLst>
                    <a:ext uri="{0D108BD9-81ED-4DB2-BD59-A6C34878D82A}">
                      <a16:rowId xmlns:a16="http://schemas.microsoft.com/office/drawing/2014/main" val="10004"/>
                    </a:ext>
                  </a:extLst>
                </a:tr>
              </a:tbl>
            </a:graphicData>
          </a:graphic>
        </p:graphicFrame>
      </p:gr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AF540A15-85A1-5986-921E-239DF3489994}" type="slidenum">
              <a:rPr lang="en-US" sz="1200" dirty="0">
                <a:solidFill>
                  <a:srgbClr val="555B66"/>
                </a:solidFill>
                <a:latin typeface="Calibri"/>
              </a:rPr>
              <a:t>11</a:t>
            </a:fld>
            <a:endParaRPr lang="en-US" sz="1200" dirty="0">
              <a:solidFill>
                <a:srgbClr val="555B66"/>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2 · Video 1 · Demand and Revenue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Why Is McDonald's Cutting Prices?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t_mcdonalds_image3.png"/>
          <p:cNvPicPr>
            <a:picLocks noChangeAspect="1"/>
          </p:cNvPicPr>
          <p:nvPr/>
        </p:nvPicPr>
        <p:blipFill>
          <a:blip r:embed="rId3"/>
          <a:stretch>
            <a:fillRect/>
          </a:stretch>
        </p:blipFill>
        <p:spPr>
          <a:xfrm>
            <a:off x="3124047" y="1371877"/>
            <a:ext cx="5943600" cy="1863171"/>
          </a:xfrm>
          <a:prstGeom prst="rect">
            <a:avLst/>
          </a:prstGeom>
        </p:spPr>
      </p:pic>
      <p:sp>
        <p:nvSpPr>
          <p:cNvPr id="8" name="TextBox 7"/>
          <p:cNvSpPr txBox="1"/>
          <p:nvPr/>
        </p:nvSpPr>
        <p:spPr>
          <a:xfrm>
            <a:off x="1166399" y="3381352"/>
            <a:ext cx="10058400" cy="3039294"/>
          </a:xfrm>
          <a:prstGeom prst="rect">
            <a:avLst/>
          </a:prstGeom>
          <a:noFill/>
        </p:spPr>
        <p:txBody>
          <a:bodyPr wrap="square" lIns="0" tIns="0" rIns="0" bIns="0">
            <a:spAutoFit/>
          </a:bodyPr>
          <a:lstStyle>
            <a:lvl1pPr marL="342900" indent="-342900">
              <a:spcBef>
                <a:spcPts val="120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r>
              <a:rPr dirty="0">
                <a:latin typeface="Calibri"/>
              </a:rPr>
              <a:t>What does this suggest about its demand</a:t>
            </a:r>
            <a:r>
              <a:rPr lang="en-US" dirty="0">
                <a:latin typeface="Calibri"/>
              </a:rPr>
              <a:t> elasticity</a:t>
            </a:r>
            <a:r>
              <a:rPr dirty="0">
                <a:latin typeface="Calibri"/>
              </a:rPr>
              <a:t>?</a:t>
            </a:r>
            <a:endParaRPr lang="en-US" dirty="0">
              <a:latin typeface="Calibri"/>
            </a:endParaRPr>
          </a:p>
          <a:p>
            <a:pPr lvl="1"/>
            <a:r>
              <a:rPr lang="en-US" dirty="0"/>
              <a:t>Elastic? </a:t>
            </a:r>
          </a:p>
          <a:p>
            <a:pPr lvl="1"/>
            <a:r>
              <a:rPr lang="en-US" dirty="0">
                <a:latin typeface="Calibri"/>
              </a:rPr>
              <a:t>Inelastic?</a:t>
            </a:r>
          </a:p>
          <a:p>
            <a:pPr lvl="1"/>
            <a:r>
              <a:rPr lang="en-US" dirty="0"/>
              <a:t>Need more information?</a:t>
            </a:r>
            <a:endParaRPr dirty="0">
              <a:latin typeface="Calibri"/>
            </a:endParaRPr>
          </a:p>
          <a:p>
            <a:pPr algn="l"/>
            <a:r>
              <a:rPr dirty="0">
                <a:latin typeface="Calibri"/>
              </a:rPr>
              <a:t>What are the implications for </a:t>
            </a:r>
            <a:r>
              <a:rPr lang="en-US" dirty="0">
                <a:latin typeface="Calibri"/>
              </a:rPr>
              <a:t>1) </a:t>
            </a:r>
            <a:r>
              <a:rPr dirty="0">
                <a:latin typeface="Calibri"/>
              </a:rPr>
              <a:t>revenue and </a:t>
            </a:r>
            <a:r>
              <a:rPr lang="en-US" dirty="0"/>
              <a:t>2) </a:t>
            </a:r>
            <a:r>
              <a:rPr dirty="0">
                <a:latin typeface="Calibri"/>
              </a:rPr>
              <a:t>profit given </a:t>
            </a:r>
            <a:r>
              <a:rPr lang="en-US" dirty="0">
                <a:latin typeface="Calibri"/>
              </a:rPr>
              <a:t>this elasticity</a:t>
            </a:r>
            <a:r>
              <a:rPr dirty="0">
                <a:latin typeface="Calibri"/>
              </a:rPr>
              <a:t>?</a:t>
            </a:r>
            <a:endParaRPr lang="en-US" dirty="0">
              <a:latin typeface="Calibri"/>
            </a:endParaRPr>
          </a:p>
          <a:p>
            <a:pPr lvl="1"/>
            <a:r>
              <a:rPr lang="en-US" dirty="0"/>
              <a:t>Rise?</a:t>
            </a:r>
          </a:p>
          <a:p>
            <a:pPr lvl="1"/>
            <a:r>
              <a:rPr lang="en-US" dirty="0">
                <a:latin typeface="Calibri"/>
              </a:rPr>
              <a:t>Fall?</a:t>
            </a:r>
          </a:p>
          <a:p>
            <a:pPr lvl="1"/>
            <a:r>
              <a:rPr lang="en-US" dirty="0"/>
              <a:t>Unchanged?</a:t>
            </a:r>
          </a:p>
          <a:p>
            <a:pPr lvl="1"/>
            <a:r>
              <a:rPr lang="en-US" dirty="0">
                <a:latin typeface="Calibri"/>
              </a:rPr>
              <a:t>Need more information?</a:t>
            </a:r>
            <a:endParaRPr dirty="0">
              <a:latin typeface="Calibri"/>
            </a:endParaRPr>
          </a:p>
        </p:txBody>
      </p:sp>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2  ·  Demand Analysis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7EE5B772-28C2-5CCD-AA16-49F8FF391118}" type="slidenum">
              <a:rPr lang="en-US" sz="1200" dirty="0">
                <a:solidFill>
                  <a:srgbClr val="555B66"/>
                </a:solidFill>
                <a:latin typeface="Calibri"/>
              </a:rPr>
              <a:t>12</a:t>
            </a:fld>
            <a:endParaRPr lang="en-US" sz="1200" dirty="0">
              <a:solidFill>
                <a:srgbClr val="555B66"/>
              </a:solidFill>
              <a:latin typeface="Calibri"/>
            </a:endParaRPr>
          </a:p>
        </p:txBody>
      </p:sp>
      <p:grpSp>
        <p:nvGrpSpPr>
          <p:cNvPr id="13" name="Group 14">
            <a:extLst>
              <a:ext uri="{FF2B5EF4-FFF2-40B4-BE49-F238E27FC236}">
                <a16:creationId xmlns:a16="http://schemas.microsoft.com/office/drawing/2014/main" id="{96468D6C-F82B-F4F7-49CA-C690B4CA7030}"/>
              </a:ext>
            </a:extLst>
          </p:cNvPr>
          <p:cNvGrpSpPr/>
          <p:nvPr/>
        </p:nvGrpSpPr>
        <p:grpSpPr>
          <a:xfrm>
            <a:off x="8641080" y="6190488"/>
            <a:ext cx="3298616" cy="539496"/>
            <a:chOff x="7550576" y="5715000"/>
            <a:chExt cx="4389120" cy="658368"/>
          </a:xfrm>
        </p:grpSpPr>
        <p:sp>
          <p:nvSpPr>
            <p:cNvPr id="14" name="Rectangle 8">
              <a:extLst>
                <a:ext uri="{FF2B5EF4-FFF2-40B4-BE49-F238E27FC236}">
                  <a16:creationId xmlns:a16="http://schemas.microsoft.com/office/drawing/2014/main" id="{8318F9C4-CE9B-B68F-D8BE-4D96AD4AED1E}"/>
                </a:ext>
              </a:extLst>
            </p:cNvPr>
            <p:cNvSpPr/>
            <p:nvPr/>
          </p:nvSpPr>
          <p:spPr>
            <a:xfrm>
              <a:off x="7550576" y="5715000"/>
              <a:ext cx="4389120" cy="658368"/>
            </a:xfrm>
            <a:custGeom>
              <a:avLst/>
              <a:gdLst/>
              <a:ahLst/>
              <a:cxnLst/>
              <a:rect l="15000" t="0" r="85000" b="100000"/>
              <a:pathLst>
                <a:path w="100000" h="100000">
                  <a:moveTo>
                    <a:pt x="20000" y="0"/>
                  </a:moveTo>
                  <a:lnTo>
                    <a:pt x="95000" y="0"/>
                  </a:lnTo>
                  <a:cubicBezTo>
                    <a:pt x="100000" y="0"/>
                    <a:pt x="100000" y="0"/>
                    <a:pt x="99250" y="5000"/>
                  </a:cubicBezTo>
                  <a:lnTo>
                    <a:pt x="85750" y="95000"/>
                  </a:lnTo>
                  <a:cubicBezTo>
                    <a:pt x="85000" y="100000"/>
                    <a:pt x="85000" y="100000"/>
                    <a:pt x="80000" y="100000"/>
                  </a:cubicBezTo>
                  <a:lnTo>
                    <a:pt x="5000" y="100000"/>
                  </a:lnTo>
                  <a:cubicBezTo>
                    <a:pt x="0" y="100000"/>
                    <a:pt x="0" y="100000"/>
                    <a:pt x="750" y="95000"/>
                  </a:cubicBezTo>
                  <a:lnTo>
                    <a:pt x="14250" y="5000"/>
                  </a:lnTo>
                  <a:cubicBezTo>
                    <a:pt x="15000" y="0"/>
                    <a:pt x="15000" y="0"/>
                    <a:pt x="20000" y="0"/>
                  </a:cubicBezTo>
                  <a:close/>
                </a:path>
              </a:pathLst>
            </a:custGeom>
            <a:solidFill>
              <a:srgbClr val="E09F3E"/>
            </a:solidFill>
            <a:ln>
              <a:noFill/>
            </a:ln>
            <a:effectLst>
              <a:outerShdw blurRad="50800" dist="38100" dir="2700000" algn="tl" rotWithShape="0">
                <a:srgbClr val="000000">
                  <a:alpha val="5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9">
              <a:extLst>
                <a:ext uri="{FF2B5EF4-FFF2-40B4-BE49-F238E27FC236}">
                  <a16:creationId xmlns:a16="http://schemas.microsoft.com/office/drawing/2014/main" id="{A7B20B48-21D7-44E6-58AB-A113862E64FC}"/>
                </a:ext>
              </a:extLst>
            </p:cNvPr>
            <p:cNvSpPr txBox="1"/>
            <p:nvPr/>
          </p:nvSpPr>
          <p:spPr>
            <a:xfrm>
              <a:off x="8208944" y="5715000"/>
              <a:ext cx="3072384" cy="658368"/>
            </a:xfrm>
            <a:prstGeom prst="rect">
              <a:avLst/>
            </a:prstGeom>
            <a:noFill/>
          </p:spPr>
          <p:txBody>
            <a:bodyPr wrap="none" lIns="45720" tIns="18288" rIns="45720" bIns="18288" anchor="ctr">
              <a:spAutoFit/>
            </a:bodyPr>
            <a:lstStyle/>
            <a:p>
              <a:pPr algn="ctr"/>
              <a:r>
                <a:rPr sz="2800" b="1">
                  <a:solidFill>
                    <a:srgbClr val="0B2B4E"/>
                  </a:solidFill>
                  <a:latin typeface="Calibri"/>
                </a:rPr>
                <a:t>Poll Break</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500"/>
                                        <p:tgtEl>
                                          <p:spTgt spid="8">
                                            <p:txEl>
                                              <p:pRg st="6" end="6"/>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fade">
                                      <p:cBhvr>
                                        <p:cTn id="16" dur="500"/>
                                        <p:tgtEl>
                                          <p:spTgt spid="8">
                                            <p:txEl>
                                              <p:pRg st="7" end="7"/>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fade">
                                      <p:cBhvr>
                                        <p:cTn id="19"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2858</Words>
  <Application>Microsoft Office PowerPoint</Application>
  <PresentationFormat>Widescreen</PresentationFormat>
  <Paragraphs>201</Paragraphs>
  <Slides>12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31</cp:revision>
  <dcterms:created xsi:type="dcterms:W3CDTF">2013-01-27T09:14:16Z</dcterms:created>
  <dcterms:modified xsi:type="dcterms:W3CDTF">2026-08-25T23:26:44Z</dcterms:modified>
  <cp:category/>
</cp:coreProperties>
</file>