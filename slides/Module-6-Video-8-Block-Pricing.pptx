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332" r:id="rId2"/>
    <p:sldId id="333" r:id="rId3"/>
    <p:sldId id="334" r:id="rId4"/>
    <p:sldId id="335" r:id="rId5"/>
    <p:sldId id="336"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of the three: charging less as the same customer buys more.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pricing reduces the price when the same customer buys more of the good. Notice what makes it different from the segment pricing we did earlier: the discount is tied to the quantity one person takes, not to who that person is. The firm does not need to know anything about the customer.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that the pricing strategy can also be expressed as 100 cards at $25, 125 at $30, and 175 at $35. Consumers will opt to purchase 175 at $35, and Walmart still increases its producer surplus.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scoop is four dollars, two are seven, three are eight fifty. So the second scoop costs three dollars and the third one fifty. Each block sits under the same demand curve, and the customer walks herself down it, handing over most of the surplus on the way.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Block Pricing</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8</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8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9" name="TextBox 8"/>
          <p:cNvSpPr txBox="1"/>
          <p:nvPr/>
        </p:nvSpPr>
        <p:spPr>
          <a:xfrm>
            <a:off x="1874519" y="138190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Simple vs. Complex Pricing</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Direct Price Discrimination</a:t>
            </a:r>
          </a:p>
        </p:txBody>
      </p:sp>
      <p:sp>
        <p:nvSpPr>
          <p:cNvPr id="13" name="Oval 12"/>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2a</a:t>
            </a:r>
          </a:p>
        </p:txBody>
      </p:sp>
      <p:sp>
        <p:nvSpPr>
          <p:cNvPr id="14" name="Rounded Rectangle 13"/>
          <p:cNvSpPr/>
          <p:nvPr/>
        </p:nvSpPr>
        <p:spPr>
          <a:xfrm>
            <a:off x="10707625" y="236829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084831" y="239234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Perfect Price Discrimination (First Degree)</a:t>
            </a:r>
          </a:p>
        </p:txBody>
      </p:sp>
      <p:sp>
        <p:nvSpPr>
          <p:cNvPr id="16" name="Oval 15"/>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2b</a:t>
            </a:r>
          </a:p>
        </p:txBody>
      </p:sp>
      <p:sp>
        <p:nvSpPr>
          <p:cNvPr id="17" name="Rounded Rectangle 16"/>
          <p:cNvSpPr/>
          <p:nvPr/>
        </p:nvSpPr>
        <p:spPr>
          <a:xfrm>
            <a:off x="10707625" y="289864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2084831" y="292269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Segment Pricing (Third Degree)</a:t>
            </a:r>
          </a:p>
        </p:txBody>
      </p:sp>
      <p:sp>
        <p:nvSpPr>
          <p:cNvPr id="19" name="Oval 18"/>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3</a:t>
            </a:r>
          </a:p>
        </p:txBody>
      </p:sp>
      <p:sp>
        <p:nvSpPr>
          <p:cNvPr id="20" name="Rounded Rectangle 19"/>
          <p:cNvSpPr/>
          <p:nvPr/>
        </p:nvSpPr>
        <p:spPr>
          <a:xfrm>
            <a:off x="10332720" y="34290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1" name="TextBox 20"/>
          <p:cNvSpPr txBox="1"/>
          <p:nvPr/>
        </p:nvSpPr>
        <p:spPr>
          <a:xfrm>
            <a:off x="1874519" y="345304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Indirect Price Discrimination (Second Degree)</a:t>
            </a:r>
          </a:p>
        </p:txBody>
      </p:sp>
      <p:sp>
        <p:nvSpPr>
          <p:cNvPr id="22" name="Oval 21"/>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4</a:t>
            </a:r>
          </a:p>
        </p:txBody>
      </p:sp>
      <p:sp>
        <p:nvSpPr>
          <p:cNvPr id="23" name="Rounded Rectangle 22"/>
          <p:cNvSpPr/>
          <p:nvPr/>
        </p:nvSpPr>
        <p:spPr>
          <a:xfrm>
            <a:off x="10332720" y="397993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Videos 6–8</a:t>
            </a:r>
          </a:p>
        </p:txBody>
      </p:sp>
      <p:sp>
        <p:nvSpPr>
          <p:cNvPr id="24" name="TextBox 23"/>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Advanced Pricing Strategies</a:t>
            </a:r>
          </a:p>
        </p:txBody>
      </p:sp>
      <p:sp>
        <p:nvSpPr>
          <p:cNvPr id="25" name="Oval 24"/>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4a</a:t>
            </a:r>
          </a:p>
        </p:txBody>
      </p:sp>
      <p:sp>
        <p:nvSpPr>
          <p:cNvPr id="26" name="Rounded Rectangle 25"/>
          <p:cNvSpPr/>
          <p:nvPr/>
        </p:nvSpPr>
        <p:spPr>
          <a:xfrm>
            <a:off x="10707625" y="443943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6</a:t>
            </a:r>
          </a:p>
        </p:txBody>
      </p:sp>
      <p:sp>
        <p:nvSpPr>
          <p:cNvPr id="27" name="TextBox 26"/>
          <p:cNvSpPr txBox="1"/>
          <p:nvPr/>
        </p:nvSpPr>
        <p:spPr>
          <a:xfrm>
            <a:off x="2084831" y="446348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Flat Fee Pricing</a:t>
            </a:r>
          </a:p>
        </p:txBody>
      </p:sp>
      <p:sp>
        <p:nvSpPr>
          <p:cNvPr id="28" name="Oval 27"/>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4b</a:t>
            </a:r>
          </a:p>
        </p:txBody>
      </p:sp>
      <p:sp>
        <p:nvSpPr>
          <p:cNvPr id="29" name="Rounded Rectangle 28"/>
          <p:cNvSpPr/>
          <p:nvPr/>
        </p:nvSpPr>
        <p:spPr>
          <a:xfrm>
            <a:off x="10707625" y="496978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7</a:t>
            </a:r>
          </a:p>
        </p:txBody>
      </p:sp>
      <p:sp>
        <p:nvSpPr>
          <p:cNvPr id="30" name="TextBox 29"/>
          <p:cNvSpPr txBox="1"/>
          <p:nvPr/>
        </p:nvSpPr>
        <p:spPr>
          <a:xfrm>
            <a:off x="2084831" y="499383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Two-Part Tariff</a:t>
            </a:r>
          </a:p>
        </p:txBody>
      </p:sp>
      <p:sp>
        <p:nvSpPr>
          <p:cNvPr id="31" name="Rounded Rectangle 30"/>
          <p:cNvSpPr/>
          <p:nvPr/>
        </p:nvSpPr>
        <p:spPr>
          <a:xfrm>
            <a:off x="1252728" y="5376696"/>
            <a:ext cx="10680192"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4c</a:t>
            </a:r>
          </a:p>
        </p:txBody>
      </p:sp>
      <p:sp>
        <p:nvSpPr>
          <p:cNvPr id="33" name="Rounded Rectangle 32"/>
          <p:cNvSpPr/>
          <p:nvPr/>
        </p:nvSpPr>
        <p:spPr>
          <a:xfrm>
            <a:off x="10707625" y="5500140"/>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8</a:t>
            </a:r>
          </a:p>
        </p:txBody>
      </p:sp>
      <p:sp>
        <p:nvSpPr>
          <p:cNvPr id="34" name="TextBox 33"/>
          <p:cNvSpPr txBox="1"/>
          <p:nvPr/>
        </p:nvSpPr>
        <p:spPr>
          <a:xfrm>
            <a:off x="2084831" y="5422416"/>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Block Pricing</a:t>
            </a:r>
          </a:p>
          <a:p>
            <a:pPr algn="l">
              <a:spcBef>
                <a:spcPts val="0"/>
              </a:spcBef>
              <a:buNone/>
            </a:pPr>
            <a:r>
              <a:rPr sz="1600">
                <a:solidFill>
                  <a:srgbClr val="555B66"/>
                </a:solidFill>
                <a:latin typeface="Calibri"/>
              </a:rPr>
              <a:t>A lower price as the same customer buys more</a:t>
            </a: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9</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919582EC-26A3-5FDE-9A63-332CE2516606}" type="slidenum">
              <a:rPr lang="en-US" sz="1200" dirty="0">
                <a:solidFill>
                  <a:srgbClr val="555B66"/>
                </a:solidFill>
                <a:latin typeface="Calibri"/>
              </a:rPr>
              <a:t>2</a:t>
            </a:fld>
            <a:endParaRPr lang="en-US" sz="1200" dirty="0">
              <a:solidFill>
                <a:srgbClr val="555B66"/>
              </a:solidFill>
              <a:latin typeface="Calibri"/>
            </a:endParaRPr>
          </a:p>
        </p:txBody>
      </p:sp>
      <p:sp>
        <p:nvSpPr>
          <p:cNvPr id="37" name="TextBox 36"/>
          <p:cNvSpPr txBox="1"/>
          <p:nvPr/>
        </p:nvSpPr>
        <p:spPr>
          <a:xfrm>
            <a:off x="1874519" y="6054541"/>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Summary of Pricing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8 · Block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Block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234440" y="2377440"/>
            <a:ext cx="9692640" cy="1691640"/>
          </a:xfrm>
          <a:prstGeom prst="roundRect">
            <a:avLst>
              <a:gd name="adj" fmla="val 1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Block pricing is the practice of reducing the price of a good
when the same customer buys more of it</a:t>
            </a:r>
          </a:p>
        </p:txBody>
      </p:sp>
      <p:sp>
        <p:nvSpPr>
          <p:cNvPr id="8" name="TextBox 7"/>
          <p:cNvSpPr txBox="1"/>
          <p:nvPr/>
        </p:nvSpPr>
        <p:spPr>
          <a:xfrm>
            <a:off x="1965960" y="4480560"/>
            <a:ext cx="8229600" cy="822960"/>
          </a:xfrm>
          <a:prstGeom prst="rect">
            <a:avLst/>
          </a:prstGeom>
          <a:noFill/>
        </p:spPr>
        <p:txBody>
          <a:bodyPr wrap="square" lIns="0" tIns="0" rIns="0" bIns="0">
            <a:spAutoFit/>
          </a:bodyPr>
          <a:lstStyle/>
          <a:p>
            <a:pPr algn="ctr"/>
            <a:r>
              <a:rPr sz="2100" b="0" i="0" u="none">
                <a:solidFill>
                  <a:srgbClr val="555B66"/>
                </a:solidFill>
                <a:latin typeface="Calibri"/>
              </a:rPr>
              <a:t>The discount is tied to the QUANTITY one customer takes,
not to who the customer is</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60025ED-E43E-5422-B56E-66247596E0AB}"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8 · Block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Block Pricing: Photo Cards at Walmart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234440" y="1389888"/>
            <a:ext cx="0" cy="45994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234440" y="5989320"/>
            <a:ext cx="50109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249936" y="1257300"/>
            <a:ext cx="911351" cy="265176"/>
          </a:xfrm>
          <a:prstGeom prst="rect">
            <a:avLst/>
          </a:prstGeom>
          <a:noFill/>
        </p:spPr>
        <p:txBody>
          <a:bodyPr wrap="square" lIns="0" tIns="0" rIns="0" bIns="0">
            <a:spAutoFit/>
          </a:bodyPr>
          <a:lstStyle/>
          <a:p>
            <a:pPr algn="l"/>
            <a:r>
              <a:rPr sz="1600" b="1" i="1" u="none">
                <a:solidFill>
                  <a:srgbClr val="0B2B4E"/>
                </a:solidFill>
                <a:latin typeface="Calibri"/>
              </a:rPr>
              <a:t>P ($/card)</a:t>
            </a:r>
          </a:p>
        </p:txBody>
      </p:sp>
      <p:sp>
        <p:nvSpPr>
          <p:cNvPr id="10" name="sdaxistitle:x"/>
          <p:cNvSpPr txBox="1"/>
          <p:nvPr/>
        </p:nvSpPr>
        <p:spPr>
          <a:xfrm>
            <a:off x="5565838" y="6035040"/>
            <a:ext cx="1359027" cy="265176"/>
          </a:xfrm>
          <a:prstGeom prst="rect">
            <a:avLst/>
          </a:prstGeom>
          <a:noFill/>
        </p:spPr>
        <p:txBody>
          <a:bodyPr wrap="square" lIns="0" tIns="0" rIns="0" bIns="0">
            <a:spAutoFit/>
          </a:bodyPr>
          <a:lstStyle/>
          <a:p>
            <a:pPr algn="l"/>
            <a:r>
              <a:rPr sz="1600" b="1" i="1" u="none">
                <a:solidFill>
                  <a:srgbClr val="0B2B4E"/>
                </a:solidFill>
                <a:latin typeface="Calibri"/>
              </a:rPr>
              <a:t>Q (photo cards)</a:t>
            </a:r>
          </a:p>
        </p:txBody>
      </p:sp>
      <p:grpSp>
        <p:nvGrpSpPr>
          <p:cNvPr id="40" name="Group 39">
            <a:extLst>
              <a:ext uri="{FF2B5EF4-FFF2-40B4-BE49-F238E27FC236}">
                <a16:creationId xmlns:a16="http://schemas.microsoft.com/office/drawing/2014/main" id="{C61CE8A9-FB91-1E32-C1ED-8184C49CAB07}"/>
              </a:ext>
            </a:extLst>
          </p:cNvPr>
          <p:cNvGrpSpPr/>
          <p:nvPr/>
        </p:nvGrpSpPr>
        <p:grpSpPr>
          <a:xfrm>
            <a:off x="573786" y="3634740"/>
            <a:ext cx="3027363" cy="2683763"/>
            <a:chOff x="573786" y="3634740"/>
            <a:chExt cx="3027363" cy="2683763"/>
          </a:xfrm>
        </p:grpSpPr>
        <p:grpSp>
          <p:nvGrpSpPr>
            <p:cNvPr id="37" name="Group 36">
              <a:extLst>
                <a:ext uri="{FF2B5EF4-FFF2-40B4-BE49-F238E27FC236}">
                  <a16:creationId xmlns:a16="http://schemas.microsoft.com/office/drawing/2014/main" id="{1468EE0D-1BD1-FC28-74D8-620246140AE4}"/>
                </a:ext>
              </a:extLst>
            </p:cNvPr>
            <p:cNvGrpSpPr/>
            <p:nvPr/>
          </p:nvGrpSpPr>
          <p:grpSpPr>
            <a:xfrm>
              <a:off x="573786" y="3634740"/>
              <a:ext cx="2814574" cy="1911096"/>
              <a:chOff x="573786" y="3634740"/>
              <a:chExt cx="2814574" cy="1911096"/>
            </a:xfrm>
          </p:grpSpPr>
          <p:grpSp>
            <p:nvGrpSpPr>
              <p:cNvPr id="135" name="sdpair:sdreglab:153ecb17"/>
              <p:cNvGrpSpPr/>
              <p:nvPr/>
            </p:nvGrpSpPr>
            <p:grpSpPr>
              <a:xfrm>
                <a:off x="1234440" y="3771900"/>
                <a:ext cx="2153920" cy="1773936"/>
                <a:chOff x="1234440" y="3771900"/>
                <a:chExt cx="2153920" cy="1773936"/>
              </a:xfrm>
            </p:grpSpPr>
            <p:sp>
              <p:nvSpPr>
                <p:cNvPr id="11" name="sdregion:153ecb17"/>
                <p:cNvSpPr/>
                <p:nvPr/>
              </p:nvSpPr>
              <p:spPr>
                <a:xfrm>
                  <a:off x="1234440" y="3771900"/>
                  <a:ext cx="2153920" cy="1773936"/>
                </a:xfrm>
                <a:custGeom>
                  <a:avLst/>
                  <a:gdLst/>
                  <a:ahLst/>
                  <a:cxnLst/>
                  <a:rect l="0" t="0" r="r" b="b"/>
                  <a:pathLst>
                    <a:path w="2153920" h="1773936">
                      <a:moveTo>
                        <a:pt x="0" y="0"/>
                      </a:moveTo>
                      <a:lnTo>
                        <a:pt x="0" y="1773936"/>
                      </a:lnTo>
                      <a:lnTo>
                        <a:pt x="2153920" y="1773936"/>
                      </a:lnTo>
                      <a:lnTo>
                        <a:pt x="2153920"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dreglab:153ecb17"/>
                <p:cNvSpPr txBox="1"/>
                <p:nvPr/>
              </p:nvSpPr>
              <p:spPr>
                <a:xfrm>
                  <a:off x="2194242" y="4495990"/>
                  <a:ext cx="234314" cy="325755"/>
                </a:xfrm>
                <a:prstGeom prst="rect">
                  <a:avLst/>
                </a:prstGeom>
                <a:noFill/>
              </p:spPr>
              <p:txBody>
                <a:bodyPr wrap="square" lIns="0" tIns="0" rIns="0" bIns="0">
                  <a:spAutoFit/>
                </a:bodyPr>
                <a:lstStyle/>
                <a:p>
                  <a:pPr algn="ctr"/>
                  <a:r>
                    <a:rPr sz="1900" b="1" i="0" u="none">
                      <a:solidFill>
                        <a:srgbClr val="0B2B4E"/>
                      </a:solidFill>
                      <a:latin typeface="Calibri"/>
                    </a:rPr>
                    <a:t>A</a:t>
                  </a:r>
                </a:p>
              </p:txBody>
            </p:sp>
          </p:grpSp>
          <p:sp>
            <p:nvSpPr>
              <p:cNvPr id="13" name="TextBox 12"/>
              <p:cNvSpPr txBox="1"/>
              <p:nvPr/>
            </p:nvSpPr>
            <p:spPr>
              <a:xfrm>
                <a:off x="573786" y="3634740"/>
                <a:ext cx="587502" cy="274320"/>
              </a:xfrm>
              <a:prstGeom prst="rect">
                <a:avLst/>
              </a:prstGeom>
              <a:noFill/>
            </p:spPr>
            <p:txBody>
              <a:bodyPr wrap="square" lIns="0" tIns="0" rIns="0" bIns="0">
                <a:spAutoFit/>
              </a:bodyPr>
              <a:lstStyle/>
              <a:p>
                <a:pPr algn="r"/>
                <a:r>
                  <a:rPr sz="1800" b="0" i="1" u="none" dirty="0">
                    <a:solidFill>
                      <a:srgbClr val="0B2B4E"/>
                    </a:solidFill>
                    <a:latin typeface="Calibri"/>
                  </a:rPr>
                  <a:t>$0.25</a:t>
                </a:r>
              </a:p>
            </p:txBody>
          </p:sp>
        </p:grpSp>
        <p:sp>
          <p:nvSpPr>
            <p:cNvPr id="14" name="TextBox 13"/>
            <p:cNvSpPr txBox="1"/>
            <p:nvPr/>
          </p:nvSpPr>
          <p:spPr>
            <a:xfrm>
              <a:off x="3175572" y="6044183"/>
              <a:ext cx="425577" cy="274320"/>
            </a:xfrm>
            <a:prstGeom prst="rect">
              <a:avLst/>
            </a:prstGeom>
            <a:noFill/>
          </p:spPr>
          <p:txBody>
            <a:bodyPr wrap="square" lIns="0" tIns="0" rIns="0" bIns="0">
              <a:spAutoFit/>
            </a:bodyPr>
            <a:lstStyle/>
            <a:p>
              <a:pPr algn="ctr"/>
              <a:r>
                <a:rPr sz="1800" b="0" i="1" u="none">
                  <a:solidFill>
                    <a:srgbClr val="0B2B4E"/>
                  </a:solidFill>
                  <a:latin typeface="Calibri"/>
                </a:rPr>
                <a:t>100</a:t>
              </a:r>
            </a:p>
          </p:txBody>
        </p:sp>
      </p:grpSp>
      <p:grpSp>
        <p:nvGrpSpPr>
          <p:cNvPr id="41" name="Group 40">
            <a:extLst>
              <a:ext uri="{FF2B5EF4-FFF2-40B4-BE49-F238E27FC236}">
                <a16:creationId xmlns:a16="http://schemas.microsoft.com/office/drawing/2014/main" id="{7A25C1D6-A664-C689-65B0-289D8F0C65BB}"/>
              </a:ext>
            </a:extLst>
          </p:cNvPr>
          <p:cNvGrpSpPr/>
          <p:nvPr/>
        </p:nvGrpSpPr>
        <p:grpSpPr>
          <a:xfrm>
            <a:off x="564261" y="4078223"/>
            <a:ext cx="3570605" cy="2240280"/>
            <a:chOff x="564261" y="4078223"/>
            <a:chExt cx="3570605" cy="2240280"/>
          </a:xfrm>
        </p:grpSpPr>
        <p:grpSp>
          <p:nvGrpSpPr>
            <p:cNvPr id="38" name="Group 37">
              <a:extLst>
                <a:ext uri="{FF2B5EF4-FFF2-40B4-BE49-F238E27FC236}">
                  <a16:creationId xmlns:a16="http://schemas.microsoft.com/office/drawing/2014/main" id="{6F2FAFB8-2028-0BFC-F974-1AD5DAD806EA}"/>
                </a:ext>
              </a:extLst>
            </p:cNvPr>
            <p:cNvGrpSpPr/>
            <p:nvPr/>
          </p:nvGrpSpPr>
          <p:grpSpPr>
            <a:xfrm>
              <a:off x="564261" y="4078223"/>
              <a:ext cx="3362579" cy="1467613"/>
              <a:chOff x="564261" y="4078223"/>
              <a:chExt cx="3362579" cy="1467613"/>
            </a:xfrm>
          </p:grpSpPr>
          <p:grpSp>
            <p:nvGrpSpPr>
              <p:cNvPr id="136" name="sdpair:sdreglab:7fdd6684"/>
              <p:cNvGrpSpPr/>
              <p:nvPr/>
            </p:nvGrpSpPr>
            <p:grpSpPr>
              <a:xfrm>
                <a:off x="3388360" y="4215383"/>
                <a:ext cx="538480" cy="1330453"/>
                <a:chOff x="3388360" y="4215383"/>
                <a:chExt cx="538480" cy="1330453"/>
              </a:xfrm>
            </p:grpSpPr>
            <p:sp>
              <p:nvSpPr>
                <p:cNvPr id="15" name="sdregion:7fdd6684"/>
                <p:cNvSpPr/>
                <p:nvPr/>
              </p:nvSpPr>
              <p:spPr>
                <a:xfrm>
                  <a:off x="3388360" y="4215383"/>
                  <a:ext cx="538480" cy="1330453"/>
                </a:xfrm>
                <a:custGeom>
                  <a:avLst/>
                  <a:gdLst/>
                  <a:ahLst/>
                  <a:cxnLst/>
                  <a:rect l="0" t="0" r="r" b="b"/>
                  <a:pathLst>
                    <a:path w="538480" h="1330453">
                      <a:moveTo>
                        <a:pt x="0" y="0"/>
                      </a:moveTo>
                      <a:lnTo>
                        <a:pt x="0" y="1330453"/>
                      </a:lnTo>
                      <a:lnTo>
                        <a:pt x="538480" y="1330453"/>
                      </a:lnTo>
                      <a:lnTo>
                        <a:pt x="538480"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dreglab:7fdd6684"/>
                <p:cNvSpPr txBox="1"/>
                <p:nvPr/>
              </p:nvSpPr>
              <p:spPr>
                <a:xfrm>
                  <a:off x="3545205" y="4717732"/>
                  <a:ext cx="224790" cy="325755"/>
                </a:xfrm>
                <a:prstGeom prst="rect">
                  <a:avLst/>
                </a:prstGeom>
                <a:noFill/>
              </p:spPr>
              <p:txBody>
                <a:bodyPr wrap="square" lIns="0" tIns="0" rIns="0" bIns="0">
                  <a:spAutoFit/>
                </a:bodyPr>
                <a:lstStyle/>
                <a:p>
                  <a:pPr algn="ctr"/>
                  <a:r>
                    <a:rPr sz="1900" b="1" i="0" u="none">
                      <a:solidFill>
                        <a:srgbClr val="0B2B4E"/>
                      </a:solidFill>
                      <a:latin typeface="Calibri"/>
                    </a:rPr>
                    <a:t>B</a:t>
                  </a:r>
                </a:p>
              </p:txBody>
            </p:sp>
          </p:grpSp>
          <p:sp>
            <p:nvSpPr>
              <p:cNvPr id="17" name="TextBox 16"/>
              <p:cNvSpPr txBox="1"/>
              <p:nvPr/>
            </p:nvSpPr>
            <p:spPr>
              <a:xfrm>
                <a:off x="564261" y="4078223"/>
                <a:ext cx="597026" cy="274320"/>
              </a:xfrm>
              <a:prstGeom prst="rect">
                <a:avLst/>
              </a:prstGeom>
              <a:noFill/>
            </p:spPr>
            <p:txBody>
              <a:bodyPr wrap="square" lIns="0" tIns="0" rIns="0" bIns="0">
                <a:spAutoFit/>
              </a:bodyPr>
              <a:lstStyle/>
              <a:p>
                <a:pPr algn="r"/>
                <a:r>
                  <a:rPr sz="1800" b="0" i="1" u="none">
                    <a:solidFill>
                      <a:srgbClr val="0B2B4E"/>
                    </a:solidFill>
                    <a:latin typeface="Calibri"/>
                  </a:rPr>
                  <a:t>$0.20</a:t>
                </a:r>
              </a:p>
            </p:txBody>
          </p:sp>
        </p:grpSp>
        <p:sp>
          <p:nvSpPr>
            <p:cNvPr id="18" name="TextBox 17"/>
            <p:cNvSpPr txBox="1"/>
            <p:nvPr/>
          </p:nvSpPr>
          <p:spPr>
            <a:xfrm>
              <a:off x="3718814" y="6044183"/>
              <a:ext cx="416052" cy="274320"/>
            </a:xfrm>
            <a:prstGeom prst="rect">
              <a:avLst/>
            </a:prstGeom>
            <a:noFill/>
          </p:spPr>
          <p:txBody>
            <a:bodyPr wrap="square" lIns="0" tIns="0" rIns="0" bIns="0">
              <a:spAutoFit/>
            </a:bodyPr>
            <a:lstStyle/>
            <a:p>
              <a:pPr algn="ctr"/>
              <a:r>
                <a:rPr sz="1800" b="0" i="1" u="none">
                  <a:solidFill>
                    <a:srgbClr val="0B2B4E"/>
                  </a:solidFill>
                  <a:latin typeface="Calibri"/>
                </a:rPr>
                <a:t>125</a:t>
              </a:r>
            </a:p>
          </p:txBody>
        </p:sp>
      </p:grpSp>
      <p:grpSp>
        <p:nvGrpSpPr>
          <p:cNvPr id="42" name="Group 41">
            <a:extLst>
              <a:ext uri="{FF2B5EF4-FFF2-40B4-BE49-F238E27FC236}">
                <a16:creationId xmlns:a16="http://schemas.microsoft.com/office/drawing/2014/main" id="{342051B4-6DD1-917D-AB6D-72800996B64D}"/>
              </a:ext>
            </a:extLst>
          </p:cNvPr>
          <p:cNvGrpSpPr/>
          <p:nvPr/>
        </p:nvGrpSpPr>
        <p:grpSpPr>
          <a:xfrm>
            <a:off x="564261" y="4965192"/>
            <a:ext cx="4647564" cy="1353311"/>
            <a:chOff x="564261" y="4965192"/>
            <a:chExt cx="4647564" cy="1353311"/>
          </a:xfrm>
        </p:grpSpPr>
        <p:grpSp>
          <p:nvGrpSpPr>
            <p:cNvPr id="39" name="Group 38">
              <a:extLst>
                <a:ext uri="{FF2B5EF4-FFF2-40B4-BE49-F238E27FC236}">
                  <a16:creationId xmlns:a16="http://schemas.microsoft.com/office/drawing/2014/main" id="{6E21385A-4FFC-8D13-E38E-06F84EA06A00}"/>
                </a:ext>
              </a:extLst>
            </p:cNvPr>
            <p:cNvGrpSpPr/>
            <p:nvPr/>
          </p:nvGrpSpPr>
          <p:grpSpPr>
            <a:xfrm>
              <a:off x="564261" y="4965192"/>
              <a:ext cx="4439538" cy="580644"/>
              <a:chOff x="564261" y="4965192"/>
              <a:chExt cx="4439538" cy="580644"/>
            </a:xfrm>
          </p:grpSpPr>
          <p:grpSp>
            <p:nvGrpSpPr>
              <p:cNvPr id="137" name="sdpair:sdreglab:c77cc182"/>
              <p:cNvGrpSpPr/>
              <p:nvPr/>
            </p:nvGrpSpPr>
            <p:grpSpPr>
              <a:xfrm>
                <a:off x="3926840" y="5102352"/>
                <a:ext cx="1076959" cy="443484"/>
                <a:chOff x="3926840" y="5102352"/>
                <a:chExt cx="1076959" cy="443484"/>
              </a:xfrm>
            </p:grpSpPr>
            <p:sp>
              <p:nvSpPr>
                <p:cNvPr id="19" name="sdregion:c77cc182"/>
                <p:cNvSpPr/>
                <p:nvPr/>
              </p:nvSpPr>
              <p:spPr>
                <a:xfrm>
                  <a:off x="3926840" y="5102352"/>
                  <a:ext cx="1076959" cy="443484"/>
                </a:xfrm>
                <a:custGeom>
                  <a:avLst/>
                  <a:gdLst/>
                  <a:ahLst/>
                  <a:cxnLst/>
                  <a:rect l="0" t="0" r="r" b="b"/>
                  <a:pathLst>
                    <a:path w="1076959" h="443484">
                      <a:moveTo>
                        <a:pt x="0" y="0"/>
                      </a:moveTo>
                      <a:lnTo>
                        <a:pt x="0" y="443484"/>
                      </a:lnTo>
                      <a:lnTo>
                        <a:pt x="1076959" y="443484"/>
                      </a:lnTo>
                      <a:lnTo>
                        <a:pt x="1076959"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dreglab:c77cc182"/>
                <p:cNvSpPr txBox="1"/>
                <p:nvPr/>
              </p:nvSpPr>
              <p:spPr>
                <a:xfrm>
                  <a:off x="4357687" y="5161216"/>
                  <a:ext cx="215265" cy="325755"/>
                </a:xfrm>
                <a:prstGeom prst="rect">
                  <a:avLst/>
                </a:prstGeom>
                <a:noFill/>
              </p:spPr>
              <p:txBody>
                <a:bodyPr wrap="square" lIns="0" tIns="0" rIns="0" bIns="0">
                  <a:spAutoFit/>
                </a:bodyPr>
                <a:lstStyle/>
                <a:p>
                  <a:pPr algn="ctr"/>
                  <a:r>
                    <a:rPr sz="1900" b="1" i="0" u="none">
                      <a:solidFill>
                        <a:srgbClr val="0B2B4E"/>
                      </a:solidFill>
                      <a:latin typeface="Calibri"/>
                    </a:rPr>
                    <a:t>C</a:t>
                  </a:r>
                </a:p>
              </p:txBody>
            </p:sp>
          </p:grpSp>
          <p:sp>
            <p:nvSpPr>
              <p:cNvPr id="21" name="TextBox 20"/>
              <p:cNvSpPr txBox="1"/>
              <p:nvPr/>
            </p:nvSpPr>
            <p:spPr>
              <a:xfrm>
                <a:off x="564261" y="4965192"/>
                <a:ext cx="597026" cy="274320"/>
              </a:xfrm>
              <a:prstGeom prst="rect">
                <a:avLst/>
              </a:prstGeom>
              <a:noFill/>
            </p:spPr>
            <p:txBody>
              <a:bodyPr wrap="square" lIns="0" tIns="0" rIns="0" bIns="0">
                <a:spAutoFit/>
              </a:bodyPr>
              <a:lstStyle/>
              <a:p>
                <a:pPr algn="r"/>
                <a:r>
                  <a:rPr sz="1800" b="0" i="1" u="none">
                    <a:solidFill>
                      <a:srgbClr val="0B2B4E"/>
                    </a:solidFill>
                    <a:latin typeface="Calibri"/>
                  </a:rPr>
                  <a:t>$0.10</a:t>
                </a:r>
              </a:p>
            </p:txBody>
          </p:sp>
        </p:grpSp>
        <p:sp>
          <p:nvSpPr>
            <p:cNvPr id="22" name="TextBox 21"/>
            <p:cNvSpPr txBox="1"/>
            <p:nvPr/>
          </p:nvSpPr>
          <p:spPr>
            <a:xfrm>
              <a:off x="4795773" y="6044183"/>
              <a:ext cx="416052" cy="274320"/>
            </a:xfrm>
            <a:prstGeom prst="rect">
              <a:avLst/>
            </a:prstGeom>
            <a:noFill/>
          </p:spPr>
          <p:txBody>
            <a:bodyPr wrap="square" lIns="0" tIns="0" rIns="0" bIns="0">
              <a:spAutoFit/>
            </a:bodyPr>
            <a:lstStyle/>
            <a:p>
              <a:pPr algn="ctr"/>
              <a:r>
                <a:rPr sz="1800" b="0" i="1" u="none" dirty="0">
                  <a:solidFill>
                    <a:srgbClr val="0B2B4E"/>
                  </a:solidFill>
                  <a:latin typeface="Calibri"/>
                </a:rPr>
                <a:t>175</a:t>
              </a:r>
            </a:p>
          </p:txBody>
        </p:sp>
      </p:grpSp>
      <p:grpSp>
        <p:nvGrpSpPr>
          <p:cNvPr id="35" name="Group 34">
            <a:extLst>
              <a:ext uri="{FF2B5EF4-FFF2-40B4-BE49-F238E27FC236}">
                <a16:creationId xmlns:a16="http://schemas.microsoft.com/office/drawing/2014/main" id="{C88E5577-648F-C040-59D5-D486BD115E3F}"/>
              </a:ext>
            </a:extLst>
          </p:cNvPr>
          <p:cNvGrpSpPr/>
          <p:nvPr/>
        </p:nvGrpSpPr>
        <p:grpSpPr>
          <a:xfrm>
            <a:off x="1234440" y="1997963"/>
            <a:ext cx="4846320" cy="3991357"/>
            <a:chOff x="1234440" y="1997963"/>
            <a:chExt cx="4846320" cy="3991357"/>
          </a:xfrm>
        </p:grpSpPr>
        <p:cxnSp>
          <p:nvCxnSpPr>
            <p:cNvPr id="23" name="Connector 22"/>
            <p:cNvCxnSpPr/>
            <p:nvPr/>
          </p:nvCxnSpPr>
          <p:spPr>
            <a:xfrm>
              <a:off x="1234440" y="1997963"/>
              <a:ext cx="4846320" cy="3991357"/>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73868" y="4544569"/>
              <a:ext cx="225551" cy="292608"/>
            </a:xfrm>
            <a:prstGeom prst="rect">
              <a:avLst/>
            </a:prstGeom>
            <a:noFill/>
          </p:spPr>
          <p:txBody>
            <a:bodyPr wrap="square" lIns="0" tIns="0" rIns="0" bIns="0">
              <a:spAutoFit/>
            </a:bodyPr>
            <a:lstStyle/>
            <a:p>
              <a:pPr algn="l"/>
              <a:r>
                <a:rPr sz="1900" b="1" i="1" u="none" dirty="0">
                  <a:solidFill>
                    <a:srgbClr val="A2162A"/>
                  </a:solidFill>
                  <a:latin typeface="Calibri"/>
                </a:rPr>
                <a:t>D</a:t>
              </a:r>
            </a:p>
          </p:txBody>
        </p:sp>
      </p:grpSp>
      <p:grpSp>
        <p:nvGrpSpPr>
          <p:cNvPr id="36" name="Group 35">
            <a:extLst>
              <a:ext uri="{FF2B5EF4-FFF2-40B4-BE49-F238E27FC236}">
                <a16:creationId xmlns:a16="http://schemas.microsoft.com/office/drawing/2014/main" id="{F73D893B-8DA5-98CF-3054-AFEF47DF49C7}"/>
              </a:ext>
            </a:extLst>
          </p:cNvPr>
          <p:cNvGrpSpPr/>
          <p:nvPr/>
        </p:nvGrpSpPr>
        <p:grpSpPr>
          <a:xfrm>
            <a:off x="573786" y="5396423"/>
            <a:ext cx="5726493" cy="292608"/>
            <a:chOff x="573786" y="5396423"/>
            <a:chExt cx="5726493" cy="292608"/>
          </a:xfrm>
        </p:grpSpPr>
        <p:cxnSp>
          <p:nvCxnSpPr>
            <p:cNvPr id="24" name="Connector 23"/>
            <p:cNvCxnSpPr/>
            <p:nvPr/>
          </p:nvCxnSpPr>
          <p:spPr>
            <a:xfrm>
              <a:off x="1234440" y="5545836"/>
              <a:ext cx="4630928"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12802" y="5396423"/>
              <a:ext cx="387477" cy="292608"/>
            </a:xfrm>
            <a:prstGeom prst="rect">
              <a:avLst/>
            </a:prstGeom>
            <a:noFill/>
          </p:spPr>
          <p:txBody>
            <a:bodyPr wrap="square" lIns="0" tIns="0" rIns="0" bIns="0">
              <a:spAutoFit/>
            </a:bodyPr>
            <a:lstStyle/>
            <a:p>
              <a:pPr algn="l"/>
              <a:r>
                <a:rPr sz="1700" b="1" i="1" u="none">
                  <a:solidFill>
                    <a:srgbClr val="0B2B4E"/>
                  </a:solidFill>
                  <a:latin typeface="Calibri"/>
                </a:rPr>
                <a:t>MC</a:t>
              </a:r>
            </a:p>
          </p:txBody>
        </p:sp>
        <p:sp>
          <p:nvSpPr>
            <p:cNvPr id="27" name="TextBox 26"/>
            <p:cNvSpPr txBox="1"/>
            <p:nvPr/>
          </p:nvSpPr>
          <p:spPr>
            <a:xfrm>
              <a:off x="573786" y="5408676"/>
              <a:ext cx="587502" cy="274320"/>
            </a:xfrm>
            <a:prstGeom prst="rect">
              <a:avLst/>
            </a:prstGeom>
            <a:noFill/>
          </p:spPr>
          <p:txBody>
            <a:bodyPr wrap="square" lIns="0" tIns="0" rIns="0" bIns="0">
              <a:spAutoFit/>
            </a:bodyPr>
            <a:lstStyle/>
            <a:p>
              <a:pPr algn="r"/>
              <a:r>
                <a:rPr sz="1800" b="0" i="1" u="none">
                  <a:solidFill>
                    <a:srgbClr val="0B2B4E"/>
                  </a:solidFill>
                  <a:latin typeface="Calibri"/>
                </a:rPr>
                <a:t>$0.05</a:t>
              </a:r>
            </a:p>
          </p:txBody>
        </p:sp>
      </p:grpSp>
      <p:grpSp>
        <p:nvGrpSpPr>
          <p:cNvPr id="134" name="Group pair 134"/>
          <p:cNvGrpSpPr/>
          <p:nvPr/>
        </p:nvGrpSpPr>
        <p:grpSpPr>
          <a:xfrm>
            <a:off x="3395853" y="1888235"/>
            <a:ext cx="2904426" cy="1234440"/>
            <a:chOff x="6949440" y="1481328"/>
            <a:chExt cx="4800600" cy="1234440"/>
          </a:xfrm>
        </p:grpSpPr>
        <p:sp>
          <p:nvSpPr>
            <p:cNvPr id="28" name="Rounded Rectangle 27"/>
            <p:cNvSpPr/>
            <p:nvPr/>
          </p:nvSpPr>
          <p:spPr>
            <a:xfrm>
              <a:off x="6949440" y="1481328"/>
              <a:ext cx="4800600" cy="12344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20" y="1544550"/>
              <a:ext cx="4434840" cy="1107996"/>
            </a:xfrm>
            <a:prstGeom prst="rect">
              <a:avLst/>
            </a:prstGeom>
            <a:noFill/>
          </p:spPr>
          <p:txBody>
            <a:bodyPr wrap="square" lIns="45720" tIns="0" rIns="45720" bIns="0" anchor="ctr">
              <a:spAutoFit/>
            </a:bodyPr>
            <a:lstStyle/>
            <a:p>
              <a:pPr algn="l"/>
              <a:r>
                <a:rPr sz="1800" b="1" i="0" u="none" dirty="0">
                  <a:solidFill>
                    <a:srgbClr val="0B2B4E"/>
                  </a:solidFill>
                  <a:latin typeface="Calibri"/>
                </a:rPr>
                <a:t>Three purchase options:  </a:t>
              </a:r>
              <a:endParaRPr lang="en-US" sz="1800" b="1" i="0" u="none" dirty="0">
                <a:solidFill>
                  <a:srgbClr val="0B2B4E"/>
                </a:solidFill>
                <a:latin typeface="Calibri"/>
              </a:endParaRPr>
            </a:p>
            <a:p>
              <a:pPr marL="285750" indent="-285750" algn="l">
                <a:buFont typeface="Arial" panose="020B0604020202020204" pitchFamily="34" charset="0"/>
                <a:buChar char="•"/>
              </a:pPr>
              <a:r>
                <a:rPr sz="1800" b="0" i="0" u="none" dirty="0">
                  <a:solidFill>
                    <a:srgbClr val="0B2B4E"/>
                  </a:solidFill>
                  <a:latin typeface="Calibri"/>
                </a:rPr>
                <a:t>100 cards at $25</a:t>
              </a:r>
              <a:endParaRPr lang="en-US" sz="1800" b="0" i="0" u="none" dirty="0">
                <a:solidFill>
                  <a:srgbClr val="0B2B4E"/>
                </a:solidFill>
                <a:latin typeface="Calibri"/>
              </a:endParaRPr>
            </a:p>
            <a:p>
              <a:pPr marL="285750" indent="-285750" algn="l">
                <a:buFont typeface="Arial" panose="020B0604020202020204" pitchFamily="34" charset="0"/>
                <a:buChar char="•"/>
              </a:pPr>
              <a:r>
                <a:rPr sz="1800" b="0" i="0" u="none" dirty="0">
                  <a:solidFill>
                    <a:srgbClr val="0B2B4E"/>
                  </a:solidFill>
                  <a:latin typeface="Calibri"/>
                </a:rPr>
                <a:t>125 cards at $30</a:t>
              </a:r>
              <a:endParaRPr lang="en-US" sz="1800" b="0" i="0" u="none" dirty="0">
                <a:solidFill>
                  <a:srgbClr val="0B2B4E"/>
                </a:solidFill>
                <a:latin typeface="Calibri"/>
              </a:endParaRPr>
            </a:p>
            <a:p>
              <a:pPr marL="285750" indent="-285750" algn="l">
                <a:buFont typeface="Arial" panose="020B0604020202020204" pitchFamily="34" charset="0"/>
                <a:buChar char="•"/>
              </a:pPr>
              <a:r>
                <a:rPr sz="1800" b="0" i="0" u="none" dirty="0">
                  <a:solidFill>
                    <a:srgbClr val="0B2B4E"/>
                  </a:solidFill>
                  <a:latin typeface="Calibri"/>
                </a:rPr>
                <a:t>175 cards at $35</a:t>
              </a:r>
            </a:p>
          </p:txBody>
        </p:sp>
      </p:grpSp>
      <p:sp>
        <p:nvSpPr>
          <p:cNvPr id="30" name="TextBox 29"/>
          <p:cNvSpPr txBox="1"/>
          <p:nvPr/>
        </p:nvSpPr>
        <p:spPr>
          <a:xfrm>
            <a:off x="6949440" y="2359152"/>
            <a:ext cx="4800600" cy="2743200"/>
          </a:xfrm>
          <a:prstGeom prst="rect">
            <a:avLst/>
          </a:prstGeom>
          <a:noFill/>
        </p:spPr>
        <p:txBody>
          <a:bodyPr wrap="square" lIns="0" tIns="0" rIns="0" bIns="0">
            <a:noAutofit/>
          </a:bodyPr>
          <a:lstStyle>
            <a:lvl1pPr marL="342900" indent="-342900">
              <a:spcBef>
                <a:spcPts val="700"/>
              </a:spcBef>
              <a:buClr>
                <a:srgbClr val="0B2B4E"/>
              </a:buClr>
              <a:buFont typeface="Calibri"/>
              <a:buChar char="▪"/>
              <a:defRPr sz="17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r>
              <a:rPr dirty="0">
                <a:latin typeface="Calibri"/>
              </a:rPr>
              <a:t>Marginal cost of printing photo cards: MC = $0.05</a:t>
            </a:r>
          </a:p>
          <a:p>
            <a:pPr algn="l"/>
            <a:r>
              <a:rPr dirty="0">
                <a:latin typeface="Calibri"/>
              </a:rPr>
              <a:t>Assume zero fixed costs</a:t>
            </a:r>
          </a:p>
          <a:p>
            <a:pPr algn="l"/>
            <a:r>
              <a:rPr dirty="0">
                <a:latin typeface="Calibri"/>
              </a:rPr>
              <a:t>The first option is 100 cards at $0.25</a:t>
            </a:r>
            <a:r>
              <a:rPr lang="en-US" dirty="0">
                <a:latin typeface="Calibri"/>
              </a:rPr>
              <a:t> each</a:t>
            </a:r>
            <a:endParaRPr dirty="0">
              <a:latin typeface="Calibri"/>
            </a:endParaRPr>
          </a:p>
          <a:p>
            <a:pPr lvl="1" algn="l"/>
            <a:r>
              <a:rPr dirty="0">
                <a:latin typeface="Calibri"/>
              </a:rPr>
              <a:t>Profits are A (since </a:t>
            </a:r>
            <a:r>
              <a:rPr dirty="0" err="1">
                <a:latin typeface="Calibri"/>
              </a:rPr>
              <a:t>TFC</a:t>
            </a:r>
            <a:r>
              <a:rPr dirty="0">
                <a:latin typeface="Calibri"/>
              </a:rPr>
              <a:t> = 0)</a:t>
            </a:r>
          </a:p>
          <a:p>
            <a:pPr algn="l"/>
            <a:r>
              <a:rPr dirty="0">
                <a:latin typeface="Calibri"/>
              </a:rPr>
              <a:t>Sell additional 25 cards at $0.20 ($5 extra for 25 cards)</a:t>
            </a:r>
          </a:p>
          <a:p>
            <a:pPr lvl="1" algn="l"/>
            <a:r>
              <a:rPr dirty="0">
                <a:latin typeface="Calibri"/>
              </a:rPr>
              <a:t>Additional profits B</a:t>
            </a:r>
          </a:p>
          <a:p>
            <a:pPr algn="l"/>
            <a:r>
              <a:rPr dirty="0">
                <a:latin typeface="Calibri"/>
              </a:rPr>
              <a:t>Sell yet additional 50 cards at $0.10 ($5 extra for 50 cards)</a:t>
            </a:r>
          </a:p>
          <a:p>
            <a:pPr lvl="1" algn="l"/>
            <a:r>
              <a:rPr dirty="0">
                <a:latin typeface="Calibri"/>
              </a:rPr>
              <a:t>Additional profits C</a:t>
            </a:r>
          </a:p>
        </p:txBody>
      </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6C154A0D-CC2C-5E04-B2ED-6C5EC1C1A25E}"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In Class · Examples · Block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Block Pricing: Ice Cream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234440" y="1389888"/>
            <a:ext cx="0" cy="45994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234440" y="5989320"/>
            <a:ext cx="49194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135635" y="1257300"/>
            <a:ext cx="1025652" cy="265176"/>
          </a:xfrm>
          <a:prstGeom prst="rect">
            <a:avLst/>
          </a:prstGeom>
          <a:noFill/>
        </p:spPr>
        <p:txBody>
          <a:bodyPr wrap="square" lIns="0" tIns="0" rIns="0" bIns="0">
            <a:spAutoFit/>
          </a:bodyPr>
          <a:lstStyle/>
          <a:p>
            <a:pPr algn="l"/>
            <a:r>
              <a:rPr sz="1600" b="1" i="1" u="none">
                <a:solidFill>
                  <a:srgbClr val="0B2B4E"/>
                </a:solidFill>
                <a:latin typeface="Calibri"/>
              </a:rPr>
              <a:t>P ($/scoop)</a:t>
            </a:r>
          </a:p>
        </p:txBody>
      </p:sp>
      <p:sp>
        <p:nvSpPr>
          <p:cNvPr id="10" name="sdaxistitle:x"/>
          <p:cNvSpPr txBox="1"/>
          <p:nvPr/>
        </p:nvSpPr>
        <p:spPr>
          <a:xfrm>
            <a:off x="5121973" y="6035040"/>
            <a:ext cx="2063877" cy="265176"/>
          </a:xfrm>
          <a:prstGeom prst="rect">
            <a:avLst/>
          </a:prstGeom>
          <a:noFill/>
        </p:spPr>
        <p:txBody>
          <a:bodyPr wrap="square" lIns="0" tIns="0" rIns="0" bIns="0">
            <a:spAutoFit/>
          </a:bodyPr>
          <a:lstStyle/>
          <a:p>
            <a:pPr algn="l"/>
            <a:r>
              <a:rPr sz="1600" b="1" i="1" u="none">
                <a:solidFill>
                  <a:srgbClr val="0B2B4E"/>
                </a:solidFill>
                <a:latin typeface="Calibri"/>
              </a:rPr>
              <a:t>Q (scoops per customer)</a:t>
            </a:r>
          </a:p>
        </p:txBody>
      </p:sp>
      <p:grpSp>
        <p:nvGrpSpPr>
          <p:cNvPr id="38" name="Group 37">
            <a:extLst>
              <a:ext uri="{FF2B5EF4-FFF2-40B4-BE49-F238E27FC236}">
                <a16:creationId xmlns:a16="http://schemas.microsoft.com/office/drawing/2014/main" id="{F98682F5-97C4-F9C1-1164-902D0546EFE4}"/>
              </a:ext>
            </a:extLst>
          </p:cNvPr>
          <p:cNvGrpSpPr/>
          <p:nvPr/>
        </p:nvGrpSpPr>
        <p:grpSpPr>
          <a:xfrm>
            <a:off x="564261" y="2990972"/>
            <a:ext cx="1869691" cy="3327531"/>
            <a:chOff x="564261" y="2990972"/>
            <a:chExt cx="1869691" cy="3327531"/>
          </a:xfrm>
        </p:grpSpPr>
        <p:grpSp>
          <p:nvGrpSpPr>
            <p:cNvPr id="138" name="sdpair:sdreglab:4e75c7e7"/>
            <p:cNvGrpSpPr/>
            <p:nvPr/>
          </p:nvGrpSpPr>
          <p:grpSpPr>
            <a:xfrm>
              <a:off x="1234440" y="3128132"/>
              <a:ext cx="1105786" cy="2145891"/>
              <a:chOff x="1234440" y="3128132"/>
              <a:chExt cx="1105786" cy="2145891"/>
            </a:xfrm>
          </p:grpSpPr>
          <p:sp>
            <p:nvSpPr>
              <p:cNvPr id="11" name="sdregion:4e75c7e7"/>
              <p:cNvSpPr/>
              <p:nvPr/>
            </p:nvSpPr>
            <p:spPr>
              <a:xfrm>
                <a:off x="1234440" y="3128132"/>
                <a:ext cx="1105786" cy="2145891"/>
              </a:xfrm>
              <a:custGeom>
                <a:avLst/>
                <a:gdLst/>
                <a:ahLst/>
                <a:cxnLst/>
                <a:rect l="0" t="0" r="r" b="b"/>
                <a:pathLst>
                  <a:path w="1105786" h="2145891">
                    <a:moveTo>
                      <a:pt x="0" y="0"/>
                    </a:moveTo>
                    <a:lnTo>
                      <a:pt x="0" y="2145891"/>
                    </a:lnTo>
                    <a:lnTo>
                      <a:pt x="1105786" y="2145891"/>
                    </a:lnTo>
                    <a:lnTo>
                      <a:pt x="1105786"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dreglab:4e75c7e7"/>
              <p:cNvSpPr txBox="1"/>
              <p:nvPr/>
            </p:nvSpPr>
            <p:spPr>
              <a:xfrm>
                <a:off x="1670175" y="4046772"/>
                <a:ext cx="234314" cy="308610"/>
              </a:xfrm>
              <a:prstGeom prst="rect">
                <a:avLst/>
              </a:prstGeom>
              <a:noFill/>
            </p:spPr>
            <p:txBody>
              <a:bodyPr wrap="square" lIns="0" tIns="0" rIns="0" bIns="0">
                <a:spAutoFit/>
              </a:bodyPr>
              <a:lstStyle/>
              <a:p>
                <a:pPr algn="ctr"/>
                <a:r>
                  <a:rPr sz="1800" b="1" i="0" u="none">
                    <a:solidFill>
                      <a:srgbClr val="0B2B4E"/>
                    </a:solidFill>
                    <a:latin typeface="Calibri"/>
                  </a:rPr>
                  <a:t>A</a:t>
                </a:r>
              </a:p>
            </p:txBody>
          </p:sp>
        </p:grpSp>
        <p:sp>
          <p:nvSpPr>
            <p:cNvPr id="13" name="TextBox 12"/>
            <p:cNvSpPr txBox="1"/>
            <p:nvPr/>
          </p:nvSpPr>
          <p:spPr>
            <a:xfrm>
              <a:off x="564261" y="2990972"/>
              <a:ext cx="597026" cy="274320"/>
            </a:xfrm>
            <a:prstGeom prst="rect">
              <a:avLst/>
            </a:prstGeom>
            <a:noFill/>
          </p:spPr>
          <p:txBody>
            <a:bodyPr wrap="square" lIns="0" tIns="0" rIns="0" bIns="0">
              <a:spAutoFit/>
            </a:bodyPr>
            <a:lstStyle/>
            <a:p>
              <a:pPr algn="r"/>
              <a:r>
                <a:rPr sz="1800" b="0" i="1" u="none">
                  <a:solidFill>
                    <a:srgbClr val="0B2B4E"/>
                  </a:solidFill>
                  <a:latin typeface="Calibri"/>
                </a:rPr>
                <a:t>$4.00</a:t>
              </a:r>
            </a:p>
          </p:txBody>
        </p:sp>
        <p:sp>
          <p:nvSpPr>
            <p:cNvPr id="14" name="TextBox 13"/>
            <p:cNvSpPr txBox="1"/>
            <p:nvPr/>
          </p:nvSpPr>
          <p:spPr>
            <a:xfrm>
              <a:off x="2246500"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1</a:t>
              </a:r>
            </a:p>
          </p:txBody>
        </p:sp>
      </p:grpSp>
      <p:grpSp>
        <p:nvGrpSpPr>
          <p:cNvPr id="39" name="Group 38">
            <a:extLst>
              <a:ext uri="{FF2B5EF4-FFF2-40B4-BE49-F238E27FC236}">
                <a16:creationId xmlns:a16="http://schemas.microsoft.com/office/drawing/2014/main" id="{C6EBA020-6367-8F0B-0557-CC1F630DE979}"/>
              </a:ext>
            </a:extLst>
          </p:cNvPr>
          <p:cNvGrpSpPr/>
          <p:nvPr/>
        </p:nvGrpSpPr>
        <p:grpSpPr>
          <a:xfrm>
            <a:off x="564261" y="3706269"/>
            <a:ext cx="2975477" cy="2612234"/>
            <a:chOff x="564261" y="3706269"/>
            <a:chExt cx="2975477" cy="2612234"/>
          </a:xfrm>
        </p:grpSpPr>
        <p:grpSp>
          <p:nvGrpSpPr>
            <p:cNvPr id="139" name="sdpair:sdreglab:272f13f7"/>
            <p:cNvGrpSpPr/>
            <p:nvPr/>
          </p:nvGrpSpPr>
          <p:grpSpPr>
            <a:xfrm>
              <a:off x="2340226" y="3843429"/>
              <a:ext cx="1105786" cy="1430594"/>
              <a:chOff x="2340226" y="3843429"/>
              <a:chExt cx="1105786" cy="1430594"/>
            </a:xfrm>
          </p:grpSpPr>
          <p:sp>
            <p:nvSpPr>
              <p:cNvPr id="15" name="sdregion:272f13f7"/>
              <p:cNvSpPr/>
              <p:nvPr/>
            </p:nvSpPr>
            <p:spPr>
              <a:xfrm>
                <a:off x="2340226" y="3843429"/>
                <a:ext cx="1105786" cy="1430594"/>
              </a:xfrm>
              <a:custGeom>
                <a:avLst/>
                <a:gdLst/>
                <a:ahLst/>
                <a:cxnLst/>
                <a:rect l="0" t="0" r="r" b="b"/>
                <a:pathLst>
                  <a:path w="1105786" h="1430594">
                    <a:moveTo>
                      <a:pt x="0" y="0"/>
                    </a:moveTo>
                    <a:lnTo>
                      <a:pt x="0" y="1430594"/>
                    </a:lnTo>
                    <a:lnTo>
                      <a:pt x="1105786" y="1430594"/>
                    </a:lnTo>
                    <a:lnTo>
                      <a:pt x="1105786"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dreglab:272f13f7"/>
              <p:cNvSpPr txBox="1"/>
              <p:nvPr/>
            </p:nvSpPr>
            <p:spPr>
              <a:xfrm>
                <a:off x="2785486" y="4404421"/>
                <a:ext cx="215265" cy="308610"/>
              </a:xfrm>
              <a:prstGeom prst="rect">
                <a:avLst/>
              </a:prstGeom>
              <a:noFill/>
            </p:spPr>
            <p:txBody>
              <a:bodyPr wrap="square" lIns="0" tIns="0" rIns="0" bIns="0">
                <a:spAutoFit/>
              </a:bodyPr>
              <a:lstStyle/>
              <a:p>
                <a:pPr algn="ctr"/>
                <a:r>
                  <a:rPr sz="1800" b="1" i="0" u="none">
                    <a:solidFill>
                      <a:srgbClr val="0B2B4E"/>
                    </a:solidFill>
                    <a:latin typeface="Calibri"/>
                  </a:rPr>
                  <a:t>B</a:t>
                </a:r>
              </a:p>
            </p:txBody>
          </p:sp>
        </p:grpSp>
        <p:sp>
          <p:nvSpPr>
            <p:cNvPr id="17" name="TextBox 16"/>
            <p:cNvSpPr txBox="1"/>
            <p:nvPr/>
          </p:nvSpPr>
          <p:spPr>
            <a:xfrm>
              <a:off x="564261" y="3706269"/>
              <a:ext cx="597026" cy="274320"/>
            </a:xfrm>
            <a:prstGeom prst="rect">
              <a:avLst/>
            </a:prstGeom>
            <a:noFill/>
          </p:spPr>
          <p:txBody>
            <a:bodyPr wrap="square" lIns="0" tIns="0" rIns="0" bIns="0">
              <a:spAutoFit/>
            </a:bodyPr>
            <a:lstStyle/>
            <a:p>
              <a:pPr algn="r"/>
              <a:r>
                <a:rPr sz="1800" b="0" i="1" u="none">
                  <a:solidFill>
                    <a:srgbClr val="0B2B4E"/>
                  </a:solidFill>
                  <a:latin typeface="Calibri"/>
                </a:rPr>
                <a:t>$3.00</a:t>
              </a:r>
            </a:p>
          </p:txBody>
        </p:sp>
        <p:sp>
          <p:nvSpPr>
            <p:cNvPr id="18" name="TextBox 17"/>
            <p:cNvSpPr txBox="1"/>
            <p:nvPr/>
          </p:nvSpPr>
          <p:spPr>
            <a:xfrm>
              <a:off x="3352286"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2</a:t>
              </a:r>
            </a:p>
          </p:txBody>
        </p:sp>
      </p:grpSp>
      <p:grpSp>
        <p:nvGrpSpPr>
          <p:cNvPr id="40" name="Group 39">
            <a:extLst>
              <a:ext uri="{FF2B5EF4-FFF2-40B4-BE49-F238E27FC236}">
                <a16:creationId xmlns:a16="http://schemas.microsoft.com/office/drawing/2014/main" id="{87B45CF0-402A-640A-C6DD-3EB2EA62372D}"/>
              </a:ext>
            </a:extLst>
          </p:cNvPr>
          <p:cNvGrpSpPr/>
          <p:nvPr/>
        </p:nvGrpSpPr>
        <p:grpSpPr>
          <a:xfrm>
            <a:off x="564261" y="4779214"/>
            <a:ext cx="4081263" cy="1539289"/>
            <a:chOff x="564261" y="4779214"/>
            <a:chExt cx="4081263" cy="1539289"/>
          </a:xfrm>
        </p:grpSpPr>
        <p:grpSp>
          <p:nvGrpSpPr>
            <p:cNvPr id="140" name="sdpair:sdreglab:4b93c8be"/>
            <p:cNvGrpSpPr/>
            <p:nvPr/>
          </p:nvGrpSpPr>
          <p:grpSpPr>
            <a:xfrm>
              <a:off x="3446012" y="4916374"/>
              <a:ext cx="1105786" cy="357649"/>
              <a:chOff x="3446012" y="4916374"/>
              <a:chExt cx="1105786" cy="357649"/>
            </a:xfrm>
          </p:grpSpPr>
          <p:sp>
            <p:nvSpPr>
              <p:cNvPr id="19" name="sdregion:4b93c8be"/>
              <p:cNvSpPr/>
              <p:nvPr/>
            </p:nvSpPr>
            <p:spPr>
              <a:xfrm>
                <a:off x="3446012" y="4916374"/>
                <a:ext cx="1105786" cy="357649"/>
              </a:xfrm>
              <a:custGeom>
                <a:avLst/>
                <a:gdLst/>
                <a:ahLst/>
                <a:cxnLst/>
                <a:rect l="0" t="0" r="r" b="b"/>
                <a:pathLst>
                  <a:path w="1105786" h="357649">
                    <a:moveTo>
                      <a:pt x="0" y="0"/>
                    </a:moveTo>
                    <a:lnTo>
                      <a:pt x="0" y="357649"/>
                    </a:lnTo>
                    <a:lnTo>
                      <a:pt x="1105786" y="357649"/>
                    </a:lnTo>
                    <a:lnTo>
                      <a:pt x="1105786" y="0"/>
                    </a:lnTo>
                    <a:close/>
                  </a:path>
                </a:pathLst>
              </a:custGeom>
              <a:solidFill>
                <a:srgbClr val="E09F3E">
                  <a:alpha val="26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dreglab:4b93c8be"/>
              <p:cNvSpPr txBox="1"/>
              <p:nvPr/>
            </p:nvSpPr>
            <p:spPr>
              <a:xfrm>
                <a:off x="3896035" y="4949466"/>
                <a:ext cx="205740" cy="291465"/>
              </a:xfrm>
              <a:prstGeom prst="rect">
                <a:avLst/>
              </a:prstGeom>
              <a:noFill/>
            </p:spPr>
            <p:txBody>
              <a:bodyPr wrap="square" lIns="0" tIns="0" rIns="0" bIns="0">
                <a:spAutoFit/>
              </a:bodyPr>
              <a:lstStyle/>
              <a:p>
                <a:pPr algn="ctr"/>
                <a:r>
                  <a:rPr sz="1700" b="1" i="0" u="none">
                    <a:solidFill>
                      <a:srgbClr val="0B2B4E"/>
                    </a:solidFill>
                    <a:latin typeface="Calibri"/>
                  </a:rPr>
                  <a:t>C</a:t>
                </a:r>
              </a:p>
            </p:txBody>
          </p:sp>
        </p:grpSp>
        <p:sp>
          <p:nvSpPr>
            <p:cNvPr id="21" name="TextBox 20"/>
            <p:cNvSpPr txBox="1"/>
            <p:nvPr/>
          </p:nvSpPr>
          <p:spPr>
            <a:xfrm>
              <a:off x="564261" y="4779214"/>
              <a:ext cx="597026" cy="274320"/>
            </a:xfrm>
            <a:prstGeom prst="rect">
              <a:avLst/>
            </a:prstGeom>
            <a:noFill/>
          </p:spPr>
          <p:txBody>
            <a:bodyPr wrap="square" lIns="0" tIns="0" rIns="0" bIns="0">
              <a:spAutoFit/>
            </a:bodyPr>
            <a:lstStyle/>
            <a:p>
              <a:pPr algn="r"/>
              <a:r>
                <a:rPr sz="1800" b="0" i="1" u="none">
                  <a:solidFill>
                    <a:srgbClr val="0B2B4E"/>
                  </a:solidFill>
                  <a:latin typeface="Calibri"/>
                </a:rPr>
                <a:t>$1.50</a:t>
              </a:r>
            </a:p>
          </p:txBody>
        </p:sp>
        <p:sp>
          <p:nvSpPr>
            <p:cNvPr id="22" name="TextBox 21"/>
            <p:cNvSpPr txBox="1"/>
            <p:nvPr/>
          </p:nvSpPr>
          <p:spPr>
            <a:xfrm>
              <a:off x="4458072" y="6044183"/>
              <a:ext cx="187452" cy="274320"/>
            </a:xfrm>
            <a:prstGeom prst="rect">
              <a:avLst/>
            </a:prstGeom>
            <a:noFill/>
          </p:spPr>
          <p:txBody>
            <a:bodyPr wrap="square" lIns="0" tIns="0" rIns="0" bIns="0">
              <a:spAutoFit/>
            </a:bodyPr>
            <a:lstStyle/>
            <a:p>
              <a:pPr algn="ctr"/>
              <a:r>
                <a:rPr sz="1800" b="0" i="1" u="none">
                  <a:solidFill>
                    <a:srgbClr val="0B2B4E"/>
                  </a:solidFill>
                  <a:latin typeface="Calibri"/>
                </a:rPr>
                <a:t>3</a:t>
              </a:r>
            </a:p>
          </p:txBody>
        </p:sp>
      </p:grpSp>
      <p:grpSp>
        <p:nvGrpSpPr>
          <p:cNvPr id="46" name="Group 45">
            <a:extLst>
              <a:ext uri="{FF2B5EF4-FFF2-40B4-BE49-F238E27FC236}">
                <a16:creationId xmlns:a16="http://schemas.microsoft.com/office/drawing/2014/main" id="{2584DE1A-93FB-E365-8CAA-4762662F1C12}"/>
              </a:ext>
            </a:extLst>
          </p:cNvPr>
          <p:cNvGrpSpPr/>
          <p:nvPr/>
        </p:nvGrpSpPr>
        <p:grpSpPr>
          <a:xfrm>
            <a:off x="1234440" y="2412836"/>
            <a:ext cx="3980829" cy="3183070"/>
            <a:chOff x="1234440" y="2412836"/>
            <a:chExt cx="3980829" cy="3183070"/>
          </a:xfrm>
        </p:grpSpPr>
        <p:cxnSp>
          <p:nvCxnSpPr>
            <p:cNvPr id="23" name="Connector 22"/>
            <p:cNvCxnSpPr>
              <a:cxnSpLocks/>
            </p:cNvCxnSpPr>
            <p:nvPr/>
          </p:nvCxnSpPr>
          <p:spPr>
            <a:xfrm>
              <a:off x="1234440" y="2412836"/>
              <a:ext cx="1105786" cy="715296"/>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40226" y="3128132"/>
              <a:ext cx="1105786" cy="715297"/>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6012" y="3843429"/>
              <a:ext cx="1105786" cy="1072945"/>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51798" y="4916374"/>
              <a:ext cx="663471" cy="679532"/>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883533" y="4948895"/>
              <a:ext cx="225551" cy="292608"/>
            </a:xfrm>
            <a:prstGeom prst="rect">
              <a:avLst/>
            </a:prstGeom>
            <a:noFill/>
          </p:spPr>
          <p:txBody>
            <a:bodyPr wrap="square" lIns="0" tIns="0" rIns="0" bIns="0">
              <a:spAutoFit/>
            </a:bodyPr>
            <a:lstStyle/>
            <a:p>
              <a:pPr algn="l"/>
              <a:r>
                <a:rPr sz="1900" b="1" i="1" u="none" dirty="0">
                  <a:solidFill>
                    <a:srgbClr val="A2162A"/>
                  </a:solidFill>
                  <a:latin typeface="Calibri"/>
                </a:rPr>
                <a:t>D</a:t>
              </a:r>
            </a:p>
          </p:txBody>
        </p:sp>
      </p:grpSp>
      <p:grpSp>
        <p:nvGrpSpPr>
          <p:cNvPr id="41" name="Group 40">
            <a:extLst>
              <a:ext uri="{FF2B5EF4-FFF2-40B4-BE49-F238E27FC236}">
                <a16:creationId xmlns:a16="http://schemas.microsoft.com/office/drawing/2014/main" id="{40402106-C0E8-7C7B-BFD6-0C0F340E264B}"/>
              </a:ext>
            </a:extLst>
          </p:cNvPr>
          <p:cNvGrpSpPr/>
          <p:nvPr/>
        </p:nvGrpSpPr>
        <p:grpSpPr>
          <a:xfrm>
            <a:off x="564261" y="4958556"/>
            <a:ext cx="5203901" cy="452627"/>
            <a:chOff x="564261" y="4958556"/>
            <a:chExt cx="5203901" cy="452627"/>
          </a:xfrm>
        </p:grpSpPr>
        <p:cxnSp>
          <p:nvCxnSpPr>
            <p:cNvPr id="27" name="Connector 26"/>
            <p:cNvCxnSpPr/>
            <p:nvPr/>
          </p:nvCxnSpPr>
          <p:spPr>
            <a:xfrm>
              <a:off x="1234440" y="5274023"/>
              <a:ext cx="4533722"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369111" y="4958556"/>
              <a:ext cx="387477" cy="292608"/>
            </a:xfrm>
            <a:prstGeom prst="rect">
              <a:avLst/>
            </a:prstGeom>
            <a:noFill/>
          </p:spPr>
          <p:txBody>
            <a:bodyPr wrap="square" lIns="0" tIns="0" rIns="0" bIns="0">
              <a:spAutoFit/>
            </a:bodyPr>
            <a:lstStyle/>
            <a:p>
              <a:pPr algn="l"/>
              <a:r>
                <a:rPr sz="1700" b="1" i="1" u="none" dirty="0">
                  <a:solidFill>
                    <a:srgbClr val="0B2B4E"/>
                  </a:solidFill>
                  <a:latin typeface="Calibri"/>
                </a:rPr>
                <a:t>MC</a:t>
              </a:r>
            </a:p>
          </p:txBody>
        </p:sp>
        <p:sp>
          <p:nvSpPr>
            <p:cNvPr id="30" name="TextBox 29"/>
            <p:cNvSpPr txBox="1"/>
            <p:nvPr/>
          </p:nvSpPr>
          <p:spPr>
            <a:xfrm>
              <a:off x="564261" y="5136863"/>
              <a:ext cx="597026" cy="274320"/>
            </a:xfrm>
            <a:prstGeom prst="rect">
              <a:avLst/>
            </a:prstGeom>
            <a:noFill/>
          </p:spPr>
          <p:txBody>
            <a:bodyPr wrap="square" lIns="0" tIns="0" rIns="0" bIns="0">
              <a:spAutoFit/>
            </a:bodyPr>
            <a:lstStyle/>
            <a:p>
              <a:pPr algn="r"/>
              <a:r>
                <a:rPr sz="1800" b="0" i="1" u="none" dirty="0">
                  <a:solidFill>
                    <a:srgbClr val="0B2B4E"/>
                  </a:solidFill>
                  <a:latin typeface="Calibri"/>
                </a:rPr>
                <a:t>$1.00</a:t>
              </a:r>
            </a:p>
          </p:txBody>
        </p:sp>
      </p:grpSp>
      <p:grpSp>
        <p:nvGrpSpPr>
          <p:cNvPr id="137" name="Group pair 137"/>
          <p:cNvGrpSpPr/>
          <p:nvPr/>
        </p:nvGrpSpPr>
        <p:grpSpPr>
          <a:xfrm>
            <a:off x="3031237" y="1691639"/>
            <a:ext cx="2578606" cy="1234440"/>
            <a:chOff x="6812280" y="1481328"/>
            <a:chExt cx="4937760" cy="1234440"/>
          </a:xfrm>
        </p:grpSpPr>
        <p:sp>
          <p:nvSpPr>
            <p:cNvPr id="31" name="Rounded Rectangle 30"/>
            <p:cNvSpPr/>
            <p:nvPr/>
          </p:nvSpPr>
          <p:spPr>
            <a:xfrm>
              <a:off x="6812280" y="1481328"/>
              <a:ext cx="4937760" cy="12344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95160" y="1544550"/>
              <a:ext cx="4572000" cy="1107996"/>
            </a:xfrm>
            <a:prstGeom prst="rect">
              <a:avLst/>
            </a:prstGeom>
            <a:noFill/>
          </p:spPr>
          <p:txBody>
            <a:bodyPr wrap="square" lIns="45720" tIns="0" rIns="45720" bIns="0" anchor="ctr">
              <a:spAutoFit/>
            </a:bodyPr>
            <a:lstStyle/>
            <a:p>
              <a:pPr algn="l"/>
              <a:r>
                <a:rPr sz="1800" b="1" i="0" u="none" dirty="0">
                  <a:solidFill>
                    <a:srgbClr val="0B2B4E"/>
                  </a:solidFill>
                  <a:latin typeface="Calibri"/>
                </a:rPr>
                <a:t>Purchase options:  </a:t>
              </a:r>
              <a:endParaRPr lang="en-US" sz="1800" b="1" i="0" u="none" dirty="0">
                <a:solidFill>
                  <a:srgbClr val="0B2B4E"/>
                </a:solidFill>
                <a:latin typeface="Calibri"/>
              </a:endParaRPr>
            </a:p>
            <a:p>
              <a:pPr marL="285750" indent="-285750" algn="l">
                <a:buFont typeface="Arial" panose="020B0604020202020204" pitchFamily="34" charset="0"/>
                <a:buChar char="•"/>
              </a:pPr>
              <a:r>
                <a:rPr sz="1800" b="0" i="0" u="none" dirty="0">
                  <a:solidFill>
                    <a:srgbClr val="0B2B4E"/>
                  </a:solidFill>
                  <a:latin typeface="Calibri"/>
                </a:rPr>
                <a:t>1 scoop for $4</a:t>
              </a:r>
              <a:endParaRPr lang="en-US" sz="1800" b="0" i="0" u="none" dirty="0">
                <a:solidFill>
                  <a:srgbClr val="0B2B4E"/>
                </a:solidFill>
                <a:latin typeface="Calibri"/>
              </a:endParaRPr>
            </a:p>
            <a:p>
              <a:pPr marL="285750" indent="-285750" algn="l">
                <a:buFont typeface="Arial" panose="020B0604020202020204" pitchFamily="34" charset="0"/>
                <a:buChar char="•"/>
              </a:pPr>
              <a:r>
                <a:rPr sz="1800" b="0" i="0" u="none" dirty="0">
                  <a:solidFill>
                    <a:srgbClr val="0B2B4E"/>
                  </a:solidFill>
                  <a:latin typeface="Calibri"/>
                </a:rPr>
                <a:t>2 scoops for $7</a:t>
              </a:r>
              <a:endParaRPr lang="en-US" sz="1800" b="0" i="0" u="none" dirty="0">
                <a:solidFill>
                  <a:srgbClr val="0B2B4E"/>
                </a:solidFill>
                <a:latin typeface="Calibri"/>
              </a:endParaRPr>
            </a:p>
            <a:p>
              <a:pPr marL="285750" indent="-285750" algn="l">
                <a:buFont typeface="Arial" panose="020B0604020202020204" pitchFamily="34" charset="0"/>
                <a:buChar char="•"/>
              </a:pPr>
              <a:r>
                <a:rPr sz="1800" b="0" i="0" u="none" dirty="0">
                  <a:solidFill>
                    <a:srgbClr val="0B2B4E"/>
                  </a:solidFill>
                  <a:latin typeface="Calibri"/>
                </a:rPr>
                <a:t>3 scoops for $8.50</a:t>
              </a:r>
            </a:p>
          </p:txBody>
        </p:sp>
      </p:grpSp>
      <p:pic>
        <p:nvPicPr>
          <p:cNvPr id="33" name="Picture 32" descr="NVapp_s43_icecream.png"/>
          <p:cNvPicPr>
            <a:picLocks noChangeAspect="1"/>
          </p:cNvPicPr>
          <p:nvPr/>
        </p:nvPicPr>
        <p:blipFill>
          <a:blip r:embed="rId3"/>
          <a:stretch>
            <a:fillRect/>
          </a:stretch>
        </p:blipFill>
        <p:spPr>
          <a:xfrm>
            <a:off x="7726681" y="2323330"/>
            <a:ext cx="3749039" cy="2988558"/>
          </a:xfrm>
          <a:prstGeom prst="roundRect">
            <a:avLst>
              <a:gd name="adj" fmla="val 8000"/>
            </a:avLst>
          </a:prstGeom>
          <a:effectLst>
            <a:outerShdw blurRad="50800" dist="38100" dir="2700000" algn="tl" rotWithShape="0">
              <a:srgbClr val="000000">
                <a:alpha val="50000"/>
              </a:srgbClr>
            </a:outerShdw>
          </a:effectLst>
        </p:spPr>
      </p:pic>
      <p:sp>
        <p:nvSpPr>
          <p:cNvPr id="34" name="Rectangle 3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7" name="TextBox 36"/>
          <p:cNvSpPr txBox="1"/>
          <p:nvPr/>
        </p:nvSpPr>
        <p:spPr>
          <a:xfrm>
            <a:off x="11475720" y="6583680"/>
            <a:ext cx="502920" cy="292608"/>
          </a:xfrm>
          <a:prstGeom prst="rect">
            <a:avLst/>
          </a:prstGeom>
          <a:noFill/>
        </p:spPr>
        <p:txBody>
          <a:bodyPr wrap="none" lIns="0" tIns="0" rIns="0" bIns="0">
            <a:spAutoFit/>
          </a:bodyPr>
          <a:lstStyle/>
          <a:p>
            <a:pPr algn="r"/>
            <a:fld id="{189B3304-CDE3-5386-93BE-6E7B3B0EFE8D}" type="slidenum">
              <a:rPr lang="en-US" sz="1200" dirty="0">
                <a:solidFill>
                  <a:srgbClr val="555B66"/>
                </a:solidFill>
                <a:latin typeface="Calibri"/>
              </a:rPr>
              <a:t>5</a:t>
            </a:fld>
            <a:endParaRPr lang="en-US" sz="1200" dirty="0">
              <a:solidFill>
                <a:srgbClr val="555B66"/>
              </a:solidFill>
              <a:latin typeface="Calibri"/>
            </a:endParaRPr>
          </a:p>
        </p:txBody>
      </p:sp>
      <p:sp>
        <p:nvSpPr>
          <p:cNvPr id="44" name="TextBox 43">
            <a:extLst>
              <a:ext uri="{FF2B5EF4-FFF2-40B4-BE49-F238E27FC236}">
                <a16:creationId xmlns:a16="http://schemas.microsoft.com/office/drawing/2014/main" id="{4C595567-22E0-417B-043E-28F1867E9836}"/>
              </a:ext>
            </a:extLst>
          </p:cNvPr>
          <p:cNvSpPr txBox="1"/>
          <p:nvPr/>
        </p:nvSpPr>
        <p:spPr>
          <a:xfrm>
            <a:off x="6620125" y="1546090"/>
            <a:ext cx="3383408" cy="392438"/>
          </a:xfrm>
          <a:prstGeom prst="rect">
            <a:avLst/>
          </a:prstGeom>
          <a:noFill/>
        </p:spPr>
        <p:txBody>
          <a:bodyPr wrap="square" lIns="0" tIns="0" rIns="0" bIns="0">
            <a:noAutofit/>
          </a:bodyPr>
          <a:lstStyle>
            <a:lvl1pPr marL="342900" indent="-342900">
              <a:spcBef>
                <a:spcPts val="700"/>
              </a:spcBef>
              <a:buClr>
                <a:srgbClr val="0B2B4E"/>
              </a:buClr>
              <a:buFont typeface="Calibri"/>
              <a:buChar char="▪"/>
              <a:defRPr sz="17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r>
              <a:rPr dirty="0">
                <a:latin typeface="Calibri"/>
              </a:rPr>
              <a:t>Marginal cost </a:t>
            </a:r>
            <a:r>
              <a:rPr lang="en-US" dirty="0">
                <a:latin typeface="Calibri"/>
              </a:rPr>
              <a:t>= $1 per scoop</a:t>
            </a:r>
            <a:endParaRPr dirty="0">
              <a:latin typeface="Calibri"/>
            </a:endParaRPr>
          </a:p>
          <a:p>
            <a:pPr algn="l"/>
            <a:endParaRPr dirty="0">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576</Words>
  <Application>Microsoft Office PowerPoint</Application>
  <PresentationFormat>Widescreen</PresentationFormat>
  <Paragraphs>102</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12</cp:revision>
  <dcterms:created xsi:type="dcterms:W3CDTF">2013-01-27T09:14:16Z</dcterms:created>
  <dcterms:modified xsi:type="dcterms:W3CDTF">2026-09-24T02:10:03Z</dcterms:modified>
  <cp:category/>
</cp:coreProperties>
</file>